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17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frame: this is the platform, the delivery model and the business case. Everything shown is sample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systems, six data models, six sets of access rules. Nobody can answer one question across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is never the hard part. Pilots stop when nobody can say who may see what, or prove it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in order: connect the systems, settle the governance, then put AI and agents on top. One team owns all four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place where the whole organisation is visible — every number is a live operational record. Ask: where are we losing the most time this quarter?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Org, team, project and person are one model, so roles and admin scopes resolve everywhere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source is classified before a model is allowed near it. Special category data is blocked outright.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Segregation is enforced at query time — for people and for agents, through the same policy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the model actually receives. Withheld fields are declared, never quietly dropped.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Teams, Workday, Jira, Azure DevOps, GitHub, LMS, ATS — events in, actions back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agents serve HR, teams and projects — each with an owner, a scope and a human checkpoint.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agent plans, calls tools, and stops at the point where a person has to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capability answers in Teams, grounded strictly in what the person asking may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 matching ranks internal people first. External sourcing opens only when the bench cannot cover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score decomposes into evidence — and the excluded attributes stay excluded.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 come from delivery evidence, not self-assessment, and are measured against real portfolio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Capacity is forecast, not guessed. Burnout risk and bench risk show up in the same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ways to close the gap, each costed. Reskilling wins here at 8% of the cost of 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still has to be hired moves faster, and every screening decision is reviewable.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Hiring starts at the project gap: the job description is drafted from the demand and checked for biased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candidate, internal or external, is scored on the same weighted criteria — set by the hiring manager.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sets per competency, and a four-person panel booked across three calendars in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Before, during and after the interview in one record: ratings, comments, dissent and the consensus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offer is assembled inside the approved band and routed to four approvers in parallel.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Onboarding runs across nine systems from contract to day ninety — with four steps deliberately kept for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paths are generated from the gap and booked into real capacity.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Engagement and wellbeing run on aggregated signals with a minimum cohort. No individual is exposed.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action — human or agent — is logged with actor, object and outcome, including what was denied.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in the portal is an API, with policy scope, factors and an audit id on every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HR operations stop being a queue. Cost per case falls; people handle the 14% that needs judgement.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it lands where the board looks: objectives measured on the same records the agents act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measures, twelve months. Net contribution of CHF 9.6 M after platform and delivery cost — modelled on sample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delivery model: platform, delivery and enablement from one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6.svg"/><Relationship Id="rId3" Type="http://schemas.openxmlformats.org/officeDocument/2006/relationships/image" Target="../media/image2.png"/><Relationship Id="rId7" Type="http://schemas.openxmlformats.org/officeDocument/2006/relationships/image" Target="../media/image19.svg"/><Relationship Id="rId12" Type="http://schemas.openxmlformats.org/officeDocument/2006/relationships/image" Target="../media/image11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19" Type="http://schemas.openxmlformats.org/officeDocument/2006/relationships/image" Target="../media/image1.pn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19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19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12.svg"/><Relationship Id="rId18" Type="http://schemas.openxmlformats.org/officeDocument/2006/relationships/image" Target="../media/image16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19" Type="http://schemas.openxmlformats.org/officeDocument/2006/relationships/image" Target="../media/image1.pn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23.svg"/><Relationship Id="rId14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6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19" Type="http://schemas.openxmlformats.org/officeDocument/2006/relationships/image" Target="../media/image1.png"/><Relationship Id="rId4" Type="http://schemas.openxmlformats.org/officeDocument/2006/relationships/image" Target="../media/image3.svg"/><Relationship Id="rId9" Type="http://schemas.openxmlformats.org/officeDocument/2006/relationships/image" Target="../media/image23.svg"/><Relationship Id="rId14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25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25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25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26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26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25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25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25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25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6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2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25.svg"/><Relationship Id="rId19" Type="http://schemas.openxmlformats.org/officeDocument/2006/relationships/image" Target="../media/image1.pn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25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5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29.sv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28.svg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19" Type="http://schemas.openxmlformats.org/officeDocument/2006/relationships/image" Target="../media/image16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30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31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6.svg"/><Relationship Id="rId3" Type="http://schemas.openxmlformats.org/officeDocument/2006/relationships/image" Target="../media/image2.png"/><Relationship Id="rId7" Type="http://schemas.openxmlformats.org/officeDocument/2006/relationships/image" Target="../media/image19.svg"/><Relationship Id="rId12" Type="http://schemas.openxmlformats.org/officeDocument/2006/relationships/image" Target="../media/image11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2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19" Type="http://schemas.openxmlformats.org/officeDocument/2006/relationships/image" Target="../media/image1.pn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6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2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32.svg"/><Relationship Id="rId10" Type="http://schemas.openxmlformats.org/officeDocument/2006/relationships/image" Target="../media/image9.svg"/><Relationship Id="rId19" Type="http://schemas.openxmlformats.org/officeDocument/2006/relationships/image" Target="../media/image1.pn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23.svg"/><Relationship Id="rId14" Type="http://schemas.openxmlformats.org/officeDocument/2006/relationships/image" Target="../media/image13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17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33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552568" y="2610280"/>
            <a:ext cx="9525" cy="495267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Text 1"/>
          <p:cNvSpPr/>
          <p:nvPr/>
        </p:nvSpPr>
        <p:spPr>
          <a:xfrm>
            <a:off x="2790527" y="2641038"/>
            <a:ext cx="1248304" cy="472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1333500" y="3734263"/>
            <a:ext cx="14225589" cy="1905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200"/>
              </a:lnSpc>
              <a:buNone/>
            </a:pPr>
            <a:r>
              <a:rPr lang="en-US" sz="6900" b="1" kern="0" spc="-138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transformation for the enterprise, delivered end to end</a:t>
            </a:r>
            <a:endParaRPr lang="en-US" sz="6900" dirty="0"/>
          </a:p>
        </p:txBody>
      </p:sp>
      <p:sp>
        <p:nvSpPr>
          <p:cNvPr id="6" name="Shape 3"/>
          <p:cNvSpPr/>
          <p:nvPr/>
        </p:nvSpPr>
        <p:spPr>
          <a:xfrm>
            <a:off x="1333500" y="5982230"/>
            <a:ext cx="11430000" cy="28443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1333500" y="6391672"/>
            <a:ext cx="12753976" cy="914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286"/>
              </a:lnSpc>
              <a:buNone/>
            </a:pPr>
            <a:r>
              <a:rPr lang="en-US" sz="24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Twenty-seven screens of a working platform for human resources, delivery and operations — and the business case underneath it.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333500" y="7649105"/>
            <a:ext cx="1718310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figures and records shown are sample data for illustration.</a:t>
            </a:r>
            <a:endParaRPr lang="en-US" sz="1800" dirty="0"/>
          </a:p>
        </p:txBody>
      </p:sp>
      <p:pic>
        <p:nvPicPr>
          <p:cNvPr id="9" name="Picture 8" descr="Android Apps by Hello Clever on Google Play">
            <a:extLst>
              <a:ext uri="{FF2B5EF4-FFF2-40B4-BE49-F238E27FC236}">
                <a16:creationId xmlns:a16="http://schemas.microsoft.com/office/drawing/2014/main" id="{B4B711B6-F640-BC60-40F8-AE5C7CCFB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610" y="2134064"/>
            <a:ext cx="1409700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754147"/>
            <a:ext cx="1718310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43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STARTING POINT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3486382"/>
            <a:ext cx="15304771" cy="2152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462"/>
              </a:lnSpc>
              <a:buNone/>
            </a:pPr>
            <a:r>
              <a:rPr lang="en-US" sz="45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data sits in a dozen systems. Staffing takes weeks. Every process is a ticket queue, and leaders cannot tie any of it to an objective.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333500" y="6057801"/>
            <a:ext cx="5054534" cy="1475052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610651" y="6334952"/>
            <a:ext cx="495025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Workday HRM · Teams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10651" y="6705369"/>
            <a:ext cx="4635239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Core people record, collaboration metadata</a:t>
            </a:r>
            <a:endParaRPr lang="en-US" b="1" dirty="0"/>
          </a:p>
        </p:txBody>
      </p:sp>
      <p:sp>
        <p:nvSpPr>
          <p:cNvPr id="7" name="Shape 5"/>
          <p:cNvSpPr/>
          <p:nvPr/>
        </p:nvSpPr>
        <p:spPr>
          <a:xfrm>
            <a:off x="6616568" y="6057801"/>
            <a:ext cx="5054700" cy="1475052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6893719" y="6334952"/>
            <a:ext cx="495043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Jira · Azure DevOps · GitHub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93719" y="6705369"/>
            <a:ext cx="495043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Where the real delivery evidence lives</a:t>
            </a:r>
            <a:endParaRPr lang="en-US" sz="2000" b="1" dirty="0"/>
          </a:p>
        </p:txBody>
      </p:sp>
      <p:sp>
        <p:nvSpPr>
          <p:cNvPr id="10" name="Shape 8"/>
          <p:cNvSpPr/>
          <p:nvPr/>
        </p:nvSpPr>
        <p:spPr>
          <a:xfrm>
            <a:off x="11899802" y="6057801"/>
            <a:ext cx="5054534" cy="1475052"/>
          </a:xfrm>
          <a:prstGeom prst="roundRect">
            <a:avLst>
              <a:gd name="adj" fmla="val 10332"/>
            </a:avLst>
          </a:prstGeom>
          <a:solidFill>
            <a:srgbClr val="FFFFFF"/>
          </a:solidFill>
          <a:ln w="10583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12176952" y="6334952"/>
            <a:ext cx="495025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LMS · ATS · ServiceNow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76952" y="6705369"/>
            <a:ext cx="495025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Learning, hiring and every HR ticket</a:t>
            </a:r>
            <a:endParaRPr lang="en-US" sz="20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831413"/>
            <a:ext cx="1718310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43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PROGRAMMES STALL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2601846"/>
            <a:ext cx="16089631" cy="163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96"/>
              </a:lnSpc>
              <a:buNone/>
            </a:pPr>
            <a:r>
              <a:rPr lang="en-US" sz="54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is never the hard part. Governance is.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33500" y="4697181"/>
            <a:ext cx="4178267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use case — from pilot to production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6489826" y="4697181"/>
            <a:ext cx="54087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38%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333500" y="5103482"/>
            <a:ext cx="15621001" cy="306917"/>
          </a:xfrm>
          <a:prstGeom prst="roundRect">
            <a:avLst>
              <a:gd name="adj" fmla="val 12414"/>
            </a:avLst>
          </a:prstGeom>
          <a:solidFill>
            <a:srgbClr val="EEEDF3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Shape 5"/>
          <p:cNvSpPr/>
          <p:nvPr/>
        </p:nvSpPr>
        <p:spPr>
          <a:xfrm>
            <a:off x="1344083" y="5114065"/>
            <a:ext cx="5927824" cy="285750"/>
          </a:xfrm>
          <a:custGeom>
            <a:avLst/>
            <a:gdLst/>
            <a:ahLst/>
            <a:cxnLst/>
            <a:rect l="l" t="t" r="r" b="b"/>
            <a:pathLst>
              <a:path w="5927824" h="285750">
                <a:moveTo>
                  <a:pt x="38100" y="0"/>
                </a:moveTo>
                <a:lnTo>
                  <a:pt x="5927824" y="0"/>
                </a:lnTo>
                <a:lnTo>
                  <a:pt x="5927824" y="285750"/>
                </a:lnTo>
                <a:lnTo>
                  <a:pt x="38100" y="285750"/>
                </a:lnTo>
                <a:arcTo wR="38100" hR="38100" stAng="5400000" swAng="5400000"/>
                <a:lnTo>
                  <a:pt x="0" y="38100"/>
                </a:lnTo>
                <a:arcTo wR="38100" hR="38100" stAng="10800000" swAng="5400000"/>
                <a:close/>
              </a:path>
            </a:pathLst>
          </a:cu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Shape 6"/>
          <p:cNvSpPr/>
          <p:nvPr/>
        </p:nvSpPr>
        <p:spPr>
          <a:xfrm>
            <a:off x="7583951" y="4847498"/>
            <a:ext cx="38034" cy="818885"/>
          </a:xfrm>
          <a:prstGeom prst="rect">
            <a:avLst/>
          </a:prstGeom>
          <a:solidFill>
            <a:srgbClr val="BA1A1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" name="Shape 7"/>
          <p:cNvSpPr/>
          <p:nvPr/>
        </p:nvSpPr>
        <p:spPr>
          <a:xfrm>
            <a:off x="7581801" y="5810250"/>
            <a:ext cx="5500357" cy="1007401"/>
          </a:xfrm>
          <a:prstGeom prst="roundRect">
            <a:avLst>
              <a:gd name="adj" fmla="val 15128"/>
            </a:avLst>
          </a:prstGeom>
          <a:solidFill>
            <a:srgbClr val="BA1A1A">
              <a:alpha val="6000"/>
            </a:srgbClr>
          </a:solidFill>
          <a:ln w="10583">
            <a:solidFill>
              <a:srgbClr val="BA1A1A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Text 8"/>
          <p:cNvSpPr/>
          <p:nvPr/>
        </p:nvSpPr>
        <p:spPr>
          <a:xfrm>
            <a:off x="7839935" y="6011334"/>
            <a:ext cx="548249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B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Blocked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839935" y="6394318"/>
            <a:ext cx="5482498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may see which data, and can we prove it afterwards?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333500" y="7312918"/>
            <a:ext cx="5054534" cy="1142669"/>
          </a:xfrm>
          <a:prstGeom prst="roundRect">
            <a:avLst>
              <a:gd name="adj" fmla="val 13337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1591634" y="7571052"/>
            <a:ext cx="499209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governance unresolved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91634" y="7922287"/>
            <a:ext cx="499209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Classification, residency, consent</a:t>
            </a:r>
            <a:endParaRPr lang="en-US" sz="2000" b="1" dirty="0"/>
          </a:p>
        </p:txBody>
      </p:sp>
      <p:sp>
        <p:nvSpPr>
          <p:cNvPr id="15" name="Shape 13"/>
          <p:cNvSpPr/>
          <p:nvPr/>
        </p:nvSpPr>
        <p:spPr>
          <a:xfrm>
            <a:off x="6616568" y="7312918"/>
            <a:ext cx="5054700" cy="1142669"/>
          </a:xfrm>
          <a:prstGeom prst="roundRect">
            <a:avLst>
              <a:gd name="adj" fmla="val 13337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" name="Text 14"/>
          <p:cNvSpPr/>
          <p:nvPr/>
        </p:nvSpPr>
        <p:spPr>
          <a:xfrm>
            <a:off x="6874702" y="7571052"/>
            <a:ext cx="499227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Segregation not enforced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74702" y="7922287"/>
            <a:ext cx="499227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Role, project and tenant boundaries</a:t>
            </a:r>
            <a:endParaRPr lang="en-US" sz="2000" b="1" dirty="0"/>
          </a:p>
        </p:txBody>
      </p:sp>
      <p:sp>
        <p:nvSpPr>
          <p:cNvPr id="18" name="Shape 16"/>
          <p:cNvSpPr/>
          <p:nvPr/>
        </p:nvSpPr>
        <p:spPr>
          <a:xfrm>
            <a:off x="11899802" y="7312918"/>
            <a:ext cx="5054534" cy="1142669"/>
          </a:xfrm>
          <a:prstGeom prst="roundRect">
            <a:avLst>
              <a:gd name="adj" fmla="val 13337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9" name="Text 17"/>
          <p:cNvSpPr/>
          <p:nvPr/>
        </p:nvSpPr>
        <p:spPr>
          <a:xfrm>
            <a:off x="12157936" y="7571052"/>
            <a:ext cx="499209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audit story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157936" y="7922287"/>
            <a:ext cx="499209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Nobody can answer the auditor</a:t>
            </a:r>
            <a:endParaRPr lang="en-US" sz="20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2434001"/>
            <a:ext cx="64960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43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PLATFORM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2956719"/>
            <a:ext cx="6082665" cy="2038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437"/>
              </a:lnSpc>
              <a:buNone/>
            </a:pPr>
            <a:r>
              <a:rPr lang="en-US" sz="4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governed platform, not twelve pilots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333500" y="5204520"/>
            <a:ext cx="6082665" cy="1409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600"/>
              </a:lnSpc>
              <a:buNone/>
            </a:pPr>
            <a:r>
              <a:rPr lang="en-US" sz="17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bbv AI Hub team builds the layers in order: connect the systems, settle the governance, then put AI and agents on top — with humans deciding at every point that matters.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1333500" y="6823935"/>
            <a:ext cx="10583" cy="1028898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1534583" y="6823935"/>
            <a:ext cx="5881582" cy="1066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615"/>
              </a:lnSpc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Delivery, run and enablement in one team: platform engineering, data governance, AI engineering and HR process design.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924767" y="1972800"/>
            <a:ext cx="9029734" cy="1377487"/>
          </a:xfrm>
          <a:prstGeom prst="roundRect">
            <a:avLst>
              <a:gd name="adj" fmla="val 1106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Shape 6"/>
          <p:cNvSpPr/>
          <p:nvPr/>
        </p:nvSpPr>
        <p:spPr>
          <a:xfrm>
            <a:off x="7924767" y="3339703"/>
            <a:ext cx="9029734" cy="10583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" name="Shape 7"/>
          <p:cNvSpPr/>
          <p:nvPr/>
        </p:nvSpPr>
        <p:spPr>
          <a:xfrm>
            <a:off x="7924767" y="1972800"/>
            <a:ext cx="9029734" cy="10583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" name="Shape 8"/>
          <p:cNvSpPr/>
          <p:nvPr/>
        </p:nvSpPr>
        <p:spPr>
          <a:xfrm>
            <a:off x="7924767" y="1972800"/>
            <a:ext cx="31750" cy="1377487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" name="Shape 9"/>
          <p:cNvSpPr/>
          <p:nvPr/>
        </p:nvSpPr>
        <p:spPr>
          <a:xfrm>
            <a:off x="16943918" y="1972800"/>
            <a:ext cx="10583" cy="1377487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8223085" y="2211917"/>
            <a:ext cx="175461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970493" y="2243667"/>
            <a:ext cx="331005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· portal · mobile · API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3085" y="2662701"/>
            <a:ext cx="1295797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Text 13"/>
          <p:cNvSpPr/>
          <p:nvPr/>
        </p:nvSpPr>
        <p:spPr>
          <a:xfrm>
            <a:off x="8376544" y="2749484"/>
            <a:ext cx="1065080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Assistant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14132" y="2662701"/>
            <a:ext cx="1390716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9767590" y="2749484"/>
            <a:ext cx="1160000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100098" y="2662701"/>
            <a:ext cx="1606186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9" name="Text 17"/>
          <p:cNvSpPr/>
          <p:nvPr/>
        </p:nvSpPr>
        <p:spPr>
          <a:xfrm>
            <a:off x="11253556" y="2749484"/>
            <a:ext cx="1375470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801535" y="2662701"/>
            <a:ext cx="1838524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12954993" y="2749484"/>
            <a:ext cx="1607807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API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924767" y="3521604"/>
            <a:ext cx="9029734" cy="1377487"/>
          </a:xfrm>
          <a:prstGeom prst="roundRect">
            <a:avLst>
              <a:gd name="adj" fmla="val 1106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Shape 21"/>
          <p:cNvSpPr/>
          <p:nvPr/>
        </p:nvSpPr>
        <p:spPr>
          <a:xfrm>
            <a:off x="7924767" y="4888508"/>
            <a:ext cx="9029734" cy="10583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4" name="Shape 22"/>
          <p:cNvSpPr/>
          <p:nvPr/>
        </p:nvSpPr>
        <p:spPr>
          <a:xfrm>
            <a:off x="7924767" y="3521604"/>
            <a:ext cx="9029734" cy="10583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5" name="Shape 23"/>
          <p:cNvSpPr/>
          <p:nvPr/>
        </p:nvSpPr>
        <p:spPr>
          <a:xfrm>
            <a:off x="7924767" y="3521604"/>
            <a:ext cx="31750" cy="1377487"/>
          </a:xfrm>
          <a:prstGeom prst="rect">
            <a:avLst/>
          </a:prstGeom>
          <a:solidFill>
            <a:srgbClr val="00A1E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6" name="Shape 24"/>
          <p:cNvSpPr/>
          <p:nvPr/>
        </p:nvSpPr>
        <p:spPr>
          <a:xfrm>
            <a:off x="16943918" y="3521604"/>
            <a:ext cx="10583" cy="1377487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7" name="Text 25"/>
          <p:cNvSpPr/>
          <p:nvPr/>
        </p:nvSpPr>
        <p:spPr>
          <a:xfrm>
            <a:off x="8223085" y="3760722"/>
            <a:ext cx="3700777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AI, agents and automation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1739729" y="3792471"/>
            <a:ext cx="480109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Reasoning, matching, agentic workflows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223085" y="4211505"/>
            <a:ext cx="1310349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0" name="Text 28"/>
          <p:cNvSpPr/>
          <p:nvPr/>
        </p:nvSpPr>
        <p:spPr>
          <a:xfrm>
            <a:off x="8376544" y="4298289"/>
            <a:ext cx="1079632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Matching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628684" y="4211505"/>
            <a:ext cx="1722438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2" name="Text 30"/>
          <p:cNvSpPr/>
          <p:nvPr/>
        </p:nvSpPr>
        <p:spPr>
          <a:xfrm>
            <a:off x="9782142" y="4298289"/>
            <a:ext cx="1491721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runner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446371" y="4211505"/>
            <a:ext cx="1539875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4" name="Text 32"/>
          <p:cNvSpPr/>
          <p:nvPr/>
        </p:nvSpPr>
        <p:spPr>
          <a:xfrm>
            <a:off x="11599829" y="4298289"/>
            <a:ext cx="1309158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3081497" y="4211505"/>
            <a:ext cx="1724753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6" name="Text 34"/>
          <p:cNvSpPr/>
          <p:nvPr/>
        </p:nvSpPr>
        <p:spPr>
          <a:xfrm>
            <a:off x="13234955" y="4298289"/>
            <a:ext cx="1494036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Explainability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924767" y="5070409"/>
            <a:ext cx="9029734" cy="1694987"/>
          </a:xfrm>
          <a:prstGeom prst="roundRect">
            <a:avLst>
              <a:gd name="adj" fmla="val 89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8" name="Shape 36"/>
          <p:cNvSpPr/>
          <p:nvPr/>
        </p:nvSpPr>
        <p:spPr>
          <a:xfrm>
            <a:off x="7924767" y="6754813"/>
            <a:ext cx="9029734" cy="10583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9" name="Shape 37"/>
          <p:cNvSpPr/>
          <p:nvPr/>
        </p:nvSpPr>
        <p:spPr>
          <a:xfrm>
            <a:off x="7924767" y="5070409"/>
            <a:ext cx="9029734" cy="10583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0" name="Shape 38"/>
          <p:cNvSpPr/>
          <p:nvPr/>
        </p:nvSpPr>
        <p:spPr>
          <a:xfrm>
            <a:off x="7924767" y="5070409"/>
            <a:ext cx="31750" cy="1694987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1" name="Shape 39"/>
          <p:cNvSpPr/>
          <p:nvPr/>
        </p:nvSpPr>
        <p:spPr>
          <a:xfrm>
            <a:off x="16943918" y="5070409"/>
            <a:ext cx="10583" cy="1694987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2" name="Text 40"/>
          <p:cNvSpPr/>
          <p:nvPr/>
        </p:nvSpPr>
        <p:spPr>
          <a:xfrm>
            <a:off x="8223085" y="5309526"/>
            <a:ext cx="3824149" cy="67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and segregation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12088152" y="5341276"/>
            <a:ext cx="4726874" cy="588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Classification, entitlements, masking, audit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8223085" y="6077810"/>
            <a:ext cx="1750053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5" name="Text 43"/>
          <p:cNvSpPr/>
          <p:nvPr/>
        </p:nvSpPr>
        <p:spPr>
          <a:xfrm>
            <a:off x="8376544" y="6164594"/>
            <a:ext cx="1519337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engine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0068389" y="6077810"/>
            <a:ext cx="1218241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7" name="Text 45"/>
          <p:cNvSpPr/>
          <p:nvPr/>
        </p:nvSpPr>
        <p:spPr>
          <a:xfrm>
            <a:off x="10221847" y="6164594"/>
            <a:ext cx="987524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Masking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1381880" y="6077810"/>
            <a:ext cx="1422466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9" name="Text 47"/>
          <p:cNvSpPr/>
          <p:nvPr/>
        </p:nvSpPr>
        <p:spPr>
          <a:xfrm>
            <a:off x="11535338" y="6164594"/>
            <a:ext cx="1191750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Residency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2899595" y="6077810"/>
            <a:ext cx="1333831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1" name="Text 49"/>
          <p:cNvSpPr/>
          <p:nvPr/>
        </p:nvSpPr>
        <p:spPr>
          <a:xfrm>
            <a:off x="13053054" y="6164594"/>
            <a:ext cx="1103114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7924767" y="6936714"/>
            <a:ext cx="9029734" cy="1377487"/>
          </a:xfrm>
          <a:prstGeom prst="roundRect">
            <a:avLst>
              <a:gd name="adj" fmla="val 1106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3" name="Shape 51"/>
          <p:cNvSpPr/>
          <p:nvPr/>
        </p:nvSpPr>
        <p:spPr>
          <a:xfrm>
            <a:off x="7924767" y="8303617"/>
            <a:ext cx="9029734" cy="10583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4" name="Shape 52"/>
          <p:cNvSpPr/>
          <p:nvPr/>
        </p:nvSpPr>
        <p:spPr>
          <a:xfrm>
            <a:off x="7924767" y="6936714"/>
            <a:ext cx="9029734" cy="10583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Shape 53"/>
          <p:cNvSpPr/>
          <p:nvPr/>
        </p:nvSpPr>
        <p:spPr>
          <a:xfrm>
            <a:off x="7924767" y="6936714"/>
            <a:ext cx="31750" cy="1377487"/>
          </a:xfrm>
          <a:prstGeom prst="rect">
            <a:avLst/>
          </a:prstGeom>
          <a:solidFill>
            <a:srgbClr val="6E78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6" name="Shape 54"/>
          <p:cNvSpPr/>
          <p:nvPr/>
        </p:nvSpPr>
        <p:spPr>
          <a:xfrm>
            <a:off x="16943918" y="6936714"/>
            <a:ext cx="10583" cy="1377487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7" name="Text 55"/>
          <p:cNvSpPr/>
          <p:nvPr/>
        </p:nvSpPr>
        <p:spPr>
          <a:xfrm>
            <a:off x="8223085" y="7175831"/>
            <a:ext cx="2823832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systems</a:t>
            </a:r>
            <a:endParaRPr lang="en-US" sz="2100" dirty="0"/>
          </a:p>
        </p:txBody>
      </p:sp>
      <p:sp>
        <p:nvSpPr>
          <p:cNvPr id="58" name="Text 56"/>
          <p:cNvSpPr/>
          <p:nvPr/>
        </p:nvSpPr>
        <p:spPr>
          <a:xfrm>
            <a:off x="10942505" y="7207581"/>
            <a:ext cx="545703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HRM · Teams · Jira · GitHub · ADO · LMS · ATS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8223085" y="7626615"/>
            <a:ext cx="1284221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0" name="Text 58"/>
          <p:cNvSpPr/>
          <p:nvPr/>
        </p:nvSpPr>
        <p:spPr>
          <a:xfrm>
            <a:off x="8376544" y="7713398"/>
            <a:ext cx="1053505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 in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9602556" y="7626615"/>
            <a:ext cx="1528961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2" name="Text 60"/>
          <p:cNvSpPr/>
          <p:nvPr/>
        </p:nvSpPr>
        <p:spPr>
          <a:xfrm>
            <a:off x="9756015" y="7713398"/>
            <a:ext cx="1298244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 out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1226767" y="7626615"/>
            <a:ext cx="1615447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4" name="Text 62"/>
          <p:cNvSpPr/>
          <p:nvPr/>
        </p:nvSpPr>
        <p:spPr>
          <a:xfrm>
            <a:off x="11380225" y="7713398"/>
            <a:ext cx="1384730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identity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2937464" y="7626615"/>
            <a:ext cx="2040599" cy="448469"/>
          </a:xfrm>
          <a:prstGeom prst="roundRect">
            <a:avLst>
              <a:gd name="adj" fmla="val 16991"/>
            </a:avLst>
          </a:prstGeom>
          <a:solidFill>
            <a:srgbClr val="F4F3F8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6" name="Text 64"/>
          <p:cNvSpPr/>
          <p:nvPr/>
        </p:nvSpPr>
        <p:spPr>
          <a:xfrm>
            <a:off x="13090922" y="7713398"/>
            <a:ext cx="1809882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skills graph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Shape 15"/>
          <p:cNvSpPr/>
          <p:nvPr/>
        </p:nvSpPr>
        <p:spPr>
          <a:xfrm>
            <a:off x="0" y="881261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0" name="Shape 16"/>
          <p:cNvSpPr/>
          <p:nvPr/>
        </p:nvSpPr>
        <p:spPr>
          <a:xfrm>
            <a:off x="0" y="881261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92522" y="986433"/>
            <a:ext cx="76061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2915801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overview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207927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334927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467734" y="1183283"/>
            <a:ext cx="1500386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640454" y="1264563"/>
            <a:ext cx="1231146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workspace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2117130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71242" y="2120106"/>
            <a:ext cx="189882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employees</a:t>
            </a:r>
            <a:endParaRPr lang="en-US" sz="1080" dirty="0"/>
          </a:p>
        </p:txBody>
      </p:sp>
      <p:sp>
        <p:nvSpPr>
          <p:cNvPr id="53" name="Text 38"/>
          <p:cNvSpPr/>
          <p:nvPr/>
        </p:nvSpPr>
        <p:spPr>
          <a:xfrm>
            <a:off x="3271242" y="2353667"/>
            <a:ext cx="1898829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4,820</a:t>
            </a:r>
            <a:endParaRPr lang="en-US" sz="2700" dirty="0"/>
          </a:p>
        </p:txBody>
      </p:sp>
      <p:sp>
        <p:nvSpPr>
          <p:cNvPr id="54" name="Text 39"/>
          <p:cNvSpPr/>
          <p:nvPr/>
        </p:nvSpPr>
        <p:spPr>
          <a:xfrm>
            <a:off x="3271242" y="2810669"/>
            <a:ext cx="73203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+120 QoQ</a:t>
            </a:r>
            <a:endParaRPr lang="en-US" sz="1080" dirty="0"/>
          </a:p>
        </p:txBody>
      </p:sp>
      <p:sp>
        <p:nvSpPr>
          <p:cNvPr id="55" name="Text 40"/>
          <p:cNvSpPr/>
          <p:nvPr/>
        </p:nvSpPr>
        <p:spPr>
          <a:xfrm>
            <a:off x="4018360" y="2810669"/>
            <a:ext cx="104001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vs. last quarter</a:t>
            </a:r>
            <a:endParaRPr lang="en-US" sz="1080" dirty="0"/>
          </a:p>
        </p:txBody>
      </p:sp>
      <p:sp>
        <p:nvSpPr>
          <p:cNvPr id="56" name="Shape 41"/>
          <p:cNvSpPr/>
          <p:nvPr/>
        </p:nvSpPr>
        <p:spPr>
          <a:xfrm>
            <a:off x="5375672" y="1924645"/>
            <a:ext cx="2117328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7" name="Text 42"/>
          <p:cNvSpPr/>
          <p:nvPr/>
        </p:nvSpPr>
        <p:spPr>
          <a:xfrm>
            <a:off x="5571133" y="2120106"/>
            <a:ext cx="189904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Projects staffed</a:t>
            </a:r>
            <a:endParaRPr lang="en-US" sz="1080" dirty="0"/>
          </a:p>
        </p:txBody>
      </p:sp>
      <p:sp>
        <p:nvSpPr>
          <p:cNvPr id="58" name="Text 43"/>
          <p:cNvSpPr/>
          <p:nvPr/>
        </p:nvSpPr>
        <p:spPr>
          <a:xfrm>
            <a:off x="5571133" y="2353667"/>
            <a:ext cx="189904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312</a:t>
            </a:r>
            <a:endParaRPr lang="en-US" sz="2700" dirty="0"/>
          </a:p>
        </p:txBody>
      </p:sp>
      <p:sp>
        <p:nvSpPr>
          <p:cNvPr id="59" name="Text 44"/>
          <p:cNvSpPr/>
          <p:nvPr/>
        </p:nvSpPr>
        <p:spPr>
          <a:xfrm>
            <a:off x="5571133" y="2810669"/>
            <a:ext cx="31412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</a:t>
            </a:r>
            <a:endParaRPr lang="en-US" sz="1080" dirty="0"/>
          </a:p>
        </p:txBody>
      </p:sp>
      <p:sp>
        <p:nvSpPr>
          <p:cNvPr id="60" name="Text 45"/>
          <p:cNvSpPr/>
          <p:nvPr/>
        </p:nvSpPr>
        <p:spPr>
          <a:xfrm>
            <a:off x="5900341" y="2810669"/>
            <a:ext cx="104001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vs. last quarter</a:t>
            </a:r>
            <a:endParaRPr lang="en-US" sz="1080" dirty="0"/>
          </a:p>
        </p:txBody>
      </p:sp>
      <p:sp>
        <p:nvSpPr>
          <p:cNvPr id="61" name="Shape 46"/>
          <p:cNvSpPr/>
          <p:nvPr/>
        </p:nvSpPr>
        <p:spPr>
          <a:xfrm>
            <a:off x="7675761" y="1924645"/>
            <a:ext cx="2117329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2" name="Text 47"/>
          <p:cNvSpPr/>
          <p:nvPr/>
        </p:nvSpPr>
        <p:spPr>
          <a:xfrm>
            <a:off x="7871222" y="2120106"/>
            <a:ext cx="189904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AI-handled requests</a:t>
            </a:r>
            <a:endParaRPr lang="en-US" sz="1080" dirty="0"/>
          </a:p>
        </p:txBody>
      </p:sp>
      <p:sp>
        <p:nvSpPr>
          <p:cNvPr id="63" name="Text 48"/>
          <p:cNvSpPr/>
          <p:nvPr/>
        </p:nvSpPr>
        <p:spPr>
          <a:xfrm>
            <a:off x="7871222" y="2353667"/>
            <a:ext cx="1899048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68%</a:t>
            </a:r>
            <a:endParaRPr lang="en-US" sz="2700" dirty="0"/>
          </a:p>
        </p:txBody>
      </p:sp>
      <p:sp>
        <p:nvSpPr>
          <p:cNvPr id="64" name="Text 49"/>
          <p:cNvSpPr/>
          <p:nvPr/>
        </p:nvSpPr>
        <p:spPr>
          <a:xfrm>
            <a:off x="7871222" y="2810669"/>
            <a:ext cx="55582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+41 pts</a:t>
            </a:r>
            <a:endParaRPr lang="en-US" sz="1080" dirty="0"/>
          </a:p>
        </p:txBody>
      </p:sp>
      <p:sp>
        <p:nvSpPr>
          <p:cNvPr id="65" name="Text 50"/>
          <p:cNvSpPr/>
          <p:nvPr/>
        </p:nvSpPr>
        <p:spPr>
          <a:xfrm>
            <a:off x="8442127" y="2810669"/>
            <a:ext cx="104001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vs. last quarter</a:t>
            </a:r>
            <a:endParaRPr lang="en-US" sz="1080" dirty="0"/>
          </a:p>
        </p:txBody>
      </p:sp>
      <p:sp>
        <p:nvSpPr>
          <p:cNvPr id="66" name="Shape 51"/>
          <p:cNvSpPr/>
          <p:nvPr/>
        </p:nvSpPr>
        <p:spPr>
          <a:xfrm>
            <a:off x="9975850" y="1924645"/>
            <a:ext cx="2117329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7" name="Text 52"/>
          <p:cNvSpPr/>
          <p:nvPr/>
        </p:nvSpPr>
        <p:spPr>
          <a:xfrm>
            <a:off x="10171312" y="2120106"/>
            <a:ext cx="189904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skills gaps</a:t>
            </a:r>
            <a:endParaRPr lang="en-US" sz="1080" dirty="0"/>
          </a:p>
        </p:txBody>
      </p:sp>
      <p:sp>
        <p:nvSpPr>
          <p:cNvPr id="68" name="Text 53"/>
          <p:cNvSpPr/>
          <p:nvPr/>
        </p:nvSpPr>
        <p:spPr>
          <a:xfrm>
            <a:off x="10171312" y="2353667"/>
            <a:ext cx="1899048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2700" dirty="0"/>
          </a:p>
        </p:txBody>
      </p:sp>
      <p:sp>
        <p:nvSpPr>
          <p:cNvPr id="69" name="Text 54"/>
          <p:cNvSpPr/>
          <p:nvPr/>
        </p:nvSpPr>
        <p:spPr>
          <a:xfrm>
            <a:off x="10171312" y="2810669"/>
            <a:ext cx="33754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B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−23</a:t>
            </a:r>
            <a:endParaRPr lang="en-US" sz="1080" dirty="0"/>
          </a:p>
        </p:txBody>
      </p:sp>
      <p:sp>
        <p:nvSpPr>
          <p:cNvPr id="70" name="Text 55"/>
          <p:cNvSpPr/>
          <p:nvPr/>
        </p:nvSpPr>
        <p:spPr>
          <a:xfrm>
            <a:off x="10523936" y="2810669"/>
            <a:ext cx="104001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vs. last quarter</a:t>
            </a:r>
            <a:endParaRPr lang="en-US" sz="1080" dirty="0"/>
          </a:p>
        </p:txBody>
      </p:sp>
      <p:sp>
        <p:nvSpPr>
          <p:cNvPr id="71" name="Shape 56"/>
          <p:cNvSpPr/>
          <p:nvPr/>
        </p:nvSpPr>
        <p:spPr>
          <a:xfrm>
            <a:off x="3075781" y="3353991"/>
            <a:ext cx="5153422" cy="6704410"/>
          </a:xfrm>
          <a:prstGeom prst="roundRect">
            <a:avLst>
              <a:gd name="adj" fmla="val 1774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2" name="Text 57"/>
          <p:cNvSpPr/>
          <p:nvPr/>
        </p:nvSpPr>
        <p:spPr>
          <a:xfrm>
            <a:off x="3294063" y="3572272"/>
            <a:ext cx="435383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across the org</a:t>
            </a:r>
            <a:endParaRPr lang="en-US" sz="1440" dirty="0"/>
          </a:p>
        </p:txBody>
      </p:sp>
      <p:sp>
        <p:nvSpPr>
          <p:cNvPr id="73" name="Text 58"/>
          <p:cNvSpPr/>
          <p:nvPr/>
        </p:nvSpPr>
        <p:spPr>
          <a:xfrm>
            <a:off x="3294063" y="3810992"/>
            <a:ext cx="435383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Requests, matches and approvals handled in the last 30 days</a:t>
            </a:r>
            <a:endParaRPr lang="en-US" sz="1080" dirty="0"/>
          </a:p>
        </p:txBody>
      </p:sp>
      <p:sp>
        <p:nvSpPr>
          <p:cNvPr id="74" name="Shape 59"/>
          <p:cNvSpPr/>
          <p:nvPr/>
        </p:nvSpPr>
        <p:spPr>
          <a:xfrm>
            <a:off x="3294063" y="4369594"/>
            <a:ext cx="4716859" cy="12700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5" name="Text 60"/>
          <p:cNvSpPr/>
          <p:nvPr/>
        </p:nvSpPr>
        <p:spPr>
          <a:xfrm>
            <a:off x="3408363" y="4113213"/>
            <a:ext cx="172049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 area</a:t>
            </a:r>
            <a:endParaRPr lang="en-US" sz="1080" dirty="0"/>
          </a:p>
        </p:txBody>
      </p:sp>
      <p:sp>
        <p:nvSpPr>
          <p:cNvPr id="76" name="Text 61"/>
          <p:cNvSpPr/>
          <p:nvPr/>
        </p:nvSpPr>
        <p:spPr>
          <a:xfrm>
            <a:off x="5056188" y="4113213"/>
            <a:ext cx="85844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</a:t>
            </a:r>
            <a:endParaRPr lang="en-US" sz="1080" dirty="0"/>
          </a:p>
        </p:txBody>
      </p:sp>
      <p:sp>
        <p:nvSpPr>
          <p:cNvPr id="77" name="Text 62"/>
          <p:cNvSpPr/>
          <p:nvPr/>
        </p:nvSpPr>
        <p:spPr>
          <a:xfrm>
            <a:off x="5998369" y="4113213"/>
            <a:ext cx="85824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</a:t>
            </a:r>
            <a:endParaRPr lang="en-US" sz="1080" dirty="0"/>
          </a:p>
        </p:txBody>
      </p:sp>
      <p:sp>
        <p:nvSpPr>
          <p:cNvPr id="78" name="Text 63"/>
          <p:cNvSpPr/>
          <p:nvPr/>
        </p:nvSpPr>
        <p:spPr>
          <a:xfrm>
            <a:off x="6940352" y="4113213"/>
            <a:ext cx="95627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time</a:t>
            </a:r>
            <a:endParaRPr lang="en-US" sz="1080" dirty="0"/>
          </a:p>
        </p:txBody>
      </p:sp>
      <p:sp>
        <p:nvSpPr>
          <p:cNvPr id="79" name="Shape 64"/>
          <p:cNvSpPr/>
          <p:nvPr/>
        </p:nvSpPr>
        <p:spPr>
          <a:xfrm>
            <a:off x="3294063" y="4824016"/>
            <a:ext cx="471685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0" name="Text 65"/>
          <p:cNvSpPr/>
          <p:nvPr/>
        </p:nvSpPr>
        <p:spPr>
          <a:xfrm>
            <a:off x="3408363" y="4507905"/>
            <a:ext cx="172049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and absence</a:t>
            </a:r>
            <a:endParaRPr lang="en-US" sz="1260" dirty="0"/>
          </a:p>
        </p:txBody>
      </p:sp>
      <p:sp>
        <p:nvSpPr>
          <p:cNvPr id="81" name="Text 66"/>
          <p:cNvSpPr/>
          <p:nvPr/>
        </p:nvSpPr>
        <p:spPr>
          <a:xfrm>
            <a:off x="5056188" y="4507905"/>
            <a:ext cx="8584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3,140</a:t>
            </a:r>
            <a:endParaRPr lang="en-US" sz="1260" dirty="0"/>
          </a:p>
        </p:txBody>
      </p:sp>
      <p:sp>
        <p:nvSpPr>
          <p:cNvPr id="82" name="Text 67"/>
          <p:cNvSpPr/>
          <p:nvPr/>
        </p:nvSpPr>
        <p:spPr>
          <a:xfrm>
            <a:off x="5998369" y="4507905"/>
            <a:ext cx="85824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94%</a:t>
            </a:r>
            <a:endParaRPr lang="en-US" sz="1260" dirty="0"/>
          </a:p>
        </p:txBody>
      </p:sp>
      <p:sp>
        <p:nvSpPr>
          <p:cNvPr id="83" name="Text 68"/>
          <p:cNvSpPr/>
          <p:nvPr/>
        </p:nvSpPr>
        <p:spPr>
          <a:xfrm>
            <a:off x="6940352" y="4507905"/>
            <a:ext cx="9562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sec</a:t>
            </a:r>
            <a:endParaRPr lang="en-US" sz="1260" dirty="0"/>
          </a:p>
        </p:txBody>
      </p:sp>
      <p:sp>
        <p:nvSpPr>
          <p:cNvPr id="84" name="Shape 69"/>
          <p:cNvSpPr/>
          <p:nvPr/>
        </p:nvSpPr>
        <p:spPr>
          <a:xfrm>
            <a:off x="3294063" y="5468938"/>
            <a:ext cx="471685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5" name="Text 70"/>
          <p:cNvSpPr/>
          <p:nvPr/>
        </p:nvSpPr>
        <p:spPr>
          <a:xfrm>
            <a:off x="3408363" y="4962327"/>
            <a:ext cx="164028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 and matching</a:t>
            </a:r>
            <a:endParaRPr lang="en-US" sz="1260" dirty="0"/>
          </a:p>
        </p:txBody>
      </p:sp>
      <p:sp>
        <p:nvSpPr>
          <p:cNvPr id="86" name="Text 71"/>
          <p:cNvSpPr/>
          <p:nvPr/>
        </p:nvSpPr>
        <p:spPr>
          <a:xfrm>
            <a:off x="5056188" y="5057577"/>
            <a:ext cx="8584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486</a:t>
            </a:r>
            <a:endParaRPr lang="en-US" sz="1260" dirty="0"/>
          </a:p>
        </p:txBody>
      </p:sp>
      <p:sp>
        <p:nvSpPr>
          <p:cNvPr id="87" name="Text 72"/>
          <p:cNvSpPr/>
          <p:nvPr/>
        </p:nvSpPr>
        <p:spPr>
          <a:xfrm>
            <a:off x="5998369" y="5057577"/>
            <a:ext cx="85824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71%</a:t>
            </a:r>
            <a:endParaRPr lang="en-US" sz="1260" dirty="0"/>
          </a:p>
        </p:txBody>
      </p:sp>
      <p:sp>
        <p:nvSpPr>
          <p:cNvPr id="88" name="Text 73"/>
          <p:cNvSpPr/>
          <p:nvPr/>
        </p:nvSpPr>
        <p:spPr>
          <a:xfrm>
            <a:off x="6940352" y="5057577"/>
            <a:ext cx="9562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 hrs</a:t>
            </a:r>
            <a:endParaRPr lang="en-US" sz="1260" dirty="0"/>
          </a:p>
        </p:txBody>
      </p:sp>
      <p:sp>
        <p:nvSpPr>
          <p:cNvPr id="89" name="Shape 74"/>
          <p:cNvSpPr/>
          <p:nvPr/>
        </p:nvSpPr>
        <p:spPr>
          <a:xfrm>
            <a:off x="3294063" y="6113860"/>
            <a:ext cx="471685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0" name="Text 75"/>
          <p:cNvSpPr/>
          <p:nvPr/>
        </p:nvSpPr>
        <p:spPr>
          <a:xfrm>
            <a:off x="3408363" y="5607249"/>
            <a:ext cx="164028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and access</a:t>
            </a:r>
            <a:endParaRPr lang="en-US" sz="1260" dirty="0"/>
          </a:p>
        </p:txBody>
      </p:sp>
      <p:sp>
        <p:nvSpPr>
          <p:cNvPr id="91" name="Text 76"/>
          <p:cNvSpPr/>
          <p:nvPr/>
        </p:nvSpPr>
        <p:spPr>
          <a:xfrm>
            <a:off x="5056188" y="5702499"/>
            <a:ext cx="8584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218</a:t>
            </a:r>
            <a:endParaRPr lang="en-US" sz="1260" dirty="0"/>
          </a:p>
        </p:txBody>
      </p:sp>
      <p:sp>
        <p:nvSpPr>
          <p:cNvPr id="92" name="Text 77"/>
          <p:cNvSpPr/>
          <p:nvPr/>
        </p:nvSpPr>
        <p:spPr>
          <a:xfrm>
            <a:off x="5998369" y="5702499"/>
            <a:ext cx="85824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88%</a:t>
            </a:r>
            <a:endParaRPr lang="en-US" sz="1260" dirty="0"/>
          </a:p>
        </p:txBody>
      </p:sp>
      <p:sp>
        <p:nvSpPr>
          <p:cNvPr id="93" name="Text 78"/>
          <p:cNvSpPr/>
          <p:nvPr/>
        </p:nvSpPr>
        <p:spPr>
          <a:xfrm>
            <a:off x="6940352" y="5702499"/>
            <a:ext cx="9562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1.1 hrs</a:t>
            </a:r>
            <a:endParaRPr lang="en-US" sz="1260" dirty="0"/>
          </a:p>
        </p:txBody>
      </p:sp>
      <p:sp>
        <p:nvSpPr>
          <p:cNvPr id="94" name="Shape 79"/>
          <p:cNvSpPr/>
          <p:nvPr/>
        </p:nvSpPr>
        <p:spPr>
          <a:xfrm>
            <a:off x="3294063" y="6568282"/>
            <a:ext cx="471685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5" name="Text 80"/>
          <p:cNvSpPr/>
          <p:nvPr/>
        </p:nvSpPr>
        <p:spPr>
          <a:xfrm>
            <a:off x="3408363" y="6252171"/>
            <a:ext cx="172049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enrolment</a:t>
            </a:r>
            <a:endParaRPr lang="en-US" sz="1260" dirty="0"/>
          </a:p>
        </p:txBody>
      </p:sp>
      <p:sp>
        <p:nvSpPr>
          <p:cNvPr id="96" name="Text 81"/>
          <p:cNvSpPr/>
          <p:nvPr/>
        </p:nvSpPr>
        <p:spPr>
          <a:xfrm>
            <a:off x="5056188" y="6252171"/>
            <a:ext cx="8584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1,902</a:t>
            </a:r>
            <a:endParaRPr lang="en-US" sz="1260" dirty="0"/>
          </a:p>
        </p:txBody>
      </p:sp>
      <p:sp>
        <p:nvSpPr>
          <p:cNvPr id="97" name="Text 82"/>
          <p:cNvSpPr/>
          <p:nvPr/>
        </p:nvSpPr>
        <p:spPr>
          <a:xfrm>
            <a:off x="5998369" y="6252171"/>
            <a:ext cx="85824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96%</a:t>
            </a:r>
            <a:endParaRPr lang="en-US" sz="1260" dirty="0"/>
          </a:p>
        </p:txBody>
      </p:sp>
      <p:sp>
        <p:nvSpPr>
          <p:cNvPr id="98" name="Text 83"/>
          <p:cNvSpPr/>
          <p:nvPr/>
        </p:nvSpPr>
        <p:spPr>
          <a:xfrm>
            <a:off x="6940352" y="6252171"/>
            <a:ext cx="9562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sec</a:t>
            </a:r>
            <a:endParaRPr lang="en-US" sz="1260" dirty="0"/>
          </a:p>
        </p:txBody>
      </p:sp>
      <p:sp>
        <p:nvSpPr>
          <p:cNvPr id="99" name="Shape 84"/>
          <p:cNvSpPr/>
          <p:nvPr/>
        </p:nvSpPr>
        <p:spPr>
          <a:xfrm>
            <a:off x="3294063" y="7213203"/>
            <a:ext cx="471685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0" name="Text 85"/>
          <p:cNvSpPr/>
          <p:nvPr/>
        </p:nvSpPr>
        <p:spPr>
          <a:xfrm>
            <a:off x="3408363" y="6706593"/>
            <a:ext cx="164028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and payroll queries</a:t>
            </a:r>
            <a:endParaRPr lang="en-US" sz="1260" dirty="0"/>
          </a:p>
        </p:txBody>
      </p:sp>
      <p:sp>
        <p:nvSpPr>
          <p:cNvPr id="101" name="Text 86"/>
          <p:cNvSpPr/>
          <p:nvPr/>
        </p:nvSpPr>
        <p:spPr>
          <a:xfrm>
            <a:off x="5056188" y="6801843"/>
            <a:ext cx="8584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2,655</a:t>
            </a:r>
            <a:endParaRPr lang="en-US" sz="1260" dirty="0"/>
          </a:p>
        </p:txBody>
      </p:sp>
      <p:sp>
        <p:nvSpPr>
          <p:cNvPr id="102" name="Text 87"/>
          <p:cNvSpPr/>
          <p:nvPr/>
        </p:nvSpPr>
        <p:spPr>
          <a:xfrm>
            <a:off x="5998369" y="6801843"/>
            <a:ext cx="85824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82%</a:t>
            </a:r>
            <a:endParaRPr lang="en-US" sz="1260" dirty="0"/>
          </a:p>
        </p:txBody>
      </p:sp>
      <p:sp>
        <p:nvSpPr>
          <p:cNvPr id="103" name="Text 88"/>
          <p:cNvSpPr/>
          <p:nvPr/>
        </p:nvSpPr>
        <p:spPr>
          <a:xfrm>
            <a:off x="6940352" y="6801843"/>
            <a:ext cx="9562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 sec</a:t>
            </a:r>
            <a:endParaRPr lang="en-US" sz="1260" dirty="0"/>
          </a:p>
        </p:txBody>
      </p:sp>
      <p:sp>
        <p:nvSpPr>
          <p:cNvPr id="104" name="Shape 89"/>
          <p:cNvSpPr/>
          <p:nvPr/>
        </p:nvSpPr>
        <p:spPr>
          <a:xfrm>
            <a:off x="8411965" y="3353991"/>
            <a:ext cx="3681016" cy="6704410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5" name="Text 90"/>
          <p:cNvSpPr/>
          <p:nvPr/>
        </p:nvSpPr>
        <p:spPr>
          <a:xfrm>
            <a:off x="8630246" y="3572272"/>
            <a:ext cx="198024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posture</a:t>
            </a:r>
            <a:endParaRPr lang="en-US" sz="1440" dirty="0"/>
          </a:p>
        </p:txBody>
      </p:sp>
      <p:sp>
        <p:nvSpPr>
          <p:cNvPr id="106" name="Text 91"/>
          <p:cNvSpPr/>
          <p:nvPr/>
        </p:nvSpPr>
        <p:spPr>
          <a:xfrm>
            <a:off x="8630246" y="3810992"/>
            <a:ext cx="198024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controls</a:t>
            </a:r>
            <a:endParaRPr lang="en-US" sz="1080" dirty="0"/>
          </a:p>
        </p:txBody>
      </p:sp>
      <p:sp>
        <p:nvSpPr>
          <p:cNvPr id="107" name="Text 92"/>
          <p:cNvSpPr/>
          <p:nvPr/>
        </p:nvSpPr>
        <p:spPr>
          <a:xfrm>
            <a:off x="8630246" y="4113213"/>
            <a:ext cx="179492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sources classified</a:t>
            </a:r>
            <a:endParaRPr lang="en-US" sz="1170" dirty="0"/>
          </a:p>
        </p:txBody>
      </p:sp>
      <p:sp>
        <p:nvSpPr>
          <p:cNvPr id="108" name="Text 93"/>
          <p:cNvSpPr/>
          <p:nvPr/>
        </p:nvSpPr>
        <p:spPr>
          <a:xfrm>
            <a:off x="11466316" y="4113213"/>
            <a:ext cx="48458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100 %</a:t>
            </a:r>
            <a:endParaRPr lang="en-US" sz="1170" dirty="0"/>
          </a:p>
        </p:txBody>
      </p:sp>
      <p:sp>
        <p:nvSpPr>
          <p:cNvPr id="109" name="Shape 94"/>
          <p:cNvSpPr/>
          <p:nvPr/>
        </p:nvSpPr>
        <p:spPr>
          <a:xfrm>
            <a:off x="8630246" y="4359474"/>
            <a:ext cx="3244453" cy="9128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0" name="Shape 95"/>
          <p:cNvSpPr/>
          <p:nvPr/>
        </p:nvSpPr>
        <p:spPr>
          <a:xfrm>
            <a:off x="8630246" y="4359474"/>
            <a:ext cx="3244453" cy="9128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1" name="Text 96"/>
          <p:cNvSpPr/>
          <p:nvPr/>
        </p:nvSpPr>
        <p:spPr>
          <a:xfrm>
            <a:off x="8630246" y="4587875"/>
            <a:ext cx="231116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Segregation policies enforced</a:t>
            </a:r>
            <a:endParaRPr lang="en-US" sz="1170" dirty="0"/>
          </a:p>
        </p:txBody>
      </p:sp>
      <p:sp>
        <p:nvSpPr>
          <p:cNvPr id="112" name="Text 97"/>
          <p:cNvSpPr/>
          <p:nvPr/>
        </p:nvSpPr>
        <p:spPr>
          <a:xfrm>
            <a:off x="11466316" y="4587875"/>
            <a:ext cx="48458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100 %</a:t>
            </a:r>
            <a:endParaRPr lang="en-US" sz="1170" dirty="0"/>
          </a:p>
        </p:txBody>
      </p:sp>
      <p:sp>
        <p:nvSpPr>
          <p:cNvPr id="113" name="Shape 98"/>
          <p:cNvSpPr/>
          <p:nvPr/>
        </p:nvSpPr>
        <p:spPr>
          <a:xfrm>
            <a:off x="8630246" y="4834136"/>
            <a:ext cx="3244453" cy="9128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4" name="Shape 99"/>
          <p:cNvSpPr/>
          <p:nvPr/>
        </p:nvSpPr>
        <p:spPr>
          <a:xfrm>
            <a:off x="8630246" y="4834136"/>
            <a:ext cx="3244453" cy="9128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5" name="Text 100"/>
          <p:cNvSpPr/>
          <p:nvPr/>
        </p:nvSpPr>
        <p:spPr>
          <a:xfrm>
            <a:off x="8630246" y="5062538"/>
            <a:ext cx="184906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 masked in AI context</a:t>
            </a:r>
            <a:endParaRPr lang="en-US" sz="1170" dirty="0"/>
          </a:p>
        </p:txBody>
      </p:sp>
      <p:sp>
        <p:nvSpPr>
          <p:cNvPr id="116" name="Text 101"/>
          <p:cNvSpPr/>
          <p:nvPr/>
        </p:nvSpPr>
        <p:spPr>
          <a:xfrm>
            <a:off x="11534974" y="5062538"/>
            <a:ext cx="41592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98 %</a:t>
            </a:r>
            <a:endParaRPr lang="en-US" sz="1170" dirty="0"/>
          </a:p>
        </p:txBody>
      </p:sp>
      <p:sp>
        <p:nvSpPr>
          <p:cNvPr id="117" name="Shape 102"/>
          <p:cNvSpPr/>
          <p:nvPr/>
        </p:nvSpPr>
        <p:spPr>
          <a:xfrm>
            <a:off x="8630246" y="5308799"/>
            <a:ext cx="3244453" cy="9128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8" name="Shape 103"/>
          <p:cNvSpPr/>
          <p:nvPr/>
        </p:nvSpPr>
        <p:spPr>
          <a:xfrm>
            <a:off x="8630246" y="5308799"/>
            <a:ext cx="3179563" cy="9128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9" name="Text 104"/>
          <p:cNvSpPr/>
          <p:nvPr/>
        </p:nvSpPr>
        <p:spPr>
          <a:xfrm>
            <a:off x="8630246" y="5537200"/>
            <a:ext cx="166526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actions logged</a:t>
            </a:r>
            <a:endParaRPr lang="en-US" sz="1170" dirty="0"/>
          </a:p>
        </p:txBody>
      </p:sp>
      <p:sp>
        <p:nvSpPr>
          <p:cNvPr id="120" name="Text 105"/>
          <p:cNvSpPr/>
          <p:nvPr/>
        </p:nvSpPr>
        <p:spPr>
          <a:xfrm>
            <a:off x="11466316" y="5537200"/>
            <a:ext cx="48458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100 %</a:t>
            </a:r>
            <a:endParaRPr lang="en-US" sz="1170" dirty="0"/>
          </a:p>
        </p:txBody>
      </p:sp>
      <p:sp>
        <p:nvSpPr>
          <p:cNvPr id="121" name="Shape 106"/>
          <p:cNvSpPr/>
          <p:nvPr/>
        </p:nvSpPr>
        <p:spPr>
          <a:xfrm>
            <a:off x="8630246" y="5783461"/>
            <a:ext cx="3244453" cy="9128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2" name="Shape 107"/>
          <p:cNvSpPr/>
          <p:nvPr/>
        </p:nvSpPr>
        <p:spPr>
          <a:xfrm>
            <a:off x="8630246" y="5783461"/>
            <a:ext cx="3244453" cy="9128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3" name="Text 108"/>
          <p:cNvSpPr/>
          <p:nvPr/>
        </p:nvSpPr>
        <p:spPr>
          <a:xfrm>
            <a:off x="8630246" y="6011863"/>
            <a:ext cx="1260673" cy="215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exceptions</a:t>
            </a:r>
            <a:endParaRPr lang="en-US" sz="1170" dirty="0"/>
          </a:p>
        </p:txBody>
      </p:sp>
      <p:sp>
        <p:nvSpPr>
          <p:cNvPr id="124" name="Text 109"/>
          <p:cNvSpPr/>
          <p:nvPr/>
        </p:nvSpPr>
        <p:spPr>
          <a:xfrm>
            <a:off x="11626254" y="6011863"/>
            <a:ext cx="324645" cy="215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4 %</a:t>
            </a:r>
            <a:endParaRPr lang="en-US" sz="1170" dirty="0"/>
          </a:p>
        </p:txBody>
      </p:sp>
      <p:sp>
        <p:nvSpPr>
          <p:cNvPr id="125" name="Shape 110"/>
          <p:cNvSpPr/>
          <p:nvPr/>
        </p:nvSpPr>
        <p:spPr>
          <a:xfrm>
            <a:off x="8630246" y="6258124"/>
            <a:ext cx="3244453" cy="9128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6" name="Shape 111"/>
          <p:cNvSpPr/>
          <p:nvPr/>
        </p:nvSpPr>
        <p:spPr>
          <a:xfrm>
            <a:off x="8630246" y="6258124"/>
            <a:ext cx="129778" cy="91281"/>
          </a:xfrm>
          <a:prstGeom prst="rect">
            <a:avLst/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7" name="Shape 112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8" name="Shape 113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9" name="Shape 114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30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31" name="Text 115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32" name="Text 116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33" name="Shape 117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4" name="Text 118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35" name="Shape 119"/>
          <p:cNvSpPr/>
          <p:nvPr/>
        </p:nvSpPr>
        <p:spPr>
          <a:xfrm>
            <a:off x="13938052" y="2612628"/>
            <a:ext cx="3928468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6" name="Text 120"/>
          <p:cNvSpPr/>
          <p:nvPr/>
        </p:nvSpPr>
        <p:spPr>
          <a:xfrm>
            <a:off x="14098072" y="2726928"/>
            <a:ext cx="372628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are we losing the most time this quarter?</a:t>
            </a:r>
            <a:endParaRPr lang="en-US" sz="1260" dirty="0"/>
          </a:p>
        </p:txBody>
      </p:sp>
      <p:sp>
        <p:nvSpPr>
          <p:cNvPr id="137" name="Shape 121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8" name="Text 122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Staffing. 486 requests this month, and 29% still wait in a human queue.</a:t>
            </a:r>
            <a:endParaRPr lang="en-US" sz="1260" dirty="0"/>
          </a:p>
        </p:txBody>
      </p:sp>
      <p:sp>
        <p:nvSpPr>
          <p:cNvPr id="139" name="Shape 123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0" name="Text 124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WAITING</a:t>
            </a:r>
            <a:endParaRPr lang="en-US" sz="990" dirty="0"/>
          </a:p>
        </p:txBody>
      </p:sp>
      <p:sp>
        <p:nvSpPr>
          <p:cNvPr id="141" name="Text 125"/>
          <p:cNvSpPr/>
          <p:nvPr/>
        </p:nvSpPr>
        <p:spPr>
          <a:xfrm>
            <a:off x="12781161" y="4494610"/>
            <a:ext cx="156376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 and matching</a:t>
            </a:r>
            <a:endParaRPr lang="en-US" sz="1080" dirty="0"/>
          </a:p>
        </p:txBody>
      </p:sp>
      <p:sp>
        <p:nvSpPr>
          <p:cNvPr id="142" name="Text 126"/>
          <p:cNvSpPr/>
          <p:nvPr/>
        </p:nvSpPr>
        <p:spPr>
          <a:xfrm>
            <a:off x="17520841" y="4494610"/>
            <a:ext cx="24923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080" dirty="0"/>
          </a:p>
        </p:txBody>
      </p:sp>
      <p:sp>
        <p:nvSpPr>
          <p:cNvPr id="143" name="Shape 127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4" name="Shape 128"/>
          <p:cNvSpPr/>
          <p:nvPr/>
        </p:nvSpPr>
        <p:spPr>
          <a:xfrm>
            <a:off x="12781161" y="4716859"/>
            <a:ext cx="1424585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5" name="Text 129"/>
          <p:cNvSpPr/>
          <p:nvPr/>
        </p:nvSpPr>
        <p:spPr>
          <a:xfrm>
            <a:off x="12781161" y="4899621"/>
            <a:ext cx="121820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and payroll</a:t>
            </a:r>
            <a:endParaRPr lang="en-US" sz="1080" dirty="0"/>
          </a:p>
        </p:txBody>
      </p:sp>
      <p:sp>
        <p:nvSpPr>
          <p:cNvPr id="146" name="Text 130"/>
          <p:cNvSpPr/>
          <p:nvPr/>
        </p:nvSpPr>
        <p:spPr>
          <a:xfrm>
            <a:off x="17548028" y="4899621"/>
            <a:ext cx="22205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080" dirty="0"/>
          </a:p>
        </p:txBody>
      </p:sp>
      <p:sp>
        <p:nvSpPr>
          <p:cNvPr id="147" name="Shape 131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8" name="Shape 132"/>
          <p:cNvSpPr/>
          <p:nvPr/>
        </p:nvSpPr>
        <p:spPr>
          <a:xfrm>
            <a:off x="12781161" y="5121871"/>
            <a:ext cx="884238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9" name="Text 133"/>
          <p:cNvSpPr/>
          <p:nvPr/>
        </p:nvSpPr>
        <p:spPr>
          <a:xfrm>
            <a:off x="12781161" y="5304631"/>
            <a:ext cx="83780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</a:t>
            </a:r>
            <a:endParaRPr lang="en-US" sz="1080" dirty="0"/>
          </a:p>
        </p:txBody>
      </p:sp>
      <p:sp>
        <p:nvSpPr>
          <p:cNvPr id="150" name="Text 134"/>
          <p:cNvSpPr/>
          <p:nvPr/>
        </p:nvSpPr>
        <p:spPr>
          <a:xfrm>
            <a:off x="17577793" y="5304631"/>
            <a:ext cx="19228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80" dirty="0"/>
          </a:p>
        </p:txBody>
      </p:sp>
      <p:sp>
        <p:nvSpPr>
          <p:cNvPr id="151" name="Shape 135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2" name="Shape 136"/>
          <p:cNvSpPr/>
          <p:nvPr/>
        </p:nvSpPr>
        <p:spPr>
          <a:xfrm>
            <a:off x="12781161" y="5526882"/>
            <a:ext cx="540347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3" name="Text 137"/>
          <p:cNvSpPr/>
          <p:nvPr/>
        </p:nvSpPr>
        <p:spPr>
          <a:xfrm>
            <a:off x="12781161" y="5709643"/>
            <a:ext cx="46414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</a:t>
            </a:r>
            <a:endParaRPr lang="en-US" sz="1080" dirty="0"/>
          </a:p>
        </p:txBody>
      </p:sp>
      <p:sp>
        <p:nvSpPr>
          <p:cNvPr id="154" name="Text 138"/>
          <p:cNvSpPr/>
          <p:nvPr/>
        </p:nvSpPr>
        <p:spPr>
          <a:xfrm>
            <a:off x="17606170" y="5709643"/>
            <a:ext cx="16391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80" dirty="0"/>
          </a:p>
        </p:txBody>
      </p:sp>
      <p:sp>
        <p:nvSpPr>
          <p:cNvPr id="155" name="Shape 139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6" name="Shape 140"/>
          <p:cNvSpPr/>
          <p:nvPr/>
        </p:nvSpPr>
        <p:spPr>
          <a:xfrm>
            <a:off x="12781161" y="5931893"/>
            <a:ext cx="294680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7" name="Shape 141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8" name="Text 142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OKR checkpoint</a:t>
            </a:r>
            <a:endParaRPr lang="en-US" sz="1260" dirty="0"/>
          </a:p>
        </p:txBody>
      </p:sp>
      <p:sp>
        <p:nvSpPr>
          <p:cNvPr id="159" name="Text 143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</a:t>
            </a:r>
            <a:endParaRPr lang="en-US" sz="990" dirty="0"/>
          </a:p>
        </p:txBody>
      </p:sp>
      <p:sp>
        <p:nvSpPr>
          <p:cNvPr id="160" name="Shape 144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1" name="Text 145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 time to staff a project</a:t>
            </a:r>
            <a:endParaRPr lang="en-US" sz="1170" dirty="0"/>
          </a:p>
        </p:txBody>
      </p:sp>
      <p:sp>
        <p:nvSpPr>
          <p:cNvPr id="162" name="Text 146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990" dirty="0"/>
          </a:p>
        </p:txBody>
      </p:sp>
      <p:sp>
        <p:nvSpPr>
          <p:cNvPr id="163" name="Shape 147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4" name="Text 148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 office</a:t>
            </a:r>
            <a:endParaRPr lang="en-US" sz="1170" dirty="0"/>
          </a:p>
        </p:txBody>
      </p:sp>
      <p:sp>
        <p:nvSpPr>
          <p:cNvPr id="165" name="Text 149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Checkpoint</a:t>
            </a:r>
            <a:endParaRPr lang="en-US" sz="990" dirty="0"/>
          </a:p>
        </p:txBody>
      </p:sp>
      <p:sp>
        <p:nvSpPr>
          <p:cNvPr id="166" name="Shape 150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7" name="Text 151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Sep 2026</a:t>
            </a:r>
            <a:endParaRPr lang="en-US" sz="1170" dirty="0"/>
          </a:p>
        </p:txBody>
      </p:sp>
      <p:sp>
        <p:nvSpPr>
          <p:cNvPr id="168" name="Shape 152"/>
          <p:cNvSpPr/>
          <p:nvPr/>
        </p:nvSpPr>
        <p:spPr>
          <a:xfrm>
            <a:off x="12781161" y="8631437"/>
            <a:ext cx="1457524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9" name="Text 153"/>
          <p:cNvSpPr/>
          <p:nvPr/>
        </p:nvSpPr>
        <p:spPr>
          <a:xfrm>
            <a:off x="12941181" y="8711447"/>
            <a:ext cx="1213684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Insights</a:t>
            </a:r>
            <a:endParaRPr lang="en-US" sz="1170" dirty="0"/>
          </a:p>
        </p:txBody>
      </p:sp>
      <p:sp>
        <p:nvSpPr>
          <p:cNvPr id="170" name="Shape 154"/>
          <p:cNvSpPr/>
          <p:nvPr/>
        </p:nvSpPr>
        <p:spPr>
          <a:xfrm>
            <a:off x="14329966" y="8631437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1" name="Text 155"/>
          <p:cNvSpPr/>
          <p:nvPr/>
        </p:nvSpPr>
        <p:spPr>
          <a:xfrm>
            <a:off x="14502686" y="8724147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72" name="Shape 156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3" name="Shape 157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74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75" name="Text 158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77" name="Picture 176" descr="Android Apps by Hello Clever on Google Play">
            <a:extLst>
              <a:ext uri="{FF2B5EF4-FFF2-40B4-BE49-F238E27FC236}">
                <a16:creationId xmlns:a16="http://schemas.microsoft.com/office/drawing/2014/main" id="{AFE833A7-66AD-8EDB-C50A-B950C057E2E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2708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sp>
        <p:nvSpPr>
          <p:cNvPr id="21" name="Shape 16"/>
          <p:cNvSpPr/>
          <p:nvPr/>
        </p:nvSpPr>
        <p:spPr>
          <a:xfrm>
            <a:off x="0" y="1269603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2" name="Shape 17"/>
          <p:cNvSpPr/>
          <p:nvPr/>
        </p:nvSpPr>
        <p:spPr>
          <a:xfrm>
            <a:off x="0" y="1269603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92522" y="1374775"/>
            <a:ext cx="99397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4642188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Org, teams, projects and people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760973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887973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7020779" y="1183283"/>
            <a:ext cx="947343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7193498" y="1264563"/>
            <a:ext cx="678103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unit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2971800" cy="8133755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48422" y="2097286"/>
            <a:ext cx="93622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Hierarchy</a:t>
            </a:r>
            <a:endParaRPr lang="en-US" sz="1440" dirty="0"/>
          </a:p>
        </p:txBody>
      </p:sp>
      <p:sp>
        <p:nvSpPr>
          <p:cNvPr id="53" name="Shape 38"/>
          <p:cNvSpPr/>
          <p:nvPr/>
        </p:nvSpPr>
        <p:spPr>
          <a:xfrm>
            <a:off x="3248422" y="2450306"/>
            <a:ext cx="2626519" cy="337741"/>
          </a:xfrm>
          <a:prstGeom prst="roundRect">
            <a:avLst>
              <a:gd name="adj" fmla="val 13537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4" name="Shape 39"/>
          <p:cNvSpPr/>
          <p:nvPr/>
        </p:nvSpPr>
        <p:spPr>
          <a:xfrm>
            <a:off x="3339703" y="2584847"/>
            <a:ext cx="68461" cy="684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3499445" y="2530277"/>
            <a:ext cx="112276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Contoso EMEA</a:t>
            </a:r>
            <a:endParaRPr lang="en-US" sz="1170" dirty="0"/>
          </a:p>
        </p:txBody>
      </p:sp>
      <p:sp>
        <p:nvSpPr>
          <p:cNvPr id="56" name="Shape 41"/>
          <p:cNvSpPr/>
          <p:nvPr/>
        </p:nvSpPr>
        <p:spPr>
          <a:xfrm>
            <a:off x="3522464" y="3059708"/>
            <a:ext cx="68461" cy="68461"/>
          </a:xfrm>
          <a:prstGeom prst="ellipse">
            <a:avLst/>
          </a:prstGeom>
          <a:solidFill>
            <a:srgbClr val="6E78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7" name="Text 42"/>
          <p:cNvSpPr/>
          <p:nvPr/>
        </p:nvSpPr>
        <p:spPr>
          <a:xfrm>
            <a:off x="3682206" y="3005138"/>
            <a:ext cx="91380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</a:t>
            </a:r>
            <a:endParaRPr lang="en-US" sz="1170" dirty="0"/>
          </a:p>
        </p:txBody>
      </p:sp>
      <p:sp>
        <p:nvSpPr>
          <p:cNvPr id="58" name="Shape 43"/>
          <p:cNvSpPr/>
          <p:nvPr/>
        </p:nvSpPr>
        <p:spPr>
          <a:xfrm>
            <a:off x="3705424" y="3534569"/>
            <a:ext cx="68461" cy="68461"/>
          </a:xfrm>
          <a:prstGeom prst="ellipse">
            <a:avLst/>
          </a:prstGeom>
          <a:solidFill>
            <a:srgbClr val="6E78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9" name="Text 44"/>
          <p:cNvSpPr/>
          <p:nvPr/>
        </p:nvSpPr>
        <p:spPr>
          <a:xfrm>
            <a:off x="3865166" y="3479999"/>
            <a:ext cx="102512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tribe</a:t>
            </a:r>
            <a:endParaRPr lang="en-US" sz="1170" dirty="0"/>
          </a:p>
        </p:txBody>
      </p:sp>
      <p:sp>
        <p:nvSpPr>
          <p:cNvPr id="60" name="Shape 45"/>
          <p:cNvSpPr/>
          <p:nvPr/>
        </p:nvSpPr>
        <p:spPr>
          <a:xfrm>
            <a:off x="3614142" y="3874889"/>
            <a:ext cx="2260798" cy="337741"/>
          </a:xfrm>
          <a:prstGeom prst="roundRect">
            <a:avLst>
              <a:gd name="adj" fmla="val 13537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1" name="Shape 46"/>
          <p:cNvSpPr/>
          <p:nvPr/>
        </p:nvSpPr>
        <p:spPr>
          <a:xfrm>
            <a:off x="3705424" y="4009430"/>
            <a:ext cx="68461" cy="684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Text 47"/>
          <p:cNvSpPr/>
          <p:nvPr/>
        </p:nvSpPr>
        <p:spPr>
          <a:xfrm>
            <a:off x="3865166" y="3954859"/>
            <a:ext cx="108287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AI tribe</a:t>
            </a:r>
            <a:endParaRPr lang="en-US" sz="1170" dirty="0"/>
          </a:p>
        </p:txBody>
      </p:sp>
      <p:sp>
        <p:nvSpPr>
          <p:cNvPr id="63" name="Shape 48"/>
          <p:cNvSpPr/>
          <p:nvPr/>
        </p:nvSpPr>
        <p:spPr>
          <a:xfrm>
            <a:off x="3522464" y="4484291"/>
            <a:ext cx="68461" cy="68461"/>
          </a:xfrm>
          <a:prstGeom prst="ellipse">
            <a:avLst/>
          </a:prstGeom>
          <a:solidFill>
            <a:srgbClr val="6E78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4" name="Text 49"/>
          <p:cNvSpPr/>
          <p:nvPr/>
        </p:nvSpPr>
        <p:spPr>
          <a:xfrm>
            <a:off x="3682206" y="4429721"/>
            <a:ext cx="65107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</a:t>
            </a:r>
            <a:endParaRPr lang="en-US" sz="1170" dirty="0"/>
          </a:p>
        </p:txBody>
      </p:sp>
      <p:sp>
        <p:nvSpPr>
          <p:cNvPr id="65" name="Shape 50"/>
          <p:cNvSpPr/>
          <p:nvPr/>
        </p:nvSpPr>
        <p:spPr>
          <a:xfrm>
            <a:off x="3522464" y="4959152"/>
            <a:ext cx="68461" cy="68461"/>
          </a:xfrm>
          <a:prstGeom prst="ellipse">
            <a:avLst/>
          </a:prstGeom>
          <a:solidFill>
            <a:srgbClr val="6E78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6" name="Text 51"/>
          <p:cNvSpPr/>
          <p:nvPr/>
        </p:nvSpPr>
        <p:spPr>
          <a:xfrm>
            <a:off x="3682206" y="4904581"/>
            <a:ext cx="1250157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&amp; Culture</a:t>
            </a:r>
            <a:endParaRPr lang="en-US" sz="1170" dirty="0"/>
          </a:p>
        </p:txBody>
      </p:sp>
      <p:sp>
        <p:nvSpPr>
          <p:cNvPr id="67" name="Shape 52"/>
          <p:cNvSpPr/>
          <p:nvPr/>
        </p:nvSpPr>
        <p:spPr>
          <a:xfrm>
            <a:off x="3522464" y="5434013"/>
            <a:ext cx="68461" cy="68461"/>
          </a:xfrm>
          <a:prstGeom prst="ellipse">
            <a:avLst/>
          </a:prstGeom>
          <a:solidFill>
            <a:srgbClr val="6E78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Text 53"/>
          <p:cNvSpPr/>
          <p:nvPr/>
        </p:nvSpPr>
        <p:spPr>
          <a:xfrm>
            <a:off x="3682206" y="5379443"/>
            <a:ext cx="120848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services</a:t>
            </a:r>
            <a:endParaRPr lang="en-US" sz="1170" dirty="0"/>
          </a:p>
        </p:txBody>
      </p:sp>
      <p:sp>
        <p:nvSpPr>
          <p:cNvPr id="69" name="Shape 54"/>
          <p:cNvSpPr/>
          <p:nvPr/>
        </p:nvSpPr>
        <p:spPr>
          <a:xfrm>
            <a:off x="6230343" y="1924645"/>
            <a:ext cx="1328539" cy="1081485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0" name="Text 55"/>
          <p:cNvSpPr/>
          <p:nvPr/>
        </p:nvSpPr>
        <p:spPr>
          <a:xfrm>
            <a:off x="6425804" y="2120106"/>
            <a:ext cx="101381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</a:t>
            </a:r>
            <a:endParaRPr lang="en-US" sz="1080" dirty="0"/>
          </a:p>
        </p:txBody>
      </p:sp>
      <p:sp>
        <p:nvSpPr>
          <p:cNvPr id="71" name="Text 56"/>
          <p:cNvSpPr/>
          <p:nvPr/>
        </p:nvSpPr>
        <p:spPr>
          <a:xfrm>
            <a:off x="6425804" y="2353667"/>
            <a:ext cx="101381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284</a:t>
            </a:r>
            <a:endParaRPr lang="en-US" sz="2700" dirty="0"/>
          </a:p>
        </p:txBody>
      </p:sp>
      <p:sp>
        <p:nvSpPr>
          <p:cNvPr id="72" name="Shape 57"/>
          <p:cNvSpPr/>
          <p:nvPr/>
        </p:nvSpPr>
        <p:spPr>
          <a:xfrm>
            <a:off x="7741643" y="1924645"/>
            <a:ext cx="1328738" cy="1081485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3" name="Text 58"/>
          <p:cNvSpPr/>
          <p:nvPr/>
        </p:nvSpPr>
        <p:spPr>
          <a:xfrm>
            <a:off x="7937104" y="2120106"/>
            <a:ext cx="101401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Projects</a:t>
            </a:r>
            <a:endParaRPr lang="en-US" sz="1080" dirty="0"/>
          </a:p>
        </p:txBody>
      </p:sp>
      <p:sp>
        <p:nvSpPr>
          <p:cNvPr id="74" name="Text 59"/>
          <p:cNvSpPr/>
          <p:nvPr/>
        </p:nvSpPr>
        <p:spPr>
          <a:xfrm>
            <a:off x="7937104" y="2353667"/>
            <a:ext cx="1014016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2700" dirty="0"/>
          </a:p>
        </p:txBody>
      </p:sp>
      <p:sp>
        <p:nvSpPr>
          <p:cNvPr id="75" name="Shape 60"/>
          <p:cNvSpPr/>
          <p:nvPr/>
        </p:nvSpPr>
        <p:spPr>
          <a:xfrm>
            <a:off x="9253141" y="1924645"/>
            <a:ext cx="1328539" cy="1081485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6" name="Text 61"/>
          <p:cNvSpPr/>
          <p:nvPr/>
        </p:nvSpPr>
        <p:spPr>
          <a:xfrm>
            <a:off x="9448602" y="2120106"/>
            <a:ext cx="101381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 defined</a:t>
            </a:r>
            <a:endParaRPr lang="en-US" sz="1080" dirty="0"/>
          </a:p>
        </p:txBody>
      </p:sp>
      <p:sp>
        <p:nvSpPr>
          <p:cNvPr id="77" name="Text 62"/>
          <p:cNvSpPr/>
          <p:nvPr/>
        </p:nvSpPr>
        <p:spPr>
          <a:xfrm>
            <a:off x="9448602" y="2353667"/>
            <a:ext cx="101381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2700" dirty="0"/>
          </a:p>
        </p:txBody>
      </p:sp>
      <p:sp>
        <p:nvSpPr>
          <p:cNvPr id="78" name="Shape 63"/>
          <p:cNvSpPr/>
          <p:nvPr/>
        </p:nvSpPr>
        <p:spPr>
          <a:xfrm>
            <a:off x="10764442" y="1924645"/>
            <a:ext cx="1328738" cy="1081485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9" name="Text 64"/>
          <p:cNvSpPr/>
          <p:nvPr/>
        </p:nvSpPr>
        <p:spPr>
          <a:xfrm>
            <a:off x="10959903" y="2120106"/>
            <a:ext cx="101401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scopes</a:t>
            </a:r>
            <a:endParaRPr lang="en-US" sz="1080" dirty="0"/>
          </a:p>
        </p:txBody>
      </p:sp>
      <p:sp>
        <p:nvSpPr>
          <p:cNvPr id="80" name="Text 65"/>
          <p:cNvSpPr/>
          <p:nvPr/>
        </p:nvSpPr>
        <p:spPr>
          <a:xfrm>
            <a:off x="10959903" y="2353667"/>
            <a:ext cx="1014016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2700" dirty="0"/>
          </a:p>
        </p:txBody>
      </p:sp>
      <p:sp>
        <p:nvSpPr>
          <p:cNvPr id="81" name="Shape 66"/>
          <p:cNvSpPr/>
          <p:nvPr/>
        </p:nvSpPr>
        <p:spPr>
          <a:xfrm>
            <a:off x="6230343" y="3188891"/>
            <a:ext cx="5862837" cy="6869510"/>
          </a:xfrm>
          <a:prstGeom prst="roundRect">
            <a:avLst>
              <a:gd name="adj" fmla="val 1560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2" name="Text 67"/>
          <p:cNvSpPr/>
          <p:nvPr/>
        </p:nvSpPr>
        <p:spPr>
          <a:xfrm>
            <a:off x="6448624" y="3407172"/>
            <a:ext cx="5113674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AI tribe — members</a:t>
            </a:r>
            <a:endParaRPr lang="en-US" sz="1440" dirty="0"/>
          </a:p>
        </p:txBody>
      </p:sp>
      <p:sp>
        <p:nvSpPr>
          <p:cNvPr id="83" name="Text 68"/>
          <p:cNvSpPr/>
          <p:nvPr/>
        </p:nvSpPr>
        <p:spPr>
          <a:xfrm>
            <a:off x="6448624" y="3645892"/>
            <a:ext cx="51136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Role, scope and delegated admin rights resolve from one identity model</a:t>
            </a:r>
            <a:endParaRPr lang="en-US" sz="1080" dirty="0"/>
          </a:p>
        </p:txBody>
      </p:sp>
      <p:sp>
        <p:nvSpPr>
          <p:cNvPr id="84" name="Shape 69"/>
          <p:cNvSpPr/>
          <p:nvPr/>
        </p:nvSpPr>
        <p:spPr>
          <a:xfrm>
            <a:off x="6448624" y="4369594"/>
            <a:ext cx="5426275" cy="12700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5" name="Text 70"/>
          <p:cNvSpPr/>
          <p:nvPr/>
        </p:nvSpPr>
        <p:spPr>
          <a:xfrm>
            <a:off x="6562924" y="3948112"/>
            <a:ext cx="1237853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</a:t>
            </a:r>
            <a:endParaRPr lang="en-US" sz="1080" dirty="0"/>
          </a:p>
        </p:txBody>
      </p:sp>
      <p:sp>
        <p:nvSpPr>
          <p:cNvPr id="86" name="Text 71"/>
          <p:cNvSpPr/>
          <p:nvPr/>
        </p:nvSpPr>
        <p:spPr>
          <a:xfrm>
            <a:off x="7884518" y="3948112"/>
            <a:ext cx="105926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</a:t>
            </a:r>
            <a:endParaRPr lang="en-US" sz="1080" dirty="0"/>
          </a:p>
        </p:txBody>
      </p:sp>
      <p:sp>
        <p:nvSpPr>
          <p:cNvPr id="87" name="Text 72"/>
          <p:cNvSpPr/>
          <p:nvPr/>
        </p:nvSpPr>
        <p:spPr>
          <a:xfrm>
            <a:off x="9027518" y="3948112"/>
            <a:ext cx="969963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</a:t>
            </a:r>
            <a:endParaRPr lang="en-US" sz="1080" dirty="0"/>
          </a:p>
        </p:txBody>
      </p:sp>
      <p:sp>
        <p:nvSpPr>
          <p:cNvPr id="88" name="Text 73"/>
          <p:cNvSpPr/>
          <p:nvPr/>
        </p:nvSpPr>
        <p:spPr>
          <a:xfrm>
            <a:off x="10081221" y="3948112"/>
            <a:ext cx="880666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scope</a:t>
            </a:r>
            <a:endParaRPr lang="en-US" sz="1080" dirty="0"/>
          </a:p>
        </p:txBody>
      </p:sp>
      <p:sp>
        <p:nvSpPr>
          <p:cNvPr id="89" name="Text 74"/>
          <p:cNvSpPr/>
          <p:nvPr/>
        </p:nvSpPr>
        <p:spPr>
          <a:xfrm>
            <a:off x="10969428" y="3948112"/>
            <a:ext cx="79097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1080" dirty="0"/>
          </a:p>
        </p:txBody>
      </p:sp>
      <p:sp>
        <p:nvSpPr>
          <p:cNvPr id="90" name="Shape 75"/>
          <p:cNvSpPr/>
          <p:nvPr/>
        </p:nvSpPr>
        <p:spPr>
          <a:xfrm>
            <a:off x="6448624" y="5014516"/>
            <a:ext cx="5426275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1" name="Text 76"/>
          <p:cNvSpPr/>
          <p:nvPr/>
        </p:nvSpPr>
        <p:spPr>
          <a:xfrm>
            <a:off x="6562924" y="4603155"/>
            <a:ext cx="12378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Keller</a:t>
            </a:r>
            <a:endParaRPr lang="en-US" sz="1260" dirty="0"/>
          </a:p>
        </p:txBody>
      </p:sp>
      <p:sp>
        <p:nvSpPr>
          <p:cNvPr id="92" name="Text 77"/>
          <p:cNvSpPr/>
          <p:nvPr/>
        </p:nvSpPr>
        <p:spPr>
          <a:xfrm>
            <a:off x="7884518" y="4603155"/>
            <a:ext cx="10592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Tribe lead</a:t>
            </a:r>
            <a:endParaRPr lang="en-US" sz="1260" dirty="0"/>
          </a:p>
        </p:txBody>
      </p:sp>
      <p:sp>
        <p:nvSpPr>
          <p:cNvPr id="93" name="Text 78"/>
          <p:cNvSpPr/>
          <p:nvPr/>
        </p:nvSpPr>
        <p:spPr>
          <a:xfrm>
            <a:off x="9027518" y="4603155"/>
            <a:ext cx="9699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</a:t>
            </a:r>
            <a:endParaRPr lang="en-US" sz="1260" dirty="0"/>
          </a:p>
        </p:txBody>
      </p:sp>
      <p:sp>
        <p:nvSpPr>
          <p:cNvPr id="94" name="Text 79"/>
          <p:cNvSpPr/>
          <p:nvPr/>
        </p:nvSpPr>
        <p:spPr>
          <a:xfrm>
            <a:off x="10081221" y="4507905"/>
            <a:ext cx="88066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+ project</a:t>
            </a:r>
            <a:endParaRPr lang="en-US" sz="1260" dirty="0"/>
          </a:p>
        </p:txBody>
      </p:sp>
      <p:sp>
        <p:nvSpPr>
          <p:cNvPr id="95" name="Shape 80"/>
          <p:cNvSpPr/>
          <p:nvPr/>
        </p:nvSpPr>
        <p:spPr>
          <a:xfrm>
            <a:off x="11111112" y="4585296"/>
            <a:ext cx="649286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6" name="Text 81"/>
          <p:cNvSpPr/>
          <p:nvPr/>
        </p:nvSpPr>
        <p:spPr>
          <a:xfrm>
            <a:off x="11149212" y="4608156"/>
            <a:ext cx="49688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</a:t>
            </a:r>
            <a:endParaRPr lang="en-US" sz="1080" dirty="0"/>
          </a:p>
        </p:txBody>
      </p:sp>
      <p:sp>
        <p:nvSpPr>
          <p:cNvPr id="97" name="Shape 82"/>
          <p:cNvSpPr/>
          <p:nvPr/>
        </p:nvSpPr>
        <p:spPr>
          <a:xfrm>
            <a:off x="6448624" y="5659438"/>
            <a:ext cx="5426275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8" name="Text 83"/>
          <p:cNvSpPr/>
          <p:nvPr/>
        </p:nvSpPr>
        <p:spPr>
          <a:xfrm>
            <a:off x="6562924" y="5248077"/>
            <a:ext cx="12378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M. Bianchi</a:t>
            </a:r>
            <a:endParaRPr lang="en-US" sz="1260" dirty="0"/>
          </a:p>
        </p:txBody>
      </p:sp>
      <p:sp>
        <p:nvSpPr>
          <p:cNvPr id="99" name="Text 84"/>
          <p:cNvSpPr/>
          <p:nvPr/>
        </p:nvSpPr>
        <p:spPr>
          <a:xfrm>
            <a:off x="7884518" y="5152827"/>
            <a:ext cx="10592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engineer</a:t>
            </a:r>
            <a:endParaRPr lang="en-US" sz="1260" dirty="0"/>
          </a:p>
        </p:txBody>
      </p:sp>
      <p:sp>
        <p:nvSpPr>
          <p:cNvPr id="100" name="Text 85"/>
          <p:cNvSpPr/>
          <p:nvPr/>
        </p:nvSpPr>
        <p:spPr>
          <a:xfrm>
            <a:off x="9027518" y="5152827"/>
            <a:ext cx="9699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Lakehouse migration</a:t>
            </a:r>
            <a:endParaRPr lang="en-US" sz="1260" dirty="0"/>
          </a:p>
        </p:txBody>
      </p:sp>
      <p:sp>
        <p:nvSpPr>
          <p:cNvPr id="101" name="Text 86"/>
          <p:cNvSpPr/>
          <p:nvPr/>
        </p:nvSpPr>
        <p:spPr>
          <a:xfrm>
            <a:off x="10081221" y="5248077"/>
            <a:ext cx="88066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</a:t>
            </a:r>
            <a:endParaRPr lang="en-US" sz="1260" dirty="0"/>
          </a:p>
        </p:txBody>
      </p:sp>
      <p:sp>
        <p:nvSpPr>
          <p:cNvPr id="102" name="Shape 87"/>
          <p:cNvSpPr/>
          <p:nvPr/>
        </p:nvSpPr>
        <p:spPr>
          <a:xfrm>
            <a:off x="11111112" y="5230217"/>
            <a:ext cx="649286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3" name="Text 88"/>
          <p:cNvSpPr/>
          <p:nvPr/>
        </p:nvSpPr>
        <p:spPr>
          <a:xfrm>
            <a:off x="11149212" y="5253077"/>
            <a:ext cx="49688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</a:t>
            </a:r>
            <a:endParaRPr lang="en-US" sz="1080" dirty="0"/>
          </a:p>
        </p:txBody>
      </p:sp>
      <p:sp>
        <p:nvSpPr>
          <p:cNvPr id="104" name="Shape 89"/>
          <p:cNvSpPr/>
          <p:nvPr/>
        </p:nvSpPr>
        <p:spPr>
          <a:xfrm>
            <a:off x="6448624" y="6304360"/>
            <a:ext cx="5426275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5" name="Text 90"/>
          <p:cNvSpPr/>
          <p:nvPr/>
        </p:nvSpPr>
        <p:spPr>
          <a:xfrm>
            <a:off x="6562924" y="5892999"/>
            <a:ext cx="12378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Novak</a:t>
            </a:r>
            <a:endParaRPr lang="en-US" sz="1260" dirty="0"/>
          </a:p>
        </p:txBody>
      </p:sp>
      <p:sp>
        <p:nvSpPr>
          <p:cNvPr id="106" name="Text 91"/>
          <p:cNvSpPr/>
          <p:nvPr/>
        </p:nvSpPr>
        <p:spPr>
          <a:xfrm>
            <a:off x="7884518" y="5892999"/>
            <a:ext cx="10592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engineer</a:t>
            </a:r>
            <a:endParaRPr lang="en-US" sz="1260" dirty="0"/>
          </a:p>
        </p:txBody>
      </p:sp>
      <p:sp>
        <p:nvSpPr>
          <p:cNvPr id="107" name="Text 92"/>
          <p:cNvSpPr/>
          <p:nvPr/>
        </p:nvSpPr>
        <p:spPr>
          <a:xfrm>
            <a:off x="9027518" y="5797749"/>
            <a:ext cx="9699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Matching service</a:t>
            </a:r>
            <a:endParaRPr lang="en-US" sz="1260" dirty="0"/>
          </a:p>
        </p:txBody>
      </p:sp>
      <p:sp>
        <p:nvSpPr>
          <p:cNvPr id="108" name="Text 93"/>
          <p:cNvSpPr/>
          <p:nvPr/>
        </p:nvSpPr>
        <p:spPr>
          <a:xfrm>
            <a:off x="10081221" y="5892999"/>
            <a:ext cx="88066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1260" dirty="0"/>
          </a:p>
        </p:txBody>
      </p:sp>
      <p:sp>
        <p:nvSpPr>
          <p:cNvPr id="109" name="Shape 94"/>
          <p:cNvSpPr/>
          <p:nvPr/>
        </p:nvSpPr>
        <p:spPr>
          <a:xfrm>
            <a:off x="11111112" y="5875140"/>
            <a:ext cx="649286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0" name="Text 95"/>
          <p:cNvSpPr/>
          <p:nvPr/>
        </p:nvSpPr>
        <p:spPr>
          <a:xfrm>
            <a:off x="11149212" y="5898000"/>
            <a:ext cx="49688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</a:t>
            </a:r>
            <a:endParaRPr lang="en-US" sz="1080" dirty="0"/>
          </a:p>
        </p:txBody>
      </p:sp>
      <p:sp>
        <p:nvSpPr>
          <p:cNvPr id="111" name="Shape 96"/>
          <p:cNvSpPr/>
          <p:nvPr/>
        </p:nvSpPr>
        <p:spPr>
          <a:xfrm>
            <a:off x="6448624" y="6949282"/>
            <a:ext cx="5426275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2" name="Text 97"/>
          <p:cNvSpPr/>
          <p:nvPr/>
        </p:nvSpPr>
        <p:spPr>
          <a:xfrm>
            <a:off x="6562924" y="6537921"/>
            <a:ext cx="12378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R. Dubois</a:t>
            </a:r>
            <a:endParaRPr lang="en-US" sz="1260" dirty="0"/>
          </a:p>
        </p:txBody>
      </p:sp>
      <p:sp>
        <p:nvSpPr>
          <p:cNvPr id="113" name="Text 98"/>
          <p:cNvSpPr/>
          <p:nvPr/>
        </p:nvSpPr>
        <p:spPr>
          <a:xfrm>
            <a:off x="7884518" y="6442671"/>
            <a:ext cx="10592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business partner</a:t>
            </a:r>
            <a:endParaRPr lang="en-US" sz="1260" dirty="0"/>
          </a:p>
        </p:txBody>
      </p:sp>
      <p:sp>
        <p:nvSpPr>
          <p:cNvPr id="114" name="Text 99"/>
          <p:cNvSpPr/>
          <p:nvPr/>
        </p:nvSpPr>
        <p:spPr>
          <a:xfrm>
            <a:off x="9027518" y="6537921"/>
            <a:ext cx="9699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ops</a:t>
            </a:r>
            <a:endParaRPr lang="en-US" sz="1260" dirty="0"/>
          </a:p>
        </p:txBody>
      </p:sp>
      <p:sp>
        <p:nvSpPr>
          <p:cNvPr id="115" name="Text 100"/>
          <p:cNvSpPr/>
          <p:nvPr/>
        </p:nvSpPr>
        <p:spPr>
          <a:xfrm>
            <a:off x="10081221" y="6442671"/>
            <a:ext cx="88066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 (HR data)</a:t>
            </a:r>
            <a:endParaRPr lang="en-US" sz="1260" dirty="0"/>
          </a:p>
        </p:txBody>
      </p:sp>
      <p:sp>
        <p:nvSpPr>
          <p:cNvPr id="116" name="Shape 101"/>
          <p:cNvSpPr/>
          <p:nvPr/>
        </p:nvSpPr>
        <p:spPr>
          <a:xfrm>
            <a:off x="11111112" y="6520062"/>
            <a:ext cx="649286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7" name="Text 102"/>
          <p:cNvSpPr/>
          <p:nvPr/>
        </p:nvSpPr>
        <p:spPr>
          <a:xfrm>
            <a:off x="11149212" y="6542922"/>
            <a:ext cx="49688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</a:t>
            </a:r>
            <a:endParaRPr lang="en-US" sz="1080" dirty="0"/>
          </a:p>
        </p:txBody>
      </p:sp>
      <p:sp>
        <p:nvSpPr>
          <p:cNvPr id="118" name="Shape 103"/>
          <p:cNvSpPr/>
          <p:nvPr/>
        </p:nvSpPr>
        <p:spPr>
          <a:xfrm>
            <a:off x="6448624" y="7594203"/>
            <a:ext cx="5426275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9" name="Text 104"/>
          <p:cNvSpPr/>
          <p:nvPr/>
        </p:nvSpPr>
        <p:spPr>
          <a:xfrm>
            <a:off x="6562924" y="7182843"/>
            <a:ext cx="12378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T. Osei</a:t>
            </a:r>
            <a:endParaRPr lang="en-US" sz="1260" dirty="0"/>
          </a:p>
        </p:txBody>
      </p:sp>
      <p:sp>
        <p:nvSpPr>
          <p:cNvPr id="120" name="Text 105"/>
          <p:cNvSpPr/>
          <p:nvPr/>
        </p:nvSpPr>
        <p:spPr>
          <a:xfrm>
            <a:off x="7884518" y="7087593"/>
            <a:ext cx="10592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Contractor — analytics</a:t>
            </a:r>
            <a:endParaRPr lang="en-US" sz="1260" dirty="0"/>
          </a:p>
        </p:txBody>
      </p:sp>
      <p:sp>
        <p:nvSpPr>
          <p:cNvPr id="121" name="Text 106"/>
          <p:cNvSpPr/>
          <p:nvPr/>
        </p:nvSpPr>
        <p:spPr>
          <a:xfrm>
            <a:off x="9027518" y="7182843"/>
            <a:ext cx="9699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</a:t>
            </a:r>
            <a:endParaRPr lang="en-US" sz="1260" dirty="0"/>
          </a:p>
        </p:txBody>
      </p:sp>
      <p:sp>
        <p:nvSpPr>
          <p:cNvPr id="122" name="Text 107"/>
          <p:cNvSpPr/>
          <p:nvPr/>
        </p:nvSpPr>
        <p:spPr>
          <a:xfrm>
            <a:off x="10081221" y="7182843"/>
            <a:ext cx="88066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1260" dirty="0"/>
          </a:p>
        </p:txBody>
      </p:sp>
      <p:sp>
        <p:nvSpPr>
          <p:cNvPr id="123" name="Shape 108"/>
          <p:cNvSpPr/>
          <p:nvPr/>
        </p:nvSpPr>
        <p:spPr>
          <a:xfrm>
            <a:off x="11045628" y="7164984"/>
            <a:ext cx="905469" cy="22860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4" name="Text 109"/>
          <p:cNvSpPr/>
          <p:nvPr/>
        </p:nvSpPr>
        <p:spPr>
          <a:xfrm>
            <a:off x="11083728" y="7187844"/>
            <a:ext cx="75306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Restricted</a:t>
            </a:r>
            <a:endParaRPr lang="en-US" sz="1080" dirty="0"/>
          </a:p>
        </p:txBody>
      </p:sp>
      <p:sp>
        <p:nvSpPr>
          <p:cNvPr id="125" name="Shape 110"/>
          <p:cNvSpPr/>
          <p:nvPr/>
        </p:nvSpPr>
        <p:spPr>
          <a:xfrm>
            <a:off x="6448624" y="8239126"/>
            <a:ext cx="5426275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6" name="Text 111"/>
          <p:cNvSpPr/>
          <p:nvPr/>
        </p:nvSpPr>
        <p:spPr>
          <a:xfrm>
            <a:off x="6562924" y="7827765"/>
            <a:ext cx="12378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L. Meier</a:t>
            </a:r>
            <a:endParaRPr lang="en-US" sz="1260" dirty="0"/>
          </a:p>
        </p:txBody>
      </p:sp>
      <p:sp>
        <p:nvSpPr>
          <p:cNvPr id="127" name="Text 112"/>
          <p:cNvSpPr/>
          <p:nvPr/>
        </p:nvSpPr>
        <p:spPr>
          <a:xfrm>
            <a:off x="7884518" y="7732515"/>
            <a:ext cx="10592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owner</a:t>
            </a:r>
            <a:endParaRPr lang="en-US" sz="1260" dirty="0"/>
          </a:p>
        </p:txBody>
      </p:sp>
      <p:sp>
        <p:nvSpPr>
          <p:cNvPr id="128" name="Text 113"/>
          <p:cNvSpPr/>
          <p:nvPr/>
        </p:nvSpPr>
        <p:spPr>
          <a:xfrm>
            <a:off x="9027518" y="7732515"/>
            <a:ext cx="9699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 rollout</a:t>
            </a:r>
            <a:endParaRPr lang="en-US" sz="1260" dirty="0"/>
          </a:p>
        </p:txBody>
      </p:sp>
      <p:sp>
        <p:nvSpPr>
          <p:cNvPr id="129" name="Text 114"/>
          <p:cNvSpPr/>
          <p:nvPr/>
        </p:nvSpPr>
        <p:spPr>
          <a:xfrm>
            <a:off x="10081221" y="7827765"/>
            <a:ext cx="88066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</a:t>
            </a:r>
            <a:endParaRPr lang="en-US" sz="1260" dirty="0"/>
          </a:p>
        </p:txBody>
      </p:sp>
      <p:sp>
        <p:nvSpPr>
          <p:cNvPr id="130" name="Shape 115"/>
          <p:cNvSpPr/>
          <p:nvPr/>
        </p:nvSpPr>
        <p:spPr>
          <a:xfrm>
            <a:off x="11111112" y="7809905"/>
            <a:ext cx="649286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1" name="Text 116"/>
          <p:cNvSpPr/>
          <p:nvPr/>
        </p:nvSpPr>
        <p:spPr>
          <a:xfrm>
            <a:off x="11149212" y="7832765"/>
            <a:ext cx="49688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</a:t>
            </a:r>
            <a:endParaRPr lang="en-US" sz="1080" dirty="0"/>
          </a:p>
        </p:txBody>
      </p:sp>
      <p:sp>
        <p:nvSpPr>
          <p:cNvPr id="132" name="Shape 117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33" name="Shape 118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4" name="Shape 119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35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36" name="Text 120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37" name="Text 121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38" name="Shape 122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9" name="Text 123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40" name="Shape 124"/>
          <p:cNvSpPr/>
          <p:nvPr/>
        </p:nvSpPr>
        <p:spPr>
          <a:xfrm>
            <a:off x="14122203" y="2612628"/>
            <a:ext cx="3744317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1" name="Text 125"/>
          <p:cNvSpPr/>
          <p:nvPr/>
        </p:nvSpPr>
        <p:spPr>
          <a:xfrm>
            <a:off x="14282223" y="2726928"/>
            <a:ext cx="353660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holds admin rights they no longer need?</a:t>
            </a:r>
            <a:endParaRPr lang="en-US" sz="1260" dirty="0"/>
          </a:p>
        </p:txBody>
      </p:sp>
      <p:sp>
        <p:nvSpPr>
          <p:cNvPr id="142" name="Shape 126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3" name="Text 127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people. Two changed role last quarter; one is a contractor whose project closed.</a:t>
            </a:r>
            <a:endParaRPr lang="en-US" sz="1260" dirty="0"/>
          </a:p>
        </p:txBody>
      </p:sp>
      <p:sp>
        <p:nvSpPr>
          <p:cNvPr id="144" name="Shape 128"/>
          <p:cNvSpPr/>
          <p:nvPr/>
        </p:nvSpPr>
        <p:spPr>
          <a:xfrm>
            <a:off x="12608520" y="4055269"/>
            <a:ext cx="5258000" cy="1246981"/>
          </a:xfrm>
          <a:prstGeom prst="roundRect">
            <a:avLst>
              <a:gd name="adj" fmla="val 10999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5" name="Text 129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990" dirty="0"/>
          </a:p>
        </p:txBody>
      </p:sp>
      <p:sp>
        <p:nvSpPr>
          <p:cNvPr id="146" name="Shape 130"/>
          <p:cNvSpPr/>
          <p:nvPr/>
        </p:nvSpPr>
        <p:spPr>
          <a:xfrm>
            <a:off x="12781161" y="4494610"/>
            <a:ext cx="1561308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7" name="Text 131"/>
          <p:cNvSpPr/>
          <p:nvPr/>
        </p:nvSpPr>
        <p:spPr>
          <a:xfrm>
            <a:off x="12918282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620" dirty="0"/>
          </a:p>
        </p:txBody>
      </p:sp>
      <p:sp>
        <p:nvSpPr>
          <p:cNvPr id="148" name="Text 132"/>
          <p:cNvSpPr/>
          <p:nvPr/>
        </p:nvSpPr>
        <p:spPr>
          <a:xfrm>
            <a:off x="12918282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scopes</a:t>
            </a:r>
            <a:endParaRPr lang="en-US" sz="990" dirty="0"/>
          </a:p>
        </p:txBody>
      </p:sp>
      <p:sp>
        <p:nvSpPr>
          <p:cNvPr id="149" name="Shape 133"/>
          <p:cNvSpPr/>
          <p:nvPr/>
        </p:nvSpPr>
        <p:spPr>
          <a:xfrm>
            <a:off x="14456770" y="4494610"/>
            <a:ext cx="156150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0" name="Text 134"/>
          <p:cNvSpPr/>
          <p:nvPr/>
        </p:nvSpPr>
        <p:spPr>
          <a:xfrm>
            <a:off x="14593887" y="4608910"/>
            <a:ext cx="14159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20" dirty="0"/>
          </a:p>
        </p:txBody>
      </p:sp>
      <p:sp>
        <p:nvSpPr>
          <p:cNvPr id="151" name="Text 135"/>
          <p:cNvSpPr/>
          <p:nvPr/>
        </p:nvSpPr>
        <p:spPr>
          <a:xfrm>
            <a:off x="14593887" y="4862910"/>
            <a:ext cx="14159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Unused 90 days</a:t>
            </a:r>
            <a:endParaRPr lang="en-US" sz="990" dirty="0"/>
          </a:p>
        </p:txBody>
      </p:sp>
      <p:sp>
        <p:nvSpPr>
          <p:cNvPr id="152" name="Shape 136"/>
          <p:cNvSpPr/>
          <p:nvPr/>
        </p:nvSpPr>
        <p:spPr>
          <a:xfrm>
            <a:off x="16132575" y="4494610"/>
            <a:ext cx="1561305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3" name="Text 137"/>
          <p:cNvSpPr/>
          <p:nvPr/>
        </p:nvSpPr>
        <p:spPr>
          <a:xfrm>
            <a:off x="16269693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20" dirty="0"/>
          </a:p>
        </p:txBody>
      </p:sp>
      <p:sp>
        <p:nvSpPr>
          <p:cNvPr id="154" name="Text 138"/>
          <p:cNvSpPr/>
          <p:nvPr/>
        </p:nvSpPr>
        <p:spPr>
          <a:xfrm>
            <a:off x="16269693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Contractors</a:t>
            </a:r>
            <a:endParaRPr lang="en-US" sz="990" dirty="0"/>
          </a:p>
        </p:txBody>
      </p:sp>
      <p:sp>
        <p:nvSpPr>
          <p:cNvPr id="155" name="Shape 139"/>
          <p:cNvSpPr/>
          <p:nvPr/>
        </p:nvSpPr>
        <p:spPr>
          <a:xfrm>
            <a:off x="12608520" y="5439370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6" name="Text 140"/>
          <p:cNvSpPr/>
          <p:nvPr/>
        </p:nvSpPr>
        <p:spPr>
          <a:xfrm>
            <a:off x="12781161" y="5612011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Revoke admin scope</a:t>
            </a:r>
            <a:endParaRPr lang="en-US" sz="1260" dirty="0"/>
          </a:p>
        </p:txBody>
      </p:sp>
      <p:sp>
        <p:nvSpPr>
          <p:cNvPr id="157" name="Text 141"/>
          <p:cNvSpPr/>
          <p:nvPr/>
        </p:nvSpPr>
        <p:spPr>
          <a:xfrm>
            <a:off x="12781161" y="591681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</a:t>
            </a:r>
            <a:endParaRPr lang="en-US" sz="990" dirty="0"/>
          </a:p>
        </p:txBody>
      </p:sp>
      <p:sp>
        <p:nvSpPr>
          <p:cNvPr id="158" name="Shape 142"/>
          <p:cNvSpPr/>
          <p:nvPr/>
        </p:nvSpPr>
        <p:spPr>
          <a:xfrm>
            <a:off x="12781161" y="6114852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9" name="Text 143"/>
          <p:cNvSpPr/>
          <p:nvPr/>
        </p:nvSpPr>
        <p:spPr>
          <a:xfrm>
            <a:off x="12908161" y="6207562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T. Osei — contractor</a:t>
            </a:r>
            <a:endParaRPr lang="en-US" sz="1170" dirty="0"/>
          </a:p>
        </p:txBody>
      </p:sp>
      <p:sp>
        <p:nvSpPr>
          <p:cNvPr id="160" name="Text 144"/>
          <p:cNvSpPr/>
          <p:nvPr/>
        </p:nvSpPr>
        <p:spPr>
          <a:xfrm>
            <a:off x="12781161" y="659229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en-US" sz="990" dirty="0"/>
          </a:p>
        </p:txBody>
      </p:sp>
      <p:sp>
        <p:nvSpPr>
          <p:cNvPr id="161" name="Shape 145"/>
          <p:cNvSpPr/>
          <p:nvPr/>
        </p:nvSpPr>
        <p:spPr>
          <a:xfrm>
            <a:off x="12781161" y="679033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2" name="Text 146"/>
          <p:cNvSpPr/>
          <p:nvPr/>
        </p:nvSpPr>
        <p:spPr>
          <a:xfrm>
            <a:off x="12908161" y="688304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(org)</a:t>
            </a:r>
            <a:endParaRPr lang="en-US" sz="1170" dirty="0"/>
          </a:p>
        </p:txBody>
      </p:sp>
      <p:sp>
        <p:nvSpPr>
          <p:cNvPr id="163" name="Text 147"/>
          <p:cNvSpPr/>
          <p:nvPr/>
        </p:nvSpPr>
        <p:spPr>
          <a:xfrm>
            <a:off x="12781161" y="726777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</a:t>
            </a:r>
            <a:endParaRPr lang="en-US" sz="990" dirty="0"/>
          </a:p>
        </p:txBody>
      </p:sp>
      <p:sp>
        <p:nvSpPr>
          <p:cNvPr id="164" name="Shape 148"/>
          <p:cNvSpPr/>
          <p:nvPr/>
        </p:nvSpPr>
        <p:spPr>
          <a:xfrm>
            <a:off x="12781161" y="746581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5" name="Text 149"/>
          <p:cNvSpPr/>
          <p:nvPr/>
        </p:nvSpPr>
        <p:spPr>
          <a:xfrm>
            <a:off x="12908161" y="755852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Immediately</a:t>
            </a:r>
            <a:endParaRPr lang="en-US" sz="1170" dirty="0"/>
          </a:p>
        </p:txBody>
      </p:sp>
      <p:sp>
        <p:nvSpPr>
          <p:cNvPr id="166" name="Shape 150"/>
          <p:cNvSpPr/>
          <p:nvPr/>
        </p:nvSpPr>
        <p:spPr>
          <a:xfrm>
            <a:off x="12781161" y="7966075"/>
            <a:ext cx="1450382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7" name="Text 151"/>
          <p:cNvSpPr/>
          <p:nvPr/>
        </p:nvSpPr>
        <p:spPr>
          <a:xfrm>
            <a:off x="12941181" y="8046085"/>
            <a:ext cx="1206542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Entra ID</a:t>
            </a:r>
            <a:endParaRPr lang="en-US" sz="1170" dirty="0"/>
          </a:p>
        </p:txBody>
      </p:sp>
      <p:sp>
        <p:nvSpPr>
          <p:cNvPr id="168" name="Shape 152"/>
          <p:cNvSpPr/>
          <p:nvPr/>
        </p:nvSpPr>
        <p:spPr>
          <a:xfrm>
            <a:off x="14322825" y="7966075"/>
            <a:ext cx="619321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9" name="Text 153"/>
          <p:cNvSpPr/>
          <p:nvPr/>
        </p:nvSpPr>
        <p:spPr>
          <a:xfrm>
            <a:off x="14495545" y="8058785"/>
            <a:ext cx="350081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70" name="Shape 154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1" name="Shape 155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72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73" name="Text 156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75" name="Picture 174" descr="Android Apps by Hello Clever on Google Play">
            <a:extLst>
              <a:ext uri="{FF2B5EF4-FFF2-40B4-BE49-F238E27FC236}">
                <a16:creationId xmlns:a16="http://schemas.microsoft.com/office/drawing/2014/main" id="{E12B50F4-FA29-0C4B-29D9-CA7BDDE0E5B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sp>
        <p:nvSpPr>
          <p:cNvPr id="23" name="Shape 17"/>
          <p:cNvSpPr/>
          <p:nvPr/>
        </p:nvSpPr>
        <p:spPr>
          <a:xfrm>
            <a:off x="0" y="1657945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4" name="Shape 18"/>
          <p:cNvSpPr/>
          <p:nvPr/>
        </p:nvSpPr>
        <p:spPr>
          <a:xfrm>
            <a:off x="0" y="1657945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2522" y="1763117"/>
            <a:ext cx="94972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4554439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sources and classification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090254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217254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350060" y="1183283"/>
            <a:ext cx="1618062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522780" y="1264563"/>
            <a:ext cx="1348822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classification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5634236" cy="8133755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364791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sources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364791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field is classified before any model can see it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294063" y="2940248"/>
            <a:ext cx="5197674" cy="12700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3408363" y="2683867"/>
            <a:ext cx="144524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1080" dirty="0"/>
          </a:p>
        </p:txBody>
      </p:sp>
      <p:sp>
        <p:nvSpPr>
          <p:cNvPr id="56" name="Text 41"/>
          <p:cNvSpPr/>
          <p:nvPr/>
        </p:nvSpPr>
        <p:spPr>
          <a:xfrm>
            <a:off x="4882158" y="2683867"/>
            <a:ext cx="144524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</a:t>
            </a:r>
            <a:endParaRPr lang="en-US" sz="1080" dirty="0"/>
          </a:p>
        </p:txBody>
      </p:sp>
      <p:sp>
        <p:nvSpPr>
          <p:cNvPr id="57" name="Text 42"/>
          <p:cNvSpPr/>
          <p:nvPr/>
        </p:nvSpPr>
        <p:spPr>
          <a:xfrm>
            <a:off x="6355953" y="2683867"/>
            <a:ext cx="106164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</a:t>
            </a:r>
            <a:endParaRPr lang="en-US" sz="1080" dirty="0"/>
          </a:p>
        </p:txBody>
      </p:sp>
      <p:sp>
        <p:nvSpPr>
          <p:cNvPr id="58" name="Text 43"/>
          <p:cNvSpPr/>
          <p:nvPr/>
        </p:nvSpPr>
        <p:spPr>
          <a:xfrm>
            <a:off x="7425135" y="2683867"/>
            <a:ext cx="95210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use</a:t>
            </a:r>
            <a:endParaRPr lang="en-US" sz="1080" dirty="0"/>
          </a:p>
        </p:txBody>
      </p:sp>
      <p:sp>
        <p:nvSpPr>
          <p:cNvPr id="59" name="Shape 44"/>
          <p:cNvSpPr/>
          <p:nvPr/>
        </p:nvSpPr>
        <p:spPr>
          <a:xfrm>
            <a:off x="3294063" y="3585170"/>
            <a:ext cx="51976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0" name="Text 45"/>
          <p:cNvSpPr/>
          <p:nvPr/>
        </p:nvSpPr>
        <p:spPr>
          <a:xfrm>
            <a:off x="3408363" y="3173810"/>
            <a:ext cx="14452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Workday HRM</a:t>
            </a:r>
            <a:endParaRPr lang="en-US" sz="1260" dirty="0"/>
          </a:p>
        </p:txBody>
      </p:sp>
      <p:sp>
        <p:nvSpPr>
          <p:cNvPr id="61" name="Text 46"/>
          <p:cNvSpPr/>
          <p:nvPr/>
        </p:nvSpPr>
        <p:spPr>
          <a:xfrm>
            <a:off x="4882158" y="3078560"/>
            <a:ext cx="13900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HR, contracts</a:t>
            </a:r>
            <a:endParaRPr lang="en-US" sz="1260" dirty="0"/>
          </a:p>
        </p:txBody>
      </p:sp>
      <p:sp>
        <p:nvSpPr>
          <p:cNvPr id="62" name="Shape 47"/>
          <p:cNvSpPr/>
          <p:nvPr/>
        </p:nvSpPr>
        <p:spPr>
          <a:xfrm>
            <a:off x="6355953" y="3155950"/>
            <a:ext cx="1036042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3" name="Text 48"/>
          <p:cNvSpPr/>
          <p:nvPr/>
        </p:nvSpPr>
        <p:spPr>
          <a:xfrm>
            <a:off x="6470253" y="3178810"/>
            <a:ext cx="88364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1080" dirty="0"/>
          </a:p>
        </p:txBody>
      </p:sp>
      <p:sp>
        <p:nvSpPr>
          <p:cNvPr id="64" name="Shape 49"/>
          <p:cNvSpPr/>
          <p:nvPr/>
        </p:nvSpPr>
        <p:spPr>
          <a:xfrm>
            <a:off x="7616230" y="3155950"/>
            <a:ext cx="761008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5" name="Text 50"/>
          <p:cNvSpPr/>
          <p:nvPr/>
        </p:nvSpPr>
        <p:spPr>
          <a:xfrm>
            <a:off x="7654330" y="3178810"/>
            <a:ext cx="60860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1080" dirty="0"/>
          </a:p>
        </p:txBody>
      </p:sp>
      <p:sp>
        <p:nvSpPr>
          <p:cNvPr id="66" name="Shape 51"/>
          <p:cNvSpPr/>
          <p:nvPr/>
        </p:nvSpPr>
        <p:spPr>
          <a:xfrm>
            <a:off x="3294063" y="4230092"/>
            <a:ext cx="51976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7" name="Text 52"/>
          <p:cNvSpPr/>
          <p:nvPr/>
        </p:nvSpPr>
        <p:spPr>
          <a:xfrm>
            <a:off x="3408363" y="3723481"/>
            <a:ext cx="13900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SuccessFactors</a:t>
            </a:r>
            <a:endParaRPr lang="en-US" sz="1260" dirty="0"/>
          </a:p>
        </p:txBody>
      </p:sp>
      <p:sp>
        <p:nvSpPr>
          <p:cNvPr id="68" name="Text 53"/>
          <p:cNvSpPr/>
          <p:nvPr/>
        </p:nvSpPr>
        <p:spPr>
          <a:xfrm>
            <a:off x="4882158" y="3818731"/>
            <a:ext cx="14452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Compensation</a:t>
            </a:r>
            <a:endParaRPr lang="en-US" sz="1260" dirty="0"/>
          </a:p>
        </p:txBody>
      </p:sp>
      <p:sp>
        <p:nvSpPr>
          <p:cNvPr id="69" name="Shape 54"/>
          <p:cNvSpPr/>
          <p:nvPr/>
        </p:nvSpPr>
        <p:spPr>
          <a:xfrm>
            <a:off x="6355953" y="3800872"/>
            <a:ext cx="905471" cy="22860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0" name="Text 55"/>
          <p:cNvSpPr/>
          <p:nvPr/>
        </p:nvSpPr>
        <p:spPr>
          <a:xfrm>
            <a:off x="6470253" y="3823732"/>
            <a:ext cx="75307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Restricted</a:t>
            </a:r>
            <a:endParaRPr lang="en-US" sz="1080" dirty="0"/>
          </a:p>
        </p:txBody>
      </p:sp>
      <p:sp>
        <p:nvSpPr>
          <p:cNvPr id="71" name="Shape 56"/>
          <p:cNvSpPr/>
          <p:nvPr/>
        </p:nvSpPr>
        <p:spPr>
          <a:xfrm>
            <a:off x="7626747" y="3800872"/>
            <a:ext cx="750491" cy="22860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2" name="Text 57"/>
          <p:cNvSpPr/>
          <p:nvPr/>
        </p:nvSpPr>
        <p:spPr>
          <a:xfrm>
            <a:off x="7664847" y="3823732"/>
            <a:ext cx="59809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Masked</a:t>
            </a:r>
            <a:endParaRPr lang="en-US" sz="1080" dirty="0"/>
          </a:p>
        </p:txBody>
      </p:sp>
      <p:sp>
        <p:nvSpPr>
          <p:cNvPr id="73" name="Shape 58"/>
          <p:cNvSpPr/>
          <p:nvPr/>
        </p:nvSpPr>
        <p:spPr>
          <a:xfrm>
            <a:off x="3294063" y="4875014"/>
            <a:ext cx="51976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4" name="Text 59"/>
          <p:cNvSpPr/>
          <p:nvPr/>
        </p:nvSpPr>
        <p:spPr>
          <a:xfrm>
            <a:off x="3408363" y="4368403"/>
            <a:ext cx="13900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Entra ID</a:t>
            </a:r>
            <a:endParaRPr lang="en-US" sz="1260" dirty="0"/>
          </a:p>
        </p:txBody>
      </p:sp>
      <p:sp>
        <p:nvSpPr>
          <p:cNvPr id="75" name="Text 60"/>
          <p:cNvSpPr/>
          <p:nvPr/>
        </p:nvSpPr>
        <p:spPr>
          <a:xfrm>
            <a:off x="4882158" y="4463653"/>
            <a:ext cx="14452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Identity, groups</a:t>
            </a:r>
            <a:endParaRPr lang="en-US" sz="1260" dirty="0"/>
          </a:p>
        </p:txBody>
      </p:sp>
      <p:sp>
        <p:nvSpPr>
          <p:cNvPr id="76" name="Shape 61"/>
          <p:cNvSpPr/>
          <p:nvPr/>
        </p:nvSpPr>
        <p:spPr>
          <a:xfrm>
            <a:off x="6355953" y="4445794"/>
            <a:ext cx="732632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7" name="Text 62"/>
          <p:cNvSpPr/>
          <p:nvPr/>
        </p:nvSpPr>
        <p:spPr>
          <a:xfrm>
            <a:off x="6470253" y="4468654"/>
            <a:ext cx="58023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080" dirty="0"/>
          </a:p>
        </p:txBody>
      </p:sp>
      <p:sp>
        <p:nvSpPr>
          <p:cNvPr id="78" name="Shape 63"/>
          <p:cNvSpPr/>
          <p:nvPr/>
        </p:nvSpPr>
        <p:spPr>
          <a:xfrm>
            <a:off x="7616230" y="4445794"/>
            <a:ext cx="761008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9" name="Text 64"/>
          <p:cNvSpPr/>
          <p:nvPr/>
        </p:nvSpPr>
        <p:spPr>
          <a:xfrm>
            <a:off x="7654330" y="4468654"/>
            <a:ext cx="60860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1080" dirty="0"/>
          </a:p>
        </p:txBody>
      </p:sp>
      <p:sp>
        <p:nvSpPr>
          <p:cNvPr id="80" name="Shape 65"/>
          <p:cNvSpPr/>
          <p:nvPr/>
        </p:nvSpPr>
        <p:spPr>
          <a:xfrm>
            <a:off x="3294063" y="5519936"/>
            <a:ext cx="51976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1" name="Text 66"/>
          <p:cNvSpPr/>
          <p:nvPr/>
        </p:nvSpPr>
        <p:spPr>
          <a:xfrm>
            <a:off x="3408363" y="5013325"/>
            <a:ext cx="13900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Jira &amp; Azure DevOps</a:t>
            </a:r>
            <a:endParaRPr lang="en-US" sz="1260" dirty="0"/>
          </a:p>
        </p:txBody>
      </p:sp>
      <p:sp>
        <p:nvSpPr>
          <p:cNvPr id="82" name="Text 67"/>
          <p:cNvSpPr/>
          <p:nvPr/>
        </p:nvSpPr>
        <p:spPr>
          <a:xfrm>
            <a:off x="4882158" y="5013325"/>
            <a:ext cx="13900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items, effort</a:t>
            </a:r>
            <a:endParaRPr lang="en-US" sz="1260" dirty="0"/>
          </a:p>
        </p:txBody>
      </p:sp>
      <p:sp>
        <p:nvSpPr>
          <p:cNvPr id="83" name="Shape 68"/>
          <p:cNvSpPr/>
          <p:nvPr/>
        </p:nvSpPr>
        <p:spPr>
          <a:xfrm>
            <a:off x="6355953" y="5090716"/>
            <a:ext cx="732632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4" name="Text 69"/>
          <p:cNvSpPr/>
          <p:nvPr/>
        </p:nvSpPr>
        <p:spPr>
          <a:xfrm>
            <a:off x="6470253" y="5113576"/>
            <a:ext cx="58023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080" dirty="0"/>
          </a:p>
        </p:txBody>
      </p:sp>
      <p:sp>
        <p:nvSpPr>
          <p:cNvPr id="85" name="Shape 70"/>
          <p:cNvSpPr/>
          <p:nvPr/>
        </p:nvSpPr>
        <p:spPr>
          <a:xfrm>
            <a:off x="7616230" y="5090716"/>
            <a:ext cx="761008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6" name="Text 71"/>
          <p:cNvSpPr/>
          <p:nvPr/>
        </p:nvSpPr>
        <p:spPr>
          <a:xfrm>
            <a:off x="7654330" y="5113576"/>
            <a:ext cx="60860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1080" dirty="0"/>
          </a:p>
        </p:txBody>
      </p:sp>
      <p:sp>
        <p:nvSpPr>
          <p:cNvPr id="87" name="Shape 72"/>
          <p:cNvSpPr/>
          <p:nvPr/>
        </p:nvSpPr>
        <p:spPr>
          <a:xfrm>
            <a:off x="3294063" y="6164858"/>
            <a:ext cx="51976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8" name="Text 73"/>
          <p:cNvSpPr/>
          <p:nvPr/>
        </p:nvSpPr>
        <p:spPr>
          <a:xfrm>
            <a:off x="3408363" y="5658247"/>
            <a:ext cx="13900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Enterprise</a:t>
            </a:r>
            <a:endParaRPr lang="en-US" sz="1260" dirty="0"/>
          </a:p>
        </p:txBody>
      </p:sp>
      <p:sp>
        <p:nvSpPr>
          <p:cNvPr id="89" name="Text 74"/>
          <p:cNvSpPr/>
          <p:nvPr/>
        </p:nvSpPr>
        <p:spPr>
          <a:xfrm>
            <a:off x="4882158" y="5658247"/>
            <a:ext cx="13900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 signals</a:t>
            </a:r>
            <a:endParaRPr lang="en-US" sz="1260" dirty="0"/>
          </a:p>
        </p:txBody>
      </p:sp>
      <p:sp>
        <p:nvSpPr>
          <p:cNvPr id="90" name="Shape 75"/>
          <p:cNvSpPr/>
          <p:nvPr/>
        </p:nvSpPr>
        <p:spPr>
          <a:xfrm>
            <a:off x="6355953" y="5735638"/>
            <a:ext cx="732632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1" name="Text 76"/>
          <p:cNvSpPr/>
          <p:nvPr/>
        </p:nvSpPr>
        <p:spPr>
          <a:xfrm>
            <a:off x="6470253" y="5758498"/>
            <a:ext cx="58023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080" dirty="0"/>
          </a:p>
        </p:txBody>
      </p:sp>
      <p:sp>
        <p:nvSpPr>
          <p:cNvPr id="92" name="Shape 77"/>
          <p:cNvSpPr/>
          <p:nvPr/>
        </p:nvSpPr>
        <p:spPr>
          <a:xfrm>
            <a:off x="7616230" y="5735638"/>
            <a:ext cx="761008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3" name="Text 78"/>
          <p:cNvSpPr/>
          <p:nvPr/>
        </p:nvSpPr>
        <p:spPr>
          <a:xfrm>
            <a:off x="7654330" y="5758498"/>
            <a:ext cx="60860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1080" dirty="0"/>
          </a:p>
        </p:txBody>
      </p:sp>
      <p:sp>
        <p:nvSpPr>
          <p:cNvPr id="94" name="Shape 79"/>
          <p:cNvSpPr/>
          <p:nvPr/>
        </p:nvSpPr>
        <p:spPr>
          <a:xfrm>
            <a:off x="3294063" y="6809780"/>
            <a:ext cx="51976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5" name="Text 80"/>
          <p:cNvSpPr/>
          <p:nvPr/>
        </p:nvSpPr>
        <p:spPr>
          <a:xfrm>
            <a:off x="3408363" y="6303169"/>
            <a:ext cx="13900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LMS (Cornerstone)</a:t>
            </a:r>
            <a:endParaRPr lang="en-US" sz="1260" dirty="0"/>
          </a:p>
        </p:txBody>
      </p:sp>
      <p:sp>
        <p:nvSpPr>
          <p:cNvPr id="96" name="Text 81"/>
          <p:cNvSpPr/>
          <p:nvPr/>
        </p:nvSpPr>
        <p:spPr>
          <a:xfrm>
            <a:off x="4882158" y="6398419"/>
            <a:ext cx="14452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records</a:t>
            </a:r>
            <a:endParaRPr lang="en-US" sz="1260" dirty="0"/>
          </a:p>
        </p:txBody>
      </p:sp>
      <p:sp>
        <p:nvSpPr>
          <p:cNvPr id="97" name="Shape 82"/>
          <p:cNvSpPr/>
          <p:nvPr/>
        </p:nvSpPr>
        <p:spPr>
          <a:xfrm>
            <a:off x="6355953" y="6380560"/>
            <a:ext cx="732632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8" name="Text 83"/>
          <p:cNvSpPr/>
          <p:nvPr/>
        </p:nvSpPr>
        <p:spPr>
          <a:xfrm>
            <a:off x="6470253" y="6403420"/>
            <a:ext cx="58023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080" dirty="0"/>
          </a:p>
        </p:txBody>
      </p:sp>
      <p:sp>
        <p:nvSpPr>
          <p:cNvPr id="99" name="Shape 84"/>
          <p:cNvSpPr/>
          <p:nvPr/>
        </p:nvSpPr>
        <p:spPr>
          <a:xfrm>
            <a:off x="7616230" y="6380560"/>
            <a:ext cx="761008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0" name="Text 85"/>
          <p:cNvSpPr/>
          <p:nvPr/>
        </p:nvSpPr>
        <p:spPr>
          <a:xfrm>
            <a:off x="7654330" y="6403420"/>
            <a:ext cx="60860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1080" dirty="0"/>
          </a:p>
        </p:txBody>
      </p:sp>
      <p:sp>
        <p:nvSpPr>
          <p:cNvPr id="101" name="Shape 86"/>
          <p:cNvSpPr/>
          <p:nvPr/>
        </p:nvSpPr>
        <p:spPr>
          <a:xfrm>
            <a:off x="3294063" y="7485262"/>
            <a:ext cx="51976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2" name="Text 87"/>
          <p:cNvSpPr/>
          <p:nvPr/>
        </p:nvSpPr>
        <p:spPr>
          <a:xfrm>
            <a:off x="3408363" y="6963370"/>
            <a:ext cx="13900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Occupational health</a:t>
            </a:r>
            <a:endParaRPr lang="en-US" sz="1260" dirty="0"/>
          </a:p>
        </p:txBody>
      </p:sp>
      <p:sp>
        <p:nvSpPr>
          <p:cNvPr id="103" name="Text 88"/>
          <p:cNvSpPr/>
          <p:nvPr/>
        </p:nvSpPr>
        <p:spPr>
          <a:xfrm>
            <a:off x="4882158" y="7058620"/>
            <a:ext cx="14452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Wellbeing cases</a:t>
            </a:r>
            <a:endParaRPr lang="en-US" sz="1260" dirty="0"/>
          </a:p>
        </p:txBody>
      </p:sp>
      <p:sp>
        <p:nvSpPr>
          <p:cNvPr id="104" name="Shape 89"/>
          <p:cNvSpPr/>
          <p:nvPr/>
        </p:nvSpPr>
        <p:spPr>
          <a:xfrm>
            <a:off x="6355953" y="6948091"/>
            <a:ext cx="985441" cy="411560"/>
          </a:xfrm>
          <a:prstGeom prst="roundRect">
            <a:avLst>
              <a:gd name="adj" fmla="val 50000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5" name="Text 90"/>
          <p:cNvSpPr/>
          <p:nvPr/>
        </p:nvSpPr>
        <p:spPr>
          <a:xfrm>
            <a:off x="6470253" y="6970951"/>
            <a:ext cx="833041" cy="40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 category</a:t>
            </a:r>
            <a:endParaRPr lang="en-US" sz="1080" dirty="0"/>
          </a:p>
        </p:txBody>
      </p:sp>
      <p:sp>
        <p:nvSpPr>
          <p:cNvPr id="106" name="Shape 91"/>
          <p:cNvSpPr/>
          <p:nvPr/>
        </p:nvSpPr>
        <p:spPr>
          <a:xfrm>
            <a:off x="7617619" y="7040761"/>
            <a:ext cx="759619" cy="228600"/>
          </a:xfrm>
          <a:prstGeom prst="roundRect">
            <a:avLst>
              <a:gd name="adj" fmla="val 50000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7" name="Text 92"/>
          <p:cNvSpPr/>
          <p:nvPr/>
        </p:nvSpPr>
        <p:spPr>
          <a:xfrm>
            <a:off x="7655719" y="7063621"/>
            <a:ext cx="60721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Blocked</a:t>
            </a:r>
            <a:endParaRPr lang="en-US" sz="1080" dirty="0"/>
          </a:p>
        </p:txBody>
      </p:sp>
      <p:sp>
        <p:nvSpPr>
          <p:cNvPr id="108" name="Shape 93"/>
          <p:cNvSpPr/>
          <p:nvPr/>
        </p:nvSpPr>
        <p:spPr>
          <a:xfrm>
            <a:off x="3294063" y="8130183"/>
            <a:ext cx="51976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9" name="Text 94"/>
          <p:cNvSpPr/>
          <p:nvPr/>
        </p:nvSpPr>
        <p:spPr>
          <a:xfrm>
            <a:off x="3408363" y="7718822"/>
            <a:ext cx="14452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&amp; Viva</a:t>
            </a:r>
            <a:endParaRPr lang="en-US" sz="1260" dirty="0"/>
          </a:p>
        </p:txBody>
      </p:sp>
      <p:sp>
        <p:nvSpPr>
          <p:cNvPr id="110" name="Text 95"/>
          <p:cNvSpPr/>
          <p:nvPr/>
        </p:nvSpPr>
        <p:spPr>
          <a:xfrm>
            <a:off x="4882158" y="7623572"/>
            <a:ext cx="13900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 metadata</a:t>
            </a:r>
            <a:endParaRPr lang="en-US" sz="1260" dirty="0"/>
          </a:p>
        </p:txBody>
      </p:sp>
      <p:sp>
        <p:nvSpPr>
          <p:cNvPr id="111" name="Shape 96"/>
          <p:cNvSpPr/>
          <p:nvPr/>
        </p:nvSpPr>
        <p:spPr>
          <a:xfrm>
            <a:off x="6355953" y="7700963"/>
            <a:ext cx="732632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2" name="Text 97"/>
          <p:cNvSpPr/>
          <p:nvPr/>
        </p:nvSpPr>
        <p:spPr>
          <a:xfrm>
            <a:off x="6470253" y="7723823"/>
            <a:ext cx="58023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080" dirty="0"/>
          </a:p>
        </p:txBody>
      </p:sp>
      <p:sp>
        <p:nvSpPr>
          <p:cNvPr id="113" name="Shape 98"/>
          <p:cNvSpPr/>
          <p:nvPr/>
        </p:nvSpPr>
        <p:spPr>
          <a:xfrm>
            <a:off x="7616230" y="7700963"/>
            <a:ext cx="761008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4" name="Text 99"/>
          <p:cNvSpPr/>
          <p:nvPr/>
        </p:nvSpPr>
        <p:spPr>
          <a:xfrm>
            <a:off x="7654330" y="7723823"/>
            <a:ext cx="60860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1080" dirty="0"/>
          </a:p>
        </p:txBody>
      </p:sp>
      <p:sp>
        <p:nvSpPr>
          <p:cNvPr id="115" name="Shape 100"/>
          <p:cNvSpPr/>
          <p:nvPr/>
        </p:nvSpPr>
        <p:spPr>
          <a:xfrm>
            <a:off x="8892779" y="1924645"/>
            <a:ext cx="3200401" cy="2749352"/>
          </a:xfrm>
          <a:prstGeom prst="roundRect">
            <a:avLst>
              <a:gd name="adj" fmla="val 3326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6" name="Text 101"/>
          <p:cNvSpPr/>
          <p:nvPr/>
        </p:nvSpPr>
        <p:spPr>
          <a:xfrm>
            <a:off x="9111060" y="2142927"/>
            <a:ext cx="170281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run</a:t>
            </a:r>
            <a:endParaRPr lang="en-US" sz="1440" dirty="0"/>
          </a:p>
        </p:txBody>
      </p:sp>
      <p:sp>
        <p:nvSpPr>
          <p:cNvPr id="117" name="Text 102"/>
          <p:cNvSpPr/>
          <p:nvPr/>
        </p:nvSpPr>
        <p:spPr>
          <a:xfrm>
            <a:off x="9111060" y="2381647"/>
            <a:ext cx="170281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Automated, continuous</a:t>
            </a:r>
            <a:endParaRPr lang="en-US" sz="1080" dirty="0"/>
          </a:p>
        </p:txBody>
      </p:sp>
      <p:sp>
        <p:nvSpPr>
          <p:cNvPr id="118" name="Shape 103"/>
          <p:cNvSpPr/>
          <p:nvPr/>
        </p:nvSpPr>
        <p:spPr>
          <a:xfrm>
            <a:off x="9111060" y="3011289"/>
            <a:ext cx="276383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9" name="Text 104"/>
          <p:cNvSpPr/>
          <p:nvPr/>
        </p:nvSpPr>
        <p:spPr>
          <a:xfrm>
            <a:off x="9111060" y="2752328"/>
            <a:ext cx="12166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Fields scanned</a:t>
            </a:r>
            <a:endParaRPr lang="en-US" sz="1260" dirty="0"/>
          </a:p>
        </p:txBody>
      </p:sp>
      <p:sp>
        <p:nvSpPr>
          <p:cNvPr id="120" name="Text 105"/>
          <p:cNvSpPr/>
          <p:nvPr/>
        </p:nvSpPr>
        <p:spPr>
          <a:xfrm>
            <a:off x="11345269" y="2752328"/>
            <a:ext cx="6058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18,402</a:t>
            </a:r>
            <a:endParaRPr lang="en-US" sz="1260" dirty="0"/>
          </a:p>
        </p:txBody>
      </p:sp>
      <p:sp>
        <p:nvSpPr>
          <p:cNvPr id="121" name="Shape 106"/>
          <p:cNvSpPr/>
          <p:nvPr/>
        </p:nvSpPr>
        <p:spPr>
          <a:xfrm>
            <a:off x="9111060" y="3488532"/>
            <a:ext cx="276383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2" name="Text 107"/>
          <p:cNvSpPr/>
          <p:nvPr/>
        </p:nvSpPr>
        <p:spPr>
          <a:xfrm>
            <a:off x="9111060" y="3229571"/>
            <a:ext cx="21839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 category detected</a:t>
            </a:r>
            <a:endParaRPr lang="en-US" sz="1260" dirty="0"/>
          </a:p>
        </p:txBody>
      </p:sp>
      <p:sp>
        <p:nvSpPr>
          <p:cNvPr id="123" name="Text 108"/>
          <p:cNvSpPr/>
          <p:nvPr/>
        </p:nvSpPr>
        <p:spPr>
          <a:xfrm>
            <a:off x="11452227" y="3229571"/>
            <a:ext cx="49887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1,236</a:t>
            </a:r>
            <a:endParaRPr lang="en-US" sz="1260" dirty="0"/>
          </a:p>
        </p:txBody>
      </p:sp>
      <p:sp>
        <p:nvSpPr>
          <p:cNvPr id="124" name="Shape 109"/>
          <p:cNvSpPr/>
          <p:nvPr/>
        </p:nvSpPr>
        <p:spPr>
          <a:xfrm>
            <a:off x="9111060" y="3965774"/>
            <a:ext cx="276383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5" name="Text 110"/>
          <p:cNvSpPr/>
          <p:nvPr/>
        </p:nvSpPr>
        <p:spPr>
          <a:xfrm>
            <a:off x="9111060" y="3706813"/>
            <a:ext cx="10916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Auto-masked</a:t>
            </a:r>
            <a:endParaRPr lang="en-US" sz="1260" dirty="0"/>
          </a:p>
        </p:txBody>
      </p:sp>
      <p:sp>
        <p:nvSpPr>
          <p:cNvPr id="126" name="Text 111"/>
          <p:cNvSpPr/>
          <p:nvPr/>
        </p:nvSpPr>
        <p:spPr>
          <a:xfrm>
            <a:off x="11452227" y="3706813"/>
            <a:ext cx="49887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1,236</a:t>
            </a:r>
            <a:endParaRPr lang="en-US" sz="1260" dirty="0"/>
          </a:p>
        </p:txBody>
      </p:sp>
      <p:sp>
        <p:nvSpPr>
          <p:cNvPr id="127" name="Shape 112"/>
          <p:cNvSpPr/>
          <p:nvPr/>
        </p:nvSpPr>
        <p:spPr>
          <a:xfrm>
            <a:off x="9111060" y="4443016"/>
            <a:ext cx="276383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8" name="Text 113"/>
          <p:cNvSpPr/>
          <p:nvPr/>
        </p:nvSpPr>
        <p:spPr>
          <a:xfrm>
            <a:off x="9111060" y="4184055"/>
            <a:ext cx="177528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review queue</a:t>
            </a:r>
            <a:endParaRPr lang="en-US" sz="1260" dirty="0"/>
          </a:p>
        </p:txBody>
      </p:sp>
      <p:sp>
        <p:nvSpPr>
          <p:cNvPr id="129" name="Text 114"/>
          <p:cNvSpPr/>
          <p:nvPr/>
        </p:nvSpPr>
        <p:spPr>
          <a:xfrm>
            <a:off x="11769328" y="4184055"/>
            <a:ext cx="1817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260" dirty="0"/>
          </a:p>
        </p:txBody>
      </p:sp>
      <p:sp>
        <p:nvSpPr>
          <p:cNvPr id="130" name="Shape 115"/>
          <p:cNvSpPr/>
          <p:nvPr/>
        </p:nvSpPr>
        <p:spPr>
          <a:xfrm>
            <a:off x="8892779" y="4856758"/>
            <a:ext cx="3200401" cy="1510903"/>
          </a:xfrm>
          <a:prstGeom prst="roundRect">
            <a:avLst>
              <a:gd name="adj" fmla="val 6052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1" name="Text 116"/>
          <p:cNvSpPr/>
          <p:nvPr/>
        </p:nvSpPr>
        <p:spPr>
          <a:xfrm>
            <a:off x="9111060" y="5075039"/>
            <a:ext cx="234892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Residency</a:t>
            </a:r>
            <a:endParaRPr lang="en-US" sz="1440" dirty="0"/>
          </a:p>
        </p:txBody>
      </p:sp>
      <p:sp>
        <p:nvSpPr>
          <p:cNvPr id="132" name="Text 117"/>
          <p:cNvSpPr/>
          <p:nvPr/>
        </p:nvSpPr>
        <p:spPr>
          <a:xfrm>
            <a:off x="9111060" y="5313759"/>
            <a:ext cx="234892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and inference stay in region</a:t>
            </a:r>
            <a:endParaRPr lang="en-US" sz="1080" dirty="0"/>
          </a:p>
        </p:txBody>
      </p:sp>
      <p:pic>
        <p:nvPicPr>
          <p:cNvPr id="133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11060" y="5756871"/>
            <a:ext cx="251421" cy="251421"/>
          </a:xfrm>
          <a:prstGeom prst="rect">
            <a:avLst/>
          </a:prstGeom>
        </p:spPr>
      </p:pic>
      <p:sp>
        <p:nvSpPr>
          <p:cNvPr id="134" name="Text 118"/>
          <p:cNvSpPr/>
          <p:nvPr/>
        </p:nvSpPr>
        <p:spPr>
          <a:xfrm>
            <a:off x="9476780" y="5615980"/>
            <a:ext cx="247431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Storage, vector index and model calls pinned to Switzerland North. No cross-border egress.</a:t>
            </a:r>
            <a:endParaRPr lang="en-US" sz="1170" dirty="0"/>
          </a:p>
        </p:txBody>
      </p:sp>
      <p:sp>
        <p:nvSpPr>
          <p:cNvPr id="135" name="Shape 119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36" name="Shape 120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7" name="Shape 121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38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39" name="Text 122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40" name="Text 123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41" name="Shape 124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2" name="Text 125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43" name="Shape 126"/>
          <p:cNvSpPr/>
          <p:nvPr/>
        </p:nvSpPr>
        <p:spPr>
          <a:xfrm>
            <a:off x="14668501" y="2612628"/>
            <a:ext cx="3198019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4" name="Text 127"/>
          <p:cNvSpPr/>
          <p:nvPr/>
        </p:nvSpPr>
        <p:spPr>
          <a:xfrm>
            <a:off x="14828521" y="2726928"/>
            <a:ext cx="29739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sources are not safe for AI yet?</a:t>
            </a:r>
            <a:endParaRPr lang="en-US" sz="1260" dirty="0"/>
          </a:p>
        </p:txBody>
      </p:sp>
      <p:sp>
        <p:nvSpPr>
          <p:cNvPr id="145" name="Shape 128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6" name="Text 129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Two. Occupational health is blocked outright; compensation is available only as a band.</a:t>
            </a:r>
            <a:endParaRPr lang="en-US" sz="1260" dirty="0"/>
          </a:p>
        </p:txBody>
      </p:sp>
      <p:sp>
        <p:nvSpPr>
          <p:cNvPr id="147" name="Shape 130"/>
          <p:cNvSpPr/>
          <p:nvPr/>
        </p:nvSpPr>
        <p:spPr>
          <a:xfrm>
            <a:off x="12608520" y="4055269"/>
            <a:ext cx="5258000" cy="1712714"/>
          </a:xfrm>
          <a:prstGeom prst="roundRect">
            <a:avLst>
              <a:gd name="adj" fmla="val 8008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8" name="Text 131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OF FIELDS</a:t>
            </a:r>
            <a:endParaRPr lang="en-US" sz="990" dirty="0"/>
          </a:p>
        </p:txBody>
      </p:sp>
      <p:sp>
        <p:nvSpPr>
          <p:cNvPr id="149" name="Text 132"/>
          <p:cNvSpPr/>
          <p:nvPr/>
        </p:nvSpPr>
        <p:spPr>
          <a:xfrm>
            <a:off x="12781161" y="4494610"/>
            <a:ext cx="59035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1080" dirty="0"/>
          </a:p>
        </p:txBody>
      </p:sp>
      <p:sp>
        <p:nvSpPr>
          <p:cNvPr id="150" name="Text 133"/>
          <p:cNvSpPr/>
          <p:nvPr/>
        </p:nvSpPr>
        <p:spPr>
          <a:xfrm>
            <a:off x="17532352" y="4494610"/>
            <a:ext cx="23772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</a:t>
            </a:r>
            <a:endParaRPr lang="en-US" sz="1080" dirty="0"/>
          </a:p>
        </p:txBody>
      </p:sp>
      <p:sp>
        <p:nvSpPr>
          <p:cNvPr id="151" name="Shape 134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2" name="Shape 135"/>
          <p:cNvSpPr/>
          <p:nvPr/>
        </p:nvSpPr>
        <p:spPr>
          <a:xfrm>
            <a:off x="12781161" y="4716859"/>
            <a:ext cx="3684390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3" name="Text 136"/>
          <p:cNvSpPr/>
          <p:nvPr/>
        </p:nvSpPr>
        <p:spPr>
          <a:xfrm>
            <a:off x="12781161" y="4899621"/>
            <a:ext cx="58519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Masked</a:t>
            </a:r>
            <a:endParaRPr lang="en-US" sz="1080" dirty="0"/>
          </a:p>
        </p:txBody>
      </p:sp>
      <p:sp>
        <p:nvSpPr>
          <p:cNvPr id="154" name="Text 137"/>
          <p:cNvSpPr/>
          <p:nvPr/>
        </p:nvSpPr>
        <p:spPr>
          <a:xfrm>
            <a:off x="17548622" y="4899621"/>
            <a:ext cx="2214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080" dirty="0"/>
          </a:p>
        </p:txBody>
      </p:sp>
      <p:sp>
        <p:nvSpPr>
          <p:cNvPr id="155" name="Shape 138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6" name="Shape 139"/>
          <p:cNvSpPr/>
          <p:nvPr/>
        </p:nvSpPr>
        <p:spPr>
          <a:xfrm>
            <a:off x="12781161" y="5121871"/>
            <a:ext cx="638573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7" name="Text 140"/>
          <p:cNvSpPr/>
          <p:nvPr/>
        </p:nvSpPr>
        <p:spPr>
          <a:xfrm>
            <a:off x="12781161" y="5304631"/>
            <a:ext cx="59551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Blocked</a:t>
            </a:r>
            <a:endParaRPr lang="en-US" sz="1080" dirty="0"/>
          </a:p>
        </p:txBody>
      </p:sp>
      <p:sp>
        <p:nvSpPr>
          <p:cNvPr id="158" name="Text 141"/>
          <p:cNvSpPr/>
          <p:nvPr/>
        </p:nvSpPr>
        <p:spPr>
          <a:xfrm>
            <a:off x="17550410" y="5304631"/>
            <a:ext cx="21966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80" dirty="0"/>
          </a:p>
        </p:txBody>
      </p:sp>
      <p:sp>
        <p:nvSpPr>
          <p:cNvPr id="159" name="Shape 142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0" name="Shape 143"/>
          <p:cNvSpPr/>
          <p:nvPr/>
        </p:nvSpPr>
        <p:spPr>
          <a:xfrm>
            <a:off x="12781161" y="5526882"/>
            <a:ext cx="589359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1" name="Shape 144"/>
          <p:cNvSpPr/>
          <p:nvPr/>
        </p:nvSpPr>
        <p:spPr>
          <a:xfrm>
            <a:off x="12608520" y="5905104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2" name="Text 145"/>
          <p:cNvSpPr/>
          <p:nvPr/>
        </p:nvSpPr>
        <p:spPr>
          <a:xfrm>
            <a:off x="12781161" y="6077744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classification exception</a:t>
            </a:r>
            <a:endParaRPr lang="en-US" sz="1260" dirty="0"/>
          </a:p>
        </p:txBody>
      </p:sp>
      <p:sp>
        <p:nvSpPr>
          <p:cNvPr id="163" name="Text 146"/>
          <p:cNvSpPr/>
          <p:nvPr/>
        </p:nvSpPr>
        <p:spPr>
          <a:xfrm>
            <a:off x="12781161" y="638254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990" dirty="0"/>
          </a:p>
        </p:txBody>
      </p:sp>
      <p:sp>
        <p:nvSpPr>
          <p:cNvPr id="164" name="Shape 147"/>
          <p:cNvSpPr/>
          <p:nvPr/>
        </p:nvSpPr>
        <p:spPr>
          <a:xfrm>
            <a:off x="12781161" y="658058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5" name="Text 148"/>
          <p:cNvSpPr/>
          <p:nvPr/>
        </p:nvSpPr>
        <p:spPr>
          <a:xfrm>
            <a:off x="12908161" y="667329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SuccessFactors</a:t>
            </a:r>
            <a:endParaRPr lang="en-US" sz="1170" dirty="0"/>
          </a:p>
        </p:txBody>
      </p:sp>
      <p:sp>
        <p:nvSpPr>
          <p:cNvPr id="166" name="Text 149"/>
          <p:cNvSpPr/>
          <p:nvPr/>
        </p:nvSpPr>
        <p:spPr>
          <a:xfrm>
            <a:off x="12781161" y="7058026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</a:t>
            </a:r>
            <a:endParaRPr lang="en-US" sz="990" dirty="0"/>
          </a:p>
        </p:txBody>
      </p:sp>
      <p:sp>
        <p:nvSpPr>
          <p:cNvPr id="167" name="Shape 150"/>
          <p:cNvSpPr/>
          <p:nvPr/>
        </p:nvSpPr>
        <p:spPr>
          <a:xfrm>
            <a:off x="12781161" y="725606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8" name="Text 151"/>
          <p:cNvSpPr/>
          <p:nvPr/>
        </p:nvSpPr>
        <p:spPr>
          <a:xfrm>
            <a:off x="12908161" y="734877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 only, no absolute values</a:t>
            </a:r>
            <a:endParaRPr lang="en-US" sz="1170" dirty="0"/>
          </a:p>
        </p:txBody>
      </p:sp>
      <p:sp>
        <p:nvSpPr>
          <p:cNvPr id="169" name="Text 152"/>
          <p:cNvSpPr/>
          <p:nvPr/>
        </p:nvSpPr>
        <p:spPr>
          <a:xfrm>
            <a:off x="12781161" y="7733507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</a:t>
            </a:r>
            <a:endParaRPr lang="en-US" sz="990" dirty="0"/>
          </a:p>
        </p:txBody>
      </p:sp>
      <p:sp>
        <p:nvSpPr>
          <p:cNvPr id="170" name="Shape 153"/>
          <p:cNvSpPr/>
          <p:nvPr/>
        </p:nvSpPr>
        <p:spPr>
          <a:xfrm>
            <a:off x="12781161" y="7931547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1" name="Text 154"/>
          <p:cNvSpPr/>
          <p:nvPr/>
        </p:nvSpPr>
        <p:spPr>
          <a:xfrm>
            <a:off x="12908161" y="8024257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protection officer</a:t>
            </a:r>
            <a:endParaRPr lang="en-US" sz="1170" dirty="0"/>
          </a:p>
        </p:txBody>
      </p:sp>
      <p:sp>
        <p:nvSpPr>
          <p:cNvPr id="172" name="Shape 155"/>
          <p:cNvSpPr/>
          <p:nvPr/>
        </p:nvSpPr>
        <p:spPr>
          <a:xfrm>
            <a:off x="12781161" y="8431809"/>
            <a:ext cx="1761531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3" name="Text 156"/>
          <p:cNvSpPr/>
          <p:nvPr/>
        </p:nvSpPr>
        <p:spPr>
          <a:xfrm>
            <a:off x="12941181" y="8511819"/>
            <a:ext cx="1517691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Governance</a:t>
            </a:r>
            <a:endParaRPr lang="en-US" sz="1170" dirty="0"/>
          </a:p>
        </p:txBody>
      </p:sp>
      <p:sp>
        <p:nvSpPr>
          <p:cNvPr id="174" name="Shape 157"/>
          <p:cNvSpPr/>
          <p:nvPr/>
        </p:nvSpPr>
        <p:spPr>
          <a:xfrm>
            <a:off x="14633973" y="8431809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5" name="Text 158"/>
          <p:cNvSpPr/>
          <p:nvPr/>
        </p:nvSpPr>
        <p:spPr>
          <a:xfrm>
            <a:off x="14806693" y="8524519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76" name="Shape 159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7" name="Shape 160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78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79" name="Text 161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81" name="Picture 180" descr="Android Apps by Hello Clever on Google Play">
            <a:extLst>
              <a:ext uri="{FF2B5EF4-FFF2-40B4-BE49-F238E27FC236}">
                <a16:creationId xmlns:a16="http://schemas.microsoft.com/office/drawing/2014/main" id="{FA06EA02-75F8-9A96-C145-DAC9AAD4EFE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9829" y="158209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sp>
        <p:nvSpPr>
          <p:cNvPr id="23" name="Shape 17"/>
          <p:cNvSpPr/>
          <p:nvPr/>
        </p:nvSpPr>
        <p:spPr>
          <a:xfrm>
            <a:off x="0" y="1657945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4" name="Shape 18"/>
          <p:cNvSpPr/>
          <p:nvPr/>
        </p:nvSpPr>
        <p:spPr>
          <a:xfrm>
            <a:off x="0" y="1657945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2522" y="1763117"/>
            <a:ext cx="94972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› Segregation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3487261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segregation matrix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192649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319649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452454" y="1183283"/>
            <a:ext cx="1515667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625174" y="1264563"/>
            <a:ext cx="1246427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Simulate access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9017398" cy="4336653"/>
          </a:xfrm>
          <a:prstGeom prst="roundRect">
            <a:avLst>
              <a:gd name="adj" fmla="val 2109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459875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can see what — enforced at query time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459875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Policies apply to humans and to agents through the same engine</a:t>
            </a:r>
            <a:endParaRPr lang="en-US" sz="1080" dirty="0"/>
          </a:p>
        </p:txBody>
      </p:sp>
      <p:sp>
        <p:nvSpPr>
          <p:cNvPr id="54" name="Text 39"/>
          <p:cNvSpPr/>
          <p:nvPr/>
        </p:nvSpPr>
        <p:spPr>
          <a:xfrm>
            <a:off x="4924624" y="2683867"/>
            <a:ext cx="11711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</a:t>
            </a:r>
            <a:endParaRPr lang="en-US" sz="990" dirty="0"/>
          </a:p>
        </p:txBody>
      </p:sp>
      <p:sp>
        <p:nvSpPr>
          <p:cNvPr id="55" name="Text 40"/>
          <p:cNvSpPr/>
          <p:nvPr/>
        </p:nvSpPr>
        <p:spPr>
          <a:xfrm>
            <a:off x="6088063" y="2683867"/>
            <a:ext cx="11711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Salary</a:t>
            </a:r>
            <a:endParaRPr lang="en-US" sz="990" dirty="0"/>
          </a:p>
        </p:txBody>
      </p:sp>
      <p:sp>
        <p:nvSpPr>
          <p:cNvPr id="56" name="Text 41"/>
          <p:cNvSpPr/>
          <p:nvPr/>
        </p:nvSpPr>
        <p:spPr>
          <a:xfrm>
            <a:off x="7251502" y="2683867"/>
            <a:ext cx="11711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</a:t>
            </a:r>
            <a:endParaRPr lang="en-US" sz="990" dirty="0"/>
          </a:p>
        </p:txBody>
      </p:sp>
      <p:sp>
        <p:nvSpPr>
          <p:cNvPr id="57" name="Text 42"/>
          <p:cNvSpPr/>
          <p:nvPr/>
        </p:nvSpPr>
        <p:spPr>
          <a:xfrm>
            <a:off x="8414941" y="2683867"/>
            <a:ext cx="11711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</a:t>
            </a:r>
            <a:endParaRPr lang="en-US" sz="990" dirty="0"/>
          </a:p>
        </p:txBody>
      </p:sp>
      <p:sp>
        <p:nvSpPr>
          <p:cNvPr id="58" name="Text 43"/>
          <p:cNvSpPr/>
          <p:nvPr/>
        </p:nvSpPr>
        <p:spPr>
          <a:xfrm>
            <a:off x="9578380" y="2683867"/>
            <a:ext cx="11711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</a:t>
            </a:r>
            <a:endParaRPr lang="en-US" sz="990" dirty="0"/>
          </a:p>
        </p:txBody>
      </p:sp>
      <p:sp>
        <p:nvSpPr>
          <p:cNvPr id="59" name="Text 44"/>
          <p:cNvSpPr/>
          <p:nvPr/>
        </p:nvSpPr>
        <p:spPr>
          <a:xfrm>
            <a:off x="10741820" y="2683867"/>
            <a:ext cx="117117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990" dirty="0"/>
          </a:p>
        </p:txBody>
      </p:sp>
      <p:sp>
        <p:nvSpPr>
          <p:cNvPr id="60" name="Text 45"/>
          <p:cNvSpPr/>
          <p:nvPr/>
        </p:nvSpPr>
        <p:spPr>
          <a:xfrm>
            <a:off x="3294063" y="3025974"/>
            <a:ext cx="17602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business partner</a:t>
            </a:r>
            <a:endParaRPr lang="en-US" sz="1080" dirty="0"/>
          </a:p>
        </p:txBody>
      </p:sp>
      <p:sp>
        <p:nvSpPr>
          <p:cNvPr id="61" name="Shape 46"/>
          <p:cNvSpPr/>
          <p:nvPr/>
        </p:nvSpPr>
        <p:spPr>
          <a:xfrm>
            <a:off x="4962724" y="2904728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2" name="Shape 47"/>
          <p:cNvSpPr/>
          <p:nvPr/>
        </p:nvSpPr>
        <p:spPr>
          <a:xfrm>
            <a:off x="6126163" y="2904728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3" name="Shape 48"/>
          <p:cNvSpPr/>
          <p:nvPr/>
        </p:nvSpPr>
        <p:spPr>
          <a:xfrm>
            <a:off x="7289602" y="2904728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B25E00">
              <a:alpha val="28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4" name="Shape 49"/>
          <p:cNvSpPr/>
          <p:nvPr/>
        </p:nvSpPr>
        <p:spPr>
          <a:xfrm>
            <a:off x="8453041" y="2904728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5" name="Shape 50"/>
          <p:cNvSpPr/>
          <p:nvPr/>
        </p:nvSpPr>
        <p:spPr>
          <a:xfrm>
            <a:off x="9616480" y="2904728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6" name="Shape 51"/>
          <p:cNvSpPr/>
          <p:nvPr/>
        </p:nvSpPr>
        <p:spPr>
          <a:xfrm>
            <a:off x="10779920" y="2904728"/>
            <a:ext cx="1094979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7" name="Text 52"/>
          <p:cNvSpPr/>
          <p:nvPr/>
        </p:nvSpPr>
        <p:spPr>
          <a:xfrm>
            <a:off x="3294063" y="3508375"/>
            <a:ext cx="17602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 manager</a:t>
            </a:r>
            <a:endParaRPr lang="en-US" sz="1080" dirty="0"/>
          </a:p>
        </p:txBody>
      </p:sp>
      <p:sp>
        <p:nvSpPr>
          <p:cNvPr id="68" name="Shape 53"/>
          <p:cNvSpPr/>
          <p:nvPr/>
        </p:nvSpPr>
        <p:spPr>
          <a:xfrm>
            <a:off x="4962724" y="3387130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B25E00">
              <a:alpha val="28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9" name="Shape 54"/>
          <p:cNvSpPr/>
          <p:nvPr/>
        </p:nvSpPr>
        <p:spPr>
          <a:xfrm>
            <a:off x="6126163" y="3387130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0" name="Shape 55"/>
          <p:cNvSpPr/>
          <p:nvPr/>
        </p:nvSpPr>
        <p:spPr>
          <a:xfrm>
            <a:off x="7289602" y="3387130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1" name="Shape 56"/>
          <p:cNvSpPr/>
          <p:nvPr/>
        </p:nvSpPr>
        <p:spPr>
          <a:xfrm>
            <a:off x="8453041" y="3387130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2" name="Shape 57"/>
          <p:cNvSpPr/>
          <p:nvPr/>
        </p:nvSpPr>
        <p:spPr>
          <a:xfrm>
            <a:off x="9616480" y="3387130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3" name="Shape 58"/>
          <p:cNvSpPr/>
          <p:nvPr/>
        </p:nvSpPr>
        <p:spPr>
          <a:xfrm>
            <a:off x="10779920" y="3387130"/>
            <a:ext cx="1094979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4" name="Text 59"/>
          <p:cNvSpPr/>
          <p:nvPr/>
        </p:nvSpPr>
        <p:spPr>
          <a:xfrm>
            <a:off x="3294063" y="3990777"/>
            <a:ext cx="17602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lead</a:t>
            </a:r>
            <a:endParaRPr lang="en-US" sz="1080" dirty="0"/>
          </a:p>
        </p:txBody>
      </p:sp>
      <p:sp>
        <p:nvSpPr>
          <p:cNvPr id="75" name="Shape 60"/>
          <p:cNvSpPr/>
          <p:nvPr/>
        </p:nvSpPr>
        <p:spPr>
          <a:xfrm>
            <a:off x="4962724" y="3869532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6" name="Shape 61"/>
          <p:cNvSpPr/>
          <p:nvPr/>
        </p:nvSpPr>
        <p:spPr>
          <a:xfrm>
            <a:off x="6126163" y="3869532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7" name="Shape 62"/>
          <p:cNvSpPr/>
          <p:nvPr/>
        </p:nvSpPr>
        <p:spPr>
          <a:xfrm>
            <a:off x="7289602" y="3869532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8" name="Shape 63"/>
          <p:cNvSpPr/>
          <p:nvPr/>
        </p:nvSpPr>
        <p:spPr>
          <a:xfrm>
            <a:off x="8453041" y="3869532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9" name="Shape 64"/>
          <p:cNvSpPr/>
          <p:nvPr/>
        </p:nvSpPr>
        <p:spPr>
          <a:xfrm>
            <a:off x="9616480" y="3869532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0" name="Shape 65"/>
          <p:cNvSpPr/>
          <p:nvPr/>
        </p:nvSpPr>
        <p:spPr>
          <a:xfrm>
            <a:off x="10779920" y="3869532"/>
            <a:ext cx="1094979" cy="413941"/>
          </a:xfrm>
          <a:prstGeom prst="roundRect">
            <a:avLst>
              <a:gd name="adj" fmla="val 11045"/>
            </a:avLst>
          </a:prstGeom>
          <a:solidFill>
            <a:srgbClr val="B25E00">
              <a:alpha val="28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1" name="Text 66"/>
          <p:cNvSpPr/>
          <p:nvPr/>
        </p:nvSpPr>
        <p:spPr>
          <a:xfrm>
            <a:off x="3294063" y="4473178"/>
            <a:ext cx="17602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</a:t>
            </a:r>
            <a:endParaRPr lang="en-US" sz="1080" dirty="0"/>
          </a:p>
        </p:txBody>
      </p:sp>
      <p:sp>
        <p:nvSpPr>
          <p:cNvPr id="82" name="Shape 67"/>
          <p:cNvSpPr/>
          <p:nvPr/>
        </p:nvSpPr>
        <p:spPr>
          <a:xfrm>
            <a:off x="4962724" y="4351933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B25E00">
              <a:alpha val="28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3" name="Shape 68"/>
          <p:cNvSpPr/>
          <p:nvPr/>
        </p:nvSpPr>
        <p:spPr>
          <a:xfrm>
            <a:off x="6126163" y="4351933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B25E00">
              <a:alpha val="28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4" name="Shape 69"/>
          <p:cNvSpPr/>
          <p:nvPr/>
        </p:nvSpPr>
        <p:spPr>
          <a:xfrm>
            <a:off x="7289602" y="4351933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B25E00">
              <a:alpha val="28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5" name="Shape 70"/>
          <p:cNvSpPr/>
          <p:nvPr/>
        </p:nvSpPr>
        <p:spPr>
          <a:xfrm>
            <a:off x="8453041" y="4351933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6" name="Shape 71"/>
          <p:cNvSpPr/>
          <p:nvPr/>
        </p:nvSpPr>
        <p:spPr>
          <a:xfrm>
            <a:off x="9616480" y="4351933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7" name="Shape 72"/>
          <p:cNvSpPr/>
          <p:nvPr/>
        </p:nvSpPr>
        <p:spPr>
          <a:xfrm>
            <a:off x="10779920" y="4351933"/>
            <a:ext cx="1094979" cy="413941"/>
          </a:xfrm>
          <a:prstGeom prst="roundRect">
            <a:avLst>
              <a:gd name="adj" fmla="val 11045"/>
            </a:avLst>
          </a:prstGeom>
          <a:solidFill>
            <a:srgbClr val="B25E00">
              <a:alpha val="28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8" name="Text 73"/>
          <p:cNvSpPr/>
          <p:nvPr/>
        </p:nvSpPr>
        <p:spPr>
          <a:xfrm>
            <a:off x="3294063" y="4955580"/>
            <a:ext cx="17602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Contractor</a:t>
            </a:r>
            <a:endParaRPr lang="en-US" sz="1080" dirty="0"/>
          </a:p>
        </p:txBody>
      </p:sp>
      <p:sp>
        <p:nvSpPr>
          <p:cNvPr id="89" name="Shape 74"/>
          <p:cNvSpPr/>
          <p:nvPr/>
        </p:nvSpPr>
        <p:spPr>
          <a:xfrm>
            <a:off x="4962724" y="4834335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0" name="Shape 75"/>
          <p:cNvSpPr/>
          <p:nvPr/>
        </p:nvSpPr>
        <p:spPr>
          <a:xfrm>
            <a:off x="6126163" y="4834335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1" name="Shape 76"/>
          <p:cNvSpPr/>
          <p:nvPr/>
        </p:nvSpPr>
        <p:spPr>
          <a:xfrm>
            <a:off x="7289602" y="4834335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2" name="Shape 77"/>
          <p:cNvSpPr/>
          <p:nvPr/>
        </p:nvSpPr>
        <p:spPr>
          <a:xfrm>
            <a:off x="8453041" y="4834335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B25E00">
              <a:alpha val="28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3" name="Shape 78"/>
          <p:cNvSpPr/>
          <p:nvPr/>
        </p:nvSpPr>
        <p:spPr>
          <a:xfrm>
            <a:off x="9616480" y="4834335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B25E00">
              <a:alpha val="28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4" name="Shape 79"/>
          <p:cNvSpPr/>
          <p:nvPr/>
        </p:nvSpPr>
        <p:spPr>
          <a:xfrm>
            <a:off x="10779920" y="4834335"/>
            <a:ext cx="1094979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5" name="Text 80"/>
          <p:cNvSpPr/>
          <p:nvPr/>
        </p:nvSpPr>
        <p:spPr>
          <a:xfrm>
            <a:off x="3294063" y="5437981"/>
            <a:ext cx="17602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108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 (staffing)</a:t>
            </a:r>
            <a:endParaRPr lang="en-US" sz="1080" dirty="0"/>
          </a:p>
        </p:txBody>
      </p:sp>
      <p:sp>
        <p:nvSpPr>
          <p:cNvPr id="96" name="Shape 81"/>
          <p:cNvSpPr/>
          <p:nvPr/>
        </p:nvSpPr>
        <p:spPr>
          <a:xfrm>
            <a:off x="4962724" y="5316736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7" name="Shape 82"/>
          <p:cNvSpPr/>
          <p:nvPr/>
        </p:nvSpPr>
        <p:spPr>
          <a:xfrm>
            <a:off x="6126163" y="5316736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8" name="Shape 83"/>
          <p:cNvSpPr/>
          <p:nvPr/>
        </p:nvSpPr>
        <p:spPr>
          <a:xfrm>
            <a:off x="7289602" y="5316736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9" name="Shape 84"/>
          <p:cNvSpPr/>
          <p:nvPr/>
        </p:nvSpPr>
        <p:spPr>
          <a:xfrm>
            <a:off x="8453041" y="5316736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B25E00">
              <a:alpha val="28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0" name="Shape 85"/>
          <p:cNvSpPr/>
          <p:nvPr/>
        </p:nvSpPr>
        <p:spPr>
          <a:xfrm>
            <a:off x="9616480" y="5316736"/>
            <a:ext cx="1094978" cy="413941"/>
          </a:xfrm>
          <a:prstGeom prst="roundRect">
            <a:avLst>
              <a:gd name="adj" fmla="val 11045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1" name="Shape 86"/>
          <p:cNvSpPr/>
          <p:nvPr/>
        </p:nvSpPr>
        <p:spPr>
          <a:xfrm>
            <a:off x="10779920" y="5316736"/>
            <a:ext cx="1094979" cy="413941"/>
          </a:xfrm>
          <a:prstGeom prst="roundRect">
            <a:avLst>
              <a:gd name="adj" fmla="val 11045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2" name="Shape 87"/>
          <p:cNvSpPr/>
          <p:nvPr/>
        </p:nvSpPr>
        <p:spPr>
          <a:xfrm>
            <a:off x="3294063" y="5891213"/>
            <a:ext cx="151011" cy="151011"/>
          </a:xfrm>
          <a:prstGeom prst="roundRect">
            <a:avLst>
              <a:gd name="adj" fmla="val 30276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3" name="Text 88"/>
          <p:cNvSpPr/>
          <p:nvPr/>
        </p:nvSpPr>
        <p:spPr>
          <a:xfrm>
            <a:off x="3513534" y="5890617"/>
            <a:ext cx="701477" cy="190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access</a:t>
            </a:r>
            <a:endParaRPr lang="en-US" sz="990" dirty="0"/>
          </a:p>
        </p:txBody>
      </p:sp>
      <p:sp>
        <p:nvSpPr>
          <p:cNvPr id="104" name="Shape 89"/>
          <p:cNvSpPr/>
          <p:nvPr/>
        </p:nvSpPr>
        <p:spPr>
          <a:xfrm>
            <a:off x="4298752" y="5891213"/>
            <a:ext cx="151011" cy="151011"/>
          </a:xfrm>
          <a:prstGeom prst="roundRect">
            <a:avLst>
              <a:gd name="adj" fmla="val 30276"/>
            </a:avLst>
          </a:prstGeom>
          <a:solidFill>
            <a:srgbClr val="B25E00">
              <a:alpha val="28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5" name="Text 90"/>
          <p:cNvSpPr/>
          <p:nvPr/>
        </p:nvSpPr>
        <p:spPr>
          <a:xfrm>
            <a:off x="4518224" y="5890617"/>
            <a:ext cx="1262459" cy="190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Masked / aggregate</a:t>
            </a:r>
            <a:endParaRPr lang="en-US" sz="990" dirty="0"/>
          </a:p>
        </p:txBody>
      </p:sp>
      <p:sp>
        <p:nvSpPr>
          <p:cNvPr id="106" name="Shape 91"/>
          <p:cNvSpPr/>
          <p:nvPr/>
        </p:nvSpPr>
        <p:spPr>
          <a:xfrm>
            <a:off x="5864424" y="5891213"/>
            <a:ext cx="151011" cy="151011"/>
          </a:xfrm>
          <a:prstGeom prst="roundRect">
            <a:avLst>
              <a:gd name="adj" fmla="val 30276"/>
            </a:avLst>
          </a:prstGeom>
          <a:solidFill>
            <a:srgbClr val="2C8A3A">
              <a:alpha val="24000"/>
            </a:srgbClr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7" name="Text 92"/>
          <p:cNvSpPr/>
          <p:nvPr/>
        </p:nvSpPr>
        <p:spPr>
          <a:xfrm>
            <a:off x="6083896" y="5890617"/>
            <a:ext cx="281385" cy="190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</a:t>
            </a:r>
            <a:endParaRPr lang="en-US" sz="990" dirty="0"/>
          </a:p>
        </p:txBody>
      </p:sp>
      <p:sp>
        <p:nvSpPr>
          <p:cNvPr id="108" name="Shape 93"/>
          <p:cNvSpPr/>
          <p:nvPr/>
        </p:nvSpPr>
        <p:spPr>
          <a:xfrm>
            <a:off x="3075781" y="6421239"/>
            <a:ext cx="9017398" cy="2161183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9" name="Text 94"/>
          <p:cNvSpPr/>
          <p:nvPr/>
        </p:nvSpPr>
        <p:spPr>
          <a:xfrm>
            <a:off x="3271242" y="6616700"/>
            <a:ext cx="258859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</a:t>
            </a:r>
            <a:endParaRPr lang="en-US" sz="1440" dirty="0"/>
          </a:p>
        </p:txBody>
      </p:sp>
      <p:sp>
        <p:nvSpPr>
          <p:cNvPr id="110" name="Text 95"/>
          <p:cNvSpPr/>
          <p:nvPr/>
        </p:nvSpPr>
        <p:spPr>
          <a:xfrm>
            <a:off x="3271242" y="6855421"/>
            <a:ext cx="258859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blocker most AI programmes hit</a:t>
            </a:r>
            <a:endParaRPr lang="en-US" sz="1080" dirty="0"/>
          </a:p>
        </p:txBody>
      </p:sp>
      <p:sp>
        <p:nvSpPr>
          <p:cNvPr id="111" name="Text 96"/>
          <p:cNvSpPr/>
          <p:nvPr/>
        </p:nvSpPr>
        <p:spPr>
          <a:xfrm>
            <a:off x="3271242" y="7157641"/>
            <a:ext cx="888527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Segregation is not a filter on the answer. Retrieval, prompt context and tool calls are all scoped to the caller's entitlements, so an agent physically cannot read what its requester may not see.</a:t>
            </a:r>
            <a:endParaRPr lang="en-US" sz="1170" dirty="0"/>
          </a:p>
        </p:txBody>
      </p:sp>
      <p:sp>
        <p:nvSpPr>
          <p:cNvPr id="112" name="Shape 97"/>
          <p:cNvSpPr/>
          <p:nvPr/>
        </p:nvSpPr>
        <p:spPr>
          <a:xfrm>
            <a:off x="3271242" y="7751961"/>
            <a:ext cx="207089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3" name="Text 98"/>
          <p:cNvSpPr/>
          <p:nvPr/>
        </p:nvSpPr>
        <p:spPr>
          <a:xfrm>
            <a:off x="3408363" y="7866261"/>
            <a:ext cx="1976319" cy="292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132</a:t>
            </a:r>
            <a:endParaRPr lang="en-US" sz="1620" dirty="0"/>
          </a:p>
        </p:txBody>
      </p:sp>
      <p:sp>
        <p:nvSpPr>
          <p:cNvPr id="114" name="Text 99"/>
          <p:cNvSpPr/>
          <p:nvPr/>
        </p:nvSpPr>
        <p:spPr>
          <a:xfrm>
            <a:off x="3408363" y="8120262"/>
            <a:ext cx="197631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Policies</a:t>
            </a:r>
            <a:endParaRPr lang="en-US" sz="990" dirty="0"/>
          </a:p>
        </p:txBody>
      </p:sp>
      <p:sp>
        <p:nvSpPr>
          <p:cNvPr id="115" name="Shape 100"/>
          <p:cNvSpPr/>
          <p:nvPr/>
        </p:nvSpPr>
        <p:spPr>
          <a:xfrm>
            <a:off x="5456437" y="7751961"/>
            <a:ext cx="207089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6" name="Text 101"/>
          <p:cNvSpPr/>
          <p:nvPr/>
        </p:nvSpPr>
        <p:spPr>
          <a:xfrm>
            <a:off x="5593557" y="7866261"/>
            <a:ext cx="1976319" cy="292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 M</a:t>
            </a:r>
            <a:endParaRPr lang="en-US" sz="1620" dirty="0"/>
          </a:p>
        </p:txBody>
      </p:sp>
      <p:sp>
        <p:nvSpPr>
          <p:cNvPr id="117" name="Text 102"/>
          <p:cNvSpPr/>
          <p:nvPr/>
        </p:nvSpPr>
        <p:spPr>
          <a:xfrm>
            <a:off x="5593557" y="8120262"/>
            <a:ext cx="197631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Evaluated per day</a:t>
            </a:r>
            <a:endParaRPr lang="en-US" sz="990" dirty="0"/>
          </a:p>
        </p:txBody>
      </p:sp>
      <p:sp>
        <p:nvSpPr>
          <p:cNvPr id="118" name="Shape 103"/>
          <p:cNvSpPr/>
          <p:nvPr/>
        </p:nvSpPr>
        <p:spPr>
          <a:xfrm>
            <a:off x="7641630" y="7751961"/>
            <a:ext cx="207089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9" name="Text 104"/>
          <p:cNvSpPr/>
          <p:nvPr/>
        </p:nvSpPr>
        <p:spPr>
          <a:xfrm>
            <a:off x="7778750" y="7866261"/>
            <a:ext cx="1976319" cy="292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8,910</a:t>
            </a:r>
            <a:endParaRPr lang="en-US" sz="1620" dirty="0"/>
          </a:p>
        </p:txBody>
      </p:sp>
      <p:sp>
        <p:nvSpPr>
          <p:cNvPr id="120" name="Text 105"/>
          <p:cNvSpPr/>
          <p:nvPr/>
        </p:nvSpPr>
        <p:spPr>
          <a:xfrm>
            <a:off x="7778750" y="8120262"/>
            <a:ext cx="197631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Denials logged</a:t>
            </a:r>
            <a:endParaRPr lang="en-US" sz="990" dirty="0"/>
          </a:p>
        </p:txBody>
      </p:sp>
      <p:sp>
        <p:nvSpPr>
          <p:cNvPr id="121" name="Shape 106"/>
          <p:cNvSpPr/>
          <p:nvPr/>
        </p:nvSpPr>
        <p:spPr>
          <a:xfrm>
            <a:off x="9826825" y="7751961"/>
            <a:ext cx="207089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2" name="Text 107"/>
          <p:cNvSpPr/>
          <p:nvPr/>
        </p:nvSpPr>
        <p:spPr>
          <a:xfrm>
            <a:off x="9963944" y="7866261"/>
            <a:ext cx="1976319" cy="292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620" dirty="0"/>
          </a:p>
        </p:txBody>
      </p:sp>
      <p:sp>
        <p:nvSpPr>
          <p:cNvPr id="123" name="Text 108"/>
          <p:cNvSpPr/>
          <p:nvPr/>
        </p:nvSpPr>
        <p:spPr>
          <a:xfrm>
            <a:off x="9963944" y="8120262"/>
            <a:ext cx="197631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Leakage incidents</a:t>
            </a:r>
            <a:endParaRPr lang="en-US" sz="990" dirty="0"/>
          </a:p>
        </p:txBody>
      </p:sp>
      <p:sp>
        <p:nvSpPr>
          <p:cNvPr id="124" name="Shape 109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5" name="Shape 110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6" name="Shape 111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27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28" name="Text 112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29" name="Text 113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30" name="Shape 114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1" name="Text 115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32" name="Shape 116"/>
          <p:cNvSpPr/>
          <p:nvPr/>
        </p:nvSpPr>
        <p:spPr>
          <a:xfrm>
            <a:off x="14527214" y="2612628"/>
            <a:ext cx="3339305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3" name="Text 117"/>
          <p:cNvSpPr/>
          <p:nvPr/>
        </p:nvSpPr>
        <p:spPr>
          <a:xfrm>
            <a:off x="14687234" y="2726928"/>
            <a:ext cx="31194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the staffing agent read salary data?</a:t>
            </a:r>
            <a:endParaRPr lang="en-US" sz="1260" dirty="0"/>
          </a:p>
        </p:txBody>
      </p:sp>
      <p:sp>
        <p:nvSpPr>
          <p:cNvPr id="134" name="Shape 118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5" name="Text 119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No. The agent inherits the project lead scope, which excludes compensation and health entirely.</a:t>
            </a:r>
            <a:endParaRPr lang="en-US" sz="1260" dirty="0"/>
          </a:p>
        </p:txBody>
      </p:sp>
      <p:sp>
        <p:nvSpPr>
          <p:cNvPr id="136" name="Shape 120"/>
          <p:cNvSpPr/>
          <p:nvPr/>
        </p:nvSpPr>
        <p:spPr>
          <a:xfrm>
            <a:off x="12608520" y="4055269"/>
            <a:ext cx="5258000" cy="1246981"/>
          </a:xfrm>
          <a:prstGeom prst="roundRect">
            <a:avLst>
              <a:gd name="adj" fmla="val 10999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7" name="Text 121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990" dirty="0"/>
          </a:p>
        </p:txBody>
      </p:sp>
      <p:sp>
        <p:nvSpPr>
          <p:cNvPr id="138" name="Shape 122"/>
          <p:cNvSpPr/>
          <p:nvPr/>
        </p:nvSpPr>
        <p:spPr>
          <a:xfrm>
            <a:off x="12781161" y="4494610"/>
            <a:ext cx="1561308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9" name="Text 123"/>
          <p:cNvSpPr/>
          <p:nvPr/>
        </p:nvSpPr>
        <p:spPr>
          <a:xfrm>
            <a:off x="12918282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620" dirty="0"/>
          </a:p>
        </p:txBody>
      </p:sp>
      <p:sp>
        <p:nvSpPr>
          <p:cNvPr id="140" name="Text 124"/>
          <p:cNvSpPr/>
          <p:nvPr/>
        </p:nvSpPr>
        <p:spPr>
          <a:xfrm>
            <a:off x="12918282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Policies hit</a:t>
            </a:r>
            <a:endParaRPr lang="en-US" sz="990" dirty="0"/>
          </a:p>
        </p:txBody>
      </p:sp>
      <p:sp>
        <p:nvSpPr>
          <p:cNvPr id="141" name="Shape 125"/>
          <p:cNvSpPr/>
          <p:nvPr/>
        </p:nvSpPr>
        <p:spPr>
          <a:xfrm>
            <a:off x="14456770" y="4494610"/>
            <a:ext cx="156150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2" name="Text 126"/>
          <p:cNvSpPr/>
          <p:nvPr/>
        </p:nvSpPr>
        <p:spPr>
          <a:xfrm>
            <a:off x="14593887" y="4608910"/>
            <a:ext cx="14159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20" dirty="0"/>
          </a:p>
        </p:txBody>
      </p:sp>
      <p:sp>
        <p:nvSpPr>
          <p:cNvPr id="143" name="Text 127"/>
          <p:cNvSpPr/>
          <p:nvPr/>
        </p:nvSpPr>
        <p:spPr>
          <a:xfrm>
            <a:off x="14593887" y="4862910"/>
            <a:ext cx="14159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Denied</a:t>
            </a:r>
            <a:endParaRPr lang="en-US" sz="990" dirty="0"/>
          </a:p>
        </p:txBody>
      </p:sp>
      <p:sp>
        <p:nvSpPr>
          <p:cNvPr id="144" name="Shape 128"/>
          <p:cNvSpPr/>
          <p:nvPr/>
        </p:nvSpPr>
        <p:spPr>
          <a:xfrm>
            <a:off x="16132575" y="4494610"/>
            <a:ext cx="1561305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5" name="Text 129"/>
          <p:cNvSpPr/>
          <p:nvPr/>
        </p:nvSpPr>
        <p:spPr>
          <a:xfrm>
            <a:off x="16269693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620" dirty="0"/>
          </a:p>
        </p:txBody>
      </p:sp>
      <p:sp>
        <p:nvSpPr>
          <p:cNvPr id="146" name="Text 130"/>
          <p:cNvSpPr/>
          <p:nvPr/>
        </p:nvSpPr>
        <p:spPr>
          <a:xfrm>
            <a:off x="16269693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Leakage</a:t>
            </a:r>
            <a:endParaRPr lang="en-US" sz="990" dirty="0"/>
          </a:p>
        </p:txBody>
      </p:sp>
      <p:sp>
        <p:nvSpPr>
          <p:cNvPr id="147" name="Shape 131"/>
          <p:cNvSpPr/>
          <p:nvPr/>
        </p:nvSpPr>
        <p:spPr>
          <a:xfrm>
            <a:off x="12608520" y="5439370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8" name="Text 132"/>
          <p:cNvSpPr/>
          <p:nvPr/>
        </p:nvSpPr>
        <p:spPr>
          <a:xfrm>
            <a:off x="12781161" y="5612011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policy decision</a:t>
            </a:r>
            <a:endParaRPr lang="en-US" sz="1260" dirty="0"/>
          </a:p>
        </p:txBody>
      </p:sp>
      <p:sp>
        <p:nvSpPr>
          <p:cNvPr id="149" name="Text 133"/>
          <p:cNvSpPr/>
          <p:nvPr/>
        </p:nvSpPr>
        <p:spPr>
          <a:xfrm>
            <a:off x="12781161" y="591681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</a:t>
            </a:r>
            <a:endParaRPr lang="en-US" sz="990" dirty="0"/>
          </a:p>
        </p:txBody>
      </p:sp>
      <p:sp>
        <p:nvSpPr>
          <p:cNvPr id="150" name="Shape 134"/>
          <p:cNvSpPr/>
          <p:nvPr/>
        </p:nvSpPr>
        <p:spPr>
          <a:xfrm>
            <a:off x="12781161" y="6114852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1" name="Text 135"/>
          <p:cNvSpPr/>
          <p:nvPr/>
        </p:nvSpPr>
        <p:spPr>
          <a:xfrm>
            <a:off x="12908161" y="6207562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inherits caller scope</a:t>
            </a:r>
            <a:endParaRPr lang="en-US" sz="1170" dirty="0"/>
          </a:p>
        </p:txBody>
      </p:sp>
      <p:sp>
        <p:nvSpPr>
          <p:cNvPr id="152" name="Text 136"/>
          <p:cNvSpPr/>
          <p:nvPr/>
        </p:nvSpPr>
        <p:spPr>
          <a:xfrm>
            <a:off x="12781161" y="659229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Applies to</a:t>
            </a:r>
            <a:endParaRPr lang="en-US" sz="990" dirty="0"/>
          </a:p>
        </p:txBody>
      </p:sp>
      <p:sp>
        <p:nvSpPr>
          <p:cNvPr id="153" name="Shape 137"/>
          <p:cNvSpPr/>
          <p:nvPr/>
        </p:nvSpPr>
        <p:spPr>
          <a:xfrm>
            <a:off x="12781161" y="679033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4" name="Text 138"/>
          <p:cNvSpPr/>
          <p:nvPr/>
        </p:nvSpPr>
        <p:spPr>
          <a:xfrm>
            <a:off x="12908161" y="688304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staffing agents</a:t>
            </a:r>
            <a:endParaRPr lang="en-US" sz="1170" dirty="0"/>
          </a:p>
        </p:txBody>
      </p:sp>
      <p:sp>
        <p:nvSpPr>
          <p:cNvPr id="155" name="Text 139"/>
          <p:cNvSpPr/>
          <p:nvPr/>
        </p:nvSpPr>
        <p:spPr>
          <a:xfrm>
            <a:off x="12781161" y="726777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990" dirty="0"/>
          </a:p>
        </p:txBody>
      </p:sp>
      <p:sp>
        <p:nvSpPr>
          <p:cNvPr id="156" name="Shape 140"/>
          <p:cNvSpPr/>
          <p:nvPr/>
        </p:nvSpPr>
        <p:spPr>
          <a:xfrm>
            <a:off x="12781161" y="746581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7" name="Text 141"/>
          <p:cNvSpPr/>
          <p:nvPr/>
        </p:nvSpPr>
        <p:spPr>
          <a:xfrm>
            <a:off x="12908161" y="755852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</a:t>
            </a:r>
            <a:endParaRPr lang="en-US" sz="1170" dirty="0"/>
          </a:p>
        </p:txBody>
      </p:sp>
      <p:sp>
        <p:nvSpPr>
          <p:cNvPr id="158" name="Shape 142"/>
          <p:cNvSpPr/>
          <p:nvPr/>
        </p:nvSpPr>
        <p:spPr>
          <a:xfrm>
            <a:off x="12781161" y="7966075"/>
            <a:ext cx="1579762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9" name="Text 143"/>
          <p:cNvSpPr/>
          <p:nvPr/>
        </p:nvSpPr>
        <p:spPr>
          <a:xfrm>
            <a:off x="12941181" y="8046085"/>
            <a:ext cx="1335922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policy set</a:t>
            </a:r>
            <a:endParaRPr lang="en-US" sz="1170" dirty="0"/>
          </a:p>
        </p:txBody>
      </p:sp>
      <p:sp>
        <p:nvSpPr>
          <p:cNvPr id="160" name="Shape 144"/>
          <p:cNvSpPr/>
          <p:nvPr/>
        </p:nvSpPr>
        <p:spPr>
          <a:xfrm>
            <a:off x="14452204" y="7966075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1" name="Text 145"/>
          <p:cNvSpPr/>
          <p:nvPr/>
        </p:nvSpPr>
        <p:spPr>
          <a:xfrm>
            <a:off x="14624924" y="8058785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62" name="Shape 146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3" name="Shape 147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64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65" name="Text 148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67" name="Picture 166" descr="Android Apps by Hello Clever on Google Play">
            <a:extLst>
              <a:ext uri="{FF2B5EF4-FFF2-40B4-BE49-F238E27FC236}">
                <a16:creationId xmlns:a16="http://schemas.microsoft.com/office/drawing/2014/main" id="{24CBFF2B-D9F5-F7CF-C65A-07215DCB58C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sp>
        <p:nvSpPr>
          <p:cNvPr id="23" name="Shape 17"/>
          <p:cNvSpPr/>
          <p:nvPr/>
        </p:nvSpPr>
        <p:spPr>
          <a:xfrm>
            <a:off x="0" y="1657945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4" name="Shape 18"/>
          <p:cNvSpPr/>
          <p:nvPr/>
        </p:nvSpPr>
        <p:spPr>
          <a:xfrm>
            <a:off x="0" y="1657945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2522" y="1763117"/>
            <a:ext cx="94972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› Context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4837768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model actually receives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507567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634567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767375" y="1183283"/>
            <a:ext cx="1200746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940095" y="1264563"/>
            <a:ext cx="931506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policy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4417219" cy="8133755"/>
          </a:xfrm>
          <a:prstGeom prst="roundRect">
            <a:avLst>
              <a:gd name="adj" fmla="val 2070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265408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record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265408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Stored, encrypted, access-controlled</a:t>
            </a:r>
            <a:endParaRPr lang="en-US" sz="1080" dirty="0"/>
          </a:p>
        </p:txBody>
      </p:sp>
      <p:sp>
        <p:nvSpPr>
          <p:cNvPr id="54" name="Text 39"/>
          <p:cNvSpPr/>
          <p:nvPr/>
        </p:nvSpPr>
        <p:spPr>
          <a:xfrm>
            <a:off x="3294063" y="2683867"/>
            <a:ext cx="4100076" cy="1798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50"/>
              </a:lnSpc>
              <a:buNone/>
            </a:pPr>
            <a:r>
              <a:rPr lang="en-US" sz="1170" dirty="0">
                <a:solidFill>
                  <a:srgbClr val="3E48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{"employee":"E-4471","name":"R. Dubois","iban":"CH93 0076 2011 6238 5295 7",</a:t>
            </a:r>
            <a:endParaRPr lang="en-US" sz="1170" dirty="0"/>
          </a:p>
          <a:p>
            <a:pPr marL="0" indent="0" algn="l">
              <a:lnSpc>
                <a:spcPct val="123750"/>
              </a:lnSpc>
              <a:buNone/>
            </a:pPr>
            <a:r>
              <a:rPr lang="en-US" sz="1170" dirty="0">
                <a:solidFill>
                  <a:srgbClr val="3E48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"diagnosis":"burnout, 4 weeks","salary_chf":142000,</a:t>
            </a:r>
            <a:endParaRPr lang="en-US" sz="1170" dirty="0"/>
          </a:p>
          <a:p>
            <a:pPr marL="0" indent="0" algn="l">
              <a:lnSpc>
                <a:spcPct val="123750"/>
              </a:lnSpc>
              <a:buNone/>
            </a:pPr>
            <a:r>
              <a:rPr lang="en-US" sz="1170" dirty="0">
                <a:solidFill>
                  <a:srgbClr val="3E48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"skills":["Kubernetes","Terraform","Azure"],"available_from":"2026-09-01"}</a:t>
            </a:r>
            <a:endParaRPr lang="en-US" sz="1170" dirty="0"/>
          </a:p>
        </p:txBody>
      </p:sp>
      <p:sp>
        <p:nvSpPr>
          <p:cNvPr id="55" name="Shape 40"/>
          <p:cNvSpPr/>
          <p:nvPr/>
        </p:nvSpPr>
        <p:spPr>
          <a:xfrm>
            <a:off x="7675761" y="1924645"/>
            <a:ext cx="4417418" cy="8133755"/>
          </a:xfrm>
          <a:prstGeom prst="roundRect">
            <a:avLst>
              <a:gd name="adj" fmla="val 2070"/>
            </a:avLst>
          </a:prstGeom>
          <a:solidFill>
            <a:srgbClr val="FFFFFF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6" name="Text 41"/>
          <p:cNvSpPr/>
          <p:nvPr/>
        </p:nvSpPr>
        <p:spPr>
          <a:xfrm>
            <a:off x="7894043" y="2142927"/>
            <a:ext cx="418139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context after segregation</a:t>
            </a:r>
            <a:endParaRPr lang="en-US" sz="1440" dirty="0"/>
          </a:p>
        </p:txBody>
      </p:sp>
      <p:sp>
        <p:nvSpPr>
          <p:cNvPr id="57" name="Text 42"/>
          <p:cNvSpPr/>
          <p:nvPr/>
        </p:nvSpPr>
        <p:spPr>
          <a:xfrm>
            <a:off x="7894043" y="2381647"/>
            <a:ext cx="418139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Requested by the staffing agent on behalf of a project lead</a:t>
            </a:r>
            <a:endParaRPr lang="en-US" sz="1080" dirty="0"/>
          </a:p>
        </p:txBody>
      </p:sp>
      <p:sp>
        <p:nvSpPr>
          <p:cNvPr id="58" name="Text 43"/>
          <p:cNvSpPr/>
          <p:nvPr/>
        </p:nvSpPr>
        <p:spPr>
          <a:xfrm>
            <a:off x="7894043" y="2683867"/>
            <a:ext cx="4100282" cy="1798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5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{"employee":"E-4471","name":"[REDACTED]","iban":"[REDACTED]",</a:t>
            </a:r>
            <a:endParaRPr lang="en-US" sz="1170" dirty="0"/>
          </a:p>
          <a:p>
            <a:pPr marL="0" indent="0" algn="l">
              <a:lnSpc>
                <a:spcPct val="12375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"diagnosis":"[SPECIAL CATEGORY — WITHHELD]","salary_band":"B4",</a:t>
            </a:r>
            <a:endParaRPr lang="en-US" sz="1170" dirty="0"/>
          </a:p>
          <a:p>
            <a:pPr marL="0" indent="0" algn="l">
              <a:lnSpc>
                <a:spcPct val="12375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"skills":["Kubernetes","Terraform","Azure"],"available_from":"2026-09-01"}</a:t>
            </a:r>
            <a:endParaRPr lang="en-US" sz="1170" dirty="0"/>
          </a:p>
        </p:txBody>
      </p:sp>
      <p:sp>
        <p:nvSpPr>
          <p:cNvPr id="59" name="Shape 44"/>
          <p:cNvSpPr/>
          <p:nvPr/>
        </p:nvSpPr>
        <p:spPr>
          <a:xfrm>
            <a:off x="7894043" y="4580930"/>
            <a:ext cx="1220391" cy="411560"/>
          </a:xfrm>
          <a:prstGeom prst="roundRect">
            <a:avLst>
              <a:gd name="adj" fmla="val 50000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0" name="Text 45"/>
          <p:cNvSpPr/>
          <p:nvPr/>
        </p:nvSpPr>
        <p:spPr>
          <a:xfrm>
            <a:off x="8008343" y="4603790"/>
            <a:ext cx="1067991" cy="40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fields withheld</a:t>
            </a:r>
            <a:endParaRPr lang="en-US" sz="1080" dirty="0"/>
          </a:p>
        </p:txBody>
      </p:sp>
      <p:sp>
        <p:nvSpPr>
          <p:cNvPr id="61" name="Shape 46"/>
          <p:cNvSpPr/>
          <p:nvPr/>
        </p:nvSpPr>
        <p:spPr>
          <a:xfrm>
            <a:off x="9205715" y="4580930"/>
            <a:ext cx="1313656" cy="41156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Text 47"/>
          <p:cNvSpPr/>
          <p:nvPr/>
        </p:nvSpPr>
        <p:spPr>
          <a:xfrm>
            <a:off x="9320015" y="4603790"/>
            <a:ext cx="1161256" cy="40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field generalised</a:t>
            </a:r>
            <a:endParaRPr lang="en-US" sz="1080" dirty="0"/>
          </a:p>
        </p:txBody>
      </p:sp>
      <p:sp>
        <p:nvSpPr>
          <p:cNvPr id="63" name="Shape 48"/>
          <p:cNvSpPr/>
          <p:nvPr/>
        </p:nvSpPr>
        <p:spPr>
          <a:xfrm>
            <a:off x="10610652" y="4580930"/>
            <a:ext cx="1264246" cy="41156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4" name="Text 49"/>
          <p:cNvSpPr/>
          <p:nvPr/>
        </p:nvSpPr>
        <p:spPr>
          <a:xfrm>
            <a:off x="10724952" y="4603790"/>
            <a:ext cx="1111846" cy="40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staffing</a:t>
            </a:r>
            <a:endParaRPr lang="en-US" sz="1080" dirty="0"/>
          </a:p>
        </p:txBody>
      </p:sp>
      <p:sp>
        <p:nvSpPr>
          <p:cNvPr id="65" name="Shape 50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66" name="Shape 51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7" name="Shape 52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8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69" name="Text 53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70" name="Text 54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71" name="Shape 55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2" name="Text 56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73" name="Shape 57"/>
          <p:cNvSpPr/>
          <p:nvPr/>
        </p:nvSpPr>
        <p:spPr>
          <a:xfrm>
            <a:off x="14139864" y="2612628"/>
            <a:ext cx="3726657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4" name="Text 58"/>
          <p:cNvSpPr/>
          <p:nvPr/>
        </p:nvSpPr>
        <p:spPr>
          <a:xfrm>
            <a:off x="14299884" y="2726928"/>
            <a:ext cx="351841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exactly was withheld from this answer?</a:t>
            </a:r>
            <a:endParaRPr lang="en-US" sz="1260" dirty="0"/>
          </a:p>
        </p:txBody>
      </p:sp>
      <p:sp>
        <p:nvSpPr>
          <p:cNvPr id="75" name="Shape 59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6" name="Text 60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fields removed, one generalised to a band. The record is kept for data minimisation evidence.</a:t>
            </a:r>
            <a:endParaRPr lang="en-US" sz="1260" dirty="0"/>
          </a:p>
        </p:txBody>
      </p:sp>
      <p:sp>
        <p:nvSpPr>
          <p:cNvPr id="77" name="Shape 61"/>
          <p:cNvSpPr/>
          <p:nvPr/>
        </p:nvSpPr>
        <p:spPr>
          <a:xfrm>
            <a:off x="12608520" y="4055269"/>
            <a:ext cx="5258000" cy="1712714"/>
          </a:xfrm>
          <a:prstGeom prst="roundRect">
            <a:avLst>
              <a:gd name="adj" fmla="val 8008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8" name="Text 62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OF RECORD</a:t>
            </a:r>
            <a:endParaRPr lang="en-US" sz="990" dirty="0"/>
          </a:p>
        </p:txBody>
      </p:sp>
      <p:sp>
        <p:nvSpPr>
          <p:cNvPr id="79" name="Text 63"/>
          <p:cNvSpPr/>
          <p:nvPr/>
        </p:nvSpPr>
        <p:spPr>
          <a:xfrm>
            <a:off x="12781161" y="4494610"/>
            <a:ext cx="109120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Passed through</a:t>
            </a:r>
            <a:endParaRPr lang="en-US" sz="1080" dirty="0"/>
          </a:p>
        </p:txBody>
      </p:sp>
      <p:sp>
        <p:nvSpPr>
          <p:cNvPr id="80" name="Text 64"/>
          <p:cNvSpPr/>
          <p:nvPr/>
        </p:nvSpPr>
        <p:spPr>
          <a:xfrm>
            <a:off x="17520841" y="4494610"/>
            <a:ext cx="24923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1080" dirty="0"/>
          </a:p>
        </p:txBody>
      </p:sp>
      <p:sp>
        <p:nvSpPr>
          <p:cNvPr id="81" name="Shape 65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2" name="Shape 66"/>
          <p:cNvSpPr/>
          <p:nvPr/>
        </p:nvSpPr>
        <p:spPr>
          <a:xfrm>
            <a:off x="12781161" y="4716859"/>
            <a:ext cx="3045819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3" name="Text 67"/>
          <p:cNvSpPr/>
          <p:nvPr/>
        </p:nvSpPr>
        <p:spPr>
          <a:xfrm>
            <a:off x="12781161" y="4899621"/>
            <a:ext cx="85030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Generalised</a:t>
            </a:r>
            <a:endParaRPr lang="en-US" sz="1080" dirty="0"/>
          </a:p>
        </p:txBody>
      </p:sp>
      <p:sp>
        <p:nvSpPr>
          <p:cNvPr id="84" name="Text 68"/>
          <p:cNvSpPr/>
          <p:nvPr/>
        </p:nvSpPr>
        <p:spPr>
          <a:xfrm>
            <a:off x="17548622" y="4899621"/>
            <a:ext cx="2214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080" dirty="0"/>
          </a:p>
        </p:txBody>
      </p:sp>
      <p:sp>
        <p:nvSpPr>
          <p:cNvPr id="85" name="Shape 69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6" name="Shape 70"/>
          <p:cNvSpPr/>
          <p:nvPr/>
        </p:nvSpPr>
        <p:spPr>
          <a:xfrm>
            <a:off x="12781161" y="5121871"/>
            <a:ext cx="638573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7" name="Text 71"/>
          <p:cNvSpPr/>
          <p:nvPr/>
        </p:nvSpPr>
        <p:spPr>
          <a:xfrm>
            <a:off x="12781161" y="5304631"/>
            <a:ext cx="64829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Withheld</a:t>
            </a:r>
            <a:endParaRPr lang="en-US" sz="1080" dirty="0"/>
          </a:p>
        </p:txBody>
      </p:sp>
      <p:sp>
        <p:nvSpPr>
          <p:cNvPr id="88" name="Text 72"/>
          <p:cNvSpPr/>
          <p:nvPr/>
        </p:nvSpPr>
        <p:spPr>
          <a:xfrm>
            <a:off x="17524414" y="5304631"/>
            <a:ext cx="24566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080" dirty="0"/>
          </a:p>
        </p:txBody>
      </p:sp>
      <p:sp>
        <p:nvSpPr>
          <p:cNvPr id="89" name="Shape 73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0" name="Shape 74"/>
          <p:cNvSpPr/>
          <p:nvPr/>
        </p:nvSpPr>
        <p:spPr>
          <a:xfrm>
            <a:off x="12781161" y="5526882"/>
            <a:ext cx="1228132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1" name="Shape 75"/>
          <p:cNvSpPr/>
          <p:nvPr/>
        </p:nvSpPr>
        <p:spPr>
          <a:xfrm>
            <a:off x="12608520" y="5905104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2" name="Text 76"/>
          <p:cNvSpPr/>
          <p:nvPr/>
        </p:nvSpPr>
        <p:spPr>
          <a:xfrm>
            <a:off x="12781161" y="6077744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minimisation record</a:t>
            </a:r>
            <a:endParaRPr lang="en-US" sz="1260" dirty="0"/>
          </a:p>
        </p:txBody>
      </p:sp>
      <p:sp>
        <p:nvSpPr>
          <p:cNvPr id="93" name="Text 77"/>
          <p:cNvSpPr/>
          <p:nvPr/>
        </p:nvSpPr>
        <p:spPr>
          <a:xfrm>
            <a:off x="12781161" y="638254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</a:t>
            </a:r>
            <a:endParaRPr lang="en-US" sz="990" dirty="0"/>
          </a:p>
        </p:txBody>
      </p:sp>
      <p:sp>
        <p:nvSpPr>
          <p:cNvPr id="94" name="Shape 78"/>
          <p:cNvSpPr/>
          <p:nvPr/>
        </p:nvSpPr>
        <p:spPr>
          <a:xfrm>
            <a:off x="12781161" y="658058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5" name="Text 79"/>
          <p:cNvSpPr/>
          <p:nvPr/>
        </p:nvSpPr>
        <p:spPr>
          <a:xfrm>
            <a:off x="12908161" y="667329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 proposal</a:t>
            </a:r>
            <a:endParaRPr lang="en-US" sz="1170" dirty="0"/>
          </a:p>
        </p:txBody>
      </p:sp>
      <p:sp>
        <p:nvSpPr>
          <p:cNvPr id="96" name="Text 80"/>
          <p:cNvSpPr/>
          <p:nvPr/>
        </p:nvSpPr>
        <p:spPr>
          <a:xfrm>
            <a:off x="12781161" y="7058026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basis</a:t>
            </a:r>
            <a:endParaRPr lang="en-US" sz="990" dirty="0"/>
          </a:p>
        </p:txBody>
      </p:sp>
      <p:sp>
        <p:nvSpPr>
          <p:cNvPr id="97" name="Shape 81"/>
          <p:cNvSpPr/>
          <p:nvPr/>
        </p:nvSpPr>
        <p:spPr>
          <a:xfrm>
            <a:off x="12781161" y="725606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8" name="Text 82"/>
          <p:cNvSpPr/>
          <p:nvPr/>
        </p:nvSpPr>
        <p:spPr>
          <a:xfrm>
            <a:off x="12908161" y="734877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Legitimate interest</a:t>
            </a:r>
            <a:endParaRPr lang="en-US" sz="1170" dirty="0"/>
          </a:p>
        </p:txBody>
      </p:sp>
      <p:sp>
        <p:nvSpPr>
          <p:cNvPr id="99" name="Text 83"/>
          <p:cNvSpPr/>
          <p:nvPr/>
        </p:nvSpPr>
        <p:spPr>
          <a:xfrm>
            <a:off x="12781161" y="7733507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</a:t>
            </a:r>
            <a:endParaRPr lang="en-US" sz="990" dirty="0"/>
          </a:p>
        </p:txBody>
      </p:sp>
      <p:sp>
        <p:nvSpPr>
          <p:cNvPr id="100" name="Shape 84"/>
          <p:cNvSpPr/>
          <p:nvPr/>
        </p:nvSpPr>
        <p:spPr>
          <a:xfrm>
            <a:off x="12781161" y="7931547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1" name="Text 85"/>
          <p:cNvSpPr/>
          <p:nvPr/>
        </p:nvSpPr>
        <p:spPr>
          <a:xfrm>
            <a:off x="12908161" y="8024257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months</a:t>
            </a:r>
            <a:endParaRPr lang="en-US" sz="1170" dirty="0"/>
          </a:p>
        </p:txBody>
      </p:sp>
      <p:sp>
        <p:nvSpPr>
          <p:cNvPr id="102" name="Shape 86"/>
          <p:cNvSpPr/>
          <p:nvPr/>
        </p:nvSpPr>
        <p:spPr>
          <a:xfrm>
            <a:off x="12781161" y="8431809"/>
            <a:ext cx="1559125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3" name="Text 87"/>
          <p:cNvSpPr/>
          <p:nvPr/>
        </p:nvSpPr>
        <p:spPr>
          <a:xfrm>
            <a:off x="12941181" y="8511819"/>
            <a:ext cx="1315285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audit trail</a:t>
            </a:r>
            <a:endParaRPr lang="en-US" sz="1170" dirty="0"/>
          </a:p>
        </p:txBody>
      </p:sp>
      <p:sp>
        <p:nvSpPr>
          <p:cNvPr id="104" name="Shape 88"/>
          <p:cNvSpPr/>
          <p:nvPr/>
        </p:nvSpPr>
        <p:spPr>
          <a:xfrm>
            <a:off x="14431567" y="8431809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5" name="Text 89"/>
          <p:cNvSpPr/>
          <p:nvPr/>
        </p:nvSpPr>
        <p:spPr>
          <a:xfrm>
            <a:off x="14604287" y="8524519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06" name="Shape 90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7" name="Shape 91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8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09" name="Text 92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11" name="Picture 110" descr="Android Apps by Hello Clever on Google Play">
            <a:extLst>
              <a:ext uri="{FF2B5EF4-FFF2-40B4-BE49-F238E27FC236}">
                <a16:creationId xmlns:a16="http://schemas.microsoft.com/office/drawing/2014/main" id="{469D9C5F-DD34-8788-2E58-017BDAAB312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sp>
        <p:nvSpPr>
          <p:cNvPr id="25" name="Shape 18"/>
          <p:cNvSpPr/>
          <p:nvPr/>
        </p:nvSpPr>
        <p:spPr>
          <a:xfrm>
            <a:off x="0" y="2046287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6" name="Shape 19"/>
          <p:cNvSpPr/>
          <p:nvPr/>
        </p:nvSpPr>
        <p:spPr>
          <a:xfrm>
            <a:off x="0" y="2046287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2522" y="2151459"/>
            <a:ext cx="93741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4841478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business applications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300399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427399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560207" y="1183283"/>
            <a:ext cx="1407914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732927" y="1264563"/>
            <a:ext cx="1138674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connector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2151460" cy="1031081"/>
          </a:xfrm>
          <a:prstGeom prst="roundRect">
            <a:avLst>
              <a:gd name="adj" fmla="val 8868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Shape 37"/>
          <p:cNvSpPr/>
          <p:nvPr/>
        </p:nvSpPr>
        <p:spPr>
          <a:xfrm>
            <a:off x="3248422" y="2245916"/>
            <a:ext cx="234355" cy="388541"/>
          </a:xfrm>
          <a:prstGeom prst="roundRect">
            <a:avLst>
              <a:gd name="adj" fmla="val 19509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3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68464" y="2342952"/>
            <a:ext cx="194270" cy="194270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3619897" y="2097286"/>
            <a:ext cx="118169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Teams</a:t>
            </a:r>
            <a:endParaRPr lang="en-US" sz="1260" dirty="0"/>
          </a:p>
        </p:txBody>
      </p:sp>
      <p:sp>
        <p:nvSpPr>
          <p:cNvPr id="55" name="Text 39"/>
          <p:cNvSpPr/>
          <p:nvPr/>
        </p:nvSpPr>
        <p:spPr>
          <a:xfrm>
            <a:off x="3619897" y="2287786"/>
            <a:ext cx="118169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Assistant surface, approvals</a:t>
            </a:r>
            <a:endParaRPr lang="en-US" sz="1080" dirty="0"/>
          </a:p>
        </p:txBody>
      </p:sp>
      <p:sp>
        <p:nvSpPr>
          <p:cNvPr id="56" name="Shape 40"/>
          <p:cNvSpPr/>
          <p:nvPr/>
        </p:nvSpPr>
        <p:spPr>
          <a:xfrm>
            <a:off x="4999633" y="2394545"/>
            <a:ext cx="54967" cy="91281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7" name="Shape 41"/>
          <p:cNvSpPr/>
          <p:nvPr/>
        </p:nvSpPr>
        <p:spPr>
          <a:xfrm>
            <a:off x="5364361" y="1924645"/>
            <a:ext cx="2151460" cy="1031081"/>
          </a:xfrm>
          <a:prstGeom prst="roundRect">
            <a:avLst>
              <a:gd name="adj" fmla="val 8868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8" name="Shape 42"/>
          <p:cNvSpPr/>
          <p:nvPr/>
        </p:nvSpPr>
        <p:spPr>
          <a:xfrm>
            <a:off x="5537002" y="2245916"/>
            <a:ext cx="209550" cy="388541"/>
          </a:xfrm>
          <a:prstGeom prst="roundRect">
            <a:avLst>
              <a:gd name="adj" fmla="val 21818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9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44542" y="2342952"/>
            <a:ext cx="194270" cy="194270"/>
          </a:xfrm>
          <a:prstGeom prst="rect">
            <a:avLst/>
          </a:prstGeom>
        </p:spPr>
      </p:pic>
      <p:sp>
        <p:nvSpPr>
          <p:cNvPr id="60" name="Text 43"/>
          <p:cNvSpPr/>
          <p:nvPr/>
        </p:nvSpPr>
        <p:spPr>
          <a:xfrm>
            <a:off x="5883672" y="2097286"/>
            <a:ext cx="121225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365 / Viva</a:t>
            </a:r>
            <a:endParaRPr lang="en-US" sz="1260" dirty="0"/>
          </a:p>
        </p:txBody>
      </p:sp>
      <p:sp>
        <p:nvSpPr>
          <p:cNvPr id="61" name="Text 44"/>
          <p:cNvSpPr/>
          <p:nvPr/>
        </p:nvSpPr>
        <p:spPr>
          <a:xfrm>
            <a:off x="5883672" y="2287786"/>
            <a:ext cx="121225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workplace, engagement</a:t>
            </a:r>
            <a:endParaRPr lang="en-US" sz="1080" dirty="0"/>
          </a:p>
        </p:txBody>
      </p:sp>
      <p:sp>
        <p:nvSpPr>
          <p:cNvPr id="62" name="Shape 45"/>
          <p:cNvSpPr/>
          <p:nvPr/>
        </p:nvSpPr>
        <p:spPr>
          <a:xfrm>
            <a:off x="7293968" y="2394545"/>
            <a:ext cx="49212" cy="91281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3" name="Shape 46"/>
          <p:cNvSpPr/>
          <p:nvPr/>
        </p:nvSpPr>
        <p:spPr>
          <a:xfrm>
            <a:off x="7652941" y="1924645"/>
            <a:ext cx="2151460" cy="1031081"/>
          </a:xfrm>
          <a:prstGeom prst="roundRect">
            <a:avLst>
              <a:gd name="adj" fmla="val 8868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4" name="Shape 47"/>
          <p:cNvSpPr/>
          <p:nvPr/>
        </p:nvSpPr>
        <p:spPr>
          <a:xfrm>
            <a:off x="7825582" y="2245916"/>
            <a:ext cx="238324" cy="388541"/>
          </a:xfrm>
          <a:prstGeom prst="roundRect">
            <a:avLst>
              <a:gd name="adj" fmla="val 19184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5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847609" y="2342952"/>
            <a:ext cx="194270" cy="194270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8201026" y="2097286"/>
            <a:ext cx="117673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Workday HRM</a:t>
            </a:r>
            <a:endParaRPr lang="en-US" sz="1260" dirty="0"/>
          </a:p>
        </p:txBody>
      </p:sp>
      <p:sp>
        <p:nvSpPr>
          <p:cNvPr id="67" name="Text 49"/>
          <p:cNvSpPr/>
          <p:nvPr/>
        </p:nvSpPr>
        <p:spPr>
          <a:xfrm>
            <a:off x="8201026" y="2287786"/>
            <a:ext cx="117673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master, contracts</a:t>
            </a:r>
            <a:endParaRPr lang="en-US" sz="1080" dirty="0"/>
          </a:p>
        </p:txBody>
      </p:sp>
      <p:sp>
        <p:nvSpPr>
          <p:cNvPr id="68" name="Shape 50"/>
          <p:cNvSpPr/>
          <p:nvPr/>
        </p:nvSpPr>
        <p:spPr>
          <a:xfrm>
            <a:off x="9575801" y="2394545"/>
            <a:ext cx="55959" cy="91281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9" name="Shape 51"/>
          <p:cNvSpPr/>
          <p:nvPr/>
        </p:nvSpPr>
        <p:spPr>
          <a:xfrm>
            <a:off x="9941521" y="1924645"/>
            <a:ext cx="2151659" cy="1031081"/>
          </a:xfrm>
          <a:prstGeom prst="roundRect">
            <a:avLst>
              <a:gd name="adj" fmla="val 8868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0" name="Shape 52"/>
          <p:cNvSpPr/>
          <p:nvPr/>
        </p:nvSpPr>
        <p:spPr>
          <a:xfrm>
            <a:off x="10114162" y="2245916"/>
            <a:ext cx="329208" cy="388541"/>
          </a:xfrm>
          <a:prstGeom prst="roundRect">
            <a:avLst>
              <a:gd name="adj" fmla="val 13888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71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81631" y="2342952"/>
            <a:ext cx="194270" cy="194270"/>
          </a:xfrm>
          <a:prstGeom prst="rect">
            <a:avLst/>
          </a:prstGeom>
        </p:spPr>
      </p:pic>
      <p:sp>
        <p:nvSpPr>
          <p:cNvPr id="72" name="Text 53"/>
          <p:cNvSpPr/>
          <p:nvPr/>
        </p:nvSpPr>
        <p:spPr>
          <a:xfrm>
            <a:off x="10580490" y="2179836"/>
            <a:ext cx="10646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Jira</a:t>
            </a:r>
            <a:endParaRPr lang="en-US" sz="1260" dirty="0"/>
          </a:p>
        </p:txBody>
      </p:sp>
      <p:sp>
        <p:nvSpPr>
          <p:cNvPr id="73" name="Text 54"/>
          <p:cNvSpPr/>
          <p:nvPr/>
        </p:nvSpPr>
        <p:spPr>
          <a:xfrm>
            <a:off x="10580490" y="2370336"/>
            <a:ext cx="1064617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workload</a:t>
            </a:r>
            <a:endParaRPr lang="en-US" sz="1080" dirty="0"/>
          </a:p>
        </p:txBody>
      </p:sp>
      <p:sp>
        <p:nvSpPr>
          <p:cNvPr id="74" name="Shape 55"/>
          <p:cNvSpPr/>
          <p:nvPr/>
        </p:nvSpPr>
        <p:spPr>
          <a:xfrm>
            <a:off x="11843148" y="2394545"/>
            <a:ext cx="77391" cy="91281"/>
          </a:xfrm>
          <a:prstGeom prst="ellipse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5" name="Shape 56"/>
          <p:cNvSpPr/>
          <p:nvPr/>
        </p:nvSpPr>
        <p:spPr>
          <a:xfrm>
            <a:off x="3075781" y="3092847"/>
            <a:ext cx="2151460" cy="865981"/>
          </a:xfrm>
          <a:prstGeom prst="roundRect">
            <a:avLst>
              <a:gd name="adj" fmla="val 10559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6" name="Shape 57"/>
          <p:cNvSpPr/>
          <p:nvPr/>
        </p:nvSpPr>
        <p:spPr>
          <a:xfrm>
            <a:off x="3248422" y="3331568"/>
            <a:ext cx="243086" cy="388541"/>
          </a:xfrm>
          <a:prstGeom prst="roundRect">
            <a:avLst>
              <a:gd name="adj" fmla="val 18808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77" name="Image 1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72830" y="3428603"/>
            <a:ext cx="194270" cy="194270"/>
          </a:xfrm>
          <a:prstGeom prst="rect">
            <a:avLst/>
          </a:prstGeom>
        </p:spPr>
      </p:pic>
      <p:sp>
        <p:nvSpPr>
          <p:cNvPr id="78" name="Text 58"/>
          <p:cNvSpPr/>
          <p:nvPr/>
        </p:nvSpPr>
        <p:spPr>
          <a:xfrm>
            <a:off x="3628628" y="3265488"/>
            <a:ext cx="117078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DevOps</a:t>
            </a:r>
            <a:endParaRPr lang="en-US" sz="1260" dirty="0"/>
          </a:p>
        </p:txBody>
      </p:sp>
      <p:sp>
        <p:nvSpPr>
          <p:cNvPr id="79" name="Text 59"/>
          <p:cNvSpPr/>
          <p:nvPr/>
        </p:nvSpPr>
        <p:spPr>
          <a:xfrm>
            <a:off x="3628628" y="3455988"/>
            <a:ext cx="117078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and capacity signals</a:t>
            </a:r>
            <a:endParaRPr lang="en-US" sz="1080" dirty="0"/>
          </a:p>
        </p:txBody>
      </p:sp>
      <p:sp>
        <p:nvSpPr>
          <p:cNvPr id="80" name="Shape 60"/>
          <p:cNvSpPr/>
          <p:nvPr/>
        </p:nvSpPr>
        <p:spPr>
          <a:xfrm>
            <a:off x="4997450" y="3480197"/>
            <a:ext cx="57150" cy="91281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1" name="Shape 61"/>
          <p:cNvSpPr/>
          <p:nvPr/>
        </p:nvSpPr>
        <p:spPr>
          <a:xfrm>
            <a:off x="5364361" y="3092847"/>
            <a:ext cx="2151460" cy="865981"/>
          </a:xfrm>
          <a:prstGeom prst="roundRect">
            <a:avLst>
              <a:gd name="adj" fmla="val 10559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2" name="Shape 62"/>
          <p:cNvSpPr/>
          <p:nvPr/>
        </p:nvSpPr>
        <p:spPr>
          <a:xfrm>
            <a:off x="5537002" y="3331568"/>
            <a:ext cx="292298" cy="388541"/>
          </a:xfrm>
          <a:prstGeom prst="roundRect">
            <a:avLst>
              <a:gd name="adj" fmla="val 15642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83" name="Image 1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86016" y="3428603"/>
            <a:ext cx="194270" cy="194270"/>
          </a:xfrm>
          <a:prstGeom prst="rect">
            <a:avLst/>
          </a:prstGeom>
        </p:spPr>
      </p:pic>
      <p:sp>
        <p:nvSpPr>
          <p:cNvPr id="84" name="Text 63"/>
          <p:cNvSpPr/>
          <p:nvPr/>
        </p:nvSpPr>
        <p:spPr>
          <a:xfrm>
            <a:off x="5966421" y="3348038"/>
            <a:ext cx="111005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Enterprise</a:t>
            </a:r>
            <a:endParaRPr lang="en-US" sz="1260" dirty="0"/>
          </a:p>
        </p:txBody>
      </p:sp>
      <p:sp>
        <p:nvSpPr>
          <p:cNvPr id="85" name="Text 64"/>
          <p:cNvSpPr/>
          <p:nvPr/>
        </p:nvSpPr>
        <p:spPr>
          <a:xfrm>
            <a:off x="5966421" y="3538538"/>
            <a:ext cx="111005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evidence</a:t>
            </a:r>
            <a:endParaRPr lang="en-US" sz="1080" dirty="0"/>
          </a:p>
        </p:txBody>
      </p:sp>
      <p:sp>
        <p:nvSpPr>
          <p:cNvPr id="86" name="Shape 65"/>
          <p:cNvSpPr/>
          <p:nvPr/>
        </p:nvSpPr>
        <p:spPr>
          <a:xfrm>
            <a:off x="7274521" y="3480197"/>
            <a:ext cx="68659" cy="91281"/>
          </a:xfrm>
          <a:prstGeom prst="ellipse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7" name="Shape 66"/>
          <p:cNvSpPr/>
          <p:nvPr/>
        </p:nvSpPr>
        <p:spPr>
          <a:xfrm>
            <a:off x="7652941" y="3092847"/>
            <a:ext cx="2151460" cy="865981"/>
          </a:xfrm>
          <a:prstGeom prst="roundRect">
            <a:avLst>
              <a:gd name="adj" fmla="val 10559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8" name="Shape 67"/>
          <p:cNvSpPr/>
          <p:nvPr/>
        </p:nvSpPr>
        <p:spPr>
          <a:xfrm>
            <a:off x="7825582" y="3331568"/>
            <a:ext cx="253405" cy="388541"/>
          </a:xfrm>
          <a:prstGeom prst="roundRect">
            <a:avLst>
              <a:gd name="adj" fmla="val 18042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89" name="Image 1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855149" y="3428603"/>
            <a:ext cx="194270" cy="194270"/>
          </a:xfrm>
          <a:prstGeom prst="rect">
            <a:avLst/>
          </a:prstGeom>
        </p:spPr>
      </p:pic>
      <p:sp>
        <p:nvSpPr>
          <p:cNvPr id="90" name="Text 68"/>
          <p:cNvSpPr/>
          <p:nvPr/>
        </p:nvSpPr>
        <p:spPr>
          <a:xfrm>
            <a:off x="8216107" y="3265488"/>
            <a:ext cx="115808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Cornerstone LMS</a:t>
            </a:r>
            <a:endParaRPr lang="en-US" sz="1260" dirty="0"/>
          </a:p>
        </p:txBody>
      </p:sp>
      <p:sp>
        <p:nvSpPr>
          <p:cNvPr id="91" name="Text 69"/>
          <p:cNvSpPr/>
          <p:nvPr/>
        </p:nvSpPr>
        <p:spPr>
          <a:xfrm>
            <a:off x="8216107" y="3455988"/>
            <a:ext cx="115808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and certification</a:t>
            </a:r>
            <a:endParaRPr lang="en-US" sz="1080" dirty="0"/>
          </a:p>
        </p:txBody>
      </p:sp>
      <p:sp>
        <p:nvSpPr>
          <p:cNvPr id="92" name="Shape 70"/>
          <p:cNvSpPr/>
          <p:nvPr/>
        </p:nvSpPr>
        <p:spPr>
          <a:xfrm>
            <a:off x="9572229" y="3480197"/>
            <a:ext cx="59531" cy="91281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3" name="Shape 71"/>
          <p:cNvSpPr/>
          <p:nvPr/>
        </p:nvSpPr>
        <p:spPr>
          <a:xfrm>
            <a:off x="9941521" y="3092847"/>
            <a:ext cx="2151659" cy="865981"/>
          </a:xfrm>
          <a:prstGeom prst="roundRect">
            <a:avLst>
              <a:gd name="adj" fmla="val 10559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4" name="Shape 72"/>
          <p:cNvSpPr/>
          <p:nvPr/>
        </p:nvSpPr>
        <p:spPr>
          <a:xfrm>
            <a:off x="10114162" y="3331568"/>
            <a:ext cx="285155" cy="388541"/>
          </a:xfrm>
          <a:prstGeom prst="roundRect">
            <a:avLst>
              <a:gd name="adj" fmla="val 16033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95" name="Image 2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59604" y="3428603"/>
            <a:ext cx="194270" cy="194270"/>
          </a:xfrm>
          <a:prstGeom prst="rect">
            <a:avLst/>
          </a:prstGeom>
        </p:spPr>
      </p:pic>
      <p:sp>
        <p:nvSpPr>
          <p:cNvPr id="96" name="Text 73"/>
          <p:cNvSpPr/>
          <p:nvPr/>
        </p:nvSpPr>
        <p:spPr>
          <a:xfrm>
            <a:off x="10536437" y="3265488"/>
            <a:ext cx="11189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ServiceNow</a:t>
            </a:r>
            <a:endParaRPr lang="en-US" sz="1260" dirty="0"/>
          </a:p>
        </p:txBody>
      </p:sp>
      <p:sp>
        <p:nvSpPr>
          <p:cNvPr id="97" name="Text 74"/>
          <p:cNvSpPr/>
          <p:nvPr/>
        </p:nvSpPr>
        <p:spPr>
          <a:xfrm>
            <a:off x="10536437" y="3455988"/>
            <a:ext cx="111899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case management</a:t>
            </a:r>
            <a:endParaRPr lang="en-US" sz="1080" dirty="0"/>
          </a:p>
        </p:txBody>
      </p:sp>
      <p:sp>
        <p:nvSpPr>
          <p:cNvPr id="98" name="Shape 75"/>
          <p:cNvSpPr/>
          <p:nvPr/>
        </p:nvSpPr>
        <p:spPr>
          <a:xfrm>
            <a:off x="11853466" y="3480197"/>
            <a:ext cx="67073" cy="91281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9" name="Shape 76"/>
          <p:cNvSpPr/>
          <p:nvPr/>
        </p:nvSpPr>
        <p:spPr>
          <a:xfrm>
            <a:off x="3075781" y="4095949"/>
            <a:ext cx="2151460" cy="865981"/>
          </a:xfrm>
          <a:prstGeom prst="roundRect">
            <a:avLst>
              <a:gd name="adj" fmla="val 10559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0" name="Shape 77"/>
          <p:cNvSpPr/>
          <p:nvPr/>
        </p:nvSpPr>
        <p:spPr>
          <a:xfrm>
            <a:off x="3248422" y="4334669"/>
            <a:ext cx="311150" cy="388541"/>
          </a:xfrm>
          <a:prstGeom prst="roundRect">
            <a:avLst>
              <a:gd name="adj" fmla="val 14694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1" name="Image 2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306763" y="4431705"/>
            <a:ext cx="194270" cy="194270"/>
          </a:xfrm>
          <a:prstGeom prst="rect">
            <a:avLst/>
          </a:prstGeom>
        </p:spPr>
      </p:pic>
      <p:sp>
        <p:nvSpPr>
          <p:cNvPr id="102" name="Text 78"/>
          <p:cNvSpPr/>
          <p:nvPr/>
        </p:nvSpPr>
        <p:spPr>
          <a:xfrm>
            <a:off x="3696692" y="4268589"/>
            <a:ext cx="108684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Concur</a:t>
            </a:r>
            <a:endParaRPr lang="en-US" sz="1260" dirty="0"/>
          </a:p>
        </p:txBody>
      </p:sp>
      <p:sp>
        <p:nvSpPr>
          <p:cNvPr id="103" name="Text 79"/>
          <p:cNvSpPr/>
          <p:nvPr/>
        </p:nvSpPr>
        <p:spPr>
          <a:xfrm>
            <a:off x="3696692" y="4459089"/>
            <a:ext cx="108684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 and expense</a:t>
            </a:r>
            <a:endParaRPr lang="en-US" sz="1080" dirty="0"/>
          </a:p>
        </p:txBody>
      </p:sp>
      <p:sp>
        <p:nvSpPr>
          <p:cNvPr id="104" name="Shape 80"/>
          <p:cNvSpPr/>
          <p:nvPr/>
        </p:nvSpPr>
        <p:spPr>
          <a:xfrm>
            <a:off x="4981576" y="4483299"/>
            <a:ext cx="73025" cy="91281"/>
          </a:xfrm>
          <a:prstGeom prst="ellipse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5" name="Shape 81"/>
          <p:cNvSpPr/>
          <p:nvPr/>
        </p:nvSpPr>
        <p:spPr>
          <a:xfrm>
            <a:off x="5364361" y="4095949"/>
            <a:ext cx="2151460" cy="865981"/>
          </a:xfrm>
          <a:prstGeom prst="roundRect">
            <a:avLst>
              <a:gd name="adj" fmla="val 10559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6" name="Shape 82"/>
          <p:cNvSpPr/>
          <p:nvPr/>
        </p:nvSpPr>
        <p:spPr>
          <a:xfrm>
            <a:off x="5537002" y="4334669"/>
            <a:ext cx="305395" cy="388541"/>
          </a:xfrm>
          <a:prstGeom prst="roundRect">
            <a:avLst>
              <a:gd name="adj" fmla="val 14971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7" name="Image 2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92564" y="4431705"/>
            <a:ext cx="194270" cy="194270"/>
          </a:xfrm>
          <a:prstGeom prst="rect">
            <a:avLst/>
          </a:prstGeom>
        </p:spPr>
      </p:pic>
      <p:sp>
        <p:nvSpPr>
          <p:cNvPr id="108" name="Text 83"/>
          <p:cNvSpPr/>
          <p:nvPr/>
        </p:nvSpPr>
        <p:spPr>
          <a:xfrm>
            <a:off x="5979518" y="4351139"/>
            <a:ext cx="10937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Greenhouse ATS</a:t>
            </a:r>
            <a:endParaRPr lang="en-US" sz="1260" dirty="0"/>
          </a:p>
        </p:txBody>
      </p:sp>
      <p:sp>
        <p:nvSpPr>
          <p:cNvPr id="109" name="Text 84"/>
          <p:cNvSpPr/>
          <p:nvPr/>
        </p:nvSpPr>
        <p:spPr>
          <a:xfrm>
            <a:off x="5979518" y="4541639"/>
            <a:ext cx="109378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Hiring pipeline</a:t>
            </a:r>
            <a:endParaRPr lang="en-US" sz="1080" dirty="0"/>
          </a:p>
        </p:txBody>
      </p:sp>
      <p:sp>
        <p:nvSpPr>
          <p:cNvPr id="110" name="Shape 85"/>
          <p:cNvSpPr/>
          <p:nvPr/>
        </p:nvSpPr>
        <p:spPr>
          <a:xfrm>
            <a:off x="7271346" y="4483299"/>
            <a:ext cx="71834" cy="91281"/>
          </a:xfrm>
          <a:prstGeom prst="ellipse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1" name="Shape 86"/>
          <p:cNvSpPr/>
          <p:nvPr/>
        </p:nvSpPr>
        <p:spPr>
          <a:xfrm>
            <a:off x="7652941" y="4095949"/>
            <a:ext cx="2151460" cy="865981"/>
          </a:xfrm>
          <a:prstGeom prst="roundRect">
            <a:avLst>
              <a:gd name="adj" fmla="val 10559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2" name="Shape 87"/>
          <p:cNvSpPr/>
          <p:nvPr/>
        </p:nvSpPr>
        <p:spPr>
          <a:xfrm>
            <a:off x="7825582" y="4334669"/>
            <a:ext cx="312142" cy="388541"/>
          </a:xfrm>
          <a:prstGeom prst="roundRect">
            <a:avLst>
              <a:gd name="adj" fmla="val 14647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3" name="Image 2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884518" y="4431705"/>
            <a:ext cx="194270" cy="194270"/>
          </a:xfrm>
          <a:prstGeom prst="rect">
            <a:avLst/>
          </a:prstGeom>
        </p:spPr>
      </p:pic>
      <p:sp>
        <p:nvSpPr>
          <p:cNvPr id="114" name="Text 88"/>
          <p:cNvSpPr/>
          <p:nvPr/>
        </p:nvSpPr>
        <p:spPr>
          <a:xfrm>
            <a:off x="8274844" y="4268589"/>
            <a:ext cx="10854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260" dirty="0"/>
          </a:p>
        </p:txBody>
      </p:sp>
      <p:sp>
        <p:nvSpPr>
          <p:cNvPr id="115" name="Text 89"/>
          <p:cNvSpPr/>
          <p:nvPr/>
        </p:nvSpPr>
        <p:spPr>
          <a:xfrm>
            <a:off x="8274844" y="4459089"/>
            <a:ext cx="108545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reporting</a:t>
            </a:r>
            <a:endParaRPr lang="en-US" sz="1080" dirty="0"/>
          </a:p>
        </p:txBody>
      </p:sp>
      <p:sp>
        <p:nvSpPr>
          <p:cNvPr id="116" name="Shape 90"/>
          <p:cNvSpPr/>
          <p:nvPr/>
        </p:nvSpPr>
        <p:spPr>
          <a:xfrm>
            <a:off x="9558338" y="4483299"/>
            <a:ext cx="73422" cy="91281"/>
          </a:xfrm>
          <a:prstGeom prst="ellipse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7" name="Shape 91"/>
          <p:cNvSpPr/>
          <p:nvPr/>
        </p:nvSpPr>
        <p:spPr>
          <a:xfrm>
            <a:off x="9941521" y="4095949"/>
            <a:ext cx="2151659" cy="865981"/>
          </a:xfrm>
          <a:prstGeom prst="roundRect">
            <a:avLst>
              <a:gd name="adj" fmla="val 10559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8" name="Shape 92"/>
          <p:cNvSpPr/>
          <p:nvPr/>
        </p:nvSpPr>
        <p:spPr>
          <a:xfrm>
            <a:off x="10114162" y="4334669"/>
            <a:ext cx="260945" cy="388541"/>
          </a:xfrm>
          <a:prstGeom prst="roundRect">
            <a:avLst>
              <a:gd name="adj" fmla="val 17521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9" name="Image 2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47499" y="4431705"/>
            <a:ext cx="194270" cy="194270"/>
          </a:xfrm>
          <a:prstGeom prst="rect">
            <a:avLst/>
          </a:prstGeom>
        </p:spPr>
      </p:pic>
      <p:sp>
        <p:nvSpPr>
          <p:cNvPr id="120" name="Text 93"/>
          <p:cNvSpPr/>
          <p:nvPr/>
        </p:nvSpPr>
        <p:spPr>
          <a:xfrm>
            <a:off x="10512227" y="4268589"/>
            <a:ext cx="11489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 ID</a:t>
            </a:r>
            <a:endParaRPr lang="en-US" sz="1260" dirty="0"/>
          </a:p>
        </p:txBody>
      </p:sp>
      <p:sp>
        <p:nvSpPr>
          <p:cNvPr id="121" name="Text 94"/>
          <p:cNvSpPr/>
          <p:nvPr/>
        </p:nvSpPr>
        <p:spPr>
          <a:xfrm>
            <a:off x="10512227" y="4459089"/>
            <a:ext cx="114895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and entitlements</a:t>
            </a:r>
            <a:endParaRPr lang="en-US" sz="1080" dirty="0"/>
          </a:p>
        </p:txBody>
      </p:sp>
      <p:sp>
        <p:nvSpPr>
          <p:cNvPr id="122" name="Shape 95"/>
          <p:cNvSpPr/>
          <p:nvPr/>
        </p:nvSpPr>
        <p:spPr>
          <a:xfrm>
            <a:off x="11859223" y="4483299"/>
            <a:ext cx="61317" cy="91281"/>
          </a:xfrm>
          <a:prstGeom prst="roundRect">
            <a:avLst>
              <a:gd name="adj" fmla="val 50000"/>
            </a:avLst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3" name="Shape 96"/>
          <p:cNvSpPr/>
          <p:nvPr/>
        </p:nvSpPr>
        <p:spPr>
          <a:xfrm>
            <a:off x="3075781" y="5144691"/>
            <a:ext cx="9017398" cy="4913710"/>
          </a:xfrm>
          <a:prstGeom prst="roundRect">
            <a:avLst>
              <a:gd name="adj" fmla="val 1861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4" name="Text 97"/>
          <p:cNvSpPr/>
          <p:nvPr/>
        </p:nvSpPr>
        <p:spPr>
          <a:xfrm>
            <a:off x="3294063" y="5362972"/>
            <a:ext cx="385441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Bi-directional, not a data dump</a:t>
            </a:r>
            <a:endParaRPr lang="en-US" sz="1440" dirty="0"/>
          </a:p>
        </p:txBody>
      </p:sp>
      <p:sp>
        <p:nvSpPr>
          <p:cNvPr id="125" name="Text 98"/>
          <p:cNvSpPr/>
          <p:nvPr/>
        </p:nvSpPr>
        <p:spPr>
          <a:xfrm>
            <a:off x="3294063" y="5601692"/>
            <a:ext cx="385441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 in, actions out — under the same policy engine</a:t>
            </a:r>
            <a:endParaRPr lang="en-US" sz="1080" dirty="0"/>
          </a:p>
        </p:txBody>
      </p:sp>
      <p:sp>
        <p:nvSpPr>
          <p:cNvPr id="126" name="Shape 99"/>
          <p:cNvSpPr/>
          <p:nvPr/>
        </p:nvSpPr>
        <p:spPr>
          <a:xfrm>
            <a:off x="3294063" y="5903913"/>
            <a:ext cx="2007989" cy="1081484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7" name="Text 100"/>
          <p:cNvSpPr/>
          <p:nvPr/>
        </p:nvSpPr>
        <p:spPr>
          <a:xfrm>
            <a:off x="3489524" y="6099374"/>
            <a:ext cx="17787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 ingested / day</a:t>
            </a:r>
            <a:endParaRPr lang="en-US" sz="1080" dirty="0"/>
          </a:p>
        </p:txBody>
      </p:sp>
      <p:sp>
        <p:nvSpPr>
          <p:cNvPr id="128" name="Text 101"/>
          <p:cNvSpPr/>
          <p:nvPr/>
        </p:nvSpPr>
        <p:spPr>
          <a:xfrm>
            <a:off x="3489524" y="6332935"/>
            <a:ext cx="1778774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1.9 M</a:t>
            </a:r>
            <a:endParaRPr lang="en-US" sz="2700" dirty="0"/>
          </a:p>
        </p:txBody>
      </p:sp>
      <p:sp>
        <p:nvSpPr>
          <p:cNvPr id="129" name="Shape 102"/>
          <p:cNvSpPr/>
          <p:nvPr/>
        </p:nvSpPr>
        <p:spPr>
          <a:xfrm>
            <a:off x="5484813" y="5903913"/>
            <a:ext cx="2008188" cy="1081484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0" name="Text 103"/>
          <p:cNvSpPr/>
          <p:nvPr/>
        </p:nvSpPr>
        <p:spPr>
          <a:xfrm>
            <a:off x="5680274" y="6099374"/>
            <a:ext cx="177899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Write-backs / day</a:t>
            </a:r>
            <a:endParaRPr lang="en-US" sz="1080" dirty="0"/>
          </a:p>
        </p:txBody>
      </p:sp>
      <p:sp>
        <p:nvSpPr>
          <p:cNvPr id="131" name="Text 104"/>
          <p:cNvSpPr/>
          <p:nvPr/>
        </p:nvSpPr>
        <p:spPr>
          <a:xfrm>
            <a:off x="5680274" y="6332935"/>
            <a:ext cx="1778992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11,400</a:t>
            </a:r>
            <a:endParaRPr lang="en-US" sz="2700" dirty="0"/>
          </a:p>
        </p:txBody>
      </p:sp>
      <p:sp>
        <p:nvSpPr>
          <p:cNvPr id="132" name="Shape 105"/>
          <p:cNvSpPr/>
          <p:nvPr/>
        </p:nvSpPr>
        <p:spPr>
          <a:xfrm>
            <a:off x="7675761" y="5903913"/>
            <a:ext cx="2008188" cy="1081484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3" name="Text 106"/>
          <p:cNvSpPr/>
          <p:nvPr/>
        </p:nvSpPr>
        <p:spPr>
          <a:xfrm>
            <a:off x="7871222" y="6099374"/>
            <a:ext cx="177899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Connector uptime</a:t>
            </a:r>
            <a:endParaRPr lang="en-US" sz="1080" dirty="0"/>
          </a:p>
        </p:txBody>
      </p:sp>
      <p:sp>
        <p:nvSpPr>
          <p:cNvPr id="134" name="Text 107"/>
          <p:cNvSpPr/>
          <p:nvPr/>
        </p:nvSpPr>
        <p:spPr>
          <a:xfrm>
            <a:off x="7871222" y="6332935"/>
            <a:ext cx="1778993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99.98%</a:t>
            </a:r>
            <a:endParaRPr lang="en-US" sz="2700" dirty="0"/>
          </a:p>
        </p:txBody>
      </p:sp>
      <p:sp>
        <p:nvSpPr>
          <p:cNvPr id="135" name="Shape 108"/>
          <p:cNvSpPr/>
          <p:nvPr/>
        </p:nvSpPr>
        <p:spPr>
          <a:xfrm>
            <a:off x="9866711" y="5903913"/>
            <a:ext cx="2008188" cy="1081484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6" name="Text 109"/>
          <p:cNvSpPr/>
          <p:nvPr/>
        </p:nvSpPr>
        <p:spPr>
          <a:xfrm>
            <a:off x="10062171" y="6099374"/>
            <a:ext cx="177899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sync lag</a:t>
            </a:r>
            <a:endParaRPr lang="en-US" sz="1080" dirty="0"/>
          </a:p>
        </p:txBody>
      </p:sp>
      <p:sp>
        <p:nvSpPr>
          <p:cNvPr id="137" name="Text 110"/>
          <p:cNvSpPr/>
          <p:nvPr/>
        </p:nvSpPr>
        <p:spPr>
          <a:xfrm>
            <a:off x="10062171" y="6332935"/>
            <a:ext cx="1778993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 sec</a:t>
            </a:r>
            <a:endParaRPr lang="en-US" sz="2700" dirty="0"/>
          </a:p>
        </p:txBody>
      </p:sp>
      <p:sp>
        <p:nvSpPr>
          <p:cNvPr id="138" name="Shape 111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39" name="Shape 112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0" name="Shape 113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41" name="Image 2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42" name="Text 114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43" name="Text 115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44" name="Shape 116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5" name="Text 117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46" name="Shape 118"/>
          <p:cNvSpPr/>
          <p:nvPr/>
        </p:nvSpPr>
        <p:spPr>
          <a:xfrm>
            <a:off x="14327785" y="2612628"/>
            <a:ext cx="3538735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7" name="Text 119"/>
          <p:cNvSpPr/>
          <p:nvPr/>
        </p:nvSpPr>
        <p:spPr>
          <a:xfrm>
            <a:off x="14487805" y="2726928"/>
            <a:ext cx="33248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connector is holding the data back?</a:t>
            </a:r>
            <a:endParaRPr lang="en-US" sz="1260" dirty="0"/>
          </a:p>
        </p:txBody>
      </p:sp>
      <p:sp>
        <p:nvSpPr>
          <p:cNvPr id="148" name="Shape 120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9" name="Text 121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ATS. Median sync lag is 11 minutes against 42 seconds across the estate.</a:t>
            </a:r>
            <a:endParaRPr lang="en-US" sz="1260" dirty="0"/>
          </a:p>
        </p:txBody>
      </p:sp>
      <p:sp>
        <p:nvSpPr>
          <p:cNvPr id="150" name="Shape 122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1" name="Text 123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RELATIVE LAG</a:t>
            </a:r>
            <a:endParaRPr lang="en-US" sz="990" dirty="0"/>
          </a:p>
        </p:txBody>
      </p:sp>
      <p:sp>
        <p:nvSpPr>
          <p:cNvPr id="152" name="Text 124"/>
          <p:cNvSpPr/>
          <p:nvPr/>
        </p:nvSpPr>
        <p:spPr>
          <a:xfrm>
            <a:off x="12781161" y="4494610"/>
            <a:ext cx="116284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Greenhouse ATS</a:t>
            </a:r>
            <a:endParaRPr lang="en-US" sz="1080" dirty="0"/>
          </a:p>
        </p:txBody>
      </p:sp>
      <p:sp>
        <p:nvSpPr>
          <p:cNvPr id="153" name="Text 125"/>
          <p:cNvSpPr/>
          <p:nvPr/>
        </p:nvSpPr>
        <p:spPr>
          <a:xfrm>
            <a:off x="17520841" y="4494610"/>
            <a:ext cx="24923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1080" dirty="0"/>
          </a:p>
        </p:txBody>
      </p:sp>
      <p:sp>
        <p:nvSpPr>
          <p:cNvPr id="154" name="Shape 126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5" name="Shape 127"/>
          <p:cNvSpPr/>
          <p:nvPr/>
        </p:nvSpPr>
        <p:spPr>
          <a:xfrm>
            <a:off x="12781161" y="4716859"/>
            <a:ext cx="4519613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6" name="Text 128"/>
          <p:cNvSpPr/>
          <p:nvPr/>
        </p:nvSpPr>
        <p:spPr>
          <a:xfrm>
            <a:off x="12781161" y="4899621"/>
            <a:ext cx="85903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Concur</a:t>
            </a:r>
            <a:endParaRPr lang="en-US" sz="1080" dirty="0"/>
          </a:p>
        </p:txBody>
      </p:sp>
      <p:sp>
        <p:nvSpPr>
          <p:cNvPr id="157" name="Text 129"/>
          <p:cNvSpPr/>
          <p:nvPr/>
        </p:nvSpPr>
        <p:spPr>
          <a:xfrm>
            <a:off x="17515286" y="4899621"/>
            <a:ext cx="25479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1080" dirty="0"/>
          </a:p>
        </p:txBody>
      </p:sp>
      <p:sp>
        <p:nvSpPr>
          <p:cNvPr id="158" name="Shape 130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9" name="Shape 131"/>
          <p:cNvSpPr/>
          <p:nvPr/>
        </p:nvSpPr>
        <p:spPr>
          <a:xfrm>
            <a:off x="12781161" y="5121871"/>
            <a:ext cx="1670250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0" name="Text 132"/>
          <p:cNvSpPr/>
          <p:nvPr/>
        </p:nvSpPr>
        <p:spPr>
          <a:xfrm>
            <a:off x="12781161" y="5304631"/>
            <a:ext cx="100052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Workday HRM</a:t>
            </a:r>
            <a:endParaRPr lang="en-US" sz="1080" dirty="0"/>
          </a:p>
        </p:txBody>
      </p:sp>
      <p:sp>
        <p:nvSpPr>
          <p:cNvPr id="161" name="Text 133"/>
          <p:cNvSpPr/>
          <p:nvPr/>
        </p:nvSpPr>
        <p:spPr>
          <a:xfrm>
            <a:off x="17550410" y="5304631"/>
            <a:ext cx="21966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80" dirty="0"/>
          </a:p>
        </p:txBody>
      </p:sp>
      <p:sp>
        <p:nvSpPr>
          <p:cNvPr id="162" name="Shape 134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3" name="Shape 135"/>
          <p:cNvSpPr/>
          <p:nvPr/>
        </p:nvSpPr>
        <p:spPr>
          <a:xfrm>
            <a:off x="12781161" y="5526882"/>
            <a:ext cx="589359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4" name="Text 136"/>
          <p:cNvSpPr/>
          <p:nvPr/>
        </p:nvSpPr>
        <p:spPr>
          <a:xfrm>
            <a:off x="12781161" y="5709643"/>
            <a:ext cx="31630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Jira</a:t>
            </a:r>
            <a:endParaRPr lang="en-US" sz="1080" dirty="0"/>
          </a:p>
        </p:txBody>
      </p:sp>
      <p:sp>
        <p:nvSpPr>
          <p:cNvPr id="165" name="Text 137"/>
          <p:cNvSpPr/>
          <p:nvPr/>
        </p:nvSpPr>
        <p:spPr>
          <a:xfrm>
            <a:off x="17605973" y="5709643"/>
            <a:ext cx="16410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80" dirty="0"/>
          </a:p>
        </p:txBody>
      </p:sp>
      <p:sp>
        <p:nvSpPr>
          <p:cNvPr id="166" name="Shape 138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7" name="Shape 139"/>
          <p:cNvSpPr/>
          <p:nvPr/>
        </p:nvSpPr>
        <p:spPr>
          <a:xfrm>
            <a:off x="12781161" y="5931893"/>
            <a:ext cx="392906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8" name="Shape 140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9" name="Text 141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connector upgrade</a:t>
            </a:r>
            <a:endParaRPr lang="en-US" sz="1260" dirty="0"/>
          </a:p>
        </p:txBody>
      </p:sp>
      <p:sp>
        <p:nvSpPr>
          <p:cNvPr id="170" name="Text 142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Connector</a:t>
            </a:r>
            <a:endParaRPr lang="en-US" sz="990" dirty="0"/>
          </a:p>
        </p:txBody>
      </p:sp>
      <p:sp>
        <p:nvSpPr>
          <p:cNvPr id="171" name="Shape 143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2" name="Text 144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Greenhouse ATS</a:t>
            </a:r>
            <a:endParaRPr lang="en-US" sz="1170" dirty="0"/>
          </a:p>
        </p:txBody>
      </p:sp>
      <p:sp>
        <p:nvSpPr>
          <p:cNvPr id="173" name="Text 145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</a:t>
            </a:r>
            <a:endParaRPr lang="en-US" sz="990" dirty="0"/>
          </a:p>
        </p:txBody>
      </p:sp>
      <p:sp>
        <p:nvSpPr>
          <p:cNvPr id="174" name="Shape 146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5" name="Text 147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 22:00–00:00</a:t>
            </a:r>
            <a:endParaRPr lang="en-US" sz="1170" dirty="0"/>
          </a:p>
        </p:txBody>
      </p:sp>
      <p:sp>
        <p:nvSpPr>
          <p:cNvPr id="176" name="Text 148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990" dirty="0"/>
          </a:p>
        </p:txBody>
      </p:sp>
      <p:sp>
        <p:nvSpPr>
          <p:cNvPr id="177" name="Shape 149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8" name="Text 150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tribe</a:t>
            </a:r>
            <a:endParaRPr lang="en-US" sz="1170" dirty="0"/>
          </a:p>
        </p:txBody>
      </p:sp>
      <p:sp>
        <p:nvSpPr>
          <p:cNvPr id="179" name="Shape 151"/>
          <p:cNvSpPr/>
          <p:nvPr/>
        </p:nvSpPr>
        <p:spPr>
          <a:xfrm>
            <a:off x="12781161" y="8631437"/>
            <a:ext cx="2088159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0" name="Text 152"/>
          <p:cNvSpPr/>
          <p:nvPr/>
        </p:nvSpPr>
        <p:spPr>
          <a:xfrm>
            <a:off x="12941181" y="8711447"/>
            <a:ext cx="1844319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change calendar</a:t>
            </a:r>
            <a:endParaRPr lang="en-US" sz="1170" dirty="0"/>
          </a:p>
        </p:txBody>
      </p:sp>
      <p:sp>
        <p:nvSpPr>
          <p:cNvPr id="181" name="Shape 153"/>
          <p:cNvSpPr/>
          <p:nvPr/>
        </p:nvSpPr>
        <p:spPr>
          <a:xfrm>
            <a:off x="14960602" y="8631437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2" name="Text 154"/>
          <p:cNvSpPr/>
          <p:nvPr/>
        </p:nvSpPr>
        <p:spPr>
          <a:xfrm>
            <a:off x="15133322" y="8724147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83" name="Shape 155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4" name="Shape 156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85" name="Image 2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86" name="Text 157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88" name="Picture 187" descr="Android Apps by Hello Clever on Google Play">
            <a:extLst>
              <a:ext uri="{FF2B5EF4-FFF2-40B4-BE49-F238E27FC236}">
                <a16:creationId xmlns:a16="http://schemas.microsoft.com/office/drawing/2014/main" id="{9EAB64B1-5F62-39DB-A94A-E89CA9C4EA9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sp>
        <p:nvSpPr>
          <p:cNvPr id="27" name="Shape 19"/>
          <p:cNvSpPr/>
          <p:nvPr/>
        </p:nvSpPr>
        <p:spPr>
          <a:xfrm>
            <a:off x="0" y="2434630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8" name="Shape 20"/>
          <p:cNvSpPr/>
          <p:nvPr/>
        </p:nvSpPr>
        <p:spPr>
          <a:xfrm>
            <a:off x="0" y="2434630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2522" y="2539802"/>
            <a:ext cx="58678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› Catalogue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5654140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serving HR, teams and projects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321832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448832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581637" y="1183283"/>
            <a:ext cx="1386484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754357" y="1264563"/>
            <a:ext cx="1117244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agent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2134394" cy="1081485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71242" y="2120106"/>
            <a:ext cx="191781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in production</a:t>
            </a:r>
            <a:endParaRPr lang="en-US" sz="1080" dirty="0"/>
          </a:p>
        </p:txBody>
      </p:sp>
      <p:sp>
        <p:nvSpPr>
          <p:cNvPr id="53" name="Text 38"/>
          <p:cNvSpPr/>
          <p:nvPr/>
        </p:nvSpPr>
        <p:spPr>
          <a:xfrm>
            <a:off x="3271242" y="2353667"/>
            <a:ext cx="1917819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2700" dirty="0"/>
          </a:p>
        </p:txBody>
      </p:sp>
      <p:sp>
        <p:nvSpPr>
          <p:cNvPr id="54" name="Shape 39"/>
          <p:cNvSpPr/>
          <p:nvPr/>
        </p:nvSpPr>
        <p:spPr>
          <a:xfrm>
            <a:off x="5370116" y="1924645"/>
            <a:ext cx="2134394" cy="1081485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5565577" y="2120106"/>
            <a:ext cx="191781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by HR</a:t>
            </a:r>
            <a:endParaRPr lang="en-US" sz="1080" dirty="0"/>
          </a:p>
        </p:txBody>
      </p:sp>
      <p:sp>
        <p:nvSpPr>
          <p:cNvPr id="56" name="Text 41"/>
          <p:cNvSpPr/>
          <p:nvPr/>
        </p:nvSpPr>
        <p:spPr>
          <a:xfrm>
            <a:off x="5565577" y="2353667"/>
            <a:ext cx="1917819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2700" dirty="0"/>
          </a:p>
        </p:txBody>
      </p:sp>
      <p:sp>
        <p:nvSpPr>
          <p:cNvPr id="57" name="Shape 42"/>
          <p:cNvSpPr/>
          <p:nvPr/>
        </p:nvSpPr>
        <p:spPr>
          <a:xfrm>
            <a:off x="7664451" y="1924645"/>
            <a:ext cx="2134394" cy="1081485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8" name="Text 43"/>
          <p:cNvSpPr/>
          <p:nvPr/>
        </p:nvSpPr>
        <p:spPr>
          <a:xfrm>
            <a:off x="7859912" y="2120106"/>
            <a:ext cx="191781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Owned by delivery</a:t>
            </a:r>
            <a:endParaRPr lang="en-US" sz="1080" dirty="0"/>
          </a:p>
        </p:txBody>
      </p:sp>
      <p:sp>
        <p:nvSpPr>
          <p:cNvPr id="59" name="Text 44"/>
          <p:cNvSpPr/>
          <p:nvPr/>
        </p:nvSpPr>
        <p:spPr>
          <a:xfrm>
            <a:off x="7859912" y="2353667"/>
            <a:ext cx="1917819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700" dirty="0"/>
          </a:p>
        </p:txBody>
      </p:sp>
      <p:sp>
        <p:nvSpPr>
          <p:cNvPr id="60" name="Shape 45"/>
          <p:cNvSpPr/>
          <p:nvPr/>
        </p:nvSpPr>
        <p:spPr>
          <a:xfrm>
            <a:off x="9958785" y="1924645"/>
            <a:ext cx="2134394" cy="1081485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1" name="Text 46"/>
          <p:cNvSpPr/>
          <p:nvPr/>
        </p:nvSpPr>
        <p:spPr>
          <a:xfrm>
            <a:off x="10154246" y="2120106"/>
            <a:ext cx="191782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last 30 days</a:t>
            </a:r>
            <a:endParaRPr lang="en-US" sz="1080" dirty="0"/>
          </a:p>
        </p:txBody>
      </p:sp>
      <p:sp>
        <p:nvSpPr>
          <p:cNvPr id="62" name="Text 47"/>
          <p:cNvSpPr/>
          <p:nvPr/>
        </p:nvSpPr>
        <p:spPr>
          <a:xfrm>
            <a:off x="10154246" y="2353667"/>
            <a:ext cx="191782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18,420</a:t>
            </a:r>
            <a:endParaRPr lang="en-US" sz="2700" dirty="0"/>
          </a:p>
        </p:txBody>
      </p:sp>
      <p:sp>
        <p:nvSpPr>
          <p:cNvPr id="63" name="Shape 48"/>
          <p:cNvSpPr/>
          <p:nvPr/>
        </p:nvSpPr>
        <p:spPr>
          <a:xfrm>
            <a:off x="3075781" y="3166070"/>
            <a:ext cx="9017398" cy="6892330"/>
          </a:xfrm>
          <a:prstGeom prst="roundRect">
            <a:avLst>
              <a:gd name="adj" fmla="val 1327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4" name="Text 49"/>
          <p:cNvSpPr/>
          <p:nvPr/>
        </p:nvSpPr>
        <p:spPr>
          <a:xfrm>
            <a:off x="3248422" y="3338711"/>
            <a:ext cx="580497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agent has an owner, a scope and a human checkpoint</a:t>
            </a:r>
            <a:endParaRPr lang="en-US" sz="1440" dirty="0"/>
          </a:p>
        </p:txBody>
      </p:sp>
      <p:sp>
        <p:nvSpPr>
          <p:cNvPr id="65" name="Text 50"/>
          <p:cNvSpPr/>
          <p:nvPr/>
        </p:nvSpPr>
        <p:spPr>
          <a:xfrm>
            <a:off x="3248422" y="3577431"/>
            <a:ext cx="580497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Registered centrally — no shadow automation. Nine of ten agents run daily.</a:t>
            </a:r>
            <a:endParaRPr lang="en-US" sz="1080" dirty="0"/>
          </a:p>
        </p:txBody>
      </p:sp>
      <p:sp>
        <p:nvSpPr>
          <p:cNvPr id="66" name="Shape 51"/>
          <p:cNvSpPr/>
          <p:nvPr/>
        </p:nvSpPr>
        <p:spPr>
          <a:xfrm>
            <a:off x="3248422" y="4136033"/>
            <a:ext cx="8672117" cy="12700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7" name="Text 52"/>
          <p:cNvSpPr/>
          <p:nvPr/>
        </p:nvSpPr>
        <p:spPr>
          <a:xfrm>
            <a:off x="3362722" y="3879652"/>
            <a:ext cx="182919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</a:t>
            </a:r>
            <a:endParaRPr lang="en-US" sz="1080" dirty="0"/>
          </a:p>
        </p:txBody>
      </p:sp>
      <p:sp>
        <p:nvSpPr>
          <p:cNvPr id="68" name="Text 53"/>
          <p:cNvSpPr/>
          <p:nvPr/>
        </p:nvSpPr>
        <p:spPr>
          <a:xfrm>
            <a:off x="5185569" y="3879652"/>
            <a:ext cx="154805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Serves</a:t>
            </a:r>
            <a:endParaRPr lang="en-US" sz="1080" dirty="0"/>
          </a:p>
        </p:txBody>
      </p:sp>
      <p:sp>
        <p:nvSpPr>
          <p:cNvPr id="69" name="Text 54"/>
          <p:cNvSpPr/>
          <p:nvPr/>
        </p:nvSpPr>
        <p:spPr>
          <a:xfrm>
            <a:off x="6752829" y="3879652"/>
            <a:ext cx="225157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it may call</a:t>
            </a:r>
            <a:endParaRPr lang="en-US" sz="1080" dirty="0"/>
          </a:p>
        </p:txBody>
      </p:sp>
      <p:sp>
        <p:nvSpPr>
          <p:cNvPr id="70" name="Text 55"/>
          <p:cNvSpPr/>
          <p:nvPr/>
        </p:nvSpPr>
        <p:spPr>
          <a:xfrm>
            <a:off x="8959653" y="3879652"/>
            <a:ext cx="97174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Autonomy</a:t>
            </a:r>
            <a:endParaRPr lang="en-US" sz="1080" dirty="0"/>
          </a:p>
        </p:txBody>
      </p:sp>
      <p:sp>
        <p:nvSpPr>
          <p:cNvPr id="71" name="Text 56"/>
          <p:cNvSpPr/>
          <p:nvPr/>
        </p:nvSpPr>
        <p:spPr>
          <a:xfrm>
            <a:off x="10015141" y="3879652"/>
            <a:ext cx="197020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in the loop</a:t>
            </a:r>
            <a:endParaRPr lang="en-US" sz="1080" dirty="0"/>
          </a:p>
        </p:txBody>
      </p:sp>
      <p:sp>
        <p:nvSpPr>
          <p:cNvPr id="72" name="Shape 57"/>
          <p:cNvSpPr/>
          <p:nvPr/>
        </p:nvSpPr>
        <p:spPr>
          <a:xfrm>
            <a:off x="3248422" y="4780955"/>
            <a:ext cx="8672117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3" name="Text 58"/>
          <p:cNvSpPr/>
          <p:nvPr/>
        </p:nvSpPr>
        <p:spPr>
          <a:xfrm>
            <a:off x="3362722" y="4369594"/>
            <a:ext cx="18291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service agent</a:t>
            </a:r>
            <a:endParaRPr lang="en-US" sz="1260" dirty="0"/>
          </a:p>
        </p:txBody>
      </p:sp>
      <p:sp>
        <p:nvSpPr>
          <p:cNvPr id="74" name="Text 59"/>
          <p:cNvSpPr/>
          <p:nvPr/>
        </p:nvSpPr>
        <p:spPr>
          <a:xfrm>
            <a:off x="5185569" y="4369594"/>
            <a:ext cx="154805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operations</a:t>
            </a:r>
            <a:endParaRPr lang="en-US" sz="1260" dirty="0"/>
          </a:p>
        </p:txBody>
      </p:sp>
      <p:sp>
        <p:nvSpPr>
          <p:cNvPr id="75" name="Text 60"/>
          <p:cNvSpPr/>
          <p:nvPr/>
        </p:nvSpPr>
        <p:spPr>
          <a:xfrm>
            <a:off x="6752829" y="4274344"/>
            <a:ext cx="212308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ServiceNow · Workday · policy index</a:t>
            </a:r>
            <a:endParaRPr lang="en-US" sz="1260" dirty="0"/>
          </a:p>
        </p:txBody>
      </p:sp>
      <p:sp>
        <p:nvSpPr>
          <p:cNvPr id="76" name="Shape 61"/>
          <p:cNvSpPr/>
          <p:nvPr/>
        </p:nvSpPr>
        <p:spPr>
          <a:xfrm>
            <a:off x="8959653" y="4351735"/>
            <a:ext cx="536376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7" name="Text 62"/>
          <p:cNvSpPr/>
          <p:nvPr/>
        </p:nvSpPr>
        <p:spPr>
          <a:xfrm>
            <a:off x="9073953" y="4374595"/>
            <a:ext cx="38397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080" dirty="0"/>
          </a:p>
        </p:txBody>
      </p:sp>
      <p:sp>
        <p:nvSpPr>
          <p:cNvPr id="78" name="Text 63"/>
          <p:cNvSpPr/>
          <p:nvPr/>
        </p:nvSpPr>
        <p:spPr>
          <a:xfrm>
            <a:off x="10015141" y="4274344"/>
            <a:ext cx="18672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Escalates on any exception</a:t>
            </a:r>
            <a:endParaRPr lang="en-US" sz="1260" dirty="0"/>
          </a:p>
        </p:txBody>
      </p:sp>
      <p:sp>
        <p:nvSpPr>
          <p:cNvPr id="79" name="Shape 64"/>
          <p:cNvSpPr/>
          <p:nvPr/>
        </p:nvSpPr>
        <p:spPr>
          <a:xfrm>
            <a:off x="3248422" y="5425877"/>
            <a:ext cx="8672117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0" name="Text 65"/>
          <p:cNvSpPr/>
          <p:nvPr/>
        </p:nvSpPr>
        <p:spPr>
          <a:xfrm>
            <a:off x="3362722" y="4919266"/>
            <a:ext cx="173910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and absence agent</a:t>
            </a:r>
            <a:endParaRPr lang="en-US" sz="1260" dirty="0"/>
          </a:p>
        </p:txBody>
      </p:sp>
      <p:sp>
        <p:nvSpPr>
          <p:cNvPr id="81" name="Text 66"/>
          <p:cNvSpPr/>
          <p:nvPr/>
        </p:nvSpPr>
        <p:spPr>
          <a:xfrm>
            <a:off x="5185569" y="4919266"/>
            <a:ext cx="14835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· line manager</a:t>
            </a:r>
            <a:endParaRPr lang="en-US" sz="1260" dirty="0"/>
          </a:p>
        </p:txBody>
      </p:sp>
      <p:sp>
        <p:nvSpPr>
          <p:cNvPr id="82" name="Text 67"/>
          <p:cNvSpPr/>
          <p:nvPr/>
        </p:nvSpPr>
        <p:spPr>
          <a:xfrm>
            <a:off x="6752829" y="4919266"/>
            <a:ext cx="212308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Workday · Teams · calendar</a:t>
            </a:r>
            <a:endParaRPr lang="en-US" sz="1260" dirty="0"/>
          </a:p>
        </p:txBody>
      </p:sp>
      <p:sp>
        <p:nvSpPr>
          <p:cNvPr id="83" name="Shape 68"/>
          <p:cNvSpPr/>
          <p:nvPr/>
        </p:nvSpPr>
        <p:spPr>
          <a:xfrm>
            <a:off x="8959653" y="4996657"/>
            <a:ext cx="536376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4" name="Text 69"/>
          <p:cNvSpPr/>
          <p:nvPr/>
        </p:nvSpPr>
        <p:spPr>
          <a:xfrm>
            <a:off x="9073953" y="5019517"/>
            <a:ext cx="38397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080" dirty="0"/>
          </a:p>
        </p:txBody>
      </p:sp>
      <p:sp>
        <p:nvSpPr>
          <p:cNvPr id="85" name="Text 70"/>
          <p:cNvSpPr/>
          <p:nvPr/>
        </p:nvSpPr>
        <p:spPr>
          <a:xfrm>
            <a:off x="10015141" y="4919266"/>
            <a:ext cx="18672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 approves over 10 days</a:t>
            </a:r>
            <a:endParaRPr lang="en-US" sz="1260" dirty="0"/>
          </a:p>
        </p:txBody>
      </p:sp>
      <p:sp>
        <p:nvSpPr>
          <p:cNvPr id="86" name="Shape 71"/>
          <p:cNvSpPr/>
          <p:nvPr/>
        </p:nvSpPr>
        <p:spPr>
          <a:xfrm>
            <a:off x="3248422" y="6070799"/>
            <a:ext cx="8672117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7" name="Text 72"/>
          <p:cNvSpPr/>
          <p:nvPr/>
        </p:nvSpPr>
        <p:spPr>
          <a:xfrm>
            <a:off x="3362722" y="5564188"/>
            <a:ext cx="173910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 and matching agent</a:t>
            </a:r>
            <a:endParaRPr lang="en-US" sz="1260" dirty="0"/>
          </a:p>
        </p:txBody>
      </p:sp>
      <p:sp>
        <p:nvSpPr>
          <p:cNvPr id="88" name="Text 73"/>
          <p:cNvSpPr/>
          <p:nvPr/>
        </p:nvSpPr>
        <p:spPr>
          <a:xfrm>
            <a:off x="5185569" y="5564188"/>
            <a:ext cx="14835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· delivery lead</a:t>
            </a:r>
            <a:endParaRPr lang="en-US" sz="1260" dirty="0"/>
          </a:p>
        </p:txBody>
      </p:sp>
      <p:sp>
        <p:nvSpPr>
          <p:cNvPr id="89" name="Text 74"/>
          <p:cNvSpPr/>
          <p:nvPr/>
        </p:nvSpPr>
        <p:spPr>
          <a:xfrm>
            <a:off x="6752829" y="5659438"/>
            <a:ext cx="22515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graph · Jira · ADO</a:t>
            </a:r>
            <a:endParaRPr lang="en-US" sz="1260" dirty="0"/>
          </a:p>
        </p:txBody>
      </p:sp>
      <p:sp>
        <p:nvSpPr>
          <p:cNvPr id="90" name="Shape 75"/>
          <p:cNvSpPr/>
          <p:nvPr/>
        </p:nvSpPr>
        <p:spPr>
          <a:xfrm>
            <a:off x="8959653" y="5641578"/>
            <a:ext cx="764778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1" name="Text 76"/>
          <p:cNvSpPr/>
          <p:nvPr/>
        </p:nvSpPr>
        <p:spPr>
          <a:xfrm>
            <a:off x="9073953" y="5664438"/>
            <a:ext cx="61237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080" dirty="0"/>
          </a:p>
        </p:txBody>
      </p:sp>
      <p:sp>
        <p:nvSpPr>
          <p:cNvPr id="92" name="Text 77"/>
          <p:cNvSpPr/>
          <p:nvPr/>
        </p:nvSpPr>
        <p:spPr>
          <a:xfrm>
            <a:off x="10015141" y="5564188"/>
            <a:ext cx="18672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approves every assignment</a:t>
            </a:r>
            <a:endParaRPr lang="en-US" sz="1260" dirty="0"/>
          </a:p>
        </p:txBody>
      </p:sp>
      <p:sp>
        <p:nvSpPr>
          <p:cNvPr id="93" name="Shape 78"/>
          <p:cNvSpPr/>
          <p:nvPr/>
        </p:nvSpPr>
        <p:spPr>
          <a:xfrm>
            <a:off x="3248422" y="6715721"/>
            <a:ext cx="8672117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4" name="Text 79"/>
          <p:cNvSpPr/>
          <p:nvPr/>
        </p:nvSpPr>
        <p:spPr>
          <a:xfrm>
            <a:off x="3362722" y="6304360"/>
            <a:ext cx="18291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evidence agent</a:t>
            </a:r>
            <a:endParaRPr lang="en-US" sz="1260" dirty="0"/>
          </a:p>
        </p:txBody>
      </p:sp>
      <p:sp>
        <p:nvSpPr>
          <p:cNvPr id="95" name="Text 80"/>
          <p:cNvSpPr/>
          <p:nvPr/>
        </p:nvSpPr>
        <p:spPr>
          <a:xfrm>
            <a:off x="5185569" y="6304360"/>
            <a:ext cx="154805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· tribe lead</a:t>
            </a:r>
            <a:endParaRPr lang="en-US" sz="1260" dirty="0"/>
          </a:p>
        </p:txBody>
      </p:sp>
      <p:sp>
        <p:nvSpPr>
          <p:cNvPr id="96" name="Text 81"/>
          <p:cNvSpPr/>
          <p:nvPr/>
        </p:nvSpPr>
        <p:spPr>
          <a:xfrm>
            <a:off x="6752829" y="6209110"/>
            <a:ext cx="212308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· ADO · LMS · certificates</a:t>
            </a:r>
            <a:endParaRPr lang="en-US" sz="1260" dirty="0"/>
          </a:p>
        </p:txBody>
      </p:sp>
      <p:sp>
        <p:nvSpPr>
          <p:cNvPr id="97" name="Shape 82"/>
          <p:cNvSpPr/>
          <p:nvPr/>
        </p:nvSpPr>
        <p:spPr>
          <a:xfrm>
            <a:off x="8959653" y="6286501"/>
            <a:ext cx="536376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8" name="Text 83"/>
          <p:cNvSpPr/>
          <p:nvPr/>
        </p:nvSpPr>
        <p:spPr>
          <a:xfrm>
            <a:off x="9073953" y="6309361"/>
            <a:ext cx="38397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080" dirty="0"/>
          </a:p>
        </p:txBody>
      </p:sp>
      <p:sp>
        <p:nvSpPr>
          <p:cNvPr id="99" name="Text 84"/>
          <p:cNvSpPr/>
          <p:nvPr/>
        </p:nvSpPr>
        <p:spPr>
          <a:xfrm>
            <a:off x="10015141" y="6209110"/>
            <a:ext cx="18672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 confirms their profile</a:t>
            </a:r>
            <a:endParaRPr lang="en-US" sz="1260" dirty="0"/>
          </a:p>
        </p:txBody>
      </p:sp>
      <p:sp>
        <p:nvSpPr>
          <p:cNvPr id="100" name="Shape 85"/>
          <p:cNvSpPr/>
          <p:nvPr/>
        </p:nvSpPr>
        <p:spPr>
          <a:xfrm>
            <a:off x="3248422" y="7360643"/>
            <a:ext cx="8672117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1" name="Text 86"/>
          <p:cNvSpPr/>
          <p:nvPr/>
        </p:nvSpPr>
        <p:spPr>
          <a:xfrm>
            <a:off x="3362722" y="6854032"/>
            <a:ext cx="173910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forecast agent</a:t>
            </a:r>
            <a:endParaRPr lang="en-US" sz="1260" dirty="0"/>
          </a:p>
        </p:txBody>
      </p:sp>
      <p:sp>
        <p:nvSpPr>
          <p:cNvPr id="102" name="Text 87"/>
          <p:cNvSpPr/>
          <p:nvPr/>
        </p:nvSpPr>
        <p:spPr>
          <a:xfrm>
            <a:off x="5185569" y="6949282"/>
            <a:ext cx="154805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· portfolio</a:t>
            </a:r>
            <a:endParaRPr lang="en-US" sz="1260" dirty="0"/>
          </a:p>
        </p:txBody>
      </p:sp>
      <p:sp>
        <p:nvSpPr>
          <p:cNvPr id="103" name="Text 88"/>
          <p:cNvSpPr/>
          <p:nvPr/>
        </p:nvSpPr>
        <p:spPr>
          <a:xfrm>
            <a:off x="6752829" y="6949282"/>
            <a:ext cx="22515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Jira · ADO · leave · pipeline</a:t>
            </a:r>
            <a:endParaRPr lang="en-US" sz="1260" dirty="0"/>
          </a:p>
        </p:txBody>
      </p:sp>
      <p:sp>
        <p:nvSpPr>
          <p:cNvPr id="104" name="Shape 89"/>
          <p:cNvSpPr/>
          <p:nvPr/>
        </p:nvSpPr>
        <p:spPr>
          <a:xfrm>
            <a:off x="8959653" y="6931422"/>
            <a:ext cx="764778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5" name="Text 90"/>
          <p:cNvSpPr/>
          <p:nvPr/>
        </p:nvSpPr>
        <p:spPr>
          <a:xfrm>
            <a:off x="9073953" y="6954282"/>
            <a:ext cx="61237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080" dirty="0"/>
          </a:p>
        </p:txBody>
      </p:sp>
      <p:sp>
        <p:nvSpPr>
          <p:cNvPr id="106" name="Text 91"/>
          <p:cNvSpPr/>
          <p:nvPr/>
        </p:nvSpPr>
        <p:spPr>
          <a:xfrm>
            <a:off x="10015141" y="6854032"/>
            <a:ext cx="18672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Tribe lead acknowledges alerts</a:t>
            </a:r>
            <a:endParaRPr lang="en-US" sz="1260" dirty="0"/>
          </a:p>
        </p:txBody>
      </p:sp>
      <p:sp>
        <p:nvSpPr>
          <p:cNvPr id="107" name="Shape 92"/>
          <p:cNvSpPr/>
          <p:nvPr/>
        </p:nvSpPr>
        <p:spPr>
          <a:xfrm>
            <a:off x="3248422" y="8005565"/>
            <a:ext cx="8672117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8" name="Text 93"/>
          <p:cNvSpPr/>
          <p:nvPr/>
        </p:nvSpPr>
        <p:spPr>
          <a:xfrm>
            <a:off x="3362722" y="7594203"/>
            <a:ext cx="18291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agent</a:t>
            </a:r>
            <a:endParaRPr lang="en-US" sz="1260" dirty="0"/>
          </a:p>
        </p:txBody>
      </p:sp>
      <p:sp>
        <p:nvSpPr>
          <p:cNvPr id="109" name="Text 94"/>
          <p:cNvSpPr/>
          <p:nvPr/>
        </p:nvSpPr>
        <p:spPr>
          <a:xfrm>
            <a:off x="5185569" y="7498953"/>
            <a:ext cx="14835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· IT · new joiner</a:t>
            </a:r>
            <a:endParaRPr lang="en-US" sz="1260" dirty="0"/>
          </a:p>
        </p:txBody>
      </p:sp>
      <p:sp>
        <p:nvSpPr>
          <p:cNvPr id="110" name="Text 95"/>
          <p:cNvSpPr/>
          <p:nvPr/>
        </p:nvSpPr>
        <p:spPr>
          <a:xfrm>
            <a:off x="6752829" y="7498953"/>
            <a:ext cx="212308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 ID · ServiceNow · LMS</a:t>
            </a:r>
            <a:endParaRPr lang="en-US" sz="1260" dirty="0"/>
          </a:p>
        </p:txBody>
      </p:sp>
      <p:sp>
        <p:nvSpPr>
          <p:cNvPr id="111" name="Shape 96"/>
          <p:cNvSpPr/>
          <p:nvPr/>
        </p:nvSpPr>
        <p:spPr>
          <a:xfrm>
            <a:off x="8959653" y="7576344"/>
            <a:ext cx="536376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2" name="Text 97"/>
          <p:cNvSpPr/>
          <p:nvPr/>
        </p:nvSpPr>
        <p:spPr>
          <a:xfrm>
            <a:off x="9073953" y="7599204"/>
            <a:ext cx="38397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080" dirty="0"/>
          </a:p>
        </p:txBody>
      </p:sp>
      <p:sp>
        <p:nvSpPr>
          <p:cNvPr id="113" name="Text 98"/>
          <p:cNvSpPr/>
          <p:nvPr/>
        </p:nvSpPr>
        <p:spPr>
          <a:xfrm>
            <a:off x="10015141" y="7498953"/>
            <a:ext cx="18672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signs the access bundle</a:t>
            </a:r>
            <a:endParaRPr lang="en-US" sz="1260" dirty="0"/>
          </a:p>
        </p:txBody>
      </p:sp>
      <p:sp>
        <p:nvSpPr>
          <p:cNvPr id="114" name="Shape 99"/>
          <p:cNvSpPr/>
          <p:nvPr/>
        </p:nvSpPr>
        <p:spPr>
          <a:xfrm>
            <a:off x="3248422" y="8650487"/>
            <a:ext cx="8672117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5" name="Text 100"/>
          <p:cNvSpPr/>
          <p:nvPr/>
        </p:nvSpPr>
        <p:spPr>
          <a:xfrm>
            <a:off x="3362722" y="8239126"/>
            <a:ext cx="18291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path agent</a:t>
            </a:r>
            <a:endParaRPr lang="en-US" sz="1260" dirty="0"/>
          </a:p>
        </p:txBody>
      </p:sp>
      <p:sp>
        <p:nvSpPr>
          <p:cNvPr id="116" name="Text 101"/>
          <p:cNvSpPr/>
          <p:nvPr/>
        </p:nvSpPr>
        <p:spPr>
          <a:xfrm>
            <a:off x="5185569" y="8143876"/>
            <a:ext cx="14835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· capability board</a:t>
            </a:r>
            <a:endParaRPr lang="en-US" sz="1260" dirty="0"/>
          </a:p>
        </p:txBody>
      </p:sp>
      <p:sp>
        <p:nvSpPr>
          <p:cNvPr id="117" name="Text 102"/>
          <p:cNvSpPr/>
          <p:nvPr/>
        </p:nvSpPr>
        <p:spPr>
          <a:xfrm>
            <a:off x="6752829" y="8143876"/>
            <a:ext cx="212308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LMS · skills graph · calendar</a:t>
            </a:r>
            <a:endParaRPr lang="en-US" sz="1260" dirty="0"/>
          </a:p>
        </p:txBody>
      </p:sp>
      <p:sp>
        <p:nvSpPr>
          <p:cNvPr id="118" name="Shape 103"/>
          <p:cNvSpPr/>
          <p:nvPr/>
        </p:nvSpPr>
        <p:spPr>
          <a:xfrm>
            <a:off x="8959653" y="8221266"/>
            <a:ext cx="764778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9" name="Text 104"/>
          <p:cNvSpPr/>
          <p:nvPr/>
        </p:nvSpPr>
        <p:spPr>
          <a:xfrm>
            <a:off x="9073953" y="8244126"/>
            <a:ext cx="61237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080" dirty="0"/>
          </a:p>
        </p:txBody>
      </p:sp>
      <p:sp>
        <p:nvSpPr>
          <p:cNvPr id="120" name="Text 105"/>
          <p:cNvSpPr/>
          <p:nvPr/>
        </p:nvSpPr>
        <p:spPr>
          <a:xfrm>
            <a:off x="10015141" y="8143876"/>
            <a:ext cx="18672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 books the time</a:t>
            </a:r>
            <a:endParaRPr lang="en-US" sz="1260" dirty="0"/>
          </a:p>
        </p:txBody>
      </p:sp>
      <p:sp>
        <p:nvSpPr>
          <p:cNvPr id="121" name="Shape 106"/>
          <p:cNvSpPr/>
          <p:nvPr/>
        </p:nvSpPr>
        <p:spPr>
          <a:xfrm>
            <a:off x="3248422" y="9295409"/>
            <a:ext cx="8672117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2" name="Text 107"/>
          <p:cNvSpPr/>
          <p:nvPr/>
        </p:nvSpPr>
        <p:spPr>
          <a:xfrm>
            <a:off x="3362722" y="8788797"/>
            <a:ext cx="173910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Hiring screening agent</a:t>
            </a:r>
            <a:endParaRPr lang="en-US" sz="1260" dirty="0"/>
          </a:p>
        </p:txBody>
      </p:sp>
      <p:sp>
        <p:nvSpPr>
          <p:cNvPr id="123" name="Text 108"/>
          <p:cNvSpPr/>
          <p:nvPr/>
        </p:nvSpPr>
        <p:spPr>
          <a:xfrm>
            <a:off x="5185569" y="8788797"/>
            <a:ext cx="14835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Recruiting · hiring manager</a:t>
            </a:r>
            <a:endParaRPr lang="en-US" sz="1260" dirty="0"/>
          </a:p>
        </p:txBody>
      </p:sp>
      <p:sp>
        <p:nvSpPr>
          <p:cNvPr id="124" name="Text 109"/>
          <p:cNvSpPr/>
          <p:nvPr/>
        </p:nvSpPr>
        <p:spPr>
          <a:xfrm>
            <a:off x="6752829" y="8884047"/>
            <a:ext cx="22515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ATS · skills graph</a:t>
            </a:r>
            <a:endParaRPr lang="en-US" sz="1260" dirty="0"/>
          </a:p>
        </p:txBody>
      </p:sp>
      <p:sp>
        <p:nvSpPr>
          <p:cNvPr id="125" name="Shape 110"/>
          <p:cNvSpPr/>
          <p:nvPr/>
        </p:nvSpPr>
        <p:spPr>
          <a:xfrm>
            <a:off x="8959653" y="8866188"/>
            <a:ext cx="502642" cy="22860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6" name="Text 111"/>
          <p:cNvSpPr/>
          <p:nvPr/>
        </p:nvSpPr>
        <p:spPr>
          <a:xfrm>
            <a:off x="9073953" y="8889048"/>
            <a:ext cx="35024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080" dirty="0"/>
          </a:p>
        </p:txBody>
      </p:sp>
      <p:sp>
        <p:nvSpPr>
          <p:cNvPr id="127" name="Text 112"/>
          <p:cNvSpPr/>
          <p:nvPr/>
        </p:nvSpPr>
        <p:spPr>
          <a:xfrm>
            <a:off x="10015141" y="8788797"/>
            <a:ext cx="18672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rejection reviewed by a human</a:t>
            </a:r>
            <a:endParaRPr lang="en-US" sz="1260" dirty="0"/>
          </a:p>
        </p:txBody>
      </p:sp>
      <p:sp>
        <p:nvSpPr>
          <p:cNvPr id="128" name="Shape 113"/>
          <p:cNvSpPr/>
          <p:nvPr/>
        </p:nvSpPr>
        <p:spPr>
          <a:xfrm>
            <a:off x="3248422" y="9940330"/>
            <a:ext cx="8672117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9" name="Text 114"/>
          <p:cNvSpPr/>
          <p:nvPr/>
        </p:nvSpPr>
        <p:spPr>
          <a:xfrm>
            <a:off x="3362722" y="9433719"/>
            <a:ext cx="173910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Wellbeing signal agent</a:t>
            </a:r>
            <a:endParaRPr lang="en-US" sz="1260" dirty="0"/>
          </a:p>
        </p:txBody>
      </p:sp>
      <p:sp>
        <p:nvSpPr>
          <p:cNvPr id="130" name="Text 115"/>
          <p:cNvSpPr/>
          <p:nvPr/>
        </p:nvSpPr>
        <p:spPr>
          <a:xfrm>
            <a:off x="5185569" y="9433719"/>
            <a:ext cx="14835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(aggregate only)</a:t>
            </a:r>
            <a:endParaRPr lang="en-US" sz="1260" dirty="0"/>
          </a:p>
        </p:txBody>
      </p:sp>
      <p:sp>
        <p:nvSpPr>
          <p:cNvPr id="131" name="Text 116"/>
          <p:cNvSpPr/>
          <p:nvPr/>
        </p:nvSpPr>
        <p:spPr>
          <a:xfrm>
            <a:off x="6752829" y="9528969"/>
            <a:ext cx="22515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Viva · workload metadata</a:t>
            </a:r>
            <a:endParaRPr lang="en-US" sz="1260" dirty="0"/>
          </a:p>
        </p:txBody>
      </p:sp>
      <p:sp>
        <p:nvSpPr>
          <p:cNvPr id="132" name="Shape 117"/>
          <p:cNvSpPr/>
          <p:nvPr/>
        </p:nvSpPr>
        <p:spPr>
          <a:xfrm>
            <a:off x="8959653" y="9511110"/>
            <a:ext cx="502642" cy="22860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3" name="Text 118"/>
          <p:cNvSpPr/>
          <p:nvPr/>
        </p:nvSpPr>
        <p:spPr>
          <a:xfrm>
            <a:off x="9073953" y="9533970"/>
            <a:ext cx="35024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080" dirty="0"/>
          </a:p>
        </p:txBody>
      </p:sp>
      <p:sp>
        <p:nvSpPr>
          <p:cNvPr id="134" name="Text 119"/>
          <p:cNvSpPr/>
          <p:nvPr/>
        </p:nvSpPr>
        <p:spPr>
          <a:xfrm>
            <a:off x="10015141" y="9433719"/>
            <a:ext cx="186729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surfaces an individual</a:t>
            </a:r>
            <a:endParaRPr lang="en-US" sz="1260" dirty="0"/>
          </a:p>
        </p:txBody>
      </p:sp>
      <p:sp>
        <p:nvSpPr>
          <p:cNvPr id="135" name="Shape 120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36" name="Shape 121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7" name="Shape 122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38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39" name="Text 123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40" name="Text 124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41" name="Shape 125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2" name="Text 126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43" name="Shape 127"/>
          <p:cNvSpPr/>
          <p:nvPr/>
        </p:nvSpPr>
        <p:spPr>
          <a:xfrm>
            <a:off x="13702903" y="2612628"/>
            <a:ext cx="4163617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4" name="Text 128"/>
          <p:cNvSpPr/>
          <p:nvPr/>
        </p:nvSpPr>
        <p:spPr>
          <a:xfrm>
            <a:off x="13862923" y="2726928"/>
            <a:ext cx="39684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agents touch HR data, and who owns them?</a:t>
            </a:r>
            <a:endParaRPr lang="en-US" sz="1260" dirty="0"/>
          </a:p>
        </p:txBody>
      </p:sp>
      <p:sp>
        <p:nvSpPr>
          <p:cNvPr id="145" name="Shape 129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6" name="Text 130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 in production. Six are owned by HR, four by delivery, and every one stops at a named human checkpoint.</a:t>
            </a:r>
            <a:endParaRPr lang="en-US" sz="1260" dirty="0"/>
          </a:p>
        </p:txBody>
      </p:sp>
      <p:sp>
        <p:nvSpPr>
          <p:cNvPr id="147" name="Shape 131"/>
          <p:cNvSpPr/>
          <p:nvPr/>
        </p:nvSpPr>
        <p:spPr>
          <a:xfrm>
            <a:off x="12608520" y="4055269"/>
            <a:ext cx="5258000" cy="1712714"/>
          </a:xfrm>
          <a:prstGeom prst="roundRect">
            <a:avLst>
              <a:gd name="adj" fmla="val 8008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8" name="Text 132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OF AGENTS</a:t>
            </a:r>
            <a:endParaRPr lang="en-US" sz="990" dirty="0"/>
          </a:p>
        </p:txBody>
      </p:sp>
      <p:sp>
        <p:nvSpPr>
          <p:cNvPr id="149" name="Text 133"/>
          <p:cNvSpPr/>
          <p:nvPr/>
        </p:nvSpPr>
        <p:spPr>
          <a:xfrm>
            <a:off x="12781161" y="4494610"/>
            <a:ext cx="105668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autonomy</a:t>
            </a:r>
            <a:endParaRPr lang="en-US" sz="1080" dirty="0"/>
          </a:p>
        </p:txBody>
      </p:sp>
      <p:sp>
        <p:nvSpPr>
          <p:cNvPr id="150" name="Text 134"/>
          <p:cNvSpPr/>
          <p:nvPr/>
        </p:nvSpPr>
        <p:spPr>
          <a:xfrm>
            <a:off x="17519454" y="4494610"/>
            <a:ext cx="25062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1080" dirty="0"/>
          </a:p>
        </p:txBody>
      </p:sp>
      <p:sp>
        <p:nvSpPr>
          <p:cNvPr id="151" name="Shape 135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2" name="Shape 136"/>
          <p:cNvSpPr/>
          <p:nvPr/>
        </p:nvSpPr>
        <p:spPr>
          <a:xfrm>
            <a:off x="12781161" y="4716859"/>
            <a:ext cx="2456261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3" name="Text 137"/>
          <p:cNvSpPr/>
          <p:nvPr/>
        </p:nvSpPr>
        <p:spPr>
          <a:xfrm>
            <a:off x="12781161" y="4899621"/>
            <a:ext cx="132256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autonomy</a:t>
            </a:r>
            <a:endParaRPr lang="en-US" sz="1080" dirty="0"/>
          </a:p>
        </p:txBody>
      </p:sp>
      <p:sp>
        <p:nvSpPr>
          <p:cNvPr id="154" name="Text 138"/>
          <p:cNvSpPr/>
          <p:nvPr/>
        </p:nvSpPr>
        <p:spPr>
          <a:xfrm>
            <a:off x="17516277" y="4899621"/>
            <a:ext cx="25380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080" dirty="0"/>
          </a:p>
        </p:txBody>
      </p:sp>
      <p:sp>
        <p:nvSpPr>
          <p:cNvPr id="155" name="Shape 139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6" name="Shape 140"/>
          <p:cNvSpPr/>
          <p:nvPr/>
        </p:nvSpPr>
        <p:spPr>
          <a:xfrm>
            <a:off x="12781161" y="5121871"/>
            <a:ext cx="1473796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7" name="Text 141"/>
          <p:cNvSpPr/>
          <p:nvPr/>
        </p:nvSpPr>
        <p:spPr>
          <a:xfrm>
            <a:off x="12781161" y="5304631"/>
            <a:ext cx="102592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autonomy</a:t>
            </a:r>
            <a:endParaRPr lang="en-US" sz="1080" dirty="0"/>
          </a:p>
        </p:txBody>
      </p:sp>
      <p:sp>
        <p:nvSpPr>
          <p:cNvPr id="158" name="Text 142"/>
          <p:cNvSpPr/>
          <p:nvPr/>
        </p:nvSpPr>
        <p:spPr>
          <a:xfrm>
            <a:off x="17518063" y="5304631"/>
            <a:ext cx="25201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080" dirty="0"/>
          </a:p>
        </p:txBody>
      </p:sp>
      <p:sp>
        <p:nvSpPr>
          <p:cNvPr id="159" name="Shape 143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0" name="Shape 144"/>
          <p:cNvSpPr/>
          <p:nvPr/>
        </p:nvSpPr>
        <p:spPr>
          <a:xfrm>
            <a:off x="12781161" y="5526882"/>
            <a:ext cx="982465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1" name="Shape 145"/>
          <p:cNvSpPr/>
          <p:nvPr/>
        </p:nvSpPr>
        <p:spPr>
          <a:xfrm>
            <a:off x="12608520" y="5905104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2" name="Text 146"/>
          <p:cNvSpPr/>
          <p:nvPr/>
        </p:nvSpPr>
        <p:spPr>
          <a:xfrm>
            <a:off x="12781161" y="6077744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a new agent</a:t>
            </a:r>
            <a:endParaRPr lang="en-US" sz="1260" dirty="0"/>
          </a:p>
        </p:txBody>
      </p:sp>
      <p:sp>
        <p:nvSpPr>
          <p:cNvPr id="163" name="Text 147"/>
          <p:cNvSpPr/>
          <p:nvPr/>
        </p:nvSpPr>
        <p:spPr>
          <a:xfrm>
            <a:off x="12781161" y="638254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</a:t>
            </a:r>
            <a:endParaRPr lang="en-US" sz="990" dirty="0"/>
          </a:p>
        </p:txBody>
      </p:sp>
      <p:sp>
        <p:nvSpPr>
          <p:cNvPr id="164" name="Shape 148"/>
          <p:cNvSpPr/>
          <p:nvPr/>
        </p:nvSpPr>
        <p:spPr>
          <a:xfrm>
            <a:off x="12781161" y="658058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5" name="Text 149"/>
          <p:cNvSpPr/>
          <p:nvPr/>
        </p:nvSpPr>
        <p:spPr>
          <a:xfrm>
            <a:off x="12908161" y="667329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Certificate request agent</a:t>
            </a:r>
            <a:endParaRPr lang="en-US" sz="1170" dirty="0"/>
          </a:p>
        </p:txBody>
      </p:sp>
      <p:sp>
        <p:nvSpPr>
          <p:cNvPr id="166" name="Text 150"/>
          <p:cNvSpPr/>
          <p:nvPr/>
        </p:nvSpPr>
        <p:spPr>
          <a:xfrm>
            <a:off x="12781161" y="7058026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990" dirty="0"/>
          </a:p>
        </p:txBody>
      </p:sp>
      <p:sp>
        <p:nvSpPr>
          <p:cNvPr id="167" name="Shape 151"/>
          <p:cNvSpPr/>
          <p:nvPr/>
        </p:nvSpPr>
        <p:spPr>
          <a:xfrm>
            <a:off x="12781161" y="725606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8" name="Text 152"/>
          <p:cNvSpPr/>
          <p:nvPr/>
        </p:nvSpPr>
        <p:spPr>
          <a:xfrm>
            <a:off x="12908161" y="734877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operations</a:t>
            </a:r>
            <a:endParaRPr lang="en-US" sz="1170" dirty="0"/>
          </a:p>
        </p:txBody>
      </p:sp>
      <p:sp>
        <p:nvSpPr>
          <p:cNvPr id="169" name="Text 153"/>
          <p:cNvSpPr/>
          <p:nvPr/>
        </p:nvSpPr>
        <p:spPr>
          <a:xfrm>
            <a:off x="12781161" y="7733507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Checkpoint</a:t>
            </a:r>
            <a:endParaRPr lang="en-US" sz="990" dirty="0"/>
          </a:p>
        </p:txBody>
      </p:sp>
      <p:sp>
        <p:nvSpPr>
          <p:cNvPr id="170" name="Shape 154"/>
          <p:cNvSpPr/>
          <p:nvPr/>
        </p:nvSpPr>
        <p:spPr>
          <a:xfrm>
            <a:off x="12781161" y="7931547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1" name="Text 155"/>
          <p:cNvSpPr/>
          <p:nvPr/>
        </p:nvSpPr>
        <p:spPr>
          <a:xfrm>
            <a:off x="12908161" y="8024257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signs before issue</a:t>
            </a:r>
            <a:endParaRPr lang="en-US" sz="1170" dirty="0"/>
          </a:p>
        </p:txBody>
      </p:sp>
      <p:sp>
        <p:nvSpPr>
          <p:cNvPr id="172" name="Shape 156"/>
          <p:cNvSpPr/>
          <p:nvPr/>
        </p:nvSpPr>
        <p:spPr>
          <a:xfrm>
            <a:off x="12781161" y="8431809"/>
            <a:ext cx="2068711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3" name="Text 157"/>
          <p:cNvSpPr/>
          <p:nvPr/>
        </p:nvSpPr>
        <p:spPr>
          <a:xfrm>
            <a:off x="12941181" y="8511819"/>
            <a:ext cx="1824871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Agent catalogue</a:t>
            </a:r>
            <a:endParaRPr lang="en-US" sz="1170" dirty="0"/>
          </a:p>
        </p:txBody>
      </p:sp>
      <p:sp>
        <p:nvSpPr>
          <p:cNvPr id="174" name="Shape 158"/>
          <p:cNvSpPr/>
          <p:nvPr/>
        </p:nvSpPr>
        <p:spPr>
          <a:xfrm>
            <a:off x="14941153" y="8431809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5" name="Text 159"/>
          <p:cNvSpPr/>
          <p:nvPr/>
        </p:nvSpPr>
        <p:spPr>
          <a:xfrm>
            <a:off x="15113873" y="8524519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76" name="Shape 160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7" name="Shape 161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78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79" name="Text 162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81" name="Picture 180" descr="Android Apps by Hello Clever on Google Play">
            <a:extLst>
              <a:ext uri="{FF2B5EF4-FFF2-40B4-BE49-F238E27FC236}">
                <a16:creationId xmlns:a16="http://schemas.microsoft.com/office/drawing/2014/main" id="{C622F9B2-2FB1-DDD7-7F8F-9E6C0A75B6F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sp>
        <p:nvSpPr>
          <p:cNvPr id="27" name="Shape 19"/>
          <p:cNvSpPr/>
          <p:nvPr/>
        </p:nvSpPr>
        <p:spPr>
          <a:xfrm>
            <a:off x="0" y="2434630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8" name="Shape 20"/>
          <p:cNvSpPr/>
          <p:nvPr/>
        </p:nvSpPr>
        <p:spPr>
          <a:xfrm>
            <a:off x="0" y="2434630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2522" y="2539802"/>
            <a:ext cx="58678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› Runs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7507347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workflow — staff the payments programme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644293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771293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904098" y="1183283"/>
            <a:ext cx="1064023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7076818" y="1264563"/>
            <a:ext cx="794783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Pause run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5519936" cy="8133755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4319786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8f21-c4 — plan and execution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431978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step is a logged, reversible action with a named owner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294063" y="2683867"/>
            <a:ext cx="5083374" cy="505420"/>
          </a:xfrm>
          <a:prstGeom prst="roundRect">
            <a:avLst>
              <a:gd name="adj" fmla="val 9046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5" name="Shape 40"/>
          <p:cNvSpPr/>
          <p:nvPr/>
        </p:nvSpPr>
        <p:spPr>
          <a:xfrm>
            <a:off x="3443883" y="2810867"/>
            <a:ext cx="251420" cy="251420"/>
          </a:xfrm>
          <a:prstGeom prst="ellipse">
            <a:avLst/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56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495279" y="2862263"/>
            <a:ext cx="148431" cy="148431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3855244" y="2841228"/>
            <a:ext cx="23170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 request</a:t>
            </a:r>
            <a:endParaRPr lang="en-US" sz="1260" dirty="0"/>
          </a:p>
        </p:txBody>
      </p:sp>
      <p:sp>
        <p:nvSpPr>
          <p:cNvPr id="58" name="Text 42"/>
          <p:cNvSpPr/>
          <p:nvPr/>
        </p:nvSpPr>
        <p:spPr>
          <a:xfrm>
            <a:off x="6121599" y="2853928"/>
            <a:ext cx="115530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 model</a:t>
            </a:r>
            <a:endParaRPr lang="en-US" sz="1080" dirty="0"/>
          </a:p>
        </p:txBody>
      </p:sp>
      <p:sp>
        <p:nvSpPr>
          <p:cNvPr id="59" name="Shape 43"/>
          <p:cNvSpPr/>
          <p:nvPr/>
        </p:nvSpPr>
        <p:spPr>
          <a:xfrm>
            <a:off x="7360643" y="2822178"/>
            <a:ext cx="866974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0" name="Text 44"/>
          <p:cNvSpPr/>
          <p:nvPr/>
        </p:nvSpPr>
        <p:spPr>
          <a:xfrm>
            <a:off x="7474943" y="2845038"/>
            <a:ext cx="71457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</a:t>
            </a:r>
            <a:endParaRPr lang="en-US" sz="1080" dirty="0"/>
          </a:p>
        </p:txBody>
      </p:sp>
      <p:sp>
        <p:nvSpPr>
          <p:cNvPr id="61" name="Shape 45"/>
          <p:cNvSpPr/>
          <p:nvPr/>
        </p:nvSpPr>
        <p:spPr>
          <a:xfrm>
            <a:off x="3294063" y="3326408"/>
            <a:ext cx="5083374" cy="505420"/>
          </a:xfrm>
          <a:prstGeom prst="roundRect">
            <a:avLst>
              <a:gd name="adj" fmla="val 9046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2" name="Shape 46"/>
          <p:cNvSpPr/>
          <p:nvPr/>
        </p:nvSpPr>
        <p:spPr>
          <a:xfrm>
            <a:off x="3443883" y="3453408"/>
            <a:ext cx="251420" cy="251420"/>
          </a:xfrm>
          <a:prstGeom prst="ellipse">
            <a:avLst/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495279" y="3504803"/>
            <a:ext cx="148431" cy="148431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3855244" y="3483769"/>
            <a:ext cx="255192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 entitlements</a:t>
            </a:r>
            <a:endParaRPr lang="en-US" sz="1260" dirty="0"/>
          </a:p>
        </p:txBody>
      </p:sp>
      <p:sp>
        <p:nvSpPr>
          <p:cNvPr id="65" name="Text 48"/>
          <p:cNvSpPr/>
          <p:nvPr/>
        </p:nvSpPr>
        <p:spPr>
          <a:xfrm>
            <a:off x="6335117" y="3496469"/>
            <a:ext cx="94178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engine</a:t>
            </a:r>
            <a:endParaRPr lang="en-US" sz="1080" dirty="0"/>
          </a:p>
        </p:txBody>
      </p:sp>
      <p:sp>
        <p:nvSpPr>
          <p:cNvPr id="66" name="Shape 49"/>
          <p:cNvSpPr/>
          <p:nvPr/>
        </p:nvSpPr>
        <p:spPr>
          <a:xfrm>
            <a:off x="7360643" y="3464719"/>
            <a:ext cx="866974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7" name="Text 50"/>
          <p:cNvSpPr/>
          <p:nvPr/>
        </p:nvSpPr>
        <p:spPr>
          <a:xfrm>
            <a:off x="7474943" y="3487579"/>
            <a:ext cx="71457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</a:t>
            </a:r>
            <a:endParaRPr lang="en-US" sz="1080" dirty="0"/>
          </a:p>
        </p:txBody>
      </p:sp>
      <p:sp>
        <p:nvSpPr>
          <p:cNvPr id="68" name="Shape 51"/>
          <p:cNvSpPr/>
          <p:nvPr/>
        </p:nvSpPr>
        <p:spPr>
          <a:xfrm>
            <a:off x="3294063" y="3968948"/>
            <a:ext cx="5083374" cy="635000"/>
          </a:xfrm>
          <a:prstGeom prst="roundRect">
            <a:avLst>
              <a:gd name="adj" fmla="val 7200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9" name="Shape 52"/>
          <p:cNvSpPr/>
          <p:nvPr/>
        </p:nvSpPr>
        <p:spPr>
          <a:xfrm>
            <a:off x="3443883" y="4160639"/>
            <a:ext cx="251420" cy="251420"/>
          </a:xfrm>
          <a:prstGeom prst="ellipse">
            <a:avLst/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70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495279" y="4212035"/>
            <a:ext cx="148431" cy="148431"/>
          </a:xfrm>
          <a:prstGeom prst="rect">
            <a:avLst/>
          </a:prstGeom>
        </p:spPr>
      </p:pic>
      <p:sp>
        <p:nvSpPr>
          <p:cNvPr id="71" name="Text 53"/>
          <p:cNvSpPr/>
          <p:nvPr/>
        </p:nvSpPr>
        <p:spPr>
          <a:xfrm>
            <a:off x="3855244" y="4095949"/>
            <a:ext cx="272820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demand from Jira and Azure DevOps</a:t>
            </a:r>
            <a:endParaRPr lang="en-US" sz="1260" dirty="0"/>
          </a:p>
        </p:txBody>
      </p:sp>
      <p:sp>
        <p:nvSpPr>
          <p:cNvPr id="72" name="Text 54"/>
          <p:cNvSpPr/>
          <p:nvPr/>
        </p:nvSpPr>
        <p:spPr>
          <a:xfrm>
            <a:off x="6663929" y="4203899"/>
            <a:ext cx="61297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call</a:t>
            </a:r>
            <a:endParaRPr lang="en-US" sz="1080" dirty="0"/>
          </a:p>
        </p:txBody>
      </p:sp>
      <p:sp>
        <p:nvSpPr>
          <p:cNvPr id="73" name="Shape 55"/>
          <p:cNvSpPr/>
          <p:nvPr/>
        </p:nvSpPr>
        <p:spPr>
          <a:xfrm>
            <a:off x="7360643" y="4172149"/>
            <a:ext cx="866974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4" name="Text 56"/>
          <p:cNvSpPr/>
          <p:nvPr/>
        </p:nvSpPr>
        <p:spPr>
          <a:xfrm>
            <a:off x="7474943" y="4195009"/>
            <a:ext cx="71457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</a:t>
            </a:r>
            <a:endParaRPr lang="en-US" sz="1080" dirty="0"/>
          </a:p>
        </p:txBody>
      </p:sp>
      <p:sp>
        <p:nvSpPr>
          <p:cNvPr id="75" name="Shape 57"/>
          <p:cNvSpPr/>
          <p:nvPr/>
        </p:nvSpPr>
        <p:spPr>
          <a:xfrm>
            <a:off x="3294063" y="4741069"/>
            <a:ext cx="5083374" cy="505420"/>
          </a:xfrm>
          <a:prstGeom prst="roundRect">
            <a:avLst>
              <a:gd name="adj" fmla="val 9046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6" name="Shape 58"/>
          <p:cNvSpPr/>
          <p:nvPr/>
        </p:nvSpPr>
        <p:spPr>
          <a:xfrm>
            <a:off x="3443883" y="4868069"/>
            <a:ext cx="251420" cy="251420"/>
          </a:xfrm>
          <a:prstGeom prst="ellipse">
            <a:avLst/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77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495279" y="4919464"/>
            <a:ext cx="148431" cy="148431"/>
          </a:xfrm>
          <a:prstGeom prst="rect">
            <a:avLst/>
          </a:prstGeom>
        </p:spPr>
      </p:pic>
      <p:sp>
        <p:nvSpPr>
          <p:cNvPr id="78" name="Text 59"/>
          <p:cNvSpPr/>
          <p:nvPr/>
        </p:nvSpPr>
        <p:spPr>
          <a:xfrm>
            <a:off x="3855244" y="4898430"/>
            <a:ext cx="236049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 internal candidates</a:t>
            </a:r>
            <a:endParaRPr lang="en-US" sz="1260" dirty="0"/>
          </a:p>
        </p:txBody>
      </p:sp>
      <p:sp>
        <p:nvSpPr>
          <p:cNvPr id="79" name="Text 60"/>
          <p:cNvSpPr/>
          <p:nvPr/>
        </p:nvSpPr>
        <p:spPr>
          <a:xfrm>
            <a:off x="6161088" y="4911130"/>
            <a:ext cx="111581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Matching model</a:t>
            </a:r>
            <a:endParaRPr lang="en-US" sz="1080" dirty="0"/>
          </a:p>
        </p:txBody>
      </p:sp>
      <p:sp>
        <p:nvSpPr>
          <p:cNvPr id="80" name="Shape 61"/>
          <p:cNvSpPr/>
          <p:nvPr/>
        </p:nvSpPr>
        <p:spPr>
          <a:xfrm>
            <a:off x="7360643" y="4879380"/>
            <a:ext cx="866974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1" name="Text 62"/>
          <p:cNvSpPr/>
          <p:nvPr/>
        </p:nvSpPr>
        <p:spPr>
          <a:xfrm>
            <a:off x="7474943" y="4902240"/>
            <a:ext cx="71457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</a:t>
            </a:r>
            <a:endParaRPr lang="en-US" sz="1080" dirty="0"/>
          </a:p>
        </p:txBody>
      </p:sp>
      <p:sp>
        <p:nvSpPr>
          <p:cNvPr id="82" name="Shape 63"/>
          <p:cNvSpPr/>
          <p:nvPr/>
        </p:nvSpPr>
        <p:spPr>
          <a:xfrm>
            <a:off x="3294063" y="5383610"/>
            <a:ext cx="5083374" cy="505421"/>
          </a:xfrm>
          <a:prstGeom prst="roundRect">
            <a:avLst>
              <a:gd name="adj" fmla="val 9046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3" name="Shape 64"/>
          <p:cNvSpPr/>
          <p:nvPr/>
        </p:nvSpPr>
        <p:spPr>
          <a:xfrm>
            <a:off x="3443883" y="5510610"/>
            <a:ext cx="251420" cy="251421"/>
          </a:xfrm>
          <a:prstGeom prst="ellipse">
            <a:avLst/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84" name="Image 1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495279" y="5562005"/>
            <a:ext cx="148431" cy="148432"/>
          </a:xfrm>
          <a:prstGeom prst="rect">
            <a:avLst/>
          </a:prstGeom>
        </p:spPr>
      </p:pic>
      <p:sp>
        <p:nvSpPr>
          <p:cNvPr id="85" name="Text 65"/>
          <p:cNvSpPr/>
          <p:nvPr/>
        </p:nvSpPr>
        <p:spPr>
          <a:xfrm>
            <a:off x="3855244" y="5540971"/>
            <a:ext cx="291361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availability and leave</a:t>
            </a:r>
            <a:endParaRPr lang="en-US" sz="1260" dirty="0"/>
          </a:p>
        </p:txBody>
      </p:sp>
      <p:sp>
        <p:nvSpPr>
          <p:cNvPr id="86" name="Text 66"/>
          <p:cNvSpPr/>
          <p:nvPr/>
        </p:nvSpPr>
        <p:spPr>
          <a:xfrm>
            <a:off x="6663929" y="5553671"/>
            <a:ext cx="61297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call</a:t>
            </a:r>
            <a:endParaRPr lang="en-US" sz="1080" dirty="0"/>
          </a:p>
        </p:txBody>
      </p:sp>
      <p:sp>
        <p:nvSpPr>
          <p:cNvPr id="87" name="Shape 67"/>
          <p:cNvSpPr/>
          <p:nvPr/>
        </p:nvSpPr>
        <p:spPr>
          <a:xfrm>
            <a:off x="7360643" y="5521921"/>
            <a:ext cx="866974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8" name="Text 68"/>
          <p:cNvSpPr/>
          <p:nvPr/>
        </p:nvSpPr>
        <p:spPr>
          <a:xfrm>
            <a:off x="7474943" y="5544781"/>
            <a:ext cx="71457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</a:t>
            </a:r>
            <a:endParaRPr lang="en-US" sz="1080" dirty="0"/>
          </a:p>
        </p:txBody>
      </p:sp>
      <p:sp>
        <p:nvSpPr>
          <p:cNvPr id="89" name="Shape 69"/>
          <p:cNvSpPr/>
          <p:nvPr/>
        </p:nvSpPr>
        <p:spPr>
          <a:xfrm>
            <a:off x="3294063" y="6026151"/>
            <a:ext cx="5083374" cy="505420"/>
          </a:xfrm>
          <a:prstGeom prst="roundRect">
            <a:avLst>
              <a:gd name="adj" fmla="val 9046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0" name="Shape 70"/>
          <p:cNvSpPr/>
          <p:nvPr/>
        </p:nvSpPr>
        <p:spPr>
          <a:xfrm>
            <a:off x="3443883" y="6153151"/>
            <a:ext cx="251420" cy="251420"/>
          </a:xfrm>
          <a:prstGeom prst="ellipse">
            <a:avLst/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91" name="Image 1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495279" y="6204546"/>
            <a:ext cx="148431" cy="148431"/>
          </a:xfrm>
          <a:prstGeom prst="rect">
            <a:avLst/>
          </a:prstGeom>
        </p:spPr>
      </p:pic>
      <p:sp>
        <p:nvSpPr>
          <p:cNvPr id="92" name="Text 71"/>
          <p:cNvSpPr/>
          <p:nvPr/>
        </p:nvSpPr>
        <p:spPr>
          <a:xfrm>
            <a:off x="3855244" y="6183511"/>
            <a:ext cx="23170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staffing proposal</a:t>
            </a:r>
            <a:endParaRPr lang="en-US" sz="1260" dirty="0"/>
          </a:p>
        </p:txBody>
      </p:sp>
      <p:sp>
        <p:nvSpPr>
          <p:cNvPr id="93" name="Text 72"/>
          <p:cNvSpPr/>
          <p:nvPr/>
        </p:nvSpPr>
        <p:spPr>
          <a:xfrm>
            <a:off x="6121599" y="6196211"/>
            <a:ext cx="115530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 model</a:t>
            </a:r>
            <a:endParaRPr lang="en-US" sz="1080" dirty="0"/>
          </a:p>
        </p:txBody>
      </p:sp>
      <p:sp>
        <p:nvSpPr>
          <p:cNvPr id="94" name="Shape 73"/>
          <p:cNvSpPr/>
          <p:nvPr/>
        </p:nvSpPr>
        <p:spPr>
          <a:xfrm>
            <a:off x="7360643" y="6164462"/>
            <a:ext cx="866974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5" name="Text 74"/>
          <p:cNvSpPr/>
          <p:nvPr/>
        </p:nvSpPr>
        <p:spPr>
          <a:xfrm>
            <a:off x="7474943" y="6187322"/>
            <a:ext cx="71457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</a:t>
            </a:r>
            <a:endParaRPr lang="en-US" sz="1080" dirty="0"/>
          </a:p>
        </p:txBody>
      </p:sp>
      <p:sp>
        <p:nvSpPr>
          <p:cNvPr id="96" name="Shape 75"/>
          <p:cNvSpPr/>
          <p:nvPr/>
        </p:nvSpPr>
        <p:spPr>
          <a:xfrm>
            <a:off x="3294063" y="6668691"/>
            <a:ext cx="5083374" cy="635000"/>
          </a:xfrm>
          <a:prstGeom prst="roundRect">
            <a:avLst>
              <a:gd name="adj" fmla="val 7200"/>
            </a:avLst>
          </a:prstGeom>
          <a:solidFill>
            <a:srgbClr val="00658E">
              <a:alpha val="10000"/>
            </a:srgbClr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7" name="Shape 76"/>
          <p:cNvSpPr/>
          <p:nvPr/>
        </p:nvSpPr>
        <p:spPr>
          <a:xfrm>
            <a:off x="3443883" y="6860382"/>
            <a:ext cx="251420" cy="251420"/>
          </a:xfrm>
          <a:prstGeom prst="ellipse">
            <a:avLst/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8" name="Text 77"/>
          <p:cNvSpPr/>
          <p:nvPr/>
        </p:nvSpPr>
        <p:spPr>
          <a:xfrm>
            <a:off x="3533378" y="6909792"/>
            <a:ext cx="14863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90" dirty="0"/>
          </a:p>
        </p:txBody>
      </p:sp>
      <p:sp>
        <p:nvSpPr>
          <p:cNvPr id="99" name="Text 78"/>
          <p:cNvSpPr/>
          <p:nvPr/>
        </p:nvSpPr>
        <p:spPr>
          <a:xfrm>
            <a:off x="3855244" y="6795691"/>
            <a:ext cx="217566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human approval in Teams</a:t>
            </a:r>
            <a:endParaRPr lang="en-US" sz="1260" dirty="0"/>
          </a:p>
        </p:txBody>
      </p:sp>
      <p:sp>
        <p:nvSpPr>
          <p:cNvPr id="100" name="Text 79"/>
          <p:cNvSpPr/>
          <p:nvPr/>
        </p:nvSpPr>
        <p:spPr>
          <a:xfrm>
            <a:off x="6114654" y="6903641"/>
            <a:ext cx="125412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in the loop</a:t>
            </a:r>
            <a:endParaRPr lang="en-US" sz="1080" dirty="0"/>
          </a:p>
        </p:txBody>
      </p:sp>
      <p:sp>
        <p:nvSpPr>
          <p:cNvPr id="101" name="Shape 80"/>
          <p:cNvSpPr/>
          <p:nvPr/>
        </p:nvSpPr>
        <p:spPr>
          <a:xfrm>
            <a:off x="7452519" y="6871891"/>
            <a:ext cx="775097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2" name="Text 81"/>
          <p:cNvSpPr/>
          <p:nvPr/>
        </p:nvSpPr>
        <p:spPr>
          <a:xfrm>
            <a:off x="7566819" y="6894751"/>
            <a:ext cx="62269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Running</a:t>
            </a:r>
            <a:endParaRPr lang="en-US" sz="1080" dirty="0"/>
          </a:p>
        </p:txBody>
      </p:sp>
      <p:sp>
        <p:nvSpPr>
          <p:cNvPr id="103" name="Shape 82"/>
          <p:cNvSpPr/>
          <p:nvPr/>
        </p:nvSpPr>
        <p:spPr>
          <a:xfrm>
            <a:off x="8778479" y="1924645"/>
            <a:ext cx="3314701" cy="2862065"/>
          </a:xfrm>
          <a:prstGeom prst="roundRect">
            <a:avLst>
              <a:gd name="adj" fmla="val 319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4" name="Text 83"/>
          <p:cNvSpPr/>
          <p:nvPr/>
        </p:nvSpPr>
        <p:spPr>
          <a:xfrm>
            <a:off x="8996760" y="2142927"/>
            <a:ext cx="985044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</a:t>
            </a:r>
            <a:endParaRPr lang="en-US" sz="1440" dirty="0"/>
          </a:p>
        </p:txBody>
      </p:sp>
      <p:sp>
        <p:nvSpPr>
          <p:cNvPr id="105" name="Shape 84"/>
          <p:cNvSpPr/>
          <p:nvPr/>
        </p:nvSpPr>
        <p:spPr>
          <a:xfrm>
            <a:off x="8996760" y="2788047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6" name="Text 85"/>
          <p:cNvSpPr/>
          <p:nvPr/>
        </p:nvSpPr>
        <p:spPr>
          <a:xfrm>
            <a:off x="8996760" y="2553097"/>
            <a:ext cx="52328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en-US" sz="1170" dirty="0"/>
          </a:p>
        </p:txBody>
      </p:sp>
      <p:sp>
        <p:nvSpPr>
          <p:cNvPr id="107" name="Text 86"/>
          <p:cNvSpPr/>
          <p:nvPr/>
        </p:nvSpPr>
        <p:spPr>
          <a:xfrm>
            <a:off x="9805155" y="2553097"/>
            <a:ext cx="206974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 programme only</a:t>
            </a:r>
            <a:endParaRPr lang="en-US" sz="1170" dirty="0"/>
          </a:p>
        </p:txBody>
      </p:sp>
      <p:sp>
        <p:nvSpPr>
          <p:cNvPr id="108" name="Shape 87"/>
          <p:cNvSpPr/>
          <p:nvPr/>
        </p:nvSpPr>
        <p:spPr>
          <a:xfrm>
            <a:off x="8996760" y="3229967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9" name="Text 88"/>
          <p:cNvSpPr/>
          <p:nvPr/>
        </p:nvSpPr>
        <p:spPr>
          <a:xfrm>
            <a:off x="8996760" y="2995017"/>
            <a:ext cx="93821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access</a:t>
            </a:r>
            <a:endParaRPr lang="en-US" sz="1170" dirty="0"/>
          </a:p>
        </p:txBody>
      </p:sp>
      <p:sp>
        <p:nvSpPr>
          <p:cNvPr id="110" name="Text 89"/>
          <p:cNvSpPr/>
          <p:nvPr/>
        </p:nvSpPr>
        <p:spPr>
          <a:xfrm>
            <a:off x="10613828" y="2995017"/>
            <a:ext cx="126107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Skills, availability</a:t>
            </a:r>
            <a:endParaRPr lang="en-US" sz="1170" dirty="0"/>
          </a:p>
        </p:txBody>
      </p:sp>
      <p:sp>
        <p:nvSpPr>
          <p:cNvPr id="111" name="Shape 90"/>
          <p:cNvSpPr/>
          <p:nvPr/>
        </p:nvSpPr>
        <p:spPr>
          <a:xfrm>
            <a:off x="8996760" y="3671888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2" name="Text 91"/>
          <p:cNvSpPr/>
          <p:nvPr/>
        </p:nvSpPr>
        <p:spPr>
          <a:xfrm>
            <a:off x="8996760" y="3436938"/>
            <a:ext cx="125829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permission</a:t>
            </a:r>
            <a:endParaRPr lang="en-US" sz="1170" dirty="0"/>
          </a:p>
        </p:txBody>
      </p:sp>
      <p:sp>
        <p:nvSpPr>
          <p:cNvPr id="113" name="Text 92"/>
          <p:cNvSpPr/>
          <p:nvPr/>
        </p:nvSpPr>
        <p:spPr>
          <a:xfrm>
            <a:off x="11114484" y="3436938"/>
            <a:ext cx="76041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only</a:t>
            </a:r>
            <a:endParaRPr lang="en-US" sz="1170" dirty="0"/>
          </a:p>
        </p:txBody>
      </p:sp>
      <p:sp>
        <p:nvSpPr>
          <p:cNvPr id="114" name="Shape 93"/>
          <p:cNvSpPr/>
          <p:nvPr/>
        </p:nvSpPr>
        <p:spPr>
          <a:xfrm>
            <a:off x="8996760" y="4113808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5" name="Text 94"/>
          <p:cNvSpPr/>
          <p:nvPr/>
        </p:nvSpPr>
        <p:spPr>
          <a:xfrm>
            <a:off x="8996760" y="3878858"/>
            <a:ext cx="70266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</a:t>
            </a:r>
            <a:endParaRPr lang="en-US" sz="1170" dirty="0"/>
          </a:p>
        </p:txBody>
      </p:sp>
      <p:sp>
        <p:nvSpPr>
          <p:cNvPr id="116" name="Text 95"/>
          <p:cNvSpPr/>
          <p:nvPr/>
        </p:nvSpPr>
        <p:spPr>
          <a:xfrm>
            <a:off x="10177543" y="3878858"/>
            <a:ext cx="169735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lead required</a:t>
            </a:r>
            <a:endParaRPr lang="en-US" sz="1170" dirty="0"/>
          </a:p>
        </p:txBody>
      </p:sp>
      <p:sp>
        <p:nvSpPr>
          <p:cNvPr id="117" name="Shape 96"/>
          <p:cNvSpPr/>
          <p:nvPr/>
        </p:nvSpPr>
        <p:spPr>
          <a:xfrm>
            <a:off x="8996760" y="4555728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8" name="Text 97"/>
          <p:cNvSpPr/>
          <p:nvPr/>
        </p:nvSpPr>
        <p:spPr>
          <a:xfrm>
            <a:off x="8996760" y="4320778"/>
            <a:ext cx="90110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ceiling</a:t>
            </a:r>
            <a:endParaRPr lang="en-US" sz="1170" dirty="0"/>
          </a:p>
        </p:txBody>
      </p:sp>
      <p:sp>
        <p:nvSpPr>
          <p:cNvPr id="119" name="Text 98"/>
          <p:cNvSpPr/>
          <p:nvPr/>
        </p:nvSpPr>
        <p:spPr>
          <a:xfrm>
            <a:off x="10930335" y="4320778"/>
            <a:ext cx="94456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12 / run</a:t>
            </a:r>
            <a:endParaRPr lang="en-US" sz="1170" dirty="0"/>
          </a:p>
        </p:txBody>
      </p:sp>
      <p:sp>
        <p:nvSpPr>
          <p:cNvPr id="120" name="Shape 99"/>
          <p:cNvSpPr/>
          <p:nvPr/>
        </p:nvSpPr>
        <p:spPr>
          <a:xfrm>
            <a:off x="8778479" y="4969471"/>
            <a:ext cx="3314701" cy="2036167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1" name="Text 100"/>
          <p:cNvSpPr/>
          <p:nvPr/>
        </p:nvSpPr>
        <p:spPr>
          <a:xfrm>
            <a:off x="8996760" y="5187752"/>
            <a:ext cx="79990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run</a:t>
            </a:r>
            <a:endParaRPr lang="en-US" sz="1440" dirty="0"/>
          </a:p>
        </p:txBody>
      </p:sp>
      <p:sp>
        <p:nvSpPr>
          <p:cNvPr id="122" name="Shape 101"/>
          <p:cNvSpPr/>
          <p:nvPr/>
        </p:nvSpPr>
        <p:spPr>
          <a:xfrm>
            <a:off x="8996760" y="5540772"/>
            <a:ext cx="2878138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3" name="Text 102"/>
          <p:cNvSpPr/>
          <p:nvPr/>
        </p:nvSpPr>
        <p:spPr>
          <a:xfrm>
            <a:off x="9192221" y="5736234"/>
            <a:ext cx="273593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Elapsed</a:t>
            </a:r>
            <a:endParaRPr lang="en-US" sz="1080" dirty="0"/>
          </a:p>
        </p:txBody>
      </p:sp>
      <p:sp>
        <p:nvSpPr>
          <p:cNvPr id="124" name="Text 103"/>
          <p:cNvSpPr/>
          <p:nvPr/>
        </p:nvSpPr>
        <p:spPr>
          <a:xfrm>
            <a:off x="9192221" y="5969794"/>
            <a:ext cx="2735938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m 48 s</a:t>
            </a:r>
            <a:endParaRPr lang="en-US" sz="2700" dirty="0"/>
          </a:p>
        </p:txBody>
      </p:sp>
      <p:sp>
        <p:nvSpPr>
          <p:cNvPr id="125" name="Text 104"/>
          <p:cNvSpPr/>
          <p:nvPr/>
        </p:nvSpPr>
        <p:spPr>
          <a:xfrm>
            <a:off x="9192221" y="6426796"/>
            <a:ext cx="186063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equivalent: 6 days</a:t>
            </a:r>
            <a:endParaRPr lang="en-US" sz="1080" dirty="0"/>
          </a:p>
        </p:txBody>
      </p:sp>
      <p:sp>
        <p:nvSpPr>
          <p:cNvPr id="126" name="Shape 105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7" name="Shape 106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8" name="Shape 107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29" name="Image 1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30" name="Text 108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31" name="Text 109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32" name="Shape 110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3" name="Text 111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34" name="Shape 112"/>
          <p:cNvSpPr/>
          <p:nvPr/>
        </p:nvSpPr>
        <p:spPr>
          <a:xfrm>
            <a:off x="14863168" y="2612628"/>
            <a:ext cx="3003352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5" name="Text 113"/>
          <p:cNvSpPr/>
          <p:nvPr/>
        </p:nvSpPr>
        <p:spPr>
          <a:xfrm>
            <a:off x="15023188" y="2726928"/>
            <a:ext cx="277341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in this run will you need me?</a:t>
            </a:r>
            <a:endParaRPr lang="en-US" sz="1260" dirty="0"/>
          </a:p>
        </p:txBody>
      </p:sp>
      <p:sp>
        <p:nvSpPr>
          <p:cNvPr id="136" name="Shape 114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7" name="Text 115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step seven. Everything before it is read-only; the assignment itself needs your approval.</a:t>
            </a:r>
            <a:endParaRPr lang="en-US" sz="1260" dirty="0"/>
          </a:p>
        </p:txBody>
      </p:sp>
      <p:sp>
        <p:nvSpPr>
          <p:cNvPr id="138" name="Shape 116"/>
          <p:cNvSpPr/>
          <p:nvPr/>
        </p:nvSpPr>
        <p:spPr>
          <a:xfrm>
            <a:off x="12608520" y="4055269"/>
            <a:ext cx="5258000" cy="1246981"/>
          </a:xfrm>
          <a:prstGeom prst="roundRect">
            <a:avLst>
              <a:gd name="adj" fmla="val 10999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9" name="Text 117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990" dirty="0"/>
          </a:p>
        </p:txBody>
      </p:sp>
      <p:sp>
        <p:nvSpPr>
          <p:cNvPr id="140" name="Shape 118"/>
          <p:cNvSpPr/>
          <p:nvPr/>
        </p:nvSpPr>
        <p:spPr>
          <a:xfrm>
            <a:off x="12781161" y="4494610"/>
            <a:ext cx="1561308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1" name="Text 119"/>
          <p:cNvSpPr/>
          <p:nvPr/>
        </p:nvSpPr>
        <p:spPr>
          <a:xfrm>
            <a:off x="12918282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620" dirty="0"/>
          </a:p>
        </p:txBody>
      </p:sp>
      <p:sp>
        <p:nvSpPr>
          <p:cNvPr id="142" name="Text 120"/>
          <p:cNvSpPr/>
          <p:nvPr/>
        </p:nvSpPr>
        <p:spPr>
          <a:xfrm>
            <a:off x="12918282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Steps</a:t>
            </a:r>
            <a:endParaRPr lang="en-US" sz="990" dirty="0"/>
          </a:p>
        </p:txBody>
      </p:sp>
      <p:sp>
        <p:nvSpPr>
          <p:cNvPr id="143" name="Shape 121"/>
          <p:cNvSpPr/>
          <p:nvPr/>
        </p:nvSpPr>
        <p:spPr>
          <a:xfrm>
            <a:off x="14456770" y="4494610"/>
            <a:ext cx="156150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4" name="Text 122"/>
          <p:cNvSpPr/>
          <p:nvPr/>
        </p:nvSpPr>
        <p:spPr>
          <a:xfrm>
            <a:off x="14593887" y="4608910"/>
            <a:ext cx="14159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20" dirty="0"/>
          </a:p>
        </p:txBody>
      </p:sp>
      <p:sp>
        <p:nvSpPr>
          <p:cNvPr id="145" name="Text 123"/>
          <p:cNvSpPr/>
          <p:nvPr/>
        </p:nvSpPr>
        <p:spPr>
          <a:xfrm>
            <a:off x="14593887" y="4862910"/>
            <a:ext cx="14159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</a:t>
            </a:r>
            <a:endParaRPr lang="en-US" sz="990" dirty="0"/>
          </a:p>
        </p:txBody>
      </p:sp>
      <p:sp>
        <p:nvSpPr>
          <p:cNvPr id="146" name="Shape 124"/>
          <p:cNvSpPr/>
          <p:nvPr/>
        </p:nvSpPr>
        <p:spPr>
          <a:xfrm>
            <a:off x="16132575" y="4494610"/>
            <a:ext cx="1561305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7" name="Text 125"/>
          <p:cNvSpPr/>
          <p:nvPr/>
        </p:nvSpPr>
        <p:spPr>
          <a:xfrm>
            <a:off x="16269693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20" dirty="0"/>
          </a:p>
        </p:txBody>
      </p:sp>
      <p:sp>
        <p:nvSpPr>
          <p:cNvPr id="148" name="Text 126"/>
          <p:cNvSpPr/>
          <p:nvPr/>
        </p:nvSpPr>
        <p:spPr>
          <a:xfrm>
            <a:off x="16269693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decision</a:t>
            </a:r>
            <a:endParaRPr lang="en-US" sz="990" dirty="0"/>
          </a:p>
        </p:txBody>
      </p:sp>
      <p:sp>
        <p:nvSpPr>
          <p:cNvPr id="149" name="Shape 127"/>
          <p:cNvSpPr/>
          <p:nvPr/>
        </p:nvSpPr>
        <p:spPr>
          <a:xfrm>
            <a:off x="12608520" y="5439370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0" name="Text 128"/>
          <p:cNvSpPr/>
          <p:nvPr/>
        </p:nvSpPr>
        <p:spPr>
          <a:xfrm>
            <a:off x="12781161" y="5612011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staffing proposal</a:t>
            </a:r>
            <a:endParaRPr lang="en-US" sz="1260" dirty="0"/>
          </a:p>
        </p:txBody>
      </p:sp>
      <p:sp>
        <p:nvSpPr>
          <p:cNvPr id="151" name="Text 129"/>
          <p:cNvSpPr/>
          <p:nvPr/>
        </p:nvSpPr>
        <p:spPr>
          <a:xfrm>
            <a:off x="12781161" y="591681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Candidates</a:t>
            </a:r>
            <a:endParaRPr lang="en-US" sz="990" dirty="0"/>
          </a:p>
        </p:txBody>
      </p:sp>
      <p:sp>
        <p:nvSpPr>
          <p:cNvPr id="152" name="Shape 130"/>
          <p:cNvSpPr/>
          <p:nvPr/>
        </p:nvSpPr>
        <p:spPr>
          <a:xfrm>
            <a:off x="12781161" y="6114852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3" name="Text 131"/>
          <p:cNvSpPr/>
          <p:nvPr/>
        </p:nvSpPr>
        <p:spPr>
          <a:xfrm>
            <a:off x="12908161" y="6207562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Novak, M. Bianchi</a:t>
            </a:r>
            <a:endParaRPr lang="en-US" sz="1170" dirty="0"/>
          </a:p>
        </p:txBody>
      </p:sp>
      <p:sp>
        <p:nvSpPr>
          <p:cNvPr id="154" name="Text 132"/>
          <p:cNvSpPr/>
          <p:nvPr/>
        </p:nvSpPr>
        <p:spPr>
          <a:xfrm>
            <a:off x="12781161" y="659229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</a:t>
            </a:r>
            <a:endParaRPr lang="en-US" sz="990" dirty="0"/>
          </a:p>
        </p:txBody>
      </p:sp>
      <p:sp>
        <p:nvSpPr>
          <p:cNvPr id="155" name="Shape 133"/>
          <p:cNvSpPr/>
          <p:nvPr/>
        </p:nvSpPr>
        <p:spPr>
          <a:xfrm>
            <a:off x="12781161" y="679033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6" name="Text 134"/>
          <p:cNvSpPr/>
          <p:nvPr/>
        </p:nvSpPr>
        <p:spPr>
          <a:xfrm>
            <a:off x="12908161" y="688304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Sep 2026</a:t>
            </a:r>
            <a:endParaRPr lang="en-US" sz="1170" dirty="0"/>
          </a:p>
        </p:txBody>
      </p:sp>
      <p:sp>
        <p:nvSpPr>
          <p:cNvPr id="157" name="Text 135"/>
          <p:cNvSpPr/>
          <p:nvPr/>
        </p:nvSpPr>
        <p:spPr>
          <a:xfrm>
            <a:off x="12781161" y="726777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990" dirty="0"/>
          </a:p>
        </p:txBody>
      </p:sp>
      <p:sp>
        <p:nvSpPr>
          <p:cNvPr id="158" name="Shape 136"/>
          <p:cNvSpPr/>
          <p:nvPr/>
        </p:nvSpPr>
        <p:spPr>
          <a:xfrm>
            <a:off x="12781161" y="746581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9" name="Text 137"/>
          <p:cNvSpPr/>
          <p:nvPr/>
        </p:nvSpPr>
        <p:spPr>
          <a:xfrm>
            <a:off x="12908161" y="755852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Lakehouse at 82%</a:t>
            </a:r>
            <a:endParaRPr lang="en-US" sz="1170" dirty="0"/>
          </a:p>
        </p:txBody>
      </p:sp>
      <p:sp>
        <p:nvSpPr>
          <p:cNvPr id="160" name="Shape 138"/>
          <p:cNvSpPr/>
          <p:nvPr/>
        </p:nvSpPr>
        <p:spPr>
          <a:xfrm>
            <a:off x="12781161" y="7966075"/>
            <a:ext cx="1948855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1" name="Text 139"/>
          <p:cNvSpPr/>
          <p:nvPr/>
        </p:nvSpPr>
        <p:spPr>
          <a:xfrm>
            <a:off x="12941181" y="8046085"/>
            <a:ext cx="1705015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back to Workday</a:t>
            </a:r>
            <a:endParaRPr lang="en-US" sz="1170" dirty="0"/>
          </a:p>
        </p:txBody>
      </p:sp>
      <p:sp>
        <p:nvSpPr>
          <p:cNvPr id="162" name="Shape 140"/>
          <p:cNvSpPr/>
          <p:nvPr/>
        </p:nvSpPr>
        <p:spPr>
          <a:xfrm>
            <a:off x="14821298" y="7966075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3" name="Text 141"/>
          <p:cNvSpPr/>
          <p:nvPr/>
        </p:nvSpPr>
        <p:spPr>
          <a:xfrm>
            <a:off x="14994018" y="8058785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64" name="Shape 142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5" name="Shape 143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66" name="Image 2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67" name="Text 144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69" name="Picture 168" descr="Android Apps by Hello Clever on Google Play">
            <a:extLst>
              <a:ext uri="{FF2B5EF4-FFF2-40B4-BE49-F238E27FC236}">
                <a16:creationId xmlns:a16="http://schemas.microsoft.com/office/drawing/2014/main" id="{75E919C6-7D3E-79FF-67EF-253055CE9BB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" name="Shape 15"/>
          <p:cNvSpPr/>
          <p:nvPr/>
        </p:nvSpPr>
        <p:spPr>
          <a:xfrm>
            <a:off x="0" y="881261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0" name="Shape 16"/>
          <p:cNvSpPr/>
          <p:nvPr/>
        </p:nvSpPr>
        <p:spPr>
          <a:xfrm>
            <a:off x="0" y="881261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92522" y="986433"/>
            <a:ext cx="76061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Assistant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5692557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the hub — in Teams or in the portal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296036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423036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555841" y="1183283"/>
            <a:ext cx="1412281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728561" y="1264563"/>
            <a:ext cx="1143041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in Teams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4719836" cy="8133755"/>
          </a:xfrm>
          <a:prstGeom prst="roundRect">
            <a:avLst>
              <a:gd name="adj" fmla="val 1937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2912309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291230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Grounded in this user's entitlements only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845521" y="2683867"/>
            <a:ext cx="3731816" cy="802481"/>
          </a:xfrm>
          <a:prstGeom prst="roundRect">
            <a:avLst>
              <a:gd name="adj" fmla="val 11395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4041100" y="2833727"/>
            <a:ext cx="3452610" cy="540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need two senior Kubernetes engineers on the payments programme from September.</a:t>
            </a:r>
            <a:endParaRPr lang="en-US" sz="1260" dirty="0"/>
          </a:p>
        </p:txBody>
      </p:sp>
      <p:sp>
        <p:nvSpPr>
          <p:cNvPr id="56" name="Shape 41"/>
          <p:cNvSpPr/>
          <p:nvPr/>
        </p:nvSpPr>
        <p:spPr>
          <a:xfrm>
            <a:off x="3294063" y="3646289"/>
            <a:ext cx="3731816" cy="1053902"/>
          </a:xfrm>
          <a:prstGeom prst="roundRect">
            <a:avLst>
              <a:gd name="adj" fmla="val 867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7" name="Text 42"/>
          <p:cNvSpPr/>
          <p:nvPr/>
        </p:nvSpPr>
        <p:spPr>
          <a:xfrm>
            <a:off x="3489643" y="3796149"/>
            <a:ext cx="3452610" cy="792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internal people match. Four are available from 1 September. Two would need a hand-over from their current project.</a:t>
            </a:r>
            <a:endParaRPr lang="en-US" sz="1260" dirty="0"/>
          </a:p>
        </p:txBody>
      </p:sp>
      <p:sp>
        <p:nvSpPr>
          <p:cNvPr id="58" name="Shape 43"/>
          <p:cNvSpPr/>
          <p:nvPr/>
        </p:nvSpPr>
        <p:spPr>
          <a:xfrm>
            <a:off x="3845521" y="4860132"/>
            <a:ext cx="3731816" cy="802481"/>
          </a:xfrm>
          <a:prstGeom prst="roundRect">
            <a:avLst>
              <a:gd name="adj" fmla="val 11395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9" name="Text 44"/>
          <p:cNvSpPr/>
          <p:nvPr/>
        </p:nvSpPr>
        <p:spPr>
          <a:xfrm>
            <a:off x="4041100" y="5009992"/>
            <a:ext cx="3452610" cy="540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me the two strongest, and what it costs to release them.</a:t>
            </a:r>
            <a:endParaRPr lang="en-US" sz="1260" dirty="0"/>
          </a:p>
        </p:txBody>
      </p:sp>
      <p:sp>
        <p:nvSpPr>
          <p:cNvPr id="60" name="Shape 45"/>
          <p:cNvSpPr/>
          <p:nvPr/>
        </p:nvSpPr>
        <p:spPr>
          <a:xfrm>
            <a:off x="3294063" y="5822554"/>
            <a:ext cx="3731816" cy="1305321"/>
          </a:xfrm>
          <a:prstGeom prst="roundRect">
            <a:avLst>
              <a:gd name="adj" fmla="val 7005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1" name="Text 46"/>
          <p:cNvSpPr/>
          <p:nvPr/>
        </p:nvSpPr>
        <p:spPr>
          <a:xfrm>
            <a:off x="3489643" y="5972414"/>
            <a:ext cx="3452610" cy="1043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Novak and M. Bianchi. Releasing them leaves the lakehouse migration at 82% capacity — within tolerance. Draft proposal ready for your approval.</a:t>
            </a:r>
            <a:endParaRPr lang="en-US" sz="1260" dirty="0"/>
          </a:p>
        </p:txBody>
      </p:sp>
      <p:sp>
        <p:nvSpPr>
          <p:cNvPr id="62" name="Shape 47"/>
          <p:cNvSpPr/>
          <p:nvPr/>
        </p:nvSpPr>
        <p:spPr>
          <a:xfrm>
            <a:off x="7978378" y="1924645"/>
            <a:ext cx="4114801" cy="8133755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3" name="Text 48"/>
          <p:cNvSpPr/>
          <p:nvPr/>
        </p:nvSpPr>
        <p:spPr>
          <a:xfrm>
            <a:off x="8196660" y="2142927"/>
            <a:ext cx="170957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 used</a:t>
            </a:r>
            <a:endParaRPr lang="en-US" sz="1440" dirty="0"/>
          </a:p>
        </p:txBody>
      </p:sp>
      <p:sp>
        <p:nvSpPr>
          <p:cNvPr id="64" name="Text 49"/>
          <p:cNvSpPr/>
          <p:nvPr/>
        </p:nvSpPr>
        <p:spPr>
          <a:xfrm>
            <a:off x="8196660" y="2381647"/>
            <a:ext cx="170957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Shown on every answer</a:t>
            </a:r>
            <a:endParaRPr lang="en-US" sz="1080" dirty="0"/>
          </a:p>
        </p:txBody>
      </p:sp>
      <p:sp>
        <p:nvSpPr>
          <p:cNvPr id="65" name="Shape 50"/>
          <p:cNvSpPr/>
          <p:nvPr/>
        </p:nvSpPr>
        <p:spPr>
          <a:xfrm>
            <a:off x="8196660" y="3072408"/>
            <a:ext cx="36782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6" name="Text 51"/>
          <p:cNvSpPr/>
          <p:nvPr/>
        </p:nvSpPr>
        <p:spPr>
          <a:xfrm>
            <a:off x="8196660" y="2789238"/>
            <a:ext cx="174821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Workday — availability</a:t>
            </a:r>
            <a:endParaRPr lang="en-US" sz="1170" dirty="0"/>
          </a:p>
        </p:txBody>
      </p:sp>
      <p:sp>
        <p:nvSpPr>
          <p:cNvPr id="67" name="Shape 52"/>
          <p:cNvSpPr/>
          <p:nvPr/>
        </p:nvSpPr>
        <p:spPr>
          <a:xfrm>
            <a:off x="11303597" y="2763838"/>
            <a:ext cx="571301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Text 53"/>
          <p:cNvSpPr/>
          <p:nvPr/>
        </p:nvSpPr>
        <p:spPr>
          <a:xfrm>
            <a:off x="11417897" y="2786698"/>
            <a:ext cx="41890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</a:t>
            </a:r>
            <a:endParaRPr lang="en-US" sz="1080" dirty="0"/>
          </a:p>
        </p:txBody>
      </p:sp>
      <p:sp>
        <p:nvSpPr>
          <p:cNvPr id="69" name="Shape 54"/>
          <p:cNvSpPr/>
          <p:nvPr/>
        </p:nvSpPr>
        <p:spPr>
          <a:xfrm>
            <a:off x="8196660" y="3610769"/>
            <a:ext cx="36782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0" name="Text 55"/>
          <p:cNvSpPr/>
          <p:nvPr/>
        </p:nvSpPr>
        <p:spPr>
          <a:xfrm>
            <a:off x="8196660" y="3327599"/>
            <a:ext cx="188922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Jira — current allocation</a:t>
            </a:r>
            <a:endParaRPr lang="en-US" sz="1170" dirty="0"/>
          </a:p>
        </p:txBody>
      </p:sp>
      <p:sp>
        <p:nvSpPr>
          <p:cNvPr id="71" name="Shape 56"/>
          <p:cNvSpPr/>
          <p:nvPr/>
        </p:nvSpPr>
        <p:spPr>
          <a:xfrm>
            <a:off x="11303597" y="3302198"/>
            <a:ext cx="571301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2" name="Text 57"/>
          <p:cNvSpPr/>
          <p:nvPr/>
        </p:nvSpPr>
        <p:spPr>
          <a:xfrm>
            <a:off x="11417897" y="3325058"/>
            <a:ext cx="41890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</a:t>
            </a:r>
            <a:endParaRPr lang="en-US" sz="1080" dirty="0"/>
          </a:p>
        </p:txBody>
      </p:sp>
      <p:sp>
        <p:nvSpPr>
          <p:cNvPr id="73" name="Shape 58"/>
          <p:cNvSpPr/>
          <p:nvPr/>
        </p:nvSpPr>
        <p:spPr>
          <a:xfrm>
            <a:off x="8196660" y="4149130"/>
            <a:ext cx="36782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4" name="Text 59"/>
          <p:cNvSpPr/>
          <p:nvPr/>
        </p:nvSpPr>
        <p:spPr>
          <a:xfrm>
            <a:off x="8196660" y="3865960"/>
            <a:ext cx="173337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graph — verified</a:t>
            </a:r>
            <a:endParaRPr lang="en-US" sz="1170" dirty="0"/>
          </a:p>
        </p:txBody>
      </p:sp>
      <p:sp>
        <p:nvSpPr>
          <p:cNvPr id="75" name="Shape 60"/>
          <p:cNvSpPr/>
          <p:nvPr/>
        </p:nvSpPr>
        <p:spPr>
          <a:xfrm>
            <a:off x="11303597" y="3840560"/>
            <a:ext cx="571301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6" name="Text 61"/>
          <p:cNvSpPr/>
          <p:nvPr/>
        </p:nvSpPr>
        <p:spPr>
          <a:xfrm>
            <a:off x="11417897" y="3863420"/>
            <a:ext cx="41890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</a:t>
            </a:r>
            <a:endParaRPr lang="en-US" sz="1080" dirty="0"/>
          </a:p>
        </p:txBody>
      </p:sp>
      <p:sp>
        <p:nvSpPr>
          <p:cNvPr id="77" name="Shape 62"/>
          <p:cNvSpPr/>
          <p:nvPr/>
        </p:nvSpPr>
        <p:spPr>
          <a:xfrm>
            <a:off x="8196660" y="4687491"/>
            <a:ext cx="36782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8" name="Text 63"/>
          <p:cNvSpPr/>
          <p:nvPr/>
        </p:nvSpPr>
        <p:spPr>
          <a:xfrm>
            <a:off x="8196660" y="4404320"/>
            <a:ext cx="86518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Salary data</a:t>
            </a:r>
            <a:endParaRPr lang="en-US" sz="1170" dirty="0"/>
          </a:p>
        </p:txBody>
      </p:sp>
      <p:sp>
        <p:nvSpPr>
          <p:cNvPr id="79" name="Shape 64"/>
          <p:cNvSpPr/>
          <p:nvPr/>
        </p:nvSpPr>
        <p:spPr>
          <a:xfrm>
            <a:off x="10733287" y="4378921"/>
            <a:ext cx="1141612" cy="228600"/>
          </a:xfrm>
          <a:prstGeom prst="roundRect">
            <a:avLst>
              <a:gd name="adj" fmla="val 50000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0" name="Text 65"/>
          <p:cNvSpPr/>
          <p:nvPr/>
        </p:nvSpPr>
        <p:spPr>
          <a:xfrm>
            <a:off x="10847587" y="4401781"/>
            <a:ext cx="98921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permitted</a:t>
            </a:r>
            <a:endParaRPr lang="en-US" sz="1080" dirty="0"/>
          </a:p>
        </p:txBody>
      </p:sp>
      <p:sp>
        <p:nvSpPr>
          <p:cNvPr id="81" name="Shape 66"/>
          <p:cNvSpPr/>
          <p:nvPr/>
        </p:nvSpPr>
        <p:spPr>
          <a:xfrm>
            <a:off x="8196660" y="5225852"/>
            <a:ext cx="36782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2" name="Text 67"/>
          <p:cNvSpPr/>
          <p:nvPr/>
        </p:nvSpPr>
        <p:spPr>
          <a:xfrm>
            <a:off x="8196660" y="4942681"/>
            <a:ext cx="111164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records</a:t>
            </a:r>
            <a:endParaRPr lang="en-US" sz="1170" dirty="0"/>
          </a:p>
        </p:txBody>
      </p:sp>
      <p:sp>
        <p:nvSpPr>
          <p:cNvPr id="83" name="Shape 68"/>
          <p:cNvSpPr/>
          <p:nvPr/>
        </p:nvSpPr>
        <p:spPr>
          <a:xfrm>
            <a:off x="10733287" y="4917281"/>
            <a:ext cx="1141612" cy="228600"/>
          </a:xfrm>
          <a:prstGeom prst="roundRect">
            <a:avLst>
              <a:gd name="adj" fmla="val 50000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4" name="Text 69"/>
          <p:cNvSpPr/>
          <p:nvPr/>
        </p:nvSpPr>
        <p:spPr>
          <a:xfrm>
            <a:off x="10847587" y="4940141"/>
            <a:ext cx="98921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permitted</a:t>
            </a:r>
            <a:endParaRPr lang="en-US" sz="1080" dirty="0"/>
          </a:p>
        </p:txBody>
      </p:sp>
      <p:sp>
        <p:nvSpPr>
          <p:cNvPr id="85" name="Shape 70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86" name="Shape 71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7" name="Shape 72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88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89" name="Text 73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90" name="Text 74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91" name="Shape 75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2" name="Text 76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93" name="Shape 77"/>
          <p:cNvSpPr/>
          <p:nvPr/>
        </p:nvSpPr>
        <p:spPr>
          <a:xfrm>
            <a:off x="14973895" y="2612628"/>
            <a:ext cx="2892625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4" name="Text 78"/>
          <p:cNvSpPr/>
          <p:nvPr/>
        </p:nvSpPr>
        <p:spPr>
          <a:xfrm>
            <a:off x="15133915" y="2726928"/>
            <a:ext cx="265936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the note to the delivery lead.</a:t>
            </a:r>
            <a:endParaRPr lang="en-US" sz="1260" dirty="0"/>
          </a:p>
        </p:txBody>
      </p:sp>
      <p:sp>
        <p:nvSpPr>
          <p:cNvPr id="95" name="Shape 79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6" name="Text 80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Drafted. It names both candidates, the release impact and the decision you need by Friday.</a:t>
            </a:r>
            <a:endParaRPr lang="en-US" sz="1260" dirty="0"/>
          </a:p>
        </p:txBody>
      </p:sp>
      <p:sp>
        <p:nvSpPr>
          <p:cNvPr id="97" name="Shape 81"/>
          <p:cNvSpPr/>
          <p:nvPr/>
        </p:nvSpPr>
        <p:spPr>
          <a:xfrm>
            <a:off x="12608520" y="4055269"/>
            <a:ext cx="5258000" cy="1246981"/>
          </a:xfrm>
          <a:prstGeom prst="roundRect">
            <a:avLst>
              <a:gd name="adj" fmla="val 10999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8" name="Text 82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990" dirty="0"/>
          </a:p>
        </p:txBody>
      </p:sp>
      <p:sp>
        <p:nvSpPr>
          <p:cNvPr id="99" name="Shape 83"/>
          <p:cNvSpPr/>
          <p:nvPr/>
        </p:nvSpPr>
        <p:spPr>
          <a:xfrm>
            <a:off x="12781161" y="4494610"/>
            <a:ext cx="1561308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0" name="Text 84"/>
          <p:cNvSpPr/>
          <p:nvPr/>
        </p:nvSpPr>
        <p:spPr>
          <a:xfrm>
            <a:off x="12918282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20" dirty="0"/>
          </a:p>
        </p:txBody>
      </p:sp>
      <p:sp>
        <p:nvSpPr>
          <p:cNvPr id="101" name="Text 85"/>
          <p:cNvSpPr/>
          <p:nvPr/>
        </p:nvSpPr>
        <p:spPr>
          <a:xfrm>
            <a:off x="12918282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Recipients</a:t>
            </a:r>
            <a:endParaRPr lang="en-US" sz="990" dirty="0"/>
          </a:p>
        </p:txBody>
      </p:sp>
      <p:sp>
        <p:nvSpPr>
          <p:cNvPr id="102" name="Shape 86"/>
          <p:cNvSpPr/>
          <p:nvPr/>
        </p:nvSpPr>
        <p:spPr>
          <a:xfrm>
            <a:off x="14456770" y="4494610"/>
            <a:ext cx="156150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3" name="Text 87"/>
          <p:cNvSpPr/>
          <p:nvPr/>
        </p:nvSpPr>
        <p:spPr>
          <a:xfrm>
            <a:off x="14593887" y="4608910"/>
            <a:ext cx="14159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20" dirty="0"/>
          </a:p>
        </p:txBody>
      </p:sp>
      <p:sp>
        <p:nvSpPr>
          <p:cNvPr id="104" name="Text 88"/>
          <p:cNvSpPr/>
          <p:nvPr/>
        </p:nvSpPr>
        <p:spPr>
          <a:xfrm>
            <a:off x="14593887" y="4862910"/>
            <a:ext cx="14159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 cited</a:t>
            </a:r>
            <a:endParaRPr lang="en-US" sz="990" dirty="0"/>
          </a:p>
        </p:txBody>
      </p:sp>
      <p:sp>
        <p:nvSpPr>
          <p:cNvPr id="105" name="Shape 89"/>
          <p:cNvSpPr/>
          <p:nvPr/>
        </p:nvSpPr>
        <p:spPr>
          <a:xfrm>
            <a:off x="16132575" y="4494610"/>
            <a:ext cx="1561305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6" name="Text 90"/>
          <p:cNvSpPr/>
          <p:nvPr/>
        </p:nvSpPr>
        <p:spPr>
          <a:xfrm>
            <a:off x="16269693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s</a:t>
            </a:r>
            <a:endParaRPr lang="en-US" sz="1620" dirty="0"/>
          </a:p>
        </p:txBody>
      </p:sp>
      <p:sp>
        <p:nvSpPr>
          <p:cNvPr id="107" name="Text 91"/>
          <p:cNvSpPr/>
          <p:nvPr/>
        </p:nvSpPr>
        <p:spPr>
          <a:xfrm>
            <a:off x="16269693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 time</a:t>
            </a:r>
            <a:endParaRPr lang="en-US" sz="990" dirty="0"/>
          </a:p>
        </p:txBody>
      </p:sp>
      <p:sp>
        <p:nvSpPr>
          <p:cNvPr id="108" name="Shape 92"/>
          <p:cNvSpPr/>
          <p:nvPr/>
        </p:nvSpPr>
        <p:spPr>
          <a:xfrm>
            <a:off x="12608520" y="5439370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9" name="Text 93"/>
          <p:cNvSpPr/>
          <p:nvPr/>
        </p:nvSpPr>
        <p:spPr>
          <a:xfrm>
            <a:off x="12781161" y="5612011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in Microsoft Teams</a:t>
            </a:r>
            <a:endParaRPr lang="en-US" sz="1260" dirty="0"/>
          </a:p>
        </p:txBody>
      </p:sp>
      <p:sp>
        <p:nvSpPr>
          <p:cNvPr id="110" name="Text 94"/>
          <p:cNvSpPr/>
          <p:nvPr/>
        </p:nvSpPr>
        <p:spPr>
          <a:xfrm>
            <a:off x="12781161" y="591681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</a:t>
            </a:r>
            <a:endParaRPr lang="en-US" sz="990" dirty="0"/>
          </a:p>
        </p:txBody>
      </p:sp>
      <p:sp>
        <p:nvSpPr>
          <p:cNvPr id="111" name="Shape 95"/>
          <p:cNvSpPr/>
          <p:nvPr/>
        </p:nvSpPr>
        <p:spPr>
          <a:xfrm>
            <a:off x="12781161" y="6114852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2" name="Text 96"/>
          <p:cNvSpPr/>
          <p:nvPr/>
        </p:nvSpPr>
        <p:spPr>
          <a:xfrm>
            <a:off x="12908161" y="6207562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L. Meier, R. Dubois</a:t>
            </a:r>
            <a:endParaRPr lang="en-US" sz="1170" dirty="0"/>
          </a:p>
        </p:txBody>
      </p:sp>
      <p:sp>
        <p:nvSpPr>
          <p:cNvPr id="113" name="Text 97"/>
          <p:cNvSpPr/>
          <p:nvPr/>
        </p:nvSpPr>
        <p:spPr>
          <a:xfrm>
            <a:off x="12781161" y="659229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Subject</a:t>
            </a:r>
            <a:endParaRPr lang="en-US" sz="990" dirty="0"/>
          </a:p>
        </p:txBody>
      </p:sp>
      <p:sp>
        <p:nvSpPr>
          <p:cNvPr id="114" name="Shape 98"/>
          <p:cNvSpPr/>
          <p:nvPr/>
        </p:nvSpPr>
        <p:spPr>
          <a:xfrm>
            <a:off x="12781161" y="679033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5" name="Text 99"/>
          <p:cNvSpPr/>
          <p:nvPr/>
        </p:nvSpPr>
        <p:spPr>
          <a:xfrm>
            <a:off x="12908161" y="688304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 staffing — decision needed</a:t>
            </a:r>
            <a:endParaRPr lang="en-US" sz="1170" dirty="0"/>
          </a:p>
        </p:txBody>
      </p:sp>
      <p:sp>
        <p:nvSpPr>
          <p:cNvPr id="116" name="Text 100"/>
          <p:cNvSpPr/>
          <p:nvPr/>
        </p:nvSpPr>
        <p:spPr>
          <a:xfrm>
            <a:off x="12781161" y="726777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Due</a:t>
            </a:r>
            <a:endParaRPr lang="en-US" sz="990" dirty="0"/>
          </a:p>
        </p:txBody>
      </p:sp>
      <p:sp>
        <p:nvSpPr>
          <p:cNvPr id="117" name="Shape 101"/>
          <p:cNvSpPr/>
          <p:nvPr/>
        </p:nvSpPr>
        <p:spPr>
          <a:xfrm>
            <a:off x="12781161" y="746581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8" name="Text 102"/>
          <p:cNvSpPr/>
          <p:nvPr/>
        </p:nvSpPr>
        <p:spPr>
          <a:xfrm>
            <a:off x="12908161" y="755852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 14 Aug</a:t>
            </a:r>
            <a:endParaRPr lang="en-US" sz="1170" dirty="0"/>
          </a:p>
        </p:txBody>
      </p:sp>
      <p:sp>
        <p:nvSpPr>
          <p:cNvPr id="119" name="Shape 103"/>
          <p:cNvSpPr/>
          <p:nvPr/>
        </p:nvSpPr>
        <p:spPr>
          <a:xfrm>
            <a:off x="12781161" y="7966075"/>
            <a:ext cx="1376562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0" name="Text 104"/>
          <p:cNvSpPr/>
          <p:nvPr/>
        </p:nvSpPr>
        <p:spPr>
          <a:xfrm>
            <a:off x="12941181" y="8046085"/>
            <a:ext cx="1132722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message</a:t>
            </a:r>
            <a:endParaRPr lang="en-US" sz="1170" dirty="0"/>
          </a:p>
        </p:txBody>
      </p:sp>
      <p:sp>
        <p:nvSpPr>
          <p:cNvPr id="121" name="Shape 105"/>
          <p:cNvSpPr/>
          <p:nvPr/>
        </p:nvSpPr>
        <p:spPr>
          <a:xfrm>
            <a:off x="14249005" y="7966075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2" name="Text 106"/>
          <p:cNvSpPr/>
          <p:nvPr/>
        </p:nvSpPr>
        <p:spPr>
          <a:xfrm>
            <a:off x="14421725" y="8058785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23" name="Shape 107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4" name="Shape 108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25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26" name="Text 109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28" name="Picture 127" descr="Android Apps by Hello Clever on Google Play">
            <a:extLst>
              <a:ext uri="{FF2B5EF4-FFF2-40B4-BE49-F238E27FC236}">
                <a16:creationId xmlns:a16="http://schemas.microsoft.com/office/drawing/2014/main" id="{86B42429-4EA1-379D-1B81-91F148E3EB8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sp>
        <p:nvSpPr>
          <p:cNvPr id="29" name="Shape 20"/>
          <p:cNvSpPr/>
          <p:nvPr/>
        </p:nvSpPr>
        <p:spPr>
          <a:xfrm>
            <a:off x="0" y="2822972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Shape 21"/>
          <p:cNvSpPr/>
          <p:nvPr/>
        </p:nvSpPr>
        <p:spPr>
          <a:xfrm>
            <a:off x="0" y="2822972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1891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 › Matching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7404974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matching — Kubernetes engineer, payments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257536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384536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517344" y="1183283"/>
            <a:ext cx="1450777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690064" y="1264563"/>
            <a:ext cx="1181537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shortlist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5748536" cy="8133755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5215176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Ranked candidates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521517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first, external only when the internal bench cannot cover demand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294063" y="2940248"/>
            <a:ext cx="5311974" cy="12700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3408363" y="2683867"/>
            <a:ext cx="102810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</a:t>
            </a:r>
            <a:endParaRPr lang="en-US" sz="1080" dirty="0"/>
          </a:p>
        </p:txBody>
      </p:sp>
      <p:sp>
        <p:nvSpPr>
          <p:cNvPr id="56" name="Text 41"/>
          <p:cNvSpPr/>
          <p:nvPr/>
        </p:nvSpPr>
        <p:spPr>
          <a:xfrm>
            <a:off x="4520208" y="2683867"/>
            <a:ext cx="71080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1080" dirty="0"/>
          </a:p>
        </p:txBody>
      </p:sp>
      <p:sp>
        <p:nvSpPr>
          <p:cNvPr id="57" name="Text 42"/>
          <p:cNvSpPr/>
          <p:nvPr/>
        </p:nvSpPr>
        <p:spPr>
          <a:xfrm>
            <a:off x="5314752" y="2683867"/>
            <a:ext cx="86935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1080" dirty="0"/>
          </a:p>
        </p:txBody>
      </p:sp>
      <p:sp>
        <p:nvSpPr>
          <p:cNvPr id="58" name="Text 43"/>
          <p:cNvSpPr/>
          <p:nvPr/>
        </p:nvSpPr>
        <p:spPr>
          <a:xfrm>
            <a:off x="6267847" y="2683867"/>
            <a:ext cx="79017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</a:t>
            </a:r>
            <a:endParaRPr lang="en-US" sz="1080" dirty="0"/>
          </a:p>
        </p:txBody>
      </p:sp>
      <p:sp>
        <p:nvSpPr>
          <p:cNvPr id="59" name="Text 44"/>
          <p:cNvSpPr/>
          <p:nvPr/>
        </p:nvSpPr>
        <p:spPr>
          <a:xfrm>
            <a:off x="7065566" y="2683867"/>
            <a:ext cx="63142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</a:t>
            </a:r>
            <a:endParaRPr lang="en-US" sz="1080" dirty="0"/>
          </a:p>
        </p:txBody>
      </p:sp>
      <p:sp>
        <p:nvSpPr>
          <p:cNvPr id="60" name="Text 45"/>
          <p:cNvSpPr/>
          <p:nvPr/>
        </p:nvSpPr>
        <p:spPr>
          <a:xfrm>
            <a:off x="7780735" y="2683867"/>
            <a:ext cx="71080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1080" dirty="0"/>
          </a:p>
        </p:txBody>
      </p:sp>
      <p:sp>
        <p:nvSpPr>
          <p:cNvPr id="61" name="Shape 46"/>
          <p:cNvSpPr/>
          <p:nvPr/>
        </p:nvSpPr>
        <p:spPr>
          <a:xfrm>
            <a:off x="3294063" y="2952949"/>
            <a:ext cx="5311974" cy="83542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Shape 47"/>
          <p:cNvSpPr/>
          <p:nvPr/>
        </p:nvSpPr>
        <p:spPr>
          <a:xfrm>
            <a:off x="3294063" y="3775670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3" name="Text 48"/>
          <p:cNvSpPr/>
          <p:nvPr/>
        </p:nvSpPr>
        <p:spPr>
          <a:xfrm>
            <a:off x="3408363" y="3269060"/>
            <a:ext cx="10281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Novak</a:t>
            </a:r>
            <a:endParaRPr lang="en-US" sz="1260" dirty="0"/>
          </a:p>
        </p:txBody>
      </p:sp>
      <p:sp>
        <p:nvSpPr>
          <p:cNvPr id="64" name="Text 49"/>
          <p:cNvSpPr/>
          <p:nvPr/>
        </p:nvSpPr>
        <p:spPr>
          <a:xfrm>
            <a:off x="4520208" y="3269060"/>
            <a:ext cx="7108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260" dirty="0"/>
          </a:p>
        </p:txBody>
      </p:sp>
      <p:sp>
        <p:nvSpPr>
          <p:cNvPr id="65" name="Text 50"/>
          <p:cNvSpPr/>
          <p:nvPr/>
        </p:nvSpPr>
        <p:spPr>
          <a:xfrm>
            <a:off x="5314752" y="3078560"/>
            <a:ext cx="86935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GitHub, 3 projects, CKA</a:t>
            </a:r>
            <a:endParaRPr lang="en-US" sz="1260" dirty="0"/>
          </a:p>
        </p:txBody>
      </p:sp>
      <p:sp>
        <p:nvSpPr>
          <p:cNvPr id="66" name="Text 51"/>
          <p:cNvSpPr/>
          <p:nvPr/>
        </p:nvSpPr>
        <p:spPr>
          <a:xfrm>
            <a:off x="6267847" y="3269060"/>
            <a:ext cx="7901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Sep</a:t>
            </a:r>
            <a:endParaRPr lang="en-US" sz="1260" dirty="0"/>
          </a:p>
        </p:txBody>
      </p:sp>
      <p:sp>
        <p:nvSpPr>
          <p:cNvPr id="67" name="Text 52"/>
          <p:cNvSpPr/>
          <p:nvPr/>
        </p:nvSpPr>
        <p:spPr>
          <a:xfrm>
            <a:off x="7065566" y="3269060"/>
            <a:ext cx="63142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</a:t>
            </a:r>
            <a:endParaRPr lang="en-US" sz="1260" dirty="0"/>
          </a:p>
        </p:txBody>
      </p:sp>
      <p:sp>
        <p:nvSpPr>
          <p:cNvPr id="68" name="Shape 53"/>
          <p:cNvSpPr/>
          <p:nvPr/>
        </p:nvSpPr>
        <p:spPr>
          <a:xfrm>
            <a:off x="7856935" y="3251200"/>
            <a:ext cx="777081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9" name="Text 54"/>
          <p:cNvSpPr/>
          <p:nvPr/>
        </p:nvSpPr>
        <p:spPr>
          <a:xfrm>
            <a:off x="7895035" y="3274060"/>
            <a:ext cx="62468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</a:t>
            </a:r>
            <a:endParaRPr lang="en-US" sz="1080" dirty="0"/>
          </a:p>
        </p:txBody>
      </p:sp>
      <p:sp>
        <p:nvSpPr>
          <p:cNvPr id="70" name="Shape 55"/>
          <p:cNvSpPr/>
          <p:nvPr/>
        </p:nvSpPr>
        <p:spPr>
          <a:xfrm>
            <a:off x="3294063" y="4611093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1" name="Text 56"/>
          <p:cNvSpPr/>
          <p:nvPr/>
        </p:nvSpPr>
        <p:spPr>
          <a:xfrm>
            <a:off x="3408363" y="4104481"/>
            <a:ext cx="10281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M. Bianchi</a:t>
            </a:r>
            <a:endParaRPr lang="en-US" sz="1260" dirty="0"/>
          </a:p>
        </p:txBody>
      </p:sp>
      <p:sp>
        <p:nvSpPr>
          <p:cNvPr id="72" name="Text 57"/>
          <p:cNvSpPr/>
          <p:nvPr/>
        </p:nvSpPr>
        <p:spPr>
          <a:xfrm>
            <a:off x="4520208" y="4104481"/>
            <a:ext cx="7108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</a:t>
            </a:r>
            <a:endParaRPr lang="en-US" sz="1260" dirty="0"/>
          </a:p>
        </p:txBody>
      </p:sp>
      <p:sp>
        <p:nvSpPr>
          <p:cNvPr id="73" name="Text 58"/>
          <p:cNvSpPr/>
          <p:nvPr/>
        </p:nvSpPr>
        <p:spPr>
          <a:xfrm>
            <a:off x="5314752" y="3913981"/>
            <a:ext cx="86935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ADO, 2 projects, CKAD</a:t>
            </a:r>
            <a:endParaRPr lang="en-US" sz="1260" dirty="0"/>
          </a:p>
        </p:txBody>
      </p:sp>
      <p:sp>
        <p:nvSpPr>
          <p:cNvPr id="74" name="Text 59"/>
          <p:cNvSpPr/>
          <p:nvPr/>
        </p:nvSpPr>
        <p:spPr>
          <a:xfrm>
            <a:off x="6267847" y="4104481"/>
            <a:ext cx="7901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Sep</a:t>
            </a:r>
            <a:endParaRPr lang="en-US" sz="1260" dirty="0"/>
          </a:p>
        </p:txBody>
      </p:sp>
      <p:sp>
        <p:nvSpPr>
          <p:cNvPr id="75" name="Text 60"/>
          <p:cNvSpPr/>
          <p:nvPr/>
        </p:nvSpPr>
        <p:spPr>
          <a:xfrm>
            <a:off x="7065566" y="4104481"/>
            <a:ext cx="63142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</a:t>
            </a:r>
            <a:endParaRPr lang="en-US" sz="1260" dirty="0"/>
          </a:p>
        </p:txBody>
      </p:sp>
      <p:sp>
        <p:nvSpPr>
          <p:cNvPr id="76" name="Shape 61"/>
          <p:cNvSpPr/>
          <p:nvPr/>
        </p:nvSpPr>
        <p:spPr>
          <a:xfrm>
            <a:off x="7856935" y="4086622"/>
            <a:ext cx="777081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7" name="Text 62"/>
          <p:cNvSpPr/>
          <p:nvPr/>
        </p:nvSpPr>
        <p:spPr>
          <a:xfrm>
            <a:off x="7895035" y="4109482"/>
            <a:ext cx="62468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</a:t>
            </a:r>
            <a:endParaRPr lang="en-US" sz="1080" dirty="0"/>
          </a:p>
        </p:txBody>
      </p:sp>
      <p:sp>
        <p:nvSpPr>
          <p:cNvPr id="78" name="Shape 63"/>
          <p:cNvSpPr/>
          <p:nvPr/>
        </p:nvSpPr>
        <p:spPr>
          <a:xfrm>
            <a:off x="3294063" y="5446514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9" name="Text 64"/>
          <p:cNvSpPr/>
          <p:nvPr/>
        </p:nvSpPr>
        <p:spPr>
          <a:xfrm>
            <a:off x="3408363" y="4939904"/>
            <a:ext cx="10281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J. Ferreira</a:t>
            </a:r>
            <a:endParaRPr lang="en-US" sz="1260" dirty="0"/>
          </a:p>
        </p:txBody>
      </p:sp>
      <p:sp>
        <p:nvSpPr>
          <p:cNvPr id="80" name="Text 65"/>
          <p:cNvSpPr/>
          <p:nvPr/>
        </p:nvSpPr>
        <p:spPr>
          <a:xfrm>
            <a:off x="4520208" y="4749403"/>
            <a:ext cx="71080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— bench</a:t>
            </a:r>
            <a:endParaRPr lang="en-US" sz="1260" dirty="0"/>
          </a:p>
        </p:txBody>
      </p:sp>
      <p:sp>
        <p:nvSpPr>
          <p:cNvPr id="81" name="Text 66"/>
          <p:cNvSpPr/>
          <p:nvPr/>
        </p:nvSpPr>
        <p:spPr>
          <a:xfrm>
            <a:off x="5314752" y="4844653"/>
            <a:ext cx="8693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Jira, 4 projects</a:t>
            </a:r>
            <a:endParaRPr lang="en-US" sz="1260" dirty="0"/>
          </a:p>
        </p:txBody>
      </p:sp>
      <p:sp>
        <p:nvSpPr>
          <p:cNvPr id="82" name="Text 67"/>
          <p:cNvSpPr/>
          <p:nvPr/>
        </p:nvSpPr>
        <p:spPr>
          <a:xfrm>
            <a:off x="6267847" y="4939904"/>
            <a:ext cx="7901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1260" dirty="0"/>
          </a:p>
        </p:txBody>
      </p:sp>
      <p:sp>
        <p:nvSpPr>
          <p:cNvPr id="83" name="Text 68"/>
          <p:cNvSpPr/>
          <p:nvPr/>
        </p:nvSpPr>
        <p:spPr>
          <a:xfrm>
            <a:off x="7065566" y="4939904"/>
            <a:ext cx="63142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1260" dirty="0"/>
          </a:p>
        </p:txBody>
      </p:sp>
      <p:sp>
        <p:nvSpPr>
          <p:cNvPr id="84" name="Shape 69"/>
          <p:cNvSpPr/>
          <p:nvPr/>
        </p:nvSpPr>
        <p:spPr>
          <a:xfrm>
            <a:off x="7856935" y="4922044"/>
            <a:ext cx="777081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5" name="Text 70"/>
          <p:cNvSpPr/>
          <p:nvPr/>
        </p:nvSpPr>
        <p:spPr>
          <a:xfrm>
            <a:off x="7895035" y="4944904"/>
            <a:ext cx="62468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</a:t>
            </a:r>
            <a:endParaRPr lang="en-US" sz="1080" dirty="0"/>
          </a:p>
        </p:txBody>
      </p:sp>
      <p:sp>
        <p:nvSpPr>
          <p:cNvPr id="86" name="Shape 71"/>
          <p:cNvSpPr/>
          <p:nvPr/>
        </p:nvSpPr>
        <p:spPr>
          <a:xfrm>
            <a:off x="3294063" y="6281936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7" name="Text 72"/>
          <p:cNvSpPr/>
          <p:nvPr/>
        </p:nvSpPr>
        <p:spPr>
          <a:xfrm>
            <a:off x="3408363" y="5775325"/>
            <a:ext cx="10281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Sharma</a:t>
            </a:r>
            <a:endParaRPr lang="en-US" sz="1260" dirty="0"/>
          </a:p>
        </p:txBody>
      </p:sp>
      <p:sp>
        <p:nvSpPr>
          <p:cNvPr id="88" name="Text 73"/>
          <p:cNvSpPr/>
          <p:nvPr/>
        </p:nvSpPr>
        <p:spPr>
          <a:xfrm>
            <a:off x="4520208" y="5584825"/>
            <a:ext cx="71080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— reskilling</a:t>
            </a:r>
            <a:endParaRPr lang="en-US" sz="1260" dirty="0"/>
          </a:p>
        </p:txBody>
      </p:sp>
      <p:sp>
        <p:nvSpPr>
          <p:cNvPr id="89" name="Text 74"/>
          <p:cNvSpPr/>
          <p:nvPr/>
        </p:nvSpPr>
        <p:spPr>
          <a:xfrm>
            <a:off x="5314752" y="5680075"/>
            <a:ext cx="8693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LMS path 62% done</a:t>
            </a:r>
            <a:endParaRPr lang="en-US" sz="1260" dirty="0"/>
          </a:p>
        </p:txBody>
      </p:sp>
      <p:sp>
        <p:nvSpPr>
          <p:cNvPr id="90" name="Text 75"/>
          <p:cNvSpPr/>
          <p:nvPr/>
        </p:nvSpPr>
        <p:spPr>
          <a:xfrm>
            <a:off x="6267847" y="5775325"/>
            <a:ext cx="7901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Oct</a:t>
            </a:r>
            <a:endParaRPr lang="en-US" sz="1260" dirty="0"/>
          </a:p>
        </p:txBody>
      </p:sp>
      <p:sp>
        <p:nvSpPr>
          <p:cNvPr id="91" name="Text 76"/>
          <p:cNvSpPr/>
          <p:nvPr/>
        </p:nvSpPr>
        <p:spPr>
          <a:xfrm>
            <a:off x="7065566" y="5775325"/>
            <a:ext cx="63142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</a:t>
            </a:r>
            <a:endParaRPr lang="en-US" sz="1260" dirty="0"/>
          </a:p>
        </p:txBody>
      </p:sp>
      <p:sp>
        <p:nvSpPr>
          <p:cNvPr id="92" name="Shape 77"/>
          <p:cNvSpPr/>
          <p:nvPr/>
        </p:nvSpPr>
        <p:spPr>
          <a:xfrm>
            <a:off x="7856935" y="5757466"/>
            <a:ext cx="769938" cy="22860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3" name="Text 78"/>
          <p:cNvSpPr/>
          <p:nvPr/>
        </p:nvSpPr>
        <p:spPr>
          <a:xfrm>
            <a:off x="7895035" y="5780326"/>
            <a:ext cx="61753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</a:t>
            </a:r>
            <a:endParaRPr lang="en-US" sz="1080" dirty="0"/>
          </a:p>
        </p:txBody>
      </p:sp>
      <p:sp>
        <p:nvSpPr>
          <p:cNvPr id="94" name="Shape 79"/>
          <p:cNvSpPr/>
          <p:nvPr/>
        </p:nvSpPr>
        <p:spPr>
          <a:xfrm>
            <a:off x="3294063" y="7117358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5" name="Text 80"/>
          <p:cNvSpPr/>
          <p:nvPr/>
        </p:nvSpPr>
        <p:spPr>
          <a:xfrm>
            <a:off x="3408363" y="6610747"/>
            <a:ext cx="10281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Lindqvist</a:t>
            </a:r>
            <a:endParaRPr lang="en-US" sz="1260" dirty="0"/>
          </a:p>
        </p:txBody>
      </p:sp>
      <p:sp>
        <p:nvSpPr>
          <p:cNvPr id="96" name="Text 81"/>
          <p:cNvSpPr/>
          <p:nvPr/>
        </p:nvSpPr>
        <p:spPr>
          <a:xfrm>
            <a:off x="4520208" y="6420247"/>
            <a:ext cx="71080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— partner</a:t>
            </a:r>
            <a:endParaRPr lang="en-US" sz="1260" dirty="0"/>
          </a:p>
        </p:txBody>
      </p:sp>
      <p:sp>
        <p:nvSpPr>
          <p:cNvPr id="97" name="Text 82"/>
          <p:cNvSpPr/>
          <p:nvPr/>
        </p:nvSpPr>
        <p:spPr>
          <a:xfrm>
            <a:off x="5314752" y="6515497"/>
            <a:ext cx="8693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CV</a:t>
            </a:r>
            <a:endParaRPr lang="en-US" sz="1260" dirty="0"/>
          </a:p>
        </p:txBody>
      </p:sp>
      <p:sp>
        <p:nvSpPr>
          <p:cNvPr id="98" name="Text 83"/>
          <p:cNvSpPr/>
          <p:nvPr/>
        </p:nvSpPr>
        <p:spPr>
          <a:xfrm>
            <a:off x="6267847" y="6610747"/>
            <a:ext cx="7901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Sep</a:t>
            </a:r>
            <a:endParaRPr lang="en-US" sz="1260" dirty="0"/>
          </a:p>
        </p:txBody>
      </p:sp>
      <p:sp>
        <p:nvSpPr>
          <p:cNvPr id="99" name="Text 84"/>
          <p:cNvSpPr/>
          <p:nvPr/>
        </p:nvSpPr>
        <p:spPr>
          <a:xfrm>
            <a:off x="7065566" y="6610747"/>
            <a:ext cx="63142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1260" dirty="0"/>
          </a:p>
        </p:txBody>
      </p:sp>
      <p:sp>
        <p:nvSpPr>
          <p:cNvPr id="100" name="Shape 85"/>
          <p:cNvSpPr/>
          <p:nvPr/>
        </p:nvSpPr>
        <p:spPr>
          <a:xfrm>
            <a:off x="7955757" y="6592888"/>
            <a:ext cx="535781" cy="228600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1" name="Text 86"/>
          <p:cNvSpPr/>
          <p:nvPr/>
        </p:nvSpPr>
        <p:spPr>
          <a:xfrm>
            <a:off x="7993857" y="6615748"/>
            <a:ext cx="38338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</a:t>
            </a:r>
            <a:endParaRPr lang="en-US" sz="1080" dirty="0"/>
          </a:p>
        </p:txBody>
      </p:sp>
      <p:sp>
        <p:nvSpPr>
          <p:cNvPr id="102" name="Shape 87"/>
          <p:cNvSpPr/>
          <p:nvPr/>
        </p:nvSpPr>
        <p:spPr>
          <a:xfrm>
            <a:off x="3294063" y="7792839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3" name="Text 88"/>
          <p:cNvSpPr/>
          <p:nvPr/>
        </p:nvSpPr>
        <p:spPr>
          <a:xfrm>
            <a:off x="3408363" y="7270949"/>
            <a:ext cx="10281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req.</a:t>
            </a:r>
            <a:endParaRPr lang="en-US" sz="1260" dirty="0"/>
          </a:p>
        </p:txBody>
      </p:sp>
      <p:sp>
        <p:nvSpPr>
          <p:cNvPr id="104" name="Text 89"/>
          <p:cNvSpPr/>
          <p:nvPr/>
        </p:nvSpPr>
        <p:spPr>
          <a:xfrm>
            <a:off x="4520208" y="7270949"/>
            <a:ext cx="71080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market</a:t>
            </a:r>
            <a:endParaRPr lang="en-US" sz="1260" dirty="0"/>
          </a:p>
        </p:txBody>
      </p:sp>
      <p:sp>
        <p:nvSpPr>
          <p:cNvPr id="105" name="Text 90"/>
          <p:cNvSpPr/>
          <p:nvPr/>
        </p:nvSpPr>
        <p:spPr>
          <a:xfrm>
            <a:off x="5314752" y="7270949"/>
            <a:ext cx="8693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sourced</a:t>
            </a:r>
            <a:endParaRPr lang="en-US" sz="1260" dirty="0"/>
          </a:p>
        </p:txBody>
      </p:sp>
      <p:sp>
        <p:nvSpPr>
          <p:cNvPr id="106" name="Text 91"/>
          <p:cNvSpPr/>
          <p:nvPr/>
        </p:nvSpPr>
        <p:spPr>
          <a:xfrm>
            <a:off x="6267847" y="7366199"/>
            <a:ext cx="7901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260" dirty="0"/>
          </a:p>
        </p:txBody>
      </p:sp>
      <p:sp>
        <p:nvSpPr>
          <p:cNvPr id="107" name="Text 92"/>
          <p:cNvSpPr/>
          <p:nvPr/>
        </p:nvSpPr>
        <p:spPr>
          <a:xfrm>
            <a:off x="7065566" y="7366199"/>
            <a:ext cx="63142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260" dirty="0"/>
          </a:p>
        </p:txBody>
      </p:sp>
      <p:sp>
        <p:nvSpPr>
          <p:cNvPr id="108" name="Shape 93"/>
          <p:cNvSpPr/>
          <p:nvPr/>
        </p:nvSpPr>
        <p:spPr>
          <a:xfrm>
            <a:off x="7856935" y="7255669"/>
            <a:ext cx="726480" cy="411560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9" name="Text 94"/>
          <p:cNvSpPr/>
          <p:nvPr/>
        </p:nvSpPr>
        <p:spPr>
          <a:xfrm>
            <a:off x="7895035" y="7278529"/>
            <a:ext cx="574080" cy="40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needed</a:t>
            </a:r>
            <a:endParaRPr lang="en-US" sz="1080" dirty="0"/>
          </a:p>
        </p:txBody>
      </p:sp>
      <p:sp>
        <p:nvSpPr>
          <p:cNvPr id="110" name="Shape 95"/>
          <p:cNvSpPr/>
          <p:nvPr/>
        </p:nvSpPr>
        <p:spPr>
          <a:xfrm>
            <a:off x="9007079" y="1924645"/>
            <a:ext cx="3086101" cy="2608064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1" name="Text 96"/>
          <p:cNvSpPr/>
          <p:nvPr/>
        </p:nvSpPr>
        <p:spPr>
          <a:xfrm>
            <a:off x="9225360" y="2142927"/>
            <a:ext cx="173228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 signal</a:t>
            </a:r>
            <a:endParaRPr lang="en-US" sz="1440" dirty="0"/>
          </a:p>
        </p:txBody>
      </p:sp>
      <p:sp>
        <p:nvSpPr>
          <p:cNvPr id="112" name="Text 97"/>
          <p:cNvSpPr/>
          <p:nvPr/>
        </p:nvSpPr>
        <p:spPr>
          <a:xfrm>
            <a:off x="9225360" y="2381647"/>
            <a:ext cx="173228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from delivery tools</a:t>
            </a:r>
            <a:endParaRPr lang="en-US" sz="1080" dirty="0"/>
          </a:p>
        </p:txBody>
      </p:sp>
      <p:sp>
        <p:nvSpPr>
          <p:cNvPr id="113" name="Shape 98"/>
          <p:cNvSpPr/>
          <p:nvPr/>
        </p:nvSpPr>
        <p:spPr>
          <a:xfrm>
            <a:off x="9225360" y="2975967"/>
            <a:ext cx="264953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4" name="Text 99"/>
          <p:cNvSpPr/>
          <p:nvPr/>
        </p:nvSpPr>
        <p:spPr>
          <a:xfrm>
            <a:off x="9225360" y="2741017"/>
            <a:ext cx="84078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roles</a:t>
            </a:r>
            <a:endParaRPr lang="en-US" sz="1170" dirty="0"/>
          </a:p>
        </p:txBody>
      </p:sp>
      <p:sp>
        <p:nvSpPr>
          <p:cNvPr id="115" name="Text 100"/>
          <p:cNvSpPr/>
          <p:nvPr/>
        </p:nvSpPr>
        <p:spPr>
          <a:xfrm>
            <a:off x="11784211" y="2741017"/>
            <a:ext cx="16688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70" dirty="0"/>
          </a:p>
        </p:txBody>
      </p:sp>
      <p:sp>
        <p:nvSpPr>
          <p:cNvPr id="116" name="Shape 101"/>
          <p:cNvSpPr/>
          <p:nvPr/>
        </p:nvSpPr>
        <p:spPr>
          <a:xfrm>
            <a:off x="9225360" y="3417888"/>
            <a:ext cx="264953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7" name="Text 102"/>
          <p:cNvSpPr/>
          <p:nvPr/>
        </p:nvSpPr>
        <p:spPr>
          <a:xfrm>
            <a:off x="9225360" y="3182938"/>
            <a:ext cx="41136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</a:t>
            </a:r>
            <a:endParaRPr lang="en-US" sz="1170" dirty="0"/>
          </a:p>
        </p:txBody>
      </p:sp>
      <p:sp>
        <p:nvSpPr>
          <p:cNvPr id="118" name="Text 103"/>
          <p:cNvSpPr/>
          <p:nvPr/>
        </p:nvSpPr>
        <p:spPr>
          <a:xfrm>
            <a:off x="11090672" y="3182938"/>
            <a:ext cx="86042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Sep 2026</a:t>
            </a:r>
            <a:endParaRPr lang="en-US" sz="1170" dirty="0"/>
          </a:p>
        </p:txBody>
      </p:sp>
      <p:sp>
        <p:nvSpPr>
          <p:cNvPr id="119" name="Shape 104"/>
          <p:cNvSpPr/>
          <p:nvPr/>
        </p:nvSpPr>
        <p:spPr>
          <a:xfrm>
            <a:off x="9225360" y="3859808"/>
            <a:ext cx="264953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0" name="Text 105"/>
          <p:cNvSpPr/>
          <p:nvPr/>
        </p:nvSpPr>
        <p:spPr>
          <a:xfrm>
            <a:off x="9225360" y="3624858"/>
            <a:ext cx="67230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</a:t>
            </a:r>
            <a:endParaRPr lang="en-US" sz="1170" dirty="0"/>
          </a:p>
        </p:txBody>
      </p:sp>
      <p:sp>
        <p:nvSpPr>
          <p:cNvPr id="121" name="Text 106"/>
          <p:cNvSpPr/>
          <p:nvPr/>
        </p:nvSpPr>
        <p:spPr>
          <a:xfrm>
            <a:off x="11218864" y="3624858"/>
            <a:ext cx="73223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months</a:t>
            </a:r>
            <a:endParaRPr lang="en-US" sz="1170" dirty="0"/>
          </a:p>
        </p:txBody>
      </p:sp>
      <p:sp>
        <p:nvSpPr>
          <p:cNvPr id="122" name="Shape 107"/>
          <p:cNvSpPr/>
          <p:nvPr/>
        </p:nvSpPr>
        <p:spPr>
          <a:xfrm>
            <a:off x="9225360" y="4301728"/>
            <a:ext cx="2649539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3" name="Text 108"/>
          <p:cNvSpPr/>
          <p:nvPr/>
        </p:nvSpPr>
        <p:spPr>
          <a:xfrm>
            <a:off x="9225360" y="4066779"/>
            <a:ext cx="68064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</a:t>
            </a:r>
            <a:endParaRPr lang="en-US" sz="1170" dirty="0"/>
          </a:p>
        </p:txBody>
      </p:sp>
      <p:sp>
        <p:nvSpPr>
          <p:cNvPr id="124" name="Text 109"/>
          <p:cNvSpPr/>
          <p:nvPr/>
        </p:nvSpPr>
        <p:spPr>
          <a:xfrm>
            <a:off x="10845008" y="4066779"/>
            <a:ext cx="110609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Zurich / hybrid</a:t>
            </a:r>
            <a:endParaRPr lang="en-US" sz="1170" dirty="0"/>
          </a:p>
        </p:txBody>
      </p:sp>
      <p:sp>
        <p:nvSpPr>
          <p:cNvPr id="125" name="Shape 110"/>
          <p:cNvSpPr/>
          <p:nvPr/>
        </p:nvSpPr>
        <p:spPr>
          <a:xfrm>
            <a:off x="9007079" y="4715471"/>
            <a:ext cx="3086101" cy="2036167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6" name="Text 111"/>
          <p:cNvSpPr/>
          <p:nvPr/>
        </p:nvSpPr>
        <p:spPr>
          <a:xfrm>
            <a:off x="9225360" y="4933752"/>
            <a:ext cx="1460083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fill rate</a:t>
            </a:r>
            <a:endParaRPr lang="en-US" sz="1440" dirty="0"/>
          </a:p>
        </p:txBody>
      </p:sp>
      <p:sp>
        <p:nvSpPr>
          <p:cNvPr id="127" name="Shape 112"/>
          <p:cNvSpPr/>
          <p:nvPr/>
        </p:nvSpPr>
        <p:spPr>
          <a:xfrm>
            <a:off x="9225360" y="5286772"/>
            <a:ext cx="2649539" cy="1246585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8" name="Text 113"/>
          <p:cNvSpPr/>
          <p:nvPr/>
        </p:nvSpPr>
        <p:spPr>
          <a:xfrm>
            <a:off x="9420821" y="5482233"/>
            <a:ext cx="248447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quarter</a:t>
            </a:r>
            <a:endParaRPr lang="en-US" sz="1080" dirty="0"/>
          </a:p>
        </p:txBody>
      </p:sp>
      <p:sp>
        <p:nvSpPr>
          <p:cNvPr id="129" name="Text 114"/>
          <p:cNvSpPr/>
          <p:nvPr/>
        </p:nvSpPr>
        <p:spPr>
          <a:xfrm>
            <a:off x="9420821" y="5715794"/>
            <a:ext cx="2484478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76%</a:t>
            </a:r>
            <a:endParaRPr lang="en-US" sz="2700" dirty="0"/>
          </a:p>
        </p:txBody>
      </p:sp>
      <p:sp>
        <p:nvSpPr>
          <p:cNvPr id="130" name="Text 115"/>
          <p:cNvSpPr/>
          <p:nvPr/>
        </p:nvSpPr>
        <p:spPr>
          <a:xfrm>
            <a:off x="9420821" y="6172796"/>
            <a:ext cx="58062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+28 pts</a:t>
            </a:r>
            <a:endParaRPr lang="en-US" sz="1080" dirty="0"/>
          </a:p>
        </p:txBody>
      </p:sp>
      <p:sp>
        <p:nvSpPr>
          <p:cNvPr id="131" name="Text 116"/>
          <p:cNvSpPr/>
          <p:nvPr/>
        </p:nvSpPr>
        <p:spPr>
          <a:xfrm>
            <a:off x="10016530" y="6172796"/>
            <a:ext cx="68421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48%</a:t>
            </a:r>
            <a:endParaRPr lang="en-US" sz="1080" dirty="0"/>
          </a:p>
        </p:txBody>
      </p:sp>
      <p:sp>
        <p:nvSpPr>
          <p:cNvPr id="132" name="Shape 117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33" name="Shape 118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4" name="Shape 119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35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36" name="Text 120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37" name="Text 121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38" name="Shape 122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9" name="Text 123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40" name="Shape 124"/>
          <p:cNvSpPr/>
          <p:nvPr/>
        </p:nvSpPr>
        <p:spPr>
          <a:xfrm>
            <a:off x="15332473" y="2612628"/>
            <a:ext cx="2534047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1" name="Text 125"/>
          <p:cNvSpPr/>
          <p:nvPr/>
        </p:nvSpPr>
        <p:spPr>
          <a:xfrm>
            <a:off x="15492493" y="2726928"/>
            <a:ext cx="229020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is S. Novak ranked first?</a:t>
            </a:r>
            <a:endParaRPr lang="en-US" sz="1260" dirty="0"/>
          </a:p>
        </p:txBody>
      </p:sp>
      <p:sp>
        <p:nvSpPr>
          <p:cNvPr id="142" name="Shape 126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3" name="Text 127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Kubernetes evidence in three delivered projects, and availability that matches the start date exactly.</a:t>
            </a:r>
            <a:endParaRPr lang="en-US" sz="1260" dirty="0"/>
          </a:p>
        </p:txBody>
      </p:sp>
      <p:sp>
        <p:nvSpPr>
          <p:cNvPr id="144" name="Shape 128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5" name="Text 129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 SCORE</a:t>
            </a:r>
            <a:endParaRPr lang="en-US" sz="990" dirty="0"/>
          </a:p>
        </p:txBody>
      </p:sp>
      <p:sp>
        <p:nvSpPr>
          <p:cNvPr id="146" name="Text 130"/>
          <p:cNvSpPr/>
          <p:nvPr/>
        </p:nvSpPr>
        <p:spPr>
          <a:xfrm>
            <a:off x="12781161" y="4494610"/>
            <a:ext cx="6534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Novak</a:t>
            </a:r>
            <a:endParaRPr lang="en-US" sz="1080" dirty="0"/>
          </a:p>
        </p:txBody>
      </p:sp>
      <p:sp>
        <p:nvSpPr>
          <p:cNvPr id="147" name="Text 131"/>
          <p:cNvSpPr/>
          <p:nvPr/>
        </p:nvSpPr>
        <p:spPr>
          <a:xfrm>
            <a:off x="17514888" y="4494610"/>
            <a:ext cx="25519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</a:t>
            </a:r>
            <a:endParaRPr lang="en-US" sz="1080" dirty="0"/>
          </a:p>
        </p:txBody>
      </p:sp>
      <p:sp>
        <p:nvSpPr>
          <p:cNvPr id="148" name="Shape 132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9" name="Shape 133"/>
          <p:cNvSpPr/>
          <p:nvPr/>
        </p:nvSpPr>
        <p:spPr>
          <a:xfrm>
            <a:off x="12781161" y="4716859"/>
            <a:ext cx="4617840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0" name="Text 134"/>
          <p:cNvSpPr/>
          <p:nvPr/>
        </p:nvSpPr>
        <p:spPr>
          <a:xfrm>
            <a:off x="12781161" y="4899621"/>
            <a:ext cx="75128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M. Bianchi</a:t>
            </a:r>
            <a:endParaRPr lang="en-US" sz="1080" dirty="0"/>
          </a:p>
        </p:txBody>
      </p:sp>
      <p:sp>
        <p:nvSpPr>
          <p:cNvPr id="151" name="Text 135"/>
          <p:cNvSpPr/>
          <p:nvPr/>
        </p:nvSpPr>
        <p:spPr>
          <a:xfrm>
            <a:off x="17518461" y="4899621"/>
            <a:ext cx="25161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</a:t>
            </a:r>
            <a:endParaRPr lang="en-US" sz="1080" dirty="0"/>
          </a:p>
        </p:txBody>
      </p:sp>
      <p:sp>
        <p:nvSpPr>
          <p:cNvPr id="152" name="Shape 136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3" name="Shape 137"/>
          <p:cNvSpPr/>
          <p:nvPr/>
        </p:nvSpPr>
        <p:spPr>
          <a:xfrm>
            <a:off x="12781161" y="5121871"/>
            <a:ext cx="4372175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4" name="Text 138"/>
          <p:cNvSpPr/>
          <p:nvPr/>
        </p:nvSpPr>
        <p:spPr>
          <a:xfrm>
            <a:off x="12781161" y="5304631"/>
            <a:ext cx="72787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J. Ferreira</a:t>
            </a:r>
            <a:endParaRPr lang="en-US" sz="1080" dirty="0"/>
          </a:p>
        </p:txBody>
      </p:sp>
      <p:sp>
        <p:nvSpPr>
          <p:cNvPr id="155" name="Text 139"/>
          <p:cNvSpPr/>
          <p:nvPr/>
        </p:nvSpPr>
        <p:spPr>
          <a:xfrm>
            <a:off x="17514888" y="5304631"/>
            <a:ext cx="25519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1080" dirty="0"/>
          </a:p>
        </p:txBody>
      </p:sp>
      <p:sp>
        <p:nvSpPr>
          <p:cNvPr id="156" name="Shape 140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7" name="Shape 141"/>
          <p:cNvSpPr/>
          <p:nvPr/>
        </p:nvSpPr>
        <p:spPr>
          <a:xfrm>
            <a:off x="12781161" y="5526882"/>
            <a:ext cx="4126508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8" name="Text 142"/>
          <p:cNvSpPr/>
          <p:nvPr/>
        </p:nvSpPr>
        <p:spPr>
          <a:xfrm>
            <a:off x="12781161" y="5709643"/>
            <a:ext cx="74553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Sharma</a:t>
            </a:r>
            <a:endParaRPr lang="en-US" sz="1080" dirty="0"/>
          </a:p>
        </p:txBody>
      </p:sp>
      <p:sp>
        <p:nvSpPr>
          <p:cNvPr id="159" name="Text 143"/>
          <p:cNvSpPr/>
          <p:nvPr/>
        </p:nvSpPr>
        <p:spPr>
          <a:xfrm>
            <a:off x="17556957" y="5709643"/>
            <a:ext cx="21312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</a:t>
            </a:r>
            <a:endParaRPr lang="en-US" sz="1080" dirty="0"/>
          </a:p>
        </p:txBody>
      </p:sp>
      <p:sp>
        <p:nvSpPr>
          <p:cNvPr id="160" name="Shape 144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1" name="Shape 145"/>
          <p:cNvSpPr/>
          <p:nvPr/>
        </p:nvSpPr>
        <p:spPr>
          <a:xfrm>
            <a:off x="12781161" y="5931893"/>
            <a:ext cx="3487937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2" name="Shape 146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3" name="Text 147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shortlist</a:t>
            </a:r>
            <a:endParaRPr lang="en-US" sz="1260" dirty="0"/>
          </a:p>
        </p:txBody>
      </p:sp>
      <p:sp>
        <p:nvSpPr>
          <p:cNvPr id="164" name="Text 148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Shortlist</a:t>
            </a:r>
            <a:endParaRPr lang="en-US" sz="990" dirty="0"/>
          </a:p>
        </p:txBody>
      </p:sp>
      <p:sp>
        <p:nvSpPr>
          <p:cNvPr id="165" name="Shape 149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6" name="Text 150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3 internal</a:t>
            </a:r>
            <a:endParaRPr lang="en-US" sz="1170" dirty="0"/>
          </a:p>
        </p:txBody>
      </p:sp>
      <p:sp>
        <p:nvSpPr>
          <p:cNvPr id="167" name="Text 151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Interviewers</a:t>
            </a:r>
            <a:endParaRPr lang="en-US" sz="990" dirty="0"/>
          </a:p>
        </p:txBody>
      </p:sp>
      <p:sp>
        <p:nvSpPr>
          <p:cNvPr id="168" name="Shape 152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9" name="Text 153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L. Meier + tech lead</a:t>
            </a:r>
            <a:endParaRPr lang="en-US" sz="1170" dirty="0"/>
          </a:p>
        </p:txBody>
      </p:sp>
      <p:sp>
        <p:nvSpPr>
          <p:cNvPr id="170" name="Text 154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by</a:t>
            </a:r>
            <a:endParaRPr lang="en-US" sz="990" dirty="0"/>
          </a:p>
        </p:txBody>
      </p:sp>
      <p:sp>
        <p:nvSpPr>
          <p:cNvPr id="171" name="Shape 155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2" name="Text 156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Aug 2026</a:t>
            </a:r>
            <a:endParaRPr lang="en-US" sz="1170" dirty="0"/>
          </a:p>
        </p:txBody>
      </p:sp>
      <p:sp>
        <p:nvSpPr>
          <p:cNvPr id="173" name="Shape 157"/>
          <p:cNvSpPr/>
          <p:nvPr/>
        </p:nvSpPr>
        <p:spPr>
          <a:xfrm>
            <a:off x="12781161" y="8631437"/>
            <a:ext cx="1647628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4" name="Text 158"/>
          <p:cNvSpPr/>
          <p:nvPr/>
        </p:nvSpPr>
        <p:spPr>
          <a:xfrm>
            <a:off x="12941181" y="8711447"/>
            <a:ext cx="1403788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requisition</a:t>
            </a:r>
            <a:endParaRPr lang="en-US" sz="1170" dirty="0"/>
          </a:p>
        </p:txBody>
      </p:sp>
      <p:sp>
        <p:nvSpPr>
          <p:cNvPr id="175" name="Shape 159"/>
          <p:cNvSpPr/>
          <p:nvPr/>
        </p:nvSpPr>
        <p:spPr>
          <a:xfrm>
            <a:off x="14520071" y="8631437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6" name="Text 160"/>
          <p:cNvSpPr/>
          <p:nvPr/>
        </p:nvSpPr>
        <p:spPr>
          <a:xfrm>
            <a:off x="14692791" y="8724147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77" name="Shape 161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8" name="Shape 162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79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80" name="Text 163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82" name="Picture 181" descr="Android Apps by Hello Clever on Google Play">
            <a:extLst>
              <a:ext uri="{FF2B5EF4-FFF2-40B4-BE49-F238E27FC236}">
                <a16:creationId xmlns:a16="http://schemas.microsoft.com/office/drawing/2014/main" id="{C2DA39FA-EED5-31C3-F6B1-B2A092DFAF6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sp>
        <p:nvSpPr>
          <p:cNvPr id="29" name="Shape 20"/>
          <p:cNvSpPr/>
          <p:nvPr/>
        </p:nvSpPr>
        <p:spPr>
          <a:xfrm>
            <a:off x="0" y="2822972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Shape 21"/>
          <p:cNvSpPr/>
          <p:nvPr/>
        </p:nvSpPr>
        <p:spPr>
          <a:xfrm>
            <a:off x="0" y="2822972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1891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 › Matching › S. Novak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5189637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candidate — explainability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225985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352985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485793" y="1183283"/>
            <a:ext cx="1482328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658513" y="1264563"/>
            <a:ext cx="1213088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rationale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4417219" cy="8133755"/>
          </a:xfrm>
          <a:prstGeom prst="roundRect">
            <a:avLst>
              <a:gd name="adj" fmla="val 2070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2985214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 to the 94 fit score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298521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factor traces to a source record</a:t>
            </a:r>
            <a:endParaRPr lang="en-US" sz="1080" dirty="0"/>
          </a:p>
        </p:txBody>
      </p:sp>
      <p:sp>
        <p:nvSpPr>
          <p:cNvPr id="54" name="Text 39"/>
          <p:cNvSpPr/>
          <p:nvPr/>
        </p:nvSpPr>
        <p:spPr>
          <a:xfrm>
            <a:off x="3294063" y="2683867"/>
            <a:ext cx="155896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skill overlap</a:t>
            </a:r>
            <a:endParaRPr lang="en-US" sz="1170" dirty="0"/>
          </a:p>
        </p:txBody>
      </p:sp>
      <p:sp>
        <p:nvSpPr>
          <p:cNvPr id="55" name="Text 40"/>
          <p:cNvSpPr/>
          <p:nvPr/>
        </p:nvSpPr>
        <p:spPr>
          <a:xfrm>
            <a:off x="6985993" y="2683867"/>
            <a:ext cx="36492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+38</a:t>
            </a:r>
            <a:endParaRPr lang="en-US" sz="1170" dirty="0"/>
          </a:p>
        </p:txBody>
      </p:sp>
      <p:sp>
        <p:nvSpPr>
          <p:cNvPr id="56" name="Shape 41"/>
          <p:cNvSpPr/>
          <p:nvPr/>
        </p:nvSpPr>
        <p:spPr>
          <a:xfrm>
            <a:off x="3294063" y="2930128"/>
            <a:ext cx="3980656" cy="9128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7" name="Shape 42"/>
          <p:cNvSpPr/>
          <p:nvPr/>
        </p:nvSpPr>
        <p:spPr>
          <a:xfrm>
            <a:off x="3294063" y="2930128"/>
            <a:ext cx="3630216" cy="9128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8" name="Text 43"/>
          <p:cNvSpPr/>
          <p:nvPr/>
        </p:nvSpPr>
        <p:spPr>
          <a:xfrm>
            <a:off x="3294063" y="3158530"/>
            <a:ext cx="289986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evidence (Jira, ADO, GitHub)</a:t>
            </a:r>
            <a:endParaRPr lang="en-US" sz="1170" dirty="0"/>
          </a:p>
        </p:txBody>
      </p:sp>
      <p:sp>
        <p:nvSpPr>
          <p:cNvPr id="59" name="Text 44"/>
          <p:cNvSpPr/>
          <p:nvPr/>
        </p:nvSpPr>
        <p:spPr>
          <a:xfrm>
            <a:off x="6989168" y="3158530"/>
            <a:ext cx="36175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+24</a:t>
            </a:r>
            <a:endParaRPr lang="en-US" sz="1170" dirty="0"/>
          </a:p>
        </p:txBody>
      </p:sp>
      <p:sp>
        <p:nvSpPr>
          <p:cNvPr id="60" name="Shape 45"/>
          <p:cNvSpPr/>
          <p:nvPr/>
        </p:nvSpPr>
        <p:spPr>
          <a:xfrm>
            <a:off x="3294063" y="3404791"/>
            <a:ext cx="3980656" cy="9128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1" name="Shape 46"/>
          <p:cNvSpPr/>
          <p:nvPr/>
        </p:nvSpPr>
        <p:spPr>
          <a:xfrm>
            <a:off x="3294063" y="3404791"/>
            <a:ext cx="2292747" cy="9128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Text 47"/>
          <p:cNvSpPr/>
          <p:nvPr/>
        </p:nvSpPr>
        <p:spPr>
          <a:xfrm>
            <a:off x="3294063" y="3633192"/>
            <a:ext cx="166723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 window fit</a:t>
            </a:r>
            <a:endParaRPr lang="en-US" sz="1170" dirty="0"/>
          </a:p>
        </p:txBody>
      </p:sp>
      <p:sp>
        <p:nvSpPr>
          <p:cNvPr id="63" name="Text 48"/>
          <p:cNvSpPr/>
          <p:nvPr/>
        </p:nvSpPr>
        <p:spPr>
          <a:xfrm>
            <a:off x="7016750" y="3633192"/>
            <a:ext cx="33416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</a:t>
            </a:r>
            <a:endParaRPr lang="en-US" sz="1170" dirty="0"/>
          </a:p>
        </p:txBody>
      </p:sp>
      <p:sp>
        <p:nvSpPr>
          <p:cNvPr id="64" name="Shape 49"/>
          <p:cNvSpPr/>
          <p:nvPr/>
        </p:nvSpPr>
        <p:spPr>
          <a:xfrm>
            <a:off x="3294063" y="3879453"/>
            <a:ext cx="3980656" cy="9128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5" name="Shape 50"/>
          <p:cNvSpPr/>
          <p:nvPr/>
        </p:nvSpPr>
        <p:spPr>
          <a:xfrm>
            <a:off x="3294063" y="3879453"/>
            <a:ext cx="1719461" cy="9128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6" name="Text 51"/>
          <p:cNvSpPr/>
          <p:nvPr/>
        </p:nvSpPr>
        <p:spPr>
          <a:xfrm>
            <a:off x="3294063" y="4107855"/>
            <a:ext cx="146510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trajectory</a:t>
            </a:r>
            <a:endParaRPr lang="en-US" sz="1170" dirty="0"/>
          </a:p>
        </p:txBody>
      </p:sp>
      <p:sp>
        <p:nvSpPr>
          <p:cNvPr id="67" name="Text 52"/>
          <p:cNvSpPr/>
          <p:nvPr/>
        </p:nvSpPr>
        <p:spPr>
          <a:xfrm>
            <a:off x="7079656" y="4107855"/>
            <a:ext cx="27126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</a:t>
            </a:r>
            <a:endParaRPr lang="en-US" sz="1170" dirty="0"/>
          </a:p>
        </p:txBody>
      </p:sp>
      <p:sp>
        <p:nvSpPr>
          <p:cNvPr id="68" name="Shape 53"/>
          <p:cNvSpPr/>
          <p:nvPr/>
        </p:nvSpPr>
        <p:spPr>
          <a:xfrm>
            <a:off x="3294063" y="4354116"/>
            <a:ext cx="3980656" cy="9128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9" name="Shape 54"/>
          <p:cNvSpPr/>
          <p:nvPr/>
        </p:nvSpPr>
        <p:spPr>
          <a:xfrm>
            <a:off x="3294063" y="4354116"/>
            <a:ext cx="859631" cy="9128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0" name="Text 55"/>
          <p:cNvSpPr/>
          <p:nvPr/>
        </p:nvSpPr>
        <p:spPr>
          <a:xfrm>
            <a:off x="3294063" y="4582517"/>
            <a:ext cx="236071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exposure — payments</a:t>
            </a:r>
            <a:endParaRPr lang="en-US" sz="1170" dirty="0"/>
          </a:p>
        </p:txBody>
      </p:sp>
      <p:sp>
        <p:nvSpPr>
          <p:cNvPr id="71" name="Text 56"/>
          <p:cNvSpPr/>
          <p:nvPr/>
        </p:nvSpPr>
        <p:spPr>
          <a:xfrm>
            <a:off x="7083624" y="4582517"/>
            <a:ext cx="26729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</a:t>
            </a:r>
            <a:endParaRPr lang="en-US" sz="1170" dirty="0"/>
          </a:p>
        </p:txBody>
      </p:sp>
      <p:sp>
        <p:nvSpPr>
          <p:cNvPr id="72" name="Shape 57"/>
          <p:cNvSpPr/>
          <p:nvPr/>
        </p:nvSpPr>
        <p:spPr>
          <a:xfrm>
            <a:off x="3294063" y="4828779"/>
            <a:ext cx="3980656" cy="9128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3" name="Shape 58"/>
          <p:cNvSpPr/>
          <p:nvPr/>
        </p:nvSpPr>
        <p:spPr>
          <a:xfrm>
            <a:off x="3294063" y="4828779"/>
            <a:ext cx="477639" cy="9128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4" name="Text 59"/>
          <p:cNvSpPr/>
          <p:nvPr/>
        </p:nvSpPr>
        <p:spPr>
          <a:xfrm>
            <a:off x="3294063" y="5057180"/>
            <a:ext cx="175258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 endorsement</a:t>
            </a:r>
            <a:endParaRPr lang="en-US" sz="1170" dirty="0"/>
          </a:p>
        </p:txBody>
      </p:sp>
      <p:sp>
        <p:nvSpPr>
          <p:cNvPr id="75" name="Text 60"/>
          <p:cNvSpPr/>
          <p:nvPr/>
        </p:nvSpPr>
        <p:spPr>
          <a:xfrm>
            <a:off x="6687741" y="5057180"/>
            <a:ext cx="663178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</a:t>
            </a:r>
            <a:endParaRPr lang="en-US" sz="1170" dirty="0"/>
          </a:p>
        </p:txBody>
      </p:sp>
      <p:sp>
        <p:nvSpPr>
          <p:cNvPr id="76" name="Shape 61"/>
          <p:cNvSpPr/>
          <p:nvPr/>
        </p:nvSpPr>
        <p:spPr>
          <a:xfrm>
            <a:off x="3294063" y="5303441"/>
            <a:ext cx="3980656" cy="9128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7" name="Shape 62"/>
          <p:cNvSpPr/>
          <p:nvPr/>
        </p:nvSpPr>
        <p:spPr>
          <a:xfrm>
            <a:off x="7675761" y="1924645"/>
            <a:ext cx="4417418" cy="2074466"/>
          </a:xfrm>
          <a:prstGeom prst="roundRect">
            <a:avLst>
              <a:gd name="adj" fmla="val 4408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8" name="Text 63"/>
          <p:cNvSpPr/>
          <p:nvPr/>
        </p:nvSpPr>
        <p:spPr>
          <a:xfrm>
            <a:off x="7894043" y="2142927"/>
            <a:ext cx="238363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used in this decision</a:t>
            </a:r>
            <a:endParaRPr lang="en-US" sz="1440" dirty="0"/>
          </a:p>
        </p:txBody>
      </p:sp>
      <p:sp>
        <p:nvSpPr>
          <p:cNvPr id="79" name="Text 64"/>
          <p:cNvSpPr/>
          <p:nvPr/>
        </p:nvSpPr>
        <p:spPr>
          <a:xfrm>
            <a:off x="7894043" y="2381647"/>
            <a:ext cx="238363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Excluded by policy, permanently</a:t>
            </a:r>
            <a:endParaRPr lang="en-US" sz="1080" dirty="0"/>
          </a:p>
        </p:txBody>
      </p:sp>
      <p:sp>
        <p:nvSpPr>
          <p:cNvPr id="80" name="Shape 65"/>
          <p:cNvSpPr/>
          <p:nvPr/>
        </p:nvSpPr>
        <p:spPr>
          <a:xfrm>
            <a:off x="7894043" y="2683867"/>
            <a:ext cx="512564" cy="304800"/>
          </a:xfrm>
          <a:prstGeom prst="roundRect">
            <a:avLst>
              <a:gd name="adj" fmla="val 15000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81" name="Text 66"/>
          <p:cNvSpPr/>
          <p:nvPr/>
        </p:nvSpPr>
        <p:spPr>
          <a:xfrm>
            <a:off x="8021043" y="2753717"/>
            <a:ext cx="33476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strike="sngStrike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</a:t>
            </a:r>
            <a:endParaRPr lang="en-US" sz="1080" dirty="0"/>
          </a:p>
        </p:txBody>
      </p:sp>
      <p:sp>
        <p:nvSpPr>
          <p:cNvPr id="82" name="Shape 67"/>
          <p:cNvSpPr/>
          <p:nvPr/>
        </p:nvSpPr>
        <p:spPr>
          <a:xfrm>
            <a:off x="8497888" y="2683867"/>
            <a:ext cx="732632" cy="304800"/>
          </a:xfrm>
          <a:prstGeom prst="roundRect">
            <a:avLst>
              <a:gd name="adj" fmla="val 15000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83" name="Text 68"/>
          <p:cNvSpPr/>
          <p:nvPr/>
        </p:nvSpPr>
        <p:spPr>
          <a:xfrm>
            <a:off x="8624888" y="2753717"/>
            <a:ext cx="55483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strike="sngStrike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Gender</a:t>
            </a:r>
            <a:endParaRPr lang="en-US" sz="1080" dirty="0"/>
          </a:p>
        </p:txBody>
      </p:sp>
      <p:sp>
        <p:nvSpPr>
          <p:cNvPr id="84" name="Shape 69"/>
          <p:cNvSpPr/>
          <p:nvPr/>
        </p:nvSpPr>
        <p:spPr>
          <a:xfrm>
            <a:off x="9321801" y="2683867"/>
            <a:ext cx="943371" cy="304800"/>
          </a:xfrm>
          <a:prstGeom prst="roundRect">
            <a:avLst>
              <a:gd name="adj" fmla="val 15000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85" name="Text 70"/>
          <p:cNvSpPr/>
          <p:nvPr/>
        </p:nvSpPr>
        <p:spPr>
          <a:xfrm>
            <a:off x="9448801" y="2753717"/>
            <a:ext cx="76557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strike="sngStrike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Nationality</a:t>
            </a:r>
            <a:endParaRPr lang="en-US" sz="1080" dirty="0"/>
          </a:p>
        </p:txBody>
      </p:sp>
      <p:sp>
        <p:nvSpPr>
          <p:cNvPr id="86" name="Shape 71"/>
          <p:cNvSpPr/>
          <p:nvPr/>
        </p:nvSpPr>
        <p:spPr>
          <a:xfrm>
            <a:off x="10356454" y="2683867"/>
            <a:ext cx="996950" cy="304800"/>
          </a:xfrm>
          <a:prstGeom prst="roundRect">
            <a:avLst>
              <a:gd name="adj" fmla="val 15000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87" name="Text 72"/>
          <p:cNvSpPr/>
          <p:nvPr/>
        </p:nvSpPr>
        <p:spPr>
          <a:xfrm>
            <a:off x="10483454" y="2753717"/>
            <a:ext cx="81915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strike="sngStrike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data</a:t>
            </a:r>
            <a:endParaRPr lang="en-US" sz="1080" dirty="0"/>
          </a:p>
        </p:txBody>
      </p:sp>
      <p:sp>
        <p:nvSpPr>
          <p:cNvPr id="88" name="Shape 73"/>
          <p:cNvSpPr/>
          <p:nvPr/>
        </p:nvSpPr>
        <p:spPr>
          <a:xfrm>
            <a:off x="7894043" y="3079948"/>
            <a:ext cx="659805" cy="304800"/>
          </a:xfrm>
          <a:prstGeom prst="roundRect">
            <a:avLst>
              <a:gd name="adj" fmla="val 15000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89" name="Text 74"/>
          <p:cNvSpPr/>
          <p:nvPr/>
        </p:nvSpPr>
        <p:spPr>
          <a:xfrm>
            <a:off x="8021043" y="3149798"/>
            <a:ext cx="48200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strike="sngStrike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Salary</a:t>
            </a:r>
            <a:endParaRPr lang="en-US" sz="1080" dirty="0"/>
          </a:p>
        </p:txBody>
      </p:sp>
      <p:sp>
        <p:nvSpPr>
          <p:cNvPr id="90" name="Shape 75"/>
          <p:cNvSpPr/>
          <p:nvPr/>
        </p:nvSpPr>
        <p:spPr>
          <a:xfrm>
            <a:off x="8645129" y="3079948"/>
            <a:ext cx="1215826" cy="304800"/>
          </a:xfrm>
          <a:prstGeom prst="roundRect">
            <a:avLst>
              <a:gd name="adj" fmla="val 15000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91" name="Text 76"/>
          <p:cNvSpPr/>
          <p:nvPr/>
        </p:nvSpPr>
        <p:spPr>
          <a:xfrm>
            <a:off x="8772129" y="3149798"/>
            <a:ext cx="103802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strike="sngStrike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Parental status</a:t>
            </a:r>
            <a:endParaRPr lang="en-US" sz="1080" dirty="0"/>
          </a:p>
        </p:txBody>
      </p:sp>
      <p:sp>
        <p:nvSpPr>
          <p:cNvPr id="92" name="Shape 77"/>
          <p:cNvSpPr/>
          <p:nvPr/>
        </p:nvSpPr>
        <p:spPr>
          <a:xfrm>
            <a:off x="9952237" y="3079948"/>
            <a:ext cx="1477764" cy="304800"/>
          </a:xfrm>
          <a:prstGeom prst="roundRect">
            <a:avLst>
              <a:gd name="adj" fmla="val 15000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93" name="Text 78"/>
          <p:cNvSpPr/>
          <p:nvPr/>
        </p:nvSpPr>
        <p:spPr>
          <a:xfrm>
            <a:off x="10079237" y="3149798"/>
            <a:ext cx="129996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strike="sngStrike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Union membership</a:t>
            </a:r>
            <a:endParaRPr lang="en-US" sz="1080" dirty="0"/>
          </a:p>
        </p:txBody>
      </p:sp>
      <p:sp>
        <p:nvSpPr>
          <p:cNvPr id="94" name="Shape 79"/>
          <p:cNvSpPr/>
          <p:nvPr/>
        </p:nvSpPr>
        <p:spPr>
          <a:xfrm>
            <a:off x="7894043" y="3476030"/>
            <a:ext cx="630436" cy="304800"/>
          </a:xfrm>
          <a:prstGeom prst="roundRect">
            <a:avLst>
              <a:gd name="adj" fmla="val 15000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95" name="Text 80"/>
          <p:cNvSpPr/>
          <p:nvPr/>
        </p:nvSpPr>
        <p:spPr>
          <a:xfrm>
            <a:off x="8021043" y="3545880"/>
            <a:ext cx="45263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strike="sngStrike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</a:t>
            </a:r>
            <a:endParaRPr lang="en-US" sz="1080" dirty="0"/>
          </a:p>
        </p:txBody>
      </p:sp>
      <p:sp>
        <p:nvSpPr>
          <p:cNvPr id="96" name="Shape 81"/>
          <p:cNvSpPr/>
          <p:nvPr/>
        </p:nvSpPr>
        <p:spPr>
          <a:xfrm>
            <a:off x="7675761" y="4181872"/>
            <a:ext cx="4417418" cy="5876529"/>
          </a:xfrm>
          <a:prstGeom prst="roundRect">
            <a:avLst>
              <a:gd name="adj" fmla="val 2070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7" name="Text 82"/>
          <p:cNvSpPr/>
          <p:nvPr/>
        </p:nvSpPr>
        <p:spPr>
          <a:xfrm>
            <a:off x="7894043" y="4400154"/>
            <a:ext cx="2609989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decision</a:t>
            </a:r>
            <a:endParaRPr lang="en-US" sz="1440" dirty="0"/>
          </a:p>
        </p:txBody>
      </p:sp>
      <p:sp>
        <p:nvSpPr>
          <p:cNvPr id="98" name="Text 83"/>
          <p:cNvSpPr/>
          <p:nvPr/>
        </p:nvSpPr>
        <p:spPr>
          <a:xfrm>
            <a:off x="7894043" y="4638874"/>
            <a:ext cx="260998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hub proposes, a person decides</a:t>
            </a:r>
            <a:endParaRPr lang="en-US" sz="1080" dirty="0"/>
          </a:p>
        </p:txBody>
      </p:sp>
      <p:sp>
        <p:nvSpPr>
          <p:cNvPr id="99" name="Text 84"/>
          <p:cNvSpPr/>
          <p:nvPr/>
        </p:nvSpPr>
        <p:spPr>
          <a:xfrm>
            <a:off x="7894043" y="4941094"/>
            <a:ext cx="410028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proposal goes to the delivery lead and the HR business partner with the full rationale attached. Their decision, and any override, is written back to the audit trail.</a:t>
            </a:r>
            <a:endParaRPr lang="en-US" sz="1170" dirty="0"/>
          </a:p>
        </p:txBody>
      </p:sp>
      <p:sp>
        <p:nvSpPr>
          <p:cNvPr id="100" name="Shape 85"/>
          <p:cNvSpPr/>
          <p:nvPr/>
        </p:nvSpPr>
        <p:spPr>
          <a:xfrm>
            <a:off x="7894043" y="9499997"/>
            <a:ext cx="1620044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1" name="Text 86"/>
          <p:cNvSpPr/>
          <p:nvPr/>
        </p:nvSpPr>
        <p:spPr>
          <a:xfrm>
            <a:off x="8066763" y="9581277"/>
            <a:ext cx="1350804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proposal</a:t>
            </a:r>
            <a:endParaRPr lang="en-US" sz="1170" dirty="0"/>
          </a:p>
        </p:txBody>
      </p:sp>
      <p:sp>
        <p:nvSpPr>
          <p:cNvPr id="102" name="Shape 87"/>
          <p:cNvSpPr/>
          <p:nvPr/>
        </p:nvSpPr>
        <p:spPr>
          <a:xfrm>
            <a:off x="9628387" y="9499997"/>
            <a:ext cx="1736922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3" name="Text 88"/>
          <p:cNvSpPr/>
          <p:nvPr/>
        </p:nvSpPr>
        <p:spPr>
          <a:xfrm>
            <a:off x="9801107" y="9581277"/>
            <a:ext cx="1467682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alternative</a:t>
            </a:r>
            <a:endParaRPr lang="en-US" sz="1170" dirty="0"/>
          </a:p>
        </p:txBody>
      </p:sp>
      <p:sp>
        <p:nvSpPr>
          <p:cNvPr id="104" name="Shape 89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5" name="Shape 90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6" name="Shape 91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7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08" name="Text 92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09" name="Text 93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10" name="Shape 94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1" name="Text 95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12" name="Shape 96"/>
          <p:cNvSpPr/>
          <p:nvPr/>
        </p:nvSpPr>
        <p:spPr>
          <a:xfrm>
            <a:off x="13295512" y="2612628"/>
            <a:ext cx="4571008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3" name="Text 97"/>
          <p:cNvSpPr/>
          <p:nvPr/>
        </p:nvSpPr>
        <p:spPr>
          <a:xfrm>
            <a:off x="13455532" y="2726928"/>
            <a:ext cx="438809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Would the ranking change without the GitHub evidence?</a:t>
            </a:r>
            <a:endParaRPr lang="en-US" sz="1260" dirty="0"/>
          </a:p>
        </p:txBody>
      </p:sp>
      <p:sp>
        <p:nvSpPr>
          <p:cNvPr id="114" name="Shape 98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5" name="Text 99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Slightly. S. Novak stays first, M. Bianchi and J. Ferreira swap. No excluded attribute affects either result.</a:t>
            </a:r>
            <a:endParaRPr lang="en-US" sz="1260" dirty="0"/>
          </a:p>
        </p:txBody>
      </p:sp>
      <p:sp>
        <p:nvSpPr>
          <p:cNvPr id="116" name="Shape 100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7" name="Text 101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POINTS</a:t>
            </a:r>
            <a:endParaRPr lang="en-US" sz="990" dirty="0"/>
          </a:p>
        </p:txBody>
      </p:sp>
      <p:sp>
        <p:nvSpPr>
          <p:cNvPr id="118" name="Text 102"/>
          <p:cNvSpPr/>
          <p:nvPr/>
        </p:nvSpPr>
        <p:spPr>
          <a:xfrm>
            <a:off x="12781161" y="4494610"/>
            <a:ext cx="93126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overlap</a:t>
            </a:r>
            <a:endParaRPr lang="en-US" sz="1080" dirty="0"/>
          </a:p>
        </p:txBody>
      </p:sp>
      <p:sp>
        <p:nvSpPr>
          <p:cNvPr id="119" name="Text 103"/>
          <p:cNvSpPr/>
          <p:nvPr/>
        </p:nvSpPr>
        <p:spPr>
          <a:xfrm>
            <a:off x="17518856" y="4494610"/>
            <a:ext cx="25122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1080" dirty="0"/>
          </a:p>
        </p:txBody>
      </p:sp>
      <p:sp>
        <p:nvSpPr>
          <p:cNvPr id="120" name="Shape 104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1" name="Shape 105"/>
          <p:cNvSpPr/>
          <p:nvPr/>
        </p:nvSpPr>
        <p:spPr>
          <a:xfrm>
            <a:off x="12781161" y="4716859"/>
            <a:ext cx="1866703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2" name="Text 106"/>
          <p:cNvSpPr/>
          <p:nvPr/>
        </p:nvSpPr>
        <p:spPr>
          <a:xfrm>
            <a:off x="12781161" y="4899621"/>
            <a:ext cx="12352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evidence</a:t>
            </a:r>
            <a:endParaRPr lang="en-US" sz="1080" dirty="0"/>
          </a:p>
        </p:txBody>
      </p:sp>
      <p:sp>
        <p:nvSpPr>
          <p:cNvPr id="123" name="Text 107"/>
          <p:cNvSpPr/>
          <p:nvPr/>
        </p:nvSpPr>
        <p:spPr>
          <a:xfrm>
            <a:off x="17519254" y="4899621"/>
            <a:ext cx="25082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080" dirty="0"/>
          </a:p>
        </p:txBody>
      </p:sp>
      <p:sp>
        <p:nvSpPr>
          <p:cNvPr id="124" name="Shape 108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5" name="Shape 109"/>
          <p:cNvSpPr/>
          <p:nvPr/>
        </p:nvSpPr>
        <p:spPr>
          <a:xfrm>
            <a:off x="12781161" y="5121871"/>
            <a:ext cx="1178918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6" name="Text 110"/>
          <p:cNvSpPr/>
          <p:nvPr/>
        </p:nvSpPr>
        <p:spPr>
          <a:xfrm>
            <a:off x="12781161" y="5304631"/>
            <a:ext cx="76616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</a:t>
            </a:r>
            <a:endParaRPr lang="en-US" sz="1080" dirty="0"/>
          </a:p>
        </p:txBody>
      </p:sp>
      <p:sp>
        <p:nvSpPr>
          <p:cNvPr id="127" name="Text 111"/>
          <p:cNvSpPr/>
          <p:nvPr/>
        </p:nvSpPr>
        <p:spPr>
          <a:xfrm>
            <a:off x="17548028" y="5304631"/>
            <a:ext cx="22205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080" dirty="0"/>
          </a:p>
        </p:txBody>
      </p:sp>
      <p:sp>
        <p:nvSpPr>
          <p:cNvPr id="128" name="Shape 112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9" name="Shape 113"/>
          <p:cNvSpPr/>
          <p:nvPr/>
        </p:nvSpPr>
        <p:spPr>
          <a:xfrm>
            <a:off x="12781161" y="5526882"/>
            <a:ext cx="884238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0" name="Text 114"/>
          <p:cNvSpPr/>
          <p:nvPr/>
        </p:nvSpPr>
        <p:spPr>
          <a:xfrm>
            <a:off x="12781161" y="5709643"/>
            <a:ext cx="64492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080" dirty="0"/>
          </a:p>
        </p:txBody>
      </p:sp>
      <p:sp>
        <p:nvSpPr>
          <p:cNvPr id="131" name="Text 115"/>
          <p:cNvSpPr/>
          <p:nvPr/>
        </p:nvSpPr>
        <p:spPr>
          <a:xfrm>
            <a:off x="17606170" y="5709643"/>
            <a:ext cx="16391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80" dirty="0"/>
          </a:p>
        </p:txBody>
      </p:sp>
      <p:sp>
        <p:nvSpPr>
          <p:cNvPr id="132" name="Shape 116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3" name="Shape 117"/>
          <p:cNvSpPr/>
          <p:nvPr/>
        </p:nvSpPr>
        <p:spPr>
          <a:xfrm>
            <a:off x="12781161" y="5931893"/>
            <a:ext cx="442120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4" name="Shape 118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5" name="Text 119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decision rationale</a:t>
            </a:r>
            <a:endParaRPr lang="en-US" sz="1260" dirty="0"/>
          </a:p>
        </p:txBody>
      </p:sp>
      <p:sp>
        <p:nvSpPr>
          <p:cNvPr id="136" name="Text 120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990" dirty="0"/>
          </a:p>
        </p:txBody>
      </p:sp>
      <p:sp>
        <p:nvSpPr>
          <p:cNvPr id="137" name="Shape 121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8" name="Text 122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Proceed with ranked order</a:t>
            </a:r>
            <a:endParaRPr lang="en-US" sz="1170" dirty="0"/>
          </a:p>
        </p:txBody>
      </p:sp>
      <p:sp>
        <p:nvSpPr>
          <p:cNvPr id="139" name="Text 123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by</a:t>
            </a:r>
            <a:endParaRPr lang="en-US" sz="990" dirty="0"/>
          </a:p>
        </p:txBody>
      </p:sp>
      <p:sp>
        <p:nvSpPr>
          <p:cNvPr id="140" name="Shape 124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1" name="Text 125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R. Dubois</a:t>
            </a:r>
            <a:endParaRPr lang="en-US" sz="1170" dirty="0"/>
          </a:p>
        </p:txBody>
      </p:sp>
      <p:sp>
        <p:nvSpPr>
          <p:cNvPr id="142" name="Text 126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Attachment</a:t>
            </a:r>
            <a:endParaRPr lang="en-US" sz="990" dirty="0"/>
          </a:p>
        </p:txBody>
      </p:sp>
      <p:sp>
        <p:nvSpPr>
          <p:cNvPr id="143" name="Shape 127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4" name="Text 128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 breakdown</a:t>
            </a:r>
            <a:endParaRPr lang="en-US" sz="1170" dirty="0"/>
          </a:p>
        </p:txBody>
      </p:sp>
      <p:sp>
        <p:nvSpPr>
          <p:cNvPr id="145" name="Shape 129"/>
          <p:cNvSpPr/>
          <p:nvPr/>
        </p:nvSpPr>
        <p:spPr>
          <a:xfrm>
            <a:off x="12781161" y="8631437"/>
            <a:ext cx="1559125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6" name="Text 130"/>
          <p:cNvSpPr/>
          <p:nvPr/>
        </p:nvSpPr>
        <p:spPr>
          <a:xfrm>
            <a:off x="12941181" y="8711447"/>
            <a:ext cx="1315285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audit trail</a:t>
            </a:r>
            <a:endParaRPr lang="en-US" sz="1170" dirty="0"/>
          </a:p>
        </p:txBody>
      </p:sp>
      <p:sp>
        <p:nvSpPr>
          <p:cNvPr id="147" name="Shape 131"/>
          <p:cNvSpPr/>
          <p:nvPr/>
        </p:nvSpPr>
        <p:spPr>
          <a:xfrm>
            <a:off x="14431567" y="8631437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8" name="Text 132"/>
          <p:cNvSpPr/>
          <p:nvPr/>
        </p:nvSpPr>
        <p:spPr>
          <a:xfrm>
            <a:off x="14604287" y="8724147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49" name="Shape 133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0" name="Shape 134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51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52" name="Text 135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54" name="Picture 153" descr="Android Apps by Hello Clever on Google Play">
            <a:extLst>
              <a:ext uri="{FF2B5EF4-FFF2-40B4-BE49-F238E27FC236}">
                <a16:creationId xmlns:a16="http://schemas.microsoft.com/office/drawing/2014/main" id="{64D7C3D4-90F7-8D55-DAF2-CBA1A8EEF7D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sp>
        <p:nvSpPr>
          <p:cNvPr id="29" name="Shape 20"/>
          <p:cNvSpPr/>
          <p:nvPr/>
        </p:nvSpPr>
        <p:spPr>
          <a:xfrm>
            <a:off x="0" y="2822972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Shape 21"/>
          <p:cNvSpPr/>
          <p:nvPr/>
        </p:nvSpPr>
        <p:spPr>
          <a:xfrm>
            <a:off x="0" y="2822972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1891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 › Skills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4207589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and competency graph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527214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654214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787020" y="1183283"/>
            <a:ext cx="1181101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959740" y="1264563"/>
            <a:ext cx="911861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Recalculate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5519936" cy="8133755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462014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 against demand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462014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from verified evidence, demand from the project portfolio</a:t>
            </a:r>
            <a:endParaRPr lang="en-US" sz="1080" dirty="0"/>
          </a:p>
        </p:txBody>
      </p:sp>
      <p:sp>
        <p:nvSpPr>
          <p:cNvPr id="54" name="Text 39"/>
          <p:cNvSpPr/>
          <p:nvPr/>
        </p:nvSpPr>
        <p:spPr>
          <a:xfrm>
            <a:off x="3294063" y="2683867"/>
            <a:ext cx="125154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&amp; platform</a:t>
            </a:r>
            <a:endParaRPr lang="en-US" sz="1170" dirty="0"/>
          </a:p>
        </p:txBody>
      </p:sp>
      <p:sp>
        <p:nvSpPr>
          <p:cNvPr id="55" name="Text 40"/>
          <p:cNvSpPr/>
          <p:nvPr/>
        </p:nvSpPr>
        <p:spPr>
          <a:xfrm>
            <a:off x="7794427" y="2683867"/>
            <a:ext cx="65921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covered</a:t>
            </a:r>
            <a:endParaRPr lang="en-US" sz="1170" dirty="0"/>
          </a:p>
        </p:txBody>
      </p:sp>
      <p:sp>
        <p:nvSpPr>
          <p:cNvPr id="56" name="Shape 41"/>
          <p:cNvSpPr/>
          <p:nvPr/>
        </p:nvSpPr>
        <p:spPr>
          <a:xfrm>
            <a:off x="3294063" y="2941638"/>
            <a:ext cx="5083374" cy="137120"/>
          </a:xfrm>
          <a:prstGeom prst="roundRect">
            <a:avLst>
              <a:gd name="adj" fmla="val 33343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7" name="Shape 42"/>
          <p:cNvSpPr/>
          <p:nvPr/>
        </p:nvSpPr>
        <p:spPr>
          <a:xfrm>
            <a:off x="3294063" y="2941638"/>
            <a:ext cx="4676577" cy="137120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8" name="Shape 43"/>
          <p:cNvSpPr/>
          <p:nvPr/>
        </p:nvSpPr>
        <p:spPr>
          <a:xfrm>
            <a:off x="7259042" y="2895997"/>
            <a:ext cx="22820" cy="228600"/>
          </a:xfrm>
          <a:prstGeom prst="rect">
            <a:avLst/>
          </a:prstGeom>
          <a:solidFill>
            <a:srgbClr val="1A1B1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9" name="Text 44"/>
          <p:cNvSpPr/>
          <p:nvPr/>
        </p:nvSpPr>
        <p:spPr>
          <a:xfrm>
            <a:off x="3294063" y="3215878"/>
            <a:ext cx="72151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AI</a:t>
            </a:r>
            <a:endParaRPr lang="en-US" sz="1170" dirty="0"/>
          </a:p>
        </p:txBody>
      </p:sp>
      <p:sp>
        <p:nvSpPr>
          <p:cNvPr id="60" name="Text 45"/>
          <p:cNvSpPr/>
          <p:nvPr/>
        </p:nvSpPr>
        <p:spPr>
          <a:xfrm>
            <a:off x="7883724" y="3215878"/>
            <a:ext cx="56991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B25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22</a:t>
            </a:r>
            <a:endParaRPr lang="en-US" sz="1170" dirty="0"/>
          </a:p>
        </p:txBody>
      </p:sp>
      <p:sp>
        <p:nvSpPr>
          <p:cNvPr id="61" name="Shape 46"/>
          <p:cNvSpPr/>
          <p:nvPr/>
        </p:nvSpPr>
        <p:spPr>
          <a:xfrm>
            <a:off x="3294063" y="3473649"/>
            <a:ext cx="5083374" cy="137120"/>
          </a:xfrm>
          <a:prstGeom prst="roundRect">
            <a:avLst>
              <a:gd name="adj" fmla="val 33343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Shape 47"/>
          <p:cNvSpPr/>
          <p:nvPr/>
        </p:nvSpPr>
        <p:spPr>
          <a:xfrm>
            <a:off x="3294063" y="3473649"/>
            <a:ext cx="3761581" cy="137120"/>
          </a:xfrm>
          <a:prstGeom prst="rect">
            <a:avLst/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3" name="Shape 48"/>
          <p:cNvSpPr/>
          <p:nvPr/>
        </p:nvSpPr>
        <p:spPr>
          <a:xfrm>
            <a:off x="8174038" y="3428008"/>
            <a:ext cx="22820" cy="228600"/>
          </a:xfrm>
          <a:prstGeom prst="rect">
            <a:avLst/>
          </a:prstGeom>
          <a:solidFill>
            <a:srgbClr val="1A1B1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4" name="Text 49"/>
          <p:cNvSpPr/>
          <p:nvPr/>
        </p:nvSpPr>
        <p:spPr>
          <a:xfrm>
            <a:off x="3294063" y="3747889"/>
            <a:ext cx="659408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</a:t>
            </a:r>
            <a:endParaRPr lang="en-US" sz="1170" dirty="0"/>
          </a:p>
        </p:txBody>
      </p:sp>
      <p:sp>
        <p:nvSpPr>
          <p:cNvPr id="65" name="Text 50"/>
          <p:cNvSpPr/>
          <p:nvPr/>
        </p:nvSpPr>
        <p:spPr>
          <a:xfrm>
            <a:off x="7878366" y="3747889"/>
            <a:ext cx="57527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B25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20</a:t>
            </a:r>
            <a:endParaRPr lang="en-US" sz="1170" dirty="0"/>
          </a:p>
        </p:txBody>
      </p:sp>
      <p:sp>
        <p:nvSpPr>
          <p:cNvPr id="66" name="Shape 51"/>
          <p:cNvSpPr/>
          <p:nvPr/>
        </p:nvSpPr>
        <p:spPr>
          <a:xfrm>
            <a:off x="3294063" y="4005660"/>
            <a:ext cx="5083374" cy="137121"/>
          </a:xfrm>
          <a:prstGeom prst="roundRect">
            <a:avLst>
              <a:gd name="adj" fmla="val 33343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7" name="Shape 52"/>
          <p:cNvSpPr/>
          <p:nvPr/>
        </p:nvSpPr>
        <p:spPr>
          <a:xfrm>
            <a:off x="3294063" y="4005660"/>
            <a:ext cx="3456583" cy="137121"/>
          </a:xfrm>
          <a:prstGeom prst="rect">
            <a:avLst/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Shape 53"/>
          <p:cNvSpPr/>
          <p:nvPr/>
        </p:nvSpPr>
        <p:spPr>
          <a:xfrm>
            <a:off x="7767242" y="3960019"/>
            <a:ext cx="22820" cy="228600"/>
          </a:xfrm>
          <a:prstGeom prst="rect">
            <a:avLst/>
          </a:prstGeom>
          <a:solidFill>
            <a:srgbClr val="1A1B1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9" name="Text 54"/>
          <p:cNvSpPr/>
          <p:nvPr/>
        </p:nvSpPr>
        <p:spPr>
          <a:xfrm>
            <a:off x="3294063" y="4279900"/>
            <a:ext cx="70266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170" dirty="0"/>
          </a:p>
        </p:txBody>
      </p:sp>
      <p:sp>
        <p:nvSpPr>
          <p:cNvPr id="70" name="Text 55"/>
          <p:cNvSpPr/>
          <p:nvPr/>
        </p:nvSpPr>
        <p:spPr>
          <a:xfrm>
            <a:off x="7794427" y="4279900"/>
            <a:ext cx="65921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covered</a:t>
            </a:r>
            <a:endParaRPr lang="en-US" sz="1170" dirty="0"/>
          </a:p>
        </p:txBody>
      </p:sp>
      <p:sp>
        <p:nvSpPr>
          <p:cNvPr id="71" name="Shape 56"/>
          <p:cNvSpPr/>
          <p:nvPr/>
        </p:nvSpPr>
        <p:spPr>
          <a:xfrm>
            <a:off x="3294063" y="4537671"/>
            <a:ext cx="5083374" cy="137120"/>
          </a:xfrm>
          <a:prstGeom prst="roundRect">
            <a:avLst>
              <a:gd name="adj" fmla="val 33343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2" name="Shape 57"/>
          <p:cNvSpPr/>
          <p:nvPr/>
        </p:nvSpPr>
        <p:spPr>
          <a:xfrm>
            <a:off x="3294063" y="4537671"/>
            <a:ext cx="4473179" cy="137120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3" name="Shape 58"/>
          <p:cNvSpPr/>
          <p:nvPr/>
        </p:nvSpPr>
        <p:spPr>
          <a:xfrm>
            <a:off x="6445648" y="4492030"/>
            <a:ext cx="22820" cy="228600"/>
          </a:xfrm>
          <a:prstGeom prst="rect">
            <a:avLst/>
          </a:prstGeom>
          <a:solidFill>
            <a:srgbClr val="1A1B1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4" name="Text 59"/>
          <p:cNvSpPr/>
          <p:nvPr/>
        </p:nvSpPr>
        <p:spPr>
          <a:xfrm>
            <a:off x="3294063" y="4811911"/>
            <a:ext cx="137408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 domain</a:t>
            </a:r>
            <a:endParaRPr lang="en-US" sz="1170" dirty="0"/>
          </a:p>
        </p:txBody>
      </p:sp>
      <p:sp>
        <p:nvSpPr>
          <p:cNvPr id="75" name="Text 60"/>
          <p:cNvSpPr/>
          <p:nvPr/>
        </p:nvSpPr>
        <p:spPr>
          <a:xfrm>
            <a:off x="7875390" y="4811911"/>
            <a:ext cx="57824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B25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43</a:t>
            </a:r>
            <a:endParaRPr lang="en-US" sz="1170" dirty="0"/>
          </a:p>
        </p:txBody>
      </p:sp>
      <p:sp>
        <p:nvSpPr>
          <p:cNvPr id="76" name="Shape 61"/>
          <p:cNvSpPr/>
          <p:nvPr/>
        </p:nvSpPr>
        <p:spPr>
          <a:xfrm>
            <a:off x="3294063" y="5069681"/>
            <a:ext cx="5083374" cy="137121"/>
          </a:xfrm>
          <a:prstGeom prst="roundRect">
            <a:avLst>
              <a:gd name="adj" fmla="val 33343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7" name="Shape 62"/>
          <p:cNvSpPr/>
          <p:nvPr/>
        </p:nvSpPr>
        <p:spPr>
          <a:xfrm>
            <a:off x="3294063" y="5069681"/>
            <a:ext cx="2083991" cy="137121"/>
          </a:xfrm>
          <a:prstGeom prst="rect">
            <a:avLst/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8" name="Shape 63"/>
          <p:cNvSpPr/>
          <p:nvPr/>
        </p:nvSpPr>
        <p:spPr>
          <a:xfrm>
            <a:off x="7564041" y="5024041"/>
            <a:ext cx="22820" cy="228600"/>
          </a:xfrm>
          <a:prstGeom prst="rect">
            <a:avLst/>
          </a:prstGeom>
          <a:solidFill>
            <a:srgbClr val="1A1B1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9" name="Text 64"/>
          <p:cNvSpPr/>
          <p:nvPr/>
        </p:nvSpPr>
        <p:spPr>
          <a:xfrm>
            <a:off x="3294063" y="5343922"/>
            <a:ext cx="192022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&amp; compliance</a:t>
            </a:r>
            <a:endParaRPr lang="en-US" sz="1170" dirty="0"/>
          </a:p>
        </p:txBody>
      </p:sp>
      <p:sp>
        <p:nvSpPr>
          <p:cNvPr id="80" name="Text 65"/>
          <p:cNvSpPr/>
          <p:nvPr/>
        </p:nvSpPr>
        <p:spPr>
          <a:xfrm>
            <a:off x="7915077" y="5343922"/>
            <a:ext cx="53855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B25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15</a:t>
            </a:r>
            <a:endParaRPr lang="en-US" sz="1170" dirty="0"/>
          </a:p>
        </p:txBody>
      </p:sp>
      <p:sp>
        <p:nvSpPr>
          <p:cNvPr id="81" name="Shape 66"/>
          <p:cNvSpPr/>
          <p:nvPr/>
        </p:nvSpPr>
        <p:spPr>
          <a:xfrm>
            <a:off x="3294063" y="5601692"/>
            <a:ext cx="5083374" cy="137120"/>
          </a:xfrm>
          <a:prstGeom prst="roundRect">
            <a:avLst>
              <a:gd name="adj" fmla="val 33343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2" name="Shape 67"/>
          <p:cNvSpPr/>
          <p:nvPr/>
        </p:nvSpPr>
        <p:spPr>
          <a:xfrm>
            <a:off x="3294063" y="5601692"/>
            <a:ext cx="2795786" cy="137120"/>
          </a:xfrm>
          <a:prstGeom prst="rect">
            <a:avLst/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3" name="Shape 68"/>
          <p:cNvSpPr/>
          <p:nvPr/>
        </p:nvSpPr>
        <p:spPr>
          <a:xfrm>
            <a:off x="6852246" y="5556052"/>
            <a:ext cx="22820" cy="228600"/>
          </a:xfrm>
          <a:prstGeom prst="rect">
            <a:avLst/>
          </a:prstGeom>
          <a:solidFill>
            <a:srgbClr val="1A1B1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4" name="Text 69"/>
          <p:cNvSpPr/>
          <p:nvPr/>
        </p:nvSpPr>
        <p:spPr>
          <a:xfrm>
            <a:off x="3294063" y="5921573"/>
            <a:ext cx="559171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= verified supply · Marker = demand from staffed and pipeline projects</a:t>
            </a:r>
            <a:endParaRPr lang="en-US" sz="1080" dirty="0"/>
          </a:p>
        </p:txBody>
      </p:sp>
      <p:sp>
        <p:nvSpPr>
          <p:cNvPr id="85" name="Shape 70"/>
          <p:cNvSpPr/>
          <p:nvPr/>
        </p:nvSpPr>
        <p:spPr>
          <a:xfrm>
            <a:off x="8778479" y="1924645"/>
            <a:ext cx="3314701" cy="2510632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6" name="Text 71"/>
          <p:cNvSpPr/>
          <p:nvPr/>
        </p:nvSpPr>
        <p:spPr>
          <a:xfrm>
            <a:off x="8996760" y="2142927"/>
            <a:ext cx="2994164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Evidence, not self-assessment</a:t>
            </a:r>
            <a:endParaRPr lang="en-US" sz="1440" dirty="0"/>
          </a:p>
        </p:txBody>
      </p:sp>
      <p:sp>
        <p:nvSpPr>
          <p:cNvPr id="87" name="Shape 72"/>
          <p:cNvSpPr/>
          <p:nvPr/>
        </p:nvSpPr>
        <p:spPr>
          <a:xfrm>
            <a:off x="8996760" y="2810669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8" name="Text 73"/>
          <p:cNvSpPr/>
          <p:nvPr/>
        </p:nvSpPr>
        <p:spPr>
          <a:xfrm>
            <a:off x="8996760" y="2564408"/>
            <a:ext cx="102949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claimed</a:t>
            </a:r>
            <a:endParaRPr lang="en-US" sz="1170" dirty="0"/>
          </a:p>
        </p:txBody>
      </p:sp>
      <p:sp>
        <p:nvSpPr>
          <p:cNvPr id="89" name="Text 74"/>
          <p:cNvSpPr/>
          <p:nvPr/>
        </p:nvSpPr>
        <p:spPr>
          <a:xfrm>
            <a:off x="11414523" y="2564408"/>
            <a:ext cx="53657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11,240</a:t>
            </a:r>
            <a:endParaRPr lang="en-US" sz="1170" dirty="0"/>
          </a:p>
        </p:txBody>
      </p:sp>
      <p:sp>
        <p:nvSpPr>
          <p:cNvPr id="90" name="Shape 75"/>
          <p:cNvSpPr/>
          <p:nvPr/>
        </p:nvSpPr>
        <p:spPr>
          <a:xfrm>
            <a:off x="8996760" y="3275211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1" name="Text 76"/>
          <p:cNvSpPr/>
          <p:nvPr/>
        </p:nvSpPr>
        <p:spPr>
          <a:xfrm>
            <a:off x="8996760" y="3028950"/>
            <a:ext cx="187700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by delivery data</a:t>
            </a:r>
            <a:endParaRPr lang="en-US" sz="1170" dirty="0"/>
          </a:p>
        </p:txBody>
      </p:sp>
      <p:sp>
        <p:nvSpPr>
          <p:cNvPr id="92" name="Text 77"/>
          <p:cNvSpPr/>
          <p:nvPr/>
        </p:nvSpPr>
        <p:spPr>
          <a:xfrm>
            <a:off x="11453020" y="3028950"/>
            <a:ext cx="49807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8,905</a:t>
            </a:r>
            <a:endParaRPr lang="en-US" sz="1170" dirty="0"/>
          </a:p>
        </p:txBody>
      </p:sp>
      <p:sp>
        <p:nvSpPr>
          <p:cNvPr id="93" name="Shape 78"/>
          <p:cNvSpPr/>
          <p:nvPr/>
        </p:nvSpPr>
        <p:spPr>
          <a:xfrm>
            <a:off x="8996760" y="3739753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4" name="Text 79"/>
          <p:cNvSpPr/>
          <p:nvPr/>
        </p:nvSpPr>
        <p:spPr>
          <a:xfrm>
            <a:off x="8996760" y="3493492"/>
            <a:ext cx="16421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Certifications synced</a:t>
            </a:r>
            <a:endParaRPr lang="en-US" sz="1170" dirty="0"/>
          </a:p>
        </p:txBody>
      </p:sp>
      <p:sp>
        <p:nvSpPr>
          <p:cNvPr id="95" name="Text 80"/>
          <p:cNvSpPr/>
          <p:nvPr/>
        </p:nvSpPr>
        <p:spPr>
          <a:xfrm>
            <a:off x="11527235" y="3493492"/>
            <a:ext cx="42386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2,118</a:t>
            </a:r>
            <a:endParaRPr lang="en-US" sz="1170" dirty="0"/>
          </a:p>
        </p:txBody>
      </p:sp>
      <p:sp>
        <p:nvSpPr>
          <p:cNvPr id="96" name="Shape 81"/>
          <p:cNvSpPr/>
          <p:nvPr/>
        </p:nvSpPr>
        <p:spPr>
          <a:xfrm>
            <a:off x="8996760" y="4204296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7" name="Text 82"/>
          <p:cNvSpPr/>
          <p:nvPr/>
        </p:nvSpPr>
        <p:spPr>
          <a:xfrm>
            <a:off x="8996760" y="3958035"/>
            <a:ext cx="144698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Stale (&gt;18 months)</a:t>
            </a:r>
            <a:endParaRPr lang="en-US" sz="1170" dirty="0"/>
          </a:p>
        </p:txBody>
      </p:sp>
      <p:sp>
        <p:nvSpPr>
          <p:cNvPr id="98" name="Text 83"/>
          <p:cNvSpPr/>
          <p:nvPr/>
        </p:nvSpPr>
        <p:spPr>
          <a:xfrm>
            <a:off x="11624271" y="3958035"/>
            <a:ext cx="326828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612</a:t>
            </a:r>
            <a:endParaRPr lang="en-US" sz="1170" dirty="0"/>
          </a:p>
        </p:txBody>
      </p:sp>
      <p:sp>
        <p:nvSpPr>
          <p:cNvPr id="99" name="Shape 84"/>
          <p:cNvSpPr/>
          <p:nvPr/>
        </p:nvSpPr>
        <p:spPr>
          <a:xfrm>
            <a:off x="8778479" y="4618038"/>
            <a:ext cx="3314701" cy="2036167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0" name="Text 85"/>
          <p:cNvSpPr/>
          <p:nvPr/>
        </p:nvSpPr>
        <p:spPr>
          <a:xfrm>
            <a:off x="8996760" y="4836319"/>
            <a:ext cx="112037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Largest gap</a:t>
            </a:r>
            <a:endParaRPr lang="en-US" sz="1440" dirty="0"/>
          </a:p>
        </p:txBody>
      </p:sp>
      <p:sp>
        <p:nvSpPr>
          <p:cNvPr id="101" name="Shape 86"/>
          <p:cNvSpPr/>
          <p:nvPr/>
        </p:nvSpPr>
        <p:spPr>
          <a:xfrm>
            <a:off x="8996760" y="5189340"/>
            <a:ext cx="2878138" cy="1246585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2" name="Text 87"/>
          <p:cNvSpPr/>
          <p:nvPr/>
        </p:nvSpPr>
        <p:spPr>
          <a:xfrm>
            <a:off x="9192221" y="5384800"/>
            <a:ext cx="273593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 domain</a:t>
            </a:r>
            <a:endParaRPr lang="en-US" sz="1080" dirty="0"/>
          </a:p>
        </p:txBody>
      </p:sp>
      <p:sp>
        <p:nvSpPr>
          <p:cNvPr id="103" name="Text 88"/>
          <p:cNvSpPr/>
          <p:nvPr/>
        </p:nvSpPr>
        <p:spPr>
          <a:xfrm>
            <a:off x="9192221" y="5618362"/>
            <a:ext cx="2735938" cy="426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 people</a:t>
            </a:r>
            <a:endParaRPr lang="en-US" sz="2700" dirty="0"/>
          </a:p>
        </p:txBody>
      </p:sp>
      <p:sp>
        <p:nvSpPr>
          <p:cNvPr id="104" name="Text 89"/>
          <p:cNvSpPr/>
          <p:nvPr/>
        </p:nvSpPr>
        <p:spPr>
          <a:xfrm>
            <a:off x="9192221" y="6075363"/>
            <a:ext cx="52724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B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1080" dirty="0"/>
          </a:p>
        </p:txBody>
      </p:sp>
      <p:sp>
        <p:nvSpPr>
          <p:cNvPr id="105" name="Text 90"/>
          <p:cNvSpPr/>
          <p:nvPr/>
        </p:nvSpPr>
        <p:spPr>
          <a:xfrm>
            <a:off x="9734551" y="6075363"/>
            <a:ext cx="177768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needed within 2 quarters</a:t>
            </a:r>
            <a:endParaRPr lang="en-US" sz="1080" dirty="0"/>
          </a:p>
        </p:txBody>
      </p:sp>
      <p:sp>
        <p:nvSpPr>
          <p:cNvPr id="106" name="Shape 91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7" name="Shape 92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8" name="Shape 93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9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10" name="Text 94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11" name="Text 95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12" name="Shape 96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3" name="Text 97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14" name="Shape 98"/>
          <p:cNvSpPr/>
          <p:nvPr/>
        </p:nvSpPr>
        <p:spPr>
          <a:xfrm>
            <a:off x="14578410" y="2612628"/>
            <a:ext cx="3288109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5" name="Text 99"/>
          <p:cNvSpPr/>
          <p:nvPr/>
        </p:nvSpPr>
        <p:spPr>
          <a:xfrm>
            <a:off x="14738430" y="2726928"/>
            <a:ext cx="30667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closes the payments gap fastest?</a:t>
            </a:r>
            <a:endParaRPr lang="en-US" sz="1260" dirty="0"/>
          </a:p>
        </p:txBody>
      </p:sp>
      <p:sp>
        <p:nvSpPr>
          <p:cNvPr id="116" name="Shape 100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7" name="Text 101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Reskilling. Six people reach working competence in ten weeks; hiring takes twenty-four.</a:t>
            </a:r>
            <a:endParaRPr lang="en-US" sz="1260" dirty="0"/>
          </a:p>
        </p:txBody>
      </p:sp>
      <p:sp>
        <p:nvSpPr>
          <p:cNvPr id="118" name="Shape 102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9" name="Text 103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 TO COVER</a:t>
            </a:r>
            <a:endParaRPr lang="en-US" sz="990" dirty="0"/>
          </a:p>
        </p:txBody>
      </p:sp>
      <p:sp>
        <p:nvSpPr>
          <p:cNvPr id="120" name="Text 104"/>
          <p:cNvSpPr/>
          <p:nvPr/>
        </p:nvSpPr>
        <p:spPr>
          <a:xfrm>
            <a:off x="12781161" y="4494610"/>
            <a:ext cx="124480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Reskill 6 internally</a:t>
            </a:r>
            <a:endParaRPr lang="en-US" sz="1080" dirty="0"/>
          </a:p>
        </p:txBody>
      </p:sp>
      <p:sp>
        <p:nvSpPr>
          <p:cNvPr id="121" name="Text 105"/>
          <p:cNvSpPr/>
          <p:nvPr/>
        </p:nvSpPr>
        <p:spPr>
          <a:xfrm>
            <a:off x="17454961" y="4494610"/>
            <a:ext cx="31511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080" dirty="0"/>
          </a:p>
        </p:txBody>
      </p:sp>
      <p:sp>
        <p:nvSpPr>
          <p:cNvPr id="122" name="Shape 106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3" name="Shape 107"/>
          <p:cNvSpPr/>
          <p:nvPr/>
        </p:nvSpPr>
        <p:spPr>
          <a:xfrm>
            <a:off x="12781161" y="4716859"/>
            <a:ext cx="4912719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4" name="Text 108"/>
          <p:cNvSpPr/>
          <p:nvPr/>
        </p:nvSpPr>
        <p:spPr>
          <a:xfrm>
            <a:off x="12781161" y="4899621"/>
            <a:ext cx="155067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from other tribe</a:t>
            </a:r>
            <a:endParaRPr lang="en-US" sz="1080" dirty="0"/>
          </a:p>
        </p:txBody>
      </p:sp>
      <p:sp>
        <p:nvSpPr>
          <p:cNvPr id="125" name="Text 109"/>
          <p:cNvSpPr/>
          <p:nvPr/>
        </p:nvSpPr>
        <p:spPr>
          <a:xfrm>
            <a:off x="17531559" y="4899621"/>
            <a:ext cx="23852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080" dirty="0"/>
          </a:p>
        </p:txBody>
      </p:sp>
      <p:sp>
        <p:nvSpPr>
          <p:cNvPr id="126" name="Shape 110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7" name="Shape 111"/>
          <p:cNvSpPr/>
          <p:nvPr/>
        </p:nvSpPr>
        <p:spPr>
          <a:xfrm>
            <a:off x="12781161" y="5121871"/>
            <a:ext cx="3635375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8" name="Text 112"/>
          <p:cNvSpPr/>
          <p:nvPr/>
        </p:nvSpPr>
        <p:spPr>
          <a:xfrm>
            <a:off x="12781161" y="5304631"/>
            <a:ext cx="138237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 contractors</a:t>
            </a:r>
            <a:endParaRPr lang="en-US" sz="1080" dirty="0"/>
          </a:p>
        </p:txBody>
      </p:sp>
      <p:sp>
        <p:nvSpPr>
          <p:cNvPr id="129" name="Text 113"/>
          <p:cNvSpPr/>
          <p:nvPr/>
        </p:nvSpPr>
        <p:spPr>
          <a:xfrm>
            <a:off x="17526001" y="5304631"/>
            <a:ext cx="24407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1080" dirty="0"/>
          </a:p>
        </p:txBody>
      </p:sp>
      <p:sp>
        <p:nvSpPr>
          <p:cNvPr id="130" name="Shape 114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1" name="Shape 115"/>
          <p:cNvSpPr/>
          <p:nvPr/>
        </p:nvSpPr>
        <p:spPr>
          <a:xfrm>
            <a:off x="12781161" y="5526882"/>
            <a:ext cx="2701926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2" name="Text 116"/>
          <p:cNvSpPr/>
          <p:nvPr/>
        </p:nvSpPr>
        <p:spPr>
          <a:xfrm>
            <a:off x="12781161" y="5709643"/>
            <a:ext cx="101243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 externally</a:t>
            </a:r>
            <a:endParaRPr lang="en-US" sz="1080" dirty="0"/>
          </a:p>
        </p:txBody>
      </p:sp>
      <p:sp>
        <p:nvSpPr>
          <p:cNvPr id="133" name="Text 117"/>
          <p:cNvSpPr/>
          <p:nvPr/>
        </p:nvSpPr>
        <p:spPr>
          <a:xfrm>
            <a:off x="17520645" y="5709643"/>
            <a:ext cx="24943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080" dirty="0"/>
          </a:p>
        </p:txBody>
      </p:sp>
      <p:sp>
        <p:nvSpPr>
          <p:cNvPr id="134" name="Shape 118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5" name="Shape 119"/>
          <p:cNvSpPr/>
          <p:nvPr/>
        </p:nvSpPr>
        <p:spPr>
          <a:xfrm>
            <a:off x="12781161" y="5931893"/>
            <a:ext cx="1375371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6" name="Shape 120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7" name="Text 121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reskilling cohort</a:t>
            </a:r>
            <a:endParaRPr lang="en-US" sz="1260" dirty="0"/>
          </a:p>
        </p:txBody>
      </p:sp>
      <p:sp>
        <p:nvSpPr>
          <p:cNvPr id="138" name="Text 122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Cohort</a:t>
            </a:r>
            <a:endParaRPr lang="en-US" sz="990" dirty="0"/>
          </a:p>
        </p:txBody>
      </p:sp>
      <p:sp>
        <p:nvSpPr>
          <p:cNvPr id="139" name="Shape 123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0" name="Text 124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people, payments</a:t>
            </a:r>
            <a:endParaRPr lang="en-US" sz="1170" dirty="0"/>
          </a:p>
        </p:txBody>
      </p:sp>
      <p:sp>
        <p:nvSpPr>
          <p:cNvPr id="141" name="Text 125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</a:t>
            </a:r>
            <a:endParaRPr lang="en-US" sz="990" dirty="0"/>
          </a:p>
        </p:txBody>
      </p:sp>
      <p:sp>
        <p:nvSpPr>
          <p:cNvPr id="142" name="Shape 126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3" name="Text 127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Aug 2026</a:t>
            </a:r>
            <a:endParaRPr lang="en-US" sz="1170" dirty="0"/>
          </a:p>
        </p:txBody>
      </p:sp>
      <p:sp>
        <p:nvSpPr>
          <p:cNvPr id="144" name="Text 128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</a:t>
            </a:r>
            <a:endParaRPr lang="en-US" sz="990" dirty="0"/>
          </a:p>
        </p:txBody>
      </p:sp>
      <p:sp>
        <p:nvSpPr>
          <p:cNvPr id="145" name="Shape 129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6" name="Text 130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48k</a:t>
            </a:r>
            <a:endParaRPr lang="en-US" sz="1170" dirty="0"/>
          </a:p>
        </p:txBody>
      </p:sp>
      <p:sp>
        <p:nvSpPr>
          <p:cNvPr id="147" name="Shape 131"/>
          <p:cNvSpPr/>
          <p:nvPr/>
        </p:nvSpPr>
        <p:spPr>
          <a:xfrm>
            <a:off x="12781161" y="8631437"/>
            <a:ext cx="1521023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8" name="Text 132"/>
          <p:cNvSpPr/>
          <p:nvPr/>
        </p:nvSpPr>
        <p:spPr>
          <a:xfrm>
            <a:off x="12941181" y="8711447"/>
            <a:ext cx="1277183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Learning</a:t>
            </a:r>
            <a:endParaRPr lang="en-US" sz="1170" dirty="0"/>
          </a:p>
        </p:txBody>
      </p:sp>
      <p:sp>
        <p:nvSpPr>
          <p:cNvPr id="149" name="Shape 133"/>
          <p:cNvSpPr/>
          <p:nvPr/>
        </p:nvSpPr>
        <p:spPr>
          <a:xfrm>
            <a:off x="14393466" y="8631437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0" name="Text 134"/>
          <p:cNvSpPr/>
          <p:nvPr/>
        </p:nvSpPr>
        <p:spPr>
          <a:xfrm>
            <a:off x="14566186" y="8724147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51" name="Shape 135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2" name="Shape 136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53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54" name="Text 137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56" name="Picture 155" descr="Android Apps by Hello Clever on Google Play">
            <a:extLst>
              <a:ext uri="{FF2B5EF4-FFF2-40B4-BE49-F238E27FC236}">
                <a16:creationId xmlns:a16="http://schemas.microsoft.com/office/drawing/2014/main" id="{45BBED0F-4ED8-2828-AEFE-AA39DD614A5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sp>
        <p:nvSpPr>
          <p:cNvPr id="31" name="Shape 21"/>
          <p:cNvSpPr/>
          <p:nvPr/>
        </p:nvSpPr>
        <p:spPr>
          <a:xfrm>
            <a:off x="0" y="3211314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2" name="Shape 22"/>
          <p:cNvSpPr/>
          <p:nvPr/>
        </p:nvSpPr>
        <p:spPr>
          <a:xfrm>
            <a:off x="0" y="3211314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1913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4889937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 and capacity planning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393070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520070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652875" y="1183283"/>
            <a:ext cx="1315245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825595" y="1264563"/>
            <a:ext cx="1046005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scenario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9017398" cy="4187230"/>
          </a:xfrm>
          <a:prstGeom prst="roundRect">
            <a:avLst>
              <a:gd name="adj" fmla="val 2184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4771846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Utilisation forecast — next 10 weeks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477184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Leave, public holidays, ramp-down and pipeline demand combined</a:t>
            </a:r>
            <a:endParaRPr lang="en-US" sz="1080" dirty="0"/>
          </a:p>
        </p:txBody>
      </p:sp>
      <p:sp>
        <p:nvSpPr>
          <p:cNvPr id="54" name="Text 39"/>
          <p:cNvSpPr/>
          <p:nvPr/>
        </p:nvSpPr>
        <p:spPr>
          <a:xfrm>
            <a:off x="5610424" y="2683867"/>
            <a:ext cx="63718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W35</a:t>
            </a:r>
            <a:endParaRPr lang="en-US" sz="1080" dirty="0"/>
          </a:p>
        </p:txBody>
      </p:sp>
      <p:sp>
        <p:nvSpPr>
          <p:cNvPr id="55" name="Text 40"/>
          <p:cNvSpPr/>
          <p:nvPr/>
        </p:nvSpPr>
        <p:spPr>
          <a:xfrm>
            <a:off x="6239868" y="2683867"/>
            <a:ext cx="63718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W36</a:t>
            </a:r>
            <a:endParaRPr lang="en-US" sz="1080" dirty="0"/>
          </a:p>
        </p:txBody>
      </p:sp>
      <p:sp>
        <p:nvSpPr>
          <p:cNvPr id="56" name="Text 41"/>
          <p:cNvSpPr/>
          <p:nvPr/>
        </p:nvSpPr>
        <p:spPr>
          <a:xfrm>
            <a:off x="6869312" y="2683867"/>
            <a:ext cx="63718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W37</a:t>
            </a:r>
            <a:endParaRPr lang="en-US" sz="1080" dirty="0"/>
          </a:p>
        </p:txBody>
      </p:sp>
      <p:sp>
        <p:nvSpPr>
          <p:cNvPr id="57" name="Text 42"/>
          <p:cNvSpPr/>
          <p:nvPr/>
        </p:nvSpPr>
        <p:spPr>
          <a:xfrm>
            <a:off x="7498755" y="2683867"/>
            <a:ext cx="63718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W38</a:t>
            </a:r>
            <a:endParaRPr lang="en-US" sz="1080" dirty="0"/>
          </a:p>
        </p:txBody>
      </p:sp>
      <p:sp>
        <p:nvSpPr>
          <p:cNvPr id="58" name="Text 43"/>
          <p:cNvSpPr/>
          <p:nvPr/>
        </p:nvSpPr>
        <p:spPr>
          <a:xfrm>
            <a:off x="8128199" y="2683867"/>
            <a:ext cx="63718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W39</a:t>
            </a:r>
            <a:endParaRPr lang="en-US" sz="1080" dirty="0"/>
          </a:p>
        </p:txBody>
      </p:sp>
      <p:sp>
        <p:nvSpPr>
          <p:cNvPr id="59" name="Text 44"/>
          <p:cNvSpPr/>
          <p:nvPr/>
        </p:nvSpPr>
        <p:spPr>
          <a:xfrm>
            <a:off x="8757643" y="2683867"/>
            <a:ext cx="63738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W40</a:t>
            </a:r>
            <a:endParaRPr lang="en-US" sz="1080" dirty="0"/>
          </a:p>
        </p:txBody>
      </p:sp>
      <p:sp>
        <p:nvSpPr>
          <p:cNvPr id="60" name="Text 45"/>
          <p:cNvSpPr/>
          <p:nvPr/>
        </p:nvSpPr>
        <p:spPr>
          <a:xfrm>
            <a:off x="9387285" y="2683867"/>
            <a:ext cx="63718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W41</a:t>
            </a:r>
            <a:endParaRPr lang="en-US" sz="1080" dirty="0"/>
          </a:p>
        </p:txBody>
      </p:sp>
      <p:sp>
        <p:nvSpPr>
          <p:cNvPr id="61" name="Text 46"/>
          <p:cNvSpPr/>
          <p:nvPr/>
        </p:nvSpPr>
        <p:spPr>
          <a:xfrm>
            <a:off x="10016728" y="2683867"/>
            <a:ext cx="63718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W42</a:t>
            </a:r>
            <a:endParaRPr lang="en-US" sz="1080" dirty="0"/>
          </a:p>
        </p:txBody>
      </p:sp>
      <p:sp>
        <p:nvSpPr>
          <p:cNvPr id="62" name="Text 47"/>
          <p:cNvSpPr/>
          <p:nvPr/>
        </p:nvSpPr>
        <p:spPr>
          <a:xfrm>
            <a:off x="10646172" y="2683867"/>
            <a:ext cx="63718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W43</a:t>
            </a:r>
            <a:endParaRPr lang="en-US" sz="1080" dirty="0"/>
          </a:p>
        </p:txBody>
      </p:sp>
      <p:sp>
        <p:nvSpPr>
          <p:cNvPr id="63" name="Text 48"/>
          <p:cNvSpPr/>
          <p:nvPr/>
        </p:nvSpPr>
        <p:spPr>
          <a:xfrm>
            <a:off x="11275615" y="2683867"/>
            <a:ext cx="63718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W44</a:t>
            </a:r>
            <a:endParaRPr lang="en-US" sz="1080" dirty="0"/>
          </a:p>
        </p:txBody>
      </p:sp>
      <p:sp>
        <p:nvSpPr>
          <p:cNvPr id="64" name="Text 49"/>
          <p:cNvSpPr/>
          <p:nvPr/>
        </p:nvSpPr>
        <p:spPr>
          <a:xfrm>
            <a:off x="3294063" y="3068439"/>
            <a:ext cx="25146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tribe</a:t>
            </a:r>
            <a:endParaRPr lang="en-US" sz="1170" dirty="0"/>
          </a:p>
        </p:txBody>
      </p:sp>
      <p:sp>
        <p:nvSpPr>
          <p:cNvPr id="65" name="Shape 50"/>
          <p:cNvSpPr/>
          <p:nvPr/>
        </p:nvSpPr>
        <p:spPr>
          <a:xfrm>
            <a:off x="5648524" y="2917428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6" name="Text 51"/>
          <p:cNvSpPr/>
          <p:nvPr/>
        </p:nvSpPr>
        <p:spPr>
          <a:xfrm>
            <a:off x="5610424" y="2917428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</a:t>
            </a:r>
            <a:endParaRPr lang="en-US" sz="990" dirty="0"/>
          </a:p>
        </p:txBody>
      </p:sp>
      <p:sp>
        <p:nvSpPr>
          <p:cNvPr id="67" name="Shape 52"/>
          <p:cNvSpPr/>
          <p:nvPr/>
        </p:nvSpPr>
        <p:spPr>
          <a:xfrm>
            <a:off x="6277968" y="2917428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Text 53"/>
          <p:cNvSpPr/>
          <p:nvPr/>
        </p:nvSpPr>
        <p:spPr>
          <a:xfrm>
            <a:off x="6239868" y="2917428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</a:t>
            </a:r>
            <a:endParaRPr lang="en-US" sz="990" dirty="0"/>
          </a:p>
        </p:txBody>
      </p:sp>
      <p:sp>
        <p:nvSpPr>
          <p:cNvPr id="69" name="Shape 54"/>
          <p:cNvSpPr/>
          <p:nvPr/>
        </p:nvSpPr>
        <p:spPr>
          <a:xfrm>
            <a:off x="6907412" y="2917428"/>
            <a:ext cx="560983" cy="480020"/>
          </a:xfrm>
          <a:prstGeom prst="roundRect">
            <a:avLst>
              <a:gd name="adj" fmla="val 9525"/>
            </a:avLst>
          </a:prstGeom>
          <a:solidFill>
            <a:srgbClr val="B25E00">
              <a:alpha val="3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0" name="Text 55"/>
          <p:cNvSpPr/>
          <p:nvPr/>
        </p:nvSpPr>
        <p:spPr>
          <a:xfrm>
            <a:off x="6869312" y="2917428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</a:t>
            </a:r>
            <a:endParaRPr lang="en-US" sz="990" dirty="0"/>
          </a:p>
        </p:txBody>
      </p:sp>
      <p:sp>
        <p:nvSpPr>
          <p:cNvPr id="71" name="Shape 56"/>
          <p:cNvSpPr/>
          <p:nvPr/>
        </p:nvSpPr>
        <p:spPr>
          <a:xfrm>
            <a:off x="7536855" y="2917428"/>
            <a:ext cx="560983" cy="480020"/>
          </a:xfrm>
          <a:prstGeom prst="roundRect">
            <a:avLst>
              <a:gd name="adj" fmla="val 9525"/>
            </a:avLst>
          </a:prstGeom>
          <a:solidFill>
            <a:srgbClr val="BA1A1A">
              <a:alpha val="34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2" name="Text 57"/>
          <p:cNvSpPr/>
          <p:nvPr/>
        </p:nvSpPr>
        <p:spPr>
          <a:xfrm>
            <a:off x="7498755" y="2917428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104</a:t>
            </a:r>
            <a:endParaRPr lang="en-US" sz="990" dirty="0"/>
          </a:p>
        </p:txBody>
      </p:sp>
      <p:sp>
        <p:nvSpPr>
          <p:cNvPr id="73" name="Shape 58"/>
          <p:cNvSpPr/>
          <p:nvPr/>
        </p:nvSpPr>
        <p:spPr>
          <a:xfrm>
            <a:off x="8166299" y="2917428"/>
            <a:ext cx="560983" cy="480020"/>
          </a:xfrm>
          <a:prstGeom prst="roundRect">
            <a:avLst>
              <a:gd name="adj" fmla="val 9525"/>
            </a:avLst>
          </a:prstGeom>
          <a:solidFill>
            <a:srgbClr val="BA1A1A">
              <a:alpha val="34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4" name="Text 59"/>
          <p:cNvSpPr/>
          <p:nvPr/>
        </p:nvSpPr>
        <p:spPr>
          <a:xfrm>
            <a:off x="8128199" y="2917428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108</a:t>
            </a:r>
            <a:endParaRPr lang="en-US" sz="990" dirty="0"/>
          </a:p>
        </p:txBody>
      </p:sp>
      <p:sp>
        <p:nvSpPr>
          <p:cNvPr id="75" name="Shape 60"/>
          <p:cNvSpPr/>
          <p:nvPr/>
        </p:nvSpPr>
        <p:spPr>
          <a:xfrm>
            <a:off x="8795743" y="2917428"/>
            <a:ext cx="561182" cy="480020"/>
          </a:xfrm>
          <a:prstGeom prst="roundRect">
            <a:avLst>
              <a:gd name="adj" fmla="val 9525"/>
            </a:avLst>
          </a:prstGeom>
          <a:solidFill>
            <a:srgbClr val="B25E00">
              <a:alpha val="3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6" name="Text 61"/>
          <p:cNvSpPr/>
          <p:nvPr/>
        </p:nvSpPr>
        <p:spPr>
          <a:xfrm>
            <a:off x="8757643" y="2917428"/>
            <a:ext cx="637382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</a:t>
            </a:r>
            <a:endParaRPr lang="en-US" sz="990" dirty="0"/>
          </a:p>
        </p:txBody>
      </p:sp>
      <p:sp>
        <p:nvSpPr>
          <p:cNvPr id="77" name="Shape 62"/>
          <p:cNvSpPr/>
          <p:nvPr/>
        </p:nvSpPr>
        <p:spPr>
          <a:xfrm>
            <a:off x="9425385" y="2917428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8" name="Text 63"/>
          <p:cNvSpPr/>
          <p:nvPr/>
        </p:nvSpPr>
        <p:spPr>
          <a:xfrm>
            <a:off x="9387285" y="2917428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990" dirty="0"/>
          </a:p>
        </p:txBody>
      </p:sp>
      <p:sp>
        <p:nvSpPr>
          <p:cNvPr id="79" name="Shape 64"/>
          <p:cNvSpPr/>
          <p:nvPr/>
        </p:nvSpPr>
        <p:spPr>
          <a:xfrm>
            <a:off x="10054828" y="2917428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0" name="Text 65"/>
          <p:cNvSpPr/>
          <p:nvPr/>
        </p:nvSpPr>
        <p:spPr>
          <a:xfrm>
            <a:off x="10016728" y="2917428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</a:t>
            </a:r>
            <a:endParaRPr lang="en-US" sz="990" dirty="0"/>
          </a:p>
        </p:txBody>
      </p:sp>
      <p:sp>
        <p:nvSpPr>
          <p:cNvPr id="81" name="Shape 66"/>
          <p:cNvSpPr/>
          <p:nvPr/>
        </p:nvSpPr>
        <p:spPr>
          <a:xfrm>
            <a:off x="10684272" y="2917428"/>
            <a:ext cx="560982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2" name="Text 67"/>
          <p:cNvSpPr/>
          <p:nvPr/>
        </p:nvSpPr>
        <p:spPr>
          <a:xfrm>
            <a:off x="10646172" y="2917428"/>
            <a:ext cx="637182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990" dirty="0"/>
          </a:p>
        </p:txBody>
      </p:sp>
      <p:sp>
        <p:nvSpPr>
          <p:cNvPr id="83" name="Shape 68"/>
          <p:cNvSpPr/>
          <p:nvPr/>
        </p:nvSpPr>
        <p:spPr>
          <a:xfrm>
            <a:off x="11313715" y="2917428"/>
            <a:ext cx="560984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4" name="Text 69"/>
          <p:cNvSpPr/>
          <p:nvPr/>
        </p:nvSpPr>
        <p:spPr>
          <a:xfrm>
            <a:off x="11275615" y="2917428"/>
            <a:ext cx="637184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</a:t>
            </a:r>
            <a:endParaRPr lang="en-US" sz="990" dirty="0"/>
          </a:p>
        </p:txBody>
      </p:sp>
      <p:sp>
        <p:nvSpPr>
          <p:cNvPr id="85" name="Text 70"/>
          <p:cNvSpPr/>
          <p:nvPr/>
        </p:nvSpPr>
        <p:spPr>
          <a:xfrm>
            <a:off x="3294063" y="3616921"/>
            <a:ext cx="25146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AI tribe</a:t>
            </a:r>
            <a:endParaRPr lang="en-US" sz="1170" dirty="0"/>
          </a:p>
        </p:txBody>
      </p:sp>
      <p:sp>
        <p:nvSpPr>
          <p:cNvPr id="86" name="Shape 71"/>
          <p:cNvSpPr/>
          <p:nvPr/>
        </p:nvSpPr>
        <p:spPr>
          <a:xfrm>
            <a:off x="5648524" y="3465909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7" name="Text 72"/>
          <p:cNvSpPr/>
          <p:nvPr/>
        </p:nvSpPr>
        <p:spPr>
          <a:xfrm>
            <a:off x="5610424" y="3465909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990" dirty="0"/>
          </a:p>
        </p:txBody>
      </p:sp>
      <p:sp>
        <p:nvSpPr>
          <p:cNvPr id="88" name="Shape 73"/>
          <p:cNvSpPr/>
          <p:nvPr/>
        </p:nvSpPr>
        <p:spPr>
          <a:xfrm>
            <a:off x="6277968" y="3465909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9" name="Text 74"/>
          <p:cNvSpPr/>
          <p:nvPr/>
        </p:nvSpPr>
        <p:spPr>
          <a:xfrm>
            <a:off x="6239868" y="3465909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990" dirty="0"/>
          </a:p>
        </p:txBody>
      </p:sp>
      <p:sp>
        <p:nvSpPr>
          <p:cNvPr id="90" name="Shape 75"/>
          <p:cNvSpPr/>
          <p:nvPr/>
        </p:nvSpPr>
        <p:spPr>
          <a:xfrm>
            <a:off x="6907412" y="3465909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1" name="Text 76"/>
          <p:cNvSpPr/>
          <p:nvPr/>
        </p:nvSpPr>
        <p:spPr>
          <a:xfrm>
            <a:off x="6869312" y="3465909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990" dirty="0"/>
          </a:p>
        </p:txBody>
      </p:sp>
      <p:sp>
        <p:nvSpPr>
          <p:cNvPr id="92" name="Shape 77"/>
          <p:cNvSpPr/>
          <p:nvPr/>
        </p:nvSpPr>
        <p:spPr>
          <a:xfrm>
            <a:off x="7536855" y="3465909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3" name="Text 78"/>
          <p:cNvSpPr/>
          <p:nvPr/>
        </p:nvSpPr>
        <p:spPr>
          <a:xfrm>
            <a:off x="7498755" y="3465909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</a:t>
            </a:r>
            <a:endParaRPr lang="en-US" sz="990" dirty="0"/>
          </a:p>
        </p:txBody>
      </p:sp>
      <p:sp>
        <p:nvSpPr>
          <p:cNvPr id="94" name="Shape 79"/>
          <p:cNvSpPr/>
          <p:nvPr/>
        </p:nvSpPr>
        <p:spPr>
          <a:xfrm>
            <a:off x="8166299" y="3465909"/>
            <a:ext cx="560983" cy="480020"/>
          </a:xfrm>
          <a:prstGeom prst="roundRect">
            <a:avLst>
              <a:gd name="adj" fmla="val 9525"/>
            </a:avLst>
          </a:prstGeom>
          <a:solidFill>
            <a:srgbClr val="B25E00">
              <a:alpha val="3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5" name="Text 80"/>
          <p:cNvSpPr/>
          <p:nvPr/>
        </p:nvSpPr>
        <p:spPr>
          <a:xfrm>
            <a:off x="8128199" y="3465909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990" dirty="0"/>
          </a:p>
        </p:txBody>
      </p:sp>
      <p:sp>
        <p:nvSpPr>
          <p:cNvPr id="96" name="Shape 81"/>
          <p:cNvSpPr/>
          <p:nvPr/>
        </p:nvSpPr>
        <p:spPr>
          <a:xfrm>
            <a:off x="8795743" y="3465909"/>
            <a:ext cx="561182" cy="480020"/>
          </a:xfrm>
          <a:prstGeom prst="roundRect">
            <a:avLst>
              <a:gd name="adj" fmla="val 9525"/>
            </a:avLst>
          </a:prstGeom>
          <a:solidFill>
            <a:srgbClr val="B25E00">
              <a:alpha val="3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7" name="Text 82"/>
          <p:cNvSpPr/>
          <p:nvPr/>
        </p:nvSpPr>
        <p:spPr>
          <a:xfrm>
            <a:off x="8757643" y="3465909"/>
            <a:ext cx="637382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</a:t>
            </a:r>
            <a:endParaRPr lang="en-US" sz="990" dirty="0"/>
          </a:p>
        </p:txBody>
      </p:sp>
      <p:sp>
        <p:nvSpPr>
          <p:cNvPr id="98" name="Shape 83"/>
          <p:cNvSpPr/>
          <p:nvPr/>
        </p:nvSpPr>
        <p:spPr>
          <a:xfrm>
            <a:off x="9425385" y="3465909"/>
            <a:ext cx="560983" cy="480020"/>
          </a:xfrm>
          <a:prstGeom prst="roundRect">
            <a:avLst>
              <a:gd name="adj" fmla="val 9525"/>
            </a:avLst>
          </a:prstGeom>
          <a:solidFill>
            <a:srgbClr val="BA1A1A">
              <a:alpha val="34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9" name="Text 84"/>
          <p:cNvSpPr/>
          <p:nvPr/>
        </p:nvSpPr>
        <p:spPr>
          <a:xfrm>
            <a:off x="9387285" y="3465909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102</a:t>
            </a:r>
            <a:endParaRPr lang="en-US" sz="990" dirty="0"/>
          </a:p>
        </p:txBody>
      </p:sp>
      <p:sp>
        <p:nvSpPr>
          <p:cNvPr id="100" name="Shape 85"/>
          <p:cNvSpPr/>
          <p:nvPr/>
        </p:nvSpPr>
        <p:spPr>
          <a:xfrm>
            <a:off x="10054828" y="3465909"/>
            <a:ext cx="560983" cy="480020"/>
          </a:xfrm>
          <a:prstGeom prst="roundRect">
            <a:avLst>
              <a:gd name="adj" fmla="val 9525"/>
            </a:avLst>
          </a:prstGeom>
          <a:solidFill>
            <a:srgbClr val="B25E00">
              <a:alpha val="3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1" name="Text 86"/>
          <p:cNvSpPr/>
          <p:nvPr/>
        </p:nvSpPr>
        <p:spPr>
          <a:xfrm>
            <a:off x="10016728" y="3465909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</a:t>
            </a:r>
            <a:endParaRPr lang="en-US" sz="990" dirty="0"/>
          </a:p>
        </p:txBody>
      </p:sp>
      <p:sp>
        <p:nvSpPr>
          <p:cNvPr id="102" name="Shape 87"/>
          <p:cNvSpPr/>
          <p:nvPr/>
        </p:nvSpPr>
        <p:spPr>
          <a:xfrm>
            <a:off x="10684272" y="3465909"/>
            <a:ext cx="560982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3" name="Text 88"/>
          <p:cNvSpPr/>
          <p:nvPr/>
        </p:nvSpPr>
        <p:spPr>
          <a:xfrm>
            <a:off x="10646172" y="3465909"/>
            <a:ext cx="637182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</a:t>
            </a:r>
            <a:endParaRPr lang="en-US" sz="990" dirty="0"/>
          </a:p>
        </p:txBody>
      </p:sp>
      <p:sp>
        <p:nvSpPr>
          <p:cNvPr id="104" name="Shape 89"/>
          <p:cNvSpPr/>
          <p:nvPr/>
        </p:nvSpPr>
        <p:spPr>
          <a:xfrm>
            <a:off x="11313715" y="3465909"/>
            <a:ext cx="560984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5" name="Text 90"/>
          <p:cNvSpPr/>
          <p:nvPr/>
        </p:nvSpPr>
        <p:spPr>
          <a:xfrm>
            <a:off x="11275615" y="3465909"/>
            <a:ext cx="637184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990" dirty="0"/>
          </a:p>
        </p:txBody>
      </p:sp>
      <p:sp>
        <p:nvSpPr>
          <p:cNvPr id="106" name="Text 91"/>
          <p:cNvSpPr/>
          <p:nvPr/>
        </p:nvSpPr>
        <p:spPr>
          <a:xfrm>
            <a:off x="3294063" y="4165402"/>
            <a:ext cx="25146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— payments</a:t>
            </a:r>
            <a:endParaRPr lang="en-US" sz="1170" dirty="0"/>
          </a:p>
        </p:txBody>
      </p:sp>
      <p:sp>
        <p:nvSpPr>
          <p:cNvPr id="107" name="Shape 92"/>
          <p:cNvSpPr/>
          <p:nvPr/>
        </p:nvSpPr>
        <p:spPr>
          <a:xfrm>
            <a:off x="5648524" y="4014391"/>
            <a:ext cx="560983" cy="480020"/>
          </a:xfrm>
          <a:prstGeom prst="roundRect">
            <a:avLst>
              <a:gd name="adj" fmla="val 9525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8" name="Text 93"/>
          <p:cNvSpPr/>
          <p:nvPr/>
        </p:nvSpPr>
        <p:spPr>
          <a:xfrm>
            <a:off x="5610424" y="4014391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</a:t>
            </a:r>
            <a:endParaRPr lang="en-US" sz="990" dirty="0"/>
          </a:p>
        </p:txBody>
      </p:sp>
      <p:sp>
        <p:nvSpPr>
          <p:cNvPr id="109" name="Shape 94"/>
          <p:cNvSpPr/>
          <p:nvPr/>
        </p:nvSpPr>
        <p:spPr>
          <a:xfrm>
            <a:off x="6277968" y="4014391"/>
            <a:ext cx="560983" cy="480020"/>
          </a:xfrm>
          <a:prstGeom prst="roundRect">
            <a:avLst>
              <a:gd name="adj" fmla="val 9525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0" name="Text 95"/>
          <p:cNvSpPr/>
          <p:nvPr/>
        </p:nvSpPr>
        <p:spPr>
          <a:xfrm>
            <a:off x="6239868" y="4014391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</a:t>
            </a:r>
            <a:endParaRPr lang="en-US" sz="990" dirty="0"/>
          </a:p>
        </p:txBody>
      </p:sp>
      <p:sp>
        <p:nvSpPr>
          <p:cNvPr id="111" name="Shape 96"/>
          <p:cNvSpPr/>
          <p:nvPr/>
        </p:nvSpPr>
        <p:spPr>
          <a:xfrm>
            <a:off x="6907412" y="4014391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2" name="Text 97"/>
          <p:cNvSpPr/>
          <p:nvPr/>
        </p:nvSpPr>
        <p:spPr>
          <a:xfrm>
            <a:off x="6869312" y="4014391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990" dirty="0"/>
          </a:p>
        </p:txBody>
      </p:sp>
      <p:sp>
        <p:nvSpPr>
          <p:cNvPr id="113" name="Shape 98"/>
          <p:cNvSpPr/>
          <p:nvPr/>
        </p:nvSpPr>
        <p:spPr>
          <a:xfrm>
            <a:off x="7536855" y="4014391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4" name="Text 99"/>
          <p:cNvSpPr/>
          <p:nvPr/>
        </p:nvSpPr>
        <p:spPr>
          <a:xfrm>
            <a:off x="7498755" y="4014391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</a:t>
            </a:r>
            <a:endParaRPr lang="en-US" sz="990" dirty="0"/>
          </a:p>
        </p:txBody>
      </p:sp>
      <p:sp>
        <p:nvSpPr>
          <p:cNvPr id="115" name="Shape 100"/>
          <p:cNvSpPr/>
          <p:nvPr/>
        </p:nvSpPr>
        <p:spPr>
          <a:xfrm>
            <a:off x="8166299" y="4014391"/>
            <a:ext cx="560983" cy="480020"/>
          </a:xfrm>
          <a:prstGeom prst="roundRect">
            <a:avLst>
              <a:gd name="adj" fmla="val 9525"/>
            </a:avLst>
          </a:prstGeom>
          <a:solidFill>
            <a:srgbClr val="B25E00">
              <a:alpha val="3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6" name="Text 101"/>
          <p:cNvSpPr/>
          <p:nvPr/>
        </p:nvSpPr>
        <p:spPr>
          <a:xfrm>
            <a:off x="8128199" y="4014391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</a:t>
            </a:r>
            <a:endParaRPr lang="en-US" sz="990" dirty="0"/>
          </a:p>
        </p:txBody>
      </p:sp>
      <p:sp>
        <p:nvSpPr>
          <p:cNvPr id="117" name="Shape 102"/>
          <p:cNvSpPr/>
          <p:nvPr/>
        </p:nvSpPr>
        <p:spPr>
          <a:xfrm>
            <a:off x="8795743" y="4014391"/>
            <a:ext cx="561182" cy="480020"/>
          </a:xfrm>
          <a:prstGeom prst="roundRect">
            <a:avLst>
              <a:gd name="adj" fmla="val 9525"/>
            </a:avLst>
          </a:prstGeom>
          <a:solidFill>
            <a:srgbClr val="B25E00">
              <a:alpha val="3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8" name="Text 103"/>
          <p:cNvSpPr/>
          <p:nvPr/>
        </p:nvSpPr>
        <p:spPr>
          <a:xfrm>
            <a:off x="8757643" y="4014391"/>
            <a:ext cx="637382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990" dirty="0"/>
          </a:p>
        </p:txBody>
      </p:sp>
      <p:sp>
        <p:nvSpPr>
          <p:cNvPr id="119" name="Shape 104"/>
          <p:cNvSpPr/>
          <p:nvPr/>
        </p:nvSpPr>
        <p:spPr>
          <a:xfrm>
            <a:off x="9425385" y="4014391"/>
            <a:ext cx="560983" cy="480020"/>
          </a:xfrm>
          <a:prstGeom prst="roundRect">
            <a:avLst>
              <a:gd name="adj" fmla="val 9525"/>
            </a:avLst>
          </a:prstGeom>
          <a:solidFill>
            <a:srgbClr val="BA1A1A">
              <a:alpha val="34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0" name="Text 105"/>
          <p:cNvSpPr/>
          <p:nvPr/>
        </p:nvSpPr>
        <p:spPr>
          <a:xfrm>
            <a:off x="9387285" y="4014391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104</a:t>
            </a:r>
            <a:endParaRPr lang="en-US" sz="990" dirty="0"/>
          </a:p>
        </p:txBody>
      </p:sp>
      <p:sp>
        <p:nvSpPr>
          <p:cNvPr id="121" name="Shape 106"/>
          <p:cNvSpPr/>
          <p:nvPr/>
        </p:nvSpPr>
        <p:spPr>
          <a:xfrm>
            <a:off x="10054828" y="4014391"/>
            <a:ext cx="560983" cy="480020"/>
          </a:xfrm>
          <a:prstGeom prst="roundRect">
            <a:avLst>
              <a:gd name="adj" fmla="val 9525"/>
            </a:avLst>
          </a:prstGeom>
          <a:solidFill>
            <a:srgbClr val="BA1A1A">
              <a:alpha val="34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2" name="Text 107"/>
          <p:cNvSpPr/>
          <p:nvPr/>
        </p:nvSpPr>
        <p:spPr>
          <a:xfrm>
            <a:off x="10016728" y="4014391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106</a:t>
            </a:r>
            <a:endParaRPr lang="en-US" sz="990" dirty="0"/>
          </a:p>
        </p:txBody>
      </p:sp>
      <p:sp>
        <p:nvSpPr>
          <p:cNvPr id="123" name="Shape 108"/>
          <p:cNvSpPr/>
          <p:nvPr/>
        </p:nvSpPr>
        <p:spPr>
          <a:xfrm>
            <a:off x="10684272" y="4014391"/>
            <a:ext cx="560982" cy="480020"/>
          </a:xfrm>
          <a:prstGeom prst="roundRect">
            <a:avLst>
              <a:gd name="adj" fmla="val 9525"/>
            </a:avLst>
          </a:prstGeom>
          <a:solidFill>
            <a:srgbClr val="B25E00">
              <a:alpha val="3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4" name="Text 109"/>
          <p:cNvSpPr/>
          <p:nvPr/>
        </p:nvSpPr>
        <p:spPr>
          <a:xfrm>
            <a:off x="10646172" y="4014391"/>
            <a:ext cx="637182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</a:t>
            </a:r>
            <a:endParaRPr lang="en-US" sz="990" dirty="0"/>
          </a:p>
        </p:txBody>
      </p:sp>
      <p:sp>
        <p:nvSpPr>
          <p:cNvPr id="125" name="Shape 110"/>
          <p:cNvSpPr/>
          <p:nvPr/>
        </p:nvSpPr>
        <p:spPr>
          <a:xfrm>
            <a:off x="11313715" y="4014391"/>
            <a:ext cx="560984" cy="480020"/>
          </a:xfrm>
          <a:prstGeom prst="roundRect">
            <a:avLst>
              <a:gd name="adj" fmla="val 9525"/>
            </a:avLst>
          </a:prstGeom>
          <a:solidFill>
            <a:srgbClr val="B25E00">
              <a:alpha val="3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6" name="Text 111"/>
          <p:cNvSpPr/>
          <p:nvPr/>
        </p:nvSpPr>
        <p:spPr>
          <a:xfrm>
            <a:off x="11275615" y="4014391"/>
            <a:ext cx="637184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990" dirty="0"/>
          </a:p>
        </p:txBody>
      </p:sp>
      <p:sp>
        <p:nvSpPr>
          <p:cNvPr id="127" name="Text 112"/>
          <p:cNvSpPr/>
          <p:nvPr/>
        </p:nvSpPr>
        <p:spPr>
          <a:xfrm>
            <a:off x="3294063" y="4713883"/>
            <a:ext cx="25146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</a:t>
            </a:r>
            <a:endParaRPr lang="en-US" sz="1170" dirty="0"/>
          </a:p>
        </p:txBody>
      </p:sp>
      <p:sp>
        <p:nvSpPr>
          <p:cNvPr id="128" name="Shape 113"/>
          <p:cNvSpPr/>
          <p:nvPr/>
        </p:nvSpPr>
        <p:spPr>
          <a:xfrm>
            <a:off x="5648524" y="4562872"/>
            <a:ext cx="560983" cy="480020"/>
          </a:xfrm>
          <a:prstGeom prst="roundRect">
            <a:avLst>
              <a:gd name="adj" fmla="val 9525"/>
            </a:avLst>
          </a:prstGeom>
          <a:solidFill>
            <a:srgbClr val="B25E00">
              <a:alpha val="3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9" name="Text 114"/>
          <p:cNvSpPr/>
          <p:nvPr/>
        </p:nvSpPr>
        <p:spPr>
          <a:xfrm>
            <a:off x="5610424" y="4562872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990" dirty="0"/>
          </a:p>
        </p:txBody>
      </p:sp>
      <p:sp>
        <p:nvSpPr>
          <p:cNvPr id="130" name="Shape 115"/>
          <p:cNvSpPr/>
          <p:nvPr/>
        </p:nvSpPr>
        <p:spPr>
          <a:xfrm>
            <a:off x="6277968" y="4562872"/>
            <a:ext cx="560983" cy="480020"/>
          </a:xfrm>
          <a:prstGeom prst="roundRect">
            <a:avLst>
              <a:gd name="adj" fmla="val 9525"/>
            </a:avLst>
          </a:prstGeom>
          <a:solidFill>
            <a:srgbClr val="B25E00">
              <a:alpha val="3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1" name="Text 116"/>
          <p:cNvSpPr/>
          <p:nvPr/>
        </p:nvSpPr>
        <p:spPr>
          <a:xfrm>
            <a:off x="6239868" y="4562872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</a:t>
            </a:r>
            <a:endParaRPr lang="en-US" sz="990" dirty="0"/>
          </a:p>
        </p:txBody>
      </p:sp>
      <p:sp>
        <p:nvSpPr>
          <p:cNvPr id="132" name="Shape 117"/>
          <p:cNvSpPr/>
          <p:nvPr/>
        </p:nvSpPr>
        <p:spPr>
          <a:xfrm>
            <a:off x="6907412" y="4562872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3" name="Text 118"/>
          <p:cNvSpPr/>
          <p:nvPr/>
        </p:nvSpPr>
        <p:spPr>
          <a:xfrm>
            <a:off x="6869312" y="4562872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</a:t>
            </a:r>
            <a:endParaRPr lang="en-US" sz="990" dirty="0"/>
          </a:p>
        </p:txBody>
      </p:sp>
      <p:sp>
        <p:nvSpPr>
          <p:cNvPr id="134" name="Shape 119"/>
          <p:cNvSpPr/>
          <p:nvPr/>
        </p:nvSpPr>
        <p:spPr>
          <a:xfrm>
            <a:off x="7536855" y="4562872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5" name="Text 120"/>
          <p:cNvSpPr/>
          <p:nvPr/>
        </p:nvSpPr>
        <p:spPr>
          <a:xfrm>
            <a:off x="7498755" y="4562872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</a:t>
            </a:r>
            <a:endParaRPr lang="en-US" sz="990" dirty="0"/>
          </a:p>
        </p:txBody>
      </p:sp>
      <p:sp>
        <p:nvSpPr>
          <p:cNvPr id="136" name="Shape 121"/>
          <p:cNvSpPr/>
          <p:nvPr/>
        </p:nvSpPr>
        <p:spPr>
          <a:xfrm>
            <a:off x="8166299" y="4562872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7" name="Text 122"/>
          <p:cNvSpPr/>
          <p:nvPr/>
        </p:nvSpPr>
        <p:spPr>
          <a:xfrm>
            <a:off x="8128199" y="4562872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990" dirty="0"/>
          </a:p>
        </p:txBody>
      </p:sp>
      <p:sp>
        <p:nvSpPr>
          <p:cNvPr id="138" name="Shape 123"/>
          <p:cNvSpPr/>
          <p:nvPr/>
        </p:nvSpPr>
        <p:spPr>
          <a:xfrm>
            <a:off x="8795743" y="4562872"/>
            <a:ext cx="561182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9" name="Text 124"/>
          <p:cNvSpPr/>
          <p:nvPr/>
        </p:nvSpPr>
        <p:spPr>
          <a:xfrm>
            <a:off x="8757643" y="4562872"/>
            <a:ext cx="637382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</a:t>
            </a:r>
            <a:endParaRPr lang="en-US" sz="990" dirty="0"/>
          </a:p>
        </p:txBody>
      </p:sp>
      <p:sp>
        <p:nvSpPr>
          <p:cNvPr id="140" name="Shape 125"/>
          <p:cNvSpPr/>
          <p:nvPr/>
        </p:nvSpPr>
        <p:spPr>
          <a:xfrm>
            <a:off x="9425385" y="4562872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1" name="Text 126"/>
          <p:cNvSpPr/>
          <p:nvPr/>
        </p:nvSpPr>
        <p:spPr>
          <a:xfrm>
            <a:off x="9387285" y="4562872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990" dirty="0"/>
          </a:p>
        </p:txBody>
      </p:sp>
      <p:sp>
        <p:nvSpPr>
          <p:cNvPr id="142" name="Shape 127"/>
          <p:cNvSpPr/>
          <p:nvPr/>
        </p:nvSpPr>
        <p:spPr>
          <a:xfrm>
            <a:off x="10054828" y="4562872"/>
            <a:ext cx="560983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3" name="Text 128"/>
          <p:cNvSpPr/>
          <p:nvPr/>
        </p:nvSpPr>
        <p:spPr>
          <a:xfrm>
            <a:off x="10016728" y="4562872"/>
            <a:ext cx="637183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</a:t>
            </a:r>
            <a:endParaRPr lang="en-US" sz="990" dirty="0"/>
          </a:p>
        </p:txBody>
      </p:sp>
      <p:sp>
        <p:nvSpPr>
          <p:cNvPr id="144" name="Shape 129"/>
          <p:cNvSpPr/>
          <p:nvPr/>
        </p:nvSpPr>
        <p:spPr>
          <a:xfrm>
            <a:off x="10684272" y="4562872"/>
            <a:ext cx="560982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5" name="Text 130"/>
          <p:cNvSpPr/>
          <p:nvPr/>
        </p:nvSpPr>
        <p:spPr>
          <a:xfrm>
            <a:off x="10646172" y="4562872"/>
            <a:ext cx="637182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</a:t>
            </a:r>
            <a:endParaRPr lang="en-US" sz="990" dirty="0"/>
          </a:p>
        </p:txBody>
      </p:sp>
      <p:sp>
        <p:nvSpPr>
          <p:cNvPr id="146" name="Shape 131"/>
          <p:cNvSpPr/>
          <p:nvPr/>
        </p:nvSpPr>
        <p:spPr>
          <a:xfrm>
            <a:off x="11313715" y="4562872"/>
            <a:ext cx="560984" cy="480020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7" name="Text 132"/>
          <p:cNvSpPr/>
          <p:nvPr/>
        </p:nvSpPr>
        <p:spPr>
          <a:xfrm>
            <a:off x="11275615" y="4562872"/>
            <a:ext cx="637184" cy="51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</a:t>
            </a:r>
            <a:endParaRPr lang="en-US" sz="990" dirty="0"/>
          </a:p>
        </p:txBody>
      </p:sp>
      <p:sp>
        <p:nvSpPr>
          <p:cNvPr id="148" name="Text 133"/>
          <p:cNvSpPr/>
          <p:nvPr/>
        </p:nvSpPr>
        <p:spPr>
          <a:xfrm>
            <a:off x="3294063" y="5262364"/>
            <a:ext cx="25146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guild</a:t>
            </a:r>
            <a:endParaRPr lang="en-US" sz="1170" dirty="0"/>
          </a:p>
        </p:txBody>
      </p:sp>
      <p:sp>
        <p:nvSpPr>
          <p:cNvPr id="149" name="Shape 134"/>
          <p:cNvSpPr/>
          <p:nvPr/>
        </p:nvSpPr>
        <p:spPr>
          <a:xfrm>
            <a:off x="5648524" y="5111353"/>
            <a:ext cx="560983" cy="480021"/>
          </a:xfrm>
          <a:prstGeom prst="roundRect">
            <a:avLst>
              <a:gd name="adj" fmla="val 9525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0" name="Text 135"/>
          <p:cNvSpPr/>
          <p:nvPr/>
        </p:nvSpPr>
        <p:spPr>
          <a:xfrm>
            <a:off x="5610424" y="5111353"/>
            <a:ext cx="637183" cy="5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</a:t>
            </a:r>
            <a:endParaRPr lang="en-US" sz="990" dirty="0"/>
          </a:p>
        </p:txBody>
      </p:sp>
      <p:sp>
        <p:nvSpPr>
          <p:cNvPr id="151" name="Shape 136"/>
          <p:cNvSpPr/>
          <p:nvPr/>
        </p:nvSpPr>
        <p:spPr>
          <a:xfrm>
            <a:off x="6277968" y="5111353"/>
            <a:ext cx="560983" cy="480021"/>
          </a:xfrm>
          <a:prstGeom prst="roundRect">
            <a:avLst>
              <a:gd name="adj" fmla="val 9525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2" name="Text 137"/>
          <p:cNvSpPr/>
          <p:nvPr/>
        </p:nvSpPr>
        <p:spPr>
          <a:xfrm>
            <a:off x="6239868" y="5111353"/>
            <a:ext cx="637183" cy="5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990" dirty="0"/>
          </a:p>
        </p:txBody>
      </p:sp>
      <p:sp>
        <p:nvSpPr>
          <p:cNvPr id="153" name="Shape 138"/>
          <p:cNvSpPr/>
          <p:nvPr/>
        </p:nvSpPr>
        <p:spPr>
          <a:xfrm>
            <a:off x="6907412" y="5111353"/>
            <a:ext cx="560983" cy="480021"/>
          </a:xfrm>
          <a:prstGeom prst="roundRect">
            <a:avLst>
              <a:gd name="adj" fmla="val 9525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4" name="Text 139"/>
          <p:cNvSpPr/>
          <p:nvPr/>
        </p:nvSpPr>
        <p:spPr>
          <a:xfrm>
            <a:off x="6869312" y="5111353"/>
            <a:ext cx="637183" cy="5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990" dirty="0"/>
          </a:p>
        </p:txBody>
      </p:sp>
      <p:sp>
        <p:nvSpPr>
          <p:cNvPr id="155" name="Shape 140"/>
          <p:cNvSpPr/>
          <p:nvPr/>
        </p:nvSpPr>
        <p:spPr>
          <a:xfrm>
            <a:off x="7536855" y="5111353"/>
            <a:ext cx="560983" cy="480021"/>
          </a:xfrm>
          <a:prstGeom prst="roundRect">
            <a:avLst>
              <a:gd name="adj" fmla="val 9525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6" name="Text 141"/>
          <p:cNvSpPr/>
          <p:nvPr/>
        </p:nvSpPr>
        <p:spPr>
          <a:xfrm>
            <a:off x="7498755" y="5111353"/>
            <a:ext cx="637183" cy="5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</a:t>
            </a:r>
            <a:endParaRPr lang="en-US" sz="990" dirty="0"/>
          </a:p>
        </p:txBody>
      </p:sp>
      <p:sp>
        <p:nvSpPr>
          <p:cNvPr id="157" name="Shape 142"/>
          <p:cNvSpPr/>
          <p:nvPr/>
        </p:nvSpPr>
        <p:spPr>
          <a:xfrm>
            <a:off x="8166299" y="5111353"/>
            <a:ext cx="560983" cy="480021"/>
          </a:xfrm>
          <a:prstGeom prst="roundRect">
            <a:avLst>
              <a:gd name="adj" fmla="val 9525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8" name="Text 143"/>
          <p:cNvSpPr/>
          <p:nvPr/>
        </p:nvSpPr>
        <p:spPr>
          <a:xfrm>
            <a:off x="8128199" y="5111353"/>
            <a:ext cx="637183" cy="5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</a:t>
            </a:r>
            <a:endParaRPr lang="en-US" sz="990" dirty="0"/>
          </a:p>
        </p:txBody>
      </p:sp>
      <p:sp>
        <p:nvSpPr>
          <p:cNvPr id="159" name="Shape 144"/>
          <p:cNvSpPr/>
          <p:nvPr/>
        </p:nvSpPr>
        <p:spPr>
          <a:xfrm>
            <a:off x="8795743" y="5111353"/>
            <a:ext cx="561182" cy="480021"/>
          </a:xfrm>
          <a:prstGeom prst="roundRect">
            <a:avLst>
              <a:gd name="adj" fmla="val 9525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0" name="Text 145"/>
          <p:cNvSpPr/>
          <p:nvPr/>
        </p:nvSpPr>
        <p:spPr>
          <a:xfrm>
            <a:off x="8757643" y="5111353"/>
            <a:ext cx="637382" cy="5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990" dirty="0"/>
          </a:p>
        </p:txBody>
      </p:sp>
      <p:sp>
        <p:nvSpPr>
          <p:cNvPr id="161" name="Shape 146"/>
          <p:cNvSpPr/>
          <p:nvPr/>
        </p:nvSpPr>
        <p:spPr>
          <a:xfrm>
            <a:off x="9425385" y="5111353"/>
            <a:ext cx="560983" cy="480021"/>
          </a:xfrm>
          <a:prstGeom prst="roundRect">
            <a:avLst>
              <a:gd name="adj" fmla="val 9525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2" name="Text 147"/>
          <p:cNvSpPr/>
          <p:nvPr/>
        </p:nvSpPr>
        <p:spPr>
          <a:xfrm>
            <a:off x="9387285" y="5111353"/>
            <a:ext cx="637183" cy="5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990" dirty="0"/>
          </a:p>
        </p:txBody>
      </p:sp>
      <p:sp>
        <p:nvSpPr>
          <p:cNvPr id="163" name="Shape 148"/>
          <p:cNvSpPr/>
          <p:nvPr/>
        </p:nvSpPr>
        <p:spPr>
          <a:xfrm>
            <a:off x="10054828" y="5111353"/>
            <a:ext cx="560983" cy="480021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4" name="Text 149"/>
          <p:cNvSpPr/>
          <p:nvPr/>
        </p:nvSpPr>
        <p:spPr>
          <a:xfrm>
            <a:off x="10016728" y="5111353"/>
            <a:ext cx="637183" cy="5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990" dirty="0"/>
          </a:p>
        </p:txBody>
      </p:sp>
      <p:sp>
        <p:nvSpPr>
          <p:cNvPr id="165" name="Shape 150"/>
          <p:cNvSpPr/>
          <p:nvPr/>
        </p:nvSpPr>
        <p:spPr>
          <a:xfrm>
            <a:off x="10684272" y="5111353"/>
            <a:ext cx="560982" cy="480021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6" name="Text 151"/>
          <p:cNvSpPr/>
          <p:nvPr/>
        </p:nvSpPr>
        <p:spPr>
          <a:xfrm>
            <a:off x="10646172" y="5111353"/>
            <a:ext cx="637182" cy="5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990" dirty="0"/>
          </a:p>
        </p:txBody>
      </p:sp>
      <p:sp>
        <p:nvSpPr>
          <p:cNvPr id="167" name="Shape 152"/>
          <p:cNvSpPr/>
          <p:nvPr/>
        </p:nvSpPr>
        <p:spPr>
          <a:xfrm>
            <a:off x="11313715" y="5111353"/>
            <a:ext cx="560984" cy="480021"/>
          </a:xfrm>
          <a:prstGeom prst="roundRect">
            <a:avLst>
              <a:gd name="adj" fmla="val 9525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8" name="Text 153"/>
          <p:cNvSpPr/>
          <p:nvPr/>
        </p:nvSpPr>
        <p:spPr>
          <a:xfrm>
            <a:off x="11275615" y="5111353"/>
            <a:ext cx="637184" cy="5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</a:t>
            </a:r>
            <a:endParaRPr lang="en-US" sz="990" dirty="0"/>
          </a:p>
        </p:txBody>
      </p:sp>
      <p:sp>
        <p:nvSpPr>
          <p:cNvPr id="169" name="Shape 154"/>
          <p:cNvSpPr/>
          <p:nvPr/>
        </p:nvSpPr>
        <p:spPr>
          <a:xfrm>
            <a:off x="3294063" y="5742385"/>
            <a:ext cx="137120" cy="137120"/>
          </a:xfrm>
          <a:prstGeom prst="roundRect">
            <a:avLst>
              <a:gd name="adj" fmla="val 33343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0" name="Text 155"/>
          <p:cNvSpPr/>
          <p:nvPr/>
        </p:nvSpPr>
        <p:spPr>
          <a:xfrm>
            <a:off x="3511153" y="5728495"/>
            <a:ext cx="1709539" cy="203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60% — bench risk</a:t>
            </a:r>
            <a:endParaRPr lang="en-US" sz="1080" dirty="0"/>
          </a:p>
        </p:txBody>
      </p:sp>
      <p:sp>
        <p:nvSpPr>
          <p:cNvPr id="171" name="Shape 156"/>
          <p:cNvSpPr/>
          <p:nvPr/>
        </p:nvSpPr>
        <p:spPr>
          <a:xfrm>
            <a:off x="5350074" y="5742385"/>
            <a:ext cx="137121" cy="137120"/>
          </a:xfrm>
          <a:prstGeom prst="roundRect">
            <a:avLst>
              <a:gd name="adj" fmla="val 33343"/>
            </a:avLst>
          </a:prstGeom>
          <a:solidFill>
            <a:srgbClr val="2C8A3A">
              <a:alpha val="22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2" name="Text 157"/>
          <p:cNvSpPr/>
          <p:nvPr/>
        </p:nvSpPr>
        <p:spPr>
          <a:xfrm>
            <a:off x="5567164" y="5728495"/>
            <a:ext cx="1311672" cy="203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60–90% — healthy</a:t>
            </a:r>
            <a:endParaRPr lang="en-US" sz="1080" dirty="0"/>
          </a:p>
        </p:txBody>
      </p:sp>
      <p:sp>
        <p:nvSpPr>
          <p:cNvPr id="173" name="Shape 158"/>
          <p:cNvSpPr/>
          <p:nvPr/>
        </p:nvSpPr>
        <p:spPr>
          <a:xfrm>
            <a:off x="7008218" y="5742385"/>
            <a:ext cx="137120" cy="137120"/>
          </a:xfrm>
          <a:prstGeom prst="roundRect">
            <a:avLst>
              <a:gd name="adj" fmla="val 33343"/>
            </a:avLst>
          </a:prstGeom>
          <a:solidFill>
            <a:srgbClr val="B25E00">
              <a:alpha val="3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4" name="Text 159"/>
          <p:cNvSpPr/>
          <p:nvPr/>
        </p:nvSpPr>
        <p:spPr>
          <a:xfrm>
            <a:off x="7225308" y="5728495"/>
            <a:ext cx="1181498" cy="203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90–100% — tight</a:t>
            </a:r>
            <a:endParaRPr lang="en-US" sz="1080" dirty="0"/>
          </a:p>
        </p:txBody>
      </p:sp>
      <p:sp>
        <p:nvSpPr>
          <p:cNvPr id="175" name="Shape 160"/>
          <p:cNvSpPr/>
          <p:nvPr/>
        </p:nvSpPr>
        <p:spPr>
          <a:xfrm>
            <a:off x="8536187" y="5742385"/>
            <a:ext cx="137120" cy="137120"/>
          </a:xfrm>
          <a:prstGeom prst="roundRect">
            <a:avLst>
              <a:gd name="adj" fmla="val 33343"/>
            </a:avLst>
          </a:prstGeom>
          <a:solidFill>
            <a:srgbClr val="BA1A1A">
              <a:alpha val="34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6" name="Text 161"/>
          <p:cNvSpPr/>
          <p:nvPr/>
        </p:nvSpPr>
        <p:spPr>
          <a:xfrm>
            <a:off x="8753277" y="5728495"/>
            <a:ext cx="1782563" cy="203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100% — burnout risk</a:t>
            </a:r>
            <a:endParaRPr lang="en-US" sz="1080" dirty="0"/>
          </a:p>
        </p:txBody>
      </p:sp>
      <p:sp>
        <p:nvSpPr>
          <p:cNvPr id="177" name="Shape 162"/>
          <p:cNvSpPr/>
          <p:nvPr/>
        </p:nvSpPr>
        <p:spPr>
          <a:xfrm>
            <a:off x="3075781" y="6294636"/>
            <a:ext cx="2117130" cy="1246585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8" name="Text 163"/>
          <p:cNvSpPr/>
          <p:nvPr/>
        </p:nvSpPr>
        <p:spPr>
          <a:xfrm>
            <a:off x="3271242" y="6490097"/>
            <a:ext cx="189882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over 100%</a:t>
            </a:r>
            <a:endParaRPr lang="en-US" sz="1080" dirty="0"/>
          </a:p>
        </p:txBody>
      </p:sp>
      <p:sp>
        <p:nvSpPr>
          <p:cNvPr id="179" name="Text 164"/>
          <p:cNvSpPr/>
          <p:nvPr/>
        </p:nvSpPr>
        <p:spPr>
          <a:xfrm>
            <a:off x="3271242" y="6723658"/>
            <a:ext cx="1898829" cy="426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2700" dirty="0"/>
          </a:p>
        </p:txBody>
      </p:sp>
      <p:sp>
        <p:nvSpPr>
          <p:cNvPr id="180" name="Text 165"/>
          <p:cNvSpPr/>
          <p:nvPr/>
        </p:nvSpPr>
        <p:spPr>
          <a:xfrm>
            <a:off x="3271242" y="7180659"/>
            <a:ext cx="86360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−19 vs. plan</a:t>
            </a:r>
            <a:endParaRPr lang="en-US" sz="1080" dirty="0"/>
          </a:p>
        </p:txBody>
      </p:sp>
      <p:sp>
        <p:nvSpPr>
          <p:cNvPr id="181" name="Shape 166"/>
          <p:cNvSpPr/>
          <p:nvPr/>
        </p:nvSpPr>
        <p:spPr>
          <a:xfrm>
            <a:off x="5375672" y="6294636"/>
            <a:ext cx="2117328" cy="1246585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2" name="Text 167"/>
          <p:cNvSpPr/>
          <p:nvPr/>
        </p:nvSpPr>
        <p:spPr>
          <a:xfrm>
            <a:off x="5571133" y="6490097"/>
            <a:ext cx="189904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 weeks</a:t>
            </a:r>
            <a:endParaRPr lang="en-US" sz="1080" dirty="0"/>
          </a:p>
        </p:txBody>
      </p:sp>
      <p:sp>
        <p:nvSpPr>
          <p:cNvPr id="183" name="Text 168"/>
          <p:cNvSpPr/>
          <p:nvPr/>
        </p:nvSpPr>
        <p:spPr>
          <a:xfrm>
            <a:off x="5571133" y="6723658"/>
            <a:ext cx="1899047" cy="426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2700" dirty="0"/>
          </a:p>
        </p:txBody>
      </p:sp>
      <p:sp>
        <p:nvSpPr>
          <p:cNvPr id="184" name="Text 169"/>
          <p:cNvSpPr/>
          <p:nvPr/>
        </p:nvSpPr>
        <p:spPr>
          <a:xfrm>
            <a:off x="5571133" y="7180659"/>
            <a:ext cx="34587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−34</a:t>
            </a:r>
            <a:endParaRPr lang="en-US" sz="1080" dirty="0"/>
          </a:p>
        </p:txBody>
      </p:sp>
      <p:sp>
        <p:nvSpPr>
          <p:cNvPr id="185" name="Shape 170"/>
          <p:cNvSpPr/>
          <p:nvPr/>
        </p:nvSpPr>
        <p:spPr>
          <a:xfrm>
            <a:off x="7675761" y="6294636"/>
            <a:ext cx="2117329" cy="1246585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6" name="Text 171"/>
          <p:cNvSpPr/>
          <p:nvPr/>
        </p:nvSpPr>
        <p:spPr>
          <a:xfrm>
            <a:off x="7871222" y="6490097"/>
            <a:ext cx="189904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accuracy</a:t>
            </a:r>
            <a:endParaRPr lang="en-US" sz="1080" dirty="0"/>
          </a:p>
        </p:txBody>
      </p:sp>
      <p:sp>
        <p:nvSpPr>
          <p:cNvPr id="187" name="Text 172"/>
          <p:cNvSpPr/>
          <p:nvPr/>
        </p:nvSpPr>
        <p:spPr>
          <a:xfrm>
            <a:off x="7871222" y="6723658"/>
            <a:ext cx="1899048" cy="426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91%</a:t>
            </a:r>
            <a:endParaRPr lang="en-US" sz="2700" dirty="0"/>
          </a:p>
        </p:txBody>
      </p:sp>
      <p:sp>
        <p:nvSpPr>
          <p:cNvPr id="188" name="Text 173"/>
          <p:cNvSpPr/>
          <p:nvPr/>
        </p:nvSpPr>
        <p:spPr>
          <a:xfrm>
            <a:off x="7871222" y="7180659"/>
            <a:ext cx="57824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 pts</a:t>
            </a:r>
            <a:endParaRPr lang="en-US" sz="1080" dirty="0"/>
          </a:p>
        </p:txBody>
      </p:sp>
      <p:sp>
        <p:nvSpPr>
          <p:cNvPr id="189" name="Shape 174"/>
          <p:cNvSpPr/>
          <p:nvPr/>
        </p:nvSpPr>
        <p:spPr>
          <a:xfrm>
            <a:off x="9975850" y="6294636"/>
            <a:ext cx="2117329" cy="1246585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90" name="Text 175"/>
          <p:cNvSpPr/>
          <p:nvPr/>
        </p:nvSpPr>
        <p:spPr>
          <a:xfrm>
            <a:off x="10171312" y="6490097"/>
            <a:ext cx="189904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Alerts raised early</a:t>
            </a:r>
            <a:endParaRPr lang="en-US" sz="1080" dirty="0"/>
          </a:p>
        </p:txBody>
      </p:sp>
      <p:sp>
        <p:nvSpPr>
          <p:cNvPr id="191" name="Text 176"/>
          <p:cNvSpPr/>
          <p:nvPr/>
        </p:nvSpPr>
        <p:spPr>
          <a:xfrm>
            <a:off x="10171312" y="6723658"/>
            <a:ext cx="1899048" cy="426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2700" dirty="0"/>
          </a:p>
        </p:txBody>
      </p:sp>
      <p:sp>
        <p:nvSpPr>
          <p:cNvPr id="192" name="Text 177"/>
          <p:cNvSpPr/>
          <p:nvPr/>
        </p:nvSpPr>
        <p:spPr>
          <a:xfrm>
            <a:off x="10171312" y="7180659"/>
            <a:ext cx="143651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5 weeks ahead</a:t>
            </a:r>
            <a:endParaRPr lang="en-US" sz="1080" dirty="0"/>
          </a:p>
        </p:txBody>
      </p:sp>
      <p:sp>
        <p:nvSpPr>
          <p:cNvPr id="193" name="Shape 178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94" name="Shape 179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95" name="Shape 180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6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97" name="Text 181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98" name="Text 182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99" name="Shape 183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00" name="Text 184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201" name="Shape 185"/>
          <p:cNvSpPr/>
          <p:nvPr/>
        </p:nvSpPr>
        <p:spPr>
          <a:xfrm>
            <a:off x="15140583" y="2612628"/>
            <a:ext cx="2725937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02" name="Text 186"/>
          <p:cNvSpPr/>
          <p:nvPr/>
        </p:nvSpPr>
        <p:spPr>
          <a:xfrm>
            <a:off x="15300603" y="2726928"/>
            <a:ext cx="24876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teams break in week 39?</a:t>
            </a:r>
            <a:endParaRPr lang="en-US" sz="1260" dirty="0"/>
          </a:p>
        </p:txBody>
      </p:sp>
      <p:sp>
        <p:nvSpPr>
          <p:cNvPr id="203" name="Shape 187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4" name="Text 188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tribe at 108% and delivery — payments at 96%. Both driven by the same September start.</a:t>
            </a:r>
            <a:endParaRPr lang="en-US" sz="1260" dirty="0"/>
          </a:p>
        </p:txBody>
      </p:sp>
      <p:sp>
        <p:nvSpPr>
          <p:cNvPr id="205" name="Shape 189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6" name="Text 190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UTILISATION, W39</a:t>
            </a:r>
            <a:endParaRPr lang="en-US" sz="990" dirty="0"/>
          </a:p>
        </p:txBody>
      </p:sp>
      <p:sp>
        <p:nvSpPr>
          <p:cNvPr id="207" name="Text 191"/>
          <p:cNvSpPr/>
          <p:nvPr/>
        </p:nvSpPr>
        <p:spPr>
          <a:xfrm>
            <a:off x="12781161" y="4494610"/>
            <a:ext cx="95130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tribe</a:t>
            </a:r>
            <a:endParaRPr lang="en-US" sz="1080" dirty="0"/>
          </a:p>
        </p:txBody>
      </p:sp>
      <p:sp>
        <p:nvSpPr>
          <p:cNvPr id="208" name="Text 192"/>
          <p:cNvSpPr/>
          <p:nvPr/>
        </p:nvSpPr>
        <p:spPr>
          <a:xfrm>
            <a:off x="17457739" y="4494610"/>
            <a:ext cx="31234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108</a:t>
            </a:r>
            <a:endParaRPr lang="en-US" sz="1080" dirty="0"/>
          </a:p>
        </p:txBody>
      </p:sp>
      <p:sp>
        <p:nvSpPr>
          <p:cNvPr id="209" name="Shape 193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0" name="Shape 194"/>
          <p:cNvSpPr/>
          <p:nvPr/>
        </p:nvSpPr>
        <p:spPr>
          <a:xfrm>
            <a:off x="12781161" y="4716859"/>
            <a:ext cx="4912719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1" name="Text 195"/>
          <p:cNvSpPr/>
          <p:nvPr/>
        </p:nvSpPr>
        <p:spPr>
          <a:xfrm>
            <a:off x="12781161" y="4899621"/>
            <a:ext cx="100449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AI tribe</a:t>
            </a:r>
            <a:endParaRPr lang="en-US" sz="1080" dirty="0"/>
          </a:p>
        </p:txBody>
      </p:sp>
      <p:sp>
        <p:nvSpPr>
          <p:cNvPr id="212" name="Text 196"/>
          <p:cNvSpPr/>
          <p:nvPr/>
        </p:nvSpPr>
        <p:spPr>
          <a:xfrm>
            <a:off x="17520841" y="4899621"/>
            <a:ext cx="24923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1080" dirty="0"/>
          </a:p>
        </p:txBody>
      </p:sp>
      <p:sp>
        <p:nvSpPr>
          <p:cNvPr id="213" name="Shape 197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4" name="Shape 198"/>
          <p:cNvSpPr/>
          <p:nvPr/>
        </p:nvSpPr>
        <p:spPr>
          <a:xfrm>
            <a:off x="12781161" y="5121871"/>
            <a:ext cx="4519613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5" name="Text 199"/>
          <p:cNvSpPr/>
          <p:nvPr/>
        </p:nvSpPr>
        <p:spPr>
          <a:xfrm>
            <a:off x="12781161" y="5304631"/>
            <a:ext cx="151618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— payments</a:t>
            </a:r>
            <a:endParaRPr lang="en-US" sz="1080" dirty="0"/>
          </a:p>
        </p:txBody>
      </p:sp>
      <p:sp>
        <p:nvSpPr>
          <p:cNvPr id="216" name="Text 200"/>
          <p:cNvSpPr/>
          <p:nvPr/>
        </p:nvSpPr>
        <p:spPr>
          <a:xfrm>
            <a:off x="17518461" y="5304631"/>
            <a:ext cx="25161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</a:t>
            </a:r>
            <a:endParaRPr lang="en-US" sz="1080" dirty="0"/>
          </a:p>
        </p:txBody>
      </p:sp>
      <p:sp>
        <p:nvSpPr>
          <p:cNvPr id="217" name="Shape 201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8" name="Shape 202"/>
          <p:cNvSpPr/>
          <p:nvPr/>
        </p:nvSpPr>
        <p:spPr>
          <a:xfrm>
            <a:off x="12781161" y="5526882"/>
            <a:ext cx="4716066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9" name="Text 203"/>
          <p:cNvSpPr/>
          <p:nvPr/>
        </p:nvSpPr>
        <p:spPr>
          <a:xfrm>
            <a:off x="12781161" y="5709643"/>
            <a:ext cx="100766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guild</a:t>
            </a:r>
            <a:endParaRPr lang="en-US" sz="1080" dirty="0"/>
          </a:p>
        </p:txBody>
      </p:sp>
      <p:sp>
        <p:nvSpPr>
          <p:cNvPr id="220" name="Text 204"/>
          <p:cNvSpPr/>
          <p:nvPr/>
        </p:nvSpPr>
        <p:spPr>
          <a:xfrm>
            <a:off x="17511317" y="5709643"/>
            <a:ext cx="25876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</a:t>
            </a:r>
            <a:endParaRPr lang="en-US" sz="1080" dirty="0"/>
          </a:p>
        </p:txBody>
      </p:sp>
      <p:sp>
        <p:nvSpPr>
          <p:cNvPr id="221" name="Shape 205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22" name="Shape 206"/>
          <p:cNvSpPr/>
          <p:nvPr/>
        </p:nvSpPr>
        <p:spPr>
          <a:xfrm>
            <a:off x="12781161" y="5931893"/>
            <a:ext cx="2161581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23" name="Shape 207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24" name="Text 208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Raise capacity alert</a:t>
            </a:r>
            <a:endParaRPr lang="en-US" sz="1260" dirty="0"/>
          </a:p>
        </p:txBody>
      </p:sp>
      <p:sp>
        <p:nvSpPr>
          <p:cNvPr id="225" name="Text 209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</a:t>
            </a:r>
            <a:endParaRPr lang="en-US" sz="990" dirty="0"/>
          </a:p>
        </p:txBody>
      </p:sp>
      <p:sp>
        <p:nvSpPr>
          <p:cNvPr id="226" name="Shape 210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27" name="Text 211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Platform, Payments</a:t>
            </a:r>
            <a:endParaRPr lang="en-US" sz="1170" dirty="0"/>
          </a:p>
        </p:txBody>
      </p:sp>
      <p:sp>
        <p:nvSpPr>
          <p:cNvPr id="228" name="Text 212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</a:t>
            </a:r>
            <a:endParaRPr lang="en-US" sz="990" dirty="0"/>
          </a:p>
        </p:txBody>
      </p:sp>
      <p:sp>
        <p:nvSpPr>
          <p:cNvPr id="229" name="Shape 213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30" name="Text 214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W39 2026</a:t>
            </a:r>
            <a:endParaRPr lang="en-US" sz="1170" dirty="0"/>
          </a:p>
        </p:txBody>
      </p:sp>
      <p:sp>
        <p:nvSpPr>
          <p:cNvPr id="231" name="Text 215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990" dirty="0"/>
          </a:p>
        </p:txBody>
      </p:sp>
      <p:sp>
        <p:nvSpPr>
          <p:cNvPr id="232" name="Shape 216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33" name="Text 217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Rebalance or delay ramp</a:t>
            </a:r>
            <a:endParaRPr lang="en-US" sz="1170" dirty="0"/>
          </a:p>
        </p:txBody>
      </p:sp>
      <p:sp>
        <p:nvSpPr>
          <p:cNvPr id="234" name="Shape 218"/>
          <p:cNvSpPr/>
          <p:nvPr/>
        </p:nvSpPr>
        <p:spPr>
          <a:xfrm>
            <a:off x="12781161" y="8631437"/>
            <a:ext cx="1530945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5" name="Text 219"/>
          <p:cNvSpPr/>
          <p:nvPr/>
        </p:nvSpPr>
        <p:spPr>
          <a:xfrm>
            <a:off x="12941181" y="8711447"/>
            <a:ext cx="1287105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Capacity</a:t>
            </a:r>
            <a:endParaRPr lang="en-US" sz="1170" dirty="0"/>
          </a:p>
        </p:txBody>
      </p:sp>
      <p:sp>
        <p:nvSpPr>
          <p:cNvPr id="236" name="Shape 220"/>
          <p:cNvSpPr/>
          <p:nvPr/>
        </p:nvSpPr>
        <p:spPr>
          <a:xfrm>
            <a:off x="14403387" y="8631437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37" name="Text 221"/>
          <p:cNvSpPr/>
          <p:nvPr/>
        </p:nvSpPr>
        <p:spPr>
          <a:xfrm>
            <a:off x="14576107" y="8724147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238" name="Shape 222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9" name="Shape 223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40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241" name="Text 224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243" name="Picture 242" descr="Android Apps by Hello Clever on Google Play">
            <a:extLst>
              <a:ext uri="{FF2B5EF4-FFF2-40B4-BE49-F238E27FC236}">
                <a16:creationId xmlns:a16="http://schemas.microsoft.com/office/drawing/2014/main" id="{49D8CC77-7F79-58C5-490E-62AF95CD0D3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sp>
        <p:nvSpPr>
          <p:cNvPr id="31" name="Shape 21"/>
          <p:cNvSpPr/>
          <p:nvPr/>
        </p:nvSpPr>
        <p:spPr>
          <a:xfrm>
            <a:off x="0" y="3211314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2" name="Shape 22"/>
          <p:cNvSpPr/>
          <p:nvPr/>
        </p:nvSpPr>
        <p:spPr>
          <a:xfrm>
            <a:off x="0" y="3211314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1913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› Scenarios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2874764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simulation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145024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272024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404829" y="1183283"/>
            <a:ext cx="1563292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577549" y="1264563"/>
            <a:ext cx="1294052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 scenario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5634236" cy="8133755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469413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ways to close the payments gap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469413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simulated against the same forecast, with cost and lead time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294063" y="2683867"/>
            <a:ext cx="5197674" cy="1635522"/>
          </a:xfrm>
          <a:prstGeom prst="roundRect">
            <a:avLst>
              <a:gd name="adj" fmla="val 2795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3512344" y="3400029"/>
            <a:ext cx="194663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nothing</a:t>
            </a:r>
            <a:endParaRPr lang="en-US" sz="1350" dirty="0"/>
          </a:p>
        </p:txBody>
      </p:sp>
      <p:sp>
        <p:nvSpPr>
          <p:cNvPr id="56" name="Text 41"/>
          <p:cNvSpPr/>
          <p:nvPr/>
        </p:nvSpPr>
        <p:spPr>
          <a:xfrm>
            <a:off x="5464771" y="2879328"/>
            <a:ext cx="554633" cy="128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over-loaded teams, 11 bench weeks</a:t>
            </a:r>
            <a:endParaRPr lang="en-US" sz="1170" dirty="0"/>
          </a:p>
        </p:txBody>
      </p:sp>
      <p:sp>
        <p:nvSpPr>
          <p:cNvPr id="57" name="Text 42"/>
          <p:cNvSpPr/>
          <p:nvPr/>
        </p:nvSpPr>
        <p:spPr>
          <a:xfrm>
            <a:off x="6049764" y="3406378"/>
            <a:ext cx="12332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0</a:t>
            </a:r>
            <a:endParaRPr lang="en-US" sz="1260" dirty="0"/>
          </a:p>
        </p:txBody>
      </p:sp>
      <p:sp>
        <p:nvSpPr>
          <p:cNvPr id="58" name="Shape 43"/>
          <p:cNvSpPr/>
          <p:nvPr/>
        </p:nvSpPr>
        <p:spPr>
          <a:xfrm>
            <a:off x="7465815" y="3387328"/>
            <a:ext cx="807641" cy="228600"/>
          </a:xfrm>
          <a:prstGeom prst="roundRect">
            <a:avLst>
              <a:gd name="adj" fmla="val 50000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9" name="Text 44"/>
          <p:cNvSpPr/>
          <p:nvPr/>
        </p:nvSpPr>
        <p:spPr>
          <a:xfrm>
            <a:off x="7580115" y="3410188"/>
            <a:ext cx="65524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Rejected</a:t>
            </a:r>
            <a:endParaRPr lang="en-US" sz="1080" dirty="0"/>
          </a:p>
        </p:txBody>
      </p:sp>
      <p:sp>
        <p:nvSpPr>
          <p:cNvPr id="60" name="Shape 45"/>
          <p:cNvSpPr/>
          <p:nvPr/>
        </p:nvSpPr>
        <p:spPr>
          <a:xfrm>
            <a:off x="3294063" y="4456510"/>
            <a:ext cx="5197674" cy="1457722"/>
          </a:xfrm>
          <a:prstGeom prst="roundRect">
            <a:avLst>
              <a:gd name="adj" fmla="val 313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1" name="Text 46"/>
          <p:cNvSpPr/>
          <p:nvPr/>
        </p:nvSpPr>
        <p:spPr>
          <a:xfrm>
            <a:off x="3512344" y="4880571"/>
            <a:ext cx="15938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3 people from Frontend guild</a:t>
            </a:r>
            <a:endParaRPr lang="en-US" sz="1350" dirty="0"/>
          </a:p>
        </p:txBody>
      </p:sp>
      <p:sp>
        <p:nvSpPr>
          <p:cNvPr id="62" name="Text 47"/>
          <p:cNvSpPr/>
          <p:nvPr/>
        </p:nvSpPr>
        <p:spPr>
          <a:xfrm>
            <a:off x="5212755" y="4651970"/>
            <a:ext cx="554831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over-loaded team, 4 bench weeks</a:t>
            </a:r>
            <a:endParaRPr lang="en-US" sz="1170" dirty="0"/>
          </a:p>
        </p:txBody>
      </p:sp>
      <p:sp>
        <p:nvSpPr>
          <p:cNvPr id="63" name="Text 48"/>
          <p:cNvSpPr/>
          <p:nvPr/>
        </p:nvSpPr>
        <p:spPr>
          <a:xfrm>
            <a:off x="5797947" y="5090121"/>
            <a:ext cx="10683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0</a:t>
            </a:r>
            <a:endParaRPr lang="en-US" sz="1260" dirty="0"/>
          </a:p>
        </p:txBody>
      </p:sp>
      <p:sp>
        <p:nvSpPr>
          <p:cNvPr id="64" name="Shape 49"/>
          <p:cNvSpPr/>
          <p:nvPr/>
        </p:nvSpPr>
        <p:spPr>
          <a:xfrm>
            <a:off x="7049096" y="5071071"/>
            <a:ext cx="1224359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5" name="Text 50"/>
          <p:cNvSpPr/>
          <p:nvPr/>
        </p:nvSpPr>
        <p:spPr>
          <a:xfrm>
            <a:off x="7163396" y="5093931"/>
            <a:ext cx="107195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</a:t>
            </a:r>
            <a:endParaRPr lang="en-US" sz="1080" dirty="0"/>
          </a:p>
        </p:txBody>
      </p:sp>
      <p:sp>
        <p:nvSpPr>
          <p:cNvPr id="66" name="Shape 51"/>
          <p:cNvSpPr/>
          <p:nvPr/>
        </p:nvSpPr>
        <p:spPr>
          <a:xfrm>
            <a:off x="3294063" y="6051352"/>
            <a:ext cx="5197674" cy="1279922"/>
          </a:xfrm>
          <a:prstGeom prst="roundRect">
            <a:avLst>
              <a:gd name="adj" fmla="val 3572"/>
            </a:avLst>
          </a:prstGeom>
          <a:solidFill>
            <a:srgbClr val="00658E">
              <a:alpha val="10000"/>
            </a:srgbClr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7" name="Text 52"/>
          <p:cNvSpPr/>
          <p:nvPr/>
        </p:nvSpPr>
        <p:spPr>
          <a:xfrm>
            <a:off x="3512344" y="6488113"/>
            <a:ext cx="1567855" cy="44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Reskill 6 people into payments</a:t>
            </a:r>
            <a:endParaRPr lang="en-US" sz="1350" dirty="0"/>
          </a:p>
        </p:txBody>
      </p:sp>
      <p:sp>
        <p:nvSpPr>
          <p:cNvPr id="68" name="Text 53"/>
          <p:cNvSpPr/>
          <p:nvPr/>
        </p:nvSpPr>
        <p:spPr>
          <a:xfrm>
            <a:off x="5186760" y="6246813"/>
            <a:ext cx="597694" cy="92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over-loaded, 2 bench weeks</a:t>
            </a:r>
            <a:endParaRPr lang="en-US" sz="1170" dirty="0"/>
          </a:p>
        </p:txBody>
      </p:sp>
      <p:sp>
        <p:nvSpPr>
          <p:cNvPr id="69" name="Text 54"/>
          <p:cNvSpPr/>
          <p:nvPr/>
        </p:nvSpPr>
        <p:spPr>
          <a:xfrm>
            <a:off x="5814815" y="6500813"/>
            <a:ext cx="105152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48k, 10 weeks</a:t>
            </a:r>
            <a:endParaRPr lang="en-US" sz="1260" dirty="0"/>
          </a:p>
        </p:txBody>
      </p:sp>
      <p:sp>
        <p:nvSpPr>
          <p:cNvPr id="70" name="Shape 55"/>
          <p:cNvSpPr/>
          <p:nvPr/>
        </p:nvSpPr>
        <p:spPr>
          <a:xfrm>
            <a:off x="7049096" y="6577013"/>
            <a:ext cx="1224359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1" name="Text 56"/>
          <p:cNvSpPr/>
          <p:nvPr/>
        </p:nvSpPr>
        <p:spPr>
          <a:xfrm>
            <a:off x="7163396" y="6599873"/>
            <a:ext cx="107195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</a:t>
            </a:r>
            <a:endParaRPr lang="en-US" sz="1080" dirty="0"/>
          </a:p>
        </p:txBody>
      </p:sp>
      <p:sp>
        <p:nvSpPr>
          <p:cNvPr id="72" name="Shape 57"/>
          <p:cNvSpPr/>
          <p:nvPr/>
        </p:nvSpPr>
        <p:spPr>
          <a:xfrm>
            <a:off x="3294063" y="7468394"/>
            <a:ext cx="5197674" cy="1279923"/>
          </a:xfrm>
          <a:prstGeom prst="roundRect">
            <a:avLst>
              <a:gd name="adj" fmla="val 3572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3" name="Text 58"/>
          <p:cNvSpPr/>
          <p:nvPr/>
        </p:nvSpPr>
        <p:spPr>
          <a:xfrm>
            <a:off x="3512344" y="8006755"/>
            <a:ext cx="2019756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 4 externally</a:t>
            </a:r>
            <a:endParaRPr lang="en-US" sz="1350" dirty="0"/>
          </a:p>
        </p:txBody>
      </p:sp>
      <p:sp>
        <p:nvSpPr>
          <p:cNvPr id="74" name="Text 59"/>
          <p:cNvSpPr/>
          <p:nvPr/>
        </p:nvSpPr>
        <p:spPr>
          <a:xfrm>
            <a:off x="5531247" y="7663855"/>
            <a:ext cx="597694" cy="927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over-loaded, 0 bench weeks</a:t>
            </a:r>
            <a:endParaRPr lang="en-US" sz="1170" dirty="0"/>
          </a:p>
        </p:txBody>
      </p:sp>
      <p:sp>
        <p:nvSpPr>
          <p:cNvPr id="75" name="Text 60"/>
          <p:cNvSpPr/>
          <p:nvPr/>
        </p:nvSpPr>
        <p:spPr>
          <a:xfrm>
            <a:off x="6159302" y="7917855"/>
            <a:ext cx="1276747" cy="419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610k / year</a:t>
            </a:r>
            <a:endParaRPr lang="en-US" sz="1260" dirty="0"/>
          </a:p>
        </p:txBody>
      </p:sp>
      <p:sp>
        <p:nvSpPr>
          <p:cNvPr id="76" name="Shape 61"/>
          <p:cNvSpPr/>
          <p:nvPr/>
        </p:nvSpPr>
        <p:spPr>
          <a:xfrm>
            <a:off x="7618810" y="7994055"/>
            <a:ext cx="654646" cy="22860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7" name="Text 62"/>
          <p:cNvSpPr/>
          <p:nvPr/>
        </p:nvSpPr>
        <p:spPr>
          <a:xfrm>
            <a:off x="7733110" y="8016915"/>
            <a:ext cx="50224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Costly</a:t>
            </a:r>
            <a:endParaRPr lang="en-US" sz="1080" dirty="0"/>
          </a:p>
        </p:txBody>
      </p:sp>
      <p:sp>
        <p:nvSpPr>
          <p:cNvPr id="78" name="Shape 63"/>
          <p:cNvSpPr/>
          <p:nvPr/>
        </p:nvSpPr>
        <p:spPr>
          <a:xfrm>
            <a:off x="8892779" y="1924645"/>
            <a:ext cx="3200401" cy="8133755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9" name="Text 64"/>
          <p:cNvSpPr/>
          <p:nvPr/>
        </p:nvSpPr>
        <p:spPr>
          <a:xfrm>
            <a:off x="9111060" y="2142927"/>
            <a:ext cx="268071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</a:t>
            </a:r>
            <a:endParaRPr lang="en-US" sz="1440" dirty="0"/>
          </a:p>
        </p:txBody>
      </p:sp>
      <p:sp>
        <p:nvSpPr>
          <p:cNvPr id="80" name="Text 65"/>
          <p:cNvSpPr/>
          <p:nvPr/>
        </p:nvSpPr>
        <p:spPr>
          <a:xfrm>
            <a:off x="9111060" y="2381647"/>
            <a:ext cx="268071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with the rationale attached</a:t>
            </a:r>
            <a:endParaRPr lang="en-US" sz="1080" dirty="0"/>
          </a:p>
        </p:txBody>
      </p:sp>
      <p:sp>
        <p:nvSpPr>
          <p:cNvPr id="81" name="Text 66"/>
          <p:cNvSpPr/>
          <p:nvPr/>
        </p:nvSpPr>
        <p:spPr>
          <a:xfrm>
            <a:off x="9111060" y="2683867"/>
            <a:ext cx="2846754" cy="1478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Reskilling six people covers the payments gap for 8% of the cost of hiring, and keeps the frontend guild intact. Learning paths, mentors and a 10-week schedule are generated with one approval.</a:t>
            </a:r>
            <a:endParaRPr lang="en-US" sz="1170" dirty="0"/>
          </a:p>
        </p:txBody>
      </p:sp>
      <p:sp>
        <p:nvSpPr>
          <p:cNvPr id="82" name="Shape 67"/>
          <p:cNvSpPr/>
          <p:nvPr/>
        </p:nvSpPr>
        <p:spPr>
          <a:xfrm>
            <a:off x="9111060" y="9045576"/>
            <a:ext cx="2763839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3" name="Text 68"/>
          <p:cNvSpPr/>
          <p:nvPr/>
        </p:nvSpPr>
        <p:spPr>
          <a:xfrm>
            <a:off x="9283780" y="9126856"/>
            <a:ext cx="2501314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learning paths</a:t>
            </a:r>
            <a:endParaRPr lang="en-US" sz="1170" dirty="0"/>
          </a:p>
        </p:txBody>
      </p:sp>
      <p:sp>
        <p:nvSpPr>
          <p:cNvPr id="84" name="Shape 69"/>
          <p:cNvSpPr/>
          <p:nvPr/>
        </p:nvSpPr>
        <p:spPr>
          <a:xfrm>
            <a:off x="9111060" y="9499997"/>
            <a:ext cx="2763839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5" name="Text 70"/>
          <p:cNvSpPr/>
          <p:nvPr/>
        </p:nvSpPr>
        <p:spPr>
          <a:xfrm>
            <a:off x="9283780" y="9581277"/>
            <a:ext cx="2501314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to HR business partner</a:t>
            </a:r>
            <a:endParaRPr lang="en-US" sz="1170" dirty="0"/>
          </a:p>
        </p:txBody>
      </p:sp>
      <p:sp>
        <p:nvSpPr>
          <p:cNvPr id="86" name="Shape 71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87" name="Shape 72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8" name="Shape 73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89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90" name="Text 74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91" name="Text 75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92" name="Shape 76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3" name="Text 77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94" name="Shape 78"/>
          <p:cNvSpPr/>
          <p:nvPr/>
        </p:nvSpPr>
        <p:spPr>
          <a:xfrm>
            <a:off x="14163279" y="2612628"/>
            <a:ext cx="3703242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5" name="Text 79"/>
          <p:cNvSpPr/>
          <p:nvPr/>
        </p:nvSpPr>
        <p:spPr>
          <a:xfrm>
            <a:off x="14323299" y="2726928"/>
            <a:ext cx="349429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the recommended scenario cost?</a:t>
            </a:r>
            <a:endParaRPr lang="en-US" sz="1260" dirty="0"/>
          </a:p>
        </p:txBody>
      </p:sp>
      <p:sp>
        <p:nvSpPr>
          <p:cNvPr id="96" name="Shape 80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7" name="Text 81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48k and ten weeks, against CHF 610k a year to hire. It removes every over-loaded week.</a:t>
            </a:r>
            <a:endParaRPr lang="en-US" sz="1260" dirty="0"/>
          </a:p>
        </p:txBody>
      </p:sp>
      <p:sp>
        <p:nvSpPr>
          <p:cNvPr id="98" name="Shape 82"/>
          <p:cNvSpPr/>
          <p:nvPr/>
        </p:nvSpPr>
        <p:spPr>
          <a:xfrm>
            <a:off x="12608520" y="4055269"/>
            <a:ext cx="5258000" cy="1246981"/>
          </a:xfrm>
          <a:prstGeom prst="roundRect">
            <a:avLst>
              <a:gd name="adj" fmla="val 10999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9" name="Text 83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990" dirty="0"/>
          </a:p>
        </p:txBody>
      </p:sp>
      <p:sp>
        <p:nvSpPr>
          <p:cNvPr id="100" name="Shape 84"/>
          <p:cNvSpPr/>
          <p:nvPr/>
        </p:nvSpPr>
        <p:spPr>
          <a:xfrm>
            <a:off x="12781161" y="4494610"/>
            <a:ext cx="1561308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1" name="Text 85"/>
          <p:cNvSpPr/>
          <p:nvPr/>
        </p:nvSpPr>
        <p:spPr>
          <a:xfrm>
            <a:off x="12918282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48k</a:t>
            </a:r>
            <a:endParaRPr lang="en-US" sz="1620" dirty="0"/>
          </a:p>
        </p:txBody>
      </p:sp>
      <p:sp>
        <p:nvSpPr>
          <p:cNvPr id="102" name="Text 86"/>
          <p:cNvSpPr/>
          <p:nvPr/>
        </p:nvSpPr>
        <p:spPr>
          <a:xfrm>
            <a:off x="12918282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</a:t>
            </a:r>
            <a:endParaRPr lang="en-US" sz="990" dirty="0"/>
          </a:p>
        </p:txBody>
      </p:sp>
      <p:sp>
        <p:nvSpPr>
          <p:cNvPr id="103" name="Shape 87"/>
          <p:cNvSpPr/>
          <p:nvPr/>
        </p:nvSpPr>
        <p:spPr>
          <a:xfrm>
            <a:off x="14456770" y="4494610"/>
            <a:ext cx="156150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4" name="Text 88"/>
          <p:cNvSpPr/>
          <p:nvPr/>
        </p:nvSpPr>
        <p:spPr>
          <a:xfrm>
            <a:off x="14593887" y="4608910"/>
            <a:ext cx="14159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wks</a:t>
            </a:r>
            <a:endParaRPr lang="en-US" sz="1620" dirty="0"/>
          </a:p>
        </p:txBody>
      </p:sp>
      <p:sp>
        <p:nvSpPr>
          <p:cNvPr id="105" name="Text 89"/>
          <p:cNvSpPr/>
          <p:nvPr/>
        </p:nvSpPr>
        <p:spPr>
          <a:xfrm>
            <a:off x="14593887" y="4862910"/>
            <a:ext cx="14159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time</a:t>
            </a:r>
            <a:endParaRPr lang="en-US" sz="990" dirty="0"/>
          </a:p>
        </p:txBody>
      </p:sp>
      <p:sp>
        <p:nvSpPr>
          <p:cNvPr id="106" name="Shape 90"/>
          <p:cNvSpPr/>
          <p:nvPr/>
        </p:nvSpPr>
        <p:spPr>
          <a:xfrm>
            <a:off x="16132575" y="4494610"/>
            <a:ext cx="1561305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7" name="Text 91"/>
          <p:cNvSpPr/>
          <p:nvPr/>
        </p:nvSpPr>
        <p:spPr>
          <a:xfrm>
            <a:off x="16269693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562k</a:t>
            </a:r>
            <a:endParaRPr lang="en-US" sz="1620" dirty="0"/>
          </a:p>
        </p:txBody>
      </p:sp>
      <p:sp>
        <p:nvSpPr>
          <p:cNvPr id="108" name="Text 92"/>
          <p:cNvSpPr/>
          <p:nvPr/>
        </p:nvSpPr>
        <p:spPr>
          <a:xfrm>
            <a:off x="16269693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Saving</a:t>
            </a:r>
            <a:endParaRPr lang="en-US" sz="990" dirty="0"/>
          </a:p>
        </p:txBody>
      </p:sp>
      <p:sp>
        <p:nvSpPr>
          <p:cNvPr id="109" name="Shape 93"/>
          <p:cNvSpPr/>
          <p:nvPr/>
        </p:nvSpPr>
        <p:spPr>
          <a:xfrm>
            <a:off x="12608520" y="5439370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0" name="Text 94"/>
          <p:cNvSpPr/>
          <p:nvPr/>
        </p:nvSpPr>
        <p:spPr>
          <a:xfrm>
            <a:off x="12781161" y="5612011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 scenario</a:t>
            </a:r>
            <a:endParaRPr lang="en-US" sz="1260" dirty="0"/>
          </a:p>
        </p:txBody>
      </p:sp>
      <p:sp>
        <p:nvSpPr>
          <p:cNvPr id="111" name="Text 95"/>
          <p:cNvSpPr/>
          <p:nvPr/>
        </p:nvSpPr>
        <p:spPr>
          <a:xfrm>
            <a:off x="12781161" y="591681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</a:t>
            </a:r>
            <a:endParaRPr lang="en-US" sz="990" dirty="0"/>
          </a:p>
        </p:txBody>
      </p:sp>
      <p:sp>
        <p:nvSpPr>
          <p:cNvPr id="112" name="Shape 96"/>
          <p:cNvSpPr/>
          <p:nvPr/>
        </p:nvSpPr>
        <p:spPr>
          <a:xfrm>
            <a:off x="12781161" y="6114852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3" name="Text 97"/>
          <p:cNvSpPr/>
          <p:nvPr/>
        </p:nvSpPr>
        <p:spPr>
          <a:xfrm>
            <a:off x="12908161" y="6207562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Reskill 6 into payments</a:t>
            </a:r>
            <a:endParaRPr lang="en-US" sz="1170" dirty="0"/>
          </a:p>
        </p:txBody>
      </p:sp>
      <p:sp>
        <p:nvSpPr>
          <p:cNvPr id="114" name="Text 98"/>
          <p:cNvSpPr/>
          <p:nvPr/>
        </p:nvSpPr>
        <p:spPr>
          <a:xfrm>
            <a:off x="12781161" y="659229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Approver</a:t>
            </a:r>
            <a:endParaRPr lang="en-US" sz="990" dirty="0"/>
          </a:p>
        </p:txBody>
      </p:sp>
      <p:sp>
        <p:nvSpPr>
          <p:cNvPr id="115" name="Shape 99"/>
          <p:cNvSpPr/>
          <p:nvPr/>
        </p:nvSpPr>
        <p:spPr>
          <a:xfrm>
            <a:off x="12781161" y="679033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6" name="Text 100"/>
          <p:cNvSpPr/>
          <p:nvPr/>
        </p:nvSpPr>
        <p:spPr>
          <a:xfrm>
            <a:off x="12908161" y="688304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</a:t>
            </a:r>
            <a:endParaRPr lang="en-US" sz="1170" dirty="0"/>
          </a:p>
        </p:txBody>
      </p:sp>
      <p:sp>
        <p:nvSpPr>
          <p:cNvPr id="117" name="Text 101"/>
          <p:cNvSpPr/>
          <p:nvPr/>
        </p:nvSpPr>
        <p:spPr>
          <a:xfrm>
            <a:off x="12781161" y="726777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endParaRPr lang="en-US" sz="990" dirty="0"/>
          </a:p>
        </p:txBody>
      </p:sp>
      <p:sp>
        <p:nvSpPr>
          <p:cNvPr id="118" name="Shape 102"/>
          <p:cNvSpPr/>
          <p:nvPr/>
        </p:nvSpPr>
        <p:spPr>
          <a:xfrm>
            <a:off x="12781161" y="746581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9" name="Text 103"/>
          <p:cNvSpPr/>
          <p:nvPr/>
        </p:nvSpPr>
        <p:spPr>
          <a:xfrm>
            <a:off x="12908161" y="755852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40</a:t>
            </a:r>
            <a:endParaRPr lang="en-US" sz="1170" dirty="0"/>
          </a:p>
        </p:txBody>
      </p:sp>
      <p:sp>
        <p:nvSpPr>
          <p:cNvPr id="120" name="Shape 104"/>
          <p:cNvSpPr/>
          <p:nvPr/>
        </p:nvSpPr>
        <p:spPr>
          <a:xfrm>
            <a:off x="12781161" y="7966075"/>
            <a:ext cx="2003426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1" name="Text 105"/>
          <p:cNvSpPr/>
          <p:nvPr/>
        </p:nvSpPr>
        <p:spPr>
          <a:xfrm>
            <a:off x="12941181" y="8046085"/>
            <a:ext cx="1759586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and notify owners</a:t>
            </a:r>
            <a:endParaRPr lang="en-US" sz="1170" dirty="0"/>
          </a:p>
        </p:txBody>
      </p:sp>
      <p:sp>
        <p:nvSpPr>
          <p:cNvPr id="122" name="Shape 106"/>
          <p:cNvSpPr/>
          <p:nvPr/>
        </p:nvSpPr>
        <p:spPr>
          <a:xfrm>
            <a:off x="14875868" y="7966075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3" name="Text 107"/>
          <p:cNvSpPr/>
          <p:nvPr/>
        </p:nvSpPr>
        <p:spPr>
          <a:xfrm>
            <a:off x="15048588" y="8058785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24" name="Shape 108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5" name="Shape 109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26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27" name="Text 110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29" name="Picture 128" descr="Android Apps by Hello Clever on Google Play">
            <a:extLst>
              <a:ext uri="{FF2B5EF4-FFF2-40B4-BE49-F238E27FC236}">
                <a16:creationId xmlns:a16="http://schemas.microsoft.com/office/drawing/2014/main" id="{62A7DDE6-1ECF-7762-BE1E-316E76DA154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sp>
        <p:nvSpPr>
          <p:cNvPr id="29" name="Shape 20"/>
          <p:cNvSpPr/>
          <p:nvPr/>
        </p:nvSpPr>
        <p:spPr>
          <a:xfrm>
            <a:off x="0" y="2822972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Shape 21"/>
          <p:cNvSpPr/>
          <p:nvPr/>
        </p:nvSpPr>
        <p:spPr>
          <a:xfrm>
            <a:off x="0" y="2822972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1891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 › Hiring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2108160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Hiring pipeline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180345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307345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440152" y="1183283"/>
            <a:ext cx="1527969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612872" y="1264563"/>
            <a:ext cx="1258729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requisition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5519936" cy="8133755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442194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 programme — external requisitions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442194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opened after the internal bench was exhausted</a:t>
            </a:r>
            <a:endParaRPr lang="en-US" sz="1080" dirty="0"/>
          </a:p>
        </p:txBody>
      </p:sp>
      <p:sp>
        <p:nvSpPr>
          <p:cNvPr id="54" name="Text 39"/>
          <p:cNvSpPr/>
          <p:nvPr/>
        </p:nvSpPr>
        <p:spPr>
          <a:xfrm>
            <a:off x="3524250" y="2594967"/>
            <a:ext cx="4677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214</a:t>
            </a:r>
            <a:endParaRPr lang="en-US" sz="1800" dirty="0"/>
          </a:p>
        </p:txBody>
      </p:sp>
      <p:sp>
        <p:nvSpPr>
          <p:cNvPr id="55" name="Shape 40"/>
          <p:cNvSpPr/>
          <p:nvPr/>
        </p:nvSpPr>
        <p:spPr>
          <a:xfrm>
            <a:off x="3294063" y="2975967"/>
            <a:ext cx="852091" cy="2514600"/>
          </a:xfrm>
          <a:custGeom>
            <a:avLst/>
            <a:gdLst/>
            <a:ahLst/>
            <a:cxnLst/>
            <a:rect l="l" t="t" r="r" b="b"/>
            <a:pathLst>
              <a:path w="852091" h="2514600">
                <a:moveTo>
                  <a:pt x="45720" y="0"/>
                </a:moveTo>
                <a:lnTo>
                  <a:pt x="806371" y="0"/>
                </a:lnTo>
                <a:arcTo wR="45720" hR="45720" stAng="16200000" swAng="5400000"/>
                <a:lnTo>
                  <a:pt x="852091" y="2514600"/>
                </a:lnTo>
                <a:lnTo>
                  <a:pt x="0" y="2514600"/>
                </a:lnTo>
                <a:lnTo>
                  <a:pt x="0" y="45720"/>
                </a:lnTo>
                <a:arcTo wR="45720" hR="45720" stAng="10800000" swAng="5400000"/>
                <a:close/>
              </a:path>
            </a:pathLst>
          </a:custGeom>
          <a:solidFill>
            <a:srgbClr val="00658E">
              <a:alpha val="8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6" name="Text 41"/>
          <p:cNvSpPr/>
          <p:nvPr/>
        </p:nvSpPr>
        <p:spPr>
          <a:xfrm>
            <a:off x="3448844" y="5604867"/>
            <a:ext cx="61872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Sourced</a:t>
            </a:r>
            <a:endParaRPr lang="en-US" sz="1080" dirty="0"/>
          </a:p>
        </p:txBody>
      </p:sp>
      <p:sp>
        <p:nvSpPr>
          <p:cNvPr id="57" name="Text 42"/>
          <p:cNvSpPr/>
          <p:nvPr/>
        </p:nvSpPr>
        <p:spPr>
          <a:xfrm>
            <a:off x="4583113" y="2759075"/>
            <a:ext cx="4655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186</a:t>
            </a:r>
            <a:endParaRPr lang="en-US" sz="1800" dirty="0"/>
          </a:p>
        </p:txBody>
      </p:sp>
      <p:sp>
        <p:nvSpPr>
          <p:cNvPr id="58" name="Shape 43"/>
          <p:cNvSpPr/>
          <p:nvPr/>
        </p:nvSpPr>
        <p:spPr>
          <a:xfrm>
            <a:off x="4351735" y="3140075"/>
            <a:ext cx="852289" cy="2185392"/>
          </a:xfrm>
          <a:custGeom>
            <a:avLst/>
            <a:gdLst/>
            <a:ahLst/>
            <a:cxnLst/>
            <a:rect l="l" t="t" r="r" b="b"/>
            <a:pathLst>
              <a:path w="852289" h="2185392">
                <a:moveTo>
                  <a:pt x="45720" y="0"/>
                </a:moveTo>
                <a:lnTo>
                  <a:pt x="806569" y="0"/>
                </a:lnTo>
                <a:arcTo wR="45720" hR="45720" stAng="16200000" swAng="5400000"/>
                <a:lnTo>
                  <a:pt x="852289" y="2185392"/>
                </a:lnTo>
                <a:lnTo>
                  <a:pt x="0" y="2185392"/>
                </a:lnTo>
                <a:lnTo>
                  <a:pt x="0" y="45720"/>
                </a:lnTo>
                <a:arcTo wR="45720" hR="45720" stAng="10800000" swAng="5400000"/>
                <a:close/>
              </a:path>
            </a:pathLst>
          </a:custGeom>
          <a:solidFill>
            <a:srgbClr val="00658E">
              <a:alpha val="8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9" name="Text 44"/>
          <p:cNvSpPr/>
          <p:nvPr/>
        </p:nvSpPr>
        <p:spPr>
          <a:xfrm>
            <a:off x="4351735" y="5439768"/>
            <a:ext cx="928489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Screened by AI</a:t>
            </a:r>
            <a:endParaRPr lang="en-US" sz="1080" dirty="0"/>
          </a:p>
        </p:txBody>
      </p:sp>
      <p:sp>
        <p:nvSpPr>
          <p:cNvPr id="60" name="Text 45"/>
          <p:cNvSpPr/>
          <p:nvPr/>
        </p:nvSpPr>
        <p:spPr>
          <a:xfrm>
            <a:off x="5692378" y="4263033"/>
            <a:ext cx="3625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</a:t>
            </a:r>
            <a:endParaRPr lang="en-US" sz="1800" dirty="0"/>
          </a:p>
        </p:txBody>
      </p:sp>
      <p:sp>
        <p:nvSpPr>
          <p:cNvPr id="61" name="Shape 46"/>
          <p:cNvSpPr/>
          <p:nvPr/>
        </p:nvSpPr>
        <p:spPr>
          <a:xfrm>
            <a:off x="5409605" y="4644033"/>
            <a:ext cx="852091" cy="681435"/>
          </a:xfrm>
          <a:custGeom>
            <a:avLst/>
            <a:gdLst/>
            <a:ahLst/>
            <a:cxnLst/>
            <a:rect l="l" t="t" r="r" b="b"/>
            <a:pathLst>
              <a:path w="852091" h="681435">
                <a:moveTo>
                  <a:pt x="45720" y="0"/>
                </a:moveTo>
                <a:lnTo>
                  <a:pt x="806371" y="0"/>
                </a:lnTo>
                <a:arcTo wR="45720" hR="45720" stAng="16200000" swAng="5400000"/>
                <a:lnTo>
                  <a:pt x="852091" y="681435"/>
                </a:lnTo>
                <a:lnTo>
                  <a:pt x="0" y="681435"/>
                </a:lnTo>
                <a:lnTo>
                  <a:pt x="0" y="45720"/>
                </a:lnTo>
                <a:arcTo wR="45720" hR="45720" stAng="10800000" swAng="5400000"/>
                <a:close/>
              </a:path>
            </a:pathLst>
          </a:custGeom>
          <a:solidFill>
            <a:srgbClr val="2C8A3A">
              <a:alpha val="8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Text 47"/>
          <p:cNvSpPr/>
          <p:nvPr/>
        </p:nvSpPr>
        <p:spPr>
          <a:xfrm>
            <a:off x="5409605" y="5439768"/>
            <a:ext cx="92829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interview</a:t>
            </a:r>
            <a:endParaRPr lang="en-US" sz="1080" dirty="0"/>
          </a:p>
        </p:txBody>
      </p:sp>
      <p:sp>
        <p:nvSpPr>
          <p:cNvPr id="63" name="Text 48"/>
          <p:cNvSpPr/>
          <p:nvPr/>
        </p:nvSpPr>
        <p:spPr>
          <a:xfrm>
            <a:off x="6773863" y="4862910"/>
            <a:ext cx="3153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800" dirty="0"/>
          </a:p>
        </p:txBody>
      </p:sp>
      <p:sp>
        <p:nvSpPr>
          <p:cNvPr id="64" name="Shape 49"/>
          <p:cNvSpPr/>
          <p:nvPr/>
        </p:nvSpPr>
        <p:spPr>
          <a:xfrm>
            <a:off x="6467277" y="5243910"/>
            <a:ext cx="852289" cy="246658"/>
          </a:xfrm>
          <a:custGeom>
            <a:avLst/>
            <a:gdLst/>
            <a:ahLst/>
            <a:cxnLst/>
            <a:rect l="l" t="t" r="r" b="b"/>
            <a:pathLst>
              <a:path w="852289" h="246658">
                <a:moveTo>
                  <a:pt x="45720" y="0"/>
                </a:moveTo>
                <a:lnTo>
                  <a:pt x="806569" y="0"/>
                </a:lnTo>
                <a:arcTo wR="45720" hR="45720" stAng="16200000" swAng="5400000"/>
                <a:lnTo>
                  <a:pt x="852289" y="246658"/>
                </a:lnTo>
                <a:lnTo>
                  <a:pt x="0" y="246658"/>
                </a:lnTo>
                <a:lnTo>
                  <a:pt x="0" y="45720"/>
                </a:lnTo>
                <a:arcTo wR="45720" hR="45720" stAng="10800000" swAng="5400000"/>
                <a:close/>
              </a:path>
            </a:pathLst>
          </a:custGeom>
          <a:solidFill>
            <a:srgbClr val="2C8A3A">
              <a:alpha val="8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5" name="Text 50"/>
          <p:cNvSpPr/>
          <p:nvPr/>
        </p:nvSpPr>
        <p:spPr>
          <a:xfrm>
            <a:off x="6729214" y="5604867"/>
            <a:ext cx="40461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</a:t>
            </a:r>
            <a:endParaRPr lang="en-US" sz="1080" dirty="0"/>
          </a:p>
        </p:txBody>
      </p:sp>
      <p:sp>
        <p:nvSpPr>
          <p:cNvPr id="66" name="Text 51"/>
          <p:cNvSpPr/>
          <p:nvPr/>
        </p:nvSpPr>
        <p:spPr>
          <a:xfrm>
            <a:off x="7826773" y="4945063"/>
            <a:ext cx="3252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800" dirty="0"/>
          </a:p>
        </p:txBody>
      </p:sp>
      <p:sp>
        <p:nvSpPr>
          <p:cNvPr id="67" name="Shape 52"/>
          <p:cNvSpPr/>
          <p:nvPr/>
        </p:nvSpPr>
        <p:spPr>
          <a:xfrm>
            <a:off x="7525148" y="5326063"/>
            <a:ext cx="852289" cy="164505"/>
          </a:xfrm>
          <a:custGeom>
            <a:avLst/>
            <a:gdLst/>
            <a:ahLst/>
            <a:cxnLst/>
            <a:rect l="l" t="t" r="r" b="b"/>
            <a:pathLst>
              <a:path w="852289" h="164505">
                <a:moveTo>
                  <a:pt x="45720" y="0"/>
                </a:moveTo>
                <a:lnTo>
                  <a:pt x="806569" y="0"/>
                </a:lnTo>
                <a:arcTo wR="45720" hR="45720" stAng="16200000" swAng="5400000"/>
                <a:lnTo>
                  <a:pt x="852289" y="164505"/>
                </a:lnTo>
                <a:lnTo>
                  <a:pt x="0" y="164505"/>
                </a:lnTo>
                <a:lnTo>
                  <a:pt x="0" y="45720"/>
                </a:lnTo>
                <a:arcTo wR="45720" hR="45720" stAng="10800000" swAng="5400000"/>
                <a:close/>
              </a:path>
            </a:pathLst>
          </a:custGeom>
          <a:solidFill>
            <a:srgbClr val="2C8A3A">
              <a:alpha val="8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Text 53"/>
          <p:cNvSpPr/>
          <p:nvPr/>
        </p:nvSpPr>
        <p:spPr>
          <a:xfrm>
            <a:off x="7777163" y="5604867"/>
            <a:ext cx="42445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Hired</a:t>
            </a:r>
            <a:endParaRPr lang="en-US" sz="1080" dirty="0"/>
          </a:p>
        </p:txBody>
      </p:sp>
      <p:sp>
        <p:nvSpPr>
          <p:cNvPr id="69" name="Text 54"/>
          <p:cNvSpPr/>
          <p:nvPr/>
        </p:nvSpPr>
        <p:spPr>
          <a:xfrm>
            <a:off x="3294063" y="6021388"/>
            <a:ext cx="523587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Screening ranks and explains; every rejection is reviewable and every decision is recorded.</a:t>
            </a:r>
            <a:endParaRPr lang="en-US" sz="1080" dirty="0"/>
          </a:p>
        </p:txBody>
      </p:sp>
      <p:sp>
        <p:nvSpPr>
          <p:cNvPr id="70" name="Shape 55"/>
          <p:cNvSpPr/>
          <p:nvPr/>
        </p:nvSpPr>
        <p:spPr>
          <a:xfrm>
            <a:off x="8778479" y="1924645"/>
            <a:ext cx="3314701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1" name="Text 56"/>
          <p:cNvSpPr/>
          <p:nvPr/>
        </p:nvSpPr>
        <p:spPr>
          <a:xfrm>
            <a:off x="8973940" y="2120106"/>
            <a:ext cx="32161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hire</a:t>
            </a:r>
            <a:endParaRPr lang="en-US" sz="1080" dirty="0"/>
          </a:p>
        </p:txBody>
      </p:sp>
      <p:sp>
        <p:nvSpPr>
          <p:cNvPr id="72" name="Text 57"/>
          <p:cNvSpPr/>
          <p:nvPr/>
        </p:nvSpPr>
        <p:spPr>
          <a:xfrm>
            <a:off x="8973940" y="2353667"/>
            <a:ext cx="321615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days</a:t>
            </a:r>
            <a:endParaRPr lang="en-US" sz="2700" dirty="0"/>
          </a:p>
        </p:txBody>
      </p:sp>
      <p:sp>
        <p:nvSpPr>
          <p:cNvPr id="73" name="Text 58"/>
          <p:cNvSpPr/>
          <p:nvPr/>
        </p:nvSpPr>
        <p:spPr>
          <a:xfrm>
            <a:off x="8973940" y="2810669"/>
            <a:ext cx="66496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−31 days</a:t>
            </a:r>
            <a:endParaRPr lang="en-US" sz="1080" dirty="0"/>
          </a:p>
        </p:txBody>
      </p:sp>
      <p:sp>
        <p:nvSpPr>
          <p:cNvPr id="74" name="Shape 59"/>
          <p:cNvSpPr/>
          <p:nvPr/>
        </p:nvSpPr>
        <p:spPr>
          <a:xfrm>
            <a:off x="8778479" y="3353991"/>
            <a:ext cx="3314701" cy="1246585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5" name="Text 60"/>
          <p:cNvSpPr/>
          <p:nvPr/>
        </p:nvSpPr>
        <p:spPr>
          <a:xfrm>
            <a:off x="8973940" y="3549452"/>
            <a:ext cx="32161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per hire</a:t>
            </a:r>
            <a:endParaRPr lang="en-US" sz="1080" dirty="0"/>
          </a:p>
        </p:txBody>
      </p:sp>
      <p:sp>
        <p:nvSpPr>
          <p:cNvPr id="76" name="Text 61"/>
          <p:cNvSpPr/>
          <p:nvPr/>
        </p:nvSpPr>
        <p:spPr>
          <a:xfrm>
            <a:off x="8973940" y="3783013"/>
            <a:ext cx="321615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9.2k</a:t>
            </a:r>
            <a:endParaRPr lang="en-US" sz="2700" dirty="0"/>
          </a:p>
        </p:txBody>
      </p:sp>
      <p:sp>
        <p:nvSpPr>
          <p:cNvPr id="77" name="Text 62"/>
          <p:cNvSpPr/>
          <p:nvPr/>
        </p:nvSpPr>
        <p:spPr>
          <a:xfrm>
            <a:off x="8973940" y="4240014"/>
            <a:ext cx="48002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−38%</a:t>
            </a:r>
            <a:endParaRPr lang="en-US" sz="1080" dirty="0"/>
          </a:p>
        </p:txBody>
      </p:sp>
      <p:sp>
        <p:nvSpPr>
          <p:cNvPr id="78" name="Shape 63"/>
          <p:cNvSpPr/>
          <p:nvPr/>
        </p:nvSpPr>
        <p:spPr>
          <a:xfrm>
            <a:off x="8778479" y="4783336"/>
            <a:ext cx="3314701" cy="1246585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9" name="Text 64"/>
          <p:cNvSpPr/>
          <p:nvPr/>
        </p:nvSpPr>
        <p:spPr>
          <a:xfrm>
            <a:off x="8973940" y="4978797"/>
            <a:ext cx="32161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acceptance</a:t>
            </a:r>
            <a:endParaRPr lang="en-US" sz="1080" dirty="0"/>
          </a:p>
        </p:txBody>
      </p:sp>
      <p:sp>
        <p:nvSpPr>
          <p:cNvPr id="80" name="Text 65"/>
          <p:cNvSpPr/>
          <p:nvPr/>
        </p:nvSpPr>
        <p:spPr>
          <a:xfrm>
            <a:off x="8973940" y="5212358"/>
            <a:ext cx="321615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81%</a:t>
            </a:r>
            <a:endParaRPr lang="en-US" sz="2700" dirty="0"/>
          </a:p>
        </p:txBody>
      </p:sp>
      <p:sp>
        <p:nvSpPr>
          <p:cNvPr id="81" name="Text 66"/>
          <p:cNvSpPr/>
          <p:nvPr/>
        </p:nvSpPr>
        <p:spPr>
          <a:xfrm>
            <a:off x="8973940" y="5669360"/>
            <a:ext cx="55443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 pts</a:t>
            </a:r>
            <a:endParaRPr lang="en-US" sz="1080" dirty="0"/>
          </a:p>
        </p:txBody>
      </p:sp>
      <p:sp>
        <p:nvSpPr>
          <p:cNvPr id="82" name="Shape 67"/>
          <p:cNvSpPr/>
          <p:nvPr/>
        </p:nvSpPr>
        <p:spPr>
          <a:xfrm>
            <a:off x="8778479" y="6212682"/>
            <a:ext cx="3314701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3" name="Text 68"/>
          <p:cNvSpPr/>
          <p:nvPr/>
        </p:nvSpPr>
        <p:spPr>
          <a:xfrm>
            <a:off x="8973940" y="6408143"/>
            <a:ext cx="32161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Screening bias audit</a:t>
            </a:r>
            <a:endParaRPr lang="en-US" sz="1080" dirty="0"/>
          </a:p>
        </p:txBody>
      </p:sp>
      <p:sp>
        <p:nvSpPr>
          <p:cNvPr id="84" name="Text 69"/>
          <p:cNvSpPr/>
          <p:nvPr/>
        </p:nvSpPr>
        <p:spPr>
          <a:xfrm>
            <a:off x="8973940" y="6641703"/>
            <a:ext cx="321615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Passed</a:t>
            </a:r>
            <a:endParaRPr lang="en-US" sz="2700" dirty="0"/>
          </a:p>
        </p:txBody>
      </p:sp>
      <p:sp>
        <p:nvSpPr>
          <p:cNvPr id="85" name="Text 70"/>
          <p:cNvSpPr/>
          <p:nvPr/>
        </p:nvSpPr>
        <p:spPr>
          <a:xfrm>
            <a:off x="8973940" y="7098705"/>
            <a:ext cx="68361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</a:t>
            </a:r>
            <a:endParaRPr lang="en-US" sz="1080" dirty="0"/>
          </a:p>
        </p:txBody>
      </p:sp>
      <p:sp>
        <p:nvSpPr>
          <p:cNvPr id="86" name="Shape 71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87" name="Shape 72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8" name="Shape 73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89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90" name="Text 74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91" name="Text 75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92" name="Shape 76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3" name="Text 77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94" name="Shape 78"/>
          <p:cNvSpPr/>
          <p:nvPr/>
        </p:nvSpPr>
        <p:spPr>
          <a:xfrm>
            <a:off x="14007504" y="2612628"/>
            <a:ext cx="3859015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5" name="Text 79"/>
          <p:cNvSpPr/>
          <p:nvPr/>
        </p:nvSpPr>
        <p:spPr>
          <a:xfrm>
            <a:off x="14167524" y="2726928"/>
            <a:ext cx="365474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many people must we still hire externally?</a:t>
            </a:r>
            <a:endParaRPr lang="en-US" sz="1260" dirty="0"/>
          </a:p>
        </p:txBody>
      </p:sp>
      <p:sp>
        <p:nvSpPr>
          <p:cNvPr id="96" name="Shape 80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7" name="Text 81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Two, both for card scheme expertise nobody internal holds. The other six roles are covered.</a:t>
            </a:r>
            <a:endParaRPr lang="en-US" sz="1260" dirty="0"/>
          </a:p>
        </p:txBody>
      </p:sp>
      <p:sp>
        <p:nvSpPr>
          <p:cNvPr id="98" name="Shape 82"/>
          <p:cNvSpPr/>
          <p:nvPr/>
        </p:nvSpPr>
        <p:spPr>
          <a:xfrm>
            <a:off x="12608520" y="4055269"/>
            <a:ext cx="5258000" cy="1712714"/>
          </a:xfrm>
          <a:prstGeom prst="roundRect">
            <a:avLst>
              <a:gd name="adj" fmla="val 8008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9" name="Text 83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OF DEMAND</a:t>
            </a:r>
            <a:endParaRPr lang="en-US" sz="990" dirty="0"/>
          </a:p>
        </p:txBody>
      </p:sp>
      <p:sp>
        <p:nvSpPr>
          <p:cNvPr id="100" name="Text 84"/>
          <p:cNvSpPr/>
          <p:nvPr/>
        </p:nvSpPr>
        <p:spPr>
          <a:xfrm>
            <a:off x="12781161" y="4494610"/>
            <a:ext cx="125491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Covered internally</a:t>
            </a:r>
            <a:endParaRPr lang="en-US" sz="1080" dirty="0"/>
          </a:p>
        </p:txBody>
      </p:sp>
      <p:sp>
        <p:nvSpPr>
          <p:cNvPr id="101" name="Text 85"/>
          <p:cNvSpPr/>
          <p:nvPr/>
        </p:nvSpPr>
        <p:spPr>
          <a:xfrm>
            <a:off x="17532352" y="4494610"/>
            <a:ext cx="23772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</a:t>
            </a:r>
            <a:endParaRPr lang="en-US" sz="1080" dirty="0"/>
          </a:p>
        </p:txBody>
      </p:sp>
      <p:sp>
        <p:nvSpPr>
          <p:cNvPr id="102" name="Shape 86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3" name="Shape 87"/>
          <p:cNvSpPr/>
          <p:nvPr/>
        </p:nvSpPr>
        <p:spPr>
          <a:xfrm>
            <a:off x="12781161" y="4716859"/>
            <a:ext cx="3684390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4" name="Text 88"/>
          <p:cNvSpPr/>
          <p:nvPr/>
        </p:nvSpPr>
        <p:spPr>
          <a:xfrm>
            <a:off x="12781161" y="4899621"/>
            <a:ext cx="68758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Reskilling</a:t>
            </a:r>
            <a:endParaRPr lang="en-US" sz="1080" dirty="0"/>
          </a:p>
        </p:txBody>
      </p:sp>
      <p:sp>
        <p:nvSpPr>
          <p:cNvPr id="105" name="Text 89"/>
          <p:cNvSpPr/>
          <p:nvPr/>
        </p:nvSpPr>
        <p:spPr>
          <a:xfrm>
            <a:off x="17550410" y="4899621"/>
            <a:ext cx="21966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80" dirty="0"/>
          </a:p>
        </p:txBody>
      </p:sp>
      <p:sp>
        <p:nvSpPr>
          <p:cNvPr id="106" name="Shape 90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7" name="Shape 91"/>
          <p:cNvSpPr/>
          <p:nvPr/>
        </p:nvSpPr>
        <p:spPr>
          <a:xfrm>
            <a:off x="12781161" y="5121871"/>
            <a:ext cx="589359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8" name="Text 92"/>
          <p:cNvSpPr/>
          <p:nvPr/>
        </p:nvSpPr>
        <p:spPr>
          <a:xfrm>
            <a:off x="12781161" y="5304631"/>
            <a:ext cx="88622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hire</a:t>
            </a:r>
            <a:endParaRPr lang="en-US" sz="1080" dirty="0"/>
          </a:p>
        </p:txBody>
      </p:sp>
      <p:sp>
        <p:nvSpPr>
          <p:cNvPr id="109" name="Text 93"/>
          <p:cNvSpPr/>
          <p:nvPr/>
        </p:nvSpPr>
        <p:spPr>
          <a:xfrm>
            <a:off x="17548622" y="5304631"/>
            <a:ext cx="2214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080" dirty="0"/>
          </a:p>
        </p:txBody>
      </p:sp>
      <p:sp>
        <p:nvSpPr>
          <p:cNvPr id="110" name="Shape 94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1" name="Shape 95"/>
          <p:cNvSpPr/>
          <p:nvPr/>
        </p:nvSpPr>
        <p:spPr>
          <a:xfrm>
            <a:off x="12781161" y="5526882"/>
            <a:ext cx="638573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2" name="Shape 96"/>
          <p:cNvSpPr/>
          <p:nvPr/>
        </p:nvSpPr>
        <p:spPr>
          <a:xfrm>
            <a:off x="12608520" y="5905104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3" name="Text 97"/>
          <p:cNvSpPr/>
          <p:nvPr/>
        </p:nvSpPr>
        <p:spPr>
          <a:xfrm>
            <a:off x="12781161" y="6077744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requisition</a:t>
            </a:r>
            <a:endParaRPr lang="en-US" sz="1260" dirty="0"/>
          </a:p>
        </p:txBody>
      </p:sp>
      <p:sp>
        <p:nvSpPr>
          <p:cNvPr id="114" name="Text 98"/>
          <p:cNvSpPr/>
          <p:nvPr/>
        </p:nvSpPr>
        <p:spPr>
          <a:xfrm>
            <a:off x="12781161" y="638254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</a:t>
            </a:r>
            <a:endParaRPr lang="en-US" sz="990" dirty="0"/>
          </a:p>
        </p:txBody>
      </p:sp>
      <p:sp>
        <p:nvSpPr>
          <p:cNvPr id="115" name="Shape 99"/>
          <p:cNvSpPr/>
          <p:nvPr/>
        </p:nvSpPr>
        <p:spPr>
          <a:xfrm>
            <a:off x="12781161" y="658058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6" name="Text 100"/>
          <p:cNvSpPr/>
          <p:nvPr/>
        </p:nvSpPr>
        <p:spPr>
          <a:xfrm>
            <a:off x="12908161" y="667329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scheme specialist</a:t>
            </a:r>
            <a:endParaRPr lang="en-US" sz="1170" dirty="0"/>
          </a:p>
        </p:txBody>
      </p:sp>
      <p:sp>
        <p:nvSpPr>
          <p:cNvPr id="117" name="Text 101"/>
          <p:cNvSpPr/>
          <p:nvPr/>
        </p:nvSpPr>
        <p:spPr>
          <a:xfrm>
            <a:off x="12781161" y="7058026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</a:t>
            </a:r>
            <a:endParaRPr lang="en-US" sz="990" dirty="0"/>
          </a:p>
        </p:txBody>
      </p:sp>
      <p:sp>
        <p:nvSpPr>
          <p:cNvPr id="118" name="Shape 102"/>
          <p:cNvSpPr/>
          <p:nvPr/>
        </p:nvSpPr>
        <p:spPr>
          <a:xfrm>
            <a:off x="12781161" y="725606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9" name="Text 103"/>
          <p:cNvSpPr/>
          <p:nvPr/>
        </p:nvSpPr>
        <p:spPr>
          <a:xfrm>
            <a:off x="12908161" y="734877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70" dirty="0"/>
          </a:p>
        </p:txBody>
      </p:sp>
      <p:sp>
        <p:nvSpPr>
          <p:cNvPr id="120" name="Text 104"/>
          <p:cNvSpPr/>
          <p:nvPr/>
        </p:nvSpPr>
        <p:spPr>
          <a:xfrm>
            <a:off x="12781161" y="7733507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Justification</a:t>
            </a:r>
            <a:endParaRPr lang="en-US" sz="990" dirty="0"/>
          </a:p>
        </p:txBody>
      </p:sp>
      <p:sp>
        <p:nvSpPr>
          <p:cNvPr id="121" name="Shape 105"/>
          <p:cNvSpPr/>
          <p:nvPr/>
        </p:nvSpPr>
        <p:spPr>
          <a:xfrm>
            <a:off x="12781161" y="7931547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2" name="Text 106"/>
          <p:cNvSpPr/>
          <p:nvPr/>
        </p:nvSpPr>
        <p:spPr>
          <a:xfrm>
            <a:off x="12908161" y="8024257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internal supply</a:t>
            </a:r>
            <a:endParaRPr lang="en-US" sz="1170" dirty="0"/>
          </a:p>
        </p:txBody>
      </p:sp>
      <p:sp>
        <p:nvSpPr>
          <p:cNvPr id="123" name="Shape 107"/>
          <p:cNvSpPr/>
          <p:nvPr/>
        </p:nvSpPr>
        <p:spPr>
          <a:xfrm>
            <a:off x="12781161" y="8431809"/>
            <a:ext cx="1763714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4" name="Text 108"/>
          <p:cNvSpPr/>
          <p:nvPr/>
        </p:nvSpPr>
        <p:spPr>
          <a:xfrm>
            <a:off x="12941181" y="8511819"/>
            <a:ext cx="1519874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Greenhouse</a:t>
            </a:r>
            <a:endParaRPr lang="en-US" sz="1170" dirty="0"/>
          </a:p>
        </p:txBody>
      </p:sp>
      <p:sp>
        <p:nvSpPr>
          <p:cNvPr id="125" name="Shape 109"/>
          <p:cNvSpPr/>
          <p:nvPr/>
        </p:nvSpPr>
        <p:spPr>
          <a:xfrm>
            <a:off x="14636157" y="8431809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6" name="Text 110"/>
          <p:cNvSpPr/>
          <p:nvPr/>
        </p:nvSpPr>
        <p:spPr>
          <a:xfrm>
            <a:off x="14808877" y="8524519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27" name="Shape 111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8" name="Shape 112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29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30" name="Text 113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32" name="Picture 131" descr="Android Apps by Hello Clever on Google Play">
            <a:extLst>
              <a:ext uri="{FF2B5EF4-FFF2-40B4-BE49-F238E27FC236}">
                <a16:creationId xmlns:a16="http://schemas.microsoft.com/office/drawing/2014/main" id="{FB4315E9-BC5D-0A9F-25E2-FF3D5A5C948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sp>
        <p:nvSpPr>
          <p:cNvPr id="29" name="Shape 20"/>
          <p:cNvSpPr/>
          <p:nvPr/>
        </p:nvSpPr>
        <p:spPr>
          <a:xfrm>
            <a:off x="0" y="2822972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Shape 21"/>
          <p:cNvSpPr/>
          <p:nvPr/>
        </p:nvSpPr>
        <p:spPr>
          <a:xfrm>
            <a:off x="0" y="2822972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1891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 › Hiring › Role request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5715695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project demand to job description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522650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649650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782457" y="1183283"/>
            <a:ext cx="1185664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955177" y="1264563"/>
            <a:ext cx="916424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role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4417219" cy="8133755"/>
          </a:xfrm>
          <a:prstGeom prst="roundRect">
            <a:avLst>
              <a:gd name="adj" fmla="val 2070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3610809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raised by the project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361080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from the staffing gap, not typed from scratch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294063" y="3079949"/>
            <a:ext cx="3980656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3294063" y="2786658"/>
            <a:ext cx="6078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</a:t>
            </a:r>
            <a:endParaRPr lang="en-US" sz="1260" dirty="0"/>
          </a:p>
        </p:txBody>
      </p:sp>
      <p:sp>
        <p:nvSpPr>
          <p:cNvPr id="56" name="Text 41"/>
          <p:cNvSpPr/>
          <p:nvPr/>
        </p:nvSpPr>
        <p:spPr>
          <a:xfrm>
            <a:off x="5594152" y="2786658"/>
            <a:ext cx="18486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 programme</a:t>
            </a:r>
            <a:endParaRPr lang="en-US" sz="1260" dirty="0"/>
          </a:p>
        </p:txBody>
      </p:sp>
      <p:sp>
        <p:nvSpPr>
          <p:cNvPr id="57" name="Shape 42"/>
          <p:cNvSpPr/>
          <p:nvPr/>
        </p:nvSpPr>
        <p:spPr>
          <a:xfrm>
            <a:off x="3294063" y="3625850"/>
            <a:ext cx="3980656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8" name="Text 43"/>
          <p:cNvSpPr/>
          <p:nvPr/>
        </p:nvSpPr>
        <p:spPr>
          <a:xfrm>
            <a:off x="3294063" y="3332560"/>
            <a:ext cx="3835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</a:t>
            </a:r>
            <a:endParaRPr lang="en-US" sz="1260" dirty="0"/>
          </a:p>
        </p:txBody>
      </p:sp>
      <p:sp>
        <p:nvSpPr>
          <p:cNvPr id="59" name="Text 44"/>
          <p:cNvSpPr/>
          <p:nvPr/>
        </p:nvSpPr>
        <p:spPr>
          <a:xfrm>
            <a:off x="4824413" y="3332560"/>
            <a:ext cx="26953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scheme expertise — 2 FTE</a:t>
            </a:r>
            <a:endParaRPr lang="en-US" sz="1260" dirty="0"/>
          </a:p>
        </p:txBody>
      </p:sp>
      <p:sp>
        <p:nvSpPr>
          <p:cNvPr id="60" name="Shape 45"/>
          <p:cNvSpPr/>
          <p:nvPr/>
        </p:nvSpPr>
        <p:spPr>
          <a:xfrm>
            <a:off x="3294063" y="4171752"/>
            <a:ext cx="3980656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1" name="Text 46"/>
          <p:cNvSpPr/>
          <p:nvPr/>
        </p:nvSpPr>
        <p:spPr>
          <a:xfrm>
            <a:off x="3294063" y="3878461"/>
            <a:ext cx="43695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</a:t>
            </a:r>
            <a:endParaRPr lang="en-US" sz="1260" dirty="0"/>
          </a:p>
        </p:txBody>
      </p:sp>
      <p:sp>
        <p:nvSpPr>
          <p:cNvPr id="62" name="Text 47"/>
          <p:cNvSpPr/>
          <p:nvPr/>
        </p:nvSpPr>
        <p:spPr>
          <a:xfrm>
            <a:off x="6328768" y="3878461"/>
            <a:ext cx="102215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Sep 2026</a:t>
            </a:r>
            <a:endParaRPr lang="en-US" sz="1260" dirty="0"/>
          </a:p>
        </p:txBody>
      </p:sp>
      <p:sp>
        <p:nvSpPr>
          <p:cNvPr id="63" name="Shape 48"/>
          <p:cNvSpPr/>
          <p:nvPr/>
        </p:nvSpPr>
        <p:spPr>
          <a:xfrm>
            <a:off x="3294063" y="4717653"/>
            <a:ext cx="3980656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4" name="Text 49"/>
          <p:cNvSpPr/>
          <p:nvPr/>
        </p:nvSpPr>
        <p:spPr>
          <a:xfrm>
            <a:off x="3294063" y="4424363"/>
            <a:ext cx="7181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</a:t>
            </a:r>
            <a:endParaRPr lang="en-US" sz="1260" dirty="0"/>
          </a:p>
        </p:txBody>
      </p:sp>
      <p:sp>
        <p:nvSpPr>
          <p:cNvPr id="65" name="Text 50"/>
          <p:cNvSpPr/>
          <p:nvPr/>
        </p:nvSpPr>
        <p:spPr>
          <a:xfrm>
            <a:off x="6559154" y="4424363"/>
            <a:ext cx="79176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months</a:t>
            </a:r>
            <a:endParaRPr lang="en-US" sz="1260" dirty="0"/>
          </a:p>
        </p:txBody>
      </p:sp>
      <p:sp>
        <p:nvSpPr>
          <p:cNvPr id="66" name="Shape 51"/>
          <p:cNvSpPr/>
          <p:nvPr/>
        </p:nvSpPr>
        <p:spPr>
          <a:xfrm>
            <a:off x="3294063" y="5263555"/>
            <a:ext cx="3980656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7" name="Text 52"/>
          <p:cNvSpPr/>
          <p:nvPr/>
        </p:nvSpPr>
        <p:spPr>
          <a:xfrm>
            <a:off x="3294063" y="4970265"/>
            <a:ext cx="11934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supply</a:t>
            </a:r>
            <a:endParaRPr lang="en-US" sz="1260" dirty="0"/>
          </a:p>
        </p:txBody>
      </p:sp>
      <p:sp>
        <p:nvSpPr>
          <p:cNvPr id="68" name="Text 53"/>
          <p:cNvSpPr/>
          <p:nvPr/>
        </p:nvSpPr>
        <p:spPr>
          <a:xfrm>
            <a:off x="5494536" y="4970265"/>
            <a:ext cx="19582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(checked 12 Aug)</a:t>
            </a:r>
            <a:endParaRPr lang="en-US" sz="1260" dirty="0"/>
          </a:p>
        </p:txBody>
      </p:sp>
      <p:sp>
        <p:nvSpPr>
          <p:cNvPr id="69" name="Shape 54"/>
          <p:cNvSpPr/>
          <p:nvPr/>
        </p:nvSpPr>
        <p:spPr>
          <a:xfrm>
            <a:off x="3294063" y="5809457"/>
            <a:ext cx="3980656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0" name="Text 55"/>
          <p:cNvSpPr/>
          <p:nvPr/>
        </p:nvSpPr>
        <p:spPr>
          <a:xfrm>
            <a:off x="3294063" y="5516166"/>
            <a:ext cx="104437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band</a:t>
            </a:r>
            <a:endParaRPr lang="en-US" sz="1260" dirty="0"/>
          </a:p>
        </p:txBody>
      </p:sp>
      <p:sp>
        <p:nvSpPr>
          <p:cNvPr id="71" name="Text 56"/>
          <p:cNvSpPr/>
          <p:nvPr/>
        </p:nvSpPr>
        <p:spPr>
          <a:xfrm>
            <a:off x="6096199" y="5516166"/>
            <a:ext cx="12547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B4 — approved</a:t>
            </a:r>
            <a:endParaRPr lang="en-US" sz="1260" dirty="0"/>
          </a:p>
        </p:txBody>
      </p:sp>
      <p:sp>
        <p:nvSpPr>
          <p:cNvPr id="72" name="Shape 57"/>
          <p:cNvSpPr/>
          <p:nvPr/>
        </p:nvSpPr>
        <p:spPr>
          <a:xfrm>
            <a:off x="3294063" y="9611520"/>
            <a:ext cx="2018705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3" name="Text 58"/>
          <p:cNvSpPr/>
          <p:nvPr/>
        </p:nvSpPr>
        <p:spPr>
          <a:xfrm>
            <a:off x="3408363" y="9634380"/>
            <a:ext cx="1866305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Internal-first check passed</a:t>
            </a:r>
            <a:endParaRPr lang="en-US" sz="1080" dirty="0"/>
          </a:p>
        </p:txBody>
      </p:sp>
      <p:sp>
        <p:nvSpPr>
          <p:cNvPr id="74" name="Shape 59"/>
          <p:cNvSpPr/>
          <p:nvPr/>
        </p:nvSpPr>
        <p:spPr>
          <a:xfrm>
            <a:off x="5404049" y="9611520"/>
            <a:ext cx="1244600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5" name="Text 60"/>
          <p:cNvSpPr/>
          <p:nvPr/>
        </p:nvSpPr>
        <p:spPr>
          <a:xfrm>
            <a:off x="5518349" y="9634380"/>
            <a:ext cx="109220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verified</a:t>
            </a:r>
            <a:endParaRPr lang="en-US" sz="1080" dirty="0"/>
          </a:p>
        </p:txBody>
      </p:sp>
      <p:sp>
        <p:nvSpPr>
          <p:cNvPr id="76" name="Shape 61"/>
          <p:cNvSpPr/>
          <p:nvPr/>
        </p:nvSpPr>
        <p:spPr>
          <a:xfrm>
            <a:off x="7675761" y="1924645"/>
            <a:ext cx="4417418" cy="8133755"/>
          </a:xfrm>
          <a:prstGeom prst="roundRect">
            <a:avLst>
              <a:gd name="adj" fmla="val 2070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7" name="Text 62"/>
          <p:cNvSpPr/>
          <p:nvPr/>
        </p:nvSpPr>
        <p:spPr>
          <a:xfrm>
            <a:off x="7894043" y="2142927"/>
            <a:ext cx="437894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Drafted job description</a:t>
            </a:r>
            <a:endParaRPr lang="en-US" sz="1440" dirty="0"/>
          </a:p>
        </p:txBody>
      </p:sp>
      <p:sp>
        <p:nvSpPr>
          <p:cNvPr id="78" name="Text 63"/>
          <p:cNvSpPr/>
          <p:nvPr/>
        </p:nvSpPr>
        <p:spPr>
          <a:xfrm>
            <a:off x="7894043" y="2381647"/>
            <a:ext cx="410028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from the gap, past successful hires and the competency model</a:t>
            </a:r>
            <a:endParaRPr lang="en-US" sz="1080" dirty="0"/>
          </a:p>
        </p:txBody>
      </p:sp>
      <p:sp>
        <p:nvSpPr>
          <p:cNvPr id="79" name="Text 64"/>
          <p:cNvSpPr/>
          <p:nvPr/>
        </p:nvSpPr>
        <p:spPr>
          <a:xfrm>
            <a:off x="7894043" y="2848967"/>
            <a:ext cx="437894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title</a:t>
            </a:r>
            <a:endParaRPr lang="en-US" sz="990" dirty="0"/>
          </a:p>
        </p:txBody>
      </p:sp>
      <p:sp>
        <p:nvSpPr>
          <p:cNvPr id="80" name="Shape 65"/>
          <p:cNvSpPr/>
          <p:nvPr/>
        </p:nvSpPr>
        <p:spPr>
          <a:xfrm>
            <a:off x="7894043" y="3058517"/>
            <a:ext cx="3980856" cy="385763"/>
          </a:xfrm>
          <a:prstGeom prst="roundRect">
            <a:avLst>
              <a:gd name="adj" fmla="val 23704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1" name="Text 66"/>
          <p:cNvSpPr/>
          <p:nvPr/>
        </p:nvSpPr>
        <p:spPr>
          <a:xfrm>
            <a:off x="8043903" y="3162657"/>
            <a:ext cx="3800562" cy="215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scheme specialist (payments)</a:t>
            </a:r>
            <a:endParaRPr lang="en-US" sz="1170" dirty="0"/>
          </a:p>
        </p:txBody>
      </p:sp>
      <p:sp>
        <p:nvSpPr>
          <p:cNvPr id="82" name="Text 67"/>
          <p:cNvSpPr/>
          <p:nvPr/>
        </p:nvSpPr>
        <p:spPr>
          <a:xfrm>
            <a:off x="7894043" y="3581400"/>
            <a:ext cx="437894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Must have</a:t>
            </a:r>
            <a:endParaRPr lang="en-US" sz="990" dirty="0"/>
          </a:p>
        </p:txBody>
      </p:sp>
      <p:sp>
        <p:nvSpPr>
          <p:cNvPr id="83" name="Shape 68"/>
          <p:cNvSpPr/>
          <p:nvPr/>
        </p:nvSpPr>
        <p:spPr>
          <a:xfrm>
            <a:off x="7894043" y="3790950"/>
            <a:ext cx="3980856" cy="385762"/>
          </a:xfrm>
          <a:prstGeom prst="roundRect">
            <a:avLst>
              <a:gd name="adj" fmla="val 23704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4" name="Text 69"/>
          <p:cNvSpPr/>
          <p:nvPr/>
        </p:nvSpPr>
        <p:spPr>
          <a:xfrm>
            <a:off x="8043903" y="3895090"/>
            <a:ext cx="3800562" cy="2155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20022 · scheme rules · settlement</a:t>
            </a:r>
            <a:endParaRPr lang="en-US" sz="1170" dirty="0"/>
          </a:p>
        </p:txBody>
      </p:sp>
      <p:sp>
        <p:nvSpPr>
          <p:cNvPr id="85" name="Text 70"/>
          <p:cNvSpPr/>
          <p:nvPr/>
        </p:nvSpPr>
        <p:spPr>
          <a:xfrm>
            <a:off x="7894043" y="4313833"/>
            <a:ext cx="437894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Nice to have</a:t>
            </a:r>
            <a:endParaRPr lang="en-US" sz="990" dirty="0"/>
          </a:p>
        </p:txBody>
      </p:sp>
      <p:sp>
        <p:nvSpPr>
          <p:cNvPr id="86" name="Shape 71"/>
          <p:cNvSpPr/>
          <p:nvPr/>
        </p:nvSpPr>
        <p:spPr>
          <a:xfrm>
            <a:off x="7894043" y="4523383"/>
            <a:ext cx="3980856" cy="385763"/>
          </a:xfrm>
          <a:prstGeom prst="roundRect">
            <a:avLst>
              <a:gd name="adj" fmla="val 23704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7" name="Text 72"/>
          <p:cNvSpPr/>
          <p:nvPr/>
        </p:nvSpPr>
        <p:spPr>
          <a:xfrm>
            <a:off x="8043903" y="4627523"/>
            <a:ext cx="3800562" cy="215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 · Azure · German B2</a:t>
            </a:r>
            <a:endParaRPr lang="en-US" sz="1170" dirty="0"/>
          </a:p>
        </p:txBody>
      </p:sp>
      <p:sp>
        <p:nvSpPr>
          <p:cNvPr id="88" name="Text 73"/>
          <p:cNvSpPr/>
          <p:nvPr/>
        </p:nvSpPr>
        <p:spPr>
          <a:xfrm>
            <a:off x="7894043" y="5046266"/>
            <a:ext cx="437894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Excluded from screening</a:t>
            </a:r>
            <a:endParaRPr lang="en-US" sz="990" dirty="0"/>
          </a:p>
        </p:txBody>
      </p:sp>
      <p:sp>
        <p:nvSpPr>
          <p:cNvPr id="89" name="Shape 74"/>
          <p:cNvSpPr/>
          <p:nvPr/>
        </p:nvSpPr>
        <p:spPr>
          <a:xfrm>
            <a:off x="7894043" y="5255816"/>
            <a:ext cx="3980856" cy="385762"/>
          </a:xfrm>
          <a:prstGeom prst="roundRect">
            <a:avLst>
              <a:gd name="adj" fmla="val 23704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0" name="Text 75"/>
          <p:cNvSpPr/>
          <p:nvPr/>
        </p:nvSpPr>
        <p:spPr>
          <a:xfrm>
            <a:off x="8043903" y="5359956"/>
            <a:ext cx="3800562" cy="2155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gender, nationality, photo</a:t>
            </a:r>
            <a:endParaRPr lang="en-US" sz="1170" dirty="0"/>
          </a:p>
        </p:txBody>
      </p:sp>
      <p:sp>
        <p:nvSpPr>
          <p:cNvPr id="91" name="Text 76"/>
          <p:cNvSpPr/>
          <p:nvPr/>
        </p:nvSpPr>
        <p:spPr>
          <a:xfrm>
            <a:off x="7894043" y="5778698"/>
            <a:ext cx="437894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 check</a:t>
            </a:r>
            <a:endParaRPr lang="en-US" sz="990" dirty="0"/>
          </a:p>
        </p:txBody>
      </p:sp>
      <p:sp>
        <p:nvSpPr>
          <p:cNvPr id="92" name="Shape 77"/>
          <p:cNvSpPr/>
          <p:nvPr/>
        </p:nvSpPr>
        <p:spPr>
          <a:xfrm>
            <a:off x="7894043" y="5988249"/>
            <a:ext cx="3980856" cy="385762"/>
          </a:xfrm>
          <a:prstGeom prst="roundRect">
            <a:avLst>
              <a:gd name="adj" fmla="val 23704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3" name="Text 78"/>
          <p:cNvSpPr/>
          <p:nvPr/>
        </p:nvSpPr>
        <p:spPr>
          <a:xfrm>
            <a:off x="8043903" y="6092389"/>
            <a:ext cx="3800562" cy="2155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Neutral wording — 0 flags</a:t>
            </a:r>
            <a:endParaRPr lang="en-US" sz="1170" dirty="0"/>
          </a:p>
        </p:txBody>
      </p:sp>
      <p:sp>
        <p:nvSpPr>
          <p:cNvPr id="94" name="Shape 79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95" name="Shape 80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6" name="Shape 81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97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98" name="Text 82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99" name="Text 83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00" name="Shape 84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1" name="Text 85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02" name="Shape 86"/>
          <p:cNvSpPr/>
          <p:nvPr/>
        </p:nvSpPr>
        <p:spPr>
          <a:xfrm>
            <a:off x="14952266" y="2612628"/>
            <a:ext cx="2914254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3" name="Text 87"/>
          <p:cNvSpPr/>
          <p:nvPr/>
        </p:nvSpPr>
        <p:spPr>
          <a:xfrm>
            <a:off x="15112286" y="2726928"/>
            <a:ext cx="26816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this role actually need?</a:t>
            </a:r>
            <a:endParaRPr lang="en-US" sz="1260" dirty="0"/>
          </a:p>
        </p:txBody>
      </p:sp>
      <p:sp>
        <p:nvSpPr>
          <p:cNvPr id="104" name="Shape 88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5" name="Text 89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Scheme rules and settlement. Both absent internally — the description is drafted from the gap, not from an old advert.</a:t>
            </a:r>
            <a:endParaRPr lang="en-US" sz="1260" dirty="0"/>
          </a:p>
        </p:txBody>
      </p:sp>
      <p:sp>
        <p:nvSpPr>
          <p:cNvPr id="106" name="Shape 90"/>
          <p:cNvSpPr/>
          <p:nvPr/>
        </p:nvSpPr>
        <p:spPr>
          <a:xfrm>
            <a:off x="12608520" y="4055269"/>
            <a:ext cx="5258000" cy="1246981"/>
          </a:xfrm>
          <a:prstGeom prst="roundRect">
            <a:avLst>
              <a:gd name="adj" fmla="val 10999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7" name="Text 91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990" dirty="0"/>
          </a:p>
        </p:txBody>
      </p:sp>
      <p:sp>
        <p:nvSpPr>
          <p:cNvPr id="108" name="Shape 92"/>
          <p:cNvSpPr/>
          <p:nvPr/>
        </p:nvSpPr>
        <p:spPr>
          <a:xfrm>
            <a:off x="12781161" y="4494610"/>
            <a:ext cx="1561308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9" name="Text 93"/>
          <p:cNvSpPr/>
          <p:nvPr/>
        </p:nvSpPr>
        <p:spPr>
          <a:xfrm>
            <a:off x="12918282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20" dirty="0"/>
          </a:p>
        </p:txBody>
      </p:sp>
      <p:sp>
        <p:nvSpPr>
          <p:cNvPr id="110" name="Text 94"/>
          <p:cNvSpPr/>
          <p:nvPr/>
        </p:nvSpPr>
        <p:spPr>
          <a:xfrm>
            <a:off x="12918282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Must have</a:t>
            </a:r>
            <a:endParaRPr lang="en-US" sz="990" dirty="0"/>
          </a:p>
        </p:txBody>
      </p:sp>
      <p:sp>
        <p:nvSpPr>
          <p:cNvPr id="111" name="Shape 95"/>
          <p:cNvSpPr/>
          <p:nvPr/>
        </p:nvSpPr>
        <p:spPr>
          <a:xfrm>
            <a:off x="14456770" y="4494610"/>
            <a:ext cx="156150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2" name="Text 96"/>
          <p:cNvSpPr/>
          <p:nvPr/>
        </p:nvSpPr>
        <p:spPr>
          <a:xfrm>
            <a:off x="14593887" y="4608910"/>
            <a:ext cx="14159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620" dirty="0"/>
          </a:p>
        </p:txBody>
      </p:sp>
      <p:sp>
        <p:nvSpPr>
          <p:cNvPr id="113" name="Text 97"/>
          <p:cNvSpPr/>
          <p:nvPr/>
        </p:nvSpPr>
        <p:spPr>
          <a:xfrm>
            <a:off x="14593887" y="4862910"/>
            <a:ext cx="14159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supply</a:t>
            </a:r>
            <a:endParaRPr lang="en-US" sz="990" dirty="0"/>
          </a:p>
        </p:txBody>
      </p:sp>
      <p:sp>
        <p:nvSpPr>
          <p:cNvPr id="114" name="Shape 98"/>
          <p:cNvSpPr/>
          <p:nvPr/>
        </p:nvSpPr>
        <p:spPr>
          <a:xfrm>
            <a:off x="16132575" y="4494610"/>
            <a:ext cx="1561305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5" name="Text 99"/>
          <p:cNvSpPr/>
          <p:nvPr/>
        </p:nvSpPr>
        <p:spPr>
          <a:xfrm>
            <a:off x="16269693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620" dirty="0"/>
          </a:p>
        </p:txBody>
      </p:sp>
      <p:sp>
        <p:nvSpPr>
          <p:cNvPr id="116" name="Text 100"/>
          <p:cNvSpPr/>
          <p:nvPr/>
        </p:nvSpPr>
        <p:spPr>
          <a:xfrm>
            <a:off x="16269693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Bias flags</a:t>
            </a:r>
            <a:endParaRPr lang="en-US" sz="990" dirty="0"/>
          </a:p>
        </p:txBody>
      </p:sp>
      <p:sp>
        <p:nvSpPr>
          <p:cNvPr id="117" name="Shape 101"/>
          <p:cNvSpPr/>
          <p:nvPr/>
        </p:nvSpPr>
        <p:spPr>
          <a:xfrm>
            <a:off x="12608520" y="5439370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8" name="Text 102"/>
          <p:cNvSpPr/>
          <p:nvPr/>
        </p:nvSpPr>
        <p:spPr>
          <a:xfrm>
            <a:off x="12781161" y="5612011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role</a:t>
            </a:r>
            <a:endParaRPr lang="en-US" sz="1260" dirty="0"/>
          </a:p>
        </p:txBody>
      </p:sp>
      <p:sp>
        <p:nvSpPr>
          <p:cNvPr id="119" name="Text 103"/>
          <p:cNvSpPr/>
          <p:nvPr/>
        </p:nvSpPr>
        <p:spPr>
          <a:xfrm>
            <a:off x="12781161" y="591681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</a:t>
            </a:r>
            <a:endParaRPr lang="en-US" sz="990" dirty="0"/>
          </a:p>
        </p:txBody>
      </p:sp>
      <p:sp>
        <p:nvSpPr>
          <p:cNvPr id="120" name="Shape 104"/>
          <p:cNvSpPr/>
          <p:nvPr/>
        </p:nvSpPr>
        <p:spPr>
          <a:xfrm>
            <a:off x="12781161" y="6114852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1" name="Text 105"/>
          <p:cNvSpPr/>
          <p:nvPr/>
        </p:nvSpPr>
        <p:spPr>
          <a:xfrm>
            <a:off x="12908161" y="6207562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scheme specialist (payments)</a:t>
            </a:r>
            <a:endParaRPr lang="en-US" sz="1170" dirty="0"/>
          </a:p>
        </p:txBody>
      </p:sp>
      <p:sp>
        <p:nvSpPr>
          <p:cNvPr id="122" name="Text 106"/>
          <p:cNvSpPr/>
          <p:nvPr/>
        </p:nvSpPr>
        <p:spPr>
          <a:xfrm>
            <a:off x="12781161" y="659229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Headcount</a:t>
            </a:r>
            <a:endParaRPr lang="en-US" sz="990" dirty="0"/>
          </a:p>
        </p:txBody>
      </p:sp>
      <p:sp>
        <p:nvSpPr>
          <p:cNvPr id="123" name="Shape 107"/>
          <p:cNvSpPr/>
          <p:nvPr/>
        </p:nvSpPr>
        <p:spPr>
          <a:xfrm>
            <a:off x="12781161" y="679033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4" name="Text 108"/>
          <p:cNvSpPr/>
          <p:nvPr/>
        </p:nvSpPr>
        <p:spPr>
          <a:xfrm>
            <a:off x="12908161" y="688304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70" dirty="0"/>
          </a:p>
        </p:txBody>
      </p:sp>
      <p:sp>
        <p:nvSpPr>
          <p:cNvPr id="125" name="Text 109"/>
          <p:cNvSpPr/>
          <p:nvPr/>
        </p:nvSpPr>
        <p:spPr>
          <a:xfrm>
            <a:off x="12781161" y="726777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Approver</a:t>
            </a:r>
            <a:endParaRPr lang="en-US" sz="990" dirty="0"/>
          </a:p>
        </p:txBody>
      </p:sp>
      <p:sp>
        <p:nvSpPr>
          <p:cNvPr id="126" name="Shape 110"/>
          <p:cNvSpPr/>
          <p:nvPr/>
        </p:nvSpPr>
        <p:spPr>
          <a:xfrm>
            <a:off x="12781161" y="746581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7" name="Text 111"/>
          <p:cNvSpPr/>
          <p:nvPr/>
        </p:nvSpPr>
        <p:spPr>
          <a:xfrm>
            <a:off x="12908161" y="755852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L. Meier</a:t>
            </a:r>
            <a:endParaRPr lang="en-US" sz="1170" dirty="0"/>
          </a:p>
        </p:txBody>
      </p:sp>
      <p:sp>
        <p:nvSpPr>
          <p:cNvPr id="128" name="Shape 112"/>
          <p:cNvSpPr/>
          <p:nvPr/>
        </p:nvSpPr>
        <p:spPr>
          <a:xfrm>
            <a:off x="12781161" y="7966075"/>
            <a:ext cx="1763714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9" name="Text 113"/>
          <p:cNvSpPr/>
          <p:nvPr/>
        </p:nvSpPr>
        <p:spPr>
          <a:xfrm>
            <a:off x="12941181" y="8046085"/>
            <a:ext cx="1519874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Greenhouse</a:t>
            </a:r>
            <a:endParaRPr lang="en-US" sz="1170" dirty="0"/>
          </a:p>
        </p:txBody>
      </p:sp>
      <p:sp>
        <p:nvSpPr>
          <p:cNvPr id="130" name="Shape 114"/>
          <p:cNvSpPr/>
          <p:nvPr/>
        </p:nvSpPr>
        <p:spPr>
          <a:xfrm>
            <a:off x="14636157" y="7966075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1" name="Text 115"/>
          <p:cNvSpPr/>
          <p:nvPr/>
        </p:nvSpPr>
        <p:spPr>
          <a:xfrm>
            <a:off x="14808877" y="8058785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32" name="Shape 116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3" name="Shape 117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34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35" name="Text 118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37" name="Picture 136" descr="Android Apps by Hello Clever on Google Play">
            <a:extLst>
              <a:ext uri="{FF2B5EF4-FFF2-40B4-BE49-F238E27FC236}">
                <a16:creationId xmlns:a16="http://schemas.microsoft.com/office/drawing/2014/main" id="{FF08BFA2-3426-E562-4CC2-C5736478151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sp>
        <p:nvSpPr>
          <p:cNvPr id="29" name="Shape 20"/>
          <p:cNvSpPr/>
          <p:nvPr/>
        </p:nvSpPr>
        <p:spPr>
          <a:xfrm>
            <a:off x="0" y="2822972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Shape 21"/>
          <p:cNvSpPr/>
          <p:nvPr/>
        </p:nvSpPr>
        <p:spPr>
          <a:xfrm>
            <a:off x="0" y="2822972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1891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 › Hiring › Long list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5384344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Candidates scored on every criterion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322825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449825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582630" y="1183283"/>
            <a:ext cx="1385492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755350" y="1264563"/>
            <a:ext cx="1116252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 top 3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5748536" cy="8133755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548540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Weighted scorecard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548540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criteria, same weights, applied to internal and external candidates alike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294063" y="3105348"/>
            <a:ext cx="5311974" cy="12700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3408363" y="2683867"/>
            <a:ext cx="93206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</a:t>
            </a:r>
            <a:endParaRPr lang="en-US" sz="1080" dirty="0"/>
          </a:p>
        </p:txBody>
      </p:sp>
      <p:sp>
        <p:nvSpPr>
          <p:cNvPr id="56" name="Text 41"/>
          <p:cNvSpPr/>
          <p:nvPr/>
        </p:nvSpPr>
        <p:spPr>
          <a:xfrm>
            <a:off x="4424164" y="2683867"/>
            <a:ext cx="93206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</a:t>
            </a:r>
            <a:endParaRPr lang="en-US" sz="1080" dirty="0"/>
          </a:p>
        </p:txBody>
      </p:sp>
      <p:sp>
        <p:nvSpPr>
          <p:cNvPr id="57" name="Text 42"/>
          <p:cNvSpPr/>
          <p:nvPr/>
        </p:nvSpPr>
        <p:spPr>
          <a:xfrm>
            <a:off x="5363766" y="2683867"/>
            <a:ext cx="54292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</a:t>
            </a:r>
            <a:endParaRPr lang="en-US" sz="1080" dirty="0"/>
          </a:p>
        </p:txBody>
      </p:sp>
      <p:sp>
        <p:nvSpPr>
          <p:cNvPr id="58" name="Text 43"/>
          <p:cNvSpPr/>
          <p:nvPr/>
        </p:nvSpPr>
        <p:spPr>
          <a:xfrm>
            <a:off x="5990432" y="2683867"/>
            <a:ext cx="543123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</a:t>
            </a:r>
            <a:endParaRPr lang="en-US" sz="1080" dirty="0"/>
          </a:p>
        </p:txBody>
      </p:sp>
      <p:sp>
        <p:nvSpPr>
          <p:cNvPr id="59" name="Text 44"/>
          <p:cNvSpPr/>
          <p:nvPr/>
        </p:nvSpPr>
        <p:spPr>
          <a:xfrm>
            <a:off x="6617296" y="2683867"/>
            <a:ext cx="54292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</a:t>
            </a:r>
            <a:endParaRPr lang="en-US" sz="1080" dirty="0"/>
          </a:p>
        </p:txBody>
      </p:sp>
      <p:sp>
        <p:nvSpPr>
          <p:cNvPr id="60" name="Text 45"/>
          <p:cNvSpPr/>
          <p:nvPr/>
        </p:nvSpPr>
        <p:spPr>
          <a:xfrm>
            <a:off x="7243961" y="2683867"/>
            <a:ext cx="54312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add</a:t>
            </a:r>
            <a:endParaRPr lang="en-US" sz="1080" dirty="0"/>
          </a:p>
        </p:txBody>
      </p:sp>
      <p:sp>
        <p:nvSpPr>
          <p:cNvPr id="61" name="Text 46"/>
          <p:cNvSpPr/>
          <p:nvPr/>
        </p:nvSpPr>
        <p:spPr>
          <a:xfrm>
            <a:off x="7870825" y="2683867"/>
            <a:ext cx="62091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1080" dirty="0"/>
          </a:p>
        </p:txBody>
      </p:sp>
      <p:sp>
        <p:nvSpPr>
          <p:cNvPr id="62" name="Shape 47"/>
          <p:cNvSpPr/>
          <p:nvPr/>
        </p:nvSpPr>
        <p:spPr>
          <a:xfrm>
            <a:off x="3294063" y="3118049"/>
            <a:ext cx="5311974" cy="45442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3" name="Shape 48"/>
          <p:cNvSpPr/>
          <p:nvPr/>
        </p:nvSpPr>
        <p:spPr>
          <a:xfrm>
            <a:off x="3294063" y="3559771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4" name="Text 49"/>
          <p:cNvSpPr/>
          <p:nvPr/>
        </p:nvSpPr>
        <p:spPr>
          <a:xfrm>
            <a:off x="3408363" y="3243659"/>
            <a:ext cx="9320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Rai</a:t>
            </a:r>
            <a:endParaRPr lang="en-US" sz="1260" dirty="0"/>
          </a:p>
        </p:txBody>
      </p:sp>
      <p:sp>
        <p:nvSpPr>
          <p:cNvPr id="65" name="Text 50"/>
          <p:cNvSpPr/>
          <p:nvPr/>
        </p:nvSpPr>
        <p:spPr>
          <a:xfrm>
            <a:off x="4424164" y="3243659"/>
            <a:ext cx="9320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</a:t>
            </a:r>
            <a:endParaRPr lang="en-US" sz="1260" dirty="0"/>
          </a:p>
        </p:txBody>
      </p:sp>
      <p:sp>
        <p:nvSpPr>
          <p:cNvPr id="66" name="Text 51"/>
          <p:cNvSpPr/>
          <p:nvPr/>
        </p:nvSpPr>
        <p:spPr>
          <a:xfrm>
            <a:off x="5363766" y="3243659"/>
            <a:ext cx="542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1260" dirty="0"/>
          </a:p>
        </p:txBody>
      </p:sp>
      <p:sp>
        <p:nvSpPr>
          <p:cNvPr id="67" name="Text 52"/>
          <p:cNvSpPr/>
          <p:nvPr/>
        </p:nvSpPr>
        <p:spPr>
          <a:xfrm>
            <a:off x="5990432" y="3243659"/>
            <a:ext cx="5431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</a:t>
            </a:r>
            <a:endParaRPr lang="en-US" sz="1260" dirty="0"/>
          </a:p>
        </p:txBody>
      </p:sp>
      <p:sp>
        <p:nvSpPr>
          <p:cNvPr id="68" name="Text 53"/>
          <p:cNvSpPr/>
          <p:nvPr/>
        </p:nvSpPr>
        <p:spPr>
          <a:xfrm>
            <a:off x="6617296" y="3243659"/>
            <a:ext cx="542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</a:t>
            </a:r>
            <a:endParaRPr lang="en-US" sz="1260" dirty="0"/>
          </a:p>
        </p:txBody>
      </p:sp>
      <p:sp>
        <p:nvSpPr>
          <p:cNvPr id="69" name="Text 54"/>
          <p:cNvSpPr/>
          <p:nvPr/>
        </p:nvSpPr>
        <p:spPr>
          <a:xfrm>
            <a:off x="7243961" y="3243659"/>
            <a:ext cx="5431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</a:t>
            </a:r>
            <a:endParaRPr lang="en-US" sz="1260" dirty="0"/>
          </a:p>
        </p:txBody>
      </p:sp>
      <p:sp>
        <p:nvSpPr>
          <p:cNvPr id="70" name="Text 55"/>
          <p:cNvSpPr/>
          <p:nvPr/>
        </p:nvSpPr>
        <p:spPr>
          <a:xfrm>
            <a:off x="7870825" y="3243659"/>
            <a:ext cx="6209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</a:t>
            </a:r>
            <a:endParaRPr lang="en-US" sz="1260" dirty="0"/>
          </a:p>
        </p:txBody>
      </p:sp>
      <p:sp>
        <p:nvSpPr>
          <p:cNvPr id="71" name="Shape 56"/>
          <p:cNvSpPr/>
          <p:nvPr/>
        </p:nvSpPr>
        <p:spPr>
          <a:xfrm>
            <a:off x="3294063" y="4204692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2" name="Text 57"/>
          <p:cNvSpPr/>
          <p:nvPr/>
        </p:nvSpPr>
        <p:spPr>
          <a:xfrm>
            <a:off x="3408363" y="3793331"/>
            <a:ext cx="9320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Sharma</a:t>
            </a:r>
            <a:endParaRPr lang="en-US" sz="1260" dirty="0"/>
          </a:p>
        </p:txBody>
      </p:sp>
      <p:sp>
        <p:nvSpPr>
          <p:cNvPr id="73" name="Text 58"/>
          <p:cNvSpPr/>
          <p:nvPr/>
        </p:nvSpPr>
        <p:spPr>
          <a:xfrm>
            <a:off x="4424164" y="3698081"/>
            <a:ext cx="93206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— reskilling</a:t>
            </a:r>
            <a:endParaRPr lang="en-US" sz="1260" dirty="0"/>
          </a:p>
        </p:txBody>
      </p:sp>
      <p:sp>
        <p:nvSpPr>
          <p:cNvPr id="74" name="Text 59"/>
          <p:cNvSpPr/>
          <p:nvPr/>
        </p:nvSpPr>
        <p:spPr>
          <a:xfrm>
            <a:off x="5363766" y="3793331"/>
            <a:ext cx="542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1260" dirty="0"/>
          </a:p>
        </p:txBody>
      </p:sp>
      <p:sp>
        <p:nvSpPr>
          <p:cNvPr id="75" name="Text 60"/>
          <p:cNvSpPr/>
          <p:nvPr/>
        </p:nvSpPr>
        <p:spPr>
          <a:xfrm>
            <a:off x="5990432" y="3793331"/>
            <a:ext cx="5431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</a:t>
            </a:r>
            <a:endParaRPr lang="en-US" sz="1260" dirty="0"/>
          </a:p>
        </p:txBody>
      </p:sp>
      <p:sp>
        <p:nvSpPr>
          <p:cNvPr id="76" name="Text 61"/>
          <p:cNvSpPr/>
          <p:nvPr/>
        </p:nvSpPr>
        <p:spPr>
          <a:xfrm>
            <a:off x="6617296" y="3793331"/>
            <a:ext cx="542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</a:t>
            </a:r>
            <a:endParaRPr lang="en-US" sz="1260" dirty="0"/>
          </a:p>
        </p:txBody>
      </p:sp>
      <p:sp>
        <p:nvSpPr>
          <p:cNvPr id="77" name="Text 62"/>
          <p:cNvSpPr/>
          <p:nvPr/>
        </p:nvSpPr>
        <p:spPr>
          <a:xfrm>
            <a:off x="7243961" y="3793331"/>
            <a:ext cx="5431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</a:t>
            </a:r>
            <a:endParaRPr lang="en-US" sz="1260" dirty="0"/>
          </a:p>
        </p:txBody>
      </p:sp>
      <p:sp>
        <p:nvSpPr>
          <p:cNvPr id="78" name="Text 63"/>
          <p:cNvSpPr/>
          <p:nvPr/>
        </p:nvSpPr>
        <p:spPr>
          <a:xfrm>
            <a:off x="7870825" y="3793331"/>
            <a:ext cx="6209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1260" dirty="0"/>
          </a:p>
        </p:txBody>
      </p:sp>
      <p:sp>
        <p:nvSpPr>
          <p:cNvPr id="79" name="Shape 64"/>
          <p:cNvSpPr/>
          <p:nvPr/>
        </p:nvSpPr>
        <p:spPr>
          <a:xfrm>
            <a:off x="3294063" y="4849614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0" name="Text 65"/>
          <p:cNvSpPr/>
          <p:nvPr/>
        </p:nvSpPr>
        <p:spPr>
          <a:xfrm>
            <a:off x="3408363" y="4343004"/>
            <a:ext cx="93206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Lindqvist</a:t>
            </a:r>
            <a:endParaRPr lang="en-US" sz="1260" dirty="0"/>
          </a:p>
        </p:txBody>
      </p:sp>
      <p:sp>
        <p:nvSpPr>
          <p:cNvPr id="81" name="Text 66"/>
          <p:cNvSpPr/>
          <p:nvPr/>
        </p:nvSpPr>
        <p:spPr>
          <a:xfrm>
            <a:off x="4424164" y="4438254"/>
            <a:ext cx="9320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</a:t>
            </a:r>
            <a:endParaRPr lang="en-US" sz="1260" dirty="0"/>
          </a:p>
        </p:txBody>
      </p:sp>
      <p:sp>
        <p:nvSpPr>
          <p:cNvPr id="82" name="Text 67"/>
          <p:cNvSpPr/>
          <p:nvPr/>
        </p:nvSpPr>
        <p:spPr>
          <a:xfrm>
            <a:off x="5363766" y="4438254"/>
            <a:ext cx="542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1260" dirty="0"/>
          </a:p>
        </p:txBody>
      </p:sp>
      <p:sp>
        <p:nvSpPr>
          <p:cNvPr id="83" name="Text 68"/>
          <p:cNvSpPr/>
          <p:nvPr/>
        </p:nvSpPr>
        <p:spPr>
          <a:xfrm>
            <a:off x="5990432" y="4438254"/>
            <a:ext cx="5431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260" dirty="0"/>
          </a:p>
        </p:txBody>
      </p:sp>
      <p:sp>
        <p:nvSpPr>
          <p:cNvPr id="84" name="Text 69"/>
          <p:cNvSpPr/>
          <p:nvPr/>
        </p:nvSpPr>
        <p:spPr>
          <a:xfrm>
            <a:off x="6617296" y="4438254"/>
            <a:ext cx="542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</a:t>
            </a:r>
            <a:endParaRPr lang="en-US" sz="1260" dirty="0"/>
          </a:p>
        </p:txBody>
      </p:sp>
      <p:sp>
        <p:nvSpPr>
          <p:cNvPr id="85" name="Text 70"/>
          <p:cNvSpPr/>
          <p:nvPr/>
        </p:nvSpPr>
        <p:spPr>
          <a:xfrm>
            <a:off x="7243961" y="4438254"/>
            <a:ext cx="5431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</a:t>
            </a:r>
            <a:endParaRPr lang="en-US" sz="1260" dirty="0"/>
          </a:p>
        </p:txBody>
      </p:sp>
      <p:sp>
        <p:nvSpPr>
          <p:cNvPr id="86" name="Text 71"/>
          <p:cNvSpPr/>
          <p:nvPr/>
        </p:nvSpPr>
        <p:spPr>
          <a:xfrm>
            <a:off x="7870825" y="4438254"/>
            <a:ext cx="6209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</a:t>
            </a:r>
            <a:endParaRPr lang="en-US" sz="1260" dirty="0"/>
          </a:p>
        </p:txBody>
      </p:sp>
      <p:sp>
        <p:nvSpPr>
          <p:cNvPr id="87" name="Shape 72"/>
          <p:cNvSpPr/>
          <p:nvPr/>
        </p:nvSpPr>
        <p:spPr>
          <a:xfrm>
            <a:off x="3294063" y="5304036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8" name="Text 73"/>
          <p:cNvSpPr/>
          <p:nvPr/>
        </p:nvSpPr>
        <p:spPr>
          <a:xfrm>
            <a:off x="3408363" y="4987925"/>
            <a:ext cx="9320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M. Duarte</a:t>
            </a:r>
            <a:endParaRPr lang="en-US" sz="1260" dirty="0"/>
          </a:p>
        </p:txBody>
      </p:sp>
      <p:sp>
        <p:nvSpPr>
          <p:cNvPr id="89" name="Text 74"/>
          <p:cNvSpPr/>
          <p:nvPr/>
        </p:nvSpPr>
        <p:spPr>
          <a:xfrm>
            <a:off x="4424164" y="4987925"/>
            <a:ext cx="9320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</a:t>
            </a:r>
            <a:endParaRPr lang="en-US" sz="1260" dirty="0"/>
          </a:p>
        </p:txBody>
      </p:sp>
      <p:sp>
        <p:nvSpPr>
          <p:cNvPr id="90" name="Text 75"/>
          <p:cNvSpPr/>
          <p:nvPr/>
        </p:nvSpPr>
        <p:spPr>
          <a:xfrm>
            <a:off x="5363766" y="4987925"/>
            <a:ext cx="542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</a:t>
            </a:r>
            <a:endParaRPr lang="en-US" sz="1260" dirty="0"/>
          </a:p>
        </p:txBody>
      </p:sp>
      <p:sp>
        <p:nvSpPr>
          <p:cNvPr id="91" name="Text 76"/>
          <p:cNvSpPr/>
          <p:nvPr/>
        </p:nvSpPr>
        <p:spPr>
          <a:xfrm>
            <a:off x="5990432" y="4987925"/>
            <a:ext cx="5431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</a:t>
            </a:r>
            <a:endParaRPr lang="en-US" sz="1260" dirty="0"/>
          </a:p>
        </p:txBody>
      </p:sp>
      <p:sp>
        <p:nvSpPr>
          <p:cNvPr id="92" name="Text 77"/>
          <p:cNvSpPr/>
          <p:nvPr/>
        </p:nvSpPr>
        <p:spPr>
          <a:xfrm>
            <a:off x="6617296" y="4987925"/>
            <a:ext cx="542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260" dirty="0"/>
          </a:p>
        </p:txBody>
      </p:sp>
      <p:sp>
        <p:nvSpPr>
          <p:cNvPr id="93" name="Text 78"/>
          <p:cNvSpPr/>
          <p:nvPr/>
        </p:nvSpPr>
        <p:spPr>
          <a:xfrm>
            <a:off x="7243961" y="4987925"/>
            <a:ext cx="5431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</a:t>
            </a:r>
            <a:endParaRPr lang="en-US" sz="1260" dirty="0"/>
          </a:p>
        </p:txBody>
      </p:sp>
      <p:sp>
        <p:nvSpPr>
          <p:cNvPr id="94" name="Text 79"/>
          <p:cNvSpPr/>
          <p:nvPr/>
        </p:nvSpPr>
        <p:spPr>
          <a:xfrm>
            <a:off x="7870825" y="4987925"/>
            <a:ext cx="6209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260" dirty="0"/>
          </a:p>
        </p:txBody>
      </p:sp>
      <p:sp>
        <p:nvSpPr>
          <p:cNvPr id="95" name="Shape 80"/>
          <p:cNvSpPr/>
          <p:nvPr/>
        </p:nvSpPr>
        <p:spPr>
          <a:xfrm>
            <a:off x="3294063" y="5948958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6" name="Text 81"/>
          <p:cNvSpPr/>
          <p:nvPr/>
        </p:nvSpPr>
        <p:spPr>
          <a:xfrm>
            <a:off x="3408363" y="5537597"/>
            <a:ext cx="9320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J. Ferreira</a:t>
            </a:r>
            <a:endParaRPr lang="en-US" sz="1260" dirty="0"/>
          </a:p>
        </p:txBody>
      </p:sp>
      <p:sp>
        <p:nvSpPr>
          <p:cNvPr id="97" name="Text 82"/>
          <p:cNvSpPr/>
          <p:nvPr/>
        </p:nvSpPr>
        <p:spPr>
          <a:xfrm>
            <a:off x="4424164" y="5442347"/>
            <a:ext cx="93206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— bench</a:t>
            </a:r>
            <a:endParaRPr lang="en-US" sz="1260" dirty="0"/>
          </a:p>
        </p:txBody>
      </p:sp>
      <p:sp>
        <p:nvSpPr>
          <p:cNvPr id="98" name="Text 83"/>
          <p:cNvSpPr/>
          <p:nvPr/>
        </p:nvSpPr>
        <p:spPr>
          <a:xfrm>
            <a:off x="5363766" y="5537597"/>
            <a:ext cx="542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1260" dirty="0"/>
          </a:p>
        </p:txBody>
      </p:sp>
      <p:sp>
        <p:nvSpPr>
          <p:cNvPr id="99" name="Text 84"/>
          <p:cNvSpPr/>
          <p:nvPr/>
        </p:nvSpPr>
        <p:spPr>
          <a:xfrm>
            <a:off x="5990432" y="5537597"/>
            <a:ext cx="5431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1260" dirty="0"/>
          </a:p>
        </p:txBody>
      </p:sp>
      <p:sp>
        <p:nvSpPr>
          <p:cNvPr id="100" name="Text 85"/>
          <p:cNvSpPr/>
          <p:nvPr/>
        </p:nvSpPr>
        <p:spPr>
          <a:xfrm>
            <a:off x="6617296" y="5537597"/>
            <a:ext cx="542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endParaRPr lang="en-US" sz="1260" dirty="0"/>
          </a:p>
        </p:txBody>
      </p:sp>
      <p:sp>
        <p:nvSpPr>
          <p:cNvPr id="101" name="Text 86"/>
          <p:cNvSpPr/>
          <p:nvPr/>
        </p:nvSpPr>
        <p:spPr>
          <a:xfrm>
            <a:off x="7243961" y="5537597"/>
            <a:ext cx="5431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</a:t>
            </a:r>
            <a:endParaRPr lang="en-US" sz="1260" dirty="0"/>
          </a:p>
        </p:txBody>
      </p:sp>
      <p:sp>
        <p:nvSpPr>
          <p:cNvPr id="102" name="Text 87"/>
          <p:cNvSpPr/>
          <p:nvPr/>
        </p:nvSpPr>
        <p:spPr>
          <a:xfrm>
            <a:off x="7870825" y="5537597"/>
            <a:ext cx="6209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</a:t>
            </a:r>
            <a:endParaRPr lang="en-US" sz="1260" dirty="0"/>
          </a:p>
        </p:txBody>
      </p:sp>
      <p:sp>
        <p:nvSpPr>
          <p:cNvPr id="103" name="Shape 88"/>
          <p:cNvSpPr/>
          <p:nvPr/>
        </p:nvSpPr>
        <p:spPr>
          <a:xfrm>
            <a:off x="3294063" y="6403380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4" name="Text 89"/>
          <p:cNvSpPr/>
          <p:nvPr/>
        </p:nvSpPr>
        <p:spPr>
          <a:xfrm>
            <a:off x="3408363" y="6087269"/>
            <a:ext cx="9320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K. Wolf</a:t>
            </a:r>
            <a:endParaRPr lang="en-US" sz="1260" dirty="0"/>
          </a:p>
        </p:txBody>
      </p:sp>
      <p:sp>
        <p:nvSpPr>
          <p:cNvPr id="105" name="Text 90"/>
          <p:cNvSpPr/>
          <p:nvPr/>
        </p:nvSpPr>
        <p:spPr>
          <a:xfrm>
            <a:off x="4424164" y="6087269"/>
            <a:ext cx="9320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</a:t>
            </a:r>
            <a:endParaRPr lang="en-US" sz="1260" dirty="0"/>
          </a:p>
        </p:txBody>
      </p:sp>
      <p:sp>
        <p:nvSpPr>
          <p:cNvPr id="106" name="Text 91"/>
          <p:cNvSpPr/>
          <p:nvPr/>
        </p:nvSpPr>
        <p:spPr>
          <a:xfrm>
            <a:off x="5363766" y="6087269"/>
            <a:ext cx="542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</a:t>
            </a:r>
            <a:endParaRPr lang="en-US" sz="1260" dirty="0"/>
          </a:p>
        </p:txBody>
      </p:sp>
      <p:sp>
        <p:nvSpPr>
          <p:cNvPr id="107" name="Text 92"/>
          <p:cNvSpPr/>
          <p:nvPr/>
        </p:nvSpPr>
        <p:spPr>
          <a:xfrm>
            <a:off x="5990432" y="6087269"/>
            <a:ext cx="5431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</a:t>
            </a:r>
            <a:endParaRPr lang="en-US" sz="1260" dirty="0"/>
          </a:p>
        </p:txBody>
      </p:sp>
      <p:sp>
        <p:nvSpPr>
          <p:cNvPr id="108" name="Text 93"/>
          <p:cNvSpPr/>
          <p:nvPr/>
        </p:nvSpPr>
        <p:spPr>
          <a:xfrm>
            <a:off x="6617296" y="6087269"/>
            <a:ext cx="542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1260" dirty="0"/>
          </a:p>
        </p:txBody>
      </p:sp>
      <p:sp>
        <p:nvSpPr>
          <p:cNvPr id="109" name="Text 94"/>
          <p:cNvSpPr/>
          <p:nvPr/>
        </p:nvSpPr>
        <p:spPr>
          <a:xfrm>
            <a:off x="7243961" y="6087269"/>
            <a:ext cx="5431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endParaRPr lang="en-US" sz="1260" dirty="0"/>
          </a:p>
        </p:txBody>
      </p:sp>
      <p:sp>
        <p:nvSpPr>
          <p:cNvPr id="110" name="Text 95"/>
          <p:cNvSpPr/>
          <p:nvPr/>
        </p:nvSpPr>
        <p:spPr>
          <a:xfrm>
            <a:off x="7870825" y="6087269"/>
            <a:ext cx="6209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</a:t>
            </a:r>
            <a:endParaRPr lang="en-US" sz="1260" dirty="0"/>
          </a:p>
        </p:txBody>
      </p:sp>
      <p:sp>
        <p:nvSpPr>
          <p:cNvPr id="111" name="Shape 96"/>
          <p:cNvSpPr/>
          <p:nvPr/>
        </p:nvSpPr>
        <p:spPr>
          <a:xfrm>
            <a:off x="9007079" y="1924645"/>
            <a:ext cx="3086101" cy="2716808"/>
          </a:xfrm>
          <a:prstGeom prst="roundRect">
            <a:avLst>
              <a:gd name="adj" fmla="val 3366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2" name="Text 97"/>
          <p:cNvSpPr/>
          <p:nvPr/>
        </p:nvSpPr>
        <p:spPr>
          <a:xfrm>
            <a:off x="9225360" y="2142927"/>
            <a:ext cx="291449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Weights</a:t>
            </a:r>
            <a:endParaRPr lang="en-US" sz="1440" dirty="0"/>
          </a:p>
        </p:txBody>
      </p:sp>
      <p:sp>
        <p:nvSpPr>
          <p:cNvPr id="113" name="Text 98"/>
          <p:cNvSpPr/>
          <p:nvPr/>
        </p:nvSpPr>
        <p:spPr>
          <a:xfrm>
            <a:off x="9225360" y="2381647"/>
            <a:ext cx="272902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by the hiring manager, visible to everyone</a:t>
            </a:r>
            <a:endParaRPr lang="en-US" sz="1080" dirty="0"/>
          </a:p>
        </p:txBody>
      </p:sp>
      <p:sp>
        <p:nvSpPr>
          <p:cNvPr id="114" name="Text 99"/>
          <p:cNvSpPr/>
          <p:nvPr/>
        </p:nvSpPr>
        <p:spPr>
          <a:xfrm>
            <a:off x="9225360" y="2848967"/>
            <a:ext cx="120650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expertise</a:t>
            </a:r>
            <a:endParaRPr lang="en-US" sz="1080" dirty="0"/>
          </a:p>
        </p:txBody>
      </p:sp>
      <p:sp>
        <p:nvSpPr>
          <p:cNvPr id="115" name="Text 100"/>
          <p:cNvSpPr/>
          <p:nvPr/>
        </p:nvSpPr>
        <p:spPr>
          <a:xfrm>
            <a:off x="11565930" y="2848967"/>
            <a:ext cx="38516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35 %</a:t>
            </a:r>
            <a:endParaRPr lang="en-US" sz="1080" dirty="0"/>
          </a:p>
        </p:txBody>
      </p:sp>
      <p:sp>
        <p:nvSpPr>
          <p:cNvPr id="116" name="Shape 101"/>
          <p:cNvSpPr/>
          <p:nvPr/>
        </p:nvSpPr>
        <p:spPr>
          <a:xfrm>
            <a:off x="9225360" y="3071217"/>
            <a:ext cx="264953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7" name="Shape 102"/>
          <p:cNvSpPr/>
          <p:nvPr/>
        </p:nvSpPr>
        <p:spPr>
          <a:xfrm>
            <a:off x="9225360" y="3071217"/>
            <a:ext cx="2318347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8" name="Text 103"/>
          <p:cNvSpPr/>
          <p:nvPr/>
        </p:nvSpPr>
        <p:spPr>
          <a:xfrm>
            <a:off x="9225360" y="3276799"/>
            <a:ext cx="12352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evidence</a:t>
            </a:r>
            <a:endParaRPr lang="en-US" sz="1080" dirty="0"/>
          </a:p>
        </p:txBody>
      </p:sp>
      <p:sp>
        <p:nvSpPr>
          <p:cNvPr id="119" name="Text 104"/>
          <p:cNvSpPr/>
          <p:nvPr/>
        </p:nvSpPr>
        <p:spPr>
          <a:xfrm>
            <a:off x="11567716" y="3276799"/>
            <a:ext cx="38338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25 %</a:t>
            </a:r>
            <a:endParaRPr lang="en-US" sz="1080" dirty="0"/>
          </a:p>
        </p:txBody>
      </p:sp>
      <p:sp>
        <p:nvSpPr>
          <p:cNvPr id="120" name="Shape 105"/>
          <p:cNvSpPr/>
          <p:nvPr/>
        </p:nvSpPr>
        <p:spPr>
          <a:xfrm>
            <a:off x="9225360" y="3499049"/>
            <a:ext cx="264953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1" name="Shape 106"/>
          <p:cNvSpPr/>
          <p:nvPr/>
        </p:nvSpPr>
        <p:spPr>
          <a:xfrm>
            <a:off x="9225360" y="3499049"/>
            <a:ext cx="1655961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2" name="Text 107"/>
          <p:cNvSpPr/>
          <p:nvPr/>
        </p:nvSpPr>
        <p:spPr>
          <a:xfrm>
            <a:off x="9225360" y="3704630"/>
            <a:ext cx="110926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depth</a:t>
            </a:r>
            <a:endParaRPr lang="en-US" sz="1080" dirty="0"/>
          </a:p>
        </p:txBody>
      </p:sp>
      <p:sp>
        <p:nvSpPr>
          <p:cNvPr id="123" name="Text 108"/>
          <p:cNvSpPr/>
          <p:nvPr/>
        </p:nvSpPr>
        <p:spPr>
          <a:xfrm>
            <a:off x="11567716" y="3704630"/>
            <a:ext cx="38338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25 %</a:t>
            </a:r>
            <a:endParaRPr lang="en-US" sz="1080" dirty="0"/>
          </a:p>
        </p:txBody>
      </p:sp>
      <p:sp>
        <p:nvSpPr>
          <p:cNvPr id="124" name="Shape 109"/>
          <p:cNvSpPr/>
          <p:nvPr/>
        </p:nvSpPr>
        <p:spPr>
          <a:xfrm>
            <a:off x="9225360" y="3926880"/>
            <a:ext cx="264953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5" name="Shape 110"/>
          <p:cNvSpPr/>
          <p:nvPr/>
        </p:nvSpPr>
        <p:spPr>
          <a:xfrm>
            <a:off x="9225360" y="3926880"/>
            <a:ext cx="1655961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6" name="Text 111"/>
          <p:cNvSpPr/>
          <p:nvPr/>
        </p:nvSpPr>
        <p:spPr>
          <a:xfrm>
            <a:off x="9225360" y="4132461"/>
            <a:ext cx="83105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add</a:t>
            </a:r>
            <a:endParaRPr lang="en-US" sz="1080" dirty="0"/>
          </a:p>
        </p:txBody>
      </p:sp>
      <p:sp>
        <p:nvSpPr>
          <p:cNvPr id="127" name="Text 112"/>
          <p:cNvSpPr/>
          <p:nvPr/>
        </p:nvSpPr>
        <p:spPr>
          <a:xfrm>
            <a:off x="11595300" y="4132461"/>
            <a:ext cx="35579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15 %</a:t>
            </a:r>
            <a:endParaRPr lang="en-US" sz="1080" dirty="0"/>
          </a:p>
        </p:txBody>
      </p:sp>
      <p:sp>
        <p:nvSpPr>
          <p:cNvPr id="128" name="Shape 113"/>
          <p:cNvSpPr/>
          <p:nvPr/>
        </p:nvSpPr>
        <p:spPr>
          <a:xfrm>
            <a:off x="9225360" y="4354711"/>
            <a:ext cx="264953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9" name="Shape 114"/>
          <p:cNvSpPr/>
          <p:nvPr/>
        </p:nvSpPr>
        <p:spPr>
          <a:xfrm>
            <a:off x="9225360" y="4354711"/>
            <a:ext cx="993577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0" name="Shape 115"/>
          <p:cNvSpPr/>
          <p:nvPr/>
        </p:nvSpPr>
        <p:spPr>
          <a:xfrm>
            <a:off x="9007079" y="4824215"/>
            <a:ext cx="3086101" cy="2036167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1" name="Text 116"/>
          <p:cNvSpPr/>
          <p:nvPr/>
        </p:nvSpPr>
        <p:spPr>
          <a:xfrm>
            <a:off x="9225360" y="5042496"/>
            <a:ext cx="146925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Fairness check</a:t>
            </a:r>
            <a:endParaRPr lang="en-US" sz="1440" dirty="0"/>
          </a:p>
        </p:txBody>
      </p:sp>
      <p:sp>
        <p:nvSpPr>
          <p:cNvPr id="132" name="Shape 117"/>
          <p:cNvSpPr/>
          <p:nvPr/>
        </p:nvSpPr>
        <p:spPr>
          <a:xfrm>
            <a:off x="9225360" y="5395516"/>
            <a:ext cx="2649539" cy="1246585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3" name="Text 118"/>
          <p:cNvSpPr/>
          <p:nvPr/>
        </p:nvSpPr>
        <p:spPr>
          <a:xfrm>
            <a:off x="9420821" y="5590977"/>
            <a:ext cx="248447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spread by group</a:t>
            </a:r>
            <a:endParaRPr lang="en-US" sz="1080" dirty="0"/>
          </a:p>
        </p:txBody>
      </p:sp>
      <p:sp>
        <p:nvSpPr>
          <p:cNvPr id="134" name="Text 119"/>
          <p:cNvSpPr/>
          <p:nvPr/>
        </p:nvSpPr>
        <p:spPr>
          <a:xfrm>
            <a:off x="9420821" y="5824538"/>
            <a:ext cx="2484478" cy="426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 pts</a:t>
            </a:r>
            <a:endParaRPr lang="en-US" sz="2700" dirty="0"/>
          </a:p>
        </p:txBody>
      </p:sp>
      <p:sp>
        <p:nvSpPr>
          <p:cNvPr id="135" name="Text 120"/>
          <p:cNvSpPr/>
          <p:nvPr/>
        </p:nvSpPr>
        <p:spPr>
          <a:xfrm>
            <a:off x="9420821" y="6281539"/>
            <a:ext cx="114756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checked weekly</a:t>
            </a:r>
            <a:endParaRPr lang="en-US" sz="1080" dirty="0"/>
          </a:p>
        </p:txBody>
      </p:sp>
      <p:sp>
        <p:nvSpPr>
          <p:cNvPr id="136" name="Text 121"/>
          <p:cNvSpPr/>
          <p:nvPr/>
        </p:nvSpPr>
        <p:spPr>
          <a:xfrm>
            <a:off x="10583467" y="6281539"/>
            <a:ext cx="110668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within tolerance</a:t>
            </a:r>
            <a:endParaRPr lang="en-US" sz="1080" dirty="0"/>
          </a:p>
        </p:txBody>
      </p:sp>
      <p:sp>
        <p:nvSpPr>
          <p:cNvPr id="137" name="Shape 122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38" name="Shape 123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9" name="Shape 124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40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41" name="Text 125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42" name="Text 126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43" name="Shape 127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4" name="Text 128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45" name="Shape 129"/>
          <p:cNvSpPr/>
          <p:nvPr/>
        </p:nvSpPr>
        <p:spPr>
          <a:xfrm>
            <a:off x="14289485" y="2612628"/>
            <a:ext cx="3577035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6" name="Text 130"/>
          <p:cNvSpPr/>
          <p:nvPr/>
        </p:nvSpPr>
        <p:spPr>
          <a:xfrm>
            <a:off x="14449505" y="2726928"/>
            <a:ext cx="336430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leads on the criteria that matter most?</a:t>
            </a:r>
            <a:endParaRPr lang="en-US" sz="1260" dirty="0"/>
          </a:p>
        </p:txBody>
      </p:sp>
      <p:sp>
        <p:nvSpPr>
          <p:cNvPr id="147" name="Shape 131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8" name="Text 132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Rai on domain, A. Sharma on delivery. The weighting is the hiring manager’s, not the model’s.</a:t>
            </a:r>
            <a:endParaRPr lang="en-US" sz="1260" dirty="0"/>
          </a:p>
        </p:txBody>
      </p:sp>
      <p:sp>
        <p:nvSpPr>
          <p:cNvPr id="149" name="Shape 133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0" name="Text 134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WEIGHTED TOTAL</a:t>
            </a:r>
            <a:endParaRPr lang="en-US" sz="990" dirty="0"/>
          </a:p>
        </p:txBody>
      </p:sp>
      <p:sp>
        <p:nvSpPr>
          <p:cNvPr id="151" name="Text 135"/>
          <p:cNvSpPr/>
          <p:nvPr/>
        </p:nvSpPr>
        <p:spPr>
          <a:xfrm>
            <a:off x="12781161" y="4494610"/>
            <a:ext cx="43993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Rai</a:t>
            </a:r>
            <a:endParaRPr lang="en-US" sz="1080" dirty="0"/>
          </a:p>
        </p:txBody>
      </p:sp>
      <p:sp>
        <p:nvSpPr>
          <p:cNvPr id="152" name="Text 136"/>
          <p:cNvSpPr/>
          <p:nvPr/>
        </p:nvSpPr>
        <p:spPr>
          <a:xfrm>
            <a:off x="17548227" y="4494610"/>
            <a:ext cx="22185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</a:t>
            </a:r>
            <a:endParaRPr lang="en-US" sz="1080" dirty="0"/>
          </a:p>
        </p:txBody>
      </p:sp>
      <p:sp>
        <p:nvSpPr>
          <p:cNvPr id="153" name="Shape 137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4" name="Shape 138"/>
          <p:cNvSpPr/>
          <p:nvPr/>
        </p:nvSpPr>
        <p:spPr>
          <a:xfrm>
            <a:off x="12781161" y="4716859"/>
            <a:ext cx="4470402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5" name="Text 139"/>
          <p:cNvSpPr/>
          <p:nvPr/>
        </p:nvSpPr>
        <p:spPr>
          <a:xfrm>
            <a:off x="12781161" y="4899621"/>
            <a:ext cx="74553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Sharma</a:t>
            </a:r>
            <a:endParaRPr lang="en-US" sz="1080" dirty="0"/>
          </a:p>
        </p:txBody>
      </p:sp>
      <p:sp>
        <p:nvSpPr>
          <p:cNvPr id="156" name="Text 140"/>
          <p:cNvSpPr/>
          <p:nvPr/>
        </p:nvSpPr>
        <p:spPr>
          <a:xfrm>
            <a:off x="17514888" y="4899621"/>
            <a:ext cx="25519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1080" dirty="0"/>
          </a:p>
        </p:txBody>
      </p:sp>
      <p:sp>
        <p:nvSpPr>
          <p:cNvPr id="157" name="Shape 141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8" name="Shape 142"/>
          <p:cNvSpPr/>
          <p:nvPr/>
        </p:nvSpPr>
        <p:spPr>
          <a:xfrm>
            <a:off x="12781161" y="5121871"/>
            <a:ext cx="4126508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9" name="Text 143"/>
          <p:cNvSpPr/>
          <p:nvPr/>
        </p:nvSpPr>
        <p:spPr>
          <a:xfrm>
            <a:off x="12781161" y="5304631"/>
            <a:ext cx="82411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Lindqvist</a:t>
            </a:r>
            <a:endParaRPr lang="en-US" sz="1080" dirty="0"/>
          </a:p>
        </p:txBody>
      </p:sp>
      <p:sp>
        <p:nvSpPr>
          <p:cNvPr id="160" name="Text 144"/>
          <p:cNvSpPr/>
          <p:nvPr/>
        </p:nvSpPr>
        <p:spPr>
          <a:xfrm>
            <a:off x="17528582" y="5304631"/>
            <a:ext cx="24149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</a:t>
            </a:r>
            <a:endParaRPr lang="en-US" sz="1080" dirty="0"/>
          </a:p>
        </p:txBody>
      </p:sp>
      <p:sp>
        <p:nvSpPr>
          <p:cNvPr id="161" name="Shape 145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2" name="Shape 146"/>
          <p:cNvSpPr/>
          <p:nvPr/>
        </p:nvSpPr>
        <p:spPr>
          <a:xfrm>
            <a:off x="12781161" y="5526882"/>
            <a:ext cx="3881042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3" name="Text 147"/>
          <p:cNvSpPr/>
          <p:nvPr/>
        </p:nvSpPr>
        <p:spPr>
          <a:xfrm>
            <a:off x="12781161" y="5709643"/>
            <a:ext cx="71199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M. Duarte</a:t>
            </a:r>
            <a:endParaRPr lang="en-US" sz="1080" dirty="0"/>
          </a:p>
        </p:txBody>
      </p:sp>
      <p:sp>
        <p:nvSpPr>
          <p:cNvPr id="164" name="Text 148"/>
          <p:cNvSpPr/>
          <p:nvPr/>
        </p:nvSpPr>
        <p:spPr>
          <a:xfrm>
            <a:off x="17531559" y="5709643"/>
            <a:ext cx="23852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080" dirty="0"/>
          </a:p>
        </p:txBody>
      </p:sp>
      <p:sp>
        <p:nvSpPr>
          <p:cNvPr id="165" name="Shape 149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6" name="Shape 150"/>
          <p:cNvSpPr/>
          <p:nvPr/>
        </p:nvSpPr>
        <p:spPr>
          <a:xfrm>
            <a:off x="12781161" y="5931893"/>
            <a:ext cx="3635375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7" name="Shape 151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8" name="Text 152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 to interview</a:t>
            </a:r>
            <a:endParaRPr lang="en-US" sz="1260" dirty="0"/>
          </a:p>
        </p:txBody>
      </p:sp>
      <p:sp>
        <p:nvSpPr>
          <p:cNvPr id="169" name="Text 153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</a:t>
            </a:r>
            <a:endParaRPr lang="en-US" sz="990" dirty="0"/>
          </a:p>
        </p:txBody>
      </p:sp>
      <p:sp>
        <p:nvSpPr>
          <p:cNvPr id="170" name="Shape 154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1" name="Text 155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3 candidates</a:t>
            </a:r>
            <a:endParaRPr lang="en-US" sz="1170" dirty="0"/>
          </a:p>
        </p:txBody>
      </p:sp>
      <p:sp>
        <p:nvSpPr>
          <p:cNvPr id="172" name="Text 156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</a:t>
            </a:r>
            <a:endParaRPr lang="en-US" sz="990" dirty="0"/>
          </a:p>
        </p:txBody>
      </p:sp>
      <p:sp>
        <p:nvSpPr>
          <p:cNvPr id="173" name="Shape 157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4" name="Text 158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interviewers</a:t>
            </a:r>
            <a:endParaRPr lang="en-US" sz="1170" dirty="0"/>
          </a:p>
        </p:txBody>
      </p:sp>
      <p:sp>
        <p:nvSpPr>
          <p:cNvPr id="175" name="Text 159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</a:t>
            </a:r>
            <a:endParaRPr lang="en-US" sz="990" dirty="0"/>
          </a:p>
        </p:txBody>
      </p:sp>
      <p:sp>
        <p:nvSpPr>
          <p:cNvPr id="176" name="Shape 160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7" name="Text 161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18–21 Aug</a:t>
            </a:r>
            <a:endParaRPr lang="en-US" sz="1170" dirty="0"/>
          </a:p>
        </p:txBody>
      </p:sp>
      <p:sp>
        <p:nvSpPr>
          <p:cNvPr id="178" name="Shape 162"/>
          <p:cNvSpPr/>
          <p:nvPr/>
        </p:nvSpPr>
        <p:spPr>
          <a:xfrm>
            <a:off x="12781161" y="8631437"/>
            <a:ext cx="1456929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9" name="Text 163"/>
          <p:cNvSpPr/>
          <p:nvPr/>
        </p:nvSpPr>
        <p:spPr>
          <a:xfrm>
            <a:off x="12941181" y="8711447"/>
            <a:ext cx="1213089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pipeline</a:t>
            </a:r>
            <a:endParaRPr lang="en-US" sz="1170" dirty="0"/>
          </a:p>
        </p:txBody>
      </p:sp>
      <p:sp>
        <p:nvSpPr>
          <p:cNvPr id="180" name="Shape 164"/>
          <p:cNvSpPr/>
          <p:nvPr/>
        </p:nvSpPr>
        <p:spPr>
          <a:xfrm>
            <a:off x="14329372" y="8631437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1" name="Text 165"/>
          <p:cNvSpPr/>
          <p:nvPr/>
        </p:nvSpPr>
        <p:spPr>
          <a:xfrm>
            <a:off x="14502092" y="8724147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82" name="Shape 166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3" name="Shape 167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84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85" name="Text 168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87" name="Picture 186" descr="Android Apps by Hello Clever on Google Play">
            <a:extLst>
              <a:ext uri="{FF2B5EF4-FFF2-40B4-BE49-F238E27FC236}">
                <a16:creationId xmlns:a16="http://schemas.microsoft.com/office/drawing/2014/main" id="{8A8C6C9A-B6C3-E338-97C0-47869E5B80B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sp>
        <p:nvSpPr>
          <p:cNvPr id="29" name="Shape 20"/>
          <p:cNvSpPr/>
          <p:nvPr/>
        </p:nvSpPr>
        <p:spPr>
          <a:xfrm>
            <a:off x="0" y="2822972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Shape 21"/>
          <p:cNvSpPr/>
          <p:nvPr/>
        </p:nvSpPr>
        <p:spPr>
          <a:xfrm>
            <a:off x="0" y="2822972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1891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 › Hiring › Interview kit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5175886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 questions and scheduling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211102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338102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470910" y="1183283"/>
            <a:ext cx="1497211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643630" y="1264563"/>
            <a:ext cx="1227971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invitations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4627563" cy="8133755"/>
          </a:xfrm>
          <a:prstGeom prst="roundRect">
            <a:avLst>
              <a:gd name="adj" fmla="val 1976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390701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set generated per competency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390701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questions for every candidate on this role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294063" y="2683867"/>
            <a:ext cx="4191000" cy="710803"/>
          </a:xfrm>
          <a:prstGeom prst="roundRect">
            <a:avLst>
              <a:gd name="adj" fmla="val 12864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5" name="Shape 40"/>
          <p:cNvSpPr/>
          <p:nvPr/>
        </p:nvSpPr>
        <p:spPr>
          <a:xfrm>
            <a:off x="3466703" y="2822178"/>
            <a:ext cx="732830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6" name="Text 41"/>
          <p:cNvSpPr/>
          <p:nvPr/>
        </p:nvSpPr>
        <p:spPr>
          <a:xfrm>
            <a:off x="3581003" y="2845038"/>
            <a:ext cx="58043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</a:t>
            </a:r>
            <a:endParaRPr lang="en-US" sz="1080" dirty="0"/>
          </a:p>
        </p:txBody>
      </p:sp>
      <p:sp>
        <p:nvSpPr>
          <p:cNvPr id="57" name="Text 42"/>
          <p:cNvSpPr/>
          <p:nvPr/>
        </p:nvSpPr>
        <p:spPr>
          <a:xfrm>
            <a:off x="4336653" y="2822178"/>
            <a:ext cx="3065042" cy="472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43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 through a settlement break you resolved end to end.</a:t>
            </a:r>
            <a:endParaRPr lang="en-US" sz="1170" dirty="0"/>
          </a:p>
        </p:txBody>
      </p:sp>
      <p:sp>
        <p:nvSpPr>
          <p:cNvPr id="58" name="Shape 43"/>
          <p:cNvSpPr/>
          <p:nvPr/>
        </p:nvSpPr>
        <p:spPr>
          <a:xfrm>
            <a:off x="3294063" y="3531791"/>
            <a:ext cx="4191000" cy="710803"/>
          </a:xfrm>
          <a:prstGeom prst="roundRect">
            <a:avLst>
              <a:gd name="adj" fmla="val 12864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9" name="Shape 44"/>
          <p:cNvSpPr/>
          <p:nvPr/>
        </p:nvSpPr>
        <p:spPr>
          <a:xfrm>
            <a:off x="3466703" y="3670102"/>
            <a:ext cx="732830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0" name="Text 45"/>
          <p:cNvSpPr/>
          <p:nvPr/>
        </p:nvSpPr>
        <p:spPr>
          <a:xfrm>
            <a:off x="3581003" y="3692962"/>
            <a:ext cx="58043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</a:t>
            </a:r>
            <a:endParaRPr lang="en-US" sz="1080" dirty="0"/>
          </a:p>
        </p:txBody>
      </p:sp>
      <p:sp>
        <p:nvSpPr>
          <p:cNvPr id="61" name="Text 46"/>
          <p:cNvSpPr/>
          <p:nvPr/>
        </p:nvSpPr>
        <p:spPr>
          <a:xfrm>
            <a:off x="4336653" y="3670102"/>
            <a:ext cx="3065042" cy="472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43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do ISO 20022 migrations usually fail in your experience?</a:t>
            </a:r>
            <a:endParaRPr lang="en-US" sz="1170" dirty="0"/>
          </a:p>
        </p:txBody>
      </p:sp>
      <p:sp>
        <p:nvSpPr>
          <p:cNvPr id="62" name="Shape 47"/>
          <p:cNvSpPr/>
          <p:nvPr/>
        </p:nvSpPr>
        <p:spPr>
          <a:xfrm>
            <a:off x="3294063" y="4379714"/>
            <a:ext cx="4191000" cy="710803"/>
          </a:xfrm>
          <a:prstGeom prst="roundRect">
            <a:avLst>
              <a:gd name="adj" fmla="val 12864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3" name="Shape 48"/>
          <p:cNvSpPr/>
          <p:nvPr/>
        </p:nvSpPr>
        <p:spPr>
          <a:xfrm>
            <a:off x="3466703" y="4518025"/>
            <a:ext cx="868561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4" name="Text 49"/>
          <p:cNvSpPr/>
          <p:nvPr/>
        </p:nvSpPr>
        <p:spPr>
          <a:xfrm>
            <a:off x="3581003" y="4540885"/>
            <a:ext cx="71616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</a:t>
            </a:r>
            <a:endParaRPr lang="en-US" sz="1080" dirty="0"/>
          </a:p>
        </p:txBody>
      </p:sp>
      <p:sp>
        <p:nvSpPr>
          <p:cNvPr id="65" name="Text 50"/>
          <p:cNvSpPr/>
          <p:nvPr/>
        </p:nvSpPr>
        <p:spPr>
          <a:xfrm>
            <a:off x="4472385" y="4518025"/>
            <a:ext cx="2925239" cy="472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43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would you design idempotent retries for scheme messages?</a:t>
            </a:r>
            <a:endParaRPr lang="en-US" sz="1170" dirty="0"/>
          </a:p>
        </p:txBody>
      </p:sp>
      <p:sp>
        <p:nvSpPr>
          <p:cNvPr id="66" name="Shape 51"/>
          <p:cNvSpPr/>
          <p:nvPr/>
        </p:nvSpPr>
        <p:spPr>
          <a:xfrm>
            <a:off x="3294063" y="5227638"/>
            <a:ext cx="4191000" cy="710803"/>
          </a:xfrm>
          <a:prstGeom prst="roundRect">
            <a:avLst>
              <a:gd name="adj" fmla="val 12864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7" name="Shape 52"/>
          <p:cNvSpPr/>
          <p:nvPr/>
        </p:nvSpPr>
        <p:spPr>
          <a:xfrm>
            <a:off x="3466703" y="5365949"/>
            <a:ext cx="776486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Text 53"/>
          <p:cNvSpPr/>
          <p:nvPr/>
        </p:nvSpPr>
        <p:spPr>
          <a:xfrm>
            <a:off x="3581003" y="5388809"/>
            <a:ext cx="62408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</a:t>
            </a:r>
            <a:endParaRPr lang="en-US" sz="1080" dirty="0"/>
          </a:p>
        </p:txBody>
      </p:sp>
      <p:sp>
        <p:nvSpPr>
          <p:cNvPr id="69" name="Text 54"/>
          <p:cNvSpPr/>
          <p:nvPr/>
        </p:nvSpPr>
        <p:spPr>
          <a:xfrm>
            <a:off x="4380310" y="5365949"/>
            <a:ext cx="3020076" cy="472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43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a release you stopped, and what it cost.</a:t>
            </a:r>
            <a:endParaRPr lang="en-US" sz="1170" dirty="0"/>
          </a:p>
        </p:txBody>
      </p:sp>
      <p:sp>
        <p:nvSpPr>
          <p:cNvPr id="70" name="Shape 55"/>
          <p:cNvSpPr/>
          <p:nvPr/>
        </p:nvSpPr>
        <p:spPr>
          <a:xfrm>
            <a:off x="3294063" y="6075562"/>
            <a:ext cx="4191000" cy="710803"/>
          </a:xfrm>
          <a:prstGeom prst="roundRect">
            <a:avLst>
              <a:gd name="adj" fmla="val 12864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1" name="Shape 56"/>
          <p:cNvSpPr/>
          <p:nvPr/>
        </p:nvSpPr>
        <p:spPr>
          <a:xfrm>
            <a:off x="3466703" y="6213872"/>
            <a:ext cx="786408" cy="41156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2" name="Text 57"/>
          <p:cNvSpPr/>
          <p:nvPr/>
        </p:nvSpPr>
        <p:spPr>
          <a:xfrm>
            <a:off x="3581003" y="6236732"/>
            <a:ext cx="634008" cy="40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add</a:t>
            </a:r>
            <a:endParaRPr lang="en-US" sz="1080" dirty="0"/>
          </a:p>
        </p:txBody>
      </p:sp>
      <p:sp>
        <p:nvSpPr>
          <p:cNvPr id="73" name="Text 58"/>
          <p:cNvSpPr/>
          <p:nvPr/>
        </p:nvSpPr>
        <p:spPr>
          <a:xfrm>
            <a:off x="4390231" y="6213872"/>
            <a:ext cx="3009856" cy="472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43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did you change your mind after a review comment?</a:t>
            </a:r>
            <a:endParaRPr lang="en-US" sz="1170" dirty="0"/>
          </a:p>
        </p:txBody>
      </p:sp>
      <p:sp>
        <p:nvSpPr>
          <p:cNvPr id="74" name="Shape 59"/>
          <p:cNvSpPr/>
          <p:nvPr/>
        </p:nvSpPr>
        <p:spPr>
          <a:xfrm>
            <a:off x="7886105" y="1924645"/>
            <a:ext cx="4207075" cy="8133755"/>
          </a:xfrm>
          <a:prstGeom prst="roundRect">
            <a:avLst>
              <a:gd name="adj" fmla="val 2173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5" name="Text 60"/>
          <p:cNvSpPr/>
          <p:nvPr/>
        </p:nvSpPr>
        <p:spPr>
          <a:xfrm>
            <a:off x="8104386" y="2142927"/>
            <a:ext cx="4147564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 booked automatically</a:t>
            </a:r>
            <a:endParaRPr lang="en-US" sz="1440" dirty="0"/>
          </a:p>
        </p:txBody>
      </p:sp>
      <p:sp>
        <p:nvSpPr>
          <p:cNvPr id="76" name="Text 61"/>
          <p:cNvSpPr/>
          <p:nvPr/>
        </p:nvSpPr>
        <p:spPr>
          <a:xfrm>
            <a:off x="8104386" y="2381647"/>
            <a:ext cx="388362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Free/busy, interviewer load and candidate time zone reconciled</a:t>
            </a:r>
            <a:endParaRPr lang="en-US" sz="1080" dirty="0"/>
          </a:p>
        </p:txBody>
      </p:sp>
      <p:sp>
        <p:nvSpPr>
          <p:cNvPr id="77" name="Shape 62"/>
          <p:cNvSpPr/>
          <p:nvPr/>
        </p:nvSpPr>
        <p:spPr>
          <a:xfrm>
            <a:off x="8104386" y="2848967"/>
            <a:ext cx="3770512" cy="833041"/>
          </a:xfrm>
          <a:prstGeom prst="roundRect">
            <a:avLst>
              <a:gd name="adj" fmla="val 10977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8" name="Text 63"/>
          <p:cNvSpPr/>
          <p:nvPr/>
        </p:nvSpPr>
        <p:spPr>
          <a:xfrm>
            <a:off x="8277027" y="3176588"/>
            <a:ext cx="94059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 18 Aug</a:t>
            </a:r>
            <a:endParaRPr lang="en-US" sz="1170" dirty="0"/>
          </a:p>
        </p:txBody>
      </p:sp>
      <p:sp>
        <p:nvSpPr>
          <p:cNvPr id="79" name="Text 64"/>
          <p:cNvSpPr/>
          <p:nvPr/>
        </p:nvSpPr>
        <p:spPr>
          <a:xfrm>
            <a:off x="9278541" y="3176588"/>
            <a:ext cx="58340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09:00</a:t>
            </a:r>
            <a:endParaRPr lang="en-US" sz="1170" dirty="0"/>
          </a:p>
        </p:txBody>
      </p:sp>
      <p:sp>
        <p:nvSpPr>
          <p:cNvPr id="80" name="Text 65"/>
          <p:cNvSpPr/>
          <p:nvPr/>
        </p:nvSpPr>
        <p:spPr>
          <a:xfrm>
            <a:off x="9922868" y="2998788"/>
            <a:ext cx="78601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Screening — R. Dubois</a:t>
            </a:r>
            <a:endParaRPr lang="en-US" sz="1170" dirty="0"/>
          </a:p>
        </p:txBody>
      </p:sp>
      <p:sp>
        <p:nvSpPr>
          <p:cNvPr id="81" name="Shape 66"/>
          <p:cNvSpPr/>
          <p:nvPr/>
        </p:nvSpPr>
        <p:spPr>
          <a:xfrm>
            <a:off x="10769800" y="3151188"/>
            <a:ext cx="932459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2" name="Text 67"/>
          <p:cNvSpPr/>
          <p:nvPr/>
        </p:nvSpPr>
        <p:spPr>
          <a:xfrm>
            <a:off x="10884100" y="3174048"/>
            <a:ext cx="78005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</a:t>
            </a:r>
            <a:endParaRPr lang="en-US" sz="1080" dirty="0"/>
          </a:p>
        </p:txBody>
      </p:sp>
      <p:sp>
        <p:nvSpPr>
          <p:cNvPr id="83" name="Shape 68"/>
          <p:cNvSpPr/>
          <p:nvPr/>
        </p:nvSpPr>
        <p:spPr>
          <a:xfrm>
            <a:off x="8104386" y="3819128"/>
            <a:ext cx="3770512" cy="833041"/>
          </a:xfrm>
          <a:prstGeom prst="roundRect">
            <a:avLst>
              <a:gd name="adj" fmla="val 10977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4" name="Text 69"/>
          <p:cNvSpPr/>
          <p:nvPr/>
        </p:nvSpPr>
        <p:spPr>
          <a:xfrm>
            <a:off x="8277027" y="4146749"/>
            <a:ext cx="105152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 19 Aug</a:t>
            </a:r>
            <a:endParaRPr lang="en-US" sz="1170" dirty="0"/>
          </a:p>
        </p:txBody>
      </p:sp>
      <p:sp>
        <p:nvSpPr>
          <p:cNvPr id="85" name="Text 70"/>
          <p:cNvSpPr/>
          <p:nvPr/>
        </p:nvSpPr>
        <p:spPr>
          <a:xfrm>
            <a:off x="9389468" y="4146749"/>
            <a:ext cx="64849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13:30</a:t>
            </a:r>
            <a:endParaRPr lang="en-US" sz="1170" dirty="0"/>
          </a:p>
        </p:txBody>
      </p:sp>
      <p:sp>
        <p:nvSpPr>
          <p:cNvPr id="86" name="Text 71"/>
          <p:cNvSpPr/>
          <p:nvPr/>
        </p:nvSpPr>
        <p:spPr>
          <a:xfrm>
            <a:off x="10098882" y="3968948"/>
            <a:ext cx="60999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— L. Meier</a:t>
            </a:r>
            <a:endParaRPr lang="en-US" sz="1170" dirty="0"/>
          </a:p>
        </p:txBody>
      </p:sp>
      <p:sp>
        <p:nvSpPr>
          <p:cNvPr id="87" name="Shape 72"/>
          <p:cNvSpPr/>
          <p:nvPr/>
        </p:nvSpPr>
        <p:spPr>
          <a:xfrm>
            <a:off x="10769800" y="4121349"/>
            <a:ext cx="932459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8" name="Text 73"/>
          <p:cNvSpPr/>
          <p:nvPr/>
        </p:nvSpPr>
        <p:spPr>
          <a:xfrm>
            <a:off x="10884100" y="4144209"/>
            <a:ext cx="78005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</a:t>
            </a:r>
            <a:endParaRPr lang="en-US" sz="1080" dirty="0"/>
          </a:p>
        </p:txBody>
      </p:sp>
      <p:sp>
        <p:nvSpPr>
          <p:cNvPr id="89" name="Shape 74"/>
          <p:cNvSpPr/>
          <p:nvPr/>
        </p:nvSpPr>
        <p:spPr>
          <a:xfrm>
            <a:off x="8104386" y="4789289"/>
            <a:ext cx="3770512" cy="833041"/>
          </a:xfrm>
          <a:prstGeom prst="roundRect">
            <a:avLst>
              <a:gd name="adj" fmla="val 10977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0" name="Text 75"/>
          <p:cNvSpPr/>
          <p:nvPr/>
        </p:nvSpPr>
        <p:spPr>
          <a:xfrm>
            <a:off x="8277027" y="5116910"/>
            <a:ext cx="96361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Thu 20 Aug</a:t>
            </a:r>
            <a:endParaRPr lang="en-US" sz="1170" dirty="0"/>
          </a:p>
        </p:txBody>
      </p:sp>
      <p:sp>
        <p:nvSpPr>
          <p:cNvPr id="91" name="Text 76"/>
          <p:cNvSpPr/>
          <p:nvPr/>
        </p:nvSpPr>
        <p:spPr>
          <a:xfrm>
            <a:off x="9301560" y="5116910"/>
            <a:ext cx="5969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10:00</a:t>
            </a:r>
            <a:endParaRPr lang="en-US" sz="1170" dirty="0"/>
          </a:p>
        </p:txBody>
      </p:sp>
      <p:sp>
        <p:nvSpPr>
          <p:cNvPr id="92" name="Text 77"/>
          <p:cNvSpPr/>
          <p:nvPr/>
        </p:nvSpPr>
        <p:spPr>
          <a:xfrm>
            <a:off x="9959380" y="4939110"/>
            <a:ext cx="74949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— S. Novak</a:t>
            </a:r>
            <a:endParaRPr lang="en-US" sz="1170" dirty="0"/>
          </a:p>
        </p:txBody>
      </p:sp>
      <p:sp>
        <p:nvSpPr>
          <p:cNvPr id="93" name="Shape 78"/>
          <p:cNvSpPr/>
          <p:nvPr/>
        </p:nvSpPr>
        <p:spPr>
          <a:xfrm>
            <a:off x="10769800" y="5091510"/>
            <a:ext cx="932459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4" name="Text 79"/>
          <p:cNvSpPr/>
          <p:nvPr/>
        </p:nvSpPr>
        <p:spPr>
          <a:xfrm>
            <a:off x="10884100" y="5114370"/>
            <a:ext cx="78005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</a:t>
            </a:r>
            <a:endParaRPr lang="en-US" sz="1080" dirty="0"/>
          </a:p>
        </p:txBody>
      </p:sp>
      <p:sp>
        <p:nvSpPr>
          <p:cNvPr id="95" name="Shape 80"/>
          <p:cNvSpPr/>
          <p:nvPr/>
        </p:nvSpPr>
        <p:spPr>
          <a:xfrm>
            <a:off x="8104386" y="5759450"/>
            <a:ext cx="3770512" cy="1010841"/>
          </a:xfrm>
          <a:prstGeom prst="roundRect">
            <a:avLst>
              <a:gd name="adj" fmla="val 9046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6" name="Text 81"/>
          <p:cNvSpPr/>
          <p:nvPr/>
        </p:nvSpPr>
        <p:spPr>
          <a:xfrm>
            <a:off x="8277027" y="6175971"/>
            <a:ext cx="99159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 21 Aug</a:t>
            </a:r>
            <a:endParaRPr lang="en-US" sz="1170" dirty="0"/>
          </a:p>
        </p:txBody>
      </p:sp>
      <p:sp>
        <p:nvSpPr>
          <p:cNvPr id="97" name="Text 82"/>
          <p:cNvSpPr/>
          <p:nvPr/>
        </p:nvSpPr>
        <p:spPr>
          <a:xfrm>
            <a:off x="9329539" y="6175971"/>
            <a:ext cx="61337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15:00</a:t>
            </a:r>
            <a:endParaRPr lang="en-US" sz="1170" dirty="0"/>
          </a:p>
        </p:txBody>
      </p:sp>
      <p:sp>
        <p:nvSpPr>
          <p:cNvPr id="98" name="Text 83"/>
          <p:cNvSpPr/>
          <p:nvPr/>
        </p:nvSpPr>
        <p:spPr>
          <a:xfrm>
            <a:off x="10003830" y="5909271"/>
            <a:ext cx="587375" cy="749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Culture add — A. Keller</a:t>
            </a:r>
            <a:endParaRPr lang="en-US" sz="1170" dirty="0"/>
          </a:p>
        </p:txBody>
      </p:sp>
      <p:sp>
        <p:nvSpPr>
          <p:cNvPr id="99" name="Shape 84"/>
          <p:cNvSpPr/>
          <p:nvPr/>
        </p:nvSpPr>
        <p:spPr>
          <a:xfrm>
            <a:off x="10652125" y="6059091"/>
            <a:ext cx="1050132" cy="41156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0" name="Text 85"/>
          <p:cNvSpPr/>
          <p:nvPr/>
        </p:nvSpPr>
        <p:spPr>
          <a:xfrm>
            <a:off x="10766425" y="6081951"/>
            <a:ext cx="897732" cy="40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Awaiting reply</a:t>
            </a:r>
            <a:endParaRPr lang="en-US" sz="1080" dirty="0"/>
          </a:p>
        </p:txBody>
      </p:sp>
      <p:sp>
        <p:nvSpPr>
          <p:cNvPr id="101" name="Shape 86"/>
          <p:cNvSpPr/>
          <p:nvPr/>
        </p:nvSpPr>
        <p:spPr>
          <a:xfrm>
            <a:off x="8104386" y="8593535"/>
            <a:ext cx="1451571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2" name="Text 87"/>
          <p:cNvSpPr/>
          <p:nvPr/>
        </p:nvSpPr>
        <p:spPr>
          <a:xfrm>
            <a:off x="8299848" y="8788996"/>
            <a:ext cx="113684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Scheduling time</a:t>
            </a:r>
            <a:endParaRPr lang="en-US" sz="1080" dirty="0"/>
          </a:p>
        </p:txBody>
      </p:sp>
      <p:sp>
        <p:nvSpPr>
          <p:cNvPr id="103" name="Text 88"/>
          <p:cNvSpPr/>
          <p:nvPr/>
        </p:nvSpPr>
        <p:spPr>
          <a:xfrm>
            <a:off x="8299848" y="9022557"/>
            <a:ext cx="1136848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min</a:t>
            </a:r>
            <a:endParaRPr lang="en-US" sz="2700" dirty="0"/>
          </a:p>
        </p:txBody>
      </p:sp>
      <p:sp>
        <p:nvSpPr>
          <p:cNvPr id="104" name="Text 89"/>
          <p:cNvSpPr/>
          <p:nvPr/>
        </p:nvSpPr>
        <p:spPr>
          <a:xfrm>
            <a:off x="8299848" y="9479559"/>
            <a:ext cx="80764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3 days</a:t>
            </a:r>
            <a:endParaRPr lang="en-US" sz="1080" dirty="0"/>
          </a:p>
        </p:txBody>
      </p:sp>
      <p:sp>
        <p:nvSpPr>
          <p:cNvPr id="105" name="Shape 90"/>
          <p:cNvSpPr/>
          <p:nvPr/>
        </p:nvSpPr>
        <p:spPr>
          <a:xfrm>
            <a:off x="9693078" y="8593535"/>
            <a:ext cx="1901626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6" name="Text 91"/>
          <p:cNvSpPr/>
          <p:nvPr/>
        </p:nvSpPr>
        <p:spPr>
          <a:xfrm>
            <a:off x="9888538" y="8788996"/>
            <a:ext cx="166177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Reschedules absorbed</a:t>
            </a:r>
            <a:endParaRPr lang="en-US" sz="1080" dirty="0"/>
          </a:p>
        </p:txBody>
      </p:sp>
      <p:sp>
        <p:nvSpPr>
          <p:cNvPr id="107" name="Text 92"/>
          <p:cNvSpPr/>
          <p:nvPr/>
        </p:nvSpPr>
        <p:spPr>
          <a:xfrm>
            <a:off x="9888538" y="9022557"/>
            <a:ext cx="1661775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700" dirty="0"/>
          </a:p>
        </p:txBody>
      </p:sp>
      <p:sp>
        <p:nvSpPr>
          <p:cNvPr id="108" name="Text 93"/>
          <p:cNvSpPr/>
          <p:nvPr/>
        </p:nvSpPr>
        <p:spPr>
          <a:xfrm>
            <a:off x="9888538" y="9479559"/>
            <a:ext cx="112256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human touch</a:t>
            </a:r>
            <a:endParaRPr lang="en-US" sz="1080" dirty="0"/>
          </a:p>
        </p:txBody>
      </p:sp>
      <p:sp>
        <p:nvSpPr>
          <p:cNvPr id="109" name="Shape 94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10" name="Shape 95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1" name="Shape 96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2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13" name="Text 97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14" name="Text 98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15" name="Shape 99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6" name="Text 100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17" name="Shape 101"/>
          <p:cNvSpPr/>
          <p:nvPr/>
        </p:nvSpPr>
        <p:spPr>
          <a:xfrm>
            <a:off x="14333738" y="2612628"/>
            <a:ext cx="3532782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8" name="Text 102"/>
          <p:cNvSpPr/>
          <p:nvPr/>
        </p:nvSpPr>
        <p:spPr>
          <a:xfrm>
            <a:off x="14493758" y="2726928"/>
            <a:ext cx="33187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the panel without the back and forth.</a:t>
            </a:r>
            <a:endParaRPr lang="en-US" sz="1260" dirty="0"/>
          </a:p>
        </p:txBody>
      </p:sp>
      <p:sp>
        <p:nvSpPr>
          <p:cNvPr id="119" name="Shape 103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0" name="Text 104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slots found across three calendars in four minutes. One interviewer has not replied yet.</a:t>
            </a:r>
            <a:endParaRPr lang="en-US" sz="1260" dirty="0"/>
          </a:p>
        </p:txBody>
      </p:sp>
      <p:sp>
        <p:nvSpPr>
          <p:cNvPr id="121" name="Shape 105"/>
          <p:cNvSpPr/>
          <p:nvPr/>
        </p:nvSpPr>
        <p:spPr>
          <a:xfrm>
            <a:off x="12608520" y="4055269"/>
            <a:ext cx="5258000" cy="1246981"/>
          </a:xfrm>
          <a:prstGeom prst="roundRect">
            <a:avLst>
              <a:gd name="adj" fmla="val 10999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2" name="Text 106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990" dirty="0"/>
          </a:p>
        </p:txBody>
      </p:sp>
      <p:sp>
        <p:nvSpPr>
          <p:cNvPr id="123" name="Shape 107"/>
          <p:cNvSpPr/>
          <p:nvPr/>
        </p:nvSpPr>
        <p:spPr>
          <a:xfrm>
            <a:off x="12781161" y="4494610"/>
            <a:ext cx="1561308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4" name="Text 108"/>
          <p:cNvSpPr/>
          <p:nvPr/>
        </p:nvSpPr>
        <p:spPr>
          <a:xfrm>
            <a:off x="12918282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20" dirty="0"/>
          </a:p>
        </p:txBody>
      </p:sp>
      <p:sp>
        <p:nvSpPr>
          <p:cNvPr id="125" name="Text 109"/>
          <p:cNvSpPr/>
          <p:nvPr/>
        </p:nvSpPr>
        <p:spPr>
          <a:xfrm>
            <a:off x="12918282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Slots booked</a:t>
            </a:r>
            <a:endParaRPr lang="en-US" sz="990" dirty="0"/>
          </a:p>
        </p:txBody>
      </p:sp>
      <p:sp>
        <p:nvSpPr>
          <p:cNvPr id="126" name="Shape 110"/>
          <p:cNvSpPr/>
          <p:nvPr/>
        </p:nvSpPr>
        <p:spPr>
          <a:xfrm>
            <a:off x="14456770" y="4494610"/>
            <a:ext cx="156150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7" name="Text 111"/>
          <p:cNvSpPr/>
          <p:nvPr/>
        </p:nvSpPr>
        <p:spPr>
          <a:xfrm>
            <a:off x="14593887" y="4608910"/>
            <a:ext cx="14159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min</a:t>
            </a:r>
            <a:endParaRPr lang="en-US" sz="1620" dirty="0"/>
          </a:p>
        </p:txBody>
      </p:sp>
      <p:sp>
        <p:nvSpPr>
          <p:cNvPr id="128" name="Text 112"/>
          <p:cNvSpPr/>
          <p:nvPr/>
        </p:nvSpPr>
        <p:spPr>
          <a:xfrm>
            <a:off x="14593887" y="4862910"/>
            <a:ext cx="14159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taken</a:t>
            </a:r>
            <a:endParaRPr lang="en-US" sz="990" dirty="0"/>
          </a:p>
        </p:txBody>
      </p:sp>
      <p:sp>
        <p:nvSpPr>
          <p:cNvPr id="129" name="Shape 113"/>
          <p:cNvSpPr/>
          <p:nvPr/>
        </p:nvSpPr>
        <p:spPr>
          <a:xfrm>
            <a:off x="16132575" y="4494610"/>
            <a:ext cx="1561305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0" name="Text 114"/>
          <p:cNvSpPr/>
          <p:nvPr/>
        </p:nvSpPr>
        <p:spPr>
          <a:xfrm>
            <a:off x="16269693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620" dirty="0"/>
          </a:p>
        </p:txBody>
      </p:sp>
      <p:sp>
        <p:nvSpPr>
          <p:cNvPr id="131" name="Text 115"/>
          <p:cNvSpPr/>
          <p:nvPr/>
        </p:nvSpPr>
        <p:spPr>
          <a:xfrm>
            <a:off x="16269693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Conflicts</a:t>
            </a:r>
            <a:endParaRPr lang="en-US" sz="990" dirty="0"/>
          </a:p>
        </p:txBody>
      </p:sp>
      <p:sp>
        <p:nvSpPr>
          <p:cNvPr id="132" name="Shape 116"/>
          <p:cNvSpPr/>
          <p:nvPr/>
        </p:nvSpPr>
        <p:spPr>
          <a:xfrm>
            <a:off x="12608520" y="5439370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3" name="Text 117"/>
          <p:cNvSpPr/>
          <p:nvPr/>
        </p:nvSpPr>
        <p:spPr>
          <a:xfrm>
            <a:off x="12781161" y="5612011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invitations</a:t>
            </a:r>
            <a:endParaRPr lang="en-US" sz="1260" dirty="0"/>
          </a:p>
        </p:txBody>
      </p:sp>
      <p:sp>
        <p:nvSpPr>
          <p:cNvPr id="134" name="Text 118"/>
          <p:cNvSpPr/>
          <p:nvPr/>
        </p:nvSpPr>
        <p:spPr>
          <a:xfrm>
            <a:off x="12781161" y="591681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Candidates</a:t>
            </a:r>
            <a:endParaRPr lang="en-US" sz="990" dirty="0"/>
          </a:p>
        </p:txBody>
      </p:sp>
      <p:sp>
        <p:nvSpPr>
          <p:cNvPr id="135" name="Shape 119"/>
          <p:cNvSpPr/>
          <p:nvPr/>
        </p:nvSpPr>
        <p:spPr>
          <a:xfrm>
            <a:off x="12781161" y="6114852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6" name="Text 120"/>
          <p:cNvSpPr/>
          <p:nvPr/>
        </p:nvSpPr>
        <p:spPr>
          <a:xfrm>
            <a:off x="12908161" y="6207562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70" dirty="0"/>
          </a:p>
        </p:txBody>
      </p:sp>
      <p:sp>
        <p:nvSpPr>
          <p:cNvPr id="137" name="Text 121"/>
          <p:cNvSpPr/>
          <p:nvPr/>
        </p:nvSpPr>
        <p:spPr>
          <a:xfrm>
            <a:off x="12781161" y="659229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Interviewers</a:t>
            </a:r>
            <a:endParaRPr lang="en-US" sz="990" dirty="0"/>
          </a:p>
        </p:txBody>
      </p:sp>
      <p:sp>
        <p:nvSpPr>
          <p:cNvPr id="138" name="Shape 122"/>
          <p:cNvSpPr/>
          <p:nvPr/>
        </p:nvSpPr>
        <p:spPr>
          <a:xfrm>
            <a:off x="12781161" y="679033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9" name="Text 123"/>
          <p:cNvSpPr/>
          <p:nvPr/>
        </p:nvSpPr>
        <p:spPr>
          <a:xfrm>
            <a:off x="12908161" y="688304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Dubois, Meier, Novak, Keller</a:t>
            </a:r>
            <a:endParaRPr lang="en-US" sz="1170" dirty="0"/>
          </a:p>
        </p:txBody>
      </p:sp>
      <p:sp>
        <p:nvSpPr>
          <p:cNvPr id="140" name="Text 124"/>
          <p:cNvSpPr/>
          <p:nvPr/>
        </p:nvSpPr>
        <p:spPr>
          <a:xfrm>
            <a:off x="12781161" y="726777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set</a:t>
            </a:r>
            <a:endParaRPr lang="en-US" sz="990" dirty="0"/>
          </a:p>
        </p:txBody>
      </p:sp>
      <p:sp>
        <p:nvSpPr>
          <p:cNvPr id="141" name="Shape 125"/>
          <p:cNvSpPr/>
          <p:nvPr/>
        </p:nvSpPr>
        <p:spPr>
          <a:xfrm>
            <a:off x="12781161" y="746581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2" name="Text 126"/>
          <p:cNvSpPr/>
          <p:nvPr/>
        </p:nvSpPr>
        <p:spPr>
          <a:xfrm>
            <a:off x="12908161" y="755852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Locked per role</a:t>
            </a:r>
            <a:endParaRPr lang="en-US" sz="1170" dirty="0"/>
          </a:p>
        </p:txBody>
      </p:sp>
      <p:sp>
        <p:nvSpPr>
          <p:cNvPr id="143" name="Shape 127"/>
          <p:cNvSpPr/>
          <p:nvPr/>
        </p:nvSpPr>
        <p:spPr>
          <a:xfrm>
            <a:off x="12781161" y="7966075"/>
            <a:ext cx="1597820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4" name="Text 128"/>
          <p:cNvSpPr/>
          <p:nvPr/>
        </p:nvSpPr>
        <p:spPr>
          <a:xfrm>
            <a:off x="12941181" y="8046085"/>
            <a:ext cx="1353980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calendars</a:t>
            </a:r>
            <a:endParaRPr lang="en-US" sz="1170" dirty="0"/>
          </a:p>
        </p:txBody>
      </p:sp>
      <p:sp>
        <p:nvSpPr>
          <p:cNvPr id="145" name="Shape 129"/>
          <p:cNvSpPr/>
          <p:nvPr/>
        </p:nvSpPr>
        <p:spPr>
          <a:xfrm>
            <a:off x="14470262" y="7966075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6" name="Text 130"/>
          <p:cNvSpPr/>
          <p:nvPr/>
        </p:nvSpPr>
        <p:spPr>
          <a:xfrm>
            <a:off x="14642982" y="8058785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47" name="Shape 131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8" name="Shape 132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49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50" name="Text 133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52" name="Picture 151" descr="Android Apps by Hello Clever on Google Play">
            <a:extLst>
              <a:ext uri="{FF2B5EF4-FFF2-40B4-BE49-F238E27FC236}">
                <a16:creationId xmlns:a16="http://schemas.microsoft.com/office/drawing/2014/main" id="{BAEDCB0A-1C55-A22F-0E0C-731FC67A265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sp>
        <p:nvSpPr>
          <p:cNvPr id="29" name="Shape 20"/>
          <p:cNvSpPr/>
          <p:nvPr/>
        </p:nvSpPr>
        <p:spPr>
          <a:xfrm>
            <a:off x="0" y="2822972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Shape 21"/>
          <p:cNvSpPr/>
          <p:nvPr/>
        </p:nvSpPr>
        <p:spPr>
          <a:xfrm>
            <a:off x="0" y="2822972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1891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 › Hiring › Review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4688682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 review and consensus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209118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336118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468926" y="1183283"/>
            <a:ext cx="1499195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641646" y="1264563"/>
            <a:ext cx="1229955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decision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5748536" cy="8133755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510712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Before, during and after — one record per candidate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510712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Pre-screen score, panel ratings and written comments in the same view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294063" y="2940248"/>
            <a:ext cx="5311974" cy="12700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3408363" y="2683867"/>
            <a:ext cx="81756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</a:t>
            </a:r>
            <a:endParaRPr lang="en-US" sz="1080" dirty="0"/>
          </a:p>
        </p:txBody>
      </p:sp>
      <p:sp>
        <p:nvSpPr>
          <p:cNvPr id="56" name="Text 41"/>
          <p:cNvSpPr/>
          <p:nvPr/>
        </p:nvSpPr>
        <p:spPr>
          <a:xfrm>
            <a:off x="4233466" y="2683867"/>
            <a:ext cx="48795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</a:t>
            </a:r>
            <a:endParaRPr lang="en-US" sz="1080" dirty="0"/>
          </a:p>
        </p:txBody>
      </p:sp>
      <p:sp>
        <p:nvSpPr>
          <p:cNvPr id="57" name="Text 42"/>
          <p:cNvSpPr/>
          <p:nvPr/>
        </p:nvSpPr>
        <p:spPr>
          <a:xfrm>
            <a:off x="4805164" y="2683867"/>
            <a:ext cx="48815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</a:t>
            </a:r>
            <a:endParaRPr lang="en-US" sz="1080" dirty="0"/>
          </a:p>
        </p:txBody>
      </p:sp>
      <p:sp>
        <p:nvSpPr>
          <p:cNvPr id="58" name="Text 43"/>
          <p:cNvSpPr/>
          <p:nvPr/>
        </p:nvSpPr>
        <p:spPr>
          <a:xfrm>
            <a:off x="5377061" y="2683867"/>
            <a:ext cx="4881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</a:t>
            </a:r>
            <a:endParaRPr lang="en-US" sz="1080" dirty="0"/>
          </a:p>
        </p:txBody>
      </p:sp>
      <p:sp>
        <p:nvSpPr>
          <p:cNvPr id="59" name="Text 44"/>
          <p:cNvSpPr/>
          <p:nvPr/>
        </p:nvSpPr>
        <p:spPr>
          <a:xfrm>
            <a:off x="6025158" y="2683867"/>
            <a:ext cx="181217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 comment</a:t>
            </a:r>
            <a:endParaRPr lang="en-US" sz="1080" dirty="0"/>
          </a:p>
        </p:txBody>
      </p:sp>
      <p:sp>
        <p:nvSpPr>
          <p:cNvPr id="60" name="Text 45"/>
          <p:cNvSpPr/>
          <p:nvPr/>
        </p:nvSpPr>
        <p:spPr>
          <a:xfrm>
            <a:off x="7756327" y="2683867"/>
            <a:ext cx="73521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Consensus</a:t>
            </a:r>
            <a:endParaRPr lang="en-US" sz="1080" dirty="0"/>
          </a:p>
        </p:txBody>
      </p:sp>
      <p:sp>
        <p:nvSpPr>
          <p:cNvPr id="61" name="Shape 46"/>
          <p:cNvSpPr/>
          <p:nvPr/>
        </p:nvSpPr>
        <p:spPr>
          <a:xfrm>
            <a:off x="3294063" y="2952949"/>
            <a:ext cx="5311974" cy="83542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Shape 47"/>
          <p:cNvSpPr/>
          <p:nvPr/>
        </p:nvSpPr>
        <p:spPr>
          <a:xfrm>
            <a:off x="3294063" y="3775670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3" name="Text 48"/>
          <p:cNvSpPr/>
          <p:nvPr/>
        </p:nvSpPr>
        <p:spPr>
          <a:xfrm>
            <a:off x="3408363" y="3269060"/>
            <a:ext cx="8175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Rai</a:t>
            </a:r>
            <a:endParaRPr lang="en-US" sz="1260" dirty="0"/>
          </a:p>
        </p:txBody>
      </p:sp>
      <p:sp>
        <p:nvSpPr>
          <p:cNvPr id="64" name="Text 49"/>
          <p:cNvSpPr/>
          <p:nvPr/>
        </p:nvSpPr>
        <p:spPr>
          <a:xfrm>
            <a:off x="4233466" y="3269060"/>
            <a:ext cx="4879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1260" dirty="0"/>
          </a:p>
        </p:txBody>
      </p:sp>
      <p:sp>
        <p:nvSpPr>
          <p:cNvPr id="65" name="Text 50"/>
          <p:cNvSpPr/>
          <p:nvPr/>
        </p:nvSpPr>
        <p:spPr>
          <a:xfrm>
            <a:off x="4805164" y="3269060"/>
            <a:ext cx="4881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4.6</a:t>
            </a:r>
            <a:endParaRPr lang="en-US" sz="1260" dirty="0"/>
          </a:p>
        </p:txBody>
      </p:sp>
      <p:sp>
        <p:nvSpPr>
          <p:cNvPr id="66" name="Text 51"/>
          <p:cNvSpPr/>
          <p:nvPr/>
        </p:nvSpPr>
        <p:spPr>
          <a:xfrm>
            <a:off x="5377061" y="3269060"/>
            <a:ext cx="4881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4.4</a:t>
            </a:r>
            <a:endParaRPr lang="en-US" sz="1260" dirty="0"/>
          </a:p>
        </p:txBody>
      </p:sp>
      <p:sp>
        <p:nvSpPr>
          <p:cNvPr id="67" name="Text 52"/>
          <p:cNvSpPr/>
          <p:nvPr/>
        </p:nvSpPr>
        <p:spPr>
          <a:xfrm>
            <a:off x="6025158" y="3078560"/>
            <a:ext cx="172362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scheme depth; pushed back well on our design.</a:t>
            </a:r>
            <a:endParaRPr lang="en-US" sz="1260" dirty="0"/>
          </a:p>
        </p:txBody>
      </p:sp>
      <p:sp>
        <p:nvSpPr>
          <p:cNvPr id="68" name="Shape 53"/>
          <p:cNvSpPr/>
          <p:nvPr/>
        </p:nvSpPr>
        <p:spPr>
          <a:xfrm>
            <a:off x="7832527" y="3251200"/>
            <a:ext cx="815579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9" name="Text 54"/>
          <p:cNvSpPr/>
          <p:nvPr/>
        </p:nvSpPr>
        <p:spPr>
          <a:xfrm>
            <a:off x="7870627" y="3274060"/>
            <a:ext cx="66317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</a:t>
            </a:r>
            <a:endParaRPr lang="en-US" sz="1080" dirty="0"/>
          </a:p>
        </p:txBody>
      </p:sp>
      <p:sp>
        <p:nvSpPr>
          <p:cNvPr id="70" name="Shape 55"/>
          <p:cNvSpPr/>
          <p:nvPr/>
        </p:nvSpPr>
        <p:spPr>
          <a:xfrm>
            <a:off x="3294063" y="4611093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1" name="Text 56"/>
          <p:cNvSpPr/>
          <p:nvPr/>
        </p:nvSpPr>
        <p:spPr>
          <a:xfrm>
            <a:off x="3408363" y="4009231"/>
            <a:ext cx="8175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Sharma</a:t>
            </a:r>
            <a:endParaRPr lang="en-US" sz="1260" dirty="0"/>
          </a:p>
        </p:txBody>
      </p:sp>
      <p:sp>
        <p:nvSpPr>
          <p:cNvPr id="72" name="Text 57"/>
          <p:cNvSpPr/>
          <p:nvPr/>
        </p:nvSpPr>
        <p:spPr>
          <a:xfrm>
            <a:off x="4233466" y="4104481"/>
            <a:ext cx="4879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1260" dirty="0"/>
          </a:p>
        </p:txBody>
      </p:sp>
      <p:sp>
        <p:nvSpPr>
          <p:cNvPr id="73" name="Text 58"/>
          <p:cNvSpPr/>
          <p:nvPr/>
        </p:nvSpPr>
        <p:spPr>
          <a:xfrm>
            <a:off x="4805164" y="4104481"/>
            <a:ext cx="4881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</a:t>
            </a:r>
            <a:endParaRPr lang="en-US" sz="1260" dirty="0"/>
          </a:p>
        </p:txBody>
      </p:sp>
      <p:sp>
        <p:nvSpPr>
          <p:cNvPr id="74" name="Text 59"/>
          <p:cNvSpPr/>
          <p:nvPr/>
        </p:nvSpPr>
        <p:spPr>
          <a:xfrm>
            <a:off x="5377061" y="4104481"/>
            <a:ext cx="4881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4.5</a:t>
            </a:r>
            <a:endParaRPr lang="en-US" sz="1260" dirty="0"/>
          </a:p>
        </p:txBody>
      </p:sp>
      <p:sp>
        <p:nvSpPr>
          <p:cNvPr id="75" name="Text 60"/>
          <p:cNvSpPr/>
          <p:nvPr/>
        </p:nvSpPr>
        <p:spPr>
          <a:xfrm>
            <a:off x="6025158" y="3913981"/>
            <a:ext cx="172362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Gaps in scheme rules, closing fast on the learning path.</a:t>
            </a:r>
            <a:endParaRPr lang="en-US" sz="1260" dirty="0"/>
          </a:p>
        </p:txBody>
      </p:sp>
      <p:sp>
        <p:nvSpPr>
          <p:cNvPr id="76" name="Shape 61"/>
          <p:cNvSpPr/>
          <p:nvPr/>
        </p:nvSpPr>
        <p:spPr>
          <a:xfrm>
            <a:off x="7832527" y="4086622"/>
            <a:ext cx="815579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7" name="Text 62"/>
          <p:cNvSpPr/>
          <p:nvPr/>
        </p:nvSpPr>
        <p:spPr>
          <a:xfrm>
            <a:off x="7870627" y="4109482"/>
            <a:ext cx="66317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</a:t>
            </a:r>
            <a:endParaRPr lang="en-US" sz="1080" dirty="0"/>
          </a:p>
        </p:txBody>
      </p:sp>
      <p:sp>
        <p:nvSpPr>
          <p:cNvPr id="78" name="Shape 63"/>
          <p:cNvSpPr/>
          <p:nvPr/>
        </p:nvSpPr>
        <p:spPr>
          <a:xfrm>
            <a:off x="3294063" y="5446514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9" name="Text 64"/>
          <p:cNvSpPr/>
          <p:nvPr/>
        </p:nvSpPr>
        <p:spPr>
          <a:xfrm>
            <a:off x="3408363" y="4844653"/>
            <a:ext cx="8175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Lindqvist</a:t>
            </a:r>
            <a:endParaRPr lang="en-US" sz="1260" dirty="0"/>
          </a:p>
        </p:txBody>
      </p:sp>
      <p:sp>
        <p:nvSpPr>
          <p:cNvPr id="80" name="Text 65"/>
          <p:cNvSpPr/>
          <p:nvPr/>
        </p:nvSpPr>
        <p:spPr>
          <a:xfrm>
            <a:off x="4233466" y="4939904"/>
            <a:ext cx="4879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</a:t>
            </a:r>
            <a:endParaRPr lang="en-US" sz="1260" dirty="0"/>
          </a:p>
        </p:txBody>
      </p:sp>
      <p:sp>
        <p:nvSpPr>
          <p:cNvPr id="81" name="Text 66"/>
          <p:cNvSpPr/>
          <p:nvPr/>
        </p:nvSpPr>
        <p:spPr>
          <a:xfrm>
            <a:off x="4805164" y="4939904"/>
            <a:ext cx="4881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</a:t>
            </a:r>
            <a:endParaRPr lang="en-US" sz="1260" dirty="0"/>
          </a:p>
        </p:txBody>
      </p:sp>
      <p:sp>
        <p:nvSpPr>
          <p:cNvPr id="82" name="Text 67"/>
          <p:cNvSpPr/>
          <p:nvPr/>
        </p:nvSpPr>
        <p:spPr>
          <a:xfrm>
            <a:off x="5377061" y="4939904"/>
            <a:ext cx="4881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</a:t>
            </a:r>
            <a:endParaRPr lang="en-US" sz="1260" dirty="0"/>
          </a:p>
        </p:txBody>
      </p:sp>
      <p:sp>
        <p:nvSpPr>
          <p:cNvPr id="83" name="Text 68"/>
          <p:cNvSpPr/>
          <p:nvPr/>
        </p:nvSpPr>
        <p:spPr>
          <a:xfrm>
            <a:off x="6025158" y="4749403"/>
            <a:ext cx="172362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Solid, but settlement experience is second hand.</a:t>
            </a:r>
            <a:endParaRPr lang="en-US" sz="1260" dirty="0"/>
          </a:p>
        </p:txBody>
      </p:sp>
      <p:sp>
        <p:nvSpPr>
          <p:cNvPr id="84" name="Shape 69"/>
          <p:cNvSpPr/>
          <p:nvPr/>
        </p:nvSpPr>
        <p:spPr>
          <a:xfrm>
            <a:off x="7955757" y="4922044"/>
            <a:ext cx="535781" cy="22860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5" name="Text 70"/>
          <p:cNvSpPr/>
          <p:nvPr/>
        </p:nvSpPr>
        <p:spPr>
          <a:xfrm>
            <a:off x="7993857" y="4944904"/>
            <a:ext cx="38338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</a:t>
            </a:r>
            <a:endParaRPr lang="en-US" sz="1080" dirty="0"/>
          </a:p>
        </p:txBody>
      </p:sp>
      <p:sp>
        <p:nvSpPr>
          <p:cNvPr id="86" name="Shape 71"/>
          <p:cNvSpPr/>
          <p:nvPr/>
        </p:nvSpPr>
        <p:spPr>
          <a:xfrm>
            <a:off x="3294063" y="6091436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7" name="Text 72"/>
          <p:cNvSpPr/>
          <p:nvPr/>
        </p:nvSpPr>
        <p:spPr>
          <a:xfrm>
            <a:off x="3408363" y="5584825"/>
            <a:ext cx="8175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M. Duarte</a:t>
            </a:r>
            <a:endParaRPr lang="en-US" sz="1260" dirty="0"/>
          </a:p>
        </p:txBody>
      </p:sp>
      <p:sp>
        <p:nvSpPr>
          <p:cNvPr id="88" name="Text 73"/>
          <p:cNvSpPr/>
          <p:nvPr/>
        </p:nvSpPr>
        <p:spPr>
          <a:xfrm>
            <a:off x="4233466" y="5680075"/>
            <a:ext cx="4879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260" dirty="0"/>
          </a:p>
        </p:txBody>
      </p:sp>
      <p:sp>
        <p:nvSpPr>
          <p:cNvPr id="89" name="Text 74"/>
          <p:cNvSpPr/>
          <p:nvPr/>
        </p:nvSpPr>
        <p:spPr>
          <a:xfrm>
            <a:off x="4805164" y="5680075"/>
            <a:ext cx="4881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3.4</a:t>
            </a:r>
            <a:endParaRPr lang="en-US" sz="1260" dirty="0"/>
          </a:p>
        </p:txBody>
      </p:sp>
      <p:sp>
        <p:nvSpPr>
          <p:cNvPr id="90" name="Text 75"/>
          <p:cNvSpPr/>
          <p:nvPr/>
        </p:nvSpPr>
        <p:spPr>
          <a:xfrm>
            <a:off x="5377061" y="5680075"/>
            <a:ext cx="4881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3.6</a:t>
            </a:r>
            <a:endParaRPr lang="en-US" sz="1260" dirty="0"/>
          </a:p>
        </p:txBody>
      </p:sp>
      <p:sp>
        <p:nvSpPr>
          <p:cNvPr id="91" name="Text 76"/>
          <p:cNvSpPr/>
          <p:nvPr/>
        </p:nvSpPr>
        <p:spPr>
          <a:xfrm>
            <a:off x="6025158" y="5584825"/>
            <a:ext cx="172362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delivery record, thin on payments.</a:t>
            </a:r>
            <a:endParaRPr lang="en-US" sz="1260" dirty="0"/>
          </a:p>
        </p:txBody>
      </p:sp>
      <p:sp>
        <p:nvSpPr>
          <p:cNvPr id="92" name="Shape 77"/>
          <p:cNvSpPr/>
          <p:nvPr/>
        </p:nvSpPr>
        <p:spPr>
          <a:xfrm>
            <a:off x="7832527" y="5662216"/>
            <a:ext cx="725091" cy="228600"/>
          </a:xfrm>
          <a:prstGeom prst="roundRect">
            <a:avLst>
              <a:gd name="adj" fmla="val 50000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3" name="Text 78"/>
          <p:cNvSpPr/>
          <p:nvPr/>
        </p:nvSpPr>
        <p:spPr>
          <a:xfrm>
            <a:off x="7870627" y="5685076"/>
            <a:ext cx="57269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Decline</a:t>
            </a:r>
            <a:endParaRPr lang="en-US" sz="1080" dirty="0"/>
          </a:p>
        </p:txBody>
      </p:sp>
      <p:sp>
        <p:nvSpPr>
          <p:cNvPr id="94" name="Shape 79"/>
          <p:cNvSpPr/>
          <p:nvPr/>
        </p:nvSpPr>
        <p:spPr>
          <a:xfrm>
            <a:off x="3294063" y="6736358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5" name="Text 80"/>
          <p:cNvSpPr/>
          <p:nvPr/>
        </p:nvSpPr>
        <p:spPr>
          <a:xfrm>
            <a:off x="3408363" y="6324997"/>
            <a:ext cx="8175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K. Wolf</a:t>
            </a:r>
            <a:endParaRPr lang="en-US" sz="1260" dirty="0"/>
          </a:p>
        </p:txBody>
      </p:sp>
      <p:sp>
        <p:nvSpPr>
          <p:cNvPr id="96" name="Text 81"/>
          <p:cNvSpPr/>
          <p:nvPr/>
        </p:nvSpPr>
        <p:spPr>
          <a:xfrm>
            <a:off x="4233466" y="6324997"/>
            <a:ext cx="4879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</a:t>
            </a:r>
            <a:endParaRPr lang="en-US" sz="1260" dirty="0"/>
          </a:p>
        </p:txBody>
      </p:sp>
      <p:sp>
        <p:nvSpPr>
          <p:cNvPr id="97" name="Text 82"/>
          <p:cNvSpPr/>
          <p:nvPr/>
        </p:nvSpPr>
        <p:spPr>
          <a:xfrm>
            <a:off x="4805164" y="6324997"/>
            <a:ext cx="4881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2.9</a:t>
            </a:r>
            <a:endParaRPr lang="en-US" sz="1260" dirty="0"/>
          </a:p>
        </p:txBody>
      </p:sp>
      <p:sp>
        <p:nvSpPr>
          <p:cNvPr id="98" name="Text 83"/>
          <p:cNvSpPr/>
          <p:nvPr/>
        </p:nvSpPr>
        <p:spPr>
          <a:xfrm>
            <a:off x="5377061" y="6324997"/>
            <a:ext cx="4881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3.1</a:t>
            </a:r>
            <a:endParaRPr lang="en-US" sz="1260" dirty="0"/>
          </a:p>
        </p:txBody>
      </p:sp>
      <p:sp>
        <p:nvSpPr>
          <p:cNvPr id="99" name="Text 84"/>
          <p:cNvSpPr/>
          <p:nvPr/>
        </p:nvSpPr>
        <p:spPr>
          <a:xfrm>
            <a:off x="6025158" y="6229747"/>
            <a:ext cx="172362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Below the bar on the domain questions.</a:t>
            </a:r>
            <a:endParaRPr lang="en-US" sz="1260" dirty="0"/>
          </a:p>
        </p:txBody>
      </p:sp>
      <p:sp>
        <p:nvSpPr>
          <p:cNvPr id="100" name="Shape 85"/>
          <p:cNvSpPr/>
          <p:nvPr/>
        </p:nvSpPr>
        <p:spPr>
          <a:xfrm>
            <a:off x="7832527" y="6307138"/>
            <a:ext cx="725091" cy="228600"/>
          </a:xfrm>
          <a:prstGeom prst="roundRect">
            <a:avLst>
              <a:gd name="adj" fmla="val 50000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1" name="Text 86"/>
          <p:cNvSpPr/>
          <p:nvPr/>
        </p:nvSpPr>
        <p:spPr>
          <a:xfrm>
            <a:off x="7870627" y="6329998"/>
            <a:ext cx="57269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Decline</a:t>
            </a:r>
            <a:endParaRPr lang="en-US" sz="1080" dirty="0"/>
          </a:p>
        </p:txBody>
      </p:sp>
      <p:sp>
        <p:nvSpPr>
          <p:cNvPr id="102" name="Shape 87"/>
          <p:cNvSpPr/>
          <p:nvPr/>
        </p:nvSpPr>
        <p:spPr>
          <a:xfrm>
            <a:off x="9007079" y="1924645"/>
            <a:ext cx="3086101" cy="2902744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3" name="Text 88"/>
          <p:cNvSpPr/>
          <p:nvPr/>
        </p:nvSpPr>
        <p:spPr>
          <a:xfrm>
            <a:off x="9225360" y="2142927"/>
            <a:ext cx="1520329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 discipline</a:t>
            </a:r>
            <a:endParaRPr lang="en-US" sz="1440" dirty="0"/>
          </a:p>
        </p:txBody>
      </p:sp>
      <p:pic>
        <p:nvPicPr>
          <p:cNvPr id="104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25360" y="2553097"/>
            <a:ext cx="159941" cy="159941"/>
          </a:xfrm>
          <a:prstGeom prst="rect">
            <a:avLst/>
          </a:prstGeom>
        </p:spPr>
      </p:pic>
      <p:sp>
        <p:nvSpPr>
          <p:cNvPr id="105" name="Text 89"/>
          <p:cNvSpPr/>
          <p:nvPr/>
        </p:nvSpPr>
        <p:spPr>
          <a:xfrm>
            <a:off x="9499601" y="2553097"/>
            <a:ext cx="1834357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Ratings submitted before discussion</a:t>
            </a:r>
            <a:endParaRPr lang="en-US" sz="1170" dirty="0"/>
          </a:p>
        </p:txBody>
      </p:sp>
      <p:pic>
        <p:nvPicPr>
          <p:cNvPr id="106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25360" y="3160117"/>
            <a:ext cx="159941" cy="159941"/>
          </a:xfrm>
          <a:prstGeom prst="rect">
            <a:avLst/>
          </a:prstGeom>
        </p:spPr>
      </p:pic>
      <p:sp>
        <p:nvSpPr>
          <p:cNvPr id="107" name="Text 90"/>
          <p:cNvSpPr/>
          <p:nvPr/>
        </p:nvSpPr>
        <p:spPr>
          <a:xfrm>
            <a:off x="9499601" y="3160117"/>
            <a:ext cx="206573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 tied to a criterion</a:t>
            </a:r>
            <a:endParaRPr lang="en-US" sz="1170" dirty="0"/>
          </a:p>
        </p:txBody>
      </p:sp>
      <p:pic>
        <p:nvPicPr>
          <p:cNvPr id="108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25360" y="3589338"/>
            <a:ext cx="159941" cy="159941"/>
          </a:xfrm>
          <a:prstGeom prst="rect">
            <a:avLst/>
          </a:prstGeom>
        </p:spPr>
      </p:pic>
      <p:sp>
        <p:nvSpPr>
          <p:cNvPr id="109" name="Text 91"/>
          <p:cNvSpPr/>
          <p:nvPr/>
        </p:nvSpPr>
        <p:spPr>
          <a:xfrm>
            <a:off x="9499601" y="3589338"/>
            <a:ext cx="2285802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Dissent recorded, not averaged away</a:t>
            </a:r>
            <a:endParaRPr lang="en-US" sz="1170" dirty="0"/>
          </a:p>
        </p:txBody>
      </p:sp>
      <p:pic>
        <p:nvPicPr>
          <p:cNvPr id="110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25360" y="4196358"/>
            <a:ext cx="159941" cy="159941"/>
          </a:xfrm>
          <a:prstGeom prst="rect">
            <a:avLst/>
          </a:prstGeom>
        </p:spPr>
      </p:pic>
      <p:sp>
        <p:nvSpPr>
          <p:cNvPr id="111" name="Text 92"/>
          <p:cNvSpPr/>
          <p:nvPr/>
        </p:nvSpPr>
        <p:spPr>
          <a:xfrm>
            <a:off x="9499601" y="4196358"/>
            <a:ext cx="202267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decline gets a written reason</a:t>
            </a:r>
            <a:endParaRPr lang="en-US" sz="1170" dirty="0"/>
          </a:p>
        </p:txBody>
      </p:sp>
      <p:sp>
        <p:nvSpPr>
          <p:cNvPr id="112" name="Shape 93"/>
          <p:cNvSpPr/>
          <p:nvPr/>
        </p:nvSpPr>
        <p:spPr>
          <a:xfrm>
            <a:off x="9007079" y="5010150"/>
            <a:ext cx="3086101" cy="2036167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3" name="Text 94"/>
          <p:cNvSpPr/>
          <p:nvPr/>
        </p:nvSpPr>
        <p:spPr>
          <a:xfrm>
            <a:off x="9225360" y="5228431"/>
            <a:ext cx="1409006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in review</a:t>
            </a:r>
            <a:endParaRPr lang="en-US" sz="1440" dirty="0"/>
          </a:p>
        </p:txBody>
      </p:sp>
      <p:sp>
        <p:nvSpPr>
          <p:cNvPr id="114" name="Shape 95"/>
          <p:cNvSpPr/>
          <p:nvPr/>
        </p:nvSpPr>
        <p:spPr>
          <a:xfrm>
            <a:off x="9225360" y="5581452"/>
            <a:ext cx="2649539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5" name="Text 96"/>
          <p:cNvSpPr/>
          <p:nvPr/>
        </p:nvSpPr>
        <p:spPr>
          <a:xfrm>
            <a:off x="9420821" y="5776913"/>
            <a:ext cx="248447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cycle</a:t>
            </a:r>
            <a:endParaRPr lang="en-US" sz="1080" dirty="0"/>
          </a:p>
        </p:txBody>
      </p:sp>
      <p:sp>
        <p:nvSpPr>
          <p:cNvPr id="116" name="Text 97"/>
          <p:cNvSpPr/>
          <p:nvPr/>
        </p:nvSpPr>
        <p:spPr>
          <a:xfrm>
            <a:off x="9420821" y="6010474"/>
            <a:ext cx="2484478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days</a:t>
            </a:r>
            <a:endParaRPr lang="en-US" sz="2700" dirty="0"/>
          </a:p>
        </p:txBody>
      </p:sp>
      <p:sp>
        <p:nvSpPr>
          <p:cNvPr id="117" name="Text 98"/>
          <p:cNvSpPr/>
          <p:nvPr/>
        </p:nvSpPr>
        <p:spPr>
          <a:xfrm>
            <a:off x="9420821" y="6467476"/>
            <a:ext cx="60860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−9 days</a:t>
            </a:r>
            <a:endParaRPr lang="en-US" sz="1080" dirty="0"/>
          </a:p>
        </p:txBody>
      </p:sp>
      <p:sp>
        <p:nvSpPr>
          <p:cNvPr id="118" name="Text 99"/>
          <p:cNvSpPr/>
          <p:nvPr/>
        </p:nvSpPr>
        <p:spPr>
          <a:xfrm>
            <a:off x="10044510" y="6467476"/>
            <a:ext cx="73104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 of 4</a:t>
            </a:r>
            <a:endParaRPr lang="en-US" sz="1080" dirty="0"/>
          </a:p>
        </p:txBody>
      </p:sp>
      <p:sp>
        <p:nvSpPr>
          <p:cNvPr id="119" name="Shape 100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0" name="Shape 101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1" name="Shape 102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22" name="Image 1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23" name="Text 103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24" name="Text 104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25" name="Shape 105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6" name="Text 106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27" name="Shape 107"/>
          <p:cNvSpPr/>
          <p:nvPr/>
        </p:nvSpPr>
        <p:spPr>
          <a:xfrm>
            <a:off x="15008028" y="2612628"/>
            <a:ext cx="2858492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8" name="Text 108"/>
          <p:cNvSpPr/>
          <p:nvPr/>
        </p:nvSpPr>
        <p:spPr>
          <a:xfrm>
            <a:off x="15168048" y="2726928"/>
            <a:ext cx="262420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the panel agree, and on what?</a:t>
            </a:r>
            <a:endParaRPr lang="en-US" sz="1260" dirty="0"/>
          </a:p>
        </p:txBody>
      </p:sp>
      <p:sp>
        <p:nvSpPr>
          <p:cNvPr id="129" name="Shape 109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0" name="Text 110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S. Rai, yes — domain depth in every comment. The dissent on A. Sharma is recorded, not averaged away.</a:t>
            </a:r>
            <a:endParaRPr lang="en-US" sz="1260" dirty="0"/>
          </a:p>
        </p:txBody>
      </p:sp>
      <p:sp>
        <p:nvSpPr>
          <p:cNvPr id="131" name="Shape 111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2" name="Text 112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COMBINED SCORE</a:t>
            </a:r>
            <a:endParaRPr lang="en-US" sz="990" dirty="0"/>
          </a:p>
        </p:txBody>
      </p:sp>
      <p:sp>
        <p:nvSpPr>
          <p:cNvPr id="133" name="Text 113"/>
          <p:cNvSpPr/>
          <p:nvPr/>
        </p:nvSpPr>
        <p:spPr>
          <a:xfrm>
            <a:off x="12781161" y="4494610"/>
            <a:ext cx="43993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Rai</a:t>
            </a:r>
            <a:endParaRPr lang="en-US" sz="1080" dirty="0"/>
          </a:p>
        </p:txBody>
      </p:sp>
      <p:sp>
        <p:nvSpPr>
          <p:cNvPr id="134" name="Text 114"/>
          <p:cNvSpPr/>
          <p:nvPr/>
        </p:nvSpPr>
        <p:spPr>
          <a:xfrm>
            <a:off x="17520841" y="4494610"/>
            <a:ext cx="24923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1080" dirty="0"/>
          </a:p>
        </p:txBody>
      </p:sp>
      <p:sp>
        <p:nvSpPr>
          <p:cNvPr id="135" name="Shape 115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6" name="Shape 116"/>
          <p:cNvSpPr/>
          <p:nvPr/>
        </p:nvSpPr>
        <p:spPr>
          <a:xfrm>
            <a:off x="12781161" y="4716859"/>
            <a:ext cx="4519613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7" name="Text 117"/>
          <p:cNvSpPr/>
          <p:nvPr/>
        </p:nvSpPr>
        <p:spPr>
          <a:xfrm>
            <a:off x="12781161" y="4899621"/>
            <a:ext cx="74553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Sharma</a:t>
            </a:r>
            <a:endParaRPr lang="en-US" sz="1080" dirty="0"/>
          </a:p>
        </p:txBody>
      </p:sp>
      <p:sp>
        <p:nvSpPr>
          <p:cNvPr id="138" name="Text 118"/>
          <p:cNvSpPr/>
          <p:nvPr/>
        </p:nvSpPr>
        <p:spPr>
          <a:xfrm>
            <a:off x="17514888" y="4899621"/>
            <a:ext cx="25519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1080" dirty="0"/>
          </a:p>
        </p:txBody>
      </p:sp>
      <p:sp>
        <p:nvSpPr>
          <p:cNvPr id="139" name="Shape 119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0" name="Shape 120"/>
          <p:cNvSpPr/>
          <p:nvPr/>
        </p:nvSpPr>
        <p:spPr>
          <a:xfrm>
            <a:off x="12781161" y="5121871"/>
            <a:ext cx="4126508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1" name="Text 121"/>
          <p:cNvSpPr/>
          <p:nvPr/>
        </p:nvSpPr>
        <p:spPr>
          <a:xfrm>
            <a:off x="12781161" y="5304631"/>
            <a:ext cx="82411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Lindqvist</a:t>
            </a:r>
            <a:endParaRPr lang="en-US" sz="1080" dirty="0"/>
          </a:p>
        </p:txBody>
      </p:sp>
      <p:sp>
        <p:nvSpPr>
          <p:cNvPr id="142" name="Text 122"/>
          <p:cNvSpPr/>
          <p:nvPr/>
        </p:nvSpPr>
        <p:spPr>
          <a:xfrm>
            <a:off x="17528582" y="5304631"/>
            <a:ext cx="24149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</a:t>
            </a:r>
            <a:endParaRPr lang="en-US" sz="1080" dirty="0"/>
          </a:p>
        </p:txBody>
      </p:sp>
      <p:sp>
        <p:nvSpPr>
          <p:cNvPr id="143" name="Shape 123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4" name="Shape 124"/>
          <p:cNvSpPr/>
          <p:nvPr/>
        </p:nvSpPr>
        <p:spPr>
          <a:xfrm>
            <a:off x="12781161" y="5526882"/>
            <a:ext cx="3881042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5" name="Text 125"/>
          <p:cNvSpPr/>
          <p:nvPr/>
        </p:nvSpPr>
        <p:spPr>
          <a:xfrm>
            <a:off x="12781161" y="5709643"/>
            <a:ext cx="71199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M. Duarte</a:t>
            </a:r>
            <a:endParaRPr lang="en-US" sz="1080" dirty="0"/>
          </a:p>
        </p:txBody>
      </p:sp>
      <p:sp>
        <p:nvSpPr>
          <p:cNvPr id="146" name="Text 126"/>
          <p:cNvSpPr/>
          <p:nvPr/>
        </p:nvSpPr>
        <p:spPr>
          <a:xfrm>
            <a:off x="17531559" y="5709643"/>
            <a:ext cx="23852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080" dirty="0"/>
          </a:p>
        </p:txBody>
      </p:sp>
      <p:sp>
        <p:nvSpPr>
          <p:cNvPr id="147" name="Shape 127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8" name="Shape 128"/>
          <p:cNvSpPr/>
          <p:nvPr/>
        </p:nvSpPr>
        <p:spPr>
          <a:xfrm>
            <a:off x="12781161" y="5931893"/>
            <a:ext cx="3635375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9" name="Shape 129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0" name="Text 130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consensus</a:t>
            </a:r>
            <a:endParaRPr lang="en-US" sz="1260" dirty="0"/>
          </a:p>
        </p:txBody>
      </p:sp>
      <p:sp>
        <p:nvSpPr>
          <p:cNvPr id="151" name="Text 131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</a:t>
            </a:r>
            <a:endParaRPr lang="en-US" sz="990" dirty="0"/>
          </a:p>
        </p:txBody>
      </p:sp>
      <p:sp>
        <p:nvSpPr>
          <p:cNvPr id="152" name="Shape 132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3" name="Text 133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Rai</a:t>
            </a:r>
            <a:endParaRPr lang="en-US" sz="1170" dirty="0"/>
          </a:p>
        </p:txBody>
      </p:sp>
      <p:sp>
        <p:nvSpPr>
          <p:cNvPr id="154" name="Text 134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</a:t>
            </a:r>
            <a:endParaRPr lang="en-US" sz="990" dirty="0"/>
          </a:p>
        </p:txBody>
      </p:sp>
      <p:sp>
        <p:nvSpPr>
          <p:cNvPr id="155" name="Shape 135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6" name="Text 136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Scheme depth, evidenced</a:t>
            </a:r>
            <a:endParaRPr lang="en-US" sz="1170" dirty="0"/>
          </a:p>
        </p:txBody>
      </p:sp>
      <p:sp>
        <p:nvSpPr>
          <p:cNvPr id="157" name="Text 137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Declines</a:t>
            </a:r>
            <a:endParaRPr lang="en-US" sz="990" dirty="0"/>
          </a:p>
        </p:txBody>
      </p:sp>
      <p:sp>
        <p:nvSpPr>
          <p:cNvPr id="158" name="Shape 138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9" name="Text 139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with written reasons</a:t>
            </a:r>
            <a:endParaRPr lang="en-US" sz="1170" dirty="0"/>
          </a:p>
        </p:txBody>
      </p:sp>
      <p:sp>
        <p:nvSpPr>
          <p:cNvPr id="160" name="Shape 140"/>
          <p:cNvSpPr/>
          <p:nvPr/>
        </p:nvSpPr>
        <p:spPr>
          <a:xfrm>
            <a:off x="12781161" y="8631437"/>
            <a:ext cx="1559125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1" name="Text 141"/>
          <p:cNvSpPr/>
          <p:nvPr/>
        </p:nvSpPr>
        <p:spPr>
          <a:xfrm>
            <a:off x="12941181" y="8711447"/>
            <a:ext cx="1315285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audit trail</a:t>
            </a:r>
            <a:endParaRPr lang="en-US" sz="1170" dirty="0"/>
          </a:p>
        </p:txBody>
      </p:sp>
      <p:sp>
        <p:nvSpPr>
          <p:cNvPr id="162" name="Shape 142"/>
          <p:cNvSpPr/>
          <p:nvPr/>
        </p:nvSpPr>
        <p:spPr>
          <a:xfrm>
            <a:off x="14431567" y="8631437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3" name="Text 143"/>
          <p:cNvSpPr/>
          <p:nvPr/>
        </p:nvSpPr>
        <p:spPr>
          <a:xfrm>
            <a:off x="14604287" y="8724147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64" name="Shape 144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5" name="Shape 145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66" name="Image 1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67" name="Text 146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69" name="Picture 168" descr="Android Apps by Hello Clever on Google Play">
            <a:extLst>
              <a:ext uri="{FF2B5EF4-FFF2-40B4-BE49-F238E27FC236}">
                <a16:creationId xmlns:a16="http://schemas.microsoft.com/office/drawing/2014/main" id="{3D82AB27-6388-421F-3C9C-0C6F086F645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sp>
        <p:nvSpPr>
          <p:cNvPr id="29" name="Shape 20"/>
          <p:cNvSpPr/>
          <p:nvPr/>
        </p:nvSpPr>
        <p:spPr>
          <a:xfrm>
            <a:off x="0" y="2822972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Shape 21"/>
          <p:cNvSpPr/>
          <p:nvPr/>
        </p:nvSpPr>
        <p:spPr>
          <a:xfrm>
            <a:off x="0" y="2822972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1891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 › Hiring › Offer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5891411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assembled and routed for approval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614129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741129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873935" y="1183283"/>
            <a:ext cx="1094186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7046655" y="1264563"/>
            <a:ext cx="824947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offer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4417219" cy="8133755"/>
          </a:xfrm>
          <a:prstGeom prst="roundRect">
            <a:avLst>
              <a:gd name="adj" fmla="val 2070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437872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terms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4100076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Filled from the approved band and the role request — no free text in the money fields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294063" y="3245049"/>
            <a:ext cx="3980656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3294063" y="2951758"/>
            <a:ext cx="8463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</a:t>
            </a:r>
            <a:endParaRPr lang="en-US" sz="1260" dirty="0"/>
          </a:p>
        </p:txBody>
      </p:sp>
      <p:sp>
        <p:nvSpPr>
          <p:cNvPr id="56" name="Text 41"/>
          <p:cNvSpPr/>
          <p:nvPr/>
        </p:nvSpPr>
        <p:spPr>
          <a:xfrm>
            <a:off x="6847682" y="2951758"/>
            <a:ext cx="5032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Rai</a:t>
            </a:r>
            <a:endParaRPr lang="en-US" sz="1260" dirty="0"/>
          </a:p>
        </p:txBody>
      </p:sp>
      <p:sp>
        <p:nvSpPr>
          <p:cNvPr id="57" name="Shape 42"/>
          <p:cNvSpPr/>
          <p:nvPr/>
        </p:nvSpPr>
        <p:spPr>
          <a:xfrm>
            <a:off x="3294063" y="3790950"/>
            <a:ext cx="3980656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8" name="Text 43"/>
          <p:cNvSpPr/>
          <p:nvPr/>
        </p:nvSpPr>
        <p:spPr>
          <a:xfrm>
            <a:off x="3294063" y="3497659"/>
            <a:ext cx="4050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</a:t>
            </a:r>
            <a:endParaRPr lang="en-US" sz="1260" dirty="0"/>
          </a:p>
        </p:txBody>
      </p:sp>
      <p:sp>
        <p:nvSpPr>
          <p:cNvPr id="59" name="Text 44"/>
          <p:cNvSpPr/>
          <p:nvPr/>
        </p:nvSpPr>
        <p:spPr>
          <a:xfrm>
            <a:off x="5494536" y="3497659"/>
            <a:ext cx="19582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scheme specialist</a:t>
            </a:r>
            <a:endParaRPr lang="en-US" sz="1260" dirty="0"/>
          </a:p>
        </p:txBody>
      </p:sp>
      <p:sp>
        <p:nvSpPr>
          <p:cNvPr id="60" name="Shape 45"/>
          <p:cNvSpPr/>
          <p:nvPr/>
        </p:nvSpPr>
        <p:spPr>
          <a:xfrm>
            <a:off x="3294063" y="4336852"/>
            <a:ext cx="3980656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1" name="Text 46"/>
          <p:cNvSpPr/>
          <p:nvPr/>
        </p:nvSpPr>
        <p:spPr>
          <a:xfrm>
            <a:off x="3294063" y="4043561"/>
            <a:ext cx="43695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</a:t>
            </a:r>
            <a:endParaRPr lang="en-US" sz="1260" dirty="0"/>
          </a:p>
        </p:txBody>
      </p:sp>
      <p:sp>
        <p:nvSpPr>
          <p:cNvPr id="62" name="Text 47"/>
          <p:cNvSpPr/>
          <p:nvPr/>
        </p:nvSpPr>
        <p:spPr>
          <a:xfrm>
            <a:off x="6328768" y="4043561"/>
            <a:ext cx="102215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Sep 2026</a:t>
            </a:r>
            <a:endParaRPr lang="en-US" sz="1260" dirty="0"/>
          </a:p>
        </p:txBody>
      </p:sp>
      <p:sp>
        <p:nvSpPr>
          <p:cNvPr id="63" name="Shape 48"/>
          <p:cNvSpPr/>
          <p:nvPr/>
        </p:nvSpPr>
        <p:spPr>
          <a:xfrm>
            <a:off x="3294063" y="4882753"/>
            <a:ext cx="3980656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4" name="Text 49"/>
          <p:cNvSpPr/>
          <p:nvPr/>
        </p:nvSpPr>
        <p:spPr>
          <a:xfrm>
            <a:off x="3294063" y="4589463"/>
            <a:ext cx="46335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</a:t>
            </a:r>
            <a:endParaRPr lang="en-US" sz="1260" dirty="0"/>
          </a:p>
        </p:txBody>
      </p:sp>
      <p:sp>
        <p:nvSpPr>
          <p:cNvPr id="65" name="Text 50"/>
          <p:cNvSpPr/>
          <p:nvPr/>
        </p:nvSpPr>
        <p:spPr>
          <a:xfrm>
            <a:off x="5734050" y="4589463"/>
            <a:ext cx="16947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B4 (CHF 132k–148k)</a:t>
            </a:r>
            <a:endParaRPr lang="en-US" sz="1260" dirty="0"/>
          </a:p>
        </p:txBody>
      </p:sp>
      <p:sp>
        <p:nvSpPr>
          <p:cNvPr id="66" name="Shape 51"/>
          <p:cNvSpPr/>
          <p:nvPr/>
        </p:nvSpPr>
        <p:spPr>
          <a:xfrm>
            <a:off x="3294063" y="5428655"/>
            <a:ext cx="3980656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7" name="Text 52"/>
          <p:cNvSpPr/>
          <p:nvPr/>
        </p:nvSpPr>
        <p:spPr>
          <a:xfrm>
            <a:off x="3294063" y="5135364"/>
            <a:ext cx="8016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</a:t>
            </a:r>
            <a:endParaRPr lang="en-US" sz="1260" dirty="0"/>
          </a:p>
        </p:txBody>
      </p:sp>
      <p:sp>
        <p:nvSpPr>
          <p:cNvPr id="68" name="Text 53"/>
          <p:cNvSpPr/>
          <p:nvPr/>
        </p:nvSpPr>
        <p:spPr>
          <a:xfrm>
            <a:off x="6578005" y="5135364"/>
            <a:ext cx="7729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141k</a:t>
            </a:r>
            <a:endParaRPr lang="en-US" sz="1260" dirty="0"/>
          </a:p>
        </p:txBody>
      </p:sp>
      <p:sp>
        <p:nvSpPr>
          <p:cNvPr id="69" name="Shape 54"/>
          <p:cNvSpPr/>
          <p:nvPr/>
        </p:nvSpPr>
        <p:spPr>
          <a:xfrm>
            <a:off x="3294063" y="5974557"/>
            <a:ext cx="3980656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0" name="Text 55"/>
          <p:cNvSpPr/>
          <p:nvPr/>
        </p:nvSpPr>
        <p:spPr>
          <a:xfrm>
            <a:off x="3294063" y="5681266"/>
            <a:ext cx="116443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Equity / bonus</a:t>
            </a:r>
            <a:endParaRPr lang="en-US" sz="1260" dirty="0"/>
          </a:p>
        </p:txBody>
      </p:sp>
      <p:sp>
        <p:nvSpPr>
          <p:cNvPr id="71" name="Text 56"/>
          <p:cNvSpPr/>
          <p:nvPr/>
        </p:nvSpPr>
        <p:spPr>
          <a:xfrm>
            <a:off x="5933877" y="5681266"/>
            <a:ext cx="147492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scheme</a:t>
            </a:r>
            <a:endParaRPr lang="en-US" sz="1260" dirty="0"/>
          </a:p>
        </p:txBody>
      </p:sp>
      <p:sp>
        <p:nvSpPr>
          <p:cNvPr id="72" name="Shape 57"/>
          <p:cNvSpPr/>
          <p:nvPr/>
        </p:nvSpPr>
        <p:spPr>
          <a:xfrm>
            <a:off x="7675761" y="1924645"/>
            <a:ext cx="4417418" cy="8133755"/>
          </a:xfrm>
          <a:prstGeom prst="roundRect">
            <a:avLst>
              <a:gd name="adj" fmla="val 2070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3" name="Text 58"/>
          <p:cNvSpPr/>
          <p:nvPr/>
        </p:nvSpPr>
        <p:spPr>
          <a:xfrm>
            <a:off x="7894043" y="2142927"/>
            <a:ext cx="275973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chain</a:t>
            </a:r>
            <a:endParaRPr lang="en-US" sz="1440" dirty="0"/>
          </a:p>
        </p:txBody>
      </p:sp>
      <p:sp>
        <p:nvSpPr>
          <p:cNvPr id="74" name="Text 59"/>
          <p:cNvSpPr/>
          <p:nvPr/>
        </p:nvSpPr>
        <p:spPr>
          <a:xfrm>
            <a:off x="7894043" y="2381647"/>
            <a:ext cx="275973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Routed in parallel, tracked in one place</a:t>
            </a:r>
            <a:endParaRPr lang="en-US" sz="1080" dirty="0"/>
          </a:p>
        </p:txBody>
      </p:sp>
      <p:sp>
        <p:nvSpPr>
          <p:cNvPr id="75" name="Shape 60"/>
          <p:cNvSpPr/>
          <p:nvPr/>
        </p:nvSpPr>
        <p:spPr>
          <a:xfrm>
            <a:off x="7894043" y="2683867"/>
            <a:ext cx="3980856" cy="655241"/>
          </a:xfrm>
          <a:prstGeom prst="roundRect">
            <a:avLst>
              <a:gd name="adj" fmla="val 13955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6" name="Text 61"/>
          <p:cNvSpPr/>
          <p:nvPr/>
        </p:nvSpPr>
        <p:spPr>
          <a:xfrm>
            <a:off x="8066683" y="2922588"/>
            <a:ext cx="213741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Hiring manager</a:t>
            </a:r>
            <a:endParaRPr lang="en-US" sz="1170" dirty="0"/>
          </a:p>
        </p:txBody>
      </p:sp>
      <p:sp>
        <p:nvSpPr>
          <p:cNvPr id="77" name="Text 62"/>
          <p:cNvSpPr/>
          <p:nvPr/>
        </p:nvSpPr>
        <p:spPr>
          <a:xfrm>
            <a:off x="10146904" y="2833688"/>
            <a:ext cx="618332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L. Meier</a:t>
            </a:r>
            <a:endParaRPr lang="en-US" sz="1170" dirty="0"/>
          </a:p>
        </p:txBody>
      </p:sp>
      <p:sp>
        <p:nvSpPr>
          <p:cNvPr id="78" name="Shape 63"/>
          <p:cNvSpPr/>
          <p:nvPr/>
        </p:nvSpPr>
        <p:spPr>
          <a:xfrm>
            <a:off x="10826155" y="2897188"/>
            <a:ext cx="876102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9" name="Text 64"/>
          <p:cNvSpPr/>
          <p:nvPr/>
        </p:nvSpPr>
        <p:spPr>
          <a:xfrm>
            <a:off x="10940455" y="2920048"/>
            <a:ext cx="72370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</a:t>
            </a:r>
            <a:endParaRPr lang="en-US" sz="1080" dirty="0"/>
          </a:p>
        </p:txBody>
      </p:sp>
      <p:sp>
        <p:nvSpPr>
          <p:cNvPr id="80" name="Shape 65"/>
          <p:cNvSpPr/>
          <p:nvPr/>
        </p:nvSpPr>
        <p:spPr>
          <a:xfrm>
            <a:off x="7894043" y="3476228"/>
            <a:ext cx="3980856" cy="655241"/>
          </a:xfrm>
          <a:prstGeom prst="roundRect">
            <a:avLst>
              <a:gd name="adj" fmla="val 13955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1" name="Text 66"/>
          <p:cNvSpPr/>
          <p:nvPr/>
        </p:nvSpPr>
        <p:spPr>
          <a:xfrm>
            <a:off x="8066683" y="3714949"/>
            <a:ext cx="213741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business partner</a:t>
            </a:r>
            <a:endParaRPr lang="en-US" sz="1170" dirty="0"/>
          </a:p>
        </p:txBody>
      </p:sp>
      <p:sp>
        <p:nvSpPr>
          <p:cNvPr id="82" name="Text 67"/>
          <p:cNvSpPr/>
          <p:nvPr/>
        </p:nvSpPr>
        <p:spPr>
          <a:xfrm>
            <a:off x="10146904" y="3626048"/>
            <a:ext cx="618332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R. Dubois</a:t>
            </a:r>
            <a:endParaRPr lang="en-US" sz="1170" dirty="0"/>
          </a:p>
        </p:txBody>
      </p:sp>
      <p:sp>
        <p:nvSpPr>
          <p:cNvPr id="83" name="Shape 68"/>
          <p:cNvSpPr/>
          <p:nvPr/>
        </p:nvSpPr>
        <p:spPr>
          <a:xfrm>
            <a:off x="10826155" y="3689549"/>
            <a:ext cx="876102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4" name="Text 69"/>
          <p:cNvSpPr/>
          <p:nvPr/>
        </p:nvSpPr>
        <p:spPr>
          <a:xfrm>
            <a:off x="10940455" y="3712409"/>
            <a:ext cx="72370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</a:t>
            </a:r>
            <a:endParaRPr lang="en-US" sz="1080" dirty="0"/>
          </a:p>
        </p:txBody>
      </p:sp>
      <p:sp>
        <p:nvSpPr>
          <p:cNvPr id="85" name="Shape 70"/>
          <p:cNvSpPr/>
          <p:nvPr/>
        </p:nvSpPr>
        <p:spPr>
          <a:xfrm>
            <a:off x="7894043" y="4268589"/>
            <a:ext cx="3980856" cy="833041"/>
          </a:xfrm>
          <a:prstGeom prst="roundRect">
            <a:avLst>
              <a:gd name="adj" fmla="val 10977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6" name="Text 71"/>
          <p:cNvSpPr/>
          <p:nvPr/>
        </p:nvSpPr>
        <p:spPr>
          <a:xfrm>
            <a:off x="8066683" y="4596210"/>
            <a:ext cx="213741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Compensation check</a:t>
            </a:r>
            <a:endParaRPr lang="en-US" sz="1170" dirty="0"/>
          </a:p>
        </p:txBody>
      </p:sp>
      <p:sp>
        <p:nvSpPr>
          <p:cNvPr id="87" name="Text 72"/>
          <p:cNvSpPr/>
          <p:nvPr/>
        </p:nvSpPr>
        <p:spPr>
          <a:xfrm>
            <a:off x="10146904" y="4418410"/>
            <a:ext cx="78283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 B4 — within range</a:t>
            </a:r>
            <a:endParaRPr lang="en-US" sz="1170" dirty="0"/>
          </a:p>
        </p:txBody>
      </p:sp>
      <p:sp>
        <p:nvSpPr>
          <p:cNvPr id="88" name="Shape 73"/>
          <p:cNvSpPr/>
          <p:nvPr/>
        </p:nvSpPr>
        <p:spPr>
          <a:xfrm>
            <a:off x="10990661" y="4570810"/>
            <a:ext cx="711597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9" name="Text 74"/>
          <p:cNvSpPr/>
          <p:nvPr/>
        </p:nvSpPr>
        <p:spPr>
          <a:xfrm>
            <a:off x="11104961" y="4593670"/>
            <a:ext cx="55919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Passed</a:t>
            </a:r>
            <a:endParaRPr lang="en-US" sz="1080" dirty="0"/>
          </a:p>
        </p:txBody>
      </p:sp>
      <p:sp>
        <p:nvSpPr>
          <p:cNvPr id="90" name="Shape 75"/>
          <p:cNvSpPr/>
          <p:nvPr/>
        </p:nvSpPr>
        <p:spPr>
          <a:xfrm>
            <a:off x="7894043" y="5238750"/>
            <a:ext cx="3980856" cy="833041"/>
          </a:xfrm>
          <a:prstGeom prst="roundRect">
            <a:avLst>
              <a:gd name="adj" fmla="val 10977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1" name="Text 76"/>
          <p:cNvSpPr/>
          <p:nvPr/>
        </p:nvSpPr>
        <p:spPr>
          <a:xfrm>
            <a:off x="8066683" y="5566371"/>
            <a:ext cx="2137410" cy="215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</a:t>
            </a:r>
            <a:endParaRPr lang="en-US" sz="1170" dirty="0"/>
          </a:p>
        </p:txBody>
      </p:sp>
      <p:sp>
        <p:nvSpPr>
          <p:cNvPr id="92" name="Text 77"/>
          <p:cNvSpPr/>
          <p:nvPr/>
        </p:nvSpPr>
        <p:spPr>
          <a:xfrm>
            <a:off x="10146904" y="5388571"/>
            <a:ext cx="61833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line 4471</a:t>
            </a:r>
            <a:endParaRPr lang="en-US" sz="1170" dirty="0"/>
          </a:p>
        </p:txBody>
      </p:sp>
      <p:sp>
        <p:nvSpPr>
          <p:cNvPr id="93" name="Shape 78"/>
          <p:cNvSpPr/>
          <p:nvPr/>
        </p:nvSpPr>
        <p:spPr>
          <a:xfrm>
            <a:off x="10826155" y="5540971"/>
            <a:ext cx="876102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4" name="Text 79"/>
          <p:cNvSpPr/>
          <p:nvPr/>
        </p:nvSpPr>
        <p:spPr>
          <a:xfrm>
            <a:off x="10940455" y="5563831"/>
            <a:ext cx="72370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</a:t>
            </a:r>
            <a:endParaRPr lang="en-US" sz="1080" dirty="0"/>
          </a:p>
        </p:txBody>
      </p:sp>
      <p:sp>
        <p:nvSpPr>
          <p:cNvPr id="95" name="Shape 80"/>
          <p:cNvSpPr/>
          <p:nvPr/>
        </p:nvSpPr>
        <p:spPr>
          <a:xfrm>
            <a:off x="7894043" y="6208911"/>
            <a:ext cx="3980856" cy="711200"/>
          </a:xfrm>
          <a:prstGeom prst="roundRect">
            <a:avLst>
              <a:gd name="adj" fmla="val 12857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6" name="Text 81"/>
          <p:cNvSpPr/>
          <p:nvPr/>
        </p:nvSpPr>
        <p:spPr>
          <a:xfrm>
            <a:off x="8066683" y="6475612"/>
            <a:ext cx="196453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</a:t>
            </a:r>
            <a:endParaRPr lang="en-US" sz="1170" dirty="0"/>
          </a:p>
        </p:txBody>
      </p:sp>
      <p:sp>
        <p:nvSpPr>
          <p:cNvPr id="97" name="Text 82"/>
          <p:cNvSpPr/>
          <p:nvPr/>
        </p:nvSpPr>
        <p:spPr>
          <a:xfrm>
            <a:off x="9989741" y="6386711"/>
            <a:ext cx="290513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Rai</a:t>
            </a:r>
            <a:endParaRPr lang="en-US" sz="1170" dirty="0"/>
          </a:p>
        </p:txBody>
      </p:sp>
      <p:sp>
        <p:nvSpPr>
          <p:cNvPr id="98" name="Shape 83"/>
          <p:cNvSpPr/>
          <p:nvPr/>
        </p:nvSpPr>
        <p:spPr>
          <a:xfrm>
            <a:off x="10341175" y="6358732"/>
            <a:ext cx="1361084" cy="41156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9" name="Text 84"/>
          <p:cNvSpPr/>
          <p:nvPr/>
        </p:nvSpPr>
        <p:spPr>
          <a:xfrm>
            <a:off x="10455475" y="6381592"/>
            <a:ext cx="1208684" cy="40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Awaiting signature</a:t>
            </a:r>
            <a:endParaRPr lang="en-US" sz="1080" dirty="0"/>
          </a:p>
        </p:txBody>
      </p:sp>
      <p:sp>
        <p:nvSpPr>
          <p:cNvPr id="100" name="Shape 85"/>
          <p:cNvSpPr/>
          <p:nvPr/>
        </p:nvSpPr>
        <p:spPr>
          <a:xfrm>
            <a:off x="7894043" y="8593535"/>
            <a:ext cx="3980856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1" name="Text 86"/>
          <p:cNvSpPr/>
          <p:nvPr/>
        </p:nvSpPr>
        <p:spPr>
          <a:xfrm>
            <a:off x="8089503" y="8788996"/>
            <a:ext cx="394892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turnaround</a:t>
            </a:r>
            <a:endParaRPr lang="en-US" sz="1080" dirty="0"/>
          </a:p>
        </p:txBody>
      </p:sp>
      <p:sp>
        <p:nvSpPr>
          <p:cNvPr id="102" name="Text 87"/>
          <p:cNvSpPr/>
          <p:nvPr/>
        </p:nvSpPr>
        <p:spPr>
          <a:xfrm>
            <a:off x="8089503" y="9022557"/>
            <a:ext cx="394892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hrs</a:t>
            </a:r>
            <a:endParaRPr lang="en-US" sz="2700" dirty="0"/>
          </a:p>
        </p:txBody>
      </p:sp>
      <p:sp>
        <p:nvSpPr>
          <p:cNvPr id="103" name="Text 88"/>
          <p:cNvSpPr/>
          <p:nvPr/>
        </p:nvSpPr>
        <p:spPr>
          <a:xfrm>
            <a:off x="8089503" y="9479559"/>
            <a:ext cx="61218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 days</a:t>
            </a:r>
            <a:endParaRPr lang="en-US" sz="1080" dirty="0"/>
          </a:p>
        </p:txBody>
      </p:sp>
      <p:sp>
        <p:nvSpPr>
          <p:cNvPr id="104" name="Text 89"/>
          <p:cNvSpPr/>
          <p:nvPr/>
        </p:nvSpPr>
        <p:spPr>
          <a:xfrm>
            <a:off x="8716765" y="9479559"/>
            <a:ext cx="202019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drafting to signature request</a:t>
            </a:r>
            <a:endParaRPr lang="en-US" sz="1080" dirty="0"/>
          </a:p>
        </p:txBody>
      </p:sp>
      <p:sp>
        <p:nvSpPr>
          <p:cNvPr id="105" name="Shape 90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6" name="Shape 91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7" name="Shape 92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8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09" name="Text 93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10" name="Text 94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11" name="Shape 95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2" name="Text 96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13" name="Shape 97"/>
          <p:cNvSpPr/>
          <p:nvPr/>
        </p:nvSpPr>
        <p:spPr>
          <a:xfrm>
            <a:off x="15415024" y="2612628"/>
            <a:ext cx="2451497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4" name="Text 98"/>
          <p:cNvSpPr/>
          <p:nvPr/>
        </p:nvSpPr>
        <p:spPr>
          <a:xfrm>
            <a:off x="15575044" y="2726928"/>
            <a:ext cx="22076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this offer inside the band?</a:t>
            </a:r>
            <a:endParaRPr lang="en-US" sz="1260" dirty="0"/>
          </a:p>
        </p:txBody>
      </p:sp>
      <p:sp>
        <p:nvSpPr>
          <p:cNvPr id="115" name="Shape 99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6" name="Text 100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Yes. CHF 141k against a B4 range of 132–148k, and four approvals already cleared in parallel.</a:t>
            </a:r>
            <a:endParaRPr lang="en-US" sz="1260" dirty="0"/>
          </a:p>
        </p:txBody>
      </p:sp>
      <p:sp>
        <p:nvSpPr>
          <p:cNvPr id="117" name="Shape 101"/>
          <p:cNvSpPr/>
          <p:nvPr/>
        </p:nvSpPr>
        <p:spPr>
          <a:xfrm>
            <a:off x="12608520" y="4055269"/>
            <a:ext cx="5258000" cy="1246981"/>
          </a:xfrm>
          <a:prstGeom prst="roundRect">
            <a:avLst>
              <a:gd name="adj" fmla="val 10999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8" name="Text 102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990" dirty="0"/>
          </a:p>
        </p:txBody>
      </p:sp>
      <p:sp>
        <p:nvSpPr>
          <p:cNvPr id="119" name="Shape 103"/>
          <p:cNvSpPr/>
          <p:nvPr/>
        </p:nvSpPr>
        <p:spPr>
          <a:xfrm>
            <a:off x="12781161" y="4494610"/>
            <a:ext cx="1561308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0" name="Text 104"/>
          <p:cNvSpPr/>
          <p:nvPr/>
        </p:nvSpPr>
        <p:spPr>
          <a:xfrm>
            <a:off x="12918282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141k</a:t>
            </a:r>
            <a:endParaRPr lang="en-US" sz="1620" dirty="0"/>
          </a:p>
        </p:txBody>
      </p:sp>
      <p:sp>
        <p:nvSpPr>
          <p:cNvPr id="121" name="Text 105"/>
          <p:cNvSpPr/>
          <p:nvPr/>
        </p:nvSpPr>
        <p:spPr>
          <a:xfrm>
            <a:off x="12918282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</a:t>
            </a:r>
            <a:endParaRPr lang="en-US" sz="990" dirty="0"/>
          </a:p>
        </p:txBody>
      </p:sp>
      <p:sp>
        <p:nvSpPr>
          <p:cNvPr id="122" name="Shape 106"/>
          <p:cNvSpPr/>
          <p:nvPr/>
        </p:nvSpPr>
        <p:spPr>
          <a:xfrm>
            <a:off x="14456770" y="4494610"/>
            <a:ext cx="156150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3" name="Text 107"/>
          <p:cNvSpPr/>
          <p:nvPr/>
        </p:nvSpPr>
        <p:spPr>
          <a:xfrm>
            <a:off x="14593887" y="4608910"/>
            <a:ext cx="14159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62%</a:t>
            </a:r>
            <a:endParaRPr lang="en-US" sz="1620" dirty="0"/>
          </a:p>
        </p:txBody>
      </p:sp>
      <p:sp>
        <p:nvSpPr>
          <p:cNvPr id="124" name="Text 108"/>
          <p:cNvSpPr/>
          <p:nvPr/>
        </p:nvSpPr>
        <p:spPr>
          <a:xfrm>
            <a:off x="14593887" y="4862910"/>
            <a:ext cx="14159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 position</a:t>
            </a:r>
            <a:endParaRPr lang="en-US" sz="990" dirty="0"/>
          </a:p>
        </p:txBody>
      </p:sp>
      <p:sp>
        <p:nvSpPr>
          <p:cNvPr id="125" name="Shape 109"/>
          <p:cNvSpPr/>
          <p:nvPr/>
        </p:nvSpPr>
        <p:spPr>
          <a:xfrm>
            <a:off x="16132575" y="4494610"/>
            <a:ext cx="1561305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6" name="Text 110"/>
          <p:cNvSpPr/>
          <p:nvPr/>
        </p:nvSpPr>
        <p:spPr>
          <a:xfrm>
            <a:off x="16269693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of 5</a:t>
            </a:r>
            <a:endParaRPr lang="en-US" sz="1620" dirty="0"/>
          </a:p>
        </p:txBody>
      </p:sp>
      <p:sp>
        <p:nvSpPr>
          <p:cNvPr id="127" name="Text 111"/>
          <p:cNvSpPr/>
          <p:nvPr/>
        </p:nvSpPr>
        <p:spPr>
          <a:xfrm>
            <a:off x="16269693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Approvals</a:t>
            </a:r>
            <a:endParaRPr lang="en-US" sz="990" dirty="0"/>
          </a:p>
        </p:txBody>
      </p:sp>
      <p:sp>
        <p:nvSpPr>
          <p:cNvPr id="128" name="Shape 112"/>
          <p:cNvSpPr/>
          <p:nvPr/>
        </p:nvSpPr>
        <p:spPr>
          <a:xfrm>
            <a:off x="12608520" y="5439370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9" name="Text 113"/>
          <p:cNvSpPr/>
          <p:nvPr/>
        </p:nvSpPr>
        <p:spPr>
          <a:xfrm>
            <a:off x="12781161" y="5612011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offer letter</a:t>
            </a:r>
            <a:endParaRPr lang="en-US" sz="1260" dirty="0"/>
          </a:p>
        </p:txBody>
      </p:sp>
      <p:sp>
        <p:nvSpPr>
          <p:cNvPr id="130" name="Text 114"/>
          <p:cNvSpPr/>
          <p:nvPr/>
        </p:nvSpPr>
        <p:spPr>
          <a:xfrm>
            <a:off x="12781161" y="591681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</a:t>
            </a:r>
            <a:endParaRPr lang="en-US" sz="990" dirty="0"/>
          </a:p>
        </p:txBody>
      </p:sp>
      <p:sp>
        <p:nvSpPr>
          <p:cNvPr id="131" name="Shape 115"/>
          <p:cNvSpPr/>
          <p:nvPr/>
        </p:nvSpPr>
        <p:spPr>
          <a:xfrm>
            <a:off x="12781161" y="6114852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2" name="Text 116"/>
          <p:cNvSpPr/>
          <p:nvPr/>
        </p:nvSpPr>
        <p:spPr>
          <a:xfrm>
            <a:off x="12908161" y="6207562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S. Rai</a:t>
            </a:r>
            <a:endParaRPr lang="en-US" sz="1170" dirty="0"/>
          </a:p>
        </p:txBody>
      </p:sp>
      <p:sp>
        <p:nvSpPr>
          <p:cNvPr id="133" name="Text 117"/>
          <p:cNvSpPr/>
          <p:nvPr/>
        </p:nvSpPr>
        <p:spPr>
          <a:xfrm>
            <a:off x="12781161" y="659229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</a:t>
            </a:r>
            <a:endParaRPr lang="en-US" sz="990" dirty="0"/>
          </a:p>
        </p:txBody>
      </p:sp>
      <p:sp>
        <p:nvSpPr>
          <p:cNvPr id="134" name="Shape 118"/>
          <p:cNvSpPr/>
          <p:nvPr/>
        </p:nvSpPr>
        <p:spPr>
          <a:xfrm>
            <a:off x="12781161" y="679033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5" name="Text 119"/>
          <p:cNvSpPr/>
          <p:nvPr/>
        </p:nvSpPr>
        <p:spPr>
          <a:xfrm>
            <a:off x="12908161" y="688304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Sep 2026</a:t>
            </a:r>
            <a:endParaRPr lang="en-US" sz="1170" dirty="0"/>
          </a:p>
        </p:txBody>
      </p:sp>
      <p:sp>
        <p:nvSpPr>
          <p:cNvPr id="136" name="Text 120"/>
          <p:cNvSpPr/>
          <p:nvPr/>
        </p:nvSpPr>
        <p:spPr>
          <a:xfrm>
            <a:off x="12781161" y="726777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Expiry</a:t>
            </a:r>
            <a:endParaRPr lang="en-US" sz="990" dirty="0"/>
          </a:p>
        </p:txBody>
      </p:sp>
      <p:sp>
        <p:nvSpPr>
          <p:cNvPr id="137" name="Shape 121"/>
          <p:cNvSpPr/>
          <p:nvPr/>
        </p:nvSpPr>
        <p:spPr>
          <a:xfrm>
            <a:off x="12781161" y="746581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8" name="Text 122"/>
          <p:cNvSpPr/>
          <p:nvPr/>
        </p:nvSpPr>
        <p:spPr>
          <a:xfrm>
            <a:off x="12908161" y="755852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working days</a:t>
            </a:r>
            <a:endParaRPr lang="en-US" sz="1170" dirty="0"/>
          </a:p>
        </p:txBody>
      </p:sp>
      <p:sp>
        <p:nvSpPr>
          <p:cNvPr id="139" name="Shape 123"/>
          <p:cNvSpPr/>
          <p:nvPr/>
        </p:nvSpPr>
        <p:spPr>
          <a:xfrm>
            <a:off x="12781161" y="7966075"/>
            <a:ext cx="2324101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0" name="Text 124"/>
          <p:cNvSpPr/>
          <p:nvPr/>
        </p:nvSpPr>
        <p:spPr>
          <a:xfrm>
            <a:off x="12941181" y="8046085"/>
            <a:ext cx="2080261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and send for signature</a:t>
            </a:r>
            <a:endParaRPr lang="en-US" sz="1170" dirty="0"/>
          </a:p>
        </p:txBody>
      </p:sp>
      <p:sp>
        <p:nvSpPr>
          <p:cNvPr id="141" name="Shape 125"/>
          <p:cNvSpPr/>
          <p:nvPr/>
        </p:nvSpPr>
        <p:spPr>
          <a:xfrm>
            <a:off x="15196543" y="7966075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2" name="Text 126"/>
          <p:cNvSpPr/>
          <p:nvPr/>
        </p:nvSpPr>
        <p:spPr>
          <a:xfrm>
            <a:off x="15369263" y="8058785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43" name="Shape 127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4" name="Shape 128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45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46" name="Text 129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48" name="Picture 147" descr="Android Apps by Hello Clever on Google Play">
            <a:extLst>
              <a:ext uri="{FF2B5EF4-FFF2-40B4-BE49-F238E27FC236}">
                <a16:creationId xmlns:a16="http://schemas.microsoft.com/office/drawing/2014/main" id="{D28AF3BF-89D5-2428-0165-0B2B97EC174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sp>
        <p:nvSpPr>
          <p:cNvPr id="21" name="Shape 16"/>
          <p:cNvSpPr/>
          <p:nvPr/>
        </p:nvSpPr>
        <p:spPr>
          <a:xfrm>
            <a:off x="0" y="1269603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2" name="Shape 17"/>
          <p:cNvSpPr/>
          <p:nvPr/>
        </p:nvSpPr>
        <p:spPr>
          <a:xfrm>
            <a:off x="0" y="1269603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92522" y="1374775"/>
            <a:ext cx="99397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 › Onboarding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6753622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orchestrated across every system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698863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825863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958668" y="1183283"/>
            <a:ext cx="1009453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7131388" y="1264563"/>
            <a:ext cx="740213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run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2899172" cy="1081485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71242" y="2120106"/>
            <a:ext cx="275907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 in the run</a:t>
            </a:r>
            <a:endParaRPr lang="en-US" sz="1080" dirty="0"/>
          </a:p>
        </p:txBody>
      </p:sp>
      <p:sp>
        <p:nvSpPr>
          <p:cNvPr id="53" name="Text 38"/>
          <p:cNvSpPr/>
          <p:nvPr/>
        </p:nvSpPr>
        <p:spPr>
          <a:xfrm>
            <a:off x="3271242" y="2353667"/>
            <a:ext cx="2759075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2700" dirty="0"/>
          </a:p>
        </p:txBody>
      </p:sp>
      <p:sp>
        <p:nvSpPr>
          <p:cNvPr id="54" name="Shape 39"/>
          <p:cNvSpPr/>
          <p:nvPr/>
        </p:nvSpPr>
        <p:spPr>
          <a:xfrm>
            <a:off x="6134894" y="1924645"/>
            <a:ext cx="2899173" cy="1081485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6330355" y="2120106"/>
            <a:ext cx="275907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Systems touched</a:t>
            </a:r>
            <a:endParaRPr lang="en-US" sz="1080" dirty="0"/>
          </a:p>
        </p:txBody>
      </p:sp>
      <p:sp>
        <p:nvSpPr>
          <p:cNvPr id="56" name="Text 41"/>
          <p:cNvSpPr/>
          <p:nvPr/>
        </p:nvSpPr>
        <p:spPr>
          <a:xfrm>
            <a:off x="6330355" y="2353667"/>
            <a:ext cx="2759076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2700" dirty="0"/>
          </a:p>
        </p:txBody>
      </p:sp>
      <p:sp>
        <p:nvSpPr>
          <p:cNvPr id="57" name="Shape 42"/>
          <p:cNvSpPr/>
          <p:nvPr/>
        </p:nvSpPr>
        <p:spPr>
          <a:xfrm>
            <a:off x="9194007" y="1924645"/>
            <a:ext cx="2899173" cy="1081485"/>
          </a:xfrm>
          <a:prstGeom prst="roundRect">
            <a:avLst>
              <a:gd name="adj" fmla="val 845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8" name="Text 43"/>
          <p:cNvSpPr/>
          <p:nvPr/>
        </p:nvSpPr>
        <p:spPr>
          <a:xfrm>
            <a:off x="9389468" y="2120106"/>
            <a:ext cx="275907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steps left</a:t>
            </a:r>
            <a:endParaRPr lang="en-US" sz="1080" dirty="0"/>
          </a:p>
        </p:txBody>
      </p:sp>
      <p:sp>
        <p:nvSpPr>
          <p:cNvPr id="59" name="Text 44"/>
          <p:cNvSpPr/>
          <p:nvPr/>
        </p:nvSpPr>
        <p:spPr>
          <a:xfrm>
            <a:off x="9389468" y="2353667"/>
            <a:ext cx="2759076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700" dirty="0"/>
          </a:p>
        </p:txBody>
      </p:sp>
      <p:sp>
        <p:nvSpPr>
          <p:cNvPr id="60" name="Shape 45"/>
          <p:cNvSpPr/>
          <p:nvPr/>
        </p:nvSpPr>
        <p:spPr>
          <a:xfrm>
            <a:off x="3075781" y="3166070"/>
            <a:ext cx="2553180" cy="6892330"/>
          </a:xfrm>
          <a:prstGeom prst="roundRect">
            <a:avLst>
              <a:gd name="adj" fmla="val 5399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1" name="Text 46"/>
          <p:cNvSpPr/>
          <p:nvPr/>
        </p:nvSpPr>
        <p:spPr>
          <a:xfrm>
            <a:off x="3248422" y="3338711"/>
            <a:ext cx="148322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Pre-boarding</a:t>
            </a:r>
            <a:endParaRPr lang="en-US" sz="1350" dirty="0"/>
          </a:p>
        </p:txBody>
      </p:sp>
      <p:sp>
        <p:nvSpPr>
          <p:cNvPr id="62" name="Text 47"/>
          <p:cNvSpPr/>
          <p:nvPr/>
        </p:nvSpPr>
        <p:spPr>
          <a:xfrm>
            <a:off x="3248422" y="3656211"/>
            <a:ext cx="14245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signed → day 1</a:t>
            </a:r>
            <a:endParaRPr lang="en-US" sz="990" dirty="0"/>
          </a:p>
        </p:txBody>
      </p:sp>
      <p:sp>
        <p:nvSpPr>
          <p:cNvPr id="63" name="Shape 48"/>
          <p:cNvSpPr/>
          <p:nvPr/>
        </p:nvSpPr>
        <p:spPr>
          <a:xfrm>
            <a:off x="3248422" y="4075311"/>
            <a:ext cx="1348383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4" name="Shape 49"/>
          <p:cNvSpPr/>
          <p:nvPr/>
        </p:nvSpPr>
        <p:spPr>
          <a:xfrm>
            <a:off x="3248422" y="4075311"/>
            <a:ext cx="1348383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5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48422" y="4303713"/>
            <a:ext cx="148431" cy="148432"/>
          </a:xfrm>
          <a:prstGeom prst="rect">
            <a:avLst/>
          </a:prstGeom>
        </p:spPr>
      </p:pic>
      <p:sp>
        <p:nvSpPr>
          <p:cNvPr id="66" name="Text 50"/>
          <p:cNvSpPr/>
          <p:nvPr/>
        </p:nvSpPr>
        <p:spPr>
          <a:xfrm>
            <a:off x="3488134" y="4303713"/>
            <a:ext cx="788789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in Workday</a:t>
            </a:r>
            <a:endParaRPr lang="en-US" sz="1080" dirty="0"/>
          </a:p>
        </p:txBody>
      </p:sp>
      <p:pic>
        <p:nvPicPr>
          <p:cNvPr id="67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48422" y="4713883"/>
            <a:ext cx="148431" cy="148431"/>
          </a:xfrm>
          <a:prstGeom prst="rect">
            <a:avLst/>
          </a:prstGeom>
        </p:spPr>
      </p:pic>
      <p:sp>
        <p:nvSpPr>
          <p:cNvPr id="68" name="Text 51"/>
          <p:cNvSpPr/>
          <p:nvPr/>
        </p:nvSpPr>
        <p:spPr>
          <a:xfrm>
            <a:off x="3488134" y="4713883"/>
            <a:ext cx="766366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Equipment ordered</a:t>
            </a:r>
            <a:endParaRPr lang="en-US" sz="1080" dirty="0"/>
          </a:p>
        </p:txBody>
      </p:sp>
      <p:pic>
        <p:nvPicPr>
          <p:cNvPr id="69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48422" y="5124054"/>
            <a:ext cx="148431" cy="148431"/>
          </a:xfrm>
          <a:prstGeom prst="rect">
            <a:avLst/>
          </a:prstGeom>
        </p:spPr>
      </p:pic>
      <p:sp>
        <p:nvSpPr>
          <p:cNvPr id="70" name="Text 52"/>
          <p:cNvSpPr/>
          <p:nvPr/>
        </p:nvSpPr>
        <p:spPr>
          <a:xfrm>
            <a:off x="3488134" y="5124054"/>
            <a:ext cx="1168598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Accounts staged in Entra ID</a:t>
            </a:r>
            <a:endParaRPr lang="en-US" sz="1080" dirty="0"/>
          </a:p>
        </p:txBody>
      </p:sp>
      <p:pic>
        <p:nvPicPr>
          <p:cNvPr id="71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48422" y="5534224"/>
            <a:ext cx="148431" cy="148432"/>
          </a:xfrm>
          <a:prstGeom prst="rect">
            <a:avLst/>
          </a:prstGeom>
        </p:spPr>
      </p:pic>
      <p:sp>
        <p:nvSpPr>
          <p:cNvPr id="72" name="Text 53"/>
          <p:cNvSpPr/>
          <p:nvPr/>
        </p:nvSpPr>
        <p:spPr>
          <a:xfrm>
            <a:off x="3488134" y="5534224"/>
            <a:ext cx="111462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Buddy assigned</a:t>
            </a:r>
            <a:endParaRPr lang="en-US" sz="1080" dirty="0"/>
          </a:p>
        </p:txBody>
      </p:sp>
      <p:sp>
        <p:nvSpPr>
          <p:cNvPr id="73" name="Shape 54"/>
          <p:cNvSpPr/>
          <p:nvPr/>
        </p:nvSpPr>
        <p:spPr>
          <a:xfrm>
            <a:off x="5824040" y="3166070"/>
            <a:ext cx="2759074" cy="6892330"/>
          </a:xfrm>
          <a:prstGeom prst="roundRect">
            <a:avLst>
              <a:gd name="adj" fmla="val 5398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4" name="Text 55"/>
          <p:cNvSpPr/>
          <p:nvPr/>
        </p:nvSpPr>
        <p:spPr>
          <a:xfrm>
            <a:off x="5996681" y="3338711"/>
            <a:ext cx="148344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</a:t>
            </a:r>
            <a:endParaRPr lang="en-US" sz="1350" dirty="0"/>
          </a:p>
        </p:txBody>
      </p:sp>
      <p:sp>
        <p:nvSpPr>
          <p:cNvPr id="75" name="Text 56"/>
          <p:cNvSpPr/>
          <p:nvPr/>
        </p:nvSpPr>
        <p:spPr>
          <a:xfrm>
            <a:off x="5996681" y="3656211"/>
            <a:ext cx="14834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working day</a:t>
            </a:r>
            <a:endParaRPr lang="en-US" sz="990" dirty="0"/>
          </a:p>
        </p:txBody>
      </p:sp>
      <p:sp>
        <p:nvSpPr>
          <p:cNvPr id="76" name="Shape 57"/>
          <p:cNvSpPr/>
          <p:nvPr/>
        </p:nvSpPr>
        <p:spPr>
          <a:xfrm>
            <a:off x="5996681" y="3922911"/>
            <a:ext cx="1348581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7" name="Shape 58"/>
          <p:cNvSpPr/>
          <p:nvPr/>
        </p:nvSpPr>
        <p:spPr>
          <a:xfrm>
            <a:off x="5996681" y="3922911"/>
            <a:ext cx="1348581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78" name="Image 1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96681" y="4151313"/>
            <a:ext cx="148431" cy="148431"/>
          </a:xfrm>
          <a:prstGeom prst="rect">
            <a:avLst/>
          </a:prstGeom>
        </p:spPr>
      </p:pic>
      <p:sp>
        <p:nvSpPr>
          <p:cNvPr id="79" name="Text 59"/>
          <p:cNvSpPr/>
          <p:nvPr/>
        </p:nvSpPr>
        <p:spPr>
          <a:xfrm>
            <a:off x="6236393" y="4151313"/>
            <a:ext cx="1091407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granted at 08:00</a:t>
            </a:r>
            <a:endParaRPr lang="en-US" sz="1080" dirty="0"/>
          </a:p>
        </p:txBody>
      </p:sp>
      <p:pic>
        <p:nvPicPr>
          <p:cNvPr id="80" name="Image 1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96681" y="4561483"/>
            <a:ext cx="148431" cy="148431"/>
          </a:xfrm>
          <a:prstGeom prst="rect">
            <a:avLst/>
          </a:prstGeom>
        </p:spPr>
      </p:pic>
      <p:sp>
        <p:nvSpPr>
          <p:cNvPr id="81" name="Text 60"/>
          <p:cNvSpPr/>
          <p:nvPr/>
        </p:nvSpPr>
        <p:spPr>
          <a:xfrm>
            <a:off x="6236393" y="4561483"/>
            <a:ext cx="830461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in Teams</a:t>
            </a:r>
            <a:endParaRPr lang="en-US" sz="1080" dirty="0"/>
          </a:p>
        </p:txBody>
      </p:sp>
      <p:pic>
        <p:nvPicPr>
          <p:cNvPr id="82" name="Image 1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96681" y="4971654"/>
            <a:ext cx="148431" cy="148431"/>
          </a:xfrm>
          <a:prstGeom prst="rect">
            <a:avLst/>
          </a:prstGeom>
        </p:spPr>
      </p:pic>
      <p:sp>
        <p:nvSpPr>
          <p:cNvPr id="83" name="Text 61"/>
          <p:cNvSpPr/>
          <p:nvPr/>
        </p:nvSpPr>
        <p:spPr>
          <a:xfrm>
            <a:off x="6236393" y="4971654"/>
            <a:ext cx="1184077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training assigned</a:t>
            </a:r>
            <a:endParaRPr lang="en-US" sz="1080" dirty="0"/>
          </a:p>
        </p:txBody>
      </p:sp>
      <p:pic>
        <p:nvPicPr>
          <p:cNvPr id="84" name="Image 2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96681" y="5381824"/>
            <a:ext cx="148431" cy="148431"/>
          </a:xfrm>
          <a:prstGeom prst="rect">
            <a:avLst/>
          </a:prstGeom>
        </p:spPr>
      </p:pic>
      <p:sp>
        <p:nvSpPr>
          <p:cNvPr id="85" name="Text 62"/>
          <p:cNvSpPr/>
          <p:nvPr/>
        </p:nvSpPr>
        <p:spPr>
          <a:xfrm>
            <a:off x="6236393" y="5381824"/>
            <a:ext cx="839987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 1:1 booked</a:t>
            </a:r>
            <a:endParaRPr lang="en-US" sz="1080" dirty="0"/>
          </a:p>
        </p:txBody>
      </p:sp>
      <p:sp>
        <p:nvSpPr>
          <p:cNvPr id="99" name="Shape 72"/>
          <p:cNvSpPr/>
          <p:nvPr/>
        </p:nvSpPr>
        <p:spPr>
          <a:xfrm>
            <a:off x="8857957" y="3201591"/>
            <a:ext cx="2899172" cy="6892330"/>
          </a:xfrm>
          <a:prstGeom prst="roundRect">
            <a:avLst>
              <a:gd name="adj" fmla="val 5398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0" name="Text 73"/>
          <p:cNvSpPr/>
          <p:nvPr/>
        </p:nvSpPr>
        <p:spPr>
          <a:xfrm>
            <a:off x="9030598" y="3374232"/>
            <a:ext cx="1483439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30</a:t>
            </a:r>
            <a:endParaRPr lang="en-US" sz="1350" dirty="0"/>
          </a:p>
        </p:txBody>
      </p:sp>
      <p:sp>
        <p:nvSpPr>
          <p:cNvPr id="101" name="Text 74"/>
          <p:cNvSpPr/>
          <p:nvPr/>
        </p:nvSpPr>
        <p:spPr>
          <a:xfrm>
            <a:off x="9030598" y="3691732"/>
            <a:ext cx="14834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contribution</a:t>
            </a:r>
            <a:endParaRPr lang="en-US" sz="990" dirty="0"/>
          </a:p>
        </p:txBody>
      </p:sp>
      <p:sp>
        <p:nvSpPr>
          <p:cNvPr id="102" name="Shape 75"/>
          <p:cNvSpPr/>
          <p:nvPr/>
        </p:nvSpPr>
        <p:spPr>
          <a:xfrm>
            <a:off x="9030598" y="3958432"/>
            <a:ext cx="1348581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3" name="Shape 76"/>
          <p:cNvSpPr/>
          <p:nvPr/>
        </p:nvSpPr>
        <p:spPr>
          <a:xfrm>
            <a:off x="9030598" y="3958432"/>
            <a:ext cx="458391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4" name="Image 2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030598" y="4186834"/>
            <a:ext cx="148432" cy="148431"/>
          </a:xfrm>
          <a:prstGeom prst="rect">
            <a:avLst/>
          </a:prstGeom>
        </p:spPr>
      </p:pic>
      <p:sp>
        <p:nvSpPr>
          <p:cNvPr id="105" name="Text 77"/>
          <p:cNvSpPr/>
          <p:nvPr/>
        </p:nvSpPr>
        <p:spPr>
          <a:xfrm>
            <a:off x="9270311" y="4186834"/>
            <a:ext cx="750887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ticket delivered</a:t>
            </a:r>
            <a:endParaRPr lang="en-US" sz="1080" dirty="0"/>
          </a:p>
        </p:txBody>
      </p:sp>
      <p:pic>
        <p:nvPicPr>
          <p:cNvPr id="106" name="Image 2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030598" y="4597004"/>
            <a:ext cx="148432" cy="148431"/>
          </a:xfrm>
          <a:prstGeom prst="rect">
            <a:avLst/>
          </a:prstGeom>
        </p:spPr>
      </p:pic>
      <p:sp>
        <p:nvSpPr>
          <p:cNvPr id="107" name="Text 78"/>
          <p:cNvSpPr/>
          <p:nvPr/>
        </p:nvSpPr>
        <p:spPr>
          <a:xfrm>
            <a:off x="9270311" y="4597004"/>
            <a:ext cx="927497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training done</a:t>
            </a:r>
            <a:endParaRPr lang="en-US" sz="1080" dirty="0"/>
          </a:p>
        </p:txBody>
      </p:sp>
      <p:pic>
        <p:nvPicPr>
          <p:cNvPr id="108" name="Image 2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030598" y="5007175"/>
            <a:ext cx="148432" cy="148431"/>
          </a:xfrm>
          <a:prstGeom prst="rect">
            <a:avLst/>
          </a:prstGeom>
        </p:spPr>
      </p:pic>
      <p:sp>
        <p:nvSpPr>
          <p:cNvPr id="109" name="Text 79"/>
          <p:cNvSpPr/>
          <p:nvPr/>
        </p:nvSpPr>
        <p:spPr>
          <a:xfrm>
            <a:off x="9270311" y="5007175"/>
            <a:ext cx="97155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Check-in with HR</a:t>
            </a:r>
            <a:endParaRPr lang="en-US" sz="1080" dirty="0"/>
          </a:p>
        </p:txBody>
      </p:sp>
      <p:sp>
        <p:nvSpPr>
          <p:cNvPr id="120" name="Shape 87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1" name="Shape 88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2" name="Shape 89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23" name="Image 3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24" name="Text 90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25" name="Text 91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26" name="Shape 92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7" name="Text 93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28" name="Shape 94"/>
          <p:cNvSpPr/>
          <p:nvPr/>
        </p:nvSpPr>
        <p:spPr>
          <a:xfrm>
            <a:off x="14155937" y="2612628"/>
            <a:ext cx="3710583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9" name="Text 95"/>
          <p:cNvSpPr/>
          <p:nvPr/>
        </p:nvSpPr>
        <p:spPr>
          <a:xfrm>
            <a:off x="14315957" y="2726928"/>
            <a:ext cx="35018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still needs a person in this onboarding?</a:t>
            </a:r>
            <a:endParaRPr lang="en-US" sz="1260" dirty="0"/>
          </a:p>
        </p:txBody>
      </p:sp>
      <p:sp>
        <p:nvSpPr>
          <p:cNvPr id="130" name="Shape 96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1" name="Text 97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steps of thirty-eight: the manager 1:1, the buddy introduction, the probation review and the access sign-off.</a:t>
            </a:r>
            <a:endParaRPr lang="en-US" sz="1260" dirty="0"/>
          </a:p>
        </p:txBody>
      </p:sp>
      <p:sp>
        <p:nvSpPr>
          <p:cNvPr id="132" name="Shape 98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3" name="Text 99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COMPLETE</a:t>
            </a:r>
            <a:endParaRPr lang="en-US" sz="990" dirty="0"/>
          </a:p>
        </p:txBody>
      </p:sp>
      <p:sp>
        <p:nvSpPr>
          <p:cNvPr id="134" name="Text 100"/>
          <p:cNvSpPr/>
          <p:nvPr/>
        </p:nvSpPr>
        <p:spPr>
          <a:xfrm>
            <a:off x="12781161" y="4494610"/>
            <a:ext cx="93186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Pre-boarding</a:t>
            </a:r>
            <a:endParaRPr lang="en-US" sz="1080" dirty="0"/>
          </a:p>
        </p:txBody>
      </p:sp>
      <p:sp>
        <p:nvSpPr>
          <p:cNvPr id="135" name="Text 101"/>
          <p:cNvSpPr/>
          <p:nvPr/>
        </p:nvSpPr>
        <p:spPr>
          <a:xfrm>
            <a:off x="17454961" y="4494610"/>
            <a:ext cx="31511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080" dirty="0"/>
          </a:p>
        </p:txBody>
      </p:sp>
      <p:sp>
        <p:nvSpPr>
          <p:cNvPr id="136" name="Shape 102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7" name="Shape 103"/>
          <p:cNvSpPr/>
          <p:nvPr/>
        </p:nvSpPr>
        <p:spPr>
          <a:xfrm>
            <a:off x="12781161" y="4716859"/>
            <a:ext cx="4912719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8" name="Text 104"/>
          <p:cNvSpPr/>
          <p:nvPr/>
        </p:nvSpPr>
        <p:spPr>
          <a:xfrm>
            <a:off x="12781161" y="4899621"/>
            <a:ext cx="42148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</a:t>
            </a:r>
            <a:endParaRPr lang="en-US" sz="1080" dirty="0"/>
          </a:p>
        </p:txBody>
      </p:sp>
      <p:sp>
        <p:nvSpPr>
          <p:cNvPr id="139" name="Text 105"/>
          <p:cNvSpPr/>
          <p:nvPr/>
        </p:nvSpPr>
        <p:spPr>
          <a:xfrm>
            <a:off x="17454961" y="4899621"/>
            <a:ext cx="31511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080" dirty="0"/>
          </a:p>
        </p:txBody>
      </p:sp>
      <p:sp>
        <p:nvSpPr>
          <p:cNvPr id="140" name="Shape 106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1" name="Shape 107"/>
          <p:cNvSpPr/>
          <p:nvPr/>
        </p:nvSpPr>
        <p:spPr>
          <a:xfrm>
            <a:off x="12781161" y="5121871"/>
            <a:ext cx="4912719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2" name="Text 108"/>
          <p:cNvSpPr/>
          <p:nvPr/>
        </p:nvSpPr>
        <p:spPr>
          <a:xfrm>
            <a:off x="12781161" y="5304631"/>
            <a:ext cx="53359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</a:t>
            </a:r>
            <a:endParaRPr lang="en-US" sz="1080" dirty="0"/>
          </a:p>
        </p:txBody>
      </p:sp>
      <p:sp>
        <p:nvSpPr>
          <p:cNvPr id="143" name="Text 109"/>
          <p:cNvSpPr/>
          <p:nvPr/>
        </p:nvSpPr>
        <p:spPr>
          <a:xfrm>
            <a:off x="17529375" y="5304631"/>
            <a:ext cx="24070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</a:t>
            </a:r>
            <a:endParaRPr lang="en-US" sz="1080" dirty="0"/>
          </a:p>
        </p:txBody>
      </p:sp>
      <p:sp>
        <p:nvSpPr>
          <p:cNvPr id="144" name="Shape 110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5" name="Shape 111"/>
          <p:cNvSpPr/>
          <p:nvPr/>
        </p:nvSpPr>
        <p:spPr>
          <a:xfrm>
            <a:off x="12781161" y="5526882"/>
            <a:ext cx="3537149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6" name="Text 112"/>
          <p:cNvSpPr/>
          <p:nvPr/>
        </p:nvSpPr>
        <p:spPr>
          <a:xfrm>
            <a:off x="12781161" y="5709643"/>
            <a:ext cx="5367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30</a:t>
            </a:r>
            <a:endParaRPr lang="en-US" sz="1080" dirty="0"/>
          </a:p>
        </p:txBody>
      </p:sp>
      <p:sp>
        <p:nvSpPr>
          <p:cNvPr id="147" name="Text 113"/>
          <p:cNvSpPr/>
          <p:nvPr/>
        </p:nvSpPr>
        <p:spPr>
          <a:xfrm>
            <a:off x="17515286" y="5709643"/>
            <a:ext cx="25479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1080" dirty="0"/>
          </a:p>
        </p:txBody>
      </p:sp>
      <p:sp>
        <p:nvSpPr>
          <p:cNvPr id="148" name="Shape 114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9" name="Shape 115"/>
          <p:cNvSpPr/>
          <p:nvPr/>
        </p:nvSpPr>
        <p:spPr>
          <a:xfrm>
            <a:off x="12781161" y="5931893"/>
            <a:ext cx="1670250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0" name="Shape 116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1" name="Text 117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remaining steps</a:t>
            </a:r>
            <a:endParaRPr lang="en-US" sz="1260" dirty="0"/>
          </a:p>
        </p:txBody>
      </p:sp>
      <p:sp>
        <p:nvSpPr>
          <p:cNvPr id="152" name="Text 118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990" dirty="0"/>
          </a:p>
        </p:txBody>
      </p:sp>
      <p:sp>
        <p:nvSpPr>
          <p:cNvPr id="153" name="Shape 119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4" name="Text 120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L. Meier (manager)</a:t>
            </a:r>
            <a:endParaRPr lang="en-US" sz="1170" dirty="0"/>
          </a:p>
        </p:txBody>
      </p:sp>
      <p:sp>
        <p:nvSpPr>
          <p:cNvPr id="155" name="Text 121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Buddy</a:t>
            </a:r>
            <a:endParaRPr lang="en-US" sz="990" dirty="0"/>
          </a:p>
        </p:txBody>
      </p:sp>
      <p:sp>
        <p:nvSpPr>
          <p:cNvPr id="156" name="Shape 122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7" name="Text 123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M. Bianchi</a:t>
            </a:r>
            <a:endParaRPr lang="en-US" sz="1170" dirty="0"/>
          </a:p>
        </p:txBody>
      </p:sp>
      <p:sp>
        <p:nvSpPr>
          <p:cNvPr id="158" name="Text 124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Probation review</a:t>
            </a:r>
            <a:endParaRPr lang="en-US" sz="990" dirty="0"/>
          </a:p>
        </p:txBody>
      </p:sp>
      <p:sp>
        <p:nvSpPr>
          <p:cNvPr id="159" name="Shape 125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0" name="Text 126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Dec 2026</a:t>
            </a:r>
            <a:endParaRPr lang="en-US" sz="1170" dirty="0"/>
          </a:p>
        </p:txBody>
      </p:sp>
      <p:sp>
        <p:nvSpPr>
          <p:cNvPr id="161" name="Shape 127"/>
          <p:cNvSpPr/>
          <p:nvPr/>
        </p:nvSpPr>
        <p:spPr>
          <a:xfrm>
            <a:off x="12781161" y="8631437"/>
            <a:ext cx="1989140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2" name="Text 128"/>
          <p:cNvSpPr/>
          <p:nvPr/>
        </p:nvSpPr>
        <p:spPr>
          <a:xfrm>
            <a:off x="12941181" y="8711447"/>
            <a:ext cx="1745300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onboarding run</a:t>
            </a:r>
            <a:endParaRPr lang="en-US" sz="1170" dirty="0"/>
          </a:p>
        </p:txBody>
      </p:sp>
      <p:sp>
        <p:nvSpPr>
          <p:cNvPr id="163" name="Shape 129"/>
          <p:cNvSpPr/>
          <p:nvPr/>
        </p:nvSpPr>
        <p:spPr>
          <a:xfrm>
            <a:off x="14861582" y="8631437"/>
            <a:ext cx="619321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64" name="Text 130"/>
          <p:cNvSpPr/>
          <p:nvPr/>
        </p:nvSpPr>
        <p:spPr>
          <a:xfrm>
            <a:off x="15034302" y="8724147"/>
            <a:ext cx="350081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65" name="Shape 131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6" name="Shape 132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67" name="Image 3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68" name="Text 133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70" name="Picture 169" descr="Android Apps by Hello Clever on Google Play">
            <a:extLst>
              <a:ext uri="{FF2B5EF4-FFF2-40B4-BE49-F238E27FC236}">
                <a16:creationId xmlns:a16="http://schemas.microsoft.com/office/drawing/2014/main" id="{1D677E47-1FCA-6B75-24C8-97CBCC2C9A2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sp>
        <p:nvSpPr>
          <p:cNvPr id="33" name="Shape 22"/>
          <p:cNvSpPr/>
          <p:nvPr/>
        </p:nvSpPr>
        <p:spPr>
          <a:xfrm>
            <a:off x="0" y="3599656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4" name="Shape 23"/>
          <p:cNvSpPr/>
          <p:nvPr/>
        </p:nvSpPr>
        <p:spPr>
          <a:xfrm>
            <a:off x="0" y="3599656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709017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5682080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paths generated from the gap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180941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307941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440746" y="1183283"/>
            <a:ext cx="1527375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613466" y="1264563"/>
            <a:ext cx="1258135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to cohort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5519936" cy="8133755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4887972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 reskilling — cohort of 6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488797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Composed from existing LMS content, internal experts and real work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294063" y="2683867"/>
            <a:ext cx="5083374" cy="642342"/>
          </a:xfrm>
          <a:prstGeom prst="roundRect">
            <a:avLst>
              <a:gd name="adj" fmla="val 7118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5" name="Shape 40"/>
          <p:cNvSpPr/>
          <p:nvPr/>
        </p:nvSpPr>
        <p:spPr>
          <a:xfrm>
            <a:off x="3489524" y="2856508"/>
            <a:ext cx="203398" cy="297061"/>
          </a:xfrm>
          <a:prstGeom prst="roundRect">
            <a:avLst>
              <a:gd name="adj" fmla="val 50000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6" name="Text 41"/>
          <p:cNvSpPr/>
          <p:nvPr/>
        </p:nvSpPr>
        <p:spPr>
          <a:xfrm>
            <a:off x="3451424" y="2856508"/>
            <a:ext cx="27959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80" dirty="0"/>
          </a:p>
        </p:txBody>
      </p:sp>
      <p:sp>
        <p:nvSpPr>
          <p:cNvPr id="57" name="Text 42"/>
          <p:cNvSpPr/>
          <p:nvPr/>
        </p:nvSpPr>
        <p:spPr>
          <a:xfrm>
            <a:off x="3875683" y="2909689"/>
            <a:ext cx="258161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 domain foundations</a:t>
            </a:r>
            <a:endParaRPr lang="en-US" sz="1260" dirty="0"/>
          </a:p>
        </p:txBody>
      </p:sp>
      <p:sp>
        <p:nvSpPr>
          <p:cNvPr id="58" name="Text 43"/>
          <p:cNvSpPr/>
          <p:nvPr/>
        </p:nvSpPr>
        <p:spPr>
          <a:xfrm>
            <a:off x="6405364" y="2922389"/>
            <a:ext cx="109319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LMS</a:t>
            </a:r>
            <a:endParaRPr lang="en-US" sz="1080" dirty="0"/>
          </a:p>
        </p:txBody>
      </p:sp>
      <p:sp>
        <p:nvSpPr>
          <p:cNvPr id="59" name="Text 44"/>
          <p:cNvSpPr/>
          <p:nvPr/>
        </p:nvSpPr>
        <p:spPr>
          <a:xfrm>
            <a:off x="7711678" y="2916039"/>
            <a:ext cx="47029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100 %</a:t>
            </a:r>
            <a:endParaRPr lang="en-US" sz="1170" dirty="0"/>
          </a:p>
        </p:txBody>
      </p:sp>
      <p:sp>
        <p:nvSpPr>
          <p:cNvPr id="60" name="Shape 45"/>
          <p:cNvSpPr/>
          <p:nvPr/>
        </p:nvSpPr>
        <p:spPr>
          <a:xfrm>
            <a:off x="3294063" y="3463330"/>
            <a:ext cx="5083374" cy="642342"/>
          </a:xfrm>
          <a:prstGeom prst="roundRect">
            <a:avLst>
              <a:gd name="adj" fmla="val 7118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1" name="Shape 46"/>
          <p:cNvSpPr/>
          <p:nvPr/>
        </p:nvSpPr>
        <p:spPr>
          <a:xfrm>
            <a:off x="3489524" y="3635971"/>
            <a:ext cx="205978" cy="297061"/>
          </a:xfrm>
          <a:prstGeom prst="roundRect">
            <a:avLst>
              <a:gd name="adj" fmla="val 50000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Text 47"/>
          <p:cNvSpPr/>
          <p:nvPr/>
        </p:nvSpPr>
        <p:spPr>
          <a:xfrm>
            <a:off x="3451424" y="3635971"/>
            <a:ext cx="28217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80" dirty="0"/>
          </a:p>
        </p:txBody>
      </p:sp>
      <p:sp>
        <p:nvSpPr>
          <p:cNvPr id="63" name="Text 48"/>
          <p:cNvSpPr/>
          <p:nvPr/>
        </p:nvSpPr>
        <p:spPr>
          <a:xfrm>
            <a:off x="3878263" y="3689152"/>
            <a:ext cx="26145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20022 messaging</a:t>
            </a:r>
            <a:endParaRPr lang="en-US" sz="1260" dirty="0"/>
          </a:p>
        </p:txBody>
      </p:sp>
      <p:sp>
        <p:nvSpPr>
          <p:cNvPr id="64" name="Text 49"/>
          <p:cNvSpPr/>
          <p:nvPr/>
        </p:nvSpPr>
        <p:spPr>
          <a:xfrm>
            <a:off x="6437908" y="3701852"/>
            <a:ext cx="110609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LMS + lab</a:t>
            </a:r>
            <a:endParaRPr lang="en-US" sz="1080" dirty="0"/>
          </a:p>
        </p:txBody>
      </p:sp>
      <p:sp>
        <p:nvSpPr>
          <p:cNvPr id="65" name="Text 50"/>
          <p:cNvSpPr/>
          <p:nvPr/>
        </p:nvSpPr>
        <p:spPr>
          <a:xfrm>
            <a:off x="7757121" y="3695502"/>
            <a:ext cx="42485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74 %</a:t>
            </a:r>
            <a:endParaRPr lang="en-US" sz="1170" dirty="0"/>
          </a:p>
        </p:txBody>
      </p:sp>
      <p:sp>
        <p:nvSpPr>
          <p:cNvPr id="66" name="Shape 51"/>
          <p:cNvSpPr/>
          <p:nvPr/>
        </p:nvSpPr>
        <p:spPr>
          <a:xfrm>
            <a:off x="3294063" y="4242792"/>
            <a:ext cx="5083374" cy="642342"/>
          </a:xfrm>
          <a:prstGeom prst="roundRect">
            <a:avLst>
              <a:gd name="adj" fmla="val 7118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7" name="Shape 52"/>
          <p:cNvSpPr/>
          <p:nvPr/>
        </p:nvSpPr>
        <p:spPr>
          <a:xfrm>
            <a:off x="3489524" y="4415433"/>
            <a:ext cx="205978" cy="297061"/>
          </a:xfrm>
          <a:prstGeom prst="roundRect">
            <a:avLst>
              <a:gd name="adj" fmla="val 50000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Text 53"/>
          <p:cNvSpPr/>
          <p:nvPr/>
        </p:nvSpPr>
        <p:spPr>
          <a:xfrm>
            <a:off x="3451424" y="4415433"/>
            <a:ext cx="28217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80" dirty="0"/>
          </a:p>
        </p:txBody>
      </p:sp>
      <p:sp>
        <p:nvSpPr>
          <p:cNvPr id="69" name="Text 54"/>
          <p:cNvSpPr/>
          <p:nvPr/>
        </p:nvSpPr>
        <p:spPr>
          <a:xfrm>
            <a:off x="3878263" y="4468614"/>
            <a:ext cx="26145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scheme rules</a:t>
            </a:r>
            <a:endParaRPr lang="en-US" sz="1260" dirty="0"/>
          </a:p>
        </p:txBody>
      </p:sp>
      <p:sp>
        <p:nvSpPr>
          <p:cNvPr id="70" name="Text 55"/>
          <p:cNvSpPr/>
          <p:nvPr/>
        </p:nvSpPr>
        <p:spPr>
          <a:xfrm>
            <a:off x="6437908" y="4481314"/>
            <a:ext cx="110609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course</a:t>
            </a:r>
            <a:endParaRPr lang="en-US" sz="1080" dirty="0"/>
          </a:p>
        </p:txBody>
      </p:sp>
      <p:sp>
        <p:nvSpPr>
          <p:cNvPr id="71" name="Text 56"/>
          <p:cNvSpPr/>
          <p:nvPr/>
        </p:nvSpPr>
        <p:spPr>
          <a:xfrm>
            <a:off x="7757121" y="4474964"/>
            <a:ext cx="42485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42 %</a:t>
            </a:r>
            <a:endParaRPr lang="en-US" sz="1170" dirty="0"/>
          </a:p>
        </p:txBody>
      </p:sp>
      <p:sp>
        <p:nvSpPr>
          <p:cNvPr id="72" name="Shape 57"/>
          <p:cNvSpPr/>
          <p:nvPr/>
        </p:nvSpPr>
        <p:spPr>
          <a:xfrm>
            <a:off x="3294063" y="5022255"/>
            <a:ext cx="5083374" cy="642342"/>
          </a:xfrm>
          <a:prstGeom prst="roundRect">
            <a:avLst>
              <a:gd name="adj" fmla="val 7118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3" name="Shape 58"/>
          <p:cNvSpPr/>
          <p:nvPr/>
        </p:nvSpPr>
        <p:spPr>
          <a:xfrm>
            <a:off x="3489524" y="5194896"/>
            <a:ext cx="205978" cy="297061"/>
          </a:xfrm>
          <a:prstGeom prst="roundRect">
            <a:avLst>
              <a:gd name="adj" fmla="val 50000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4" name="Text 59"/>
          <p:cNvSpPr/>
          <p:nvPr/>
        </p:nvSpPr>
        <p:spPr>
          <a:xfrm>
            <a:off x="3451424" y="5194896"/>
            <a:ext cx="28217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80" dirty="0"/>
          </a:p>
        </p:txBody>
      </p:sp>
      <p:sp>
        <p:nvSpPr>
          <p:cNvPr id="75" name="Text 60"/>
          <p:cNvSpPr/>
          <p:nvPr/>
        </p:nvSpPr>
        <p:spPr>
          <a:xfrm>
            <a:off x="3878263" y="5248077"/>
            <a:ext cx="26145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 a live incident</a:t>
            </a:r>
            <a:endParaRPr lang="en-US" sz="1260" dirty="0"/>
          </a:p>
        </p:txBody>
      </p:sp>
      <p:sp>
        <p:nvSpPr>
          <p:cNvPr id="76" name="Text 61"/>
          <p:cNvSpPr/>
          <p:nvPr/>
        </p:nvSpPr>
        <p:spPr>
          <a:xfrm>
            <a:off x="6437908" y="5260777"/>
            <a:ext cx="110609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the job</a:t>
            </a:r>
            <a:endParaRPr lang="en-US" sz="1080" dirty="0"/>
          </a:p>
        </p:txBody>
      </p:sp>
      <p:sp>
        <p:nvSpPr>
          <p:cNvPr id="77" name="Text 62"/>
          <p:cNvSpPr/>
          <p:nvPr/>
        </p:nvSpPr>
        <p:spPr>
          <a:xfrm>
            <a:off x="7757121" y="5254427"/>
            <a:ext cx="42485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20 %</a:t>
            </a:r>
            <a:endParaRPr lang="en-US" sz="1170" dirty="0"/>
          </a:p>
        </p:txBody>
      </p:sp>
      <p:sp>
        <p:nvSpPr>
          <p:cNvPr id="78" name="Shape 63"/>
          <p:cNvSpPr/>
          <p:nvPr/>
        </p:nvSpPr>
        <p:spPr>
          <a:xfrm>
            <a:off x="3294063" y="5801718"/>
            <a:ext cx="5083374" cy="642342"/>
          </a:xfrm>
          <a:prstGeom prst="roundRect">
            <a:avLst>
              <a:gd name="adj" fmla="val 7118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9" name="Shape 64"/>
          <p:cNvSpPr/>
          <p:nvPr/>
        </p:nvSpPr>
        <p:spPr>
          <a:xfrm>
            <a:off x="3489524" y="5974359"/>
            <a:ext cx="205978" cy="297061"/>
          </a:xfrm>
          <a:prstGeom prst="roundRect">
            <a:avLst>
              <a:gd name="adj" fmla="val 50000"/>
            </a:avLst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0" name="Text 65"/>
          <p:cNvSpPr/>
          <p:nvPr/>
        </p:nvSpPr>
        <p:spPr>
          <a:xfrm>
            <a:off x="3451424" y="5974359"/>
            <a:ext cx="282178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80" dirty="0"/>
          </a:p>
        </p:txBody>
      </p:sp>
      <p:sp>
        <p:nvSpPr>
          <p:cNvPr id="81" name="Text 66"/>
          <p:cNvSpPr/>
          <p:nvPr/>
        </p:nvSpPr>
        <p:spPr>
          <a:xfrm>
            <a:off x="3878263" y="6027539"/>
            <a:ext cx="26145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Certification</a:t>
            </a:r>
            <a:endParaRPr lang="en-US" sz="1260" dirty="0"/>
          </a:p>
        </p:txBody>
      </p:sp>
      <p:sp>
        <p:nvSpPr>
          <p:cNvPr id="82" name="Text 67"/>
          <p:cNvSpPr/>
          <p:nvPr/>
        </p:nvSpPr>
        <p:spPr>
          <a:xfrm>
            <a:off x="6437908" y="6040239"/>
            <a:ext cx="110609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</a:t>
            </a:r>
            <a:endParaRPr lang="en-US" sz="1080" dirty="0"/>
          </a:p>
        </p:txBody>
      </p:sp>
      <p:sp>
        <p:nvSpPr>
          <p:cNvPr id="83" name="Text 68"/>
          <p:cNvSpPr/>
          <p:nvPr/>
        </p:nvSpPr>
        <p:spPr>
          <a:xfrm>
            <a:off x="7757121" y="6033890"/>
            <a:ext cx="42485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0 %</a:t>
            </a:r>
            <a:endParaRPr lang="en-US" sz="1170" dirty="0"/>
          </a:p>
        </p:txBody>
      </p:sp>
      <p:sp>
        <p:nvSpPr>
          <p:cNvPr id="84" name="Shape 69"/>
          <p:cNvSpPr/>
          <p:nvPr/>
        </p:nvSpPr>
        <p:spPr>
          <a:xfrm>
            <a:off x="8778479" y="1924645"/>
            <a:ext cx="3314701" cy="2698552"/>
          </a:xfrm>
          <a:prstGeom prst="roundRect">
            <a:avLst>
              <a:gd name="adj" fmla="val 3388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5" name="Text 70"/>
          <p:cNvSpPr/>
          <p:nvPr/>
        </p:nvSpPr>
        <p:spPr>
          <a:xfrm>
            <a:off x="8996760" y="2142927"/>
            <a:ext cx="30790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Scheduled around real capacity</a:t>
            </a:r>
            <a:endParaRPr lang="en-US" sz="1440" dirty="0"/>
          </a:p>
        </p:txBody>
      </p:sp>
      <p:sp>
        <p:nvSpPr>
          <p:cNvPr id="86" name="Text 71"/>
          <p:cNvSpPr/>
          <p:nvPr/>
        </p:nvSpPr>
        <p:spPr>
          <a:xfrm>
            <a:off x="8996760" y="2381647"/>
            <a:ext cx="307907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time is booked, not hoped for</a:t>
            </a:r>
            <a:endParaRPr lang="en-US" sz="1080" dirty="0"/>
          </a:p>
        </p:txBody>
      </p:sp>
      <p:sp>
        <p:nvSpPr>
          <p:cNvPr id="87" name="Shape 72"/>
          <p:cNvSpPr/>
          <p:nvPr/>
        </p:nvSpPr>
        <p:spPr>
          <a:xfrm>
            <a:off x="8996760" y="2998589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8" name="Text 73"/>
          <p:cNvSpPr/>
          <p:nvPr/>
        </p:nvSpPr>
        <p:spPr>
          <a:xfrm>
            <a:off x="8996760" y="2752328"/>
            <a:ext cx="191258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Hours per person / week</a:t>
            </a:r>
            <a:endParaRPr lang="en-US" sz="1170" dirty="0"/>
          </a:p>
        </p:txBody>
      </p:sp>
      <p:sp>
        <p:nvSpPr>
          <p:cNvPr id="89" name="Text 74"/>
          <p:cNvSpPr/>
          <p:nvPr/>
        </p:nvSpPr>
        <p:spPr>
          <a:xfrm>
            <a:off x="11778855" y="2752328"/>
            <a:ext cx="17224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70" dirty="0"/>
          </a:p>
        </p:txBody>
      </p:sp>
      <p:sp>
        <p:nvSpPr>
          <p:cNvPr id="90" name="Shape 75"/>
          <p:cNvSpPr/>
          <p:nvPr/>
        </p:nvSpPr>
        <p:spPr>
          <a:xfrm>
            <a:off x="8996760" y="3463131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1" name="Text 76"/>
          <p:cNvSpPr/>
          <p:nvPr/>
        </p:nvSpPr>
        <p:spPr>
          <a:xfrm>
            <a:off x="8996760" y="3216870"/>
            <a:ext cx="157053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Booked in calendars</a:t>
            </a:r>
            <a:endParaRPr lang="en-US" sz="1170" dirty="0"/>
          </a:p>
        </p:txBody>
      </p:sp>
      <p:sp>
        <p:nvSpPr>
          <p:cNvPr id="92" name="Text 77"/>
          <p:cNvSpPr/>
          <p:nvPr/>
        </p:nvSpPr>
        <p:spPr>
          <a:xfrm>
            <a:off x="11620301" y="3216870"/>
            <a:ext cx="33079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1170" dirty="0"/>
          </a:p>
        </p:txBody>
      </p:sp>
      <p:sp>
        <p:nvSpPr>
          <p:cNvPr id="93" name="Shape 78"/>
          <p:cNvSpPr/>
          <p:nvPr/>
        </p:nvSpPr>
        <p:spPr>
          <a:xfrm>
            <a:off x="8996760" y="3927674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4" name="Text 79"/>
          <p:cNvSpPr/>
          <p:nvPr/>
        </p:nvSpPr>
        <p:spPr>
          <a:xfrm>
            <a:off x="8996760" y="3681413"/>
            <a:ext cx="125174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 assigned</a:t>
            </a:r>
            <a:endParaRPr lang="en-US" sz="1170" dirty="0"/>
          </a:p>
        </p:txBody>
      </p:sp>
      <p:sp>
        <p:nvSpPr>
          <p:cNvPr id="95" name="Text 80"/>
          <p:cNvSpPr/>
          <p:nvPr/>
        </p:nvSpPr>
        <p:spPr>
          <a:xfrm>
            <a:off x="11215292" y="3681413"/>
            <a:ext cx="73580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experts</a:t>
            </a:r>
            <a:endParaRPr lang="en-US" sz="1170" dirty="0"/>
          </a:p>
        </p:txBody>
      </p:sp>
      <p:sp>
        <p:nvSpPr>
          <p:cNvPr id="96" name="Shape 81"/>
          <p:cNvSpPr/>
          <p:nvPr/>
        </p:nvSpPr>
        <p:spPr>
          <a:xfrm>
            <a:off x="8996760" y="4392216"/>
            <a:ext cx="2878138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7" name="Text 82"/>
          <p:cNvSpPr/>
          <p:nvPr/>
        </p:nvSpPr>
        <p:spPr>
          <a:xfrm>
            <a:off x="8996760" y="4145955"/>
            <a:ext cx="72985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by</a:t>
            </a:r>
            <a:endParaRPr lang="en-US" sz="1170" dirty="0"/>
          </a:p>
        </p:txBody>
      </p:sp>
      <p:sp>
        <p:nvSpPr>
          <p:cNvPr id="98" name="Text 83"/>
          <p:cNvSpPr/>
          <p:nvPr/>
        </p:nvSpPr>
        <p:spPr>
          <a:xfrm>
            <a:off x="11084919" y="4145955"/>
            <a:ext cx="86618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Oct 2026</a:t>
            </a:r>
            <a:endParaRPr lang="en-US" sz="1170" dirty="0"/>
          </a:p>
        </p:txBody>
      </p:sp>
      <p:sp>
        <p:nvSpPr>
          <p:cNvPr id="99" name="Shape 84"/>
          <p:cNvSpPr/>
          <p:nvPr/>
        </p:nvSpPr>
        <p:spPr>
          <a:xfrm>
            <a:off x="8778479" y="4805958"/>
            <a:ext cx="3314701" cy="2036167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0" name="Text 85"/>
          <p:cNvSpPr/>
          <p:nvPr/>
        </p:nvSpPr>
        <p:spPr>
          <a:xfrm>
            <a:off x="8996760" y="5024239"/>
            <a:ext cx="1472089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coverage</a:t>
            </a:r>
            <a:endParaRPr lang="en-US" sz="1440" dirty="0"/>
          </a:p>
        </p:txBody>
      </p:sp>
      <p:sp>
        <p:nvSpPr>
          <p:cNvPr id="101" name="Shape 86"/>
          <p:cNvSpPr/>
          <p:nvPr/>
        </p:nvSpPr>
        <p:spPr>
          <a:xfrm>
            <a:off x="8996760" y="5377260"/>
            <a:ext cx="2878138" cy="1246585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2" name="Text 87"/>
          <p:cNvSpPr/>
          <p:nvPr/>
        </p:nvSpPr>
        <p:spPr>
          <a:xfrm>
            <a:off x="9192221" y="5572721"/>
            <a:ext cx="273593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 domain, projected</a:t>
            </a:r>
            <a:endParaRPr lang="en-US" sz="1080" dirty="0"/>
          </a:p>
        </p:txBody>
      </p:sp>
      <p:sp>
        <p:nvSpPr>
          <p:cNvPr id="103" name="Text 88"/>
          <p:cNvSpPr/>
          <p:nvPr/>
        </p:nvSpPr>
        <p:spPr>
          <a:xfrm>
            <a:off x="9192221" y="5806282"/>
            <a:ext cx="2735938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84%</a:t>
            </a:r>
            <a:endParaRPr lang="en-US" sz="2700" dirty="0"/>
          </a:p>
        </p:txBody>
      </p:sp>
      <p:sp>
        <p:nvSpPr>
          <p:cNvPr id="104" name="Text 89"/>
          <p:cNvSpPr/>
          <p:nvPr/>
        </p:nvSpPr>
        <p:spPr>
          <a:xfrm>
            <a:off x="9192221" y="6263283"/>
            <a:ext cx="58955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+43 pts</a:t>
            </a:r>
            <a:endParaRPr lang="en-US" sz="1080" dirty="0"/>
          </a:p>
        </p:txBody>
      </p:sp>
      <p:sp>
        <p:nvSpPr>
          <p:cNvPr id="105" name="Text 90"/>
          <p:cNvSpPr/>
          <p:nvPr/>
        </p:nvSpPr>
        <p:spPr>
          <a:xfrm>
            <a:off x="9796860" y="6263283"/>
            <a:ext cx="46632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Q4</a:t>
            </a:r>
            <a:endParaRPr lang="en-US" sz="1080" dirty="0"/>
          </a:p>
        </p:txBody>
      </p:sp>
      <p:sp>
        <p:nvSpPr>
          <p:cNvPr id="106" name="Shape 91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7" name="Shape 92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8" name="Shape 93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9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10" name="Text 94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11" name="Text 95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12" name="Shape 96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3" name="Text 97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14" name="Shape 98"/>
          <p:cNvSpPr/>
          <p:nvPr/>
        </p:nvSpPr>
        <p:spPr>
          <a:xfrm>
            <a:off x="14433153" y="2612628"/>
            <a:ext cx="3433367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5" name="Text 99"/>
          <p:cNvSpPr/>
          <p:nvPr/>
        </p:nvSpPr>
        <p:spPr>
          <a:xfrm>
            <a:off x="14593173" y="2726928"/>
            <a:ext cx="32163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the cohort be ready before October?</a:t>
            </a:r>
            <a:endParaRPr lang="en-US" sz="1260" dirty="0"/>
          </a:p>
        </p:txBody>
      </p:sp>
      <p:sp>
        <p:nvSpPr>
          <p:cNvPr id="116" name="Shape 100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7" name="Text 101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Yes, if four hours a week are booked now. Two members are at 96% utilisation and need relief first.</a:t>
            </a:r>
            <a:endParaRPr lang="en-US" sz="1260" dirty="0"/>
          </a:p>
        </p:txBody>
      </p:sp>
      <p:sp>
        <p:nvSpPr>
          <p:cNvPr id="118" name="Shape 102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9" name="Text 103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COMPLETE</a:t>
            </a:r>
            <a:endParaRPr lang="en-US" sz="990" dirty="0"/>
          </a:p>
        </p:txBody>
      </p:sp>
      <p:sp>
        <p:nvSpPr>
          <p:cNvPr id="120" name="Text 104"/>
          <p:cNvSpPr/>
          <p:nvPr/>
        </p:nvSpPr>
        <p:spPr>
          <a:xfrm>
            <a:off x="12781161" y="4494610"/>
            <a:ext cx="87034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Foundations</a:t>
            </a:r>
            <a:endParaRPr lang="en-US" sz="1080" dirty="0"/>
          </a:p>
        </p:txBody>
      </p:sp>
      <p:sp>
        <p:nvSpPr>
          <p:cNvPr id="121" name="Text 105"/>
          <p:cNvSpPr/>
          <p:nvPr/>
        </p:nvSpPr>
        <p:spPr>
          <a:xfrm>
            <a:off x="17454961" y="4494610"/>
            <a:ext cx="31511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080" dirty="0"/>
          </a:p>
        </p:txBody>
      </p:sp>
      <p:sp>
        <p:nvSpPr>
          <p:cNvPr id="122" name="Shape 106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3" name="Shape 107"/>
          <p:cNvSpPr/>
          <p:nvPr/>
        </p:nvSpPr>
        <p:spPr>
          <a:xfrm>
            <a:off x="12781161" y="4716859"/>
            <a:ext cx="4912719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4" name="Text 108"/>
          <p:cNvSpPr/>
          <p:nvPr/>
        </p:nvSpPr>
        <p:spPr>
          <a:xfrm>
            <a:off x="12781161" y="4899621"/>
            <a:ext cx="76795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20022</a:t>
            </a:r>
            <a:endParaRPr lang="en-US" sz="1080" dirty="0"/>
          </a:p>
        </p:txBody>
      </p:sp>
      <p:sp>
        <p:nvSpPr>
          <p:cNvPr id="125" name="Text 109"/>
          <p:cNvSpPr/>
          <p:nvPr/>
        </p:nvSpPr>
        <p:spPr>
          <a:xfrm>
            <a:off x="17531559" y="4899621"/>
            <a:ext cx="23852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1080" dirty="0"/>
          </a:p>
        </p:txBody>
      </p:sp>
      <p:sp>
        <p:nvSpPr>
          <p:cNvPr id="126" name="Shape 110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7" name="Shape 111"/>
          <p:cNvSpPr/>
          <p:nvPr/>
        </p:nvSpPr>
        <p:spPr>
          <a:xfrm>
            <a:off x="12781161" y="5121871"/>
            <a:ext cx="3635375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8" name="Text 112"/>
          <p:cNvSpPr/>
          <p:nvPr/>
        </p:nvSpPr>
        <p:spPr>
          <a:xfrm>
            <a:off x="12781161" y="5304631"/>
            <a:ext cx="95984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Scheme rules</a:t>
            </a:r>
            <a:endParaRPr lang="en-US" sz="1080" dirty="0"/>
          </a:p>
        </p:txBody>
      </p:sp>
      <p:sp>
        <p:nvSpPr>
          <p:cNvPr id="129" name="Text 113"/>
          <p:cNvSpPr/>
          <p:nvPr/>
        </p:nvSpPr>
        <p:spPr>
          <a:xfrm>
            <a:off x="17517071" y="5304631"/>
            <a:ext cx="25300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1080" dirty="0"/>
          </a:p>
        </p:txBody>
      </p:sp>
      <p:sp>
        <p:nvSpPr>
          <p:cNvPr id="130" name="Shape 114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1" name="Shape 115"/>
          <p:cNvSpPr/>
          <p:nvPr/>
        </p:nvSpPr>
        <p:spPr>
          <a:xfrm>
            <a:off x="12781161" y="5526882"/>
            <a:ext cx="2063156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2" name="Text 116"/>
          <p:cNvSpPr/>
          <p:nvPr/>
        </p:nvSpPr>
        <p:spPr>
          <a:xfrm>
            <a:off x="12781161" y="5709643"/>
            <a:ext cx="79613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Shadowing</a:t>
            </a:r>
            <a:endParaRPr lang="en-US" sz="1080" dirty="0"/>
          </a:p>
        </p:txBody>
      </p:sp>
      <p:sp>
        <p:nvSpPr>
          <p:cNvPr id="133" name="Text 117"/>
          <p:cNvSpPr/>
          <p:nvPr/>
        </p:nvSpPr>
        <p:spPr>
          <a:xfrm>
            <a:off x="17518063" y="5709643"/>
            <a:ext cx="25201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080" dirty="0"/>
          </a:p>
        </p:txBody>
      </p:sp>
      <p:sp>
        <p:nvSpPr>
          <p:cNvPr id="134" name="Shape 118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5" name="Shape 119"/>
          <p:cNvSpPr/>
          <p:nvPr/>
        </p:nvSpPr>
        <p:spPr>
          <a:xfrm>
            <a:off x="12781161" y="5931893"/>
            <a:ext cx="982465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6" name="Shape 120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7" name="Text 121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learning time</a:t>
            </a:r>
            <a:endParaRPr lang="en-US" sz="1260" dirty="0"/>
          </a:p>
        </p:txBody>
      </p:sp>
      <p:sp>
        <p:nvSpPr>
          <p:cNvPr id="138" name="Text 122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Hours per week</a:t>
            </a:r>
            <a:endParaRPr lang="en-US" sz="990" dirty="0"/>
          </a:p>
        </p:txBody>
      </p:sp>
      <p:sp>
        <p:nvSpPr>
          <p:cNvPr id="139" name="Shape 123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0" name="Text 124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70" dirty="0"/>
          </a:p>
        </p:txBody>
      </p:sp>
      <p:sp>
        <p:nvSpPr>
          <p:cNvPr id="141" name="Text 125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Relief needed</a:t>
            </a:r>
            <a:endParaRPr lang="en-US" sz="990" dirty="0"/>
          </a:p>
        </p:txBody>
      </p:sp>
      <p:sp>
        <p:nvSpPr>
          <p:cNvPr id="142" name="Shape 126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3" name="Text 127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people</a:t>
            </a:r>
            <a:endParaRPr lang="en-US" sz="1170" dirty="0"/>
          </a:p>
        </p:txBody>
      </p:sp>
      <p:sp>
        <p:nvSpPr>
          <p:cNvPr id="144" name="Text 128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by</a:t>
            </a:r>
            <a:endParaRPr lang="en-US" sz="990" dirty="0"/>
          </a:p>
        </p:txBody>
      </p:sp>
      <p:sp>
        <p:nvSpPr>
          <p:cNvPr id="145" name="Shape 129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6" name="Text 130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Oct 2026</a:t>
            </a:r>
            <a:endParaRPr lang="en-US" sz="1170" dirty="0"/>
          </a:p>
        </p:txBody>
      </p:sp>
      <p:sp>
        <p:nvSpPr>
          <p:cNvPr id="147" name="Shape 131"/>
          <p:cNvSpPr/>
          <p:nvPr/>
        </p:nvSpPr>
        <p:spPr>
          <a:xfrm>
            <a:off x="12781161" y="8631437"/>
            <a:ext cx="1597820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8" name="Text 132"/>
          <p:cNvSpPr/>
          <p:nvPr/>
        </p:nvSpPr>
        <p:spPr>
          <a:xfrm>
            <a:off x="12941181" y="8711447"/>
            <a:ext cx="1353980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calendars</a:t>
            </a:r>
            <a:endParaRPr lang="en-US" sz="1170" dirty="0"/>
          </a:p>
        </p:txBody>
      </p:sp>
      <p:sp>
        <p:nvSpPr>
          <p:cNvPr id="149" name="Shape 133"/>
          <p:cNvSpPr/>
          <p:nvPr/>
        </p:nvSpPr>
        <p:spPr>
          <a:xfrm>
            <a:off x="14470262" y="8631437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0" name="Text 134"/>
          <p:cNvSpPr/>
          <p:nvPr/>
        </p:nvSpPr>
        <p:spPr>
          <a:xfrm>
            <a:off x="14642982" y="8724147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51" name="Shape 135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2" name="Shape 136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53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54" name="Text 137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56" name="Picture 155" descr="Android Apps by Hello Clever on Google Play">
            <a:extLst>
              <a:ext uri="{FF2B5EF4-FFF2-40B4-BE49-F238E27FC236}">
                <a16:creationId xmlns:a16="http://schemas.microsoft.com/office/drawing/2014/main" id="{9A0650AB-4900-3439-4944-FB6967CDAD8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sp>
        <p:nvSpPr>
          <p:cNvPr id="35" name="Shape 23"/>
          <p:cNvSpPr/>
          <p:nvPr/>
        </p:nvSpPr>
        <p:spPr>
          <a:xfrm>
            <a:off x="0" y="3987999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6" name="Shape 24"/>
          <p:cNvSpPr/>
          <p:nvPr/>
        </p:nvSpPr>
        <p:spPr>
          <a:xfrm>
            <a:off x="0" y="3987999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8127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5740579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Engagement, wellbeing and connection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099382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226382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359189" y="1183283"/>
            <a:ext cx="1608933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531909" y="1264563"/>
            <a:ext cx="1339693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signals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2117130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71242" y="2120106"/>
            <a:ext cx="189882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index</a:t>
            </a:r>
            <a:endParaRPr lang="en-US" sz="1080" dirty="0"/>
          </a:p>
        </p:txBody>
      </p:sp>
      <p:sp>
        <p:nvSpPr>
          <p:cNvPr id="53" name="Text 38"/>
          <p:cNvSpPr/>
          <p:nvPr/>
        </p:nvSpPr>
        <p:spPr>
          <a:xfrm>
            <a:off x="3271242" y="2353667"/>
            <a:ext cx="1898829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2700" dirty="0"/>
          </a:p>
        </p:txBody>
      </p:sp>
      <p:sp>
        <p:nvSpPr>
          <p:cNvPr id="54" name="Text 39"/>
          <p:cNvSpPr/>
          <p:nvPr/>
        </p:nvSpPr>
        <p:spPr>
          <a:xfrm>
            <a:off x="3271242" y="2810669"/>
            <a:ext cx="25618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</a:t>
            </a:r>
            <a:endParaRPr lang="en-US" sz="1080" dirty="0"/>
          </a:p>
        </p:txBody>
      </p:sp>
      <p:sp>
        <p:nvSpPr>
          <p:cNvPr id="55" name="Shape 40"/>
          <p:cNvSpPr/>
          <p:nvPr/>
        </p:nvSpPr>
        <p:spPr>
          <a:xfrm>
            <a:off x="5375672" y="1924645"/>
            <a:ext cx="2117328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6" name="Text 41"/>
          <p:cNvSpPr/>
          <p:nvPr/>
        </p:nvSpPr>
        <p:spPr>
          <a:xfrm>
            <a:off x="5571133" y="2120106"/>
            <a:ext cx="189904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 rate</a:t>
            </a:r>
            <a:endParaRPr lang="en-US" sz="1080" dirty="0"/>
          </a:p>
        </p:txBody>
      </p:sp>
      <p:sp>
        <p:nvSpPr>
          <p:cNvPr id="57" name="Text 42"/>
          <p:cNvSpPr/>
          <p:nvPr/>
        </p:nvSpPr>
        <p:spPr>
          <a:xfrm>
            <a:off x="5571133" y="2353667"/>
            <a:ext cx="189904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84%</a:t>
            </a:r>
            <a:endParaRPr lang="en-US" sz="2700" dirty="0"/>
          </a:p>
        </p:txBody>
      </p:sp>
      <p:sp>
        <p:nvSpPr>
          <p:cNvPr id="58" name="Text 43"/>
          <p:cNvSpPr/>
          <p:nvPr/>
        </p:nvSpPr>
        <p:spPr>
          <a:xfrm>
            <a:off x="5571133" y="2810669"/>
            <a:ext cx="55661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+19 pts</a:t>
            </a:r>
            <a:endParaRPr lang="en-US" sz="1080" dirty="0"/>
          </a:p>
        </p:txBody>
      </p:sp>
      <p:sp>
        <p:nvSpPr>
          <p:cNvPr id="59" name="Shape 44"/>
          <p:cNvSpPr/>
          <p:nvPr/>
        </p:nvSpPr>
        <p:spPr>
          <a:xfrm>
            <a:off x="7675761" y="1924645"/>
            <a:ext cx="2117329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0" name="Text 45"/>
          <p:cNvSpPr/>
          <p:nvPr/>
        </p:nvSpPr>
        <p:spPr>
          <a:xfrm>
            <a:off x="7871222" y="2120106"/>
            <a:ext cx="189904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with burnout risk</a:t>
            </a:r>
            <a:endParaRPr lang="en-US" sz="1080" dirty="0"/>
          </a:p>
        </p:txBody>
      </p:sp>
      <p:sp>
        <p:nvSpPr>
          <p:cNvPr id="61" name="Text 46"/>
          <p:cNvSpPr/>
          <p:nvPr/>
        </p:nvSpPr>
        <p:spPr>
          <a:xfrm>
            <a:off x="7871222" y="2353667"/>
            <a:ext cx="1899048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700" dirty="0"/>
          </a:p>
        </p:txBody>
      </p:sp>
      <p:sp>
        <p:nvSpPr>
          <p:cNvPr id="62" name="Text 47"/>
          <p:cNvSpPr/>
          <p:nvPr/>
        </p:nvSpPr>
        <p:spPr>
          <a:xfrm>
            <a:off x="7871222" y="2810669"/>
            <a:ext cx="25241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B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</a:t>
            </a:r>
            <a:endParaRPr lang="en-US" sz="1080" dirty="0"/>
          </a:p>
        </p:txBody>
      </p:sp>
      <p:sp>
        <p:nvSpPr>
          <p:cNvPr id="63" name="Shape 48"/>
          <p:cNvSpPr/>
          <p:nvPr/>
        </p:nvSpPr>
        <p:spPr>
          <a:xfrm>
            <a:off x="9975850" y="1924645"/>
            <a:ext cx="2117329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4" name="Text 49"/>
          <p:cNvSpPr/>
          <p:nvPr/>
        </p:nvSpPr>
        <p:spPr>
          <a:xfrm>
            <a:off x="10171312" y="2120106"/>
            <a:ext cx="189904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Wellbeing offers taken up</a:t>
            </a:r>
            <a:endParaRPr lang="en-US" sz="1080" dirty="0"/>
          </a:p>
        </p:txBody>
      </p:sp>
      <p:sp>
        <p:nvSpPr>
          <p:cNvPr id="65" name="Text 50"/>
          <p:cNvSpPr/>
          <p:nvPr/>
        </p:nvSpPr>
        <p:spPr>
          <a:xfrm>
            <a:off x="10171312" y="2353667"/>
            <a:ext cx="1899048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312</a:t>
            </a:r>
            <a:endParaRPr lang="en-US" sz="2700" dirty="0"/>
          </a:p>
        </p:txBody>
      </p:sp>
      <p:sp>
        <p:nvSpPr>
          <p:cNvPr id="66" name="Text 51"/>
          <p:cNvSpPr/>
          <p:nvPr/>
        </p:nvSpPr>
        <p:spPr>
          <a:xfrm>
            <a:off x="10171312" y="2810669"/>
            <a:ext cx="34389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+88</a:t>
            </a:r>
            <a:endParaRPr lang="en-US" sz="1080" dirty="0"/>
          </a:p>
        </p:txBody>
      </p:sp>
      <p:sp>
        <p:nvSpPr>
          <p:cNvPr id="67" name="Shape 52"/>
          <p:cNvSpPr/>
          <p:nvPr/>
        </p:nvSpPr>
        <p:spPr>
          <a:xfrm>
            <a:off x="3075781" y="3353991"/>
            <a:ext cx="4818857" cy="6704410"/>
          </a:xfrm>
          <a:prstGeom prst="roundRect">
            <a:avLst>
              <a:gd name="adj" fmla="val 1898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8" name="Text 53"/>
          <p:cNvSpPr/>
          <p:nvPr/>
        </p:nvSpPr>
        <p:spPr>
          <a:xfrm>
            <a:off x="3294063" y="3572272"/>
            <a:ext cx="461905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Signals, aggregated and anonymised</a:t>
            </a:r>
            <a:endParaRPr lang="en-US" sz="1440" dirty="0"/>
          </a:p>
        </p:txBody>
      </p:sp>
      <p:sp>
        <p:nvSpPr>
          <p:cNvPr id="69" name="Text 54"/>
          <p:cNvSpPr/>
          <p:nvPr/>
        </p:nvSpPr>
        <p:spPr>
          <a:xfrm>
            <a:off x="3294063" y="3810992"/>
            <a:ext cx="461905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cohort of 8 — no individual is ever shown to a manager</a:t>
            </a:r>
            <a:endParaRPr lang="en-US" sz="1080" dirty="0"/>
          </a:p>
        </p:txBody>
      </p:sp>
      <p:sp>
        <p:nvSpPr>
          <p:cNvPr id="70" name="Shape 55"/>
          <p:cNvSpPr/>
          <p:nvPr/>
        </p:nvSpPr>
        <p:spPr>
          <a:xfrm>
            <a:off x="3294063" y="4113213"/>
            <a:ext cx="4382294" cy="528241"/>
          </a:xfrm>
          <a:prstGeom prst="roundRect">
            <a:avLst>
              <a:gd name="adj" fmla="val 8655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1" name="Text 56"/>
          <p:cNvSpPr/>
          <p:nvPr/>
        </p:nvSpPr>
        <p:spPr>
          <a:xfrm>
            <a:off x="3466703" y="4282083"/>
            <a:ext cx="28335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Sustained overtime, platform tribe</a:t>
            </a:r>
            <a:endParaRPr lang="en-US" sz="1260" dirty="0"/>
          </a:p>
        </p:txBody>
      </p:sp>
      <p:sp>
        <p:nvSpPr>
          <p:cNvPr id="72" name="Shape 57"/>
          <p:cNvSpPr/>
          <p:nvPr/>
        </p:nvSpPr>
        <p:spPr>
          <a:xfrm>
            <a:off x="6202562" y="4263033"/>
            <a:ext cx="1301154" cy="22860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3" name="Text 58"/>
          <p:cNvSpPr/>
          <p:nvPr/>
        </p:nvSpPr>
        <p:spPr>
          <a:xfrm>
            <a:off x="6316862" y="4285893"/>
            <a:ext cx="114875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Team-level alert</a:t>
            </a:r>
            <a:endParaRPr lang="en-US" sz="1080" dirty="0"/>
          </a:p>
        </p:txBody>
      </p:sp>
      <p:sp>
        <p:nvSpPr>
          <p:cNvPr id="74" name="Shape 59"/>
          <p:cNvSpPr/>
          <p:nvPr/>
        </p:nvSpPr>
        <p:spPr>
          <a:xfrm>
            <a:off x="3294063" y="4778574"/>
            <a:ext cx="4382294" cy="680640"/>
          </a:xfrm>
          <a:prstGeom prst="roundRect">
            <a:avLst>
              <a:gd name="adj" fmla="val 6717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5" name="Text 60"/>
          <p:cNvSpPr/>
          <p:nvPr/>
        </p:nvSpPr>
        <p:spPr>
          <a:xfrm>
            <a:off x="3466703" y="4928394"/>
            <a:ext cx="26531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 load above threshold, 2 teams</a:t>
            </a:r>
            <a:endParaRPr lang="en-US" sz="1260" dirty="0"/>
          </a:p>
        </p:txBody>
      </p:sp>
      <p:sp>
        <p:nvSpPr>
          <p:cNvPr id="76" name="Shape 61"/>
          <p:cNvSpPr/>
          <p:nvPr/>
        </p:nvSpPr>
        <p:spPr>
          <a:xfrm>
            <a:off x="6202562" y="5004594"/>
            <a:ext cx="1301154" cy="228600"/>
          </a:xfrm>
          <a:prstGeom prst="roundRect">
            <a:avLst>
              <a:gd name="adj" fmla="val 50000"/>
            </a:avLst>
          </a:prstGeom>
          <a:solidFill>
            <a:srgbClr val="FFDDB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7" name="Text 62"/>
          <p:cNvSpPr/>
          <p:nvPr/>
        </p:nvSpPr>
        <p:spPr>
          <a:xfrm>
            <a:off x="6316862" y="5027454"/>
            <a:ext cx="114875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4A2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Team-level alert</a:t>
            </a:r>
            <a:endParaRPr lang="en-US" sz="1080" dirty="0"/>
          </a:p>
        </p:txBody>
      </p:sp>
      <p:sp>
        <p:nvSpPr>
          <p:cNvPr id="78" name="Shape 63"/>
          <p:cNvSpPr/>
          <p:nvPr/>
        </p:nvSpPr>
        <p:spPr>
          <a:xfrm>
            <a:off x="3294063" y="5596335"/>
            <a:ext cx="4382294" cy="680641"/>
          </a:xfrm>
          <a:prstGeom prst="roundRect">
            <a:avLst>
              <a:gd name="adj" fmla="val 6717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9" name="Text 64"/>
          <p:cNvSpPr/>
          <p:nvPr/>
        </p:nvSpPr>
        <p:spPr>
          <a:xfrm>
            <a:off x="3466703" y="5746155"/>
            <a:ext cx="204509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not taken before expiry, 41 people</a:t>
            </a:r>
            <a:endParaRPr lang="en-US" sz="1260" dirty="0"/>
          </a:p>
        </p:txBody>
      </p:sp>
      <p:sp>
        <p:nvSpPr>
          <p:cNvPr id="80" name="Shape 65"/>
          <p:cNvSpPr/>
          <p:nvPr/>
        </p:nvSpPr>
        <p:spPr>
          <a:xfrm>
            <a:off x="5595541" y="5822355"/>
            <a:ext cx="1908175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1" name="Text 66"/>
          <p:cNvSpPr/>
          <p:nvPr/>
        </p:nvSpPr>
        <p:spPr>
          <a:xfrm>
            <a:off x="5709841" y="5845215"/>
            <a:ext cx="1755775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Nudge sent to individuals</a:t>
            </a:r>
            <a:endParaRPr lang="en-US" sz="1080" dirty="0"/>
          </a:p>
        </p:txBody>
      </p:sp>
      <p:sp>
        <p:nvSpPr>
          <p:cNvPr id="82" name="Shape 67"/>
          <p:cNvSpPr/>
          <p:nvPr/>
        </p:nvSpPr>
        <p:spPr>
          <a:xfrm>
            <a:off x="3294063" y="6414096"/>
            <a:ext cx="4382294" cy="528240"/>
          </a:xfrm>
          <a:prstGeom prst="roundRect">
            <a:avLst>
              <a:gd name="adj" fmla="val 8655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3" name="Text 68"/>
          <p:cNvSpPr/>
          <p:nvPr/>
        </p:nvSpPr>
        <p:spPr>
          <a:xfrm>
            <a:off x="3466703" y="6582966"/>
            <a:ext cx="34355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sentiment, cohort of 22</a:t>
            </a:r>
            <a:endParaRPr lang="en-US" sz="1260" dirty="0"/>
          </a:p>
        </p:txBody>
      </p:sp>
      <p:sp>
        <p:nvSpPr>
          <p:cNvPr id="84" name="Shape 69"/>
          <p:cNvSpPr/>
          <p:nvPr/>
        </p:nvSpPr>
        <p:spPr>
          <a:xfrm>
            <a:off x="6749852" y="6563916"/>
            <a:ext cx="753864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5" name="Text 70"/>
          <p:cNvSpPr/>
          <p:nvPr/>
        </p:nvSpPr>
        <p:spPr>
          <a:xfrm>
            <a:off x="6864152" y="6586776"/>
            <a:ext cx="60146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</a:t>
            </a:r>
            <a:endParaRPr lang="en-US" sz="1080" dirty="0"/>
          </a:p>
        </p:txBody>
      </p:sp>
      <p:sp>
        <p:nvSpPr>
          <p:cNvPr id="86" name="Shape 71"/>
          <p:cNvSpPr/>
          <p:nvPr/>
        </p:nvSpPr>
        <p:spPr>
          <a:xfrm>
            <a:off x="3294063" y="7079456"/>
            <a:ext cx="4382294" cy="528241"/>
          </a:xfrm>
          <a:prstGeom prst="roundRect">
            <a:avLst>
              <a:gd name="adj" fmla="val 8655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7" name="Text 72"/>
          <p:cNvSpPr/>
          <p:nvPr/>
        </p:nvSpPr>
        <p:spPr>
          <a:xfrm>
            <a:off x="3466703" y="7248327"/>
            <a:ext cx="251787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Occupational health cases</a:t>
            </a:r>
            <a:endParaRPr lang="en-US" sz="1260" dirty="0"/>
          </a:p>
        </p:txBody>
      </p:sp>
      <p:sp>
        <p:nvSpPr>
          <p:cNvPr id="88" name="Shape 73"/>
          <p:cNvSpPr/>
          <p:nvPr/>
        </p:nvSpPr>
        <p:spPr>
          <a:xfrm>
            <a:off x="5915620" y="7229277"/>
            <a:ext cx="1588096" cy="228600"/>
          </a:xfrm>
          <a:prstGeom prst="roundRect">
            <a:avLst>
              <a:gd name="adj" fmla="val 50000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9" name="Text 74"/>
          <p:cNvSpPr/>
          <p:nvPr/>
        </p:nvSpPr>
        <p:spPr>
          <a:xfrm>
            <a:off x="6029920" y="7252137"/>
            <a:ext cx="143569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surfaced to AI</a:t>
            </a:r>
            <a:endParaRPr lang="en-US" sz="1080" dirty="0"/>
          </a:p>
        </p:txBody>
      </p:sp>
      <p:sp>
        <p:nvSpPr>
          <p:cNvPr id="90" name="Shape 75"/>
          <p:cNvSpPr/>
          <p:nvPr/>
        </p:nvSpPr>
        <p:spPr>
          <a:xfrm>
            <a:off x="8077399" y="3353991"/>
            <a:ext cx="4015781" cy="6704410"/>
          </a:xfrm>
          <a:prstGeom prst="roundRect">
            <a:avLst>
              <a:gd name="adj" fmla="val 2277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1" name="Text 76"/>
          <p:cNvSpPr/>
          <p:nvPr/>
        </p:nvSpPr>
        <p:spPr>
          <a:xfrm>
            <a:off x="8295680" y="3572272"/>
            <a:ext cx="393714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connect</a:t>
            </a:r>
            <a:endParaRPr lang="en-US" sz="1440" dirty="0"/>
          </a:p>
        </p:txBody>
      </p:sp>
      <p:sp>
        <p:nvSpPr>
          <p:cNvPr id="92" name="Text 77"/>
          <p:cNvSpPr/>
          <p:nvPr/>
        </p:nvSpPr>
        <p:spPr>
          <a:xfrm>
            <a:off x="8295680" y="3810992"/>
            <a:ext cx="368659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Communities, mentoring and events run on the same graph</a:t>
            </a:r>
            <a:endParaRPr lang="en-US" sz="1080" dirty="0"/>
          </a:p>
        </p:txBody>
      </p:sp>
      <p:sp>
        <p:nvSpPr>
          <p:cNvPr id="93" name="Shape 78"/>
          <p:cNvSpPr/>
          <p:nvPr/>
        </p:nvSpPr>
        <p:spPr>
          <a:xfrm>
            <a:off x="8295680" y="4278313"/>
            <a:ext cx="1721049" cy="1005681"/>
          </a:xfrm>
          <a:prstGeom prst="roundRect">
            <a:avLst>
              <a:gd name="adj" fmla="val 454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4" name="Text 79"/>
          <p:cNvSpPr/>
          <p:nvPr/>
        </p:nvSpPr>
        <p:spPr>
          <a:xfrm>
            <a:off x="8468321" y="4450953"/>
            <a:ext cx="151334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2160" dirty="0"/>
          </a:p>
        </p:txBody>
      </p:sp>
      <p:sp>
        <p:nvSpPr>
          <p:cNvPr id="95" name="Text 80"/>
          <p:cNvSpPr/>
          <p:nvPr/>
        </p:nvSpPr>
        <p:spPr>
          <a:xfrm>
            <a:off x="8468321" y="4781154"/>
            <a:ext cx="151334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Communities</a:t>
            </a:r>
            <a:endParaRPr lang="en-US" sz="1080" dirty="0"/>
          </a:p>
        </p:txBody>
      </p:sp>
      <p:sp>
        <p:nvSpPr>
          <p:cNvPr id="96" name="Shape 81"/>
          <p:cNvSpPr/>
          <p:nvPr/>
        </p:nvSpPr>
        <p:spPr>
          <a:xfrm>
            <a:off x="10153849" y="4278313"/>
            <a:ext cx="1721049" cy="1005681"/>
          </a:xfrm>
          <a:prstGeom prst="roundRect">
            <a:avLst>
              <a:gd name="adj" fmla="val 454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7" name="Text 82"/>
          <p:cNvSpPr/>
          <p:nvPr/>
        </p:nvSpPr>
        <p:spPr>
          <a:xfrm>
            <a:off x="10326489" y="4450953"/>
            <a:ext cx="151334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196</a:t>
            </a:r>
            <a:endParaRPr lang="en-US" sz="2160" dirty="0"/>
          </a:p>
        </p:txBody>
      </p:sp>
      <p:sp>
        <p:nvSpPr>
          <p:cNvPr id="98" name="Text 83"/>
          <p:cNvSpPr/>
          <p:nvPr/>
        </p:nvSpPr>
        <p:spPr>
          <a:xfrm>
            <a:off x="10326489" y="4781154"/>
            <a:ext cx="145196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 pairs matched</a:t>
            </a:r>
            <a:endParaRPr lang="en-US" sz="1080" dirty="0"/>
          </a:p>
        </p:txBody>
      </p:sp>
      <p:sp>
        <p:nvSpPr>
          <p:cNvPr id="99" name="Shape 84"/>
          <p:cNvSpPr/>
          <p:nvPr/>
        </p:nvSpPr>
        <p:spPr>
          <a:xfrm>
            <a:off x="8295680" y="5421114"/>
            <a:ext cx="1721049" cy="1005682"/>
          </a:xfrm>
          <a:prstGeom prst="roundRect">
            <a:avLst>
              <a:gd name="adj" fmla="val 454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0" name="Text 85"/>
          <p:cNvSpPr/>
          <p:nvPr/>
        </p:nvSpPr>
        <p:spPr>
          <a:xfrm>
            <a:off x="8468321" y="5593755"/>
            <a:ext cx="1513344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2160" dirty="0"/>
          </a:p>
        </p:txBody>
      </p:sp>
      <p:sp>
        <p:nvSpPr>
          <p:cNvPr id="101" name="Text 86"/>
          <p:cNvSpPr/>
          <p:nvPr/>
        </p:nvSpPr>
        <p:spPr>
          <a:xfrm>
            <a:off x="8468321" y="5923955"/>
            <a:ext cx="151334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 this quarter</a:t>
            </a:r>
            <a:endParaRPr lang="en-US" sz="1080" dirty="0"/>
          </a:p>
        </p:txBody>
      </p:sp>
      <p:sp>
        <p:nvSpPr>
          <p:cNvPr id="102" name="Shape 87"/>
          <p:cNvSpPr/>
          <p:nvPr/>
        </p:nvSpPr>
        <p:spPr>
          <a:xfrm>
            <a:off x="10153849" y="5421114"/>
            <a:ext cx="1721049" cy="1005682"/>
          </a:xfrm>
          <a:prstGeom prst="roundRect">
            <a:avLst>
              <a:gd name="adj" fmla="val 454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3" name="Text 88"/>
          <p:cNvSpPr/>
          <p:nvPr/>
        </p:nvSpPr>
        <p:spPr>
          <a:xfrm>
            <a:off x="10326489" y="5593755"/>
            <a:ext cx="151334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480</a:t>
            </a:r>
            <a:endParaRPr lang="en-US" sz="2160" dirty="0"/>
          </a:p>
        </p:txBody>
      </p:sp>
      <p:sp>
        <p:nvSpPr>
          <p:cNvPr id="104" name="Text 89"/>
          <p:cNvSpPr/>
          <p:nvPr/>
        </p:nvSpPr>
        <p:spPr>
          <a:xfrm>
            <a:off x="10326489" y="5923955"/>
            <a:ext cx="145196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Cross-tribe introductions</a:t>
            </a:r>
            <a:endParaRPr lang="en-US" sz="1080" dirty="0"/>
          </a:p>
        </p:txBody>
      </p:sp>
      <p:sp>
        <p:nvSpPr>
          <p:cNvPr id="105" name="Shape 90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6" name="Shape 91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7" name="Shape 92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8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09" name="Text 93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10" name="Text 94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11" name="Shape 95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2" name="Text 96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13" name="Shape 97"/>
          <p:cNvSpPr/>
          <p:nvPr/>
        </p:nvSpPr>
        <p:spPr>
          <a:xfrm>
            <a:off x="15011005" y="2612628"/>
            <a:ext cx="2855516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4" name="Text 98"/>
          <p:cNvSpPr/>
          <p:nvPr/>
        </p:nvSpPr>
        <p:spPr>
          <a:xfrm>
            <a:off x="15171025" y="2726928"/>
            <a:ext cx="26211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team needs attention first?</a:t>
            </a:r>
            <a:endParaRPr lang="en-US" sz="1260" dirty="0"/>
          </a:p>
        </p:txBody>
      </p:sp>
      <p:sp>
        <p:nvSpPr>
          <p:cNvPr id="115" name="Shape 99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6" name="Text 100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tribe. Sustained overtime for five weeks with meeting load above threshold — team level only.</a:t>
            </a:r>
            <a:endParaRPr lang="en-US" sz="1260" dirty="0"/>
          </a:p>
        </p:txBody>
      </p:sp>
      <p:sp>
        <p:nvSpPr>
          <p:cNvPr id="117" name="Shape 101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8" name="Text 102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STRAIN INDEX</a:t>
            </a:r>
            <a:endParaRPr lang="en-US" sz="990" dirty="0"/>
          </a:p>
        </p:txBody>
      </p:sp>
      <p:sp>
        <p:nvSpPr>
          <p:cNvPr id="119" name="Text 103"/>
          <p:cNvSpPr/>
          <p:nvPr/>
        </p:nvSpPr>
        <p:spPr>
          <a:xfrm>
            <a:off x="12781161" y="4494610"/>
            <a:ext cx="95130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tribe</a:t>
            </a:r>
            <a:endParaRPr lang="en-US" sz="1080" dirty="0"/>
          </a:p>
        </p:txBody>
      </p:sp>
      <p:sp>
        <p:nvSpPr>
          <p:cNvPr id="120" name="Text 104"/>
          <p:cNvSpPr/>
          <p:nvPr/>
        </p:nvSpPr>
        <p:spPr>
          <a:xfrm>
            <a:off x="17520645" y="4494610"/>
            <a:ext cx="24943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</a:t>
            </a:r>
            <a:endParaRPr lang="en-US" sz="1080" dirty="0"/>
          </a:p>
        </p:txBody>
      </p:sp>
      <p:sp>
        <p:nvSpPr>
          <p:cNvPr id="121" name="Shape 105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2" name="Shape 106"/>
          <p:cNvSpPr/>
          <p:nvPr/>
        </p:nvSpPr>
        <p:spPr>
          <a:xfrm>
            <a:off x="12781161" y="4716859"/>
            <a:ext cx="4028281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3" name="Text 107"/>
          <p:cNvSpPr/>
          <p:nvPr/>
        </p:nvSpPr>
        <p:spPr>
          <a:xfrm>
            <a:off x="12781161" y="4899621"/>
            <a:ext cx="151618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— payments</a:t>
            </a:r>
            <a:endParaRPr lang="en-US" sz="1080" dirty="0"/>
          </a:p>
        </p:txBody>
      </p:sp>
      <p:sp>
        <p:nvSpPr>
          <p:cNvPr id="124" name="Text 108"/>
          <p:cNvSpPr/>
          <p:nvPr/>
        </p:nvSpPr>
        <p:spPr>
          <a:xfrm>
            <a:off x="17548227" y="4899621"/>
            <a:ext cx="22185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</a:t>
            </a:r>
            <a:endParaRPr lang="en-US" sz="1080" dirty="0"/>
          </a:p>
        </p:txBody>
      </p:sp>
      <p:sp>
        <p:nvSpPr>
          <p:cNvPr id="125" name="Shape 109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6" name="Shape 110"/>
          <p:cNvSpPr/>
          <p:nvPr/>
        </p:nvSpPr>
        <p:spPr>
          <a:xfrm>
            <a:off x="12781161" y="5121871"/>
            <a:ext cx="2996605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7" name="Text 111"/>
          <p:cNvSpPr/>
          <p:nvPr/>
        </p:nvSpPr>
        <p:spPr>
          <a:xfrm>
            <a:off x="12781161" y="5304631"/>
            <a:ext cx="61396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</a:t>
            </a:r>
            <a:endParaRPr lang="en-US" sz="1080" dirty="0"/>
          </a:p>
        </p:txBody>
      </p:sp>
      <p:sp>
        <p:nvSpPr>
          <p:cNvPr id="128" name="Text 112"/>
          <p:cNvSpPr/>
          <p:nvPr/>
        </p:nvSpPr>
        <p:spPr>
          <a:xfrm>
            <a:off x="17515286" y="5304631"/>
            <a:ext cx="25479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1080" dirty="0"/>
          </a:p>
        </p:txBody>
      </p:sp>
      <p:sp>
        <p:nvSpPr>
          <p:cNvPr id="129" name="Shape 113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0" name="Shape 114"/>
          <p:cNvSpPr/>
          <p:nvPr/>
        </p:nvSpPr>
        <p:spPr>
          <a:xfrm>
            <a:off x="12781161" y="5526882"/>
            <a:ext cx="1670250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1" name="Text 115"/>
          <p:cNvSpPr/>
          <p:nvPr/>
        </p:nvSpPr>
        <p:spPr>
          <a:xfrm>
            <a:off x="12781161" y="5709643"/>
            <a:ext cx="100766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guild</a:t>
            </a:r>
            <a:endParaRPr lang="en-US" sz="1080" dirty="0"/>
          </a:p>
        </p:txBody>
      </p:sp>
      <p:sp>
        <p:nvSpPr>
          <p:cNvPr id="132" name="Text 116"/>
          <p:cNvSpPr/>
          <p:nvPr/>
        </p:nvSpPr>
        <p:spPr>
          <a:xfrm>
            <a:off x="17548028" y="5709643"/>
            <a:ext cx="22205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080" dirty="0"/>
          </a:p>
        </p:txBody>
      </p:sp>
      <p:sp>
        <p:nvSpPr>
          <p:cNvPr id="133" name="Shape 117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4" name="Shape 118"/>
          <p:cNvSpPr/>
          <p:nvPr/>
        </p:nvSpPr>
        <p:spPr>
          <a:xfrm>
            <a:off x="12781161" y="5931893"/>
            <a:ext cx="884238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5" name="Shape 119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6" name="Text 120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wellbeing action</a:t>
            </a:r>
            <a:endParaRPr lang="en-US" sz="1260" dirty="0"/>
          </a:p>
        </p:txBody>
      </p:sp>
      <p:sp>
        <p:nvSpPr>
          <p:cNvPr id="137" name="Text 121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990" dirty="0"/>
          </a:p>
        </p:txBody>
      </p:sp>
      <p:sp>
        <p:nvSpPr>
          <p:cNvPr id="138" name="Shape 122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9" name="Text 123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tribe (n=24)</a:t>
            </a:r>
            <a:endParaRPr lang="en-US" sz="1170" dirty="0"/>
          </a:p>
        </p:txBody>
      </p:sp>
      <p:sp>
        <p:nvSpPr>
          <p:cNvPr id="140" name="Text 124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990" dirty="0"/>
          </a:p>
        </p:txBody>
      </p:sp>
      <p:sp>
        <p:nvSpPr>
          <p:cNvPr id="141" name="Shape 125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2" name="Text 126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Workload review + no-meeting block</a:t>
            </a:r>
            <a:endParaRPr lang="en-US" sz="1170" dirty="0"/>
          </a:p>
        </p:txBody>
      </p:sp>
      <p:sp>
        <p:nvSpPr>
          <p:cNvPr id="143" name="Text 127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990" dirty="0"/>
          </a:p>
        </p:txBody>
      </p:sp>
      <p:sp>
        <p:nvSpPr>
          <p:cNvPr id="144" name="Shape 128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5" name="Text 129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Tribe lead</a:t>
            </a:r>
            <a:endParaRPr lang="en-US" sz="1170" dirty="0"/>
          </a:p>
        </p:txBody>
      </p:sp>
      <p:sp>
        <p:nvSpPr>
          <p:cNvPr id="146" name="Shape 130"/>
          <p:cNvSpPr/>
          <p:nvPr/>
        </p:nvSpPr>
        <p:spPr>
          <a:xfrm>
            <a:off x="12781161" y="8631437"/>
            <a:ext cx="2082602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7" name="Text 131"/>
          <p:cNvSpPr/>
          <p:nvPr/>
        </p:nvSpPr>
        <p:spPr>
          <a:xfrm>
            <a:off x="12941181" y="8711447"/>
            <a:ext cx="1838762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People &amp; Culture</a:t>
            </a:r>
            <a:endParaRPr lang="en-US" sz="1170" dirty="0"/>
          </a:p>
        </p:txBody>
      </p:sp>
      <p:sp>
        <p:nvSpPr>
          <p:cNvPr id="148" name="Shape 132"/>
          <p:cNvSpPr/>
          <p:nvPr/>
        </p:nvSpPr>
        <p:spPr>
          <a:xfrm>
            <a:off x="14955044" y="8631437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9" name="Text 133"/>
          <p:cNvSpPr/>
          <p:nvPr/>
        </p:nvSpPr>
        <p:spPr>
          <a:xfrm>
            <a:off x="15127764" y="8724147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50" name="Shape 134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1" name="Shape 135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52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53" name="Text 136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55" name="Picture 154" descr="Android Apps by Hello Clever on Google Play">
            <a:extLst>
              <a:ext uri="{FF2B5EF4-FFF2-40B4-BE49-F238E27FC236}">
                <a16:creationId xmlns:a16="http://schemas.microsoft.com/office/drawing/2014/main" id="{96CD2C3B-0E0A-D112-7901-3842723C89B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sp>
        <p:nvSpPr>
          <p:cNvPr id="23" name="Shape 17"/>
          <p:cNvSpPr/>
          <p:nvPr/>
        </p:nvSpPr>
        <p:spPr>
          <a:xfrm>
            <a:off x="0" y="1657945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4" name="Shape 18"/>
          <p:cNvSpPr/>
          <p:nvPr/>
        </p:nvSpPr>
        <p:spPr>
          <a:xfrm>
            <a:off x="0" y="1657945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2522" y="1763117"/>
            <a:ext cx="94972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› Audit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6116023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 — every action, human or agent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104145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231145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363950" y="1183283"/>
            <a:ext cx="1604171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536670" y="1264563"/>
            <a:ext cx="1334931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for auditor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5748536" cy="8133755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3946089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8f21-c4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394608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Immutable, exportable, retained for the statutory period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294063" y="2940248"/>
            <a:ext cx="5311974" cy="12700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3408363" y="2683867"/>
            <a:ext cx="63162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endParaRPr lang="en-US" sz="1080" dirty="0"/>
          </a:p>
        </p:txBody>
      </p:sp>
      <p:sp>
        <p:nvSpPr>
          <p:cNvPr id="56" name="Text 41"/>
          <p:cNvSpPr/>
          <p:nvPr/>
        </p:nvSpPr>
        <p:spPr>
          <a:xfrm>
            <a:off x="4123730" y="2683867"/>
            <a:ext cx="110767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Actor</a:t>
            </a:r>
            <a:endParaRPr lang="en-US" sz="1080" dirty="0"/>
          </a:p>
        </p:txBody>
      </p:sp>
      <p:sp>
        <p:nvSpPr>
          <p:cNvPr id="57" name="Text 42"/>
          <p:cNvSpPr/>
          <p:nvPr/>
        </p:nvSpPr>
        <p:spPr>
          <a:xfrm>
            <a:off x="5315149" y="2683867"/>
            <a:ext cx="55225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1080" dirty="0"/>
          </a:p>
        </p:txBody>
      </p:sp>
      <p:sp>
        <p:nvSpPr>
          <p:cNvPr id="58" name="Text 43"/>
          <p:cNvSpPr/>
          <p:nvPr/>
        </p:nvSpPr>
        <p:spPr>
          <a:xfrm>
            <a:off x="5951141" y="2683867"/>
            <a:ext cx="157118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</a:t>
            </a:r>
            <a:endParaRPr lang="en-US" sz="1080" dirty="0"/>
          </a:p>
        </p:txBody>
      </p:sp>
      <p:sp>
        <p:nvSpPr>
          <p:cNvPr id="59" name="Text 44"/>
          <p:cNvSpPr/>
          <p:nvPr/>
        </p:nvSpPr>
        <p:spPr>
          <a:xfrm>
            <a:off x="7539435" y="2683867"/>
            <a:ext cx="102850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080" dirty="0"/>
          </a:p>
        </p:txBody>
      </p:sp>
      <p:sp>
        <p:nvSpPr>
          <p:cNvPr id="60" name="Shape 45"/>
          <p:cNvSpPr/>
          <p:nvPr/>
        </p:nvSpPr>
        <p:spPr>
          <a:xfrm>
            <a:off x="3294063" y="3585170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1" name="Text 46"/>
          <p:cNvSpPr/>
          <p:nvPr/>
        </p:nvSpPr>
        <p:spPr>
          <a:xfrm>
            <a:off x="3408363" y="3173810"/>
            <a:ext cx="63162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09:14:02</a:t>
            </a:r>
            <a:endParaRPr lang="en-US" sz="1260" dirty="0"/>
          </a:p>
        </p:txBody>
      </p:sp>
      <p:sp>
        <p:nvSpPr>
          <p:cNvPr id="62" name="Text 47"/>
          <p:cNvSpPr/>
          <p:nvPr/>
        </p:nvSpPr>
        <p:spPr>
          <a:xfrm>
            <a:off x="4123730" y="3078560"/>
            <a:ext cx="110767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staffing-agent</a:t>
            </a:r>
            <a:endParaRPr lang="en-US" sz="1260" dirty="0"/>
          </a:p>
        </p:txBody>
      </p:sp>
      <p:sp>
        <p:nvSpPr>
          <p:cNvPr id="63" name="Text 48"/>
          <p:cNvSpPr/>
          <p:nvPr/>
        </p:nvSpPr>
        <p:spPr>
          <a:xfrm>
            <a:off x="5315149" y="3173810"/>
            <a:ext cx="5522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</a:t>
            </a:r>
            <a:endParaRPr lang="en-US" sz="1260" dirty="0"/>
          </a:p>
        </p:txBody>
      </p:sp>
      <p:sp>
        <p:nvSpPr>
          <p:cNvPr id="64" name="Text 49"/>
          <p:cNvSpPr/>
          <p:nvPr/>
        </p:nvSpPr>
        <p:spPr>
          <a:xfrm>
            <a:off x="5951141" y="3078560"/>
            <a:ext cx="150455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skills.verified · 4,820 records</a:t>
            </a:r>
            <a:endParaRPr lang="en-US" sz="1260" dirty="0"/>
          </a:p>
        </p:txBody>
      </p:sp>
      <p:sp>
        <p:nvSpPr>
          <p:cNvPr id="65" name="Shape 50"/>
          <p:cNvSpPr/>
          <p:nvPr/>
        </p:nvSpPr>
        <p:spPr>
          <a:xfrm>
            <a:off x="7539435" y="3155950"/>
            <a:ext cx="761008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6" name="Text 51"/>
          <p:cNvSpPr/>
          <p:nvPr/>
        </p:nvSpPr>
        <p:spPr>
          <a:xfrm>
            <a:off x="7653735" y="3178810"/>
            <a:ext cx="60860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1080" dirty="0"/>
          </a:p>
        </p:txBody>
      </p:sp>
      <p:sp>
        <p:nvSpPr>
          <p:cNvPr id="67" name="Shape 52"/>
          <p:cNvSpPr/>
          <p:nvPr/>
        </p:nvSpPr>
        <p:spPr>
          <a:xfrm>
            <a:off x="3294063" y="3597870"/>
            <a:ext cx="5311974" cy="675481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Shape 53"/>
          <p:cNvSpPr/>
          <p:nvPr/>
        </p:nvSpPr>
        <p:spPr>
          <a:xfrm>
            <a:off x="3294063" y="4260652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9" name="Text 54"/>
          <p:cNvSpPr/>
          <p:nvPr/>
        </p:nvSpPr>
        <p:spPr>
          <a:xfrm>
            <a:off x="3408363" y="3834011"/>
            <a:ext cx="63162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09:14:03</a:t>
            </a:r>
            <a:endParaRPr lang="en-US" sz="1260" dirty="0"/>
          </a:p>
        </p:txBody>
      </p:sp>
      <p:sp>
        <p:nvSpPr>
          <p:cNvPr id="70" name="Text 55"/>
          <p:cNvSpPr/>
          <p:nvPr/>
        </p:nvSpPr>
        <p:spPr>
          <a:xfrm>
            <a:off x="4123730" y="3738761"/>
            <a:ext cx="110767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staffing-agent</a:t>
            </a:r>
            <a:endParaRPr lang="en-US" sz="1260" dirty="0"/>
          </a:p>
        </p:txBody>
      </p:sp>
      <p:sp>
        <p:nvSpPr>
          <p:cNvPr id="71" name="Text 56"/>
          <p:cNvSpPr/>
          <p:nvPr/>
        </p:nvSpPr>
        <p:spPr>
          <a:xfrm>
            <a:off x="5315149" y="3834011"/>
            <a:ext cx="5522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</a:t>
            </a:r>
            <a:endParaRPr lang="en-US" sz="1260" dirty="0"/>
          </a:p>
        </p:txBody>
      </p:sp>
      <p:sp>
        <p:nvSpPr>
          <p:cNvPr id="72" name="Text 57"/>
          <p:cNvSpPr/>
          <p:nvPr/>
        </p:nvSpPr>
        <p:spPr>
          <a:xfrm>
            <a:off x="5951141" y="3834011"/>
            <a:ext cx="157118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compensation.salary</a:t>
            </a:r>
            <a:endParaRPr lang="en-US" sz="1260" dirty="0"/>
          </a:p>
        </p:txBody>
      </p:sp>
      <p:sp>
        <p:nvSpPr>
          <p:cNvPr id="73" name="Shape 58"/>
          <p:cNvSpPr/>
          <p:nvPr/>
        </p:nvSpPr>
        <p:spPr>
          <a:xfrm>
            <a:off x="7539435" y="3723481"/>
            <a:ext cx="952302" cy="411559"/>
          </a:xfrm>
          <a:prstGeom prst="roundRect">
            <a:avLst>
              <a:gd name="adj" fmla="val 50000"/>
            </a:avLst>
          </a:prstGeom>
          <a:solidFill>
            <a:srgbClr val="FFDAD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4" name="Text 59"/>
          <p:cNvSpPr/>
          <p:nvPr/>
        </p:nvSpPr>
        <p:spPr>
          <a:xfrm>
            <a:off x="7653735" y="3746341"/>
            <a:ext cx="799902" cy="403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9300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Denied — policy 44</a:t>
            </a:r>
            <a:endParaRPr lang="en-US" sz="1080" dirty="0"/>
          </a:p>
        </p:txBody>
      </p:sp>
      <p:sp>
        <p:nvSpPr>
          <p:cNvPr id="75" name="Shape 60"/>
          <p:cNvSpPr/>
          <p:nvPr/>
        </p:nvSpPr>
        <p:spPr>
          <a:xfrm>
            <a:off x="3294063" y="4905574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6" name="Text 61"/>
          <p:cNvSpPr/>
          <p:nvPr/>
        </p:nvSpPr>
        <p:spPr>
          <a:xfrm>
            <a:off x="3408363" y="4494213"/>
            <a:ext cx="63162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09:14:07</a:t>
            </a:r>
            <a:endParaRPr lang="en-US" sz="1260" dirty="0"/>
          </a:p>
        </p:txBody>
      </p:sp>
      <p:sp>
        <p:nvSpPr>
          <p:cNvPr id="77" name="Text 62"/>
          <p:cNvSpPr/>
          <p:nvPr/>
        </p:nvSpPr>
        <p:spPr>
          <a:xfrm>
            <a:off x="4123730" y="4398963"/>
            <a:ext cx="110767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staffing-agent</a:t>
            </a:r>
            <a:endParaRPr lang="en-US" sz="1260" dirty="0"/>
          </a:p>
        </p:txBody>
      </p:sp>
      <p:sp>
        <p:nvSpPr>
          <p:cNvPr id="78" name="Text 63"/>
          <p:cNvSpPr/>
          <p:nvPr/>
        </p:nvSpPr>
        <p:spPr>
          <a:xfrm>
            <a:off x="5315149" y="4494213"/>
            <a:ext cx="5522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</a:t>
            </a:r>
            <a:endParaRPr lang="en-US" sz="1260" dirty="0"/>
          </a:p>
        </p:txBody>
      </p:sp>
      <p:sp>
        <p:nvSpPr>
          <p:cNvPr id="79" name="Text 64"/>
          <p:cNvSpPr/>
          <p:nvPr/>
        </p:nvSpPr>
        <p:spPr>
          <a:xfrm>
            <a:off x="5951141" y="4398963"/>
            <a:ext cx="150455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candidates · 6 returned</a:t>
            </a:r>
            <a:endParaRPr lang="en-US" sz="1260" dirty="0"/>
          </a:p>
        </p:txBody>
      </p:sp>
      <p:sp>
        <p:nvSpPr>
          <p:cNvPr id="80" name="Shape 65"/>
          <p:cNvSpPr/>
          <p:nvPr/>
        </p:nvSpPr>
        <p:spPr>
          <a:xfrm>
            <a:off x="7539435" y="4476353"/>
            <a:ext cx="761008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1" name="Text 66"/>
          <p:cNvSpPr/>
          <p:nvPr/>
        </p:nvSpPr>
        <p:spPr>
          <a:xfrm>
            <a:off x="7653735" y="4499213"/>
            <a:ext cx="60860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1080" dirty="0"/>
          </a:p>
        </p:txBody>
      </p:sp>
      <p:sp>
        <p:nvSpPr>
          <p:cNvPr id="82" name="Shape 67"/>
          <p:cNvSpPr/>
          <p:nvPr/>
        </p:nvSpPr>
        <p:spPr>
          <a:xfrm>
            <a:off x="3294063" y="5400675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3" name="Text 68"/>
          <p:cNvSpPr/>
          <p:nvPr/>
        </p:nvSpPr>
        <p:spPr>
          <a:xfrm>
            <a:off x="3408363" y="5064125"/>
            <a:ext cx="63162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09:15:51</a:t>
            </a:r>
            <a:endParaRPr lang="en-US" sz="1260" dirty="0"/>
          </a:p>
        </p:txBody>
      </p:sp>
      <p:sp>
        <p:nvSpPr>
          <p:cNvPr id="84" name="Text 69"/>
          <p:cNvSpPr/>
          <p:nvPr/>
        </p:nvSpPr>
        <p:spPr>
          <a:xfrm>
            <a:off x="4123730" y="5064125"/>
            <a:ext cx="11076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a.keller@contoso</a:t>
            </a:r>
            <a:endParaRPr lang="en-US" sz="1260" dirty="0"/>
          </a:p>
        </p:txBody>
      </p:sp>
      <p:sp>
        <p:nvSpPr>
          <p:cNvPr id="85" name="Text 70"/>
          <p:cNvSpPr/>
          <p:nvPr/>
        </p:nvSpPr>
        <p:spPr>
          <a:xfrm>
            <a:off x="5315149" y="5064125"/>
            <a:ext cx="5522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</a:t>
            </a:r>
            <a:endParaRPr lang="en-US" sz="1260" dirty="0"/>
          </a:p>
        </p:txBody>
      </p:sp>
      <p:sp>
        <p:nvSpPr>
          <p:cNvPr id="86" name="Text 71"/>
          <p:cNvSpPr/>
          <p:nvPr/>
        </p:nvSpPr>
        <p:spPr>
          <a:xfrm>
            <a:off x="5951141" y="5064125"/>
            <a:ext cx="157118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proposal 8f21-c4</a:t>
            </a:r>
            <a:endParaRPr lang="en-US" sz="1260" dirty="0"/>
          </a:p>
        </p:txBody>
      </p:sp>
      <p:sp>
        <p:nvSpPr>
          <p:cNvPr id="87" name="Shape 72"/>
          <p:cNvSpPr/>
          <p:nvPr/>
        </p:nvSpPr>
        <p:spPr>
          <a:xfrm>
            <a:off x="7539435" y="5046465"/>
            <a:ext cx="863997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8" name="Text 73"/>
          <p:cNvSpPr/>
          <p:nvPr/>
        </p:nvSpPr>
        <p:spPr>
          <a:xfrm>
            <a:off x="7653735" y="5069325"/>
            <a:ext cx="71159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Recorded</a:t>
            </a:r>
            <a:endParaRPr lang="en-US" sz="1080" dirty="0"/>
          </a:p>
        </p:txBody>
      </p:sp>
      <p:sp>
        <p:nvSpPr>
          <p:cNvPr id="89" name="Shape 74"/>
          <p:cNvSpPr/>
          <p:nvPr/>
        </p:nvSpPr>
        <p:spPr>
          <a:xfrm>
            <a:off x="3294063" y="6045597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0" name="Text 75"/>
          <p:cNvSpPr/>
          <p:nvPr/>
        </p:nvSpPr>
        <p:spPr>
          <a:xfrm>
            <a:off x="3408363" y="5634236"/>
            <a:ext cx="63162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09:15:51</a:t>
            </a:r>
            <a:endParaRPr lang="en-US" sz="1260" dirty="0"/>
          </a:p>
        </p:txBody>
      </p:sp>
      <p:sp>
        <p:nvSpPr>
          <p:cNvPr id="91" name="Text 76"/>
          <p:cNvSpPr/>
          <p:nvPr/>
        </p:nvSpPr>
        <p:spPr>
          <a:xfrm>
            <a:off x="4123730" y="5634236"/>
            <a:ext cx="11076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</a:t>
            </a:r>
            <a:endParaRPr lang="en-US" sz="1260" dirty="0"/>
          </a:p>
        </p:txBody>
      </p:sp>
      <p:sp>
        <p:nvSpPr>
          <p:cNvPr id="92" name="Text 77"/>
          <p:cNvSpPr/>
          <p:nvPr/>
        </p:nvSpPr>
        <p:spPr>
          <a:xfrm>
            <a:off x="5315149" y="5634236"/>
            <a:ext cx="5522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</a:t>
            </a:r>
            <a:endParaRPr lang="en-US" sz="1260" dirty="0"/>
          </a:p>
        </p:txBody>
      </p:sp>
      <p:sp>
        <p:nvSpPr>
          <p:cNvPr id="93" name="Text 78"/>
          <p:cNvSpPr/>
          <p:nvPr/>
        </p:nvSpPr>
        <p:spPr>
          <a:xfrm>
            <a:off x="5951141" y="5538986"/>
            <a:ext cx="150455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Workday assignment draft</a:t>
            </a:r>
            <a:endParaRPr lang="en-US" sz="1260" dirty="0"/>
          </a:p>
        </p:txBody>
      </p:sp>
      <p:sp>
        <p:nvSpPr>
          <p:cNvPr id="94" name="Shape 79"/>
          <p:cNvSpPr/>
          <p:nvPr/>
        </p:nvSpPr>
        <p:spPr>
          <a:xfrm>
            <a:off x="7539435" y="5616377"/>
            <a:ext cx="761008" cy="228600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5" name="Text 80"/>
          <p:cNvSpPr/>
          <p:nvPr/>
        </p:nvSpPr>
        <p:spPr>
          <a:xfrm>
            <a:off x="7653735" y="5639237"/>
            <a:ext cx="60860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Allowed</a:t>
            </a:r>
            <a:endParaRPr lang="en-US" sz="1080" dirty="0"/>
          </a:p>
        </p:txBody>
      </p:sp>
      <p:sp>
        <p:nvSpPr>
          <p:cNvPr id="96" name="Shape 81"/>
          <p:cNvSpPr/>
          <p:nvPr/>
        </p:nvSpPr>
        <p:spPr>
          <a:xfrm>
            <a:off x="3294063" y="6904038"/>
            <a:ext cx="53119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7" name="Text 82"/>
          <p:cNvSpPr/>
          <p:nvPr/>
        </p:nvSpPr>
        <p:spPr>
          <a:xfrm>
            <a:off x="3408363" y="6385917"/>
            <a:ext cx="63162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09:16:04</a:t>
            </a:r>
            <a:endParaRPr lang="en-US" sz="1260" dirty="0"/>
          </a:p>
        </p:txBody>
      </p:sp>
      <p:sp>
        <p:nvSpPr>
          <p:cNvPr id="98" name="Text 83"/>
          <p:cNvSpPr/>
          <p:nvPr/>
        </p:nvSpPr>
        <p:spPr>
          <a:xfrm>
            <a:off x="4123730" y="6385917"/>
            <a:ext cx="11076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r.dubois@contoso</a:t>
            </a:r>
            <a:endParaRPr lang="en-US" sz="1260" dirty="0"/>
          </a:p>
        </p:txBody>
      </p:sp>
      <p:sp>
        <p:nvSpPr>
          <p:cNvPr id="99" name="Text 84"/>
          <p:cNvSpPr/>
          <p:nvPr/>
        </p:nvSpPr>
        <p:spPr>
          <a:xfrm>
            <a:off x="5315149" y="6385917"/>
            <a:ext cx="5522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override</a:t>
            </a:r>
            <a:endParaRPr lang="en-US" sz="1260" dirty="0"/>
          </a:p>
        </p:txBody>
      </p:sp>
      <p:sp>
        <p:nvSpPr>
          <p:cNvPr id="100" name="Text 85"/>
          <p:cNvSpPr/>
          <p:nvPr/>
        </p:nvSpPr>
        <p:spPr>
          <a:xfrm>
            <a:off x="5951141" y="6290667"/>
            <a:ext cx="150455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swapped candidate 2 → 3</a:t>
            </a:r>
            <a:endParaRPr lang="en-US" sz="1260" dirty="0"/>
          </a:p>
        </p:txBody>
      </p:sp>
      <p:sp>
        <p:nvSpPr>
          <p:cNvPr id="101" name="Shape 86"/>
          <p:cNvSpPr/>
          <p:nvPr/>
        </p:nvSpPr>
        <p:spPr>
          <a:xfrm>
            <a:off x="7539435" y="6183909"/>
            <a:ext cx="952302" cy="594519"/>
          </a:xfrm>
          <a:prstGeom prst="roundRect">
            <a:avLst>
              <a:gd name="adj" fmla="val 50000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2" name="Text 87"/>
          <p:cNvSpPr/>
          <p:nvPr/>
        </p:nvSpPr>
        <p:spPr>
          <a:xfrm>
            <a:off x="7653735" y="6206769"/>
            <a:ext cx="799902" cy="586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Recorded with reason</a:t>
            </a:r>
            <a:endParaRPr lang="en-US" sz="1080" dirty="0"/>
          </a:p>
        </p:txBody>
      </p:sp>
      <p:sp>
        <p:nvSpPr>
          <p:cNvPr id="103" name="Shape 88"/>
          <p:cNvSpPr/>
          <p:nvPr/>
        </p:nvSpPr>
        <p:spPr>
          <a:xfrm>
            <a:off x="9007079" y="1924645"/>
            <a:ext cx="3086101" cy="2911674"/>
          </a:xfrm>
          <a:prstGeom prst="roundRect">
            <a:avLst>
              <a:gd name="adj" fmla="val 3140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4" name="Text 89"/>
          <p:cNvSpPr/>
          <p:nvPr/>
        </p:nvSpPr>
        <p:spPr>
          <a:xfrm>
            <a:off x="9225360" y="2142927"/>
            <a:ext cx="204507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an auditor asks</a:t>
            </a:r>
            <a:endParaRPr lang="en-US" sz="1440" dirty="0"/>
          </a:p>
        </p:txBody>
      </p:sp>
      <p:pic>
        <p:nvPicPr>
          <p:cNvPr id="105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25360" y="2573338"/>
            <a:ext cx="159941" cy="159941"/>
          </a:xfrm>
          <a:prstGeom prst="rect">
            <a:avLst/>
          </a:prstGeom>
        </p:spPr>
      </p:pic>
      <p:sp>
        <p:nvSpPr>
          <p:cNvPr id="106" name="Text 90"/>
          <p:cNvSpPr/>
          <p:nvPr/>
        </p:nvSpPr>
        <p:spPr>
          <a:xfrm>
            <a:off x="9499601" y="2564408"/>
            <a:ext cx="108446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decided?</a:t>
            </a:r>
            <a:endParaRPr lang="en-US" sz="1170" dirty="0"/>
          </a:p>
        </p:txBody>
      </p:sp>
      <p:pic>
        <p:nvPicPr>
          <p:cNvPr id="107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25360" y="3025180"/>
            <a:ext cx="159941" cy="159941"/>
          </a:xfrm>
          <a:prstGeom prst="rect">
            <a:avLst/>
          </a:prstGeom>
        </p:spPr>
      </p:pic>
      <p:sp>
        <p:nvSpPr>
          <p:cNvPr id="108" name="Text 91"/>
          <p:cNvSpPr/>
          <p:nvPr/>
        </p:nvSpPr>
        <p:spPr>
          <a:xfrm>
            <a:off x="9499601" y="3016250"/>
            <a:ext cx="10860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what data?</a:t>
            </a:r>
            <a:endParaRPr lang="en-US" sz="1170" dirty="0"/>
          </a:p>
        </p:txBody>
      </p:sp>
      <p:pic>
        <p:nvPicPr>
          <p:cNvPr id="109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25360" y="3477022"/>
            <a:ext cx="159941" cy="159941"/>
          </a:xfrm>
          <a:prstGeom prst="rect">
            <a:avLst/>
          </a:prstGeom>
        </p:spPr>
      </p:pic>
      <p:sp>
        <p:nvSpPr>
          <p:cNvPr id="110" name="Text 92"/>
          <p:cNvSpPr/>
          <p:nvPr/>
        </p:nvSpPr>
        <p:spPr>
          <a:xfrm>
            <a:off x="9499601" y="3468092"/>
            <a:ext cx="133012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Could they see it?</a:t>
            </a:r>
            <a:endParaRPr lang="en-US" sz="1170" dirty="0"/>
          </a:p>
        </p:txBody>
      </p:sp>
      <p:pic>
        <p:nvPicPr>
          <p:cNvPr id="111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25360" y="3928864"/>
            <a:ext cx="159941" cy="159941"/>
          </a:xfrm>
          <a:prstGeom prst="rect">
            <a:avLst/>
          </a:prstGeom>
        </p:spPr>
      </p:pic>
      <p:sp>
        <p:nvSpPr>
          <p:cNvPr id="112" name="Text 93"/>
          <p:cNvSpPr/>
          <p:nvPr/>
        </p:nvSpPr>
        <p:spPr>
          <a:xfrm>
            <a:off x="9499601" y="3919935"/>
            <a:ext cx="129738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 it explained?</a:t>
            </a:r>
            <a:endParaRPr lang="en-US" sz="1170" dirty="0"/>
          </a:p>
        </p:txBody>
      </p:sp>
      <p:pic>
        <p:nvPicPr>
          <p:cNvPr id="113" name="Image 1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25360" y="4380707"/>
            <a:ext cx="159941" cy="159941"/>
          </a:xfrm>
          <a:prstGeom prst="rect">
            <a:avLst/>
          </a:prstGeom>
        </p:spPr>
      </p:pic>
      <p:sp>
        <p:nvSpPr>
          <p:cNvPr id="114" name="Text 94"/>
          <p:cNvSpPr/>
          <p:nvPr/>
        </p:nvSpPr>
        <p:spPr>
          <a:xfrm>
            <a:off x="9499601" y="4371777"/>
            <a:ext cx="143609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it be reversed?</a:t>
            </a:r>
            <a:endParaRPr lang="en-US" sz="1170" dirty="0"/>
          </a:p>
        </p:txBody>
      </p:sp>
      <p:sp>
        <p:nvSpPr>
          <p:cNvPr id="115" name="Shape 95"/>
          <p:cNvSpPr/>
          <p:nvPr/>
        </p:nvSpPr>
        <p:spPr>
          <a:xfrm>
            <a:off x="9007079" y="5019080"/>
            <a:ext cx="3086101" cy="2201267"/>
          </a:xfrm>
          <a:prstGeom prst="roundRect">
            <a:avLst>
              <a:gd name="adj" fmla="val 4154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6" name="Text 96"/>
          <p:cNvSpPr/>
          <p:nvPr/>
        </p:nvSpPr>
        <p:spPr>
          <a:xfrm>
            <a:off x="9225360" y="5237361"/>
            <a:ext cx="13620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findings</a:t>
            </a:r>
            <a:endParaRPr lang="en-US" sz="1440" dirty="0"/>
          </a:p>
        </p:txBody>
      </p:sp>
      <p:sp>
        <p:nvSpPr>
          <p:cNvPr id="117" name="Shape 97"/>
          <p:cNvSpPr/>
          <p:nvPr/>
        </p:nvSpPr>
        <p:spPr>
          <a:xfrm>
            <a:off x="9225360" y="5590382"/>
            <a:ext cx="2649539" cy="1411684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8" name="Text 98"/>
          <p:cNvSpPr/>
          <p:nvPr/>
        </p:nvSpPr>
        <p:spPr>
          <a:xfrm>
            <a:off x="9420821" y="5785843"/>
            <a:ext cx="248447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external review</a:t>
            </a:r>
            <a:endParaRPr lang="en-US" sz="1080" dirty="0"/>
          </a:p>
        </p:txBody>
      </p:sp>
      <p:sp>
        <p:nvSpPr>
          <p:cNvPr id="119" name="Text 99"/>
          <p:cNvSpPr/>
          <p:nvPr/>
        </p:nvSpPr>
        <p:spPr>
          <a:xfrm>
            <a:off x="9420821" y="6019404"/>
            <a:ext cx="2484478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2700" dirty="0"/>
          </a:p>
        </p:txBody>
      </p:sp>
      <p:sp>
        <p:nvSpPr>
          <p:cNvPr id="120" name="Text 100"/>
          <p:cNvSpPr/>
          <p:nvPr/>
        </p:nvSpPr>
        <p:spPr>
          <a:xfrm>
            <a:off x="9420821" y="6476405"/>
            <a:ext cx="118487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open actions closed</a:t>
            </a:r>
            <a:endParaRPr lang="en-US" sz="1080" dirty="0"/>
          </a:p>
        </p:txBody>
      </p:sp>
      <p:sp>
        <p:nvSpPr>
          <p:cNvPr id="121" name="Text 101"/>
          <p:cNvSpPr/>
          <p:nvPr/>
        </p:nvSpPr>
        <p:spPr>
          <a:xfrm>
            <a:off x="10620773" y="6476405"/>
            <a:ext cx="113486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AI-related exceptions</a:t>
            </a:r>
            <a:endParaRPr lang="en-US" sz="1080" dirty="0"/>
          </a:p>
        </p:txBody>
      </p:sp>
      <p:sp>
        <p:nvSpPr>
          <p:cNvPr id="122" name="Shape 102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23" name="Shape 103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4" name="Shape 104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25" name="Image 1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26" name="Text 105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27" name="Text 106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28" name="Shape 107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9" name="Text 108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30" name="Shape 109"/>
          <p:cNvSpPr/>
          <p:nvPr/>
        </p:nvSpPr>
        <p:spPr>
          <a:xfrm>
            <a:off x="14403985" y="2612628"/>
            <a:ext cx="3462535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1" name="Text 110"/>
          <p:cNvSpPr/>
          <p:nvPr/>
        </p:nvSpPr>
        <p:spPr>
          <a:xfrm>
            <a:off x="14564005" y="2726928"/>
            <a:ext cx="324637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me every denied access in this run.</a:t>
            </a:r>
            <a:endParaRPr lang="en-US" sz="1260" dirty="0"/>
          </a:p>
        </p:txBody>
      </p:sp>
      <p:sp>
        <p:nvSpPr>
          <p:cNvPr id="132" name="Shape 111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3" name="Text 112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One. The agent asked for compensation data and policy 44 refused it before any model saw the record.</a:t>
            </a:r>
            <a:endParaRPr lang="en-US" sz="1260" dirty="0"/>
          </a:p>
        </p:txBody>
      </p:sp>
      <p:sp>
        <p:nvSpPr>
          <p:cNvPr id="134" name="Shape 113"/>
          <p:cNvSpPr/>
          <p:nvPr/>
        </p:nvSpPr>
        <p:spPr>
          <a:xfrm>
            <a:off x="12608520" y="4055269"/>
            <a:ext cx="5258000" cy="1246981"/>
          </a:xfrm>
          <a:prstGeom prst="roundRect">
            <a:avLst>
              <a:gd name="adj" fmla="val 10999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5" name="Text 114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990" dirty="0"/>
          </a:p>
        </p:txBody>
      </p:sp>
      <p:sp>
        <p:nvSpPr>
          <p:cNvPr id="136" name="Shape 115"/>
          <p:cNvSpPr/>
          <p:nvPr/>
        </p:nvSpPr>
        <p:spPr>
          <a:xfrm>
            <a:off x="12781161" y="4494610"/>
            <a:ext cx="1561308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7" name="Text 116"/>
          <p:cNvSpPr/>
          <p:nvPr/>
        </p:nvSpPr>
        <p:spPr>
          <a:xfrm>
            <a:off x="12918282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1620" dirty="0"/>
          </a:p>
        </p:txBody>
      </p:sp>
      <p:sp>
        <p:nvSpPr>
          <p:cNvPr id="138" name="Text 117"/>
          <p:cNvSpPr/>
          <p:nvPr/>
        </p:nvSpPr>
        <p:spPr>
          <a:xfrm>
            <a:off x="12918282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</a:t>
            </a:r>
            <a:endParaRPr lang="en-US" sz="990" dirty="0"/>
          </a:p>
        </p:txBody>
      </p:sp>
      <p:sp>
        <p:nvSpPr>
          <p:cNvPr id="139" name="Shape 118"/>
          <p:cNvSpPr/>
          <p:nvPr/>
        </p:nvSpPr>
        <p:spPr>
          <a:xfrm>
            <a:off x="14456770" y="4494610"/>
            <a:ext cx="156150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0" name="Text 119"/>
          <p:cNvSpPr/>
          <p:nvPr/>
        </p:nvSpPr>
        <p:spPr>
          <a:xfrm>
            <a:off x="14593887" y="4608910"/>
            <a:ext cx="14159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20" dirty="0"/>
          </a:p>
        </p:txBody>
      </p:sp>
      <p:sp>
        <p:nvSpPr>
          <p:cNvPr id="141" name="Text 120"/>
          <p:cNvSpPr/>
          <p:nvPr/>
        </p:nvSpPr>
        <p:spPr>
          <a:xfrm>
            <a:off x="14593887" y="4862910"/>
            <a:ext cx="14159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Denied</a:t>
            </a:r>
            <a:endParaRPr lang="en-US" sz="990" dirty="0"/>
          </a:p>
        </p:txBody>
      </p:sp>
      <p:sp>
        <p:nvSpPr>
          <p:cNvPr id="142" name="Shape 121"/>
          <p:cNvSpPr/>
          <p:nvPr/>
        </p:nvSpPr>
        <p:spPr>
          <a:xfrm>
            <a:off x="16132575" y="4494610"/>
            <a:ext cx="1561305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3" name="Text 122"/>
          <p:cNvSpPr/>
          <p:nvPr/>
        </p:nvSpPr>
        <p:spPr>
          <a:xfrm>
            <a:off x="16269693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20" dirty="0"/>
          </a:p>
        </p:txBody>
      </p:sp>
      <p:sp>
        <p:nvSpPr>
          <p:cNvPr id="144" name="Text 123"/>
          <p:cNvSpPr/>
          <p:nvPr/>
        </p:nvSpPr>
        <p:spPr>
          <a:xfrm>
            <a:off x="16269693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Overrides</a:t>
            </a:r>
            <a:endParaRPr lang="en-US" sz="990" dirty="0"/>
          </a:p>
        </p:txBody>
      </p:sp>
      <p:sp>
        <p:nvSpPr>
          <p:cNvPr id="145" name="Shape 124"/>
          <p:cNvSpPr/>
          <p:nvPr/>
        </p:nvSpPr>
        <p:spPr>
          <a:xfrm>
            <a:off x="12608520" y="5439370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6" name="Text 125"/>
          <p:cNvSpPr/>
          <p:nvPr/>
        </p:nvSpPr>
        <p:spPr>
          <a:xfrm>
            <a:off x="12781161" y="5612011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audit pack</a:t>
            </a:r>
            <a:endParaRPr lang="en-US" sz="1260" dirty="0"/>
          </a:p>
        </p:txBody>
      </p:sp>
      <p:sp>
        <p:nvSpPr>
          <p:cNvPr id="147" name="Text 126"/>
          <p:cNvSpPr/>
          <p:nvPr/>
        </p:nvSpPr>
        <p:spPr>
          <a:xfrm>
            <a:off x="12781161" y="591681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en-US" sz="990" dirty="0"/>
          </a:p>
        </p:txBody>
      </p:sp>
      <p:sp>
        <p:nvSpPr>
          <p:cNvPr id="148" name="Shape 127"/>
          <p:cNvSpPr/>
          <p:nvPr/>
        </p:nvSpPr>
        <p:spPr>
          <a:xfrm>
            <a:off x="12781161" y="6114852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9" name="Text 128"/>
          <p:cNvSpPr/>
          <p:nvPr/>
        </p:nvSpPr>
        <p:spPr>
          <a:xfrm>
            <a:off x="12908161" y="6207562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8f21-c4</a:t>
            </a:r>
            <a:endParaRPr lang="en-US" sz="1170" dirty="0"/>
          </a:p>
        </p:txBody>
      </p:sp>
      <p:sp>
        <p:nvSpPr>
          <p:cNvPr id="150" name="Text 129"/>
          <p:cNvSpPr/>
          <p:nvPr/>
        </p:nvSpPr>
        <p:spPr>
          <a:xfrm>
            <a:off x="12781161" y="659229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</a:t>
            </a:r>
            <a:endParaRPr lang="en-US" sz="990" dirty="0"/>
          </a:p>
        </p:txBody>
      </p:sp>
      <p:sp>
        <p:nvSpPr>
          <p:cNvPr id="151" name="Shape 130"/>
          <p:cNvSpPr/>
          <p:nvPr/>
        </p:nvSpPr>
        <p:spPr>
          <a:xfrm>
            <a:off x="12781161" y="679033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2" name="Text 131"/>
          <p:cNvSpPr/>
          <p:nvPr/>
        </p:nvSpPr>
        <p:spPr>
          <a:xfrm>
            <a:off x="12908161" y="688304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Signed PDF + JSON</a:t>
            </a:r>
            <a:endParaRPr lang="en-US" sz="1170" dirty="0"/>
          </a:p>
        </p:txBody>
      </p:sp>
      <p:sp>
        <p:nvSpPr>
          <p:cNvPr id="153" name="Text 132"/>
          <p:cNvSpPr/>
          <p:nvPr/>
        </p:nvSpPr>
        <p:spPr>
          <a:xfrm>
            <a:off x="12781161" y="726777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Recipient</a:t>
            </a:r>
            <a:endParaRPr lang="en-US" sz="990" dirty="0"/>
          </a:p>
        </p:txBody>
      </p:sp>
      <p:sp>
        <p:nvSpPr>
          <p:cNvPr id="154" name="Shape 133"/>
          <p:cNvSpPr/>
          <p:nvPr/>
        </p:nvSpPr>
        <p:spPr>
          <a:xfrm>
            <a:off x="12781161" y="746581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5" name="Text 134"/>
          <p:cNvSpPr/>
          <p:nvPr/>
        </p:nvSpPr>
        <p:spPr>
          <a:xfrm>
            <a:off x="12908161" y="755852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auditor</a:t>
            </a:r>
            <a:endParaRPr lang="en-US" sz="1170" dirty="0"/>
          </a:p>
        </p:txBody>
      </p:sp>
      <p:sp>
        <p:nvSpPr>
          <p:cNvPr id="156" name="Shape 135"/>
          <p:cNvSpPr/>
          <p:nvPr/>
        </p:nvSpPr>
        <p:spPr>
          <a:xfrm>
            <a:off x="12781161" y="7966075"/>
            <a:ext cx="1949452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7" name="Text 136"/>
          <p:cNvSpPr/>
          <p:nvPr/>
        </p:nvSpPr>
        <p:spPr>
          <a:xfrm>
            <a:off x="12941181" y="8046085"/>
            <a:ext cx="1705612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evidence store</a:t>
            </a:r>
            <a:endParaRPr lang="en-US" sz="1170" dirty="0"/>
          </a:p>
        </p:txBody>
      </p:sp>
      <p:sp>
        <p:nvSpPr>
          <p:cNvPr id="158" name="Shape 137"/>
          <p:cNvSpPr/>
          <p:nvPr/>
        </p:nvSpPr>
        <p:spPr>
          <a:xfrm>
            <a:off x="14821894" y="7966075"/>
            <a:ext cx="619321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9" name="Text 138"/>
          <p:cNvSpPr/>
          <p:nvPr/>
        </p:nvSpPr>
        <p:spPr>
          <a:xfrm>
            <a:off x="14994614" y="8058785"/>
            <a:ext cx="350081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60" name="Shape 139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1" name="Shape 140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62" name="Image 1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63" name="Text 141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65" name="Picture 164" descr="Android Apps by Hello Clever on Google Play">
            <a:extLst>
              <a:ext uri="{FF2B5EF4-FFF2-40B4-BE49-F238E27FC236}">
                <a16:creationId xmlns:a16="http://schemas.microsoft.com/office/drawing/2014/main" id="{D2ECEE16-206D-9D96-C8BC-35D50380E6F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sp>
        <p:nvSpPr>
          <p:cNvPr id="39" name="Shape 25"/>
          <p:cNvSpPr/>
          <p:nvPr/>
        </p:nvSpPr>
        <p:spPr>
          <a:xfrm>
            <a:off x="0" y="4764683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0" name="Shape 26"/>
          <p:cNvSpPr/>
          <p:nvPr/>
        </p:nvSpPr>
        <p:spPr>
          <a:xfrm>
            <a:off x="0" y="4764683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81002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› API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3826908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capability, as an API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245234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372234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505040" y="1183283"/>
            <a:ext cx="1463081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677760" y="1264563"/>
            <a:ext cx="1193841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reference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3975497" cy="2710458"/>
          </a:xfrm>
          <a:prstGeom prst="roundRect">
            <a:avLst>
              <a:gd name="adj" fmla="val 3374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80069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495947"/>
            <a:ext cx="3645103" cy="1958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25"/>
              </a:lnSpc>
              <a:buNone/>
            </a:pPr>
            <a:r>
              <a:rPr lang="en-US" sz="1170" dirty="0">
                <a:solidFill>
                  <a:srgbClr val="3E48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 /v1/matching/candidates</a:t>
            </a:r>
            <a:endParaRPr lang="en-US" sz="1170" dirty="0"/>
          </a:p>
          <a:p>
            <a:pPr marL="0" indent="0" algn="l">
              <a:lnSpc>
                <a:spcPct val="118125"/>
              </a:lnSpc>
              <a:buNone/>
            </a:pPr>
            <a:r>
              <a:rPr lang="en-US" sz="1170" dirty="0">
                <a:solidFill>
                  <a:srgbClr val="3E48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Authorization: Bearer &lt;workload identity&gt;</a:t>
            </a:r>
            <a:endParaRPr lang="en-US" sz="1170" dirty="0"/>
          </a:p>
          <a:p>
            <a:pPr marL="0" indent="0" algn="l">
              <a:lnSpc>
                <a:spcPct val="118125"/>
              </a:lnSpc>
              <a:buNone/>
            </a:pPr>
            <a:r>
              <a:rPr lang="en-US" sz="1170" dirty="0">
                <a:solidFill>
                  <a:srgbClr val="3E48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 "role": "senior-kubernetes-engineer",</a:t>
            </a:r>
            <a:endParaRPr lang="en-US" sz="1170" dirty="0"/>
          </a:p>
          <a:p>
            <a:pPr marL="0" indent="0" algn="l">
              <a:lnSpc>
                <a:spcPct val="118125"/>
              </a:lnSpc>
              <a:buNone/>
            </a:pPr>
            <a:r>
              <a:rPr lang="en-US" sz="1170" dirty="0">
                <a:solidFill>
                  <a:srgbClr val="3E48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"project": "payments-programme",</a:t>
            </a:r>
            <a:endParaRPr lang="en-US" sz="1170" dirty="0"/>
          </a:p>
          <a:p>
            <a:pPr marL="0" indent="0" algn="l">
              <a:lnSpc>
                <a:spcPct val="118125"/>
              </a:lnSpc>
              <a:buNone/>
            </a:pPr>
            <a:r>
              <a:rPr lang="en-US" sz="1170" dirty="0">
                <a:solidFill>
                  <a:srgbClr val="3E48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"start": "2026-09-01",</a:t>
            </a:r>
            <a:endParaRPr lang="en-US" sz="1170" dirty="0"/>
          </a:p>
          <a:p>
            <a:pPr marL="0" indent="0" algn="l">
              <a:lnSpc>
                <a:spcPct val="118125"/>
              </a:lnSpc>
              <a:buNone/>
            </a:pPr>
            <a:r>
              <a:rPr lang="en-US" sz="1170" dirty="0">
                <a:solidFill>
                  <a:srgbClr val="3E48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"on_behalf_of": "a.keller@contoso.com" }</a:t>
            </a:r>
            <a:endParaRPr lang="en-US" sz="1170" dirty="0"/>
          </a:p>
        </p:txBody>
      </p:sp>
      <p:sp>
        <p:nvSpPr>
          <p:cNvPr id="54" name="Shape 39"/>
          <p:cNvSpPr/>
          <p:nvPr/>
        </p:nvSpPr>
        <p:spPr>
          <a:xfrm>
            <a:off x="3075781" y="4817864"/>
            <a:ext cx="3975497" cy="5240537"/>
          </a:xfrm>
          <a:prstGeom prst="roundRect">
            <a:avLst>
              <a:gd name="adj" fmla="val 2300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3294063" y="5036146"/>
            <a:ext cx="2846606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</a:t>
            </a:r>
            <a:endParaRPr lang="en-US" sz="1440" dirty="0"/>
          </a:p>
        </p:txBody>
      </p:sp>
      <p:sp>
        <p:nvSpPr>
          <p:cNvPr id="56" name="Text 41"/>
          <p:cNvSpPr/>
          <p:nvPr/>
        </p:nvSpPr>
        <p:spPr>
          <a:xfrm>
            <a:off x="3294063" y="5274866"/>
            <a:ext cx="284660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every AI Hub endpoint guarantees</a:t>
            </a:r>
            <a:endParaRPr lang="en-US" sz="1080" dirty="0"/>
          </a:p>
        </p:txBody>
      </p:sp>
      <p:pic>
        <p:nvPicPr>
          <p:cNvPr id="57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94063" y="5577086"/>
            <a:ext cx="159941" cy="159941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3568303" y="5577086"/>
            <a:ext cx="190559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scope on every call</a:t>
            </a:r>
            <a:endParaRPr lang="en-US" sz="1170" dirty="0"/>
          </a:p>
        </p:txBody>
      </p:sp>
      <p:pic>
        <p:nvPicPr>
          <p:cNvPr id="59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94063" y="5892007"/>
            <a:ext cx="159941" cy="159941"/>
          </a:xfrm>
          <a:prstGeom prst="rect">
            <a:avLst/>
          </a:prstGeom>
        </p:spPr>
      </p:pic>
      <p:sp>
        <p:nvSpPr>
          <p:cNvPr id="60" name="Text 43"/>
          <p:cNvSpPr/>
          <p:nvPr/>
        </p:nvSpPr>
        <p:spPr>
          <a:xfrm>
            <a:off x="3568303" y="5892007"/>
            <a:ext cx="2796268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Withheld fields declared, never silently dropped</a:t>
            </a:r>
            <a:endParaRPr lang="en-US" sz="1170" dirty="0"/>
          </a:p>
        </p:txBody>
      </p:sp>
      <p:pic>
        <p:nvPicPr>
          <p:cNvPr id="61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94063" y="6384727"/>
            <a:ext cx="159941" cy="159941"/>
          </a:xfrm>
          <a:prstGeom prst="rect">
            <a:avLst/>
          </a:prstGeom>
        </p:spPr>
      </p:pic>
      <p:sp>
        <p:nvSpPr>
          <p:cNvPr id="62" name="Text 44"/>
          <p:cNvSpPr/>
          <p:nvPr/>
        </p:nvSpPr>
        <p:spPr>
          <a:xfrm>
            <a:off x="3568303" y="6384727"/>
            <a:ext cx="227647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Factors returned with the score</a:t>
            </a:r>
            <a:endParaRPr lang="en-US" sz="1170" dirty="0"/>
          </a:p>
        </p:txBody>
      </p:sp>
      <p:pic>
        <p:nvPicPr>
          <p:cNvPr id="63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94063" y="6699647"/>
            <a:ext cx="159941" cy="159941"/>
          </a:xfrm>
          <a:prstGeom prst="rect">
            <a:avLst/>
          </a:prstGeom>
        </p:spPr>
      </p:pic>
      <p:sp>
        <p:nvSpPr>
          <p:cNvPr id="64" name="Text 45"/>
          <p:cNvSpPr/>
          <p:nvPr/>
        </p:nvSpPr>
        <p:spPr>
          <a:xfrm>
            <a:off x="3568303" y="6699647"/>
            <a:ext cx="256996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audit event id for each response</a:t>
            </a:r>
            <a:endParaRPr lang="en-US" sz="1170" dirty="0"/>
          </a:p>
        </p:txBody>
      </p:sp>
      <p:pic>
        <p:nvPicPr>
          <p:cNvPr id="65" name="Image 1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94063" y="7014568"/>
            <a:ext cx="159941" cy="159941"/>
          </a:xfrm>
          <a:prstGeom prst="rect">
            <a:avLst/>
          </a:prstGeom>
        </p:spPr>
      </p:pic>
      <p:sp>
        <p:nvSpPr>
          <p:cNvPr id="66" name="Text 46"/>
          <p:cNvSpPr/>
          <p:nvPr/>
        </p:nvSpPr>
        <p:spPr>
          <a:xfrm>
            <a:off x="3568303" y="7014568"/>
            <a:ext cx="293954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replay of any past decision</a:t>
            </a:r>
            <a:endParaRPr lang="en-US" sz="1170" dirty="0"/>
          </a:p>
        </p:txBody>
      </p:sp>
      <p:sp>
        <p:nvSpPr>
          <p:cNvPr id="67" name="Shape 47"/>
          <p:cNvSpPr/>
          <p:nvPr/>
        </p:nvSpPr>
        <p:spPr>
          <a:xfrm>
            <a:off x="7234039" y="1924645"/>
            <a:ext cx="4859140" cy="8133755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8" name="Text 48"/>
          <p:cNvSpPr/>
          <p:nvPr/>
        </p:nvSpPr>
        <p:spPr>
          <a:xfrm>
            <a:off x="7452321" y="2142927"/>
            <a:ext cx="117514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</a:t>
            </a:r>
            <a:endParaRPr lang="en-US" sz="1440" dirty="0"/>
          </a:p>
        </p:txBody>
      </p:sp>
      <p:sp>
        <p:nvSpPr>
          <p:cNvPr id="69" name="Text 49"/>
          <p:cNvSpPr/>
          <p:nvPr/>
        </p:nvSpPr>
        <p:spPr>
          <a:xfrm>
            <a:off x="7452321" y="2381647"/>
            <a:ext cx="117514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 OK · 340 ms</a:t>
            </a:r>
            <a:endParaRPr lang="en-US" sz="1080" dirty="0"/>
          </a:p>
        </p:txBody>
      </p:sp>
      <p:sp>
        <p:nvSpPr>
          <p:cNvPr id="70" name="Text 50"/>
          <p:cNvSpPr/>
          <p:nvPr/>
        </p:nvSpPr>
        <p:spPr>
          <a:xfrm>
            <a:off x="7452321" y="2683867"/>
            <a:ext cx="4555255" cy="4838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"request_id": "8f21-c4",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"policy_scope": "project-lead:payments-programme",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"candidates": [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{ "id": "E-4471", "source": "internal", "fit": 94,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"available_from": "2026-09-01",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"evidence": ["github:commits", "ado:sprints", "cert:CKA"],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"factors": { "skills": 38, "delivery": 24,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     "availability": 18, "learning": 9, "domain": 5 } },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{ "id": "E-2280", "source": "internal", "fit": 89 }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],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"withheld_fields": ["salary", "health", "demographics"],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"explanation_url": "/v1/matching/8f21-c4/rationale",</a:t>
            </a:r>
            <a:endParaRPr lang="en-US" sz="1170" dirty="0"/>
          </a:p>
          <a:p>
            <a:pPr marL="0" indent="0" algn="l">
              <a:lnSpc>
                <a:spcPct val="112500"/>
              </a:lnSpc>
              <a:buNone/>
            </a:pPr>
            <a:r>
              <a:rPr lang="en-US" sz="1170" dirty="0">
                <a:solidFill>
                  <a:srgbClr val="1A1B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"audit_event": "aud_01J9K2..." }</a:t>
            </a:r>
            <a:endParaRPr lang="en-US" sz="1170" dirty="0"/>
          </a:p>
        </p:txBody>
      </p:sp>
      <p:sp>
        <p:nvSpPr>
          <p:cNvPr id="71" name="Shape 51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72" name="Shape 52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3" name="Shape 53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74" name="Image 1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75" name="Text 54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76" name="Text 55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77" name="Shape 56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8" name="Text 57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79" name="Shape 58"/>
          <p:cNvSpPr/>
          <p:nvPr/>
        </p:nvSpPr>
        <p:spPr>
          <a:xfrm>
            <a:off x="14527214" y="2612628"/>
            <a:ext cx="3339305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0" name="Text 59"/>
          <p:cNvSpPr/>
          <p:nvPr/>
        </p:nvSpPr>
        <p:spPr>
          <a:xfrm>
            <a:off x="14687234" y="2726928"/>
            <a:ext cx="31194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 we call this from our own HRM?</a:t>
            </a:r>
            <a:endParaRPr lang="en-US" sz="1260" dirty="0"/>
          </a:p>
        </p:txBody>
      </p:sp>
      <p:sp>
        <p:nvSpPr>
          <p:cNvPr id="81" name="Shape 60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2" name="Text 61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POST with a workload identity. Policy scope, factors and an audit id come back on every response.</a:t>
            </a:r>
            <a:endParaRPr lang="en-US" sz="1260" dirty="0"/>
          </a:p>
        </p:txBody>
      </p:sp>
      <p:sp>
        <p:nvSpPr>
          <p:cNvPr id="83" name="Shape 62"/>
          <p:cNvSpPr/>
          <p:nvPr/>
        </p:nvSpPr>
        <p:spPr>
          <a:xfrm>
            <a:off x="12608520" y="4055269"/>
            <a:ext cx="5258000" cy="1246981"/>
          </a:xfrm>
          <a:prstGeom prst="roundRect">
            <a:avLst>
              <a:gd name="adj" fmla="val 10999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4" name="Text 63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990" dirty="0"/>
          </a:p>
        </p:txBody>
      </p:sp>
      <p:sp>
        <p:nvSpPr>
          <p:cNvPr id="85" name="Shape 64"/>
          <p:cNvSpPr/>
          <p:nvPr/>
        </p:nvSpPr>
        <p:spPr>
          <a:xfrm>
            <a:off x="12781161" y="4494610"/>
            <a:ext cx="1561308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6" name="Text 65"/>
          <p:cNvSpPr/>
          <p:nvPr/>
        </p:nvSpPr>
        <p:spPr>
          <a:xfrm>
            <a:off x="12918282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340 ms</a:t>
            </a:r>
            <a:endParaRPr lang="en-US" sz="1620" dirty="0"/>
          </a:p>
        </p:txBody>
      </p:sp>
      <p:sp>
        <p:nvSpPr>
          <p:cNvPr id="87" name="Text 66"/>
          <p:cNvSpPr/>
          <p:nvPr/>
        </p:nvSpPr>
        <p:spPr>
          <a:xfrm>
            <a:off x="12918282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 p95</a:t>
            </a:r>
            <a:endParaRPr lang="en-US" sz="990" dirty="0"/>
          </a:p>
        </p:txBody>
      </p:sp>
      <p:sp>
        <p:nvSpPr>
          <p:cNvPr id="88" name="Shape 67"/>
          <p:cNvSpPr/>
          <p:nvPr/>
        </p:nvSpPr>
        <p:spPr>
          <a:xfrm>
            <a:off x="14456770" y="4494610"/>
            <a:ext cx="1561504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9" name="Text 68"/>
          <p:cNvSpPr/>
          <p:nvPr/>
        </p:nvSpPr>
        <p:spPr>
          <a:xfrm>
            <a:off x="14593887" y="4608910"/>
            <a:ext cx="14159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620" dirty="0"/>
          </a:p>
        </p:txBody>
      </p:sp>
      <p:sp>
        <p:nvSpPr>
          <p:cNvPr id="90" name="Text 69"/>
          <p:cNvSpPr/>
          <p:nvPr/>
        </p:nvSpPr>
        <p:spPr>
          <a:xfrm>
            <a:off x="14593887" y="4862910"/>
            <a:ext cx="141599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Endpoints</a:t>
            </a:r>
            <a:endParaRPr lang="en-US" sz="990" dirty="0"/>
          </a:p>
        </p:txBody>
      </p:sp>
      <p:sp>
        <p:nvSpPr>
          <p:cNvPr id="91" name="Shape 70"/>
          <p:cNvSpPr/>
          <p:nvPr/>
        </p:nvSpPr>
        <p:spPr>
          <a:xfrm>
            <a:off x="16132575" y="4494610"/>
            <a:ext cx="1561305" cy="635000"/>
          </a:xfrm>
          <a:prstGeom prst="roundRect">
            <a:avLst>
              <a:gd name="adj" fmla="val 14400"/>
            </a:avLst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2" name="Text 71"/>
          <p:cNvSpPr/>
          <p:nvPr/>
        </p:nvSpPr>
        <p:spPr>
          <a:xfrm>
            <a:off x="16269693" y="4608910"/>
            <a:ext cx="141577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620" dirty="0"/>
          </a:p>
        </p:txBody>
      </p:sp>
      <p:sp>
        <p:nvSpPr>
          <p:cNvPr id="93" name="Text 72"/>
          <p:cNvSpPr/>
          <p:nvPr/>
        </p:nvSpPr>
        <p:spPr>
          <a:xfrm>
            <a:off x="16269693" y="4862910"/>
            <a:ext cx="141577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Breaking changes</a:t>
            </a:r>
            <a:endParaRPr lang="en-US" sz="990" dirty="0"/>
          </a:p>
        </p:txBody>
      </p:sp>
      <p:sp>
        <p:nvSpPr>
          <p:cNvPr id="94" name="Shape 73"/>
          <p:cNvSpPr/>
          <p:nvPr/>
        </p:nvSpPr>
        <p:spPr>
          <a:xfrm>
            <a:off x="12608520" y="5439370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5" name="Text 74"/>
          <p:cNvSpPr/>
          <p:nvPr/>
        </p:nvSpPr>
        <p:spPr>
          <a:xfrm>
            <a:off x="12781161" y="5612011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API client</a:t>
            </a:r>
            <a:endParaRPr lang="en-US" sz="1260" dirty="0"/>
          </a:p>
        </p:txBody>
      </p:sp>
      <p:sp>
        <p:nvSpPr>
          <p:cNvPr id="96" name="Text 75"/>
          <p:cNvSpPr/>
          <p:nvPr/>
        </p:nvSpPr>
        <p:spPr>
          <a:xfrm>
            <a:off x="12781161" y="591681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</a:t>
            </a:r>
            <a:endParaRPr lang="en-US" sz="990" dirty="0"/>
          </a:p>
        </p:txBody>
      </p:sp>
      <p:sp>
        <p:nvSpPr>
          <p:cNvPr id="97" name="Shape 76"/>
          <p:cNvSpPr/>
          <p:nvPr/>
        </p:nvSpPr>
        <p:spPr>
          <a:xfrm>
            <a:off x="12781161" y="6114852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8" name="Text 77"/>
          <p:cNvSpPr/>
          <p:nvPr/>
        </p:nvSpPr>
        <p:spPr>
          <a:xfrm>
            <a:off x="12908161" y="6207562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workday-integration</a:t>
            </a:r>
            <a:endParaRPr lang="en-US" sz="1170" dirty="0"/>
          </a:p>
        </p:txBody>
      </p:sp>
      <p:sp>
        <p:nvSpPr>
          <p:cNvPr id="99" name="Text 78"/>
          <p:cNvSpPr/>
          <p:nvPr/>
        </p:nvSpPr>
        <p:spPr>
          <a:xfrm>
            <a:off x="12781161" y="659229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Scopes</a:t>
            </a:r>
            <a:endParaRPr lang="en-US" sz="990" dirty="0"/>
          </a:p>
        </p:txBody>
      </p:sp>
      <p:sp>
        <p:nvSpPr>
          <p:cNvPr id="100" name="Shape 79"/>
          <p:cNvSpPr/>
          <p:nvPr/>
        </p:nvSpPr>
        <p:spPr>
          <a:xfrm>
            <a:off x="12781161" y="679033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1" name="Text 80"/>
          <p:cNvSpPr/>
          <p:nvPr/>
        </p:nvSpPr>
        <p:spPr>
          <a:xfrm>
            <a:off x="12908161" y="688304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matching.read, audit.read</a:t>
            </a:r>
            <a:endParaRPr lang="en-US" sz="1170" dirty="0"/>
          </a:p>
        </p:txBody>
      </p:sp>
      <p:sp>
        <p:nvSpPr>
          <p:cNvPr id="102" name="Text 81"/>
          <p:cNvSpPr/>
          <p:nvPr/>
        </p:nvSpPr>
        <p:spPr>
          <a:xfrm>
            <a:off x="12781161" y="726777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Rotation</a:t>
            </a:r>
            <a:endParaRPr lang="en-US" sz="990" dirty="0"/>
          </a:p>
        </p:txBody>
      </p:sp>
      <p:sp>
        <p:nvSpPr>
          <p:cNvPr id="103" name="Shape 82"/>
          <p:cNvSpPr/>
          <p:nvPr/>
        </p:nvSpPr>
        <p:spPr>
          <a:xfrm>
            <a:off x="12781161" y="7465815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4" name="Text 83"/>
          <p:cNvSpPr/>
          <p:nvPr/>
        </p:nvSpPr>
        <p:spPr>
          <a:xfrm>
            <a:off x="12908161" y="7558525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 days</a:t>
            </a:r>
            <a:endParaRPr lang="en-US" sz="1170" dirty="0"/>
          </a:p>
        </p:txBody>
      </p:sp>
      <p:sp>
        <p:nvSpPr>
          <p:cNvPr id="105" name="Shape 84"/>
          <p:cNvSpPr/>
          <p:nvPr/>
        </p:nvSpPr>
        <p:spPr>
          <a:xfrm>
            <a:off x="12781161" y="7966075"/>
            <a:ext cx="1621831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6" name="Text 85"/>
          <p:cNvSpPr/>
          <p:nvPr/>
        </p:nvSpPr>
        <p:spPr>
          <a:xfrm>
            <a:off x="12941181" y="8046085"/>
            <a:ext cx="1377991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Developer</a:t>
            </a:r>
            <a:endParaRPr lang="en-US" sz="1170" dirty="0"/>
          </a:p>
        </p:txBody>
      </p:sp>
      <p:sp>
        <p:nvSpPr>
          <p:cNvPr id="107" name="Shape 86"/>
          <p:cNvSpPr/>
          <p:nvPr/>
        </p:nvSpPr>
        <p:spPr>
          <a:xfrm>
            <a:off x="14494273" y="7966075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8" name="Text 87"/>
          <p:cNvSpPr/>
          <p:nvPr/>
        </p:nvSpPr>
        <p:spPr>
          <a:xfrm>
            <a:off x="14666993" y="8058785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09" name="Shape 88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0" name="Shape 89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11" name="Image 1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12" name="Text 90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14" name="Picture 113" descr="Android Apps by Hello Clever on Google Play">
            <a:extLst>
              <a:ext uri="{FF2B5EF4-FFF2-40B4-BE49-F238E27FC236}">
                <a16:creationId xmlns:a16="http://schemas.microsoft.com/office/drawing/2014/main" id="{D2B8DC4D-D698-FC00-6204-0B00A4C6FC2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sp>
        <p:nvSpPr>
          <p:cNvPr id="27" name="Shape 19"/>
          <p:cNvSpPr/>
          <p:nvPr/>
        </p:nvSpPr>
        <p:spPr>
          <a:xfrm>
            <a:off x="0" y="2434630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8" name="Shape 20"/>
          <p:cNvSpPr/>
          <p:nvPr/>
        </p:nvSpPr>
        <p:spPr>
          <a:xfrm>
            <a:off x="0" y="2434630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2522" y="2539802"/>
            <a:ext cx="58678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228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› Automation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5672912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operations running without a queue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4224598" y="1218803"/>
            <a:ext cx="2077044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351598" y="1277223"/>
            <a:ext cx="1899244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484403" y="1183283"/>
            <a:ext cx="1483718" cy="340122"/>
          </a:xfrm>
          <a:prstGeom prst="roundRect">
            <a:avLst>
              <a:gd name="adj" fmla="val 13442"/>
            </a:avLst>
          </a:prstGeom>
          <a:solidFill>
            <a:srgbClr val="00658E"/>
          </a:solidFill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657123" y="1264563"/>
            <a:ext cx="1214478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automation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5519936" cy="8133755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5591711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request types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381647"/>
            <a:ext cx="523587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Resolved end to end, escalated to a person when policy or judgement requires it</a:t>
            </a:r>
            <a:endParaRPr lang="en-US" sz="1080" dirty="0"/>
          </a:p>
        </p:txBody>
      </p:sp>
      <p:sp>
        <p:nvSpPr>
          <p:cNvPr id="54" name="Shape 39"/>
          <p:cNvSpPr/>
          <p:nvPr/>
        </p:nvSpPr>
        <p:spPr>
          <a:xfrm>
            <a:off x="3294063" y="3270449"/>
            <a:ext cx="5083374" cy="12700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5" name="Text 40"/>
          <p:cNvSpPr/>
          <p:nvPr/>
        </p:nvSpPr>
        <p:spPr>
          <a:xfrm>
            <a:off x="3408363" y="2848967"/>
            <a:ext cx="1534517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type</a:t>
            </a:r>
            <a:endParaRPr lang="en-US" sz="1080" dirty="0"/>
          </a:p>
        </p:txBody>
      </p:sp>
      <p:sp>
        <p:nvSpPr>
          <p:cNvPr id="56" name="Text 41"/>
          <p:cNvSpPr/>
          <p:nvPr/>
        </p:nvSpPr>
        <p:spPr>
          <a:xfrm>
            <a:off x="4950421" y="2848967"/>
            <a:ext cx="909439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</a:t>
            </a:r>
            <a:endParaRPr lang="en-US" sz="1080" dirty="0"/>
          </a:p>
        </p:txBody>
      </p:sp>
      <p:sp>
        <p:nvSpPr>
          <p:cNvPr id="57" name="Text 42"/>
          <p:cNvSpPr/>
          <p:nvPr/>
        </p:nvSpPr>
        <p:spPr>
          <a:xfrm>
            <a:off x="5943600" y="2848967"/>
            <a:ext cx="1117799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</a:t>
            </a:r>
            <a:endParaRPr lang="en-US" sz="1080" dirty="0"/>
          </a:p>
        </p:txBody>
      </p:sp>
      <p:sp>
        <p:nvSpPr>
          <p:cNvPr id="58" name="Text 43"/>
          <p:cNvSpPr/>
          <p:nvPr/>
        </p:nvSpPr>
        <p:spPr>
          <a:xfrm>
            <a:off x="7145139" y="2848967"/>
            <a:ext cx="111799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resolution</a:t>
            </a:r>
            <a:endParaRPr lang="en-US" sz="1080" dirty="0"/>
          </a:p>
        </p:txBody>
      </p:sp>
      <p:sp>
        <p:nvSpPr>
          <p:cNvPr id="59" name="Shape 44"/>
          <p:cNvSpPr/>
          <p:nvPr/>
        </p:nvSpPr>
        <p:spPr>
          <a:xfrm>
            <a:off x="3294063" y="3724871"/>
            <a:ext cx="50833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0" name="Text 45"/>
          <p:cNvSpPr/>
          <p:nvPr/>
        </p:nvSpPr>
        <p:spPr>
          <a:xfrm>
            <a:off x="3408363" y="3408759"/>
            <a:ext cx="160414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request</a:t>
            </a:r>
            <a:endParaRPr lang="en-US" sz="1260" dirty="0"/>
          </a:p>
        </p:txBody>
      </p:sp>
      <p:sp>
        <p:nvSpPr>
          <p:cNvPr id="61" name="Text 46"/>
          <p:cNvSpPr/>
          <p:nvPr/>
        </p:nvSpPr>
        <p:spPr>
          <a:xfrm>
            <a:off x="4950421" y="3408759"/>
            <a:ext cx="9094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3,140 / mo</a:t>
            </a:r>
            <a:endParaRPr lang="en-US" sz="1260" dirty="0"/>
          </a:p>
        </p:txBody>
      </p:sp>
      <p:sp>
        <p:nvSpPr>
          <p:cNvPr id="62" name="Text 47"/>
          <p:cNvSpPr/>
          <p:nvPr/>
        </p:nvSpPr>
        <p:spPr>
          <a:xfrm>
            <a:off x="5943600" y="3408759"/>
            <a:ext cx="11177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94%</a:t>
            </a:r>
            <a:endParaRPr lang="en-US" sz="1260" dirty="0"/>
          </a:p>
        </p:txBody>
      </p:sp>
      <p:sp>
        <p:nvSpPr>
          <p:cNvPr id="63" name="Text 48"/>
          <p:cNvSpPr/>
          <p:nvPr/>
        </p:nvSpPr>
        <p:spPr>
          <a:xfrm>
            <a:off x="7145139" y="3408759"/>
            <a:ext cx="111799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sec</a:t>
            </a:r>
            <a:endParaRPr lang="en-US" sz="1260" dirty="0"/>
          </a:p>
        </p:txBody>
      </p:sp>
      <p:sp>
        <p:nvSpPr>
          <p:cNvPr id="64" name="Shape 49"/>
          <p:cNvSpPr/>
          <p:nvPr/>
        </p:nvSpPr>
        <p:spPr>
          <a:xfrm>
            <a:off x="3294063" y="4369792"/>
            <a:ext cx="50833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5" name="Text 50"/>
          <p:cNvSpPr/>
          <p:nvPr/>
        </p:nvSpPr>
        <p:spPr>
          <a:xfrm>
            <a:off x="3408363" y="3863181"/>
            <a:ext cx="153451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Certificate of employment</a:t>
            </a:r>
            <a:endParaRPr lang="en-US" sz="1260" dirty="0"/>
          </a:p>
        </p:txBody>
      </p:sp>
      <p:sp>
        <p:nvSpPr>
          <p:cNvPr id="66" name="Text 51"/>
          <p:cNvSpPr/>
          <p:nvPr/>
        </p:nvSpPr>
        <p:spPr>
          <a:xfrm>
            <a:off x="4950421" y="3958431"/>
            <a:ext cx="9094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820 / mo</a:t>
            </a:r>
            <a:endParaRPr lang="en-US" sz="1260" dirty="0"/>
          </a:p>
        </p:txBody>
      </p:sp>
      <p:sp>
        <p:nvSpPr>
          <p:cNvPr id="67" name="Text 52"/>
          <p:cNvSpPr/>
          <p:nvPr/>
        </p:nvSpPr>
        <p:spPr>
          <a:xfrm>
            <a:off x="5943600" y="3958431"/>
            <a:ext cx="11177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99%</a:t>
            </a:r>
            <a:endParaRPr lang="en-US" sz="1260" dirty="0"/>
          </a:p>
        </p:txBody>
      </p:sp>
      <p:sp>
        <p:nvSpPr>
          <p:cNvPr id="68" name="Text 53"/>
          <p:cNvSpPr/>
          <p:nvPr/>
        </p:nvSpPr>
        <p:spPr>
          <a:xfrm>
            <a:off x="7145139" y="3958431"/>
            <a:ext cx="111799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sec</a:t>
            </a:r>
            <a:endParaRPr lang="en-US" sz="1260" dirty="0"/>
          </a:p>
        </p:txBody>
      </p:sp>
      <p:sp>
        <p:nvSpPr>
          <p:cNvPr id="69" name="Shape 54"/>
          <p:cNvSpPr/>
          <p:nvPr/>
        </p:nvSpPr>
        <p:spPr>
          <a:xfrm>
            <a:off x="3294063" y="5014714"/>
            <a:ext cx="50833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0" name="Text 55"/>
          <p:cNvSpPr/>
          <p:nvPr/>
        </p:nvSpPr>
        <p:spPr>
          <a:xfrm>
            <a:off x="3408363" y="4508103"/>
            <a:ext cx="153451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and bank change</a:t>
            </a:r>
            <a:endParaRPr lang="en-US" sz="1260" dirty="0"/>
          </a:p>
        </p:txBody>
      </p:sp>
      <p:sp>
        <p:nvSpPr>
          <p:cNvPr id="71" name="Text 56"/>
          <p:cNvSpPr/>
          <p:nvPr/>
        </p:nvSpPr>
        <p:spPr>
          <a:xfrm>
            <a:off x="4950421" y="4603353"/>
            <a:ext cx="9094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640 / mo</a:t>
            </a:r>
            <a:endParaRPr lang="en-US" sz="1260" dirty="0"/>
          </a:p>
        </p:txBody>
      </p:sp>
      <p:sp>
        <p:nvSpPr>
          <p:cNvPr id="72" name="Text 57"/>
          <p:cNvSpPr/>
          <p:nvPr/>
        </p:nvSpPr>
        <p:spPr>
          <a:xfrm>
            <a:off x="5943600" y="4603353"/>
            <a:ext cx="11177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91%</a:t>
            </a:r>
            <a:endParaRPr lang="en-US" sz="1260" dirty="0"/>
          </a:p>
        </p:txBody>
      </p:sp>
      <p:sp>
        <p:nvSpPr>
          <p:cNvPr id="73" name="Text 58"/>
          <p:cNvSpPr/>
          <p:nvPr/>
        </p:nvSpPr>
        <p:spPr>
          <a:xfrm>
            <a:off x="7145139" y="4603353"/>
            <a:ext cx="111799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sec</a:t>
            </a:r>
            <a:endParaRPr lang="en-US" sz="1260" dirty="0"/>
          </a:p>
        </p:txBody>
      </p:sp>
      <p:sp>
        <p:nvSpPr>
          <p:cNvPr id="74" name="Shape 59"/>
          <p:cNvSpPr/>
          <p:nvPr/>
        </p:nvSpPr>
        <p:spPr>
          <a:xfrm>
            <a:off x="3294063" y="5469136"/>
            <a:ext cx="50833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5" name="Text 60"/>
          <p:cNvSpPr/>
          <p:nvPr/>
        </p:nvSpPr>
        <p:spPr>
          <a:xfrm>
            <a:off x="3408363" y="5153025"/>
            <a:ext cx="160414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question</a:t>
            </a:r>
            <a:endParaRPr lang="en-US" sz="1260" dirty="0"/>
          </a:p>
        </p:txBody>
      </p:sp>
      <p:sp>
        <p:nvSpPr>
          <p:cNvPr id="76" name="Text 61"/>
          <p:cNvSpPr/>
          <p:nvPr/>
        </p:nvSpPr>
        <p:spPr>
          <a:xfrm>
            <a:off x="4950421" y="5153025"/>
            <a:ext cx="9094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2,655 / mo</a:t>
            </a:r>
            <a:endParaRPr lang="en-US" sz="1260" dirty="0"/>
          </a:p>
        </p:txBody>
      </p:sp>
      <p:sp>
        <p:nvSpPr>
          <p:cNvPr id="77" name="Text 62"/>
          <p:cNvSpPr/>
          <p:nvPr/>
        </p:nvSpPr>
        <p:spPr>
          <a:xfrm>
            <a:off x="5943600" y="5153025"/>
            <a:ext cx="11177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82%</a:t>
            </a:r>
            <a:endParaRPr lang="en-US" sz="1260" dirty="0"/>
          </a:p>
        </p:txBody>
      </p:sp>
      <p:sp>
        <p:nvSpPr>
          <p:cNvPr id="78" name="Text 63"/>
          <p:cNvSpPr/>
          <p:nvPr/>
        </p:nvSpPr>
        <p:spPr>
          <a:xfrm>
            <a:off x="7145139" y="5153025"/>
            <a:ext cx="111799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min</a:t>
            </a:r>
            <a:endParaRPr lang="en-US" sz="1260" dirty="0"/>
          </a:p>
        </p:txBody>
      </p:sp>
      <p:sp>
        <p:nvSpPr>
          <p:cNvPr id="79" name="Shape 64"/>
          <p:cNvSpPr/>
          <p:nvPr/>
        </p:nvSpPr>
        <p:spPr>
          <a:xfrm>
            <a:off x="3294063" y="6114058"/>
            <a:ext cx="50833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0" name="Text 65"/>
          <p:cNvSpPr/>
          <p:nvPr/>
        </p:nvSpPr>
        <p:spPr>
          <a:xfrm>
            <a:off x="3408363" y="5607447"/>
            <a:ext cx="153451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checklist</a:t>
            </a:r>
            <a:endParaRPr lang="en-US" sz="1260" dirty="0"/>
          </a:p>
        </p:txBody>
      </p:sp>
      <p:sp>
        <p:nvSpPr>
          <p:cNvPr id="81" name="Text 66"/>
          <p:cNvSpPr/>
          <p:nvPr/>
        </p:nvSpPr>
        <p:spPr>
          <a:xfrm>
            <a:off x="4950421" y="5702697"/>
            <a:ext cx="9094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218 / mo</a:t>
            </a:r>
            <a:endParaRPr lang="en-US" sz="1260" dirty="0"/>
          </a:p>
        </p:txBody>
      </p:sp>
      <p:sp>
        <p:nvSpPr>
          <p:cNvPr id="82" name="Text 67"/>
          <p:cNvSpPr/>
          <p:nvPr/>
        </p:nvSpPr>
        <p:spPr>
          <a:xfrm>
            <a:off x="5943600" y="5702697"/>
            <a:ext cx="11177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88%</a:t>
            </a:r>
            <a:endParaRPr lang="en-US" sz="1260" dirty="0"/>
          </a:p>
        </p:txBody>
      </p:sp>
      <p:sp>
        <p:nvSpPr>
          <p:cNvPr id="83" name="Text 68"/>
          <p:cNvSpPr/>
          <p:nvPr/>
        </p:nvSpPr>
        <p:spPr>
          <a:xfrm>
            <a:off x="7145139" y="5702697"/>
            <a:ext cx="111799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min</a:t>
            </a:r>
            <a:endParaRPr lang="en-US" sz="1260" dirty="0"/>
          </a:p>
        </p:txBody>
      </p:sp>
      <p:sp>
        <p:nvSpPr>
          <p:cNvPr id="84" name="Shape 69"/>
          <p:cNvSpPr/>
          <p:nvPr/>
        </p:nvSpPr>
        <p:spPr>
          <a:xfrm>
            <a:off x="3294063" y="6758980"/>
            <a:ext cx="5083374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5" name="Text 70"/>
          <p:cNvSpPr/>
          <p:nvPr/>
        </p:nvSpPr>
        <p:spPr>
          <a:xfrm>
            <a:off x="3408363" y="6252370"/>
            <a:ext cx="153451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Equipment and access request</a:t>
            </a:r>
            <a:endParaRPr lang="en-US" sz="1260" dirty="0"/>
          </a:p>
        </p:txBody>
      </p:sp>
      <p:sp>
        <p:nvSpPr>
          <p:cNvPr id="86" name="Text 71"/>
          <p:cNvSpPr/>
          <p:nvPr/>
        </p:nvSpPr>
        <p:spPr>
          <a:xfrm>
            <a:off x="4950421" y="6347620"/>
            <a:ext cx="9094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1,110 / mo</a:t>
            </a:r>
            <a:endParaRPr lang="en-US" sz="1260" dirty="0"/>
          </a:p>
        </p:txBody>
      </p:sp>
      <p:sp>
        <p:nvSpPr>
          <p:cNvPr id="87" name="Text 72"/>
          <p:cNvSpPr/>
          <p:nvPr/>
        </p:nvSpPr>
        <p:spPr>
          <a:xfrm>
            <a:off x="5943600" y="6347620"/>
            <a:ext cx="11177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86%</a:t>
            </a:r>
            <a:endParaRPr lang="en-US" sz="1260" dirty="0"/>
          </a:p>
        </p:txBody>
      </p:sp>
      <p:sp>
        <p:nvSpPr>
          <p:cNvPr id="88" name="Text 73"/>
          <p:cNvSpPr/>
          <p:nvPr/>
        </p:nvSpPr>
        <p:spPr>
          <a:xfrm>
            <a:off x="7145139" y="6347620"/>
            <a:ext cx="111799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min</a:t>
            </a:r>
            <a:endParaRPr lang="en-US" sz="1260" dirty="0"/>
          </a:p>
        </p:txBody>
      </p:sp>
      <p:sp>
        <p:nvSpPr>
          <p:cNvPr id="89" name="Shape 74"/>
          <p:cNvSpPr/>
          <p:nvPr/>
        </p:nvSpPr>
        <p:spPr>
          <a:xfrm>
            <a:off x="8778479" y="1924645"/>
            <a:ext cx="3314701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0" name="Text 75"/>
          <p:cNvSpPr/>
          <p:nvPr/>
        </p:nvSpPr>
        <p:spPr>
          <a:xfrm>
            <a:off x="8973940" y="2120106"/>
            <a:ext cx="32161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ops cost per case</a:t>
            </a:r>
            <a:endParaRPr lang="en-US" sz="1080" dirty="0"/>
          </a:p>
        </p:txBody>
      </p:sp>
      <p:sp>
        <p:nvSpPr>
          <p:cNvPr id="91" name="Text 76"/>
          <p:cNvSpPr/>
          <p:nvPr/>
        </p:nvSpPr>
        <p:spPr>
          <a:xfrm>
            <a:off x="8973940" y="2353667"/>
            <a:ext cx="321615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4.10</a:t>
            </a:r>
            <a:endParaRPr lang="en-US" sz="2700" dirty="0"/>
          </a:p>
        </p:txBody>
      </p:sp>
      <p:sp>
        <p:nvSpPr>
          <p:cNvPr id="92" name="Text 77"/>
          <p:cNvSpPr/>
          <p:nvPr/>
        </p:nvSpPr>
        <p:spPr>
          <a:xfrm>
            <a:off x="8973940" y="2810669"/>
            <a:ext cx="46692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−72%</a:t>
            </a:r>
            <a:endParaRPr lang="en-US" sz="1080" dirty="0"/>
          </a:p>
        </p:txBody>
      </p:sp>
      <p:sp>
        <p:nvSpPr>
          <p:cNvPr id="93" name="Shape 78"/>
          <p:cNvSpPr/>
          <p:nvPr/>
        </p:nvSpPr>
        <p:spPr>
          <a:xfrm>
            <a:off x="8778479" y="3353991"/>
            <a:ext cx="3314701" cy="1246585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4" name="Text 79"/>
          <p:cNvSpPr/>
          <p:nvPr/>
        </p:nvSpPr>
        <p:spPr>
          <a:xfrm>
            <a:off x="8973940" y="3549452"/>
            <a:ext cx="32161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Cases per FTE / month</a:t>
            </a:r>
            <a:endParaRPr lang="en-US" sz="1080" dirty="0"/>
          </a:p>
        </p:txBody>
      </p:sp>
      <p:sp>
        <p:nvSpPr>
          <p:cNvPr id="95" name="Text 80"/>
          <p:cNvSpPr/>
          <p:nvPr/>
        </p:nvSpPr>
        <p:spPr>
          <a:xfrm>
            <a:off x="8973940" y="3783013"/>
            <a:ext cx="321615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1,840</a:t>
            </a:r>
            <a:endParaRPr lang="en-US" sz="2700" dirty="0"/>
          </a:p>
        </p:txBody>
      </p:sp>
      <p:sp>
        <p:nvSpPr>
          <p:cNvPr id="96" name="Text 81"/>
          <p:cNvSpPr/>
          <p:nvPr/>
        </p:nvSpPr>
        <p:spPr>
          <a:xfrm>
            <a:off x="8973940" y="4240014"/>
            <a:ext cx="43338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+3.1×</a:t>
            </a:r>
            <a:endParaRPr lang="en-US" sz="1080" dirty="0"/>
          </a:p>
        </p:txBody>
      </p:sp>
      <p:sp>
        <p:nvSpPr>
          <p:cNvPr id="97" name="Shape 82"/>
          <p:cNvSpPr/>
          <p:nvPr/>
        </p:nvSpPr>
        <p:spPr>
          <a:xfrm>
            <a:off x="8778479" y="4783336"/>
            <a:ext cx="3314701" cy="1246585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8" name="Text 83"/>
          <p:cNvSpPr/>
          <p:nvPr/>
        </p:nvSpPr>
        <p:spPr>
          <a:xfrm>
            <a:off x="8973940" y="4978797"/>
            <a:ext cx="32161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Escalated to a person</a:t>
            </a:r>
            <a:endParaRPr lang="en-US" sz="1080" dirty="0"/>
          </a:p>
        </p:txBody>
      </p:sp>
      <p:sp>
        <p:nvSpPr>
          <p:cNvPr id="99" name="Text 84"/>
          <p:cNvSpPr/>
          <p:nvPr/>
        </p:nvSpPr>
        <p:spPr>
          <a:xfrm>
            <a:off x="8973940" y="5212358"/>
            <a:ext cx="321615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14%</a:t>
            </a:r>
            <a:endParaRPr lang="en-US" sz="2700" dirty="0"/>
          </a:p>
        </p:txBody>
      </p:sp>
      <p:sp>
        <p:nvSpPr>
          <p:cNvPr id="100" name="Text 85"/>
          <p:cNvSpPr/>
          <p:nvPr/>
        </p:nvSpPr>
        <p:spPr>
          <a:xfrm>
            <a:off x="8973940" y="5669360"/>
            <a:ext cx="72171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design</a:t>
            </a:r>
            <a:endParaRPr lang="en-US" sz="1080" dirty="0"/>
          </a:p>
        </p:txBody>
      </p:sp>
      <p:sp>
        <p:nvSpPr>
          <p:cNvPr id="101" name="Shape 86"/>
          <p:cNvSpPr/>
          <p:nvPr/>
        </p:nvSpPr>
        <p:spPr>
          <a:xfrm>
            <a:off x="8778479" y="6212682"/>
            <a:ext cx="3314701" cy="12465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2" name="Text 87"/>
          <p:cNvSpPr/>
          <p:nvPr/>
        </p:nvSpPr>
        <p:spPr>
          <a:xfrm>
            <a:off x="8973940" y="6408143"/>
            <a:ext cx="321615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kern="0" spc="11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satisfaction</a:t>
            </a:r>
            <a:endParaRPr lang="en-US" sz="1080" dirty="0"/>
          </a:p>
        </p:txBody>
      </p:sp>
      <p:sp>
        <p:nvSpPr>
          <p:cNvPr id="103" name="Text 88"/>
          <p:cNvSpPr/>
          <p:nvPr/>
        </p:nvSpPr>
        <p:spPr>
          <a:xfrm>
            <a:off x="8973940" y="6641703"/>
            <a:ext cx="321615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727"/>
              </a:lnSpc>
              <a:buNone/>
            </a:pPr>
            <a:r>
              <a:rPr lang="en-US" sz="27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4.6 / 5</a:t>
            </a:r>
            <a:endParaRPr lang="en-US" sz="2700" dirty="0"/>
          </a:p>
        </p:txBody>
      </p:sp>
      <p:sp>
        <p:nvSpPr>
          <p:cNvPr id="104" name="Text 89"/>
          <p:cNvSpPr/>
          <p:nvPr/>
        </p:nvSpPr>
        <p:spPr>
          <a:xfrm>
            <a:off x="8973940" y="7098705"/>
            <a:ext cx="38496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+0.9</a:t>
            </a:r>
            <a:endParaRPr lang="en-US" sz="1080" dirty="0"/>
          </a:p>
        </p:txBody>
      </p:sp>
      <p:sp>
        <p:nvSpPr>
          <p:cNvPr id="105" name="Shape 90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6" name="Shape 91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7" name="Shape 92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8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09" name="Text 93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10" name="Text 94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11" name="Shape 95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2" name="Text 96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13" name="Shape 97"/>
          <p:cNvSpPr/>
          <p:nvPr/>
        </p:nvSpPr>
        <p:spPr>
          <a:xfrm>
            <a:off x="14047193" y="2612628"/>
            <a:ext cx="3819328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4" name="Text 98"/>
          <p:cNvSpPr/>
          <p:nvPr/>
        </p:nvSpPr>
        <p:spPr>
          <a:xfrm>
            <a:off x="14207213" y="2726928"/>
            <a:ext cx="36138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request type should we automate next?</a:t>
            </a:r>
            <a:endParaRPr lang="en-US" sz="1260" dirty="0"/>
          </a:p>
        </p:txBody>
      </p:sp>
      <p:sp>
        <p:nvSpPr>
          <p:cNvPr id="115" name="Shape 99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6" name="Text 100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questions. Highest volume, lowest autonomy — eighteen points of headroom against the others.</a:t>
            </a:r>
            <a:endParaRPr lang="en-US" sz="1260" dirty="0"/>
          </a:p>
        </p:txBody>
      </p:sp>
      <p:sp>
        <p:nvSpPr>
          <p:cNvPr id="117" name="Shape 101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8" name="Text 102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AUTONOMOUS TODAY</a:t>
            </a:r>
            <a:endParaRPr lang="en-US" sz="990" dirty="0"/>
          </a:p>
        </p:txBody>
      </p:sp>
      <p:sp>
        <p:nvSpPr>
          <p:cNvPr id="119" name="Text 103"/>
          <p:cNvSpPr/>
          <p:nvPr/>
        </p:nvSpPr>
        <p:spPr>
          <a:xfrm>
            <a:off x="12781161" y="4494610"/>
            <a:ext cx="113347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questions</a:t>
            </a:r>
            <a:endParaRPr lang="en-US" sz="1080" dirty="0"/>
          </a:p>
        </p:txBody>
      </p:sp>
      <p:sp>
        <p:nvSpPr>
          <p:cNvPr id="120" name="Text 104"/>
          <p:cNvSpPr/>
          <p:nvPr/>
        </p:nvSpPr>
        <p:spPr>
          <a:xfrm>
            <a:off x="17520645" y="4494610"/>
            <a:ext cx="24943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</a:t>
            </a:r>
            <a:endParaRPr lang="en-US" sz="1080" dirty="0"/>
          </a:p>
        </p:txBody>
      </p:sp>
      <p:sp>
        <p:nvSpPr>
          <p:cNvPr id="121" name="Shape 105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2" name="Shape 106"/>
          <p:cNvSpPr/>
          <p:nvPr/>
        </p:nvSpPr>
        <p:spPr>
          <a:xfrm>
            <a:off x="12781161" y="4716859"/>
            <a:ext cx="4028281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3" name="Text 107"/>
          <p:cNvSpPr/>
          <p:nvPr/>
        </p:nvSpPr>
        <p:spPr>
          <a:xfrm>
            <a:off x="12781161" y="4899621"/>
            <a:ext cx="142013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Equipment requests</a:t>
            </a:r>
            <a:endParaRPr lang="en-US" sz="1080" dirty="0"/>
          </a:p>
        </p:txBody>
      </p:sp>
      <p:sp>
        <p:nvSpPr>
          <p:cNvPr id="124" name="Text 108"/>
          <p:cNvSpPr/>
          <p:nvPr/>
        </p:nvSpPr>
        <p:spPr>
          <a:xfrm>
            <a:off x="17518461" y="4899621"/>
            <a:ext cx="25161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</a:t>
            </a:r>
            <a:endParaRPr lang="en-US" sz="1080" dirty="0"/>
          </a:p>
        </p:txBody>
      </p:sp>
      <p:sp>
        <p:nvSpPr>
          <p:cNvPr id="125" name="Shape 109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6" name="Shape 110"/>
          <p:cNvSpPr/>
          <p:nvPr/>
        </p:nvSpPr>
        <p:spPr>
          <a:xfrm>
            <a:off x="12781161" y="5121871"/>
            <a:ext cx="4224933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7" name="Text 111"/>
          <p:cNvSpPr/>
          <p:nvPr/>
        </p:nvSpPr>
        <p:spPr>
          <a:xfrm>
            <a:off x="12781161" y="5304631"/>
            <a:ext cx="120451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changes</a:t>
            </a:r>
            <a:endParaRPr lang="en-US" sz="1080" dirty="0"/>
          </a:p>
        </p:txBody>
      </p:sp>
      <p:sp>
        <p:nvSpPr>
          <p:cNvPr id="128" name="Text 112"/>
          <p:cNvSpPr/>
          <p:nvPr/>
        </p:nvSpPr>
        <p:spPr>
          <a:xfrm>
            <a:off x="17548227" y="5304631"/>
            <a:ext cx="22185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</a:t>
            </a:r>
            <a:endParaRPr lang="en-US" sz="1080" dirty="0"/>
          </a:p>
        </p:txBody>
      </p:sp>
      <p:sp>
        <p:nvSpPr>
          <p:cNvPr id="129" name="Shape 113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0" name="Shape 114"/>
          <p:cNvSpPr/>
          <p:nvPr/>
        </p:nvSpPr>
        <p:spPr>
          <a:xfrm>
            <a:off x="12781161" y="5526882"/>
            <a:ext cx="4470402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1" name="Text 115"/>
          <p:cNvSpPr/>
          <p:nvPr/>
        </p:nvSpPr>
        <p:spPr>
          <a:xfrm>
            <a:off x="12781161" y="5709643"/>
            <a:ext cx="46414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</a:t>
            </a:r>
            <a:endParaRPr lang="en-US" sz="1080" dirty="0"/>
          </a:p>
        </p:txBody>
      </p:sp>
      <p:sp>
        <p:nvSpPr>
          <p:cNvPr id="132" name="Text 116"/>
          <p:cNvSpPr/>
          <p:nvPr/>
        </p:nvSpPr>
        <p:spPr>
          <a:xfrm>
            <a:off x="17514888" y="5709643"/>
            <a:ext cx="25519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</a:t>
            </a:r>
            <a:endParaRPr lang="en-US" sz="1080" dirty="0"/>
          </a:p>
        </p:txBody>
      </p:sp>
      <p:sp>
        <p:nvSpPr>
          <p:cNvPr id="133" name="Shape 117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4" name="Shape 118"/>
          <p:cNvSpPr/>
          <p:nvPr/>
        </p:nvSpPr>
        <p:spPr>
          <a:xfrm>
            <a:off x="12781161" y="5931893"/>
            <a:ext cx="4617840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5" name="Shape 119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6" name="Text 120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automation</a:t>
            </a:r>
            <a:endParaRPr lang="en-US" sz="1260" dirty="0"/>
          </a:p>
        </p:txBody>
      </p:sp>
      <p:sp>
        <p:nvSpPr>
          <p:cNvPr id="137" name="Text 121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type</a:t>
            </a:r>
            <a:endParaRPr lang="en-US" sz="990" dirty="0"/>
          </a:p>
        </p:txBody>
      </p:sp>
      <p:sp>
        <p:nvSpPr>
          <p:cNvPr id="138" name="Shape 122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9" name="Text 123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and payroll queries</a:t>
            </a:r>
            <a:endParaRPr lang="en-US" sz="1170" dirty="0"/>
          </a:p>
        </p:txBody>
      </p:sp>
      <p:sp>
        <p:nvSpPr>
          <p:cNvPr id="140" name="Text 124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autonomy</a:t>
            </a:r>
            <a:endParaRPr lang="en-US" sz="990" dirty="0"/>
          </a:p>
        </p:txBody>
      </p:sp>
      <p:sp>
        <p:nvSpPr>
          <p:cNvPr id="141" name="Shape 125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2" name="Text 126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92%</a:t>
            </a:r>
            <a:endParaRPr lang="en-US" sz="1170" dirty="0"/>
          </a:p>
        </p:txBody>
      </p:sp>
      <p:sp>
        <p:nvSpPr>
          <p:cNvPr id="143" name="Text 127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</a:t>
            </a:r>
            <a:endParaRPr lang="en-US" sz="990" dirty="0"/>
          </a:p>
        </p:txBody>
      </p:sp>
      <p:sp>
        <p:nvSpPr>
          <p:cNvPr id="144" name="Shape 128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5" name="Text 129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Escalate on any exception</a:t>
            </a:r>
            <a:endParaRPr lang="en-US" sz="1170" dirty="0"/>
          </a:p>
        </p:txBody>
      </p:sp>
      <p:sp>
        <p:nvSpPr>
          <p:cNvPr id="146" name="Shape 130"/>
          <p:cNvSpPr/>
          <p:nvPr/>
        </p:nvSpPr>
        <p:spPr>
          <a:xfrm>
            <a:off x="12781161" y="8631437"/>
            <a:ext cx="1398589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7" name="Text 131"/>
          <p:cNvSpPr/>
          <p:nvPr/>
        </p:nvSpPr>
        <p:spPr>
          <a:xfrm>
            <a:off x="12941181" y="8711447"/>
            <a:ext cx="1154749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Agents</a:t>
            </a:r>
            <a:endParaRPr lang="en-US" sz="1170" dirty="0"/>
          </a:p>
        </p:txBody>
      </p:sp>
      <p:sp>
        <p:nvSpPr>
          <p:cNvPr id="148" name="Shape 132"/>
          <p:cNvSpPr/>
          <p:nvPr/>
        </p:nvSpPr>
        <p:spPr>
          <a:xfrm>
            <a:off x="14271031" y="8631437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9" name="Text 133"/>
          <p:cNvSpPr/>
          <p:nvPr/>
        </p:nvSpPr>
        <p:spPr>
          <a:xfrm>
            <a:off x="14443751" y="8724147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50" name="Shape 134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1" name="Shape 135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52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53" name="Text 136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55" name="Picture 154" descr="Android Apps by Hello Clever on Google Play">
            <a:extLst>
              <a:ext uri="{FF2B5EF4-FFF2-40B4-BE49-F238E27FC236}">
                <a16:creationId xmlns:a16="http://schemas.microsoft.com/office/drawing/2014/main" id="{9CAF1E5C-E42A-613B-E2D8-FCE5076FA93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2700" y="-12700"/>
            <a:ext cx="18313400" cy="10312401"/>
          </a:xfrm>
          <a:prstGeom prst="roundRect">
            <a:avLst>
              <a:gd name="adj" fmla="val 1773"/>
            </a:avLst>
          </a:prstGeom>
          <a:solidFill>
            <a:srgbClr val="FAF8FE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1" cy="7441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731441"/>
            <a:ext cx="182880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2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" y="239911"/>
            <a:ext cx="11311" cy="25142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5"/>
          <p:cNvSpPr/>
          <p:nvPr/>
        </p:nvSpPr>
        <p:spPr>
          <a:xfrm>
            <a:off x="925711" y="264120"/>
            <a:ext cx="641747" cy="241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4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674019" y="158750"/>
            <a:ext cx="6190258" cy="413941"/>
          </a:xfrm>
          <a:prstGeom prst="roundRect">
            <a:avLst>
              <a:gd name="adj" fmla="val 22090"/>
            </a:avLst>
          </a:prstGeom>
          <a:solidFill>
            <a:srgbClr val="EEEDF3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839" y="285750"/>
            <a:ext cx="159941" cy="1599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5061" y="276820"/>
            <a:ext cx="2801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people, projects, skills, policies</a:t>
            </a:r>
            <a:endParaRPr lang="en-US" sz="1170" dirty="0"/>
          </a:p>
        </p:txBody>
      </p:sp>
      <p:sp>
        <p:nvSpPr>
          <p:cNvPr id="12" name="Text 8"/>
          <p:cNvSpPr/>
          <p:nvPr/>
        </p:nvSpPr>
        <p:spPr>
          <a:xfrm>
            <a:off x="14120614" y="282972"/>
            <a:ext cx="1608298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Tenant: contoso-emea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15742645" y="262731"/>
            <a:ext cx="11309" cy="205581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0"/>
          <p:cNvSpPr/>
          <p:nvPr/>
        </p:nvSpPr>
        <p:spPr>
          <a:xfrm>
            <a:off x="15913895" y="282972"/>
            <a:ext cx="1857355" cy="203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Region: Switzerland North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17762340" y="217091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2"/>
          <p:cNvSpPr/>
          <p:nvPr/>
        </p:nvSpPr>
        <p:spPr>
          <a:xfrm>
            <a:off x="17724240" y="217091"/>
            <a:ext cx="373262" cy="3351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</a:t>
            </a:r>
            <a:endParaRPr lang="en-US" sz="990" dirty="0"/>
          </a:p>
        </p:txBody>
      </p:sp>
      <p:sp>
        <p:nvSpPr>
          <p:cNvPr id="17" name="Shape 13"/>
          <p:cNvSpPr/>
          <p:nvPr/>
        </p:nvSpPr>
        <p:spPr>
          <a:xfrm>
            <a:off x="0" y="744141"/>
            <a:ext cx="2755900" cy="9542860"/>
          </a:xfrm>
          <a:prstGeom prst="rect">
            <a:avLst/>
          </a:prstGeom>
          <a:solidFill>
            <a:srgbClr val="F4F3F8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Shape 14"/>
          <p:cNvSpPr/>
          <p:nvPr/>
        </p:nvSpPr>
        <p:spPr>
          <a:xfrm>
            <a:off x="2743200" y="744141"/>
            <a:ext cx="12700" cy="954286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61" y="984051"/>
            <a:ext cx="182761" cy="1827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522" y="986433"/>
            <a:ext cx="74037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117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5461" y="1372394"/>
            <a:ext cx="182761" cy="1827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522" y="1374775"/>
            <a:ext cx="96500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</a:t>
            </a:r>
            <a:endParaRPr lang="en-US" sz="117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461" y="1760736"/>
            <a:ext cx="182761" cy="1827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2522" y="1763117"/>
            <a:ext cx="929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7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1" y="2149078"/>
            <a:ext cx="182761" cy="1827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2522" y="2151459"/>
            <a:ext cx="90824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17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461" y="2537420"/>
            <a:ext cx="182761" cy="1827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2522" y="2539802"/>
            <a:ext cx="56991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117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461" y="2925763"/>
            <a:ext cx="182761" cy="182761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92522" y="2928144"/>
            <a:ext cx="50383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</a:t>
            </a:r>
            <a:endParaRPr lang="en-US" sz="117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5461" y="3314105"/>
            <a:ext cx="182761" cy="182761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492522" y="3316486"/>
            <a:ext cx="7000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17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461" y="3702447"/>
            <a:ext cx="182761" cy="182761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492522" y="3704828"/>
            <a:ext cx="69274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</a:t>
            </a:r>
            <a:endParaRPr lang="en-US" sz="117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461" y="4090789"/>
            <a:ext cx="182761" cy="182761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492522" y="4093171"/>
            <a:ext cx="9588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170" dirty="0"/>
          </a:p>
        </p:txBody>
      </p:sp>
      <p:sp>
        <p:nvSpPr>
          <p:cNvPr id="37" name="Shape 24"/>
          <p:cNvSpPr/>
          <p:nvPr/>
        </p:nvSpPr>
        <p:spPr>
          <a:xfrm>
            <a:off x="0" y="4376341"/>
            <a:ext cx="2743200" cy="388342"/>
          </a:xfrm>
          <a:prstGeom prst="rect">
            <a:avLst/>
          </a:prstGeom>
          <a:solidFill>
            <a:srgbClr val="00658E">
              <a:alpha val="1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8" name="Shape 25"/>
          <p:cNvSpPr/>
          <p:nvPr/>
        </p:nvSpPr>
        <p:spPr>
          <a:xfrm>
            <a:off x="0" y="4376341"/>
            <a:ext cx="12700" cy="388342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5461" y="4479132"/>
            <a:ext cx="182761" cy="182761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92522" y="4481513"/>
            <a:ext cx="64571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70" dirty="0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461" y="4867474"/>
            <a:ext cx="182761" cy="182761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92522" y="4869855"/>
            <a:ext cx="79315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</a:t>
            </a:r>
            <a:endParaRPr lang="en-US" sz="1170" dirty="0"/>
          </a:p>
        </p:txBody>
      </p:sp>
      <p:sp>
        <p:nvSpPr>
          <p:cNvPr id="43" name="Shape 28"/>
          <p:cNvSpPr/>
          <p:nvPr/>
        </p:nvSpPr>
        <p:spPr>
          <a:xfrm>
            <a:off x="2755900" y="744141"/>
            <a:ext cx="15532101" cy="9542860"/>
          </a:xfrm>
          <a:prstGeom prst="rect">
            <a:avLst/>
          </a:prstGeom>
          <a:solidFill>
            <a:srgbClr val="FAF8F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4" name="Shape 29"/>
          <p:cNvSpPr/>
          <p:nvPr/>
        </p:nvSpPr>
        <p:spPr>
          <a:xfrm>
            <a:off x="2755900" y="1683345"/>
            <a:ext cx="15532101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5" name="Text 30"/>
          <p:cNvSpPr/>
          <p:nvPr/>
        </p:nvSpPr>
        <p:spPr>
          <a:xfrm>
            <a:off x="3075781" y="949722"/>
            <a:ext cx="16381574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› Executive</a:t>
            </a:r>
            <a:endParaRPr lang="en-US" sz="1080" dirty="0"/>
          </a:p>
        </p:txBody>
      </p:sp>
      <p:sp>
        <p:nvSpPr>
          <p:cNvPr id="46" name="Text 31"/>
          <p:cNvSpPr/>
          <p:nvPr/>
        </p:nvSpPr>
        <p:spPr>
          <a:xfrm>
            <a:off x="3075781" y="1188244"/>
            <a:ext cx="5336540" cy="368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OKR progress — people and delivery</a:t>
            </a:r>
            <a:endParaRPr lang="en-US" sz="2160" dirty="0"/>
          </a:p>
        </p:txBody>
      </p:sp>
      <p:sp>
        <p:nvSpPr>
          <p:cNvPr id="47" name="Shape 32"/>
          <p:cNvSpPr/>
          <p:nvPr/>
        </p:nvSpPr>
        <p:spPr>
          <a:xfrm>
            <a:off x="13971986" y="1218803"/>
            <a:ext cx="2077046" cy="269081"/>
          </a:xfrm>
          <a:prstGeom prst="roundRect">
            <a:avLst>
              <a:gd name="adj" fmla="val 16991"/>
            </a:avLst>
          </a:prstGeom>
          <a:ln w="12700">
            <a:solidFill>
              <a:srgbClr val="BDC8D1"/>
            </a:solidFill>
            <a:prstDash val="dash"/>
          </a:ln>
        </p:spPr>
        <p:txBody>
          <a:bodyPr/>
          <a:lstStyle/>
          <a:p>
            <a:endParaRPr lang="vi-VN"/>
          </a:p>
        </p:txBody>
      </p:sp>
      <p:sp>
        <p:nvSpPr>
          <p:cNvPr id="48" name="Text 33"/>
          <p:cNvSpPr/>
          <p:nvPr/>
        </p:nvSpPr>
        <p:spPr>
          <a:xfrm>
            <a:off x="14098986" y="1277223"/>
            <a:ext cx="1899247" cy="1903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illustrative only</a:t>
            </a:r>
            <a:endParaRPr lang="en-US" sz="990" dirty="0"/>
          </a:p>
        </p:txBody>
      </p:sp>
      <p:sp>
        <p:nvSpPr>
          <p:cNvPr id="49" name="Shape 34"/>
          <p:cNvSpPr/>
          <p:nvPr/>
        </p:nvSpPr>
        <p:spPr>
          <a:xfrm>
            <a:off x="16231793" y="1183283"/>
            <a:ext cx="1736328" cy="340122"/>
          </a:xfrm>
          <a:prstGeom prst="roundRect">
            <a:avLst>
              <a:gd name="adj" fmla="val 13442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0" name="Text 35"/>
          <p:cNvSpPr/>
          <p:nvPr/>
        </p:nvSpPr>
        <p:spPr>
          <a:xfrm>
            <a:off x="16404513" y="1264563"/>
            <a:ext cx="1467088" cy="215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to board pack</a:t>
            </a:r>
            <a:endParaRPr lang="en-US" sz="1170" dirty="0"/>
          </a:p>
        </p:txBody>
      </p:sp>
      <p:sp>
        <p:nvSpPr>
          <p:cNvPr id="51" name="Shape 36"/>
          <p:cNvSpPr/>
          <p:nvPr/>
        </p:nvSpPr>
        <p:spPr>
          <a:xfrm>
            <a:off x="3075781" y="1924645"/>
            <a:ext cx="5153422" cy="8133755"/>
          </a:xfrm>
          <a:prstGeom prst="roundRect">
            <a:avLst>
              <a:gd name="adj" fmla="val 1774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2" name="Text 37"/>
          <p:cNvSpPr/>
          <p:nvPr/>
        </p:nvSpPr>
        <p:spPr>
          <a:xfrm>
            <a:off x="3294063" y="2142927"/>
            <a:ext cx="4858365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objectives, measured on live operational data</a:t>
            </a:r>
            <a:endParaRPr lang="en-US" sz="1440" dirty="0"/>
          </a:p>
        </p:txBody>
      </p:sp>
      <p:sp>
        <p:nvSpPr>
          <p:cNvPr id="53" name="Text 38"/>
          <p:cNvSpPr/>
          <p:nvPr/>
        </p:nvSpPr>
        <p:spPr>
          <a:xfrm>
            <a:off x="3294063" y="2597547"/>
            <a:ext cx="518854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survey. The same records the agents act on.</a:t>
            </a:r>
            <a:endParaRPr lang="en-US" sz="1080" dirty="0"/>
          </a:p>
        </p:txBody>
      </p:sp>
      <p:sp>
        <p:nvSpPr>
          <p:cNvPr id="54" name="Text 39"/>
          <p:cNvSpPr/>
          <p:nvPr/>
        </p:nvSpPr>
        <p:spPr>
          <a:xfrm>
            <a:off x="3294063" y="2899767"/>
            <a:ext cx="3579158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time-to-staff a project to under 5 days</a:t>
            </a:r>
            <a:endParaRPr lang="en-US" sz="1170" dirty="0"/>
          </a:p>
        </p:txBody>
      </p:sp>
      <p:sp>
        <p:nvSpPr>
          <p:cNvPr id="55" name="Text 40"/>
          <p:cNvSpPr/>
          <p:nvPr/>
        </p:nvSpPr>
        <p:spPr>
          <a:xfrm>
            <a:off x="7456091" y="2899767"/>
            <a:ext cx="63103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3.1 days</a:t>
            </a:r>
            <a:endParaRPr lang="en-US" sz="1170" dirty="0"/>
          </a:p>
        </p:txBody>
      </p:sp>
      <p:sp>
        <p:nvSpPr>
          <p:cNvPr id="56" name="Shape 41"/>
          <p:cNvSpPr/>
          <p:nvPr/>
        </p:nvSpPr>
        <p:spPr>
          <a:xfrm>
            <a:off x="3294063" y="3189288"/>
            <a:ext cx="4122539" cy="114300"/>
          </a:xfrm>
          <a:prstGeom prst="roundRect">
            <a:avLst>
              <a:gd name="adj" fmla="val 4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7" name="Shape 42"/>
          <p:cNvSpPr/>
          <p:nvPr/>
        </p:nvSpPr>
        <p:spPr>
          <a:xfrm>
            <a:off x="3294063" y="3189288"/>
            <a:ext cx="3215482" cy="114300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8" name="Text 43"/>
          <p:cNvSpPr/>
          <p:nvPr/>
        </p:nvSpPr>
        <p:spPr>
          <a:xfrm>
            <a:off x="7477522" y="3157538"/>
            <a:ext cx="5334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78 %</a:t>
            </a:r>
            <a:endParaRPr lang="en-US" sz="1170" dirty="0"/>
          </a:p>
        </p:txBody>
      </p:sp>
      <p:sp>
        <p:nvSpPr>
          <p:cNvPr id="59" name="Text 44"/>
          <p:cNvSpPr/>
          <p:nvPr/>
        </p:nvSpPr>
        <p:spPr>
          <a:xfrm>
            <a:off x="3294063" y="3472458"/>
            <a:ext cx="234958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internal fill rate above 70%</a:t>
            </a:r>
            <a:endParaRPr lang="en-US" sz="1170" dirty="0"/>
          </a:p>
        </p:txBody>
      </p:sp>
      <p:sp>
        <p:nvSpPr>
          <p:cNvPr id="60" name="Text 45"/>
          <p:cNvSpPr/>
          <p:nvPr/>
        </p:nvSpPr>
        <p:spPr>
          <a:xfrm>
            <a:off x="7691041" y="3472458"/>
            <a:ext cx="39608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76%</a:t>
            </a:r>
            <a:endParaRPr lang="en-US" sz="1170" dirty="0"/>
          </a:p>
        </p:txBody>
      </p:sp>
      <p:sp>
        <p:nvSpPr>
          <p:cNvPr id="61" name="Shape 46"/>
          <p:cNvSpPr/>
          <p:nvPr/>
        </p:nvSpPr>
        <p:spPr>
          <a:xfrm>
            <a:off x="3294063" y="3761978"/>
            <a:ext cx="4122539" cy="114300"/>
          </a:xfrm>
          <a:prstGeom prst="roundRect">
            <a:avLst>
              <a:gd name="adj" fmla="val 4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2" name="Shape 47"/>
          <p:cNvSpPr/>
          <p:nvPr/>
        </p:nvSpPr>
        <p:spPr>
          <a:xfrm>
            <a:off x="3294063" y="3761978"/>
            <a:ext cx="3792737" cy="114300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3" name="Text 48"/>
          <p:cNvSpPr/>
          <p:nvPr/>
        </p:nvSpPr>
        <p:spPr>
          <a:xfrm>
            <a:off x="7477522" y="3730228"/>
            <a:ext cx="5334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92 %</a:t>
            </a:r>
            <a:endParaRPr lang="en-US" sz="1170" dirty="0"/>
          </a:p>
        </p:txBody>
      </p:sp>
      <p:sp>
        <p:nvSpPr>
          <p:cNvPr id="64" name="Text 49"/>
          <p:cNvSpPr/>
          <p:nvPr/>
        </p:nvSpPr>
        <p:spPr>
          <a:xfrm>
            <a:off x="3294063" y="4045149"/>
            <a:ext cx="307230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 HR operations cost per case by half</a:t>
            </a:r>
            <a:endParaRPr lang="en-US" sz="1170" dirty="0"/>
          </a:p>
        </p:txBody>
      </p:sp>
      <p:sp>
        <p:nvSpPr>
          <p:cNvPr id="65" name="Text 50"/>
          <p:cNvSpPr/>
          <p:nvPr/>
        </p:nvSpPr>
        <p:spPr>
          <a:xfrm>
            <a:off x="7595196" y="4045149"/>
            <a:ext cx="49192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−72%</a:t>
            </a:r>
            <a:endParaRPr lang="en-US" sz="1170" dirty="0"/>
          </a:p>
        </p:txBody>
      </p:sp>
      <p:sp>
        <p:nvSpPr>
          <p:cNvPr id="66" name="Shape 51"/>
          <p:cNvSpPr/>
          <p:nvPr/>
        </p:nvSpPr>
        <p:spPr>
          <a:xfrm>
            <a:off x="3294063" y="4334669"/>
            <a:ext cx="4122539" cy="114300"/>
          </a:xfrm>
          <a:prstGeom prst="roundRect">
            <a:avLst>
              <a:gd name="adj" fmla="val 4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7" name="Shape 52"/>
          <p:cNvSpPr/>
          <p:nvPr/>
        </p:nvSpPr>
        <p:spPr>
          <a:xfrm>
            <a:off x="3294063" y="4334669"/>
            <a:ext cx="4122539" cy="114300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8" name="Text 53"/>
          <p:cNvSpPr/>
          <p:nvPr/>
        </p:nvSpPr>
        <p:spPr>
          <a:xfrm>
            <a:off x="7477522" y="4302919"/>
            <a:ext cx="5334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100 %</a:t>
            </a:r>
            <a:endParaRPr lang="en-US" sz="1170" dirty="0"/>
          </a:p>
        </p:txBody>
      </p:sp>
      <p:sp>
        <p:nvSpPr>
          <p:cNvPr id="69" name="Text 54"/>
          <p:cNvSpPr/>
          <p:nvPr/>
        </p:nvSpPr>
        <p:spPr>
          <a:xfrm>
            <a:off x="3294063" y="4617839"/>
            <a:ext cx="257921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 voluntary attrition below 9%</a:t>
            </a:r>
            <a:endParaRPr lang="en-US" sz="1170" dirty="0"/>
          </a:p>
        </p:txBody>
      </p:sp>
      <p:sp>
        <p:nvSpPr>
          <p:cNvPr id="70" name="Text 55"/>
          <p:cNvSpPr/>
          <p:nvPr/>
        </p:nvSpPr>
        <p:spPr>
          <a:xfrm>
            <a:off x="7637662" y="4617839"/>
            <a:ext cx="44946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9.4%</a:t>
            </a:r>
            <a:endParaRPr lang="en-US" sz="1170" dirty="0"/>
          </a:p>
        </p:txBody>
      </p:sp>
      <p:sp>
        <p:nvSpPr>
          <p:cNvPr id="71" name="Shape 56"/>
          <p:cNvSpPr/>
          <p:nvPr/>
        </p:nvSpPr>
        <p:spPr>
          <a:xfrm>
            <a:off x="3294063" y="4907360"/>
            <a:ext cx="4122539" cy="114300"/>
          </a:xfrm>
          <a:prstGeom prst="roundRect">
            <a:avLst>
              <a:gd name="adj" fmla="val 4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2" name="Shape 57"/>
          <p:cNvSpPr/>
          <p:nvPr/>
        </p:nvSpPr>
        <p:spPr>
          <a:xfrm>
            <a:off x="3294063" y="4907360"/>
            <a:ext cx="2638425" cy="114300"/>
          </a:xfrm>
          <a:prstGeom prst="rect">
            <a:avLst/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3" name="Text 58"/>
          <p:cNvSpPr/>
          <p:nvPr/>
        </p:nvSpPr>
        <p:spPr>
          <a:xfrm>
            <a:off x="7477522" y="4875610"/>
            <a:ext cx="5334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64 %</a:t>
            </a:r>
            <a:endParaRPr lang="en-US" sz="1170" dirty="0"/>
          </a:p>
        </p:txBody>
      </p:sp>
      <p:sp>
        <p:nvSpPr>
          <p:cNvPr id="74" name="Text 59"/>
          <p:cNvSpPr/>
          <p:nvPr/>
        </p:nvSpPr>
        <p:spPr>
          <a:xfrm>
            <a:off x="3294063" y="5190530"/>
            <a:ext cx="251700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payments skills gap by Q4</a:t>
            </a:r>
            <a:endParaRPr lang="en-US" sz="1170" dirty="0"/>
          </a:p>
        </p:txBody>
      </p:sp>
      <p:sp>
        <p:nvSpPr>
          <p:cNvPr id="75" name="Text 60"/>
          <p:cNvSpPr/>
          <p:nvPr/>
        </p:nvSpPr>
        <p:spPr>
          <a:xfrm>
            <a:off x="6969323" y="5190530"/>
            <a:ext cx="111779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84% projected</a:t>
            </a:r>
            <a:endParaRPr lang="en-US" sz="1170" dirty="0"/>
          </a:p>
        </p:txBody>
      </p:sp>
      <p:sp>
        <p:nvSpPr>
          <p:cNvPr id="76" name="Shape 61"/>
          <p:cNvSpPr/>
          <p:nvPr/>
        </p:nvSpPr>
        <p:spPr>
          <a:xfrm>
            <a:off x="3294063" y="5480050"/>
            <a:ext cx="4122539" cy="114301"/>
          </a:xfrm>
          <a:prstGeom prst="roundRect">
            <a:avLst>
              <a:gd name="adj" fmla="val 4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7" name="Shape 62"/>
          <p:cNvSpPr/>
          <p:nvPr/>
        </p:nvSpPr>
        <p:spPr>
          <a:xfrm>
            <a:off x="3294063" y="5480050"/>
            <a:ext cx="1978819" cy="114301"/>
          </a:xfrm>
          <a:prstGeom prst="rect">
            <a:avLst/>
          </a:prstGeom>
          <a:solidFill>
            <a:srgbClr val="B25E00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8" name="Text 63"/>
          <p:cNvSpPr/>
          <p:nvPr/>
        </p:nvSpPr>
        <p:spPr>
          <a:xfrm>
            <a:off x="7477522" y="5448300"/>
            <a:ext cx="533400" cy="215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48 %</a:t>
            </a:r>
            <a:endParaRPr lang="en-US" sz="1170" dirty="0"/>
          </a:p>
        </p:txBody>
      </p:sp>
      <p:sp>
        <p:nvSpPr>
          <p:cNvPr id="79" name="Text 64"/>
          <p:cNvSpPr/>
          <p:nvPr/>
        </p:nvSpPr>
        <p:spPr>
          <a:xfrm>
            <a:off x="3294063" y="5763221"/>
            <a:ext cx="225855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AI-related audit findings</a:t>
            </a:r>
            <a:endParaRPr lang="en-US" sz="1170" dirty="0"/>
          </a:p>
        </p:txBody>
      </p:sp>
      <p:sp>
        <p:nvSpPr>
          <p:cNvPr id="80" name="Text 65"/>
          <p:cNvSpPr/>
          <p:nvPr/>
        </p:nvSpPr>
        <p:spPr>
          <a:xfrm>
            <a:off x="7917062" y="5763221"/>
            <a:ext cx="17006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170" dirty="0"/>
          </a:p>
        </p:txBody>
      </p:sp>
      <p:sp>
        <p:nvSpPr>
          <p:cNvPr id="81" name="Shape 66"/>
          <p:cNvSpPr/>
          <p:nvPr/>
        </p:nvSpPr>
        <p:spPr>
          <a:xfrm>
            <a:off x="3294063" y="6052741"/>
            <a:ext cx="4122539" cy="114300"/>
          </a:xfrm>
          <a:prstGeom prst="roundRect">
            <a:avLst>
              <a:gd name="adj" fmla="val 4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2" name="Shape 67"/>
          <p:cNvSpPr/>
          <p:nvPr/>
        </p:nvSpPr>
        <p:spPr>
          <a:xfrm>
            <a:off x="3294063" y="6052741"/>
            <a:ext cx="4122539" cy="114300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3" name="Text 68"/>
          <p:cNvSpPr/>
          <p:nvPr/>
        </p:nvSpPr>
        <p:spPr>
          <a:xfrm>
            <a:off x="7477522" y="6020991"/>
            <a:ext cx="53340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100 %</a:t>
            </a:r>
            <a:endParaRPr lang="en-US" sz="1170" dirty="0"/>
          </a:p>
        </p:txBody>
      </p:sp>
      <p:sp>
        <p:nvSpPr>
          <p:cNvPr id="84" name="Shape 69"/>
          <p:cNvSpPr/>
          <p:nvPr/>
        </p:nvSpPr>
        <p:spPr>
          <a:xfrm>
            <a:off x="8411965" y="1924645"/>
            <a:ext cx="3681016" cy="8133755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5" name="Text 70"/>
          <p:cNvSpPr/>
          <p:nvPr/>
        </p:nvSpPr>
        <p:spPr>
          <a:xfrm>
            <a:off x="8630246" y="2142927"/>
            <a:ext cx="248207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on the programme</a:t>
            </a:r>
            <a:endParaRPr lang="en-US" sz="1440" dirty="0"/>
          </a:p>
        </p:txBody>
      </p:sp>
      <p:sp>
        <p:nvSpPr>
          <p:cNvPr id="86" name="Text 71"/>
          <p:cNvSpPr/>
          <p:nvPr/>
        </p:nvSpPr>
        <p:spPr>
          <a:xfrm>
            <a:off x="8630246" y="2381647"/>
            <a:ext cx="248207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months, sample model</a:t>
            </a:r>
            <a:endParaRPr lang="en-US" sz="1080" dirty="0"/>
          </a:p>
        </p:txBody>
      </p:sp>
      <p:sp>
        <p:nvSpPr>
          <p:cNvPr id="87" name="Shape 72"/>
          <p:cNvSpPr/>
          <p:nvPr/>
        </p:nvSpPr>
        <p:spPr>
          <a:xfrm>
            <a:off x="8630246" y="3079949"/>
            <a:ext cx="3244453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8" name="Text 73"/>
          <p:cNvSpPr/>
          <p:nvPr/>
        </p:nvSpPr>
        <p:spPr>
          <a:xfrm>
            <a:off x="8630246" y="2786658"/>
            <a:ext cx="176960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operations saving</a:t>
            </a:r>
            <a:endParaRPr lang="en-US" sz="1260" dirty="0"/>
          </a:p>
        </p:txBody>
      </p:sp>
      <p:sp>
        <p:nvSpPr>
          <p:cNvPr id="89" name="Text 74"/>
          <p:cNvSpPr/>
          <p:nvPr/>
        </p:nvSpPr>
        <p:spPr>
          <a:xfrm>
            <a:off x="11059121" y="2786658"/>
            <a:ext cx="8917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3.4 M</a:t>
            </a:r>
            <a:endParaRPr lang="en-US" sz="1260" dirty="0"/>
          </a:p>
        </p:txBody>
      </p:sp>
      <p:sp>
        <p:nvSpPr>
          <p:cNvPr id="90" name="Shape 75"/>
          <p:cNvSpPr/>
          <p:nvPr/>
        </p:nvSpPr>
        <p:spPr>
          <a:xfrm>
            <a:off x="8630246" y="3625850"/>
            <a:ext cx="3244453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1" name="Text 76"/>
          <p:cNvSpPr/>
          <p:nvPr/>
        </p:nvSpPr>
        <p:spPr>
          <a:xfrm>
            <a:off x="8630246" y="3332560"/>
            <a:ext cx="13642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 reduction</a:t>
            </a:r>
            <a:endParaRPr lang="en-US" sz="1260" dirty="0"/>
          </a:p>
        </p:txBody>
      </p:sp>
      <p:sp>
        <p:nvSpPr>
          <p:cNvPr id="92" name="Text 77"/>
          <p:cNvSpPr/>
          <p:nvPr/>
        </p:nvSpPr>
        <p:spPr>
          <a:xfrm>
            <a:off x="11110914" y="3332560"/>
            <a:ext cx="83998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2.1 M</a:t>
            </a:r>
            <a:endParaRPr lang="en-US" sz="1260" dirty="0"/>
          </a:p>
        </p:txBody>
      </p:sp>
      <p:sp>
        <p:nvSpPr>
          <p:cNvPr id="93" name="Shape 78"/>
          <p:cNvSpPr/>
          <p:nvPr/>
        </p:nvSpPr>
        <p:spPr>
          <a:xfrm>
            <a:off x="8630246" y="4171752"/>
            <a:ext cx="3244453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4" name="Text 79"/>
          <p:cNvSpPr/>
          <p:nvPr/>
        </p:nvSpPr>
        <p:spPr>
          <a:xfrm>
            <a:off x="8630246" y="3878461"/>
            <a:ext cx="21321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staffing → revenue</a:t>
            </a:r>
            <a:endParaRPr lang="en-US" sz="1260" dirty="0"/>
          </a:p>
        </p:txBody>
      </p:sp>
      <p:sp>
        <p:nvSpPr>
          <p:cNvPr id="95" name="Text 80"/>
          <p:cNvSpPr/>
          <p:nvPr/>
        </p:nvSpPr>
        <p:spPr>
          <a:xfrm>
            <a:off x="11064677" y="3878461"/>
            <a:ext cx="8862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4.8 M</a:t>
            </a:r>
            <a:endParaRPr lang="en-US" sz="1260" dirty="0"/>
          </a:p>
        </p:txBody>
      </p:sp>
      <p:sp>
        <p:nvSpPr>
          <p:cNvPr id="96" name="Shape 81"/>
          <p:cNvSpPr/>
          <p:nvPr/>
        </p:nvSpPr>
        <p:spPr>
          <a:xfrm>
            <a:off x="8630246" y="4717653"/>
            <a:ext cx="3244453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7" name="Text 82"/>
          <p:cNvSpPr/>
          <p:nvPr/>
        </p:nvSpPr>
        <p:spPr>
          <a:xfrm>
            <a:off x="8630246" y="4424363"/>
            <a:ext cx="190472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hiring avoided</a:t>
            </a:r>
            <a:endParaRPr lang="en-US" sz="1260" dirty="0"/>
          </a:p>
        </p:txBody>
      </p:sp>
      <p:sp>
        <p:nvSpPr>
          <p:cNvPr id="98" name="Text 83"/>
          <p:cNvSpPr/>
          <p:nvPr/>
        </p:nvSpPr>
        <p:spPr>
          <a:xfrm>
            <a:off x="11095832" y="4424363"/>
            <a:ext cx="85506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1.9 M</a:t>
            </a:r>
            <a:endParaRPr lang="en-US" sz="1260" dirty="0"/>
          </a:p>
        </p:txBody>
      </p:sp>
      <p:sp>
        <p:nvSpPr>
          <p:cNvPr id="99" name="Shape 84"/>
          <p:cNvSpPr/>
          <p:nvPr/>
        </p:nvSpPr>
        <p:spPr>
          <a:xfrm>
            <a:off x="8630246" y="5263555"/>
            <a:ext cx="3244453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0" name="Text 85"/>
          <p:cNvSpPr/>
          <p:nvPr/>
        </p:nvSpPr>
        <p:spPr>
          <a:xfrm>
            <a:off x="8630246" y="4970265"/>
            <a:ext cx="217342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and delivery cost</a:t>
            </a:r>
            <a:endParaRPr lang="en-US" sz="1260" dirty="0"/>
          </a:p>
        </p:txBody>
      </p:sp>
      <p:sp>
        <p:nvSpPr>
          <p:cNvPr id="101" name="Text 86"/>
          <p:cNvSpPr/>
          <p:nvPr/>
        </p:nvSpPr>
        <p:spPr>
          <a:xfrm>
            <a:off x="10918430" y="4970265"/>
            <a:ext cx="10324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 CHF 2.6 M</a:t>
            </a:r>
            <a:endParaRPr lang="en-US" sz="1260" dirty="0"/>
          </a:p>
        </p:txBody>
      </p:sp>
      <p:sp>
        <p:nvSpPr>
          <p:cNvPr id="102" name="Text 87"/>
          <p:cNvSpPr/>
          <p:nvPr/>
        </p:nvSpPr>
        <p:spPr>
          <a:xfrm>
            <a:off x="8630246" y="5685036"/>
            <a:ext cx="3425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</a:t>
            </a:r>
            <a:endParaRPr lang="en-US" sz="1260" dirty="0"/>
          </a:p>
        </p:txBody>
      </p:sp>
      <p:sp>
        <p:nvSpPr>
          <p:cNvPr id="103" name="Text 88"/>
          <p:cNvSpPr/>
          <p:nvPr/>
        </p:nvSpPr>
        <p:spPr>
          <a:xfrm>
            <a:off x="10031612" y="5481836"/>
            <a:ext cx="2027397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80" b="1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9.6 M</a:t>
            </a:r>
            <a:endParaRPr lang="en-US" sz="2880" dirty="0"/>
          </a:p>
        </p:txBody>
      </p:sp>
      <p:sp>
        <p:nvSpPr>
          <p:cNvPr id="104" name="Shape 89"/>
          <p:cNvSpPr/>
          <p:nvPr/>
        </p:nvSpPr>
        <p:spPr>
          <a:xfrm>
            <a:off x="12413060" y="1741686"/>
            <a:ext cx="5648921" cy="8319295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BDC8D1"/>
            </a:solidFill>
            <a:prstDash val="solid"/>
          </a:ln>
          <a:effectLst>
            <a:outerShdw blurRad="457200" dist="152400" dir="5400000" algn="bl" rotWithShape="0">
              <a:srgbClr val="0F172A">
                <a:alpha val="16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5" name="Shape 90"/>
          <p:cNvSpPr/>
          <p:nvPr/>
        </p:nvSpPr>
        <p:spPr>
          <a:xfrm>
            <a:off x="12425761" y="2417167"/>
            <a:ext cx="562352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6" name="Shape 91"/>
          <p:cNvSpPr/>
          <p:nvPr/>
        </p:nvSpPr>
        <p:spPr>
          <a:xfrm>
            <a:off x="12631341" y="1937147"/>
            <a:ext cx="297062" cy="297061"/>
          </a:xfrm>
          <a:prstGeom prst="ellipse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07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694047" y="1999853"/>
            <a:ext cx="171449" cy="171450"/>
          </a:xfrm>
          <a:prstGeom prst="rect">
            <a:avLst/>
          </a:prstGeom>
        </p:spPr>
      </p:pic>
      <p:sp>
        <p:nvSpPr>
          <p:cNvPr id="108" name="Text 92"/>
          <p:cNvSpPr/>
          <p:nvPr/>
        </p:nvSpPr>
        <p:spPr>
          <a:xfrm>
            <a:off x="13042703" y="1914327"/>
            <a:ext cx="45747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AI Hub</a:t>
            </a:r>
            <a:endParaRPr lang="en-US" sz="1260" dirty="0"/>
          </a:p>
        </p:txBody>
      </p:sp>
      <p:sp>
        <p:nvSpPr>
          <p:cNvPr id="109" name="Text 93"/>
          <p:cNvSpPr/>
          <p:nvPr/>
        </p:nvSpPr>
        <p:spPr>
          <a:xfrm>
            <a:off x="13042703" y="2104827"/>
            <a:ext cx="45747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to what you may see · answers cite their sources</a:t>
            </a:r>
            <a:endParaRPr lang="en-US" sz="990" dirty="0"/>
          </a:p>
        </p:txBody>
      </p:sp>
      <p:sp>
        <p:nvSpPr>
          <p:cNvPr id="110" name="Shape 94"/>
          <p:cNvSpPr/>
          <p:nvPr/>
        </p:nvSpPr>
        <p:spPr>
          <a:xfrm>
            <a:off x="17315856" y="1971477"/>
            <a:ext cx="527844" cy="228600"/>
          </a:xfrm>
          <a:prstGeom prst="roundRect">
            <a:avLst>
              <a:gd name="adj" fmla="val 50000"/>
            </a:avLst>
          </a:prstGeom>
          <a:solidFill>
            <a:srgbClr val="C7E7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1" name="Text 95"/>
          <p:cNvSpPr/>
          <p:nvPr/>
        </p:nvSpPr>
        <p:spPr>
          <a:xfrm>
            <a:off x="17430156" y="1994337"/>
            <a:ext cx="37544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769"/>
              </a:lnSpc>
              <a:buNone/>
            </a:pPr>
            <a:r>
              <a:rPr lang="en-US" sz="1080" b="1" dirty="0">
                <a:solidFill>
                  <a:srgbClr val="003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1080" dirty="0"/>
          </a:p>
        </p:txBody>
      </p:sp>
      <p:sp>
        <p:nvSpPr>
          <p:cNvPr id="112" name="Shape 96"/>
          <p:cNvSpPr/>
          <p:nvPr/>
        </p:nvSpPr>
        <p:spPr>
          <a:xfrm>
            <a:off x="14403587" y="2612628"/>
            <a:ext cx="3462933" cy="457200"/>
          </a:xfrm>
          <a:prstGeom prst="roundRect">
            <a:avLst>
              <a:gd name="adj" fmla="val 3000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3" name="Text 97"/>
          <p:cNvSpPr/>
          <p:nvPr/>
        </p:nvSpPr>
        <p:spPr>
          <a:xfrm>
            <a:off x="14563607" y="2726928"/>
            <a:ext cx="324678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 we going to hit the attrition objective?</a:t>
            </a:r>
            <a:endParaRPr lang="en-US" sz="1260" dirty="0"/>
          </a:p>
        </p:txBody>
      </p:sp>
      <p:sp>
        <p:nvSpPr>
          <p:cNvPr id="114" name="Shape 98"/>
          <p:cNvSpPr/>
          <p:nvPr/>
        </p:nvSpPr>
        <p:spPr>
          <a:xfrm>
            <a:off x="12608520" y="3206948"/>
            <a:ext cx="5182594" cy="711200"/>
          </a:xfrm>
          <a:prstGeom prst="roundRect">
            <a:avLst>
              <a:gd name="adj" fmla="val 19286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5" name="Text 99"/>
          <p:cNvSpPr/>
          <p:nvPr/>
        </p:nvSpPr>
        <p:spPr>
          <a:xfrm>
            <a:off x="12781240" y="3333948"/>
            <a:ext cx="499263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6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on the current path. 9.4% against a 9% ceiling, concentrated in the two over-loaded teams.</a:t>
            </a:r>
            <a:endParaRPr lang="en-US" sz="1260" dirty="0"/>
          </a:p>
        </p:txBody>
      </p:sp>
      <p:sp>
        <p:nvSpPr>
          <p:cNvPr id="116" name="Shape 100"/>
          <p:cNvSpPr/>
          <p:nvPr/>
        </p:nvSpPr>
        <p:spPr>
          <a:xfrm>
            <a:off x="12608520" y="4055269"/>
            <a:ext cx="5258000" cy="1912342"/>
          </a:xfrm>
          <a:prstGeom prst="roundRect">
            <a:avLst>
              <a:gd name="adj" fmla="val 7172"/>
            </a:avLst>
          </a:prstGeom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7" name="Text 101"/>
          <p:cNvSpPr/>
          <p:nvPr/>
        </p:nvSpPr>
        <p:spPr>
          <a:xfrm>
            <a:off x="12781161" y="4227910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b="1" kern="0" spc="3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TO TARGET</a:t>
            </a:r>
            <a:endParaRPr lang="en-US" sz="990" dirty="0"/>
          </a:p>
        </p:txBody>
      </p:sp>
      <p:sp>
        <p:nvSpPr>
          <p:cNvPr id="118" name="Text 102"/>
          <p:cNvSpPr/>
          <p:nvPr/>
        </p:nvSpPr>
        <p:spPr>
          <a:xfrm>
            <a:off x="12781161" y="4494610"/>
            <a:ext cx="891383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staff</a:t>
            </a:r>
            <a:endParaRPr lang="en-US" sz="1080" dirty="0"/>
          </a:p>
        </p:txBody>
      </p:sp>
      <p:sp>
        <p:nvSpPr>
          <p:cNvPr id="119" name="Text 103"/>
          <p:cNvSpPr/>
          <p:nvPr/>
        </p:nvSpPr>
        <p:spPr>
          <a:xfrm>
            <a:off x="17528978" y="4494610"/>
            <a:ext cx="24110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1080" dirty="0"/>
          </a:p>
        </p:txBody>
      </p:sp>
      <p:sp>
        <p:nvSpPr>
          <p:cNvPr id="120" name="Shape 104"/>
          <p:cNvSpPr/>
          <p:nvPr/>
        </p:nvSpPr>
        <p:spPr>
          <a:xfrm>
            <a:off x="12781161" y="4716859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1" name="Shape 105"/>
          <p:cNvSpPr/>
          <p:nvPr/>
        </p:nvSpPr>
        <p:spPr>
          <a:xfrm>
            <a:off x="12781161" y="4716859"/>
            <a:ext cx="3831828" cy="68461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2" name="Text 106"/>
          <p:cNvSpPr/>
          <p:nvPr/>
        </p:nvSpPr>
        <p:spPr>
          <a:xfrm>
            <a:off x="12781161" y="4899621"/>
            <a:ext cx="104159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fill rate</a:t>
            </a:r>
            <a:endParaRPr lang="en-US" sz="1080" dirty="0"/>
          </a:p>
        </p:txBody>
      </p:sp>
      <p:sp>
        <p:nvSpPr>
          <p:cNvPr id="123" name="Text 107"/>
          <p:cNvSpPr/>
          <p:nvPr/>
        </p:nvSpPr>
        <p:spPr>
          <a:xfrm>
            <a:off x="17520841" y="4899621"/>
            <a:ext cx="249239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1080" dirty="0"/>
          </a:p>
        </p:txBody>
      </p:sp>
      <p:sp>
        <p:nvSpPr>
          <p:cNvPr id="124" name="Shape 108"/>
          <p:cNvSpPr/>
          <p:nvPr/>
        </p:nvSpPr>
        <p:spPr>
          <a:xfrm>
            <a:off x="12781161" y="5121871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5" name="Shape 109"/>
          <p:cNvSpPr/>
          <p:nvPr/>
        </p:nvSpPr>
        <p:spPr>
          <a:xfrm>
            <a:off x="12781161" y="5121871"/>
            <a:ext cx="4519613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6" name="Text 110"/>
          <p:cNvSpPr/>
          <p:nvPr/>
        </p:nvSpPr>
        <p:spPr>
          <a:xfrm>
            <a:off x="12781161" y="5304631"/>
            <a:ext cx="125472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Ops cost per case</a:t>
            </a:r>
            <a:endParaRPr lang="en-US" sz="1080" dirty="0"/>
          </a:p>
        </p:txBody>
      </p:sp>
      <p:sp>
        <p:nvSpPr>
          <p:cNvPr id="127" name="Text 111"/>
          <p:cNvSpPr/>
          <p:nvPr/>
        </p:nvSpPr>
        <p:spPr>
          <a:xfrm>
            <a:off x="17454961" y="5304631"/>
            <a:ext cx="31511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080" dirty="0"/>
          </a:p>
        </p:txBody>
      </p:sp>
      <p:sp>
        <p:nvSpPr>
          <p:cNvPr id="128" name="Shape 112"/>
          <p:cNvSpPr/>
          <p:nvPr/>
        </p:nvSpPr>
        <p:spPr>
          <a:xfrm>
            <a:off x="12781161" y="5526882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9" name="Shape 113"/>
          <p:cNvSpPr/>
          <p:nvPr/>
        </p:nvSpPr>
        <p:spPr>
          <a:xfrm>
            <a:off x="12781161" y="5526882"/>
            <a:ext cx="4912719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0" name="Text 114"/>
          <p:cNvSpPr/>
          <p:nvPr/>
        </p:nvSpPr>
        <p:spPr>
          <a:xfrm>
            <a:off x="12781161" y="5709643"/>
            <a:ext cx="58499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Attrition</a:t>
            </a:r>
            <a:endParaRPr lang="en-US" sz="1080" dirty="0"/>
          </a:p>
        </p:txBody>
      </p:sp>
      <p:sp>
        <p:nvSpPr>
          <p:cNvPr id="131" name="Text 115"/>
          <p:cNvSpPr/>
          <p:nvPr/>
        </p:nvSpPr>
        <p:spPr>
          <a:xfrm>
            <a:off x="17514888" y="5709643"/>
            <a:ext cx="25519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</a:t>
            </a:r>
            <a:endParaRPr lang="en-US" sz="1080" dirty="0"/>
          </a:p>
        </p:txBody>
      </p:sp>
      <p:sp>
        <p:nvSpPr>
          <p:cNvPr id="132" name="Shape 116"/>
          <p:cNvSpPr/>
          <p:nvPr/>
        </p:nvSpPr>
        <p:spPr>
          <a:xfrm>
            <a:off x="12781161" y="5931893"/>
            <a:ext cx="4912719" cy="68461"/>
          </a:xfrm>
          <a:prstGeom prst="roundRect">
            <a:avLst>
              <a:gd name="adj" fmla="val 50000"/>
            </a:avLst>
          </a:prstGeom>
          <a:solidFill>
            <a:srgbClr val="EEEDF3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3" name="Shape 117"/>
          <p:cNvSpPr/>
          <p:nvPr/>
        </p:nvSpPr>
        <p:spPr>
          <a:xfrm>
            <a:off x="12781161" y="5931893"/>
            <a:ext cx="3144046" cy="68461"/>
          </a:xfrm>
          <a:prstGeom prst="rect">
            <a:avLst/>
          </a:prstGeom>
          <a:solidFill>
            <a:srgbClr val="2C8A3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4" name="Shape 118"/>
          <p:cNvSpPr/>
          <p:nvPr/>
        </p:nvSpPr>
        <p:spPr>
          <a:xfrm>
            <a:off x="12608520" y="6104731"/>
            <a:ext cx="5258000" cy="3062486"/>
          </a:xfrm>
          <a:prstGeom prst="roundRect">
            <a:avLst>
              <a:gd name="adj" fmla="val 4479"/>
            </a:avLst>
          </a:prstGeom>
          <a:ln w="12700">
            <a:solidFill>
              <a:srgbClr val="00658E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5" name="Text 119"/>
          <p:cNvSpPr/>
          <p:nvPr/>
        </p:nvSpPr>
        <p:spPr>
          <a:xfrm>
            <a:off x="12781161" y="6277372"/>
            <a:ext cx="540399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board note</a:t>
            </a:r>
            <a:endParaRPr lang="en-US" sz="1260" dirty="0"/>
          </a:p>
        </p:txBody>
      </p:sp>
      <p:sp>
        <p:nvSpPr>
          <p:cNvPr id="136" name="Text 120"/>
          <p:cNvSpPr/>
          <p:nvPr/>
        </p:nvSpPr>
        <p:spPr>
          <a:xfrm>
            <a:off x="12781161" y="6582172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</a:t>
            </a:r>
            <a:endParaRPr lang="en-US" sz="990" dirty="0"/>
          </a:p>
        </p:txBody>
      </p:sp>
      <p:sp>
        <p:nvSpPr>
          <p:cNvPr id="137" name="Shape 121"/>
          <p:cNvSpPr/>
          <p:nvPr/>
        </p:nvSpPr>
        <p:spPr>
          <a:xfrm>
            <a:off x="12781161" y="6780213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8" name="Text 122"/>
          <p:cNvSpPr/>
          <p:nvPr/>
        </p:nvSpPr>
        <p:spPr>
          <a:xfrm>
            <a:off x="12908161" y="6872923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Voluntary attrition below 9%</a:t>
            </a:r>
            <a:endParaRPr lang="en-US" sz="1170" dirty="0"/>
          </a:p>
        </p:txBody>
      </p:sp>
      <p:sp>
        <p:nvSpPr>
          <p:cNvPr id="139" name="Text 123"/>
          <p:cNvSpPr/>
          <p:nvPr/>
        </p:nvSpPr>
        <p:spPr>
          <a:xfrm>
            <a:off x="12781161" y="7257654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990" dirty="0"/>
          </a:p>
        </p:txBody>
      </p:sp>
      <p:sp>
        <p:nvSpPr>
          <p:cNvPr id="140" name="Shape 124"/>
          <p:cNvSpPr/>
          <p:nvPr/>
        </p:nvSpPr>
        <p:spPr>
          <a:xfrm>
            <a:off x="12781161" y="7455694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1" name="Text 125"/>
          <p:cNvSpPr/>
          <p:nvPr/>
        </p:nvSpPr>
        <p:spPr>
          <a:xfrm>
            <a:off x="12908161" y="7548404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risk</a:t>
            </a:r>
            <a:endParaRPr lang="en-US" sz="1170" dirty="0"/>
          </a:p>
        </p:txBody>
      </p:sp>
      <p:sp>
        <p:nvSpPr>
          <p:cNvPr id="142" name="Text 126"/>
          <p:cNvSpPr/>
          <p:nvPr/>
        </p:nvSpPr>
        <p:spPr>
          <a:xfrm>
            <a:off x="12781161" y="7933135"/>
            <a:ext cx="54039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90" kern="0" spc="2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</a:t>
            </a:r>
            <a:endParaRPr lang="en-US" sz="990" dirty="0"/>
          </a:p>
        </p:txBody>
      </p:sp>
      <p:sp>
        <p:nvSpPr>
          <p:cNvPr id="143" name="Shape 127"/>
          <p:cNvSpPr/>
          <p:nvPr/>
        </p:nvSpPr>
        <p:spPr>
          <a:xfrm>
            <a:off x="12781161" y="8131176"/>
            <a:ext cx="4912719" cy="363141"/>
          </a:xfrm>
          <a:prstGeom prst="roundRect">
            <a:avLst>
              <a:gd name="adj" fmla="val 25180"/>
            </a:avLst>
          </a:prstGeom>
          <a:solidFill>
            <a:srgbClr val="F4F3F8"/>
          </a:solidFill>
          <a:ln w="12700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4" name="Text 128"/>
          <p:cNvSpPr/>
          <p:nvPr/>
        </p:nvSpPr>
        <p:spPr>
          <a:xfrm>
            <a:off x="12908161" y="8223886"/>
            <a:ext cx="4806100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rebalance, W39</a:t>
            </a:r>
            <a:endParaRPr lang="en-US" sz="1170" dirty="0"/>
          </a:p>
        </p:txBody>
      </p:sp>
      <p:sp>
        <p:nvSpPr>
          <p:cNvPr id="145" name="Shape 129"/>
          <p:cNvSpPr/>
          <p:nvPr/>
        </p:nvSpPr>
        <p:spPr>
          <a:xfrm>
            <a:off x="12781161" y="8631437"/>
            <a:ext cx="1694656" cy="363141"/>
          </a:xfrm>
          <a:prstGeom prst="roundRect">
            <a:avLst>
              <a:gd name="adj" fmla="val 25180"/>
            </a:avLst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6" name="Text 130"/>
          <p:cNvSpPr/>
          <p:nvPr/>
        </p:nvSpPr>
        <p:spPr>
          <a:xfrm>
            <a:off x="12941181" y="8711447"/>
            <a:ext cx="1450816" cy="241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to board pack</a:t>
            </a:r>
            <a:endParaRPr lang="en-US" sz="1170" dirty="0"/>
          </a:p>
        </p:txBody>
      </p:sp>
      <p:sp>
        <p:nvSpPr>
          <p:cNvPr id="147" name="Shape 131"/>
          <p:cNvSpPr/>
          <p:nvPr/>
        </p:nvSpPr>
        <p:spPr>
          <a:xfrm>
            <a:off x="14567098" y="8631437"/>
            <a:ext cx="619324" cy="363141"/>
          </a:xfrm>
          <a:prstGeom prst="roundRect">
            <a:avLst>
              <a:gd name="adj" fmla="val 25180"/>
            </a:avLst>
          </a:prstGeom>
          <a:ln w="12700">
            <a:solidFill>
              <a:srgbClr val="BDC8D1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8" name="Text 132"/>
          <p:cNvSpPr/>
          <p:nvPr/>
        </p:nvSpPr>
        <p:spPr>
          <a:xfrm>
            <a:off x="14739818" y="8724147"/>
            <a:ext cx="350084" cy="215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</a:t>
            </a:r>
            <a:endParaRPr lang="en-US" sz="1170" dirty="0"/>
          </a:p>
        </p:txBody>
      </p:sp>
      <p:sp>
        <p:nvSpPr>
          <p:cNvPr id="149" name="Shape 133"/>
          <p:cNvSpPr/>
          <p:nvPr/>
        </p:nvSpPr>
        <p:spPr>
          <a:xfrm>
            <a:off x="12608520" y="9304338"/>
            <a:ext cx="5258000" cy="12700"/>
          </a:xfrm>
          <a:prstGeom prst="rect">
            <a:avLst/>
          </a:prstGeom>
          <a:solidFill>
            <a:srgbClr val="E3E2E7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0" name="Shape 134"/>
          <p:cNvSpPr/>
          <p:nvPr/>
        </p:nvSpPr>
        <p:spPr>
          <a:xfrm>
            <a:off x="12608520" y="9454158"/>
            <a:ext cx="5258000" cy="411361"/>
          </a:xfrm>
          <a:prstGeom prst="roundRect">
            <a:avLst>
              <a:gd name="adj" fmla="val 22229"/>
            </a:avLst>
          </a:prstGeom>
          <a:solidFill>
            <a:srgbClr val="D4EDD9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151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45642" y="9568458"/>
            <a:ext cx="182761" cy="182761"/>
          </a:xfrm>
          <a:prstGeom prst="rect">
            <a:avLst/>
          </a:prstGeom>
        </p:spPr>
      </p:pic>
      <p:sp>
        <p:nvSpPr>
          <p:cNvPr id="152" name="Text 135"/>
          <p:cNvSpPr/>
          <p:nvPr/>
        </p:nvSpPr>
        <p:spPr>
          <a:xfrm>
            <a:off x="13042703" y="9570840"/>
            <a:ext cx="36994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D4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by a person · written to the audit trail</a:t>
            </a:r>
            <a:endParaRPr lang="en-US" sz="1170" dirty="0"/>
          </a:p>
        </p:txBody>
      </p:sp>
      <p:pic>
        <p:nvPicPr>
          <p:cNvPr id="154" name="Picture 153" descr="Android Apps by Hello Clever on Google Play">
            <a:extLst>
              <a:ext uri="{FF2B5EF4-FFF2-40B4-BE49-F238E27FC236}">
                <a16:creationId xmlns:a16="http://schemas.microsoft.com/office/drawing/2014/main" id="{CFEE77A3-C19E-40AC-B51C-9E8FFC53787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838524"/>
            <a:ext cx="1760220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432" dirty="0">
                <a:solidFill>
                  <a:srgbClr val="0065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BUSINESS GETS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2456491"/>
            <a:ext cx="1760220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437"/>
              </a:lnSpc>
              <a:buNone/>
            </a:pPr>
            <a:r>
              <a:rPr lang="en-US" sz="435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 measures, twelve months, one platform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143000" y="3466042"/>
            <a:ext cx="3063214" cy="1773701"/>
          </a:xfrm>
          <a:prstGeom prst="roundRect">
            <a:avLst>
              <a:gd name="adj" fmla="val 8592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1344083" y="3667125"/>
            <a:ext cx="2740878" cy="64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staff a project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44083" y="4276659"/>
            <a:ext cx="2927152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3.1</a:t>
            </a:r>
            <a:r>
              <a:rPr lang="en-US" sz="16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344083" y="4763492"/>
            <a:ext cx="292715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21 days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77531" y="3466042"/>
            <a:ext cx="3063379" cy="1773701"/>
          </a:xfrm>
          <a:prstGeom prst="roundRect">
            <a:avLst>
              <a:gd name="adj" fmla="val 8592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7"/>
          <p:cNvSpPr/>
          <p:nvPr/>
        </p:nvSpPr>
        <p:spPr>
          <a:xfrm>
            <a:off x="4578615" y="3667125"/>
            <a:ext cx="2741049" cy="64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ops cost per case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8615" y="4276659"/>
            <a:ext cx="2927333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</a:t>
            </a:r>
            <a:r>
              <a:rPr lang="en-US" sz="16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4578615" y="4763492"/>
            <a:ext cx="292733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14.6 CHF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12228" y="3466042"/>
            <a:ext cx="3063379" cy="1773701"/>
          </a:xfrm>
          <a:prstGeom prst="roundRect">
            <a:avLst>
              <a:gd name="adj" fmla="val 8592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7813311" y="3667125"/>
            <a:ext cx="2741049" cy="64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 / utilisation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13311" y="4276659"/>
            <a:ext cx="2927333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r>
              <a:rPr lang="en-US" sz="16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7813311" y="4763492"/>
            <a:ext cx="292733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62%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846925" y="3466042"/>
            <a:ext cx="3063379" cy="1773701"/>
          </a:xfrm>
          <a:prstGeom prst="roundRect">
            <a:avLst>
              <a:gd name="adj" fmla="val 8592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11048008" y="3667125"/>
            <a:ext cx="2741049" cy="64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Voluntary attrition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048008" y="4276659"/>
            <a:ext cx="2927333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9.4</a:t>
            </a:r>
            <a:r>
              <a:rPr lang="en-US" sz="16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11048008" y="4763492"/>
            <a:ext cx="292733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12.8%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4081622" y="3466042"/>
            <a:ext cx="3063379" cy="1773701"/>
          </a:xfrm>
          <a:prstGeom prst="roundRect">
            <a:avLst>
              <a:gd name="adj" fmla="val 8592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14282705" y="3667125"/>
            <a:ext cx="2741049" cy="64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hire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282705" y="4276659"/>
            <a:ext cx="2927333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r>
              <a:rPr lang="en-US" sz="16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14282705" y="4763492"/>
            <a:ext cx="292733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55 days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43000" y="5411060"/>
            <a:ext cx="3063214" cy="1773701"/>
          </a:xfrm>
          <a:prstGeom prst="roundRect">
            <a:avLst>
              <a:gd name="adj" fmla="val 8592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5" name="Text 23"/>
          <p:cNvSpPr/>
          <p:nvPr/>
        </p:nvSpPr>
        <p:spPr>
          <a:xfrm>
            <a:off x="1344083" y="5612143"/>
            <a:ext cx="2740878" cy="64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coverage vs. demand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44083" y="6221677"/>
            <a:ext cx="2927152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r>
              <a:rPr lang="en-US" sz="16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3150" dirty="0"/>
          </a:p>
        </p:txBody>
      </p:sp>
      <p:sp>
        <p:nvSpPr>
          <p:cNvPr id="27" name="Text 25"/>
          <p:cNvSpPr/>
          <p:nvPr/>
        </p:nvSpPr>
        <p:spPr>
          <a:xfrm>
            <a:off x="1344083" y="6708511"/>
            <a:ext cx="292715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58%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377531" y="5411060"/>
            <a:ext cx="3063379" cy="1773701"/>
          </a:xfrm>
          <a:prstGeom prst="roundRect">
            <a:avLst>
              <a:gd name="adj" fmla="val 8592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9" name="Text 27"/>
          <p:cNvSpPr/>
          <p:nvPr/>
        </p:nvSpPr>
        <p:spPr>
          <a:xfrm>
            <a:off x="4578615" y="5612143"/>
            <a:ext cx="2741049" cy="64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fill rate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78615" y="6221677"/>
            <a:ext cx="2927333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</a:t>
            </a:r>
            <a:r>
              <a:rPr lang="en-US" sz="16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3150" dirty="0"/>
          </a:p>
        </p:txBody>
      </p:sp>
      <p:sp>
        <p:nvSpPr>
          <p:cNvPr id="31" name="Text 29"/>
          <p:cNvSpPr/>
          <p:nvPr/>
        </p:nvSpPr>
        <p:spPr>
          <a:xfrm>
            <a:off x="4578615" y="6708511"/>
            <a:ext cx="292733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48%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612228" y="5411060"/>
            <a:ext cx="3063379" cy="1773701"/>
          </a:xfrm>
          <a:prstGeom prst="roundRect">
            <a:avLst>
              <a:gd name="adj" fmla="val 8592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3" name="Text 31"/>
          <p:cNvSpPr/>
          <p:nvPr/>
        </p:nvSpPr>
        <p:spPr>
          <a:xfrm>
            <a:off x="7813311" y="5612143"/>
            <a:ext cx="2741049" cy="64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index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813311" y="6221677"/>
            <a:ext cx="2927333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3150" dirty="0"/>
          </a:p>
        </p:txBody>
      </p:sp>
      <p:sp>
        <p:nvSpPr>
          <p:cNvPr id="35" name="Text 33"/>
          <p:cNvSpPr/>
          <p:nvPr/>
        </p:nvSpPr>
        <p:spPr>
          <a:xfrm>
            <a:off x="7813311" y="6708511"/>
            <a:ext cx="292733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71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0846925" y="5411060"/>
            <a:ext cx="3063379" cy="1773701"/>
          </a:xfrm>
          <a:prstGeom prst="roundRect">
            <a:avLst>
              <a:gd name="adj" fmla="val 8592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7" name="Text 35"/>
          <p:cNvSpPr/>
          <p:nvPr/>
        </p:nvSpPr>
        <p:spPr>
          <a:xfrm>
            <a:off x="11048008" y="5612143"/>
            <a:ext cx="2741049" cy="64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AI-handled request share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048008" y="6221677"/>
            <a:ext cx="2927333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r>
              <a:rPr lang="en-US" sz="1650" b="1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3150" dirty="0"/>
          </a:p>
        </p:txBody>
      </p:sp>
      <p:sp>
        <p:nvSpPr>
          <p:cNvPr id="39" name="Text 37"/>
          <p:cNvSpPr/>
          <p:nvPr/>
        </p:nvSpPr>
        <p:spPr>
          <a:xfrm>
            <a:off x="11048008" y="6708511"/>
            <a:ext cx="292733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27%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4081622" y="5411060"/>
            <a:ext cx="3063379" cy="1773701"/>
          </a:xfrm>
          <a:prstGeom prst="roundRect">
            <a:avLst>
              <a:gd name="adj" fmla="val 8592"/>
            </a:avLst>
          </a:prstGeom>
          <a:solidFill>
            <a:srgbClr val="FFFFFF"/>
          </a:solidFill>
          <a:ln w="10583">
            <a:solidFill>
              <a:srgbClr val="E3E2E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1" name="Text 39"/>
          <p:cNvSpPr/>
          <p:nvPr/>
        </p:nvSpPr>
        <p:spPr>
          <a:xfrm>
            <a:off x="14282705" y="5612143"/>
            <a:ext cx="2741049" cy="64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AI-related audit findings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4282705" y="6221677"/>
            <a:ext cx="2927333" cy="524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3150" dirty="0"/>
          </a:p>
        </p:txBody>
      </p:sp>
      <p:sp>
        <p:nvSpPr>
          <p:cNvPr id="43" name="Text 41"/>
          <p:cNvSpPr/>
          <p:nvPr/>
        </p:nvSpPr>
        <p:spPr>
          <a:xfrm>
            <a:off x="14282705" y="6708511"/>
            <a:ext cx="292733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6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143000" y="7625954"/>
            <a:ext cx="9810751" cy="762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667"/>
              </a:lnSpc>
              <a:buNone/>
            </a:pPr>
            <a:r>
              <a:rPr lang="en-US" sz="187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Modelled net contribution over the first twelve months, after platform and delivery cost.</a:t>
            </a:r>
            <a:endParaRPr lang="en-US" sz="1875" dirty="0"/>
          </a:p>
        </p:txBody>
      </p:sp>
      <p:sp>
        <p:nvSpPr>
          <p:cNvPr id="45" name="Text 43"/>
          <p:cNvSpPr/>
          <p:nvPr/>
        </p:nvSpPr>
        <p:spPr>
          <a:xfrm>
            <a:off x="11087035" y="7527561"/>
            <a:ext cx="4072947" cy="958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0" b="1" kern="0" spc="-120" dirty="0">
                <a:solidFill>
                  <a:srgbClr val="2C8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CHF 9.6 M</a:t>
            </a:r>
            <a:endParaRPr lang="en-US" sz="6000" dirty="0"/>
          </a:p>
        </p:txBody>
      </p:sp>
      <p:pic>
        <p:nvPicPr>
          <p:cNvPr id="47" name="Picture 46" descr="Android Apps by Hello Clever on Google Play">
            <a:extLst>
              <a:ext uri="{FF2B5EF4-FFF2-40B4-BE49-F238E27FC236}">
                <a16:creationId xmlns:a16="http://schemas.microsoft.com/office/drawing/2014/main" id="{6DAD9C84-E965-CDEF-8BC9-EFBFBF388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086619" y="3185087"/>
            <a:ext cx="9525" cy="514284"/>
          </a:xfrm>
          <a:prstGeom prst="rect">
            <a:avLst/>
          </a:prstGeom>
          <a:solidFill>
            <a:srgbClr val="BDC8D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Text 1"/>
          <p:cNvSpPr/>
          <p:nvPr/>
        </p:nvSpPr>
        <p:spPr>
          <a:xfrm>
            <a:off x="9286479" y="3225271"/>
            <a:ext cx="1248304" cy="472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Hub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1785938" y="4299479"/>
            <a:ext cx="14716126" cy="1524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0286"/>
              </a:lnSpc>
              <a:buNone/>
            </a:pPr>
            <a:r>
              <a:rPr lang="en-US" sz="4800" b="1" dirty="0">
                <a:solidFill>
                  <a:srgbClr val="1A1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use case to production, with the governance already solved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5524500" y="6109229"/>
            <a:ext cx="7239001" cy="28443"/>
          </a:xfrm>
          <a:prstGeom prst="rect">
            <a:avLst/>
          </a:prstGeom>
          <a:solidFill>
            <a:srgbClr val="00658E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7" name="Text 4"/>
          <p:cNvSpPr/>
          <p:nvPr/>
        </p:nvSpPr>
        <p:spPr>
          <a:xfrm>
            <a:off x="5803214" y="6461456"/>
            <a:ext cx="6681407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025" dirty="0">
                <a:solidFill>
                  <a:srgbClr val="3E48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Platform, delivery and enablement from one team.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5507988" y="7102740"/>
            <a:ext cx="727185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E7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figures and records shown are sample data for illustration.</a:t>
            </a:r>
            <a:endParaRPr lang="en-US" sz="1800" dirty="0"/>
          </a:p>
        </p:txBody>
      </p:sp>
      <p:pic>
        <p:nvPicPr>
          <p:cNvPr id="10" name="Picture 9" descr="Android Apps by Hello Clever on Google Play">
            <a:extLst>
              <a:ext uri="{FF2B5EF4-FFF2-40B4-BE49-F238E27FC236}">
                <a16:creationId xmlns:a16="http://schemas.microsoft.com/office/drawing/2014/main" id="{91ABD85D-A2B7-92CF-9D1F-BF4FE1CA4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829" y="145330"/>
            <a:ext cx="448990" cy="448990"/>
          </a:xfrm>
          <a:prstGeom prst="rect">
            <a:avLst/>
          </a:prstGeom>
        </p:spPr>
      </p:pic>
      <p:pic>
        <p:nvPicPr>
          <p:cNvPr id="12" name="Picture 11" descr="Android Apps by Hello Clever on Google Play">
            <a:extLst>
              <a:ext uri="{FF2B5EF4-FFF2-40B4-BE49-F238E27FC236}">
                <a16:creationId xmlns:a16="http://schemas.microsoft.com/office/drawing/2014/main" id="{E47F3FE2-7959-8FEB-F763-D55440E4B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615" y="2910625"/>
            <a:ext cx="1351012" cy="13510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7966</Words>
  <Application>Microsoft Office PowerPoint</Application>
  <PresentationFormat>Custom</PresentationFormat>
  <Paragraphs>2375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Inter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Dao Trong Vo</cp:lastModifiedBy>
  <cp:revision>4</cp:revision>
  <dcterms:created xsi:type="dcterms:W3CDTF">2026-08-11T07:30:39Z</dcterms:created>
  <dcterms:modified xsi:type="dcterms:W3CDTF">2026-08-13T17:55:49Z</dcterms:modified>
</cp:coreProperties>
</file>