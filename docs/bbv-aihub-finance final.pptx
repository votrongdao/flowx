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1811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frame: this is what AI in finance looks like when it is delivered, not demoed.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problems finance raises before it will use AI. Everything after this slide answers one of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question in plain language. Three invoices out of 142 come back, with their sources attached.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answer, written up and delivered where finance already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question becomes a governed query. The row policy is injected before anything is 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Sensitivity and policy are properties of the dataset, not of the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Entities and regions are separated at the workspace boundary, with their own keys.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daily run: 142 invoices in, three exceptions out, in under four seconds of agent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agent gathers evidence across four systems; the controller decides in Teams and the decision is written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every screen the assistant opens by itself in its own column: it answers, shows the numbers behind the answer, offers something to save, and routes the decision to a named person.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connectors carry the data in and the answers back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worked scenario: intelligent cash forecasting, six steps, each on a named part of the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Twelve months of exception rate, and the share of volume cleared without a human touch.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CFO scorecard: six operational KPIs, each against its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objectives, owned by the CFO, the group controller and the head of 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Lineage from the source posting to the answer on screen. Nothing is unexplainable.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platform underneath is open source: Swiss AI-Hub, aihub-core. Deployed and extended by bbv.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weeks from discovery to production, with an FDE embedded in the finance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Twelve months after go-live, signed off with controlling.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four pillars and the repository. Offer a discovery week as the next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2349665"/>
            <a:ext cx="1659268" cy="1506802"/>
          </a:xfrm>
          <a:prstGeom prst="roundRect">
            <a:avLst>
              <a:gd name="adj" fmla="val 10114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349665"/>
            <a:ext cx="1659268" cy="15068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4237468"/>
            <a:ext cx="17602201" cy="9982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400"/>
              </a:lnSpc>
              <a:buNone/>
            </a:pPr>
            <a:r>
              <a:rPr lang="en-US" sz="7200" b="1" kern="0" spc="-14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 finance, delivered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1143000" y="5578575"/>
            <a:ext cx="11772900" cy="1397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784"/>
              </a:lnSpc>
              <a:buNone/>
            </a:pPr>
            <a:r>
              <a:rPr lang="en-US" sz="25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bbv AIHub · forward-deployed engineering for finance teams. Governed data, isolated workspaces, agents that do the routine pass, and integration with the systems finance already runs on.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1143000" y="7433635"/>
            <a:ext cx="1724091" cy="503701"/>
          </a:xfrm>
          <a:prstGeom prst="roundRect">
            <a:avLst>
              <a:gd name="adj" fmla="val 15128"/>
            </a:avLst>
          </a:prstGeom>
          <a:solidFill>
            <a:srgbClr val="DDEFF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" name="Text 4"/>
          <p:cNvSpPr/>
          <p:nvPr/>
        </p:nvSpPr>
        <p:spPr>
          <a:xfrm>
            <a:off x="1333500" y="7547935"/>
            <a:ext cx="1419291" cy="313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019392" y="7433635"/>
            <a:ext cx="1722107" cy="503701"/>
          </a:xfrm>
          <a:prstGeom prst="roundRect">
            <a:avLst>
              <a:gd name="adj" fmla="val 15128"/>
            </a:avLst>
          </a:prstGeom>
          <a:solidFill>
            <a:srgbClr val="DDEFF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" name="Text 6"/>
          <p:cNvSpPr/>
          <p:nvPr/>
        </p:nvSpPr>
        <p:spPr>
          <a:xfrm>
            <a:off x="3209892" y="7547935"/>
            <a:ext cx="1417307" cy="313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Segregation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893800" y="7433635"/>
            <a:ext cx="1661087" cy="503701"/>
          </a:xfrm>
          <a:prstGeom prst="roundRect">
            <a:avLst>
              <a:gd name="adj" fmla="val 15128"/>
            </a:avLst>
          </a:prstGeom>
          <a:solidFill>
            <a:srgbClr val="DDEFF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" name="Text 8"/>
          <p:cNvSpPr/>
          <p:nvPr/>
        </p:nvSpPr>
        <p:spPr>
          <a:xfrm>
            <a:off x="5084300" y="7547935"/>
            <a:ext cx="1356287" cy="313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Automation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707188" y="7433635"/>
            <a:ext cx="1579893" cy="503701"/>
          </a:xfrm>
          <a:prstGeom prst="roundRect">
            <a:avLst>
              <a:gd name="adj" fmla="val 15128"/>
            </a:avLst>
          </a:prstGeom>
          <a:solidFill>
            <a:srgbClr val="DDEFF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" name="Text 10"/>
          <p:cNvSpPr/>
          <p:nvPr/>
        </p:nvSpPr>
        <p:spPr>
          <a:xfrm>
            <a:off x="6897688" y="7547935"/>
            <a:ext cx="1275093" cy="313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068"/>
            <a:ext cx="18021301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156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FINANCE ASKS FIRST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64018"/>
            <a:ext cx="18021301" cy="778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questions, four answers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723885"/>
            <a:ext cx="3924267" cy="6725047"/>
          </a:xfrm>
          <a:prstGeom prst="roundRect">
            <a:avLst>
              <a:gd name="adj" fmla="val 3884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Text 3"/>
          <p:cNvSpPr/>
          <p:nvPr/>
        </p:nvSpPr>
        <p:spPr>
          <a:xfrm>
            <a:off x="1305884" y="3077270"/>
            <a:ext cx="3539249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117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05884" y="3536487"/>
            <a:ext cx="3539249" cy="472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kern="0" spc="-29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305884" y="4122705"/>
            <a:ext cx="3314024" cy="1425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966"/>
              </a:lnSpc>
              <a:buNone/>
            </a:pPr>
            <a:r>
              <a:rPr lang="en-US" sz="19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travels with the data. Every answer inherits the policy of the dataset behind it.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5105301" y="2723885"/>
            <a:ext cx="3924433" cy="6725047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" name="Text 7"/>
          <p:cNvSpPr/>
          <p:nvPr/>
        </p:nvSpPr>
        <p:spPr>
          <a:xfrm>
            <a:off x="5458685" y="3077270"/>
            <a:ext cx="3539431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117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458685" y="3536487"/>
            <a:ext cx="3539431" cy="472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kern="0" spc="-29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Segregation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5458685" y="4122705"/>
            <a:ext cx="3314194" cy="1425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966"/>
              </a:lnSpc>
              <a:buNone/>
            </a:pPr>
            <a:r>
              <a:rPr lang="en-US" sz="19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Workspaces stay isolated by entity and region. Cross-workspace retrieval is denied.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258267" y="2723885"/>
            <a:ext cx="3924267" cy="6725047"/>
          </a:xfrm>
          <a:prstGeom prst="roundRect">
            <a:avLst>
              <a:gd name="adj" fmla="val 3884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" name="Text 11"/>
          <p:cNvSpPr/>
          <p:nvPr/>
        </p:nvSpPr>
        <p:spPr>
          <a:xfrm>
            <a:off x="9611652" y="3077270"/>
            <a:ext cx="3539249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117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611652" y="3536487"/>
            <a:ext cx="3539249" cy="472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kern="0" spc="-29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Automation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9611652" y="4122705"/>
            <a:ext cx="3314024" cy="1078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966"/>
              </a:lnSpc>
              <a:buNone/>
            </a:pPr>
            <a:r>
              <a:rPr lang="en-US" sz="19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 run the routine pass; controllers decide the exceptions.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3411069" y="2723885"/>
            <a:ext cx="3924433" cy="6725047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" name="Text 15"/>
          <p:cNvSpPr/>
          <p:nvPr/>
        </p:nvSpPr>
        <p:spPr>
          <a:xfrm>
            <a:off x="13764453" y="3077270"/>
            <a:ext cx="3539431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117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3764453" y="3536487"/>
            <a:ext cx="3539431" cy="472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kern="0" spc="-29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13764453" y="4122705"/>
            <a:ext cx="3314194" cy="1078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966"/>
              </a:lnSpc>
              <a:buNone/>
            </a:pPr>
            <a:r>
              <a:rPr lang="en-US" sz="19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Wired into ERP, CRM, BI and the collaboration tools finance already uses.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5784271" cy="683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kern="0" spc="-8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in plain language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439463" y="1037167"/>
            <a:ext cx="6132612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bbv AIHub · Finance workspace, Group Finance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952500" y="1712350"/>
            <a:ext cx="16383001" cy="781265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10535709" y="2141968"/>
            <a:ext cx="6370175" cy="730250"/>
          </a:xfrm>
          <a:prstGeom prst="roundRect">
            <a:avLst>
              <a:gd name="adj" fmla="val 15652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" name="Text 4"/>
          <p:cNvSpPr/>
          <p:nvPr/>
        </p:nvSpPr>
        <p:spPr>
          <a:xfrm>
            <a:off x="10802409" y="2332468"/>
            <a:ext cx="602788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 anomalous vendor invoices this month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382117" y="3138785"/>
            <a:ext cx="17076143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of 142 invoices posted in August fall outside policy tolerance.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382117" y="3754603"/>
            <a:ext cx="15523766" cy="2880320"/>
          </a:xfrm>
          <a:prstGeom prst="roundRect">
            <a:avLst>
              <a:gd name="adj" fmla="val 3968"/>
            </a:avLst>
          </a:prstGeom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" name="Shape 7"/>
          <p:cNvSpPr/>
          <p:nvPr/>
        </p:nvSpPr>
        <p:spPr>
          <a:xfrm>
            <a:off x="1392701" y="3765186"/>
            <a:ext cx="15502600" cy="628385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" name="Shape 8"/>
          <p:cNvSpPr/>
          <p:nvPr/>
        </p:nvSpPr>
        <p:spPr>
          <a:xfrm>
            <a:off x="1392701" y="4382989"/>
            <a:ext cx="15502600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" name="Text 9"/>
          <p:cNvSpPr/>
          <p:nvPr/>
        </p:nvSpPr>
        <p:spPr>
          <a:xfrm>
            <a:off x="1659268" y="3936504"/>
            <a:ext cx="349159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INVOICE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61975" y="3936504"/>
            <a:ext cx="5237477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VENDOR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734434" y="3936504"/>
            <a:ext cx="349159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b="1" kern="0" spc="144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AMOUNT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137142" y="3936504"/>
            <a:ext cx="349159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b="1" kern="0" spc="144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VARIANCE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392701" y="5130106"/>
            <a:ext cx="15502600" cy="10583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4"/>
          <p:cNvSpPr/>
          <p:nvPr/>
        </p:nvSpPr>
        <p:spPr>
          <a:xfrm>
            <a:off x="1659268" y="4603089"/>
            <a:ext cx="3491591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INV-88214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5061975" y="4603089"/>
            <a:ext cx="5237477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Northwind Logistics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734434" y="4603089"/>
            <a:ext cx="3491591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$ 84,200.00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3137142" y="4603089"/>
            <a:ext cx="3491591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B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+312%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392701" y="5877223"/>
            <a:ext cx="15502600" cy="10583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1" name="Text 19"/>
          <p:cNvSpPr/>
          <p:nvPr/>
        </p:nvSpPr>
        <p:spPr>
          <a:xfrm>
            <a:off x="1659268" y="5350206"/>
            <a:ext cx="3491591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INV-88301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5061975" y="5350206"/>
            <a:ext cx="5237477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Halden Consulting AG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734434" y="5350206"/>
            <a:ext cx="3491591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$ 39,750.00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3137142" y="5350206"/>
            <a:ext cx="3491591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B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+118%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659268" y="6097323"/>
            <a:ext cx="3491591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INV-88477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5061975" y="6097323"/>
            <a:ext cx="5237477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Meridian Facilities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9734434" y="6097323"/>
            <a:ext cx="3491591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$ 12,480.00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3137142" y="6097323"/>
            <a:ext cx="3491591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B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+64%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382117" y="6993434"/>
            <a:ext cx="1351343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2743895" y="6901491"/>
            <a:ext cx="1488447" cy="459052"/>
          </a:xfrm>
          <a:prstGeom prst="roundRect">
            <a:avLst>
              <a:gd name="adj" fmla="val 83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1" name="Text 29"/>
          <p:cNvSpPr/>
          <p:nvPr/>
        </p:nvSpPr>
        <p:spPr>
          <a:xfrm>
            <a:off x="2877245" y="6977691"/>
            <a:ext cx="1297947" cy="34475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SAP FI-AP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4365625" y="6901491"/>
            <a:ext cx="2027535" cy="459052"/>
          </a:xfrm>
          <a:prstGeom prst="roundRect">
            <a:avLst>
              <a:gd name="adj" fmla="val 83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3" name="Text 31"/>
          <p:cNvSpPr/>
          <p:nvPr/>
        </p:nvSpPr>
        <p:spPr>
          <a:xfrm>
            <a:off x="4498975" y="6977691"/>
            <a:ext cx="1837035" cy="34475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Vendor master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6526444" y="6901491"/>
            <a:ext cx="1898551" cy="459052"/>
          </a:xfrm>
          <a:prstGeom prst="roundRect">
            <a:avLst>
              <a:gd name="adj" fmla="val 8300"/>
            </a:avLst>
          </a:prstGeom>
          <a:solidFill>
            <a:srgbClr val="DDEFF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5" name="Text 33"/>
          <p:cNvSpPr/>
          <p:nvPr/>
        </p:nvSpPr>
        <p:spPr>
          <a:xfrm>
            <a:off x="6659794" y="6977691"/>
            <a:ext cx="1708051" cy="34475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FIN-04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1" cy="683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kern="0" spc="-8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Reports write themselves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952500" y="1712350"/>
            <a:ext cx="5012201" cy="8311886"/>
          </a:xfrm>
          <a:prstGeom prst="roundRect">
            <a:avLst>
              <a:gd name="adj" fmla="val 3041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" name="Text 2"/>
          <p:cNvSpPr/>
          <p:nvPr/>
        </p:nvSpPr>
        <p:spPr>
          <a:xfrm>
            <a:off x="1267850" y="2027701"/>
            <a:ext cx="481965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SCHEDULED REPORTS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267850" y="2436151"/>
            <a:ext cx="4381500" cy="924719"/>
          </a:xfrm>
          <a:prstGeom prst="roundRect">
            <a:avLst>
              <a:gd name="adj" fmla="val 8240"/>
            </a:avLst>
          </a:prstGeom>
          <a:solidFill>
            <a:srgbClr val="DDEFF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" name="Text 4"/>
          <p:cNvSpPr/>
          <p:nvPr/>
        </p:nvSpPr>
        <p:spPr>
          <a:xfrm>
            <a:off x="1439168" y="2588452"/>
            <a:ext cx="4442751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 AP exception report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439168" y="2933402"/>
            <a:ext cx="444275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06:00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39168" y="3646454"/>
            <a:ext cx="4442751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close pack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439168" y="3991405"/>
            <a:ext cx="444275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 end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39168" y="4704457"/>
            <a:ext cx="4442751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Board / CFO pack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439168" y="5049408"/>
            <a:ext cx="444275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39168" y="5762460"/>
            <a:ext cx="4442751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Cash flow forecast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439168" y="6107410"/>
            <a:ext cx="444275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39168" y="6820463"/>
            <a:ext cx="4442751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Vendor spend analysis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439168" y="7165413"/>
            <a:ext cx="444275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39168" y="7878465"/>
            <a:ext cx="4442751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 vs actual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439168" y="8223415"/>
            <a:ext cx="444275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39168" y="8936468"/>
            <a:ext cx="4442751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Audit-ready compliance report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439168" y="9281418"/>
            <a:ext cx="444275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Quarterly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231268" y="1712350"/>
            <a:ext cx="11104233" cy="8311886"/>
          </a:xfrm>
          <a:prstGeom prst="roundRect">
            <a:avLst>
              <a:gd name="adj" fmla="val 1834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1" name="Text 19"/>
          <p:cNvSpPr/>
          <p:nvPr/>
        </p:nvSpPr>
        <p:spPr>
          <a:xfrm>
            <a:off x="6660886" y="2141968"/>
            <a:ext cx="1126949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FINANCE · 2026-08-31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660886" y="2645668"/>
            <a:ext cx="11269498" cy="567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kern="0" spc="-69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Accounts payable exceptions</a:t>
            </a:r>
            <a:endParaRPr lang="en-US" sz="3450" dirty="0"/>
          </a:p>
        </p:txBody>
      </p:sp>
      <p:sp>
        <p:nvSpPr>
          <p:cNvPr id="23" name="Shape 21"/>
          <p:cNvSpPr/>
          <p:nvPr/>
        </p:nvSpPr>
        <p:spPr>
          <a:xfrm>
            <a:off x="6660886" y="3403369"/>
            <a:ext cx="10244998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4" name="Text 22"/>
          <p:cNvSpPr/>
          <p:nvPr/>
        </p:nvSpPr>
        <p:spPr>
          <a:xfrm>
            <a:off x="6660886" y="3642486"/>
            <a:ext cx="11269498" cy="43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21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Exception rate fell to 2.1% in August, the lowest in the rolling 12 months.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6660886" y="4271037"/>
            <a:ext cx="11269498" cy="43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21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invoices exceeded policy tolerance FIN-04, together $ 136,430.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6660886" y="4899588"/>
            <a:ext cx="10552348" cy="838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21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relate to a single vendor with an expired rate card; one is a duplicate reference.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6660886" y="5928155"/>
            <a:ext cx="11269498" cy="43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21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Recommendation: renew the Northwind rate card before the September run.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6660886" y="9227509"/>
            <a:ext cx="2040930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DELIVERED TO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649560" y="9135567"/>
            <a:ext cx="907852" cy="459052"/>
          </a:xfrm>
          <a:prstGeom prst="roundRect">
            <a:avLst>
              <a:gd name="adj" fmla="val 83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0" name="Text 28"/>
          <p:cNvSpPr/>
          <p:nvPr/>
        </p:nvSpPr>
        <p:spPr>
          <a:xfrm>
            <a:off x="8782910" y="9211767"/>
            <a:ext cx="717352" cy="34475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9690696" y="9135567"/>
            <a:ext cx="2075656" cy="459052"/>
          </a:xfrm>
          <a:prstGeom prst="roundRect">
            <a:avLst>
              <a:gd name="adj" fmla="val 83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2" name="Text 30"/>
          <p:cNvSpPr/>
          <p:nvPr/>
        </p:nvSpPr>
        <p:spPr>
          <a:xfrm>
            <a:off x="9824046" y="9211767"/>
            <a:ext cx="1885156" cy="34475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Teams channel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11899636" y="9135567"/>
            <a:ext cx="2274590" cy="459052"/>
          </a:xfrm>
          <a:prstGeom prst="roundRect">
            <a:avLst>
              <a:gd name="adj" fmla="val 83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4" name="Text 32"/>
          <p:cNvSpPr/>
          <p:nvPr/>
        </p:nvSpPr>
        <p:spPr>
          <a:xfrm>
            <a:off x="12032986" y="9211767"/>
            <a:ext cx="2084090" cy="34475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dataset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1" cy="683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kern="0" spc="-8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 to governed query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952500" y="1712350"/>
            <a:ext cx="16383001" cy="781265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1382117" y="2141968"/>
            <a:ext cx="15523766" cy="3577828"/>
          </a:xfrm>
          <a:prstGeom prst="roundRect">
            <a:avLst>
              <a:gd name="adj" fmla="val 3195"/>
            </a:avLst>
          </a:prstGeom>
          <a:solidFill>
            <a:srgbClr val="F4F3F8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Text 3"/>
          <p:cNvSpPr/>
          <p:nvPr/>
        </p:nvSpPr>
        <p:spPr>
          <a:xfrm>
            <a:off x="1697467" y="2457318"/>
            <a:ext cx="15339857" cy="459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3000"/>
              </a:lnSpc>
              <a:buNone/>
            </a:pPr>
            <a:r>
              <a:rPr lang="en-US" sz="1950" dirty="0">
                <a:solidFill>
                  <a:srgbClr val="1A1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invoice_no, vendor_name, amount_usd,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697467" y="2878336"/>
            <a:ext cx="15339857" cy="459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3000"/>
              </a:lnSpc>
              <a:buNone/>
            </a:pPr>
            <a:r>
              <a:rPr lang="en-US" sz="1950" dirty="0">
                <a:solidFill>
                  <a:srgbClr val="1A1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amount_usd / NULLIF(mean_12m, 0) - 1 AS variance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697467" y="3299354"/>
            <a:ext cx="15339857" cy="459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3000"/>
              </a:lnSpc>
              <a:buNone/>
            </a:pPr>
            <a:r>
              <a:rPr lang="en-US" sz="1950" dirty="0">
                <a:solidFill>
                  <a:srgbClr val="1A1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ap_invoice_lines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697467" y="3720373"/>
            <a:ext cx="15339857" cy="459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3000"/>
              </a:lnSpc>
              <a:buNone/>
            </a:pPr>
            <a:r>
              <a:rPr lang="en-US" sz="1950" dirty="0">
                <a:solidFill>
                  <a:srgbClr val="1A1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vendor_master USING (vendor_id)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697467" y="4141391"/>
            <a:ext cx="15339857" cy="459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3000"/>
              </a:lnSpc>
              <a:buNone/>
            </a:pPr>
            <a:r>
              <a:rPr lang="en-US" sz="1950" dirty="0">
                <a:solidFill>
                  <a:srgbClr val="1A1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posting_period = '2026-08'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697467" y="4562409"/>
            <a:ext cx="15339857" cy="459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3000"/>
              </a:lnSpc>
              <a:buNone/>
            </a:pPr>
            <a:r>
              <a:rPr lang="en-US" sz="1950" dirty="0">
                <a:solidFill>
                  <a:srgbClr val="0065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variance &gt; policy.tolerance -- FIN-04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697467" y="4983427"/>
            <a:ext cx="15339857" cy="459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3000"/>
              </a:lnSpc>
              <a:buNone/>
            </a:pPr>
            <a:r>
              <a:rPr lang="en-US" sz="1950" dirty="0">
                <a:solidFill>
                  <a:srgbClr val="0065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entity_id = session.entity -- row policy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382117" y="5986364"/>
            <a:ext cx="5468491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Intent parsed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82117" y="6379932"/>
            <a:ext cx="5120497" cy="588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Anomaly detection · vendor invoices · current period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58240" y="5986364"/>
            <a:ext cx="546867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Row policy injected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658240" y="6379932"/>
            <a:ext cx="5468673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entity_id = NO-01, masked columns dropped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934527" y="5986364"/>
            <a:ext cx="5468491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 retrieval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1934527" y="6379932"/>
            <a:ext cx="546849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FIN-04, vendor contract clauses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82117" y="7196832"/>
            <a:ext cx="1707614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question never reaches data the user cannot see.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1460493" cy="683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kern="0" spc="-8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governance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952500" y="1712350"/>
            <a:ext cx="10418630" cy="781265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" name="Text 2"/>
          <p:cNvSpPr/>
          <p:nvPr/>
        </p:nvSpPr>
        <p:spPr>
          <a:xfrm>
            <a:off x="1382117" y="2141968"/>
            <a:ext cx="362692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984089" y="2141968"/>
            <a:ext cx="2590817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SENSITIVITY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44144" y="2141968"/>
            <a:ext cx="3627107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APPLIED POLICY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82117" y="2626651"/>
            <a:ext cx="9559396" cy="865518"/>
          </a:xfrm>
          <a:prstGeom prst="roundRect">
            <a:avLst>
              <a:gd name="adj" fmla="val 8804"/>
            </a:avLst>
          </a:prstGeom>
          <a:solidFill>
            <a:srgbClr val="F4F3F8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" name="Text 6"/>
          <p:cNvSpPr/>
          <p:nvPr/>
        </p:nvSpPr>
        <p:spPr>
          <a:xfrm>
            <a:off x="1621234" y="2884785"/>
            <a:ext cx="343320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Vendor master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5047093" y="2829884"/>
            <a:ext cx="1489770" cy="459052"/>
          </a:xfrm>
          <a:prstGeom prst="roundRect">
            <a:avLst>
              <a:gd name="adj" fmla="val 8300"/>
            </a:avLst>
          </a:prstGeom>
          <a:solidFill>
            <a:srgbClr val="FBE4E4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" name="Text 8"/>
          <p:cNvSpPr/>
          <p:nvPr/>
        </p:nvSpPr>
        <p:spPr>
          <a:xfrm>
            <a:off x="5180443" y="2906084"/>
            <a:ext cx="1299270" cy="34475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B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Restricted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581305" y="2905952"/>
            <a:ext cx="3433200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Masked: IBAN, tax ID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382117" y="3701686"/>
            <a:ext cx="9559396" cy="865518"/>
          </a:xfrm>
          <a:prstGeom prst="roundRect">
            <a:avLst>
              <a:gd name="adj" fmla="val 8804"/>
            </a:avLst>
          </a:prstGeom>
          <a:solidFill>
            <a:srgbClr val="F4F3F8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" name="Text 11"/>
          <p:cNvSpPr/>
          <p:nvPr/>
        </p:nvSpPr>
        <p:spPr>
          <a:xfrm>
            <a:off x="1621234" y="3959821"/>
            <a:ext cx="343320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 invoice lines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5047093" y="3904919"/>
            <a:ext cx="1725580" cy="459052"/>
          </a:xfrm>
          <a:prstGeom prst="roundRect">
            <a:avLst>
              <a:gd name="adj" fmla="val 8300"/>
            </a:avLst>
          </a:prstGeom>
          <a:solidFill>
            <a:srgbClr val="DDEFF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" name="Text 13"/>
          <p:cNvSpPr/>
          <p:nvPr/>
        </p:nvSpPr>
        <p:spPr>
          <a:xfrm>
            <a:off x="5180443" y="3981119"/>
            <a:ext cx="1535080" cy="34475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7581305" y="3980987"/>
            <a:ext cx="3433200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Row policy: entity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382117" y="4776722"/>
            <a:ext cx="9559396" cy="865518"/>
          </a:xfrm>
          <a:prstGeom prst="roundRect">
            <a:avLst>
              <a:gd name="adj" fmla="val 8804"/>
            </a:avLst>
          </a:prstGeom>
          <a:solidFill>
            <a:srgbClr val="F4F3F8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8" name="Text 16"/>
          <p:cNvSpPr/>
          <p:nvPr/>
        </p:nvSpPr>
        <p:spPr>
          <a:xfrm>
            <a:off x="1621234" y="5034855"/>
            <a:ext cx="343320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 postings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5047093" y="4979955"/>
            <a:ext cx="1725580" cy="459052"/>
          </a:xfrm>
          <a:prstGeom prst="roundRect">
            <a:avLst>
              <a:gd name="adj" fmla="val 8300"/>
            </a:avLst>
          </a:prstGeom>
          <a:solidFill>
            <a:srgbClr val="DDEFF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0" name="Text 18"/>
          <p:cNvSpPr/>
          <p:nvPr/>
        </p:nvSpPr>
        <p:spPr>
          <a:xfrm>
            <a:off x="5180443" y="5056155"/>
            <a:ext cx="1535080" cy="34475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7581305" y="5056022"/>
            <a:ext cx="3433200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Row policy: entity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382117" y="5851757"/>
            <a:ext cx="9559396" cy="865518"/>
          </a:xfrm>
          <a:prstGeom prst="roundRect">
            <a:avLst>
              <a:gd name="adj" fmla="val 8804"/>
            </a:avLst>
          </a:prstGeom>
          <a:solidFill>
            <a:srgbClr val="F4F3F8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3" name="Text 21"/>
          <p:cNvSpPr/>
          <p:nvPr/>
        </p:nvSpPr>
        <p:spPr>
          <a:xfrm>
            <a:off x="1621234" y="6109891"/>
            <a:ext cx="343320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FX rate table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5047093" y="6054990"/>
            <a:ext cx="1177561" cy="459052"/>
          </a:xfrm>
          <a:prstGeom prst="roundRect">
            <a:avLst>
              <a:gd name="adj" fmla="val 83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5" name="Text 23"/>
          <p:cNvSpPr/>
          <p:nvPr/>
        </p:nvSpPr>
        <p:spPr>
          <a:xfrm>
            <a:off x="5180443" y="6131190"/>
            <a:ext cx="987061" cy="34475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7581305" y="6131058"/>
            <a:ext cx="3433200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to workspace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1382117" y="8507016"/>
            <a:ext cx="9559396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8" name="Text 26"/>
          <p:cNvSpPr/>
          <p:nvPr/>
        </p:nvSpPr>
        <p:spPr>
          <a:xfrm>
            <a:off x="1382117" y="8746200"/>
            <a:ext cx="9846178" cy="387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answer inherits the policy of the data behind it.</a:t>
            </a:r>
            <a:endParaRPr lang="en-US" sz="2250" dirty="0"/>
          </a:p>
        </p:txBody>
      </p:sp>
      <p:sp>
        <p:nvSpPr>
          <p:cNvPr id="29" name="Shape 27"/>
          <p:cNvSpPr/>
          <p:nvPr/>
        </p:nvSpPr>
        <p:spPr>
          <a:xfrm>
            <a:off x="11637699" y="762000"/>
            <a:ext cx="5697802" cy="8763001"/>
          </a:xfrm>
          <a:prstGeom prst="roundRect">
            <a:avLst>
              <a:gd name="adj" fmla="val 2675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0" name="Shape 28"/>
          <p:cNvSpPr/>
          <p:nvPr/>
        </p:nvSpPr>
        <p:spPr>
          <a:xfrm>
            <a:off x="11914849" y="1176569"/>
            <a:ext cx="114267" cy="114267"/>
          </a:xfrm>
          <a:prstGeom prst="ellipse">
            <a:avLst/>
          </a:prstGeom>
          <a:solidFill>
            <a:srgbClr val="00A1E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1" name="Text 29"/>
          <p:cNvSpPr/>
          <p:nvPr/>
        </p:nvSpPr>
        <p:spPr>
          <a:xfrm>
            <a:off x="12143383" y="1080327"/>
            <a:ext cx="2075673" cy="345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AIHub assistant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16306106" y="1039151"/>
            <a:ext cx="752244" cy="389268"/>
          </a:xfrm>
          <a:prstGeom prst="roundRect">
            <a:avLst>
              <a:gd name="adj" fmla="val 9788"/>
            </a:avLst>
          </a:prstGeom>
          <a:solidFill>
            <a:srgbClr val="DDEFF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3" name="Text 31"/>
          <p:cNvSpPr/>
          <p:nvPr/>
        </p:nvSpPr>
        <p:spPr>
          <a:xfrm>
            <a:off x="16420406" y="1096301"/>
            <a:ext cx="599844" cy="31306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3346741" y="1580720"/>
            <a:ext cx="3711608" cy="503701"/>
          </a:xfrm>
          <a:prstGeom prst="roundRect">
            <a:avLst>
              <a:gd name="adj" fmla="val 22692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5" name="Text 33"/>
          <p:cNvSpPr/>
          <p:nvPr/>
        </p:nvSpPr>
        <p:spPr>
          <a:xfrm>
            <a:off x="13518191" y="1695020"/>
            <a:ext cx="3480057" cy="31320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datasets can I use here?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1914849" y="2236721"/>
            <a:ext cx="5297805" cy="9975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18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of four. Vendor master is restricted, so IBAN and tax ID stay masked; the rest are available under the entity row policy.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1914849" y="3348468"/>
            <a:ext cx="1868670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 invoice lines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6055744" y="3348468"/>
            <a:ext cx="1078806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Available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1914849" y="3699702"/>
            <a:ext cx="5143500" cy="95250"/>
          </a:xfrm>
          <a:prstGeom prst="roundRect">
            <a:avLst>
              <a:gd name="adj" fmla="val 50000"/>
            </a:avLst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0" name="Shape 38"/>
          <p:cNvSpPr/>
          <p:nvPr/>
        </p:nvSpPr>
        <p:spPr>
          <a:xfrm>
            <a:off x="11914849" y="3699702"/>
            <a:ext cx="5143500" cy="95250"/>
          </a:xfrm>
          <a:prstGeom prst="roundRect">
            <a:avLst>
              <a:gd name="adj" fmla="val 5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1" name="Text 39"/>
          <p:cNvSpPr/>
          <p:nvPr/>
        </p:nvSpPr>
        <p:spPr>
          <a:xfrm>
            <a:off x="11914849" y="3909219"/>
            <a:ext cx="1416100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 postings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6055744" y="3909219"/>
            <a:ext cx="1078806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Available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1914849" y="4260453"/>
            <a:ext cx="5143500" cy="95250"/>
          </a:xfrm>
          <a:prstGeom prst="roundRect">
            <a:avLst>
              <a:gd name="adj" fmla="val 50000"/>
            </a:avLst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4" name="Shape 42"/>
          <p:cNvSpPr/>
          <p:nvPr/>
        </p:nvSpPr>
        <p:spPr>
          <a:xfrm>
            <a:off x="11914849" y="4260453"/>
            <a:ext cx="5143500" cy="95250"/>
          </a:xfrm>
          <a:prstGeom prst="roundRect">
            <a:avLst>
              <a:gd name="adj" fmla="val 5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43"/>
          <p:cNvSpPr/>
          <p:nvPr/>
        </p:nvSpPr>
        <p:spPr>
          <a:xfrm>
            <a:off x="11914849" y="4469970"/>
            <a:ext cx="1740611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Vendor master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6188201" y="4469970"/>
            <a:ext cx="946348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Masked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1914849" y="4821205"/>
            <a:ext cx="5143500" cy="95250"/>
          </a:xfrm>
          <a:prstGeom prst="roundRect">
            <a:avLst>
              <a:gd name="adj" fmla="val 50000"/>
            </a:avLst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8" name="Shape 46"/>
          <p:cNvSpPr/>
          <p:nvPr/>
        </p:nvSpPr>
        <p:spPr>
          <a:xfrm>
            <a:off x="11914849" y="4821205"/>
            <a:ext cx="2057301" cy="95250"/>
          </a:xfrm>
          <a:prstGeom prst="roundRect">
            <a:avLst>
              <a:gd name="adj" fmla="val 5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9" name="Shape 47"/>
          <p:cNvSpPr/>
          <p:nvPr/>
        </p:nvSpPr>
        <p:spPr>
          <a:xfrm>
            <a:off x="11914849" y="5068756"/>
            <a:ext cx="5143500" cy="2370336"/>
          </a:xfrm>
          <a:prstGeom prst="roundRect">
            <a:avLst>
              <a:gd name="adj" fmla="val 4822"/>
            </a:avLst>
          </a:prstGeom>
          <a:solidFill>
            <a:srgbClr val="F4F3F8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0" name="Text 48"/>
          <p:cNvSpPr/>
          <p:nvPr/>
        </p:nvSpPr>
        <p:spPr>
          <a:xfrm>
            <a:off x="12096750" y="5250656"/>
            <a:ext cx="525766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AS DATA VIEW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12096750" y="5621073"/>
            <a:ext cx="525766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 invoice lines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2096750" y="5991490"/>
            <a:ext cx="525766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 postings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12096750" y="6361906"/>
            <a:ext cx="525766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FX rate table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12096750" y="6770357"/>
            <a:ext cx="883708" cy="486833"/>
          </a:xfrm>
          <a:prstGeom prst="roundRect">
            <a:avLst>
              <a:gd name="adj" fmla="val 15652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5" name="Text 53"/>
          <p:cNvSpPr/>
          <p:nvPr/>
        </p:nvSpPr>
        <p:spPr>
          <a:xfrm>
            <a:off x="12268200" y="6865607"/>
            <a:ext cx="61700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13094726" y="6770357"/>
            <a:ext cx="1208980" cy="486833"/>
          </a:xfrm>
          <a:prstGeom prst="roundRect">
            <a:avLst>
              <a:gd name="adj" fmla="val 15652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7" name="Text 55"/>
          <p:cNvSpPr/>
          <p:nvPr/>
        </p:nvSpPr>
        <p:spPr>
          <a:xfrm>
            <a:off x="13276760" y="6876190"/>
            <a:ext cx="921114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Discard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11914849" y="7743693"/>
            <a:ext cx="5143500" cy="1624707"/>
          </a:xfrm>
          <a:prstGeom prst="roundRect">
            <a:avLst>
              <a:gd name="adj" fmla="val 7035"/>
            </a:avLst>
          </a:prstGeom>
          <a:solidFill>
            <a:srgbClr val="F2F9FC"/>
          </a:solidFill>
          <a:ln w="10583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9" name="Text 57"/>
          <p:cNvSpPr/>
          <p:nvPr/>
        </p:nvSpPr>
        <p:spPr>
          <a:xfrm>
            <a:off x="12096750" y="7925594"/>
            <a:ext cx="2331062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NEEDS A HUMAN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14578211" y="7925594"/>
            <a:ext cx="2528061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R. Iten · Data steward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12096750" y="8296011"/>
            <a:ext cx="5257668" cy="3465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154"/>
              </a:lnSpc>
              <a:buNone/>
            </a:pPr>
            <a:r>
              <a:rPr lang="en-US" sz="18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Unmask tax ID for the risk review?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12096750" y="8710249"/>
            <a:ext cx="1895409" cy="465667"/>
          </a:xfrm>
          <a:prstGeom prst="roundRect">
            <a:avLst>
              <a:gd name="adj" fmla="val 16364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3" name="Text 61"/>
          <p:cNvSpPr/>
          <p:nvPr/>
        </p:nvSpPr>
        <p:spPr>
          <a:xfrm>
            <a:off x="12268200" y="8805499"/>
            <a:ext cx="1628709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Grant 30 days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4106426" y="8699665"/>
            <a:ext cx="1850926" cy="486833"/>
          </a:xfrm>
          <a:prstGeom prst="roundRect">
            <a:avLst>
              <a:gd name="adj" fmla="val 15652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5" name="Text 63"/>
          <p:cNvSpPr/>
          <p:nvPr/>
        </p:nvSpPr>
        <p:spPr>
          <a:xfrm>
            <a:off x="14288459" y="8805499"/>
            <a:ext cx="1563059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masked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16185886" y="8805499"/>
            <a:ext cx="908149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6F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Logged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1460493" cy="683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kern="0" spc="-8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segregation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952500" y="1712350"/>
            <a:ext cx="3295055" cy="6178683"/>
          </a:xfrm>
          <a:prstGeom prst="roundRect">
            <a:avLst>
              <a:gd name="adj" fmla="val 4625"/>
            </a:avLst>
          </a:prstGeom>
          <a:solidFill>
            <a:srgbClr val="F2F9FC"/>
          </a:solidFill>
          <a:ln w="10583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" name="Text 2"/>
          <p:cNvSpPr/>
          <p:nvPr/>
        </p:nvSpPr>
        <p:spPr>
          <a:xfrm>
            <a:off x="1344083" y="2103934"/>
            <a:ext cx="2588088" cy="905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Finance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1344083" y="3143085"/>
            <a:ext cx="2763077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EU · region-locked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44083" y="3621319"/>
            <a:ext cx="2763077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 encryption keys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4514123" y="1712350"/>
            <a:ext cx="3295220" cy="6178683"/>
          </a:xfrm>
          <a:prstGeom prst="roundRect">
            <a:avLst>
              <a:gd name="adj" fmla="val 4625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" name="Text 6"/>
          <p:cNvSpPr/>
          <p:nvPr/>
        </p:nvSpPr>
        <p:spPr>
          <a:xfrm>
            <a:off x="4905706" y="2103934"/>
            <a:ext cx="2763259" cy="472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Nordics entity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4905706" y="2709168"/>
            <a:ext cx="2763259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Legal-entity scoped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4905706" y="3187403"/>
            <a:ext cx="2763259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 encryption keys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8075911" y="1712350"/>
            <a:ext cx="3295220" cy="6178683"/>
          </a:xfrm>
          <a:prstGeom prst="roundRect">
            <a:avLst>
              <a:gd name="adj" fmla="val 4625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" name="Text 10"/>
          <p:cNvSpPr/>
          <p:nvPr/>
        </p:nvSpPr>
        <p:spPr>
          <a:xfrm>
            <a:off x="8467494" y="2103934"/>
            <a:ext cx="2588254" cy="905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services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8467494" y="3143085"/>
            <a:ext cx="2763259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PII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8467494" y="3621319"/>
            <a:ext cx="2763259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Read-only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8195800"/>
            <a:ext cx="10418630" cy="1329201"/>
          </a:xfrm>
          <a:prstGeom prst="roundRect">
            <a:avLst>
              <a:gd name="adj" fmla="val 11466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6" name="Shape 14"/>
          <p:cNvSpPr/>
          <p:nvPr/>
        </p:nvSpPr>
        <p:spPr>
          <a:xfrm>
            <a:off x="1344083" y="8765150"/>
            <a:ext cx="140229" cy="190500"/>
          </a:xfrm>
          <a:prstGeom prst="roundRect">
            <a:avLst>
              <a:gd name="adj" fmla="val 50000"/>
            </a:avLst>
          </a:prstGeom>
          <a:solidFill>
            <a:srgbClr val="BA1A1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7" name="Text 15"/>
          <p:cNvSpPr/>
          <p:nvPr/>
        </p:nvSpPr>
        <p:spPr>
          <a:xfrm>
            <a:off x="1712846" y="8511150"/>
            <a:ext cx="3554694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B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Cross-workspace retrieval denied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5621073" y="8553484"/>
            <a:ext cx="5519228" cy="65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retrieval is scoped to the workspace that owns the data.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1637699" y="762000"/>
            <a:ext cx="5697802" cy="8763001"/>
          </a:xfrm>
          <a:prstGeom prst="roundRect">
            <a:avLst>
              <a:gd name="adj" fmla="val 2675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0" name="Shape 18"/>
          <p:cNvSpPr/>
          <p:nvPr/>
        </p:nvSpPr>
        <p:spPr>
          <a:xfrm>
            <a:off x="11914849" y="1176569"/>
            <a:ext cx="114267" cy="114267"/>
          </a:xfrm>
          <a:prstGeom prst="ellipse">
            <a:avLst/>
          </a:prstGeom>
          <a:solidFill>
            <a:srgbClr val="00A1E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1" name="Text 19"/>
          <p:cNvSpPr/>
          <p:nvPr/>
        </p:nvSpPr>
        <p:spPr>
          <a:xfrm>
            <a:off x="12143383" y="1080327"/>
            <a:ext cx="2075673" cy="345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AIHub assistant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6306106" y="1039151"/>
            <a:ext cx="752244" cy="389268"/>
          </a:xfrm>
          <a:prstGeom prst="roundRect">
            <a:avLst>
              <a:gd name="adj" fmla="val 9788"/>
            </a:avLst>
          </a:prstGeom>
          <a:solidFill>
            <a:srgbClr val="DDEFF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3" name="Text 21"/>
          <p:cNvSpPr/>
          <p:nvPr/>
        </p:nvSpPr>
        <p:spPr>
          <a:xfrm>
            <a:off x="16420406" y="1096301"/>
            <a:ext cx="599844" cy="31306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3383783" y="1580720"/>
            <a:ext cx="3674567" cy="503701"/>
          </a:xfrm>
          <a:prstGeom prst="roundRect">
            <a:avLst>
              <a:gd name="adj" fmla="val 22692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5" name="Text 23"/>
          <p:cNvSpPr/>
          <p:nvPr/>
        </p:nvSpPr>
        <p:spPr>
          <a:xfrm>
            <a:off x="13555233" y="1695020"/>
            <a:ext cx="3441904" cy="31320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Nordics see group spend?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914849" y="2236721"/>
            <a:ext cx="5297805" cy="9975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18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No. Retrieval stops at the workspace boundary. Group figures reach them only as a published report with entity detail removed.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914849" y="3348468"/>
            <a:ext cx="1873945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 entity data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6672058" y="3348468"/>
            <a:ext cx="462492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1914849" y="3699702"/>
            <a:ext cx="5143500" cy="95250"/>
          </a:xfrm>
          <a:prstGeom prst="roundRect">
            <a:avLst>
              <a:gd name="adj" fmla="val 50000"/>
            </a:avLst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0" name="Shape 28"/>
          <p:cNvSpPr/>
          <p:nvPr/>
        </p:nvSpPr>
        <p:spPr>
          <a:xfrm>
            <a:off x="11914849" y="3699702"/>
            <a:ext cx="5143500" cy="95250"/>
          </a:xfrm>
          <a:prstGeom prst="roundRect">
            <a:avLst>
              <a:gd name="adj" fmla="val 5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1" name="Text 29"/>
          <p:cNvSpPr/>
          <p:nvPr/>
        </p:nvSpPr>
        <p:spPr>
          <a:xfrm>
            <a:off x="11914849" y="3909219"/>
            <a:ext cx="2142612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aggregates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5432981" y="3909219"/>
            <a:ext cx="1787905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Published only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1914849" y="4260453"/>
            <a:ext cx="5143500" cy="95250"/>
          </a:xfrm>
          <a:prstGeom prst="roundRect">
            <a:avLst>
              <a:gd name="adj" fmla="val 50000"/>
            </a:avLst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4" name="Shape 32"/>
          <p:cNvSpPr/>
          <p:nvPr/>
        </p:nvSpPr>
        <p:spPr>
          <a:xfrm>
            <a:off x="11914849" y="4260453"/>
            <a:ext cx="2571750" cy="95250"/>
          </a:xfrm>
          <a:prstGeom prst="roundRect">
            <a:avLst>
              <a:gd name="adj" fmla="val 5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5" name="Text 33"/>
          <p:cNvSpPr/>
          <p:nvPr/>
        </p:nvSpPr>
        <p:spPr>
          <a:xfrm>
            <a:off x="11914849" y="4469970"/>
            <a:ext cx="1595454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 entities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6280805" y="4469970"/>
            <a:ext cx="853744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Denied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1914849" y="4821205"/>
            <a:ext cx="5143500" cy="95250"/>
          </a:xfrm>
          <a:prstGeom prst="roundRect">
            <a:avLst>
              <a:gd name="adj" fmla="val 50000"/>
            </a:avLst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8" name="Shape 36"/>
          <p:cNvSpPr/>
          <p:nvPr/>
        </p:nvSpPr>
        <p:spPr>
          <a:xfrm>
            <a:off x="11914849" y="4821205"/>
            <a:ext cx="411427" cy="95250"/>
          </a:xfrm>
          <a:prstGeom prst="roundRect">
            <a:avLst>
              <a:gd name="adj" fmla="val 5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9" name="Shape 37"/>
          <p:cNvSpPr/>
          <p:nvPr/>
        </p:nvSpPr>
        <p:spPr>
          <a:xfrm>
            <a:off x="11914849" y="5068756"/>
            <a:ext cx="5143500" cy="2249620"/>
          </a:xfrm>
          <a:prstGeom prst="roundRect">
            <a:avLst>
              <a:gd name="adj" fmla="val 5081"/>
            </a:avLst>
          </a:prstGeom>
          <a:solidFill>
            <a:srgbClr val="F4F3F8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0" name="Text 38"/>
          <p:cNvSpPr/>
          <p:nvPr/>
        </p:nvSpPr>
        <p:spPr>
          <a:xfrm>
            <a:off x="12096750" y="5250656"/>
            <a:ext cx="525766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 A SHARED VIEW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2096750" y="5621073"/>
            <a:ext cx="525766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2096750" y="5991490"/>
            <a:ext cx="4779698" cy="524867"/>
          </a:xfrm>
          <a:prstGeom prst="roundRect">
            <a:avLst>
              <a:gd name="adj" fmla="val 14518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3" name="Text 41"/>
          <p:cNvSpPr/>
          <p:nvPr/>
        </p:nvSpPr>
        <p:spPr>
          <a:xfrm>
            <a:off x="12259733" y="6116373"/>
            <a:ext cx="4597122" cy="313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aggregates, quarter to date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12096750" y="6649641"/>
            <a:ext cx="883708" cy="486833"/>
          </a:xfrm>
          <a:prstGeom prst="roundRect">
            <a:avLst>
              <a:gd name="adj" fmla="val 15652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43"/>
          <p:cNvSpPr/>
          <p:nvPr/>
        </p:nvSpPr>
        <p:spPr>
          <a:xfrm>
            <a:off x="12268200" y="6744891"/>
            <a:ext cx="61700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3094726" y="6649641"/>
            <a:ext cx="1208980" cy="486833"/>
          </a:xfrm>
          <a:prstGeom prst="roundRect">
            <a:avLst>
              <a:gd name="adj" fmla="val 15652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7" name="Text 45"/>
          <p:cNvSpPr/>
          <p:nvPr/>
        </p:nvSpPr>
        <p:spPr>
          <a:xfrm>
            <a:off x="13276760" y="6755475"/>
            <a:ext cx="921114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Discard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1914849" y="7623142"/>
            <a:ext cx="5143500" cy="1624707"/>
          </a:xfrm>
          <a:prstGeom prst="roundRect">
            <a:avLst>
              <a:gd name="adj" fmla="val 7035"/>
            </a:avLst>
          </a:prstGeom>
          <a:solidFill>
            <a:srgbClr val="F2F9FC"/>
          </a:solidFill>
          <a:ln w="10583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9" name="Text 47"/>
          <p:cNvSpPr/>
          <p:nvPr/>
        </p:nvSpPr>
        <p:spPr>
          <a:xfrm>
            <a:off x="12096750" y="7805043"/>
            <a:ext cx="2331062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NEEDS A HUMAN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4635593" y="7805043"/>
            <a:ext cx="2464941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L. Berger · Controller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12096750" y="8175460"/>
            <a:ext cx="5257668" cy="3465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154"/>
              </a:lnSpc>
              <a:buNone/>
            </a:pPr>
            <a:r>
              <a:rPr lang="en-US" sz="18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 group aggregates to Nordics?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12096750" y="8589698"/>
            <a:ext cx="1157552" cy="465667"/>
          </a:xfrm>
          <a:prstGeom prst="roundRect">
            <a:avLst>
              <a:gd name="adj" fmla="val 16364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3" name="Text 51"/>
          <p:cNvSpPr/>
          <p:nvPr/>
        </p:nvSpPr>
        <p:spPr>
          <a:xfrm>
            <a:off x="12268200" y="8684948"/>
            <a:ext cx="890852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13368570" y="8579115"/>
            <a:ext cx="1191617" cy="486833"/>
          </a:xfrm>
          <a:prstGeom prst="roundRect">
            <a:avLst>
              <a:gd name="adj" fmla="val 15652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5" name="Text 53"/>
          <p:cNvSpPr/>
          <p:nvPr/>
        </p:nvSpPr>
        <p:spPr>
          <a:xfrm>
            <a:off x="13550603" y="8684948"/>
            <a:ext cx="903751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Decline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16044500" y="8684948"/>
            <a:ext cx="908149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6F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Logged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3781723" cy="683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kern="0" spc="-8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automation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618964" y="1037167"/>
            <a:ext cx="7793551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Invoice exception review · run #4471 · scheduled daily 06:00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952500" y="1712350"/>
            <a:ext cx="10380266" cy="781265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1344083" y="2103934"/>
            <a:ext cx="9597100" cy="1197736"/>
          </a:xfrm>
          <a:prstGeom prst="roundRect">
            <a:avLst>
              <a:gd name="adj" fmla="val 6362"/>
            </a:avLst>
          </a:prstGeom>
          <a:solidFill>
            <a:srgbClr val="F4F3F8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" name="Shape 4"/>
          <p:cNvSpPr/>
          <p:nvPr/>
        </p:nvSpPr>
        <p:spPr>
          <a:xfrm>
            <a:off x="1602217" y="2569435"/>
            <a:ext cx="266568" cy="266568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" name="Text 5"/>
          <p:cNvSpPr/>
          <p:nvPr/>
        </p:nvSpPr>
        <p:spPr>
          <a:xfrm>
            <a:off x="2059285" y="2362068"/>
            <a:ext cx="3257848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Pull open AP invoices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2059285" y="2768369"/>
            <a:ext cx="325784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SAP FI-AP · 142 records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44083" y="3492169"/>
            <a:ext cx="9597100" cy="1197736"/>
          </a:xfrm>
          <a:prstGeom prst="roundRect">
            <a:avLst>
              <a:gd name="adj" fmla="val 6362"/>
            </a:avLst>
          </a:prstGeom>
          <a:solidFill>
            <a:srgbClr val="F4F3F8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" name="Shape 8"/>
          <p:cNvSpPr/>
          <p:nvPr/>
        </p:nvSpPr>
        <p:spPr>
          <a:xfrm>
            <a:off x="1602217" y="3957671"/>
            <a:ext cx="266568" cy="266568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" name="Text 9"/>
          <p:cNvSpPr/>
          <p:nvPr/>
        </p:nvSpPr>
        <p:spPr>
          <a:xfrm>
            <a:off x="2059285" y="3750304"/>
            <a:ext cx="429723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Normalize vendor and terms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2059285" y="4156604"/>
            <a:ext cx="429723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Vendor master join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344083" y="4880405"/>
            <a:ext cx="9597100" cy="1197736"/>
          </a:xfrm>
          <a:prstGeom prst="roundRect">
            <a:avLst>
              <a:gd name="adj" fmla="val 6362"/>
            </a:avLst>
          </a:prstGeom>
          <a:solidFill>
            <a:srgbClr val="F4F3F8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" name="Shape 12"/>
          <p:cNvSpPr/>
          <p:nvPr/>
        </p:nvSpPr>
        <p:spPr>
          <a:xfrm>
            <a:off x="1602217" y="5345906"/>
            <a:ext cx="266568" cy="266568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" name="Text 13"/>
          <p:cNvSpPr/>
          <p:nvPr/>
        </p:nvSpPr>
        <p:spPr>
          <a:xfrm>
            <a:off x="2059285" y="5138539"/>
            <a:ext cx="4223924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against policy FIN-04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2059285" y="5544840"/>
            <a:ext cx="4223924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exceptions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344083" y="6268641"/>
            <a:ext cx="9597100" cy="1197736"/>
          </a:xfrm>
          <a:prstGeom prst="roundRect">
            <a:avLst>
              <a:gd name="adj" fmla="val 6362"/>
            </a:avLst>
          </a:prstGeom>
          <a:solidFill>
            <a:srgbClr val="F4F3F8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8" name="Shape 16"/>
          <p:cNvSpPr/>
          <p:nvPr/>
        </p:nvSpPr>
        <p:spPr>
          <a:xfrm>
            <a:off x="1602217" y="6734142"/>
            <a:ext cx="266568" cy="266568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9" name="Text 17"/>
          <p:cNvSpPr/>
          <p:nvPr/>
        </p:nvSpPr>
        <p:spPr>
          <a:xfrm>
            <a:off x="2059285" y="6526775"/>
            <a:ext cx="3684224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 to controller review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2059285" y="6933076"/>
            <a:ext cx="3684224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Queue · Nordics entity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1599334" y="1712350"/>
            <a:ext cx="5736167" cy="7812650"/>
          </a:xfrm>
          <a:prstGeom prst="roundRect">
            <a:avLst>
              <a:gd name="adj" fmla="val 2657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2" name="Text 20"/>
          <p:cNvSpPr/>
          <p:nvPr/>
        </p:nvSpPr>
        <p:spPr>
          <a:xfrm>
            <a:off x="11990917" y="2103934"/>
            <a:ext cx="544830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INVOICES PROCESSED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990917" y="2379100"/>
            <a:ext cx="5448300" cy="1149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200" b="1" kern="0" spc="-14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142</a:t>
            </a:r>
            <a:endParaRPr lang="en-US" sz="7200" dirty="0"/>
          </a:p>
        </p:txBody>
      </p:sp>
      <p:sp>
        <p:nvSpPr>
          <p:cNvPr id="24" name="Text 22"/>
          <p:cNvSpPr/>
          <p:nvPr/>
        </p:nvSpPr>
        <p:spPr>
          <a:xfrm>
            <a:off x="11990917" y="3833151"/>
            <a:ext cx="544830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EXCEPTIONS RAISED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990917" y="4108318"/>
            <a:ext cx="5448300" cy="1149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200" b="1" kern="0" spc="-144" dirty="0">
                <a:solidFill>
                  <a:srgbClr val="B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200" dirty="0"/>
          </a:p>
        </p:txBody>
      </p:sp>
      <p:sp>
        <p:nvSpPr>
          <p:cNvPr id="26" name="Text 24"/>
          <p:cNvSpPr/>
          <p:nvPr/>
        </p:nvSpPr>
        <p:spPr>
          <a:xfrm>
            <a:off x="11990917" y="8390269"/>
            <a:ext cx="5101590" cy="78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034"/>
              </a:lnSpc>
              <a:buNone/>
            </a:pPr>
            <a:r>
              <a:rPr lang="en-US" sz="19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review hours down 38% since pilot.</a:t>
            </a:r>
            <a:endParaRPr lang="en-US" sz="1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1" cy="683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kern="0" spc="-8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in the loop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952500" y="1712350"/>
            <a:ext cx="9999266" cy="781265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1344083" y="2103934"/>
            <a:ext cx="9216100" cy="907852"/>
          </a:xfrm>
          <a:prstGeom prst="roundRect">
            <a:avLst>
              <a:gd name="adj" fmla="val 12590"/>
            </a:avLst>
          </a:prstGeom>
          <a:solidFill>
            <a:srgbClr val="F4F3F8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Text 3"/>
          <p:cNvSpPr/>
          <p:nvPr/>
        </p:nvSpPr>
        <p:spPr>
          <a:xfrm>
            <a:off x="1602217" y="2362068"/>
            <a:ext cx="1839929" cy="429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INV-88214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3465380" y="2436151"/>
            <a:ext cx="2567715" cy="345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Northwind Logistics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8353558" y="2362068"/>
            <a:ext cx="2143340" cy="429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$ 84,200.00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344083" y="3202285"/>
            <a:ext cx="1013771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GATHERED BY THE AGENT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44083" y="3667952"/>
            <a:ext cx="9216100" cy="1111085"/>
          </a:xfrm>
          <a:prstGeom prst="roundRect">
            <a:avLst>
              <a:gd name="adj" fmla="val 6858"/>
            </a:avLst>
          </a:prstGeom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" name="Shape 8"/>
          <p:cNvSpPr/>
          <p:nvPr/>
        </p:nvSpPr>
        <p:spPr>
          <a:xfrm>
            <a:off x="1564184" y="3811984"/>
            <a:ext cx="1298773" cy="459052"/>
          </a:xfrm>
          <a:prstGeom prst="roundRect">
            <a:avLst>
              <a:gd name="adj" fmla="val 83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" name="Text 9"/>
          <p:cNvSpPr/>
          <p:nvPr/>
        </p:nvSpPr>
        <p:spPr>
          <a:xfrm>
            <a:off x="1697534" y="3888184"/>
            <a:ext cx="1108273" cy="34475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SAP ERP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3945434" y="3888052"/>
            <a:ext cx="5213284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 4500123 · 3-way match failed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3945434" y="4252020"/>
            <a:ext cx="5213284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Goods receipt 42 units, invoice 168 units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344083" y="4969537"/>
            <a:ext cx="9216100" cy="1111085"/>
          </a:xfrm>
          <a:prstGeom prst="roundRect">
            <a:avLst>
              <a:gd name="adj" fmla="val 6858"/>
            </a:avLst>
          </a:prstGeom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" name="Shape 13"/>
          <p:cNvSpPr/>
          <p:nvPr/>
        </p:nvSpPr>
        <p:spPr>
          <a:xfrm>
            <a:off x="1564184" y="5113569"/>
            <a:ext cx="2176694" cy="459052"/>
          </a:xfrm>
          <a:prstGeom prst="roundRect">
            <a:avLst>
              <a:gd name="adj" fmla="val 83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4"/>
          <p:cNvSpPr/>
          <p:nvPr/>
        </p:nvSpPr>
        <p:spPr>
          <a:xfrm>
            <a:off x="1697534" y="5189769"/>
            <a:ext cx="1986194" cy="34475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Salesforce CRM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3945434" y="5189637"/>
            <a:ext cx="5863763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Account: Northwind Logistics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3945434" y="5553605"/>
            <a:ext cx="5863763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 card expired 2026-06-30, renewal in Q4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344083" y="6271121"/>
            <a:ext cx="9216100" cy="1111085"/>
          </a:xfrm>
          <a:prstGeom prst="roundRect">
            <a:avLst>
              <a:gd name="adj" fmla="val 6858"/>
            </a:avLst>
          </a:prstGeom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0" name="Shape 18"/>
          <p:cNvSpPr/>
          <p:nvPr/>
        </p:nvSpPr>
        <p:spPr>
          <a:xfrm>
            <a:off x="1564184" y="6415154"/>
            <a:ext cx="1573279" cy="459052"/>
          </a:xfrm>
          <a:prstGeom prst="roundRect">
            <a:avLst>
              <a:gd name="adj" fmla="val 83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1" name="Text 19"/>
          <p:cNvSpPr/>
          <p:nvPr/>
        </p:nvSpPr>
        <p:spPr>
          <a:xfrm>
            <a:off x="1697534" y="6491354"/>
            <a:ext cx="1382779" cy="34475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SharePoint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3945434" y="6491222"/>
            <a:ext cx="5190183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Master services agreement v4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3945434" y="6855189"/>
            <a:ext cx="5190183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Clause 4.2 caps freight surcharge at 8%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344083" y="7572706"/>
            <a:ext cx="9216100" cy="1111085"/>
          </a:xfrm>
          <a:prstGeom prst="roundRect">
            <a:avLst>
              <a:gd name="adj" fmla="val 6858"/>
            </a:avLst>
          </a:prstGeom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5" name="Shape 23"/>
          <p:cNvSpPr/>
          <p:nvPr/>
        </p:nvSpPr>
        <p:spPr>
          <a:xfrm>
            <a:off x="1564184" y="7716739"/>
            <a:ext cx="2027535" cy="459052"/>
          </a:xfrm>
          <a:prstGeom prst="roundRect">
            <a:avLst>
              <a:gd name="adj" fmla="val 83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6" name="Text 24"/>
          <p:cNvSpPr/>
          <p:nvPr/>
        </p:nvSpPr>
        <p:spPr>
          <a:xfrm>
            <a:off x="1697534" y="7792939"/>
            <a:ext cx="1837035" cy="34475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Vendor master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3945434" y="7792806"/>
            <a:ext cx="4599368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 terms NET 45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3945434" y="8156774"/>
            <a:ext cx="4599368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Bank details unchanged since 2024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11218334" y="1712350"/>
            <a:ext cx="6117167" cy="7812650"/>
          </a:xfrm>
          <a:prstGeom prst="roundRect">
            <a:avLst>
              <a:gd name="adj" fmla="val 2491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0" name="Text 28"/>
          <p:cNvSpPr/>
          <p:nvPr/>
        </p:nvSpPr>
        <p:spPr>
          <a:xfrm>
            <a:off x="11609917" y="2103934"/>
            <a:ext cx="586740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SENT TO TEAMS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1609917" y="2607634"/>
            <a:ext cx="5334000" cy="2840633"/>
          </a:xfrm>
          <a:prstGeom prst="roundRect">
            <a:avLst>
              <a:gd name="adj" fmla="val 4024"/>
            </a:avLst>
          </a:prstGeom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2" name="Text 30"/>
          <p:cNvSpPr/>
          <p:nvPr/>
        </p:nvSpPr>
        <p:spPr>
          <a:xfrm>
            <a:off x="11887069" y="2884785"/>
            <a:ext cx="5257668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M. Duarte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1887069" y="3240319"/>
            <a:ext cx="5257668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 controller · Nordics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11887069" y="3718554"/>
            <a:ext cx="4923089" cy="7564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Release INV-88214 against the expired rate card, or hold for renegotiation?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11887069" y="4608215"/>
            <a:ext cx="2828065" cy="562901"/>
          </a:xfrm>
          <a:prstGeom prst="roundRect">
            <a:avLst>
              <a:gd name="adj" fmla="val 13537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6" name="Text 34"/>
          <p:cNvSpPr/>
          <p:nvPr/>
        </p:nvSpPr>
        <p:spPr>
          <a:xfrm>
            <a:off x="12096619" y="4741565"/>
            <a:ext cx="2493807" cy="33430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Hold for renegotiation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4848417" y="4608215"/>
            <a:ext cx="1310514" cy="562901"/>
          </a:xfrm>
          <a:prstGeom prst="roundRect">
            <a:avLst>
              <a:gd name="adj" fmla="val 13537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8" name="Text 36"/>
          <p:cNvSpPr/>
          <p:nvPr/>
        </p:nvSpPr>
        <p:spPr>
          <a:xfrm>
            <a:off x="15068550" y="4752148"/>
            <a:ext cx="946448" cy="313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Release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1609917" y="5676801"/>
            <a:ext cx="586740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LOOP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1609917" y="6180502"/>
            <a:ext cx="5494020" cy="16229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103"/>
              </a:lnSpc>
              <a:buNone/>
            </a:pPr>
            <a:r>
              <a:rPr lang="en-US" sz="195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flags the exception → evidence assembled from 4 systems → controller decides in Teams → decision written back, posting released and the rule updated.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11609917" y="8447816"/>
            <a:ext cx="5494020" cy="723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615"/>
              </a:lnSpc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agent gathers; the controller decides. Both are recorded with the run.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1" cy="683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kern="0" spc="-8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assistant sits on every screen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952500" y="1712350"/>
            <a:ext cx="8894631" cy="2194223"/>
          </a:xfrm>
          <a:prstGeom prst="roundRect">
            <a:avLst>
              <a:gd name="adj" fmla="val 6946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" name="Text 2"/>
          <p:cNvSpPr/>
          <p:nvPr/>
        </p:nvSpPr>
        <p:spPr>
          <a:xfrm>
            <a:off x="1248833" y="2008684"/>
            <a:ext cx="9132161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117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ASK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248833" y="2429867"/>
            <a:ext cx="9132161" cy="429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opens by itself, in context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48833" y="2916701"/>
            <a:ext cx="8551023" cy="731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966"/>
              </a:lnSpc>
              <a:buNone/>
            </a:pPr>
            <a:r>
              <a:rPr lang="en-US" sz="19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search, no switching tools. The question that fits the screen is already there.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52500" y="4135107"/>
            <a:ext cx="8894631" cy="2194223"/>
          </a:xfrm>
          <a:prstGeom prst="roundRect">
            <a:avLst>
              <a:gd name="adj" fmla="val 6946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" name="Text 6"/>
          <p:cNvSpPr/>
          <p:nvPr/>
        </p:nvSpPr>
        <p:spPr>
          <a:xfrm>
            <a:off x="1248833" y="4431440"/>
            <a:ext cx="9132161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117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SHOW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48833" y="4852624"/>
            <a:ext cx="9132161" cy="429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answer carries its numbers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248833" y="5339457"/>
            <a:ext cx="8551023" cy="731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966"/>
              </a:lnSpc>
              <a:buNone/>
            </a:pPr>
            <a:r>
              <a:rPr lang="en-US" sz="19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claim comes with the breakdown behind it, drawn from the governed data.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52500" y="6557864"/>
            <a:ext cx="8894631" cy="1847453"/>
          </a:xfrm>
          <a:prstGeom prst="roundRect">
            <a:avLst>
              <a:gd name="adj" fmla="val 8249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" name="Text 10"/>
          <p:cNvSpPr/>
          <p:nvPr/>
        </p:nvSpPr>
        <p:spPr>
          <a:xfrm>
            <a:off x="1248833" y="6854197"/>
            <a:ext cx="9132161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117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KEEP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248833" y="7275380"/>
            <a:ext cx="9132161" cy="429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it as a rule, view or schedule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248833" y="7762214"/>
            <a:ext cx="9132161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966"/>
              </a:lnSpc>
              <a:buNone/>
            </a:pPr>
            <a:r>
              <a:rPr lang="en-US" sz="19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form or a list turns the answer into something the team reuses.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0113699" y="1712350"/>
            <a:ext cx="7221802" cy="8097077"/>
          </a:xfrm>
          <a:prstGeom prst="roundRect">
            <a:avLst>
              <a:gd name="adj" fmla="val 2110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6" name="Shape 14"/>
          <p:cNvSpPr/>
          <p:nvPr/>
        </p:nvSpPr>
        <p:spPr>
          <a:xfrm>
            <a:off x="10390849" y="2136511"/>
            <a:ext cx="133284" cy="133284"/>
          </a:xfrm>
          <a:prstGeom prst="ellipse">
            <a:avLst/>
          </a:prstGeom>
          <a:solidFill>
            <a:srgbClr val="00A1E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7" name="Text 15"/>
          <p:cNvSpPr/>
          <p:nvPr/>
        </p:nvSpPr>
        <p:spPr>
          <a:xfrm>
            <a:off x="10657417" y="2044402"/>
            <a:ext cx="2235382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AIHub assistant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4374813" y="1989501"/>
            <a:ext cx="2683536" cy="427302"/>
          </a:xfrm>
          <a:prstGeom prst="roundRect">
            <a:avLst>
              <a:gd name="adj" fmla="val 8916"/>
            </a:avLst>
          </a:prstGeom>
          <a:solidFill>
            <a:srgbClr val="DDEFF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9" name="Text 17"/>
          <p:cNvSpPr/>
          <p:nvPr/>
        </p:nvSpPr>
        <p:spPr>
          <a:xfrm>
            <a:off x="14508163" y="2065701"/>
            <a:ext cx="2497343" cy="31300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Opened automatically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4252443" y="2550087"/>
            <a:ext cx="2805906" cy="503701"/>
          </a:xfrm>
          <a:prstGeom prst="roundRect">
            <a:avLst>
              <a:gd name="adj" fmla="val 22692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1" name="Text 19"/>
          <p:cNvSpPr/>
          <p:nvPr/>
        </p:nvSpPr>
        <p:spPr>
          <a:xfrm>
            <a:off x="14423893" y="2664387"/>
            <a:ext cx="2547184" cy="31320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three exceptions?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390849" y="3187072"/>
            <a:ext cx="6867526" cy="1078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966"/>
              </a:lnSpc>
              <a:buNone/>
            </a:pPr>
            <a:r>
              <a:rPr lang="en-US" sz="195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amount above the 12-month mean, one duplicate reference, one off-contract rate — all under policy FIN-04.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0390849" y="4360664"/>
            <a:ext cx="1906456" cy="3132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Amount variance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6425003" y="4360664"/>
            <a:ext cx="709546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item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0390849" y="4711899"/>
            <a:ext cx="6667501" cy="95250"/>
          </a:xfrm>
          <a:prstGeom prst="roundRect">
            <a:avLst>
              <a:gd name="adj" fmla="val 50000"/>
            </a:avLst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6" name="Shape 24"/>
          <p:cNvSpPr/>
          <p:nvPr/>
        </p:nvSpPr>
        <p:spPr>
          <a:xfrm>
            <a:off x="10390849" y="4711899"/>
            <a:ext cx="2266818" cy="95250"/>
          </a:xfrm>
          <a:prstGeom prst="roundRect">
            <a:avLst>
              <a:gd name="adj" fmla="val 5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7" name="Text 25"/>
          <p:cNvSpPr/>
          <p:nvPr/>
        </p:nvSpPr>
        <p:spPr>
          <a:xfrm>
            <a:off x="10390849" y="4902398"/>
            <a:ext cx="2198654" cy="3132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Duplicate reference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6425003" y="4902398"/>
            <a:ext cx="709546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item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0390849" y="5253633"/>
            <a:ext cx="6667501" cy="95250"/>
          </a:xfrm>
          <a:prstGeom prst="roundRect">
            <a:avLst>
              <a:gd name="adj" fmla="val 50000"/>
            </a:avLst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0" name="Shape 28"/>
          <p:cNvSpPr/>
          <p:nvPr/>
        </p:nvSpPr>
        <p:spPr>
          <a:xfrm>
            <a:off x="10390849" y="5253633"/>
            <a:ext cx="2266818" cy="95250"/>
          </a:xfrm>
          <a:prstGeom prst="roundRect">
            <a:avLst>
              <a:gd name="adj" fmla="val 5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1" name="Text 29"/>
          <p:cNvSpPr/>
          <p:nvPr/>
        </p:nvSpPr>
        <p:spPr>
          <a:xfrm>
            <a:off x="10390849" y="5444133"/>
            <a:ext cx="1891076" cy="3132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Off-contract rate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6425003" y="5444133"/>
            <a:ext cx="709546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item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0390849" y="5795367"/>
            <a:ext cx="6667501" cy="95250"/>
          </a:xfrm>
          <a:prstGeom prst="roundRect">
            <a:avLst>
              <a:gd name="adj" fmla="val 50000"/>
            </a:avLst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4" name="Shape 32"/>
          <p:cNvSpPr/>
          <p:nvPr/>
        </p:nvSpPr>
        <p:spPr>
          <a:xfrm>
            <a:off x="10390849" y="5795367"/>
            <a:ext cx="2266818" cy="95250"/>
          </a:xfrm>
          <a:prstGeom prst="roundRect">
            <a:avLst>
              <a:gd name="adj" fmla="val 5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5" name="Shape 33"/>
          <p:cNvSpPr/>
          <p:nvPr/>
        </p:nvSpPr>
        <p:spPr>
          <a:xfrm>
            <a:off x="10390849" y="6023901"/>
            <a:ext cx="6667501" cy="1612305"/>
          </a:xfrm>
          <a:prstGeom prst="roundRect">
            <a:avLst>
              <a:gd name="adj" fmla="val 7089"/>
            </a:avLst>
          </a:prstGeom>
          <a:solidFill>
            <a:srgbClr val="F4F3F8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6" name="Text 34"/>
          <p:cNvSpPr/>
          <p:nvPr/>
        </p:nvSpPr>
        <p:spPr>
          <a:xfrm>
            <a:off x="10572750" y="6205803"/>
            <a:ext cx="693406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AS AUTOMATION RULE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0572750" y="6557037"/>
            <a:ext cx="693406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Trigger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0572750" y="6908271"/>
            <a:ext cx="6303698" cy="546034"/>
          </a:xfrm>
          <a:prstGeom prst="roundRect">
            <a:avLst>
              <a:gd name="adj" fmla="val 13955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9" name="Text 37"/>
          <p:cNvSpPr/>
          <p:nvPr/>
        </p:nvSpPr>
        <p:spPr>
          <a:xfrm>
            <a:off x="10735733" y="7033155"/>
            <a:ext cx="6166843" cy="334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Variance above 10% → controller queue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0390849" y="7902774"/>
            <a:ext cx="6667501" cy="1629503"/>
          </a:xfrm>
          <a:prstGeom prst="roundRect">
            <a:avLst>
              <a:gd name="adj" fmla="val 7014"/>
            </a:avLst>
          </a:prstGeom>
          <a:solidFill>
            <a:srgbClr val="F2F9FC"/>
          </a:solidFill>
          <a:ln w="10583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1" name="Text 39"/>
          <p:cNvSpPr/>
          <p:nvPr/>
        </p:nvSpPr>
        <p:spPr>
          <a:xfrm>
            <a:off x="10572750" y="8084675"/>
            <a:ext cx="2396364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NEEDS A HUMAN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4227639" y="8084675"/>
            <a:ext cx="291369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M. Duarte · AP controller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0572750" y="8455091"/>
            <a:ext cx="693406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 the rule for the daily run?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10572750" y="8836091"/>
            <a:ext cx="1127952" cy="503701"/>
          </a:xfrm>
          <a:prstGeom prst="roundRect">
            <a:avLst>
              <a:gd name="adj" fmla="val 15128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43"/>
          <p:cNvSpPr/>
          <p:nvPr/>
        </p:nvSpPr>
        <p:spPr>
          <a:xfrm>
            <a:off x="10763250" y="8950391"/>
            <a:ext cx="823152" cy="31320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1833986" y="8825508"/>
            <a:ext cx="1831909" cy="524867"/>
          </a:xfrm>
          <a:prstGeom prst="roundRect">
            <a:avLst>
              <a:gd name="adj" fmla="val 14518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7" name="Text 45"/>
          <p:cNvSpPr/>
          <p:nvPr/>
        </p:nvSpPr>
        <p:spPr>
          <a:xfrm>
            <a:off x="12035069" y="8950392"/>
            <a:ext cx="1505942" cy="31320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manual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6044500" y="8950358"/>
            <a:ext cx="90814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6F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Logged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1460493" cy="683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kern="0" spc="-8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 with business applications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952500" y="1712350"/>
            <a:ext cx="3320521" cy="3791976"/>
          </a:xfrm>
          <a:prstGeom prst="roundRect">
            <a:avLst>
              <a:gd name="adj" fmla="val 4590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" name="Text 2"/>
          <p:cNvSpPr/>
          <p:nvPr/>
        </p:nvSpPr>
        <p:spPr>
          <a:xfrm>
            <a:off x="1305884" y="2065735"/>
            <a:ext cx="2875128" cy="503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05884" y="2645668"/>
            <a:ext cx="2875128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ERP · FI-AP, GL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05884" y="4875775"/>
            <a:ext cx="287512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6F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Connected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01555" y="1712350"/>
            <a:ext cx="3320521" cy="3791976"/>
          </a:xfrm>
          <a:prstGeom prst="roundRect">
            <a:avLst>
              <a:gd name="adj" fmla="val 4590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" name="Text 6"/>
          <p:cNvSpPr/>
          <p:nvPr/>
        </p:nvSpPr>
        <p:spPr>
          <a:xfrm>
            <a:off x="4854939" y="2065735"/>
            <a:ext cx="2875128" cy="503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Salesforce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854939" y="2645668"/>
            <a:ext cx="2875128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 · accounts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4854939" y="4875775"/>
            <a:ext cx="287512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6F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Connected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050610" y="1712350"/>
            <a:ext cx="3320521" cy="3791976"/>
          </a:xfrm>
          <a:prstGeom prst="roundRect">
            <a:avLst>
              <a:gd name="adj" fmla="val 4590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" name="Text 10"/>
          <p:cNvSpPr/>
          <p:nvPr/>
        </p:nvSpPr>
        <p:spPr>
          <a:xfrm>
            <a:off x="8403994" y="2065735"/>
            <a:ext cx="2875128" cy="503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403994" y="2645668"/>
            <a:ext cx="2875128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 · datasets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8403994" y="4875775"/>
            <a:ext cx="287512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6F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Connected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52500" y="5732859"/>
            <a:ext cx="3320521" cy="3792141"/>
          </a:xfrm>
          <a:prstGeom prst="roundRect">
            <a:avLst>
              <a:gd name="adj" fmla="val 4590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6" name="Text 14"/>
          <p:cNvSpPr/>
          <p:nvPr/>
        </p:nvSpPr>
        <p:spPr>
          <a:xfrm>
            <a:off x="1305884" y="6086244"/>
            <a:ext cx="2875128" cy="503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305884" y="6666177"/>
            <a:ext cx="2875128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Workbooks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305884" y="8896449"/>
            <a:ext cx="287512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6F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Connected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501555" y="5732859"/>
            <a:ext cx="3320521" cy="3792141"/>
          </a:xfrm>
          <a:prstGeom prst="roundRect">
            <a:avLst>
              <a:gd name="adj" fmla="val 4590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0" name="Text 18"/>
          <p:cNvSpPr/>
          <p:nvPr/>
        </p:nvSpPr>
        <p:spPr>
          <a:xfrm>
            <a:off x="4854939" y="6086244"/>
            <a:ext cx="2875128" cy="503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Teams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854939" y="6666177"/>
            <a:ext cx="2875128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Approvals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4854939" y="8896449"/>
            <a:ext cx="287512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6F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Connected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050610" y="5732859"/>
            <a:ext cx="3320521" cy="3792141"/>
          </a:xfrm>
          <a:prstGeom prst="roundRect">
            <a:avLst>
              <a:gd name="adj" fmla="val 4590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4" name="Text 22"/>
          <p:cNvSpPr/>
          <p:nvPr/>
        </p:nvSpPr>
        <p:spPr>
          <a:xfrm>
            <a:off x="8403994" y="6086244"/>
            <a:ext cx="2875128" cy="503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SharePoint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8403994" y="6666177"/>
            <a:ext cx="2875128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Documents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8403994" y="8896449"/>
            <a:ext cx="287512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6F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Connected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1637699" y="762000"/>
            <a:ext cx="5697802" cy="8763001"/>
          </a:xfrm>
          <a:prstGeom prst="roundRect">
            <a:avLst>
              <a:gd name="adj" fmla="val 2675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8" name="Shape 26"/>
          <p:cNvSpPr/>
          <p:nvPr/>
        </p:nvSpPr>
        <p:spPr>
          <a:xfrm>
            <a:off x="11914849" y="1176569"/>
            <a:ext cx="114267" cy="114267"/>
          </a:xfrm>
          <a:prstGeom prst="ellipse">
            <a:avLst/>
          </a:prstGeom>
          <a:solidFill>
            <a:srgbClr val="00A1E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9" name="Text 27"/>
          <p:cNvSpPr/>
          <p:nvPr/>
        </p:nvSpPr>
        <p:spPr>
          <a:xfrm>
            <a:off x="12143383" y="1080327"/>
            <a:ext cx="2075673" cy="345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AIHub assistant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16306106" y="1039151"/>
            <a:ext cx="752244" cy="389268"/>
          </a:xfrm>
          <a:prstGeom prst="roundRect">
            <a:avLst>
              <a:gd name="adj" fmla="val 9788"/>
            </a:avLst>
          </a:prstGeom>
          <a:solidFill>
            <a:srgbClr val="DDEFF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1" name="Text 29"/>
          <p:cNvSpPr/>
          <p:nvPr/>
        </p:nvSpPr>
        <p:spPr>
          <a:xfrm>
            <a:off x="16420406" y="1096301"/>
            <a:ext cx="599844" cy="31306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3067771" y="1580720"/>
            <a:ext cx="3990578" cy="503701"/>
          </a:xfrm>
          <a:prstGeom prst="roundRect">
            <a:avLst>
              <a:gd name="adj" fmla="val 22692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3" name="Text 31"/>
          <p:cNvSpPr/>
          <p:nvPr/>
        </p:nvSpPr>
        <p:spPr>
          <a:xfrm>
            <a:off x="13239221" y="1695020"/>
            <a:ext cx="3767396" cy="31320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do the contract terms live?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1914849" y="2236721"/>
            <a:ext cx="5297805" cy="9975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18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SharePoint holds the signed agreement; Salesforce holds the commercial rate card. AIHub reads both through their MCP servers.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1914849" y="3348468"/>
            <a:ext cx="2827834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SharePoint · documents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6057729" y="3348468"/>
            <a:ext cx="1076821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tool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1914849" y="3699702"/>
            <a:ext cx="5143500" cy="95250"/>
          </a:xfrm>
          <a:prstGeom prst="roundRect">
            <a:avLst>
              <a:gd name="adj" fmla="val 50000"/>
            </a:avLst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8" name="Shape 36"/>
          <p:cNvSpPr/>
          <p:nvPr/>
        </p:nvSpPr>
        <p:spPr>
          <a:xfrm>
            <a:off x="11914849" y="3699702"/>
            <a:ext cx="5143500" cy="95250"/>
          </a:xfrm>
          <a:prstGeom prst="roundRect">
            <a:avLst>
              <a:gd name="adj" fmla="val 5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9" name="Text 37"/>
          <p:cNvSpPr/>
          <p:nvPr/>
        </p:nvSpPr>
        <p:spPr>
          <a:xfrm>
            <a:off x="11914849" y="3909219"/>
            <a:ext cx="2537520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Salesforce · rate card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6057729" y="3909219"/>
            <a:ext cx="1076821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tool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1914849" y="4260453"/>
            <a:ext cx="5143500" cy="95250"/>
          </a:xfrm>
          <a:prstGeom prst="roundRect">
            <a:avLst>
              <a:gd name="adj" fmla="val 50000"/>
            </a:avLst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2" name="Shape 40"/>
          <p:cNvSpPr/>
          <p:nvPr/>
        </p:nvSpPr>
        <p:spPr>
          <a:xfrm>
            <a:off x="11914849" y="4260453"/>
            <a:ext cx="5143500" cy="95250"/>
          </a:xfrm>
          <a:prstGeom prst="roundRect">
            <a:avLst>
              <a:gd name="adj" fmla="val 5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3" name="Text 41"/>
          <p:cNvSpPr/>
          <p:nvPr/>
        </p:nvSpPr>
        <p:spPr>
          <a:xfrm>
            <a:off x="11914849" y="4469970"/>
            <a:ext cx="1724786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SAP · postings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6057729" y="4469970"/>
            <a:ext cx="1076821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tool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1914849" y="4821205"/>
            <a:ext cx="5143500" cy="95250"/>
          </a:xfrm>
          <a:prstGeom prst="roundRect">
            <a:avLst>
              <a:gd name="adj" fmla="val 50000"/>
            </a:avLst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6" name="Shape 44"/>
          <p:cNvSpPr/>
          <p:nvPr/>
        </p:nvSpPr>
        <p:spPr>
          <a:xfrm>
            <a:off x="11914849" y="4821205"/>
            <a:ext cx="5143500" cy="95250"/>
          </a:xfrm>
          <a:prstGeom prst="roundRect">
            <a:avLst>
              <a:gd name="adj" fmla="val 5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7" name="Shape 45"/>
          <p:cNvSpPr/>
          <p:nvPr/>
        </p:nvSpPr>
        <p:spPr>
          <a:xfrm>
            <a:off x="11914849" y="5068756"/>
            <a:ext cx="5143500" cy="2370336"/>
          </a:xfrm>
          <a:prstGeom prst="roundRect">
            <a:avLst>
              <a:gd name="adj" fmla="val 4822"/>
            </a:avLst>
          </a:prstGeom>
          <a:solidFill>
            <a:srgbClr val="F4F3F8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8" name="Text 46"/>
          <p:cNvSpPr/>
          <p:nvPr/>
        </p:nvSpPr>
        <p:spPr>
          <a:xfrm>
            <a:off x="12096750" y="5250656"/>
            <a:ext cx="525766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AS TOOL SET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2096750" y="5621073"/>
            <a:ext cx="525766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SharePoint search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2096750" y="5991490"/>
            <a:ext cx="525766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Salesforce account read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12096750" y="6361906"/>
            <a:ext cx="525766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SAP invoice read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12096750" y="6770357"/>
            <a:ext cx="883708" cy="486833"/>
          </a:xfrm>
          <a:prstGeom prst="roundRect">
            <a:avLst>
              <a:gd name="adj" fmla="val 15652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3" name="Text 51"/>
          <p:cNvSpPr/>
          <p:nvPr/>
        </p:nvSpPr>
        <p:spPr>
          <a:xfrm>
            <a:off x="12268200" y="6865607"/>
            <a:ext cx="61700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13094726" y="6770357"/>
            <a:ext cx="1208980" cy="486833"/>
          </a:xfrm>
          <a:prstGeom prst="roundRect">
            <a:avLst>
              <a:gd name="adj" fmla="val 15652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5" name="Text 53"/>
          <p:cNvSpPr/>
          <p:nvPr/>
        </p:nvSpPr>
        <p:spPr>
          <a:xfrm>
            <a:off x="13276760" y="6876190"/>
            <a:ext cx="921114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Discard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11914849" y="7743693"/>
            <a:ext cx="5143500" cy="1933112"/>
          </a:xfrm>
          <a:prstGeom prst="roundRect">
            <a:avLst>
              <a:gd name="adj" fmla="val 5913"/>
            </a:avLst>
          </a:prstGeom>
          <a:solidFill>
            <a:srgbClr val="F2F9FC"/>
          </a:solidFill>
          <a:ln w="10583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7" name="Text 55"/>
          <p:cNvSpPr/>
          <p:nvPr/>
        </p:nvSpPr>
        <p:spPr>
          <a:xfrm>
            <a:off x="12096750" y="7925594"/>
            <a:ext cx="2331062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NEEDS A HUMAN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15026019" y="7925594"/>
            <a:ext cx="2035473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D. Frey · Platform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12096750" y="8296011"/>
            <a:ext cx="4923089" cy="6549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154"/>
              </a:lnSpc>
              <a:buNone/>
            </a:pPr>
            <a:r>
              <a:rPr lang="en-US" sz="18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Grant the agent write access to ServiceNow?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12096750" y="9018654"/>
            <a:ext cx="1432553" cy="465667"/>
          </a:xfrm>
          <a:prstGeom prst="roundRect">
            <a:avLst>
              <a:gd name="adj" fmla="val 16364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1" name="Text 59"/>
          <p:cNvSpPr/>
          <p:nvPr/>
        </p:nvSpPr>
        <p:spPr>
          <a:xfrm>
            <a:off x="12268200" y="9113904"/>
            <a:ext cx="1165853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only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13643571" y="9008071"/>
            <a:ext cx="1191617" cy="486833"/>
          </a:xfrm>
          <a:prstGeom prst="roundRect">
            <a:avLst>
              <a:gd name="adj" fmla="val 15652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3" name="Text 61"/>
          <p:cNvSpPr/>
          <p:nvPr/>
        </p:nvSpPr>
        <p:spPr>
          <a:xfrm>
            <a:off x="13825604" y="9113904"/>
            <a:ext cx="903751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Decline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16044500" y="9113904"/>
            <a:ext cx="908149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6F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Logged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5682953" cy="683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kern="0" spc="-8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Apps, MCP and tools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347354" y="1037167"/>
            <a:ext cx="4836203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 · intelligent cash forecasting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952500" y="1712350"/>
            <a:ext cx="4707268" cy="7812650"/>
          </a:xfrm>
          <a:prstGeom prst="roundRect">
            <a:avLst>
              <a:gd name="adj" fmla="val 3238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Text 3"/>
          <p:cNvSpPr/>
          <p:nvPr/>
        </p:nvSpPr>
        <p:spPr>
          <a:xfrm>
            <a:off x="1305884" y="2065735"/>
            <a:ext cx="440055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KPIS IMPACTED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05884" y="2474185"/>
            <a:ext cx="4120515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400"/>
              </a:lnSpc>
              <a:buNone/>
            </a:pPr>
            <a:r>
              <a:rPr lang="en-US" sz="21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Forecast accuracy Days to close Cost per invoice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05884" y="4020675"/>
            <a:ext cx="440055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 BENEFIT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05884" y="4429125"/>
            <a:ext cx="4120515" cy="89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400"/>
              </a:lnSpc>
              <a:buNone/>
            </a:pPr>
            <a:r>
              <a:rPr lang="en-US" sz="21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capital released Cost savings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05884" y="8143214"/>
            <a:ext cx="4120515" cy="10665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615"/>
              </a:lnSpc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step runs on the same governed context, so the scenario repeats across entities.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26336" y="1712350"/>
            <a:ext cx="3676055" cy="3810992"/>
          </a:xfrm>
          <a:prstGeom prst="roundRect">
            <a:avLst>
              <a:gd name="adj" fmla="val 4146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" name="Text 9"/>
          <p:cNvSpPr/>
          <p:nvPr/>
        </p:nvSpPr>
        <p:spPr>
          <a:xfrm>
            <a:off x="6203487" y="1989501"/>
            <a:ext cx="3215405" cy="67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</a:t>
            </a:r>
            <a:r>
              <a:rPr lang="en-US" sz="21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 and cleanse data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203487" y="2757785"/>
            <a:ext cx="3121753" cy="702469"/>
          </a:xfrm>
          <a:prstGeom prst="roundRect">
            <a:avLst>
              <a:gd name="adj" fmla="val 5424"/>
            </a:avLst>
          </a:prstGeom>
          <a:solidFill>
            <a:srgbClr val="DDEFF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" name="Text 11"/>
          <p:cNvSpPr/>
          <p:nvPr/>
        </p:nvSpPr>
        <p:spPr>
          <a:xfrm>
            <a:off x="6336837" y="2833985"/>
            <a:ext cx="2948705" cy="588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SDK · Rclone, MinerU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03487" y="3593538"/>
            <a:ext cx="3121753" cy="1605029"/>
          </a:xfrm>
          <a:prstGeom prst="roundRect">
            <a:avLst>
              <a:gd name="adj" fmla="val 4748"/>
            </a:avLst>
          </a:prstGeom>
          <a:solidFill>
            <a:srgbClr val="F4F3F8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" name="Text 13"/>
          <p:cNvSpPr/>
          <p:nvPr/>
        </p:nvSpPr>
        <p:spPr>
          <a:xfrm>
            <a:off x="6366470" y="3756521"/>
            <a:ext cx="2889439" cy="1317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Sync the contract folder and normalize the AP extract before it is indexed.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792891" y="1712350"/>
            <a:ext cx="3676055" cy="3810992"/>
          </a:xfrm>
          <a:prstGeom prst="roundRect">
            <a:avLst>
              <a:gd name="adj" fmla="val 4146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" name="Text 15"/>
          <p:cNvSpPr/>
          <p:nvPr/>
        </p:nvSpPr>
        <p:spPr>
          <a:xfrm>
            <a:off x="10070042" y="1989501"/>
            <a:ext cx="3433928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</a:t>
            </a:r>
            <a:r>
              <a:rPr lang="en-US" sz="21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the systems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0070042" y="2440285"/>
            <a:ext cx="3121753" cy="702469"/>
          </a:xfrm>
          <a:prstGeom prst="roundRect">
            <a:avLst>
              <a:gd name="adj" fmla="val 5424"/>
            </a:avLst>
          </a:prstGeom>
          <a:solidFill>
            <a:srgbClr val="DDEFF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9" name="Text 17"/>
          <p:cNvSpPr/>
          <p:nvPr/>
        </p:nvSpPr>
        <p:spPr>
          <a:xfrm>
            <a:off x="10203392" y="2516485"/>
            <a:ext cx="2948705" cy="588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servers · SAP, Salesforce, Power BI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070042" y="3276038"/>
            <a:ext cx="3121753" cy="1605029"/>
          </a:xfrm>
          <a:prstGeom prst="roundRect">
            <a:avLst>
              <a:gd name="adj" fmla="val 4748"/>
            </a:avLst>
          </a:prstGeom>
          <a:solidFill>
            <a:srgbClr val="F4F3F8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1" name="Text 19"/>
          <p:cNvSpPr/>
          <p:nvPr/>
        </p:nvSpPr>
        <p:spPr>
          <a:xfrm>
            <a:off x="10233026" y="3439021"/>
            <a:ext cx="2889439" cy="1317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 the ERP MCP server and expose read-only invoice and vendor tools.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3659446" y="1712350"/>
            <a:ext cx="3676055" cy="3810992"/>
          </a:xfrm>
          <a:prstGeom prst="roundRect">
            <a:avLst>
              <a:gd name="adj" fmla="val 4146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3" name="Text 21"/>
          <p:cNvSpPr/>
          <p:nvPr/>
        </p:nvSpPr>
        <p:spPr>
          <a:xfrm>
            <a:off x="13936597" y="1989501"/>
            <a:ext cx="3433928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</a:t>
            </a:r>
            <a:r>
              <a:rPr lang="en-US" sz="21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 the data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3936597" y="2440285"/>
            <a:ext cx="3121753" cy="702469"/>
          </a:xfrm>
          <a:prstGeom prst="roundRect">
            <a:avLst>
              <a:gd name="adj" fmla="val 5424"/>
            </a:avLst>
          </a:prstGeom>
          <a:solidFill>
            <a:srgbClr val="DDEFF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5" name="Text 23"/>
          <p:cNvSpPr/>
          <p:nvPr/>
        </p:nvSpPr>
        <p:spPr>
          <a:xfrm>
            <a:off x="14069947" y="2516485"/>
            <a:ext cx="2948705" cy="588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AIHub Ask · governed SQL tool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3936597" y="3276038"/>
            <a:ext cx="3121753" cy="1285214"/>
          </a:xfrm>
          <a:prstGeom prst="roundRect">
            <a:avLst>
              <a:gd name="adj" fmla="val 5929"/>
            </a:avLst>
          </a:prstGeom>
          <a:solidFill>
            <a:srgbClr val="F4F3F8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7" name="Text 25"/>
          <p:cNvSpPr/>
          <p:nvPr/>
        </p:nvSpPr>
        <p:spPr>
          <a:xfrm>
            <a:off x="14099580" y="3439021"/>
            <a:ext cx="2889439" cy="9973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are my top 3 spend categories by variance over the last 3 years?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926336" y="5713843"/>
            <a:ext cx="3676055" cy="3811158"/>
          </a:xfrm>
          <a:prstGeom prst="roundRect">
            <a:avLst>
              <a:gd name="adj" fmla="val 4146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9" name="Text 27"/>
          <p:cNvSpPr/>
          <p:nvPr/>
        </p:nvSpPr>
        <p:spPr>
          <a:xfrm>
            <a:off x="6203487" y="5990994"/>
            <a:ext cx="3433928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</a:t>
            </a:r>
            <a:r>
              <a:rPr lang="en-US" sz="21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Forecast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6203487" y="6441778"/>
            <a:ext cx="3121753" cy="702469"/>
          </a:xfrm>
          <a:prstGeom prst="roundRect">
            <a:avLst>
              <a:gd name="adj" fmla="val 5424"/>
            </a:avLst>
          </a:prstGeom>
          <a:solidFill>
            <a:srgbClr val="DDEFF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1" name="Text 29"/>
          <p:cNvSpPr/>
          <p:nvPr/>
        </p:nvSpPr>
        <p:spPr>
          <a:xfrm>
            <a:off x="6336837" y="6517978"/>
            <a:ext cx="2948705" cy="588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SDK · forecasting tool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203487" y="7277530"/>
            <a:ext cx="3121753" cy="1285214"/>
          </a:xfrm>
          <a:prstGeom prst="roundRect">
            <a:avLst>
              <a:gd name="adj" fmla="val 5929"/>
            </a:avLst>
          </a:prstGeom>
          <a:solidFill>
            <a:srgbClr val="F4F3F8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3" name="Text 31"/>
          <p:cNvSpPr/>
          <p:nvPr/>
        </p:nvSpPr>
        <p:spPr>
          <a:xfrm>
            <a:off x="6366470" y="7440514"/>
            <a:ext cx="2889439" cy="9973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Forecast the cash position by entity for the next two quarters.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9792891" y="5713843"/>
            <a:ext cx="3676055" cy="3811158"/>
          </a:xfrm>
          <a:prstGeom prst="roundRect">
            <a:avLst>
              <a:gd name="adj" fmla="val 4146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5" name="Text 33"/>
          <p:cNvSpPr/>
          <p:nvPr/>
        </p:nvSpPr>
        <p:spPr>
          <a:xfrm>
            <a:off x="10070042" y="5990994"/>
            <a:ext cx="3433928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</a:t>
            </a:r>
            <a:r>
              <a:rPr lang="en-US" sz="21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and adjust</a:t>
            </a:r>
            <a:endParaRPr lang="en-US" sz="2100" dirty="0"/>
          </a:p>
        </p:txBody>
      </p:sp>
      <p:sp>
        <p:nvSpPr>
          <p:cNvPr id="36" name="Shape 34"/>
          <p:cNvSpPr/>
          <p:nvPr/>
        </p:nvSpPr>
        <p:spPr>
          <a:xfrm>
            <a:off x="10070042" y="6441778"/>
            <a:ext cx="3121753" cy="702469"/>
          </a:xfrm>
          <a:prstGeom prst="roundRect">
            <a:avLst>
              <a:gd name="adj" fmla="val 5424"/>
            </a:avLst>
          </a:prstGeom>
          <a:solidFill>
            <a:srgbClr val="DDEFF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7" name="Text 35"/>
          <p:cNvSpPr/>
          <p:nvPr/>
        </p:nvSpPr>
        <p:spPr>
          <a:xfrm>
            <a:off x="10203392" y="6517978"/>
            <a:ext cx="2948705" cy="588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in the loop · Teams bot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0070042" y="7277530"/>
            <a:ext cx="3121753" cy="1285214"/>
          </a:xfrm>
          <a:prstGeom prst="roundRect">
            <a:avLst>
              <a:gd name="adj" fmla="val 5929"/>
            </a:avLst>
          </a:prstGeom>
          <a:solidFill>
            <a:srgbClr val="F4F3F8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9" name="Text 37"/>
          <p:cNvSpPr/>
          <p:nvPr/>
        </p:nvSpPr>
        <p:spPr>
          <a:xfrm>
            <a:off x="10233026" y="7440514"/>
            <a:ext cx="2889439" cy="9973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 any variance above 10% to the controller for sign-off.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3659446" y="5713843"/>
            <a:ext cx="3676055" cy="3811158"/>
          </a:xfrm>
          <a:prstGeom prst="roundRect">
            <a:avLst>
              <a:gd name="adj" fmla="val 4146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1" name="Text 39"/>
          <p:cNvSpPr/>
          <p:nvPr/>
        </p:nvSpPr>
        <p:spPr>
          <a:xfrm>
            <a:off x="13936597" y="5990994"/>
            <a:ext cx="3433928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</a:t>
            </a:r>
            <a:r>
              <a:rPr lang="en-US" sz="21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Communicate</a:t>
            </a:r>
            <a:endParaRPr lang="en-US" sz="2100" dirty="0"/>
          </a:p>
        </p:txBody>
      </p:sp>
      <p:sp>
        <p:nvSpPr>
          <p:cNvPr id="42" name="Shape 40"/>
          <p:cNvSpPr/>
          <p:nvPr/>
        </p:nvSpPr>
        <p:spPr>
          <a:xfrm>
            <a:off x="13936597" y="6441778"/>
            <a:ext cx="3121753" cy="702469"/>
          </a:xfrm>
          <a:prstGeom prst="roundRect">
            <a:avLst>
              <a:gd name="adj" fmla="val 5424"/>
            </a:avLst>
          </a:prstGeom>
          <a:solidFill>
            <a:srgbClr val="DDEFF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3" name="Text 41"/>
          <p:cNvSpPr/>
          <p:nvPr/>
        </p:nvSpPr>
        <p:spPr>
          <a:xfrm>
            <a:off x="14069947" y="6517978"/>
            <a:ext cx="2948705" cy="588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 agent · Excel, Teams, Power BI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13936597" y="7277530"/>
            <a:ext cx="3121753" cy="1605029"/>
          </a:xfrm>
          <a:prstGeom prst="roundRect">
            <a:avLst>
              <a:gd name="adj" fmla="val 4748"/>
            </a:avLst>
          </a:prstGeom>
          <a:solidFill>
            <a:srgbClr val="F4F3F8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5" name="Text 43"/>
          <p:cNvSpPr/>
          <p:nvPr/>
        </p:nvSpPr>
        <p:spPr>
          <a:xfrm>
            <a:off x="14099580" y="7440514"/>
            <a:ext cx="2889439" cy="1317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Summarize the forecast, highlight the top three categories, post to the finance channel.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5227472" cy="683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kern="0" spc="-8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Finance dashboard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933281" y="1037167"/>
            <a:ext cx="4712329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Accounts payable · rolling 12 months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952500" y="1712350"/>
            <a:ext cx="3320521" cy="2662701"/>
          </a:xfrm>
          <a:prstGeom prst="roundRect">
            <a:avLst>
              <a:gd name="adj" fmla="val 5724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Text 3"/>
          <p:cNvSpPr/>
          <p:nvPr/>
        </p:nvSpPr>
        <p:spPr>
          <a:xfrm>
            <a:off x="1267850" y="2027701"/>
            <a:ext cx="2770515" cy="588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EXCEPTION RATE, AUG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67850" y="2578034"/>
            <a:ext cx="2958802" cy="778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2.1%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4501555" y="1712350"/>
            <a:ext cx="3320521" cy="2662701"/>
          </a:xfrm>
          <a:prstGeom prst="roundRect">
            <a:avLst>
              <a:gd name="adj" fmla="val 5724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" name="Text 6"/>
          <p:cNvSpPr/>
          <p:nvPr/>
        </p:nvSpPr>
        <p:spPr>
          <a:xfrm>
            <a:off x="4816905" y="2027701"/>
            <a:ext cx="2770515" cy="588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 UNDER REVIEW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16905" y="2578034"/>
            <a:ext cx="2770515" cy="151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$ 136,430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8050610" y="1712350"/>
            <a:ext cx="3320521" cy="2662701"/>
          </a:xfrm>
          <a:prstGeom prst="roundRect">
            <a:avLst>
              <a:gd name="adj" fmla="val 5724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" name="Text 9"/>
          <p:cNvSpPr/>
          <p:nvPr/>
        </p:nvSpPr>
        <p:spPr>
          <a:xfrm>
            <a:off x="8365960" y="2027701"/>
            <a:ext cx="2770515" cy="588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AVG. DAYS TO CLEAR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65960" y="2578034"/>
            <a:ext cx="2958802" cy="778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4.2 days</a:t>
            </a:r>
            <a:endParaRPr lang="en-US" sz="4800" dirty="0"/>
          </a:p>
        </p:txBody>
      </p:sp>
      <p:sp>
        <p:nvSpPr>
          <p:cNvPr id="13" name="Shape 11"/>
          <p:cNvSpPr/>
          <p:nvPr/>
        </p:nvSpPr>
        <p:spPr>
          <a:xfrm>
            <a:off x="952500" y="4679818"/>
            <a:ext cx="4911328" cy="5448102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" name="Text 12"/>
          <p:cNvSpPr/>
          <p:nvPr/>
        </p:nvSpPr>
        <p:spPr>
          <a:xfrm>
            <a:off x="1305884" y="5033202"/>
            <a:ext cx="4330697" cy="588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EXCEPTION RATE BY MONTH (%)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305884" y="6895869"/>
            <a:ext cx="208029" cy="2476500"/>
          </a:xfrm>
          <a:custGeom>
            <a:avLst/>
            <a:gdLst/>
            <a:ahLst/>
            <a:cxnLst/>
            <a:rect l="l" t="t" r="r" b="b"/>
            <a:pathLst>
              <a:path w="208029" h="2476500">
                <a:moveTo>
                  <a:pt x="38100" y="0"/>
                </a:moveTo>
                <a:lnTo>
                  <a:pt x="169929" y="0"/>
                </a:lnTo>
                <a:arcTo wR="38100" hR="38100" stAng="16200000" swAng="5400000"/>
                <a:lnTo>
                  <a:pt x="208029" y="2476500"/>
                </a:lnTo>
                <a:lnTo>
                  <a:pt x="0" y="2476500"/>
                </a:lnTo>
                <a:lnTo>
                  <a:pt x="0" y="38100"/>
                </a:lnTo>
                <a:arcTo wR="38100" hR="38100" stAng="10800000" swAng="5400000"/>
                <a:close/>
              </a:path>
            </a:pathLst>
          </a:custGeom>
          <a:solidFill>
            <a:srgbClr val="A8CED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4"/>
          <p:cNvSpPr/>
          <p:nvPr/>
        </p:nvSpPr>
        <p:spPr>
          <a:xfrm>
            <a:off x="1330358" y="9467619"/>
            <a:ext cx="235115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666214" y="7296051"/>
            <a:ext cx="208194" cy="2076318"/>
          </a:xfrm>
          <a:custGeom>
            <a:avLst/>
            <a:gdLst/>
            <a:ahLst/>
            <a:cxnLst/>
            <a:rect l="l" t="t" r="r" b="b"/>
            <a:pathLst>
              <a:path w="208194" h="2076318">
                <a:moveTo>
                  <a:pt x="38100" y="0"/>
                </a:moveTo>
                <a:lnTo>
                  <a:pt x="170094" y="0"/>
                </a:lnTo>
                <a:arcTo wR="38100" hR="38100" stAng="16200000" swAng="5400000"/>
                <a:lnTo>
                  <a:pt x="208194" y="2076318"/>
                </a:lnTo>
                <a:lnTo>
                  <a:pt x="0" y="2076318"/>
                </a:lnTo>
                <a:lnTo>
                  <a:pt x="0" y="38100"/>
                </a:lnTo>
                <a:arcTo wR="38100" hR="38100" stAng="10800000" swAng="5400000"/>
                <a:close/>
              </a:path>
            </a:pathLst>
          </a:custGeom>
          <a:solidFill>
            <a:srgbClr val="A8CED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Text 16"/>
          <p:cNvSpPr/>
          <p:nvPr/>
        </p:nvSpPr>
        <p:spPr>
          <a:xfrm>
            <a:off x="1675474" y="9467619"/>
            <a:ext cx="265708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2026708" y="6648318"/>
            <a:ext cx="208194" cy="2724051"/>
          </a:xfrm>
          <a:custGeom>
            <a:avLst/>
            <a:gdLst/>
            <a:ahLst/>
            <a:cxnLst/>
            <a:rect l="l" t="t" r="r" b="b"/>
            <a:pathLst>
              <a:path w="208194" h="2724051">
                <a:moveTo>
                  <a:pt x="38100" y="0"/>
                </a:moveTo>
                <a:lnTo>
                  <a:pt x="170094" y="0"/>
                </a:lnTo>
                <a:arcTo wR="38100" hR="38100" stAng="16200000" swAng="5400000"/>
                <a:lnTo>
                  <a:pt x="208194" y="2724051"/>
                </a:lnTo>
                <a:lnTo>
                  <a:pt x="0" y="2724051"/>
                </a:lnTo>
                <a:lnTo>
                  <a:pt x="0" y="38100"/>
                </a:lnTo>
                <a:arcTo wR="38100" hR="38100" stAng="10800000" swAng="5400000"/>
                <a:close/>
              </a:path>
            </a:pathLst>
          </a:custGeom>
          <a:solidFill>
            <a:srgbClr val="A8CED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0" name="Text 18"/>
          <p:cNvSpPr/>
          <p:nvPr/>
        </p:nvSpPr>
        <p:spPr>
          <a:xfrm>
            <a:off x="2037457" y="9467619"/>
            <a:ext cx="262897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2387203" y="7048335"/>
            <a:ext cx="208194" cy="2324034"/>
          </a:xfrm>
          <a:custGeom>
            <a:avLst/>
            <a:gdLst/>
            <a:ahLst/>
            <a:cxnLst/>
            <a:rect l="l" t="t" r="r" b="b"/>
            <a:pathLst>
              <a:path w="208194" h="2324034">
                <a:moveTo>
                  <a:pt x="38100" y="0"/>
                </a:moveTo>
                <a:lnTo>
                  <a:pt x="170094" y="0"/>
                </a:lnTo>
                <a:arcTo wR="38100" hR="38100" stAng="16200000" swAng="5400000"/>
                <a:lnTo>
                  <a:pt x="208194" y="2324034"/>
                </a:lnTo>
                <a:lnTo>
                  <a:pt x="0" y="2324034"/>
                </a:lnTo>
                <a:lnTo>
                  <a:pt x="0" y="38100"/>
                </a:lnTo>
                <a:arcTo wR="38100" hR="38100" stAng="10800000" swAng="5400000"/>
                <a:close/>
              </a:path>
            </a:pathLst>
          </a:custGeom>
          <a:solidFill>
            <a:srgbClr val="A8CED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2" name="Text 20"/>
          <p:cNvSpPr/>
          <p:nvPr/>
        </p:nvSpPr>
        <p:spPr>
          <a:xfrm>
            <a:off x="2401921" y="9467619"/>
            <a:ext cx="254959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2747698" y="6019602"/>
            <a:ext cx="208194" cy="3352767"/>
          </a:xfrm>
          <a:custGeom>
            <a:avLst/>
            <a:gdLst/>
            <a:ahLst/>
            <a:cxnLst/>
            <a:rect l="l" t="t" r="r" b="b"/>
            <a:pathLst>
              <a:path w="208194" h="3352767">
                <a:moveTo>
                  <a:pt x="38100" y="0"/>
                </a:moveTo>
                <a:lnTo>
                  <a:pt x="170094" y="0"/>
                </a:lnTo>
                <a:arcTo wR="38100" hR="38100" stAng="16200000" swAng="5400000"/>
                <a:lnTo>
                  <a:pt x="208194" y="3352767"/>
                </a:lnTo>
                <a:lnTo>
                  <a:pt x="0" y="3352767"/>
                </a:lnTo>
                <a:lnTo>
                  <a:pt x="0" y="38100"/>
                </a:lnTo>
                <a:arcTo wR="38100" hR="38100" stAng="10800000" swAng="5400000"/>
                <a:close/>
              </a:path>
            </a:pathLst>
          </a:custGeom>
          <a:solidFill>
            <a:srgbClr val="A8CED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4" name="Text 22"/>
          <p:cNvSpPr/>
          <p:nvPr/>
        </p:nvSpPr>
        <p:spPr>
          <a:xfrm>
            <a:off x="2781102" y="9467619"/>
            <a:ext cx="217587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3108193" y="6495852"/>
            <a:ext cx="208194" cy="2876517"/>
          </a:xfrm>
          <a:custGeom>
            <a:avLst/>
            <a:gdLst/>
            <a:ahLst/>
            <a:cxnLst/>
            <a:rect l="l" t="t" r="r" b="b"/>
            <a:pathLst>
              <a:path w="208194" h="2876517">
                <a:moveTo>
                  <a:pt x="38100" y="0"/>
                </a:moveTo>
                <a:lnTo>
                  <a:pt x="170094" y="0"/>
                </a:lnTo>
                <a:arcTo wR="38100" hR="38100" stAng="16200000" swAng="5400000"/>
                <a:lnTo>
                  <a:pt x="208194" y="2876517"/>
                </a:lnTo>
                <a:lnTo>
                  <a:pt x="0" y="2876517"/>
                </a:lnTo>
                <a:lnTo>
                  <a:pt x="0" y="38100"/>
                </a:lnTo>
                <a:arcTo wR="38100" hR="38100" stAng="10800000" swAng="5400000"/>
                <a:close/>
              </a:path>
            </a:pathLst>
          </a:custGeom>
          <a:solidFill>
            <a:srgbClr val="A8CED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6" name="Text 24"/>
          <p:cNvSpPr/>
          <p:nvPr/>
        </p:nvSpPr>
        <p:spPr>
          <a:xfrm>
            <a:off x="3139116" y="9467619"/>
            <a:ext cx="222548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3468688" y="7133994"/>
            <a:ext cx="223738" cy="2238375"/>
          </a:xfrm>
          <a:custGeom>
            <a:avLst/>
            <a:gdLst/>
            <a:ahLst/>
            <a:cxnLst/>
            <a:rect l="l" t="t" r="r" b="b"/>
            <a:pathLst>
              <a:path w="223738" h="2238375">
                <a:moveTo>
                  <a:pt x="38100" y="0"/>
                </a:moveTo>
                <a:lnTo>
                  <a:pt x="185638" y="0"/>
                </a:lnTo>
                <a:arcTo wR="38100" hR="38100" stAng="16200000" swAng="5400000"/>
                <a:lnTo>
                  <a:pt x="223738" y="2238375"/>
                </a:lnTo>
                <a:lnTo>
                  <a:pt x="0" y="2238375"/>
                </a:lnTo>
                <a:lnTo>
                  <a:pt x="0" y="38100"/>
                </a:lnTo>
                <a:arcTo wR="38100" hR="38100" stAng="10800000" swAng="5400000"/>
                <a:close/>
              </a:path>
            </a:pathLst>
          </a:custGeom>
          <a:solidFill>
            <a:srgbClr val="A8CED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8" name="Text 26"/>
          <p:cNvSpPr/>
          <p:nvPr/>
        </p:nvSpPr>
        <p:spPr>
          <a:xfrm>
            <a:off x="3468688" y="9467619"/>
            <a:ext cx="299938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3844727" y="6257727"/>
            <a:ext cx="208194" cy="3114642"/>
          </a:xfrm>
          <a:custGeom>
            <a:avLst/>
            <a:gdLst/>
            <a:ahLst/>
            <a:cxnLst/>
            <a:rect l="l" t="t" r="r" b="b"/>
            <a:pathLst>
              <a:path w="208194" h="3114642">
                <a:moveTo>
                  <a:pt x="38100" y="0"/>
                </a:moveTo>
                <a:lnTo>
                  <a:pt x="170094" y="0"/>
                </a:lnTo>
                <a:arcTo wR="38100" hR="38100" stAng="16200000" swAng="5400000"/>
                <a:lnTo>
                  <a:pt x="208194" y="3114642"/>
                </a:lnTo>
                <a:lnTo>
                  <a:pt x="0" y="3114642"/>
                </a:lnTo>
                <a:lnTo>
                  <a:pt x="0" y="38100"/>
                </a:lnTo>
                <a:arcTo wR="38100" hR="38100" stAng="10800000" swAng="5400000"/>
                <a:close/>
              </a:path>
            </a:pathLst>
          </a:custGeom>
          <a:solidFill>
            <a:srgbClr val="A8CED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0" name="Text 28"/>
          <p:cNvSpPr/>
          <p:nvPr/>
        </p:nvSpPr>
        <p:spPr>
          <a:xfrm>
            <a:off x="3863248" y="9467619"/>
            <a:ext cx="247187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4205222" y="5695818"/>
            <a:ext cx="223738" cy="3676551"/>
          </a:xfrm>
          <a:custGeom>
            <a:avLst/>
            <a:gdLst/>
            <a:ahLst/>
            <a:cxnLst/>
            <a:rect l="l" t="t" r="r" b="b"/>
            <a:pathLst>
              <a:path w="223738" h="3676551">
                <a:moveTo>
                  <a:pt x="38100" y="0"/>
                </a:moveTo>
                <a:lnTo>
                  <a:pt x="185638" y="0"/>
                </a:lnTo>
                <a:arcTo wR="38100" hR="38100" stAng="16200000" swAng="5400000"/>
                <a:lnTo>
                  <a:pt x="223738" y="3676551"/>
                </a:lnTo>
                <a:lnTo>
                  <a:pt x="0" y="3676551"/>
                </a:lnTo>
                <a:lnTo>
                  <a:pt x="0" y="38100"/>
                </a:lnTo>
                <a:arcTo wR="38100" hR="38100" stAng="10800000" swAng="5400000"/>
                <a:close/>
              </a:path>
            </a:pathLst>
          </a:custGeom>
          <a:solidFill>
            <a:srgbClr val="A8CED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2" name="Text 30"/>
          <p:cNvSpPr/>
          <p:nvPr/>
        </p:nvSpPr>
        <p:spPr>
          <a:xfrm>
            <a:off x="4205222" y="9467619"/>
            <a:ext cx="299938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4581261" y="6819801"/>
            <a:ext cx="208194" cy="2552568"/>
          </a:xfrm>
          <a:custGeom>
            <a:avLst/>
            <a:gdLst/>
            <a:ahLst/>
            <a:cxnLst/>
            <a:rect l="l" t="t" r="r" b="b"/>
            <a:pathLst>
              <a:path w="208194" h="2552568">
                <a:moveTo>
                  <a:pt x="38100" y="0"/>
                </a:moveTo>
                <a:lnTo>
                  <a:pt x="170094" y="0"/>
                </a:lnTo>
                <a:arcTo wR="38100" hR="38100" stAng="16200000" swAng="5400000"/>
                <a:lnTo>
                  <a:pt x="208194" y="2552568"/>
                </a:lnTo>
                <a:lnTo>
                  <a:pt x="0" y="2552568"/>
                </a:lnTo>
                <a:lnTo>
                  <a:pt x="0" y="38100"/>
                </a:lnTo>
                <a:arcTo wR="38100" hR="38100" stAng="10800000" swAng="5400000"/>
                <a:close/>
              </a:path>
            </a:pathLst>
          </a:custGeom>
          <a:solidFill>
            <a:srgbClr val="A8CED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4" name="Text 32"/>
          <p:cNvSpPr/>
          <p:nvPr/>
        </p:nvSpPr>
        <p:spPr>
          <a:xfrm>
            <a:off x="4614664" y="9467619"/>
            <a:ext cx="217587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4941755" y="7457943"/>
            <a:ext cx="208194" cy="1914426"/>
          </a:xfrm>
          <a:custGeom>
            <a:avLst/>
            <a:gdLst/>
            <a:ahLst/>
            <a:cxnLst/>
            <a:rect l="l" t="t" r="r" b="b"/>
            <a:pathLst>
              <a:path w="208194" h="1914426">
                <a:moveTo>
                  <a:pt x="38100" y="0"/>
                </a:moveTo>
                <a:lnTo>
                  <a:pt x="170094" y="0"/>
                </a:lnTo>
                <a:arcTo wR="38100" hR="38100" stAng="16200000" swAng="5400000"/>
                <a:lnTo>
                  <a:pt x="208194" y="1914426"/>
                </a:lnTo>
                <a:lnTo>
                  <a:pt x="0" y="1914426"/>
                </a:lnTo>
                <a:lnTo>
                  <a:pt x="0" y="38100"/>
                </a:lnTo>
                <a:arcTo wR="38100" hR="38100" stAng="10800000" swAng="5400000"/>
                <a:close/>
              </a:path>
            </a:pathLst>
          </a:custGeom>
          <a:solidFill>
            <a:srgbClr val="A8CED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6" name="Text 34"/>
          <p:cNvSpPr/>
          <p:nvPr/>
        </p:nvSpPr>
        <p:spPr>
          <a:xfrm>
            <a:off x="4975159" y="9467619"/>
            <a:ext cx="217587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5320771" y="9467619"/>
            <a:ext cx="247187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6092362" y="4679818"/>
            <a:ext cx="5278768" cy="5448102"/>
          </a:xfrm>
          <a:prstGeom prst="roundRect">
            <a:avLst>
              <a:gd name="adj" fmla="val 2887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9" name="Text 37"/>
          <p:cNvSpPr/>
          <p:nvPr/>
        </p:nvSpPr>
        <p:spPr>
          <a:xfrm>
            <a:off x="6445747" y="5033202"/>
            <a:ext cx="3012463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BY AGENT</a:t>
            </a:r>
            <a:endParaRPr lang="en-US" sz="1800" dirty="0"/>
          </a:p>
        </p:txBody>
      </p:sp>
      <p:pic>
        <p:nvPicPr>
          <p:cNvPr id="4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93497" y="5498869"/>
            <a:ext cx="2476500" cy="2476500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8053751" y="8165869"/>
            <a:ext cx="1491589" cy="778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86%</a:t>
            </a:r>
            <a:endParaRPr lang="en-US" sz="4800" dirty="0"/>
          </a:p>
        </p:txBody>
      </p:sp>
      <p:sp>
        <p:nvSpPr>
          <p:cNvPr id="42" name="Text 39"/>
          <p:cNvSpPr/>
          <p:nvPr/>
        </p:nvSpPr>
        <p:spPr>
          <a:xfrm>
            <a:off x="6377167" y="9097202"/>
            <a:ext cx="4709160" cy="588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invoice volume cleared without manual touch</a:t>
            </a:r>
            <a:endParaRPr lang="en-US" sz="1800" dirty="0"/>
          </a:p>
        </p:txBody>
      </p:sp>
      <p:sp>
        <p:nvSpPr>
          <p:cNvPr id="43" name="Shape 40"/>
          <p:cNvSpPr/>
          <p:nvPr/>
        </p:nvSpPr>
        <p:spPr>
          <a:xfrm>
            <a:off x="11637699" y="762000"/>
            <a:ext cx="5697802" cy="8763001"/>
          </a:xfrm>
          <a:prstGeom prst="roundRect">
            <a:avLst>
              <a:gd name="adj" fmla="val 2675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4" name="Shape 41"/>
          <p:cNvSpPr/>
          <p:nvPr/>
        </p:nvSpPr>
        <p:spPr>
          <a:xfrm>
            <a:off x="11914849" y="1176569"/>
            <a:ext cx="114267" cy="114267"/>
          </a:xfrm>
          <a:prstGeom prst="ellipse">
            <a:avLst/>
          </a:prstGeom>
          <a:solidFill>
            <a:srgbClr val="00A1E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42"/>
          <p:cNvSpPr/>
          <p:nvPr/>
        </p:nvSpPr>
        <p:spPr>
          <a:xfrm>
            <a:off x="12143383" y="1080327"/>
            <a:ext cx="2075673" cy="345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AIHub assistant</a:t>
            </a:r>
            <a:endParaRPr lang="en-US" sz="1950" dirty="0"/>
          </a:p>
        </p:txBody>
      </p:sp>
      <p:sp>
        <p:nvSpPr>
          <p:cNvPr id="46" name="Shape 43"/>
          <p:cNvSpPr/>
          <p:nvPr/>
        </p:nvSpPr>
        <p:spPr>
          <a:xfrm>
            <a:off x="16306106" y="1039151"/>
            <a:ext cx="752244" cy="389268"/>
          </a:xfrm>
          <a:prstGeom prst="roundRect">
            <a:avLst>
              <a:gd name="adj" fmla="val 9788"/>
            </a:avLst>
          </a:prstGeom>
          <a:solidFill>
            <a:srgbClr val="DDEFF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7" name="Text 44"/>
          <p:cNvSpPr/>
          <p:nvPr/>
        </p:nvSpPr>
        <p:spPr>
          <a:xfrm>
            <a:off x="16420406" y="1096301"/>
            <a:ext cx="599844" cy="31306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</a:t>
            </a:r>
            <a:endParaRPr lang="en-US" sz="1800" dirty="0"/>
          </a:p>
        </p:txBody>
      </p:sp>
      <p:sp>
        <p:nvSpPr>
          <p:cNvPr id="48" name="Shape 45"/>
          <p:cNvSpPr/>
          <p:nvPr/>
        </p:nvSpPr>
        <p:spPr>
          <a:xfrm>
            <a:off x="13306558" y="1580720"/>
            <a:ext cx="3751792" cy="503701"/>
          </a:xfrm>
          <a:prstGeom prst="roundRect">
            <a:avLst>
              <a:gd name="adj" fmla="val 22692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9" name="Text 46"/>
          <p:cNvSpPr/>
          <p:nvPr/>
        </p:nvSpPr>
        <p:spPr>
          <a:xfrm>
            <a:off x="13478008" y="1695020"/>
            <a:ext cx="3521446" cy="31320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drove the drop in August?</a:t>
            </a:r>
            <a:endParaRPr lang="en-US" sz="1800" dirty="0"/>
          </a:p>
        </p:txBody>
      </p:sp>
      <p:sp>
        <p:nvSpPr>
          <p:cNvPr id="50" name="Text 47"/>
          <p:cNvSpPr/>
          <p:nvPr/>
        </p:nvSpPr>
        <p:spPr>
          <a:xfrm>
            <a:off x="11914849" y="2236721"/>
            <a:ext cx="5297805" cy="9975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18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thirds of the improvement came from the duplicate-reference check; the rest from the renewed rate cards.</a:t>
            </a:r>
            <a:endParaRPr lang="en-US" sz="1800" dirty="0"/>
          </a:p>
        </p:txBody>
      </p:sp>
      <p:sp>
        <p:nvSpPr>
          <p:cNvPr id="51" name="Text 48"/>
          <p:cNvSpPr/>
          <p:nvPr/>
        </p:nvSpPr>
        <p:spPr>
          <a:xfrm>
            <a:off x="11914849" y="3348468"/>
            <a:ext cx="1910143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Duplicate check</a:t>
            </a:r>
            <a:endParaRPr lang="en-US" sz="1800" dirty="0"/>
          </a:p>
        </p:txBody>
      </p:sp>
      <p:sp>
        <p:nvSpPr>
          <p:cNvPr id="52" name="Text 49"/>
          <p:cNvSpPr/>
          <p:nvPr/>
        </p:nvSpPr>
        <p:spPr>
          <a:xfrm>
            <a:off x="16190020" y="3348468"/>
            <a:ext cx="944529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-0.8 pts</a:t>
            </a:r>
            <a:endParaRPr lang="en-US" sz="1800" dirty="0"/>
          </a:p>
        </p:txBody>
      </p:sp>
      <p:sp>
        <p:nvSpPr>
          <p:cNvPr id="53" name="Shape 50"/>
          <p:cNvSpPr/>
          <p:nvPr/>
        </p:nvSpPr>
        <p:spPr>
          <a:xfrm>
            <a:off x="11914849" y="3699702"/>
            <a:ext cx="5143500" cy="95250"/>
          </a:xfrm>
          <a:prstGeom prst="roundRect">
            <a:avLst>
              <a:gd name="adj" fmla="val 50000"/>
            </a:avLst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4" name="Shape 51"/>
          <p:cNvSpPr/>
          <p:nvPr/>
        </p:nvSpPr>
        <p:spPr>
          <a:xfrm>
            <a:off x="11914849" y="3699702"/>
            <a:ext cx="3188891" cy="95250"/>
          </a:xfrm>
          <a:prstGeom prst="roundRect">
            <a:avLst>
              <a:gd name="adj" fmla="val 5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5" name="Text 52"/>
          <p:cNvSpPr/>
          <p:nvPr/>
        </p:nvSpPr>
        <p:spPr>
          <a:xfrm>
            <a:off x="11914849" y="3909219"/>
            <a:ext cx="2268852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 card renewals</a:t>
            </a:r>
            <a:endParaRPr lang="en-US" sz="1800" dirty="0"/>
          </a:p>
        </p:txBody>
      </p:sp>
      <p:sp>
        <p:nvSpPr>
          <p:cNvPr id="56" name="Text 53"/>
          <p:cNvSpPr/>
          <p:nvPr/>
        </p:nvSpPr>
        <p:spPr>
          <a:xfrm>
            <a:off x="16190351" y="3909219"/>
            <a:ext cx="944199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-0.3 pts</a:t>
            </a:r>
            <a:endParaRPr lang="en-US" sz="1800" dirty="0"/>
          </a:p>
        </p:txBody>
      </p:sp>
      <p:sp>
        <p:nvSpPr>
          <p:cNvPr id="57" name="Shape 54"/>
          <p:cNvSpPr/>
          <p:nvPr/>
        </p:nvSpPr>
        <p:spPr>
          <a:xfrm>
            <a:off x="11914849" y="4260453"/>
            <a:ext cx="5143500" cy="95250"/>
          </a:xfrm>
          <a:prstGeom prst="roundRect">
            <a:avLst>
              <a:gd name="adj" fmla="val 50000"/>
            </a:avLst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8" name="Shape 55"/>
          <p:cNvSpPr/>
          <p:nvPr/>
        </p:nvSpPr>
        <p:spPr>
          <a:xfrm>
            <a:off x="11914849" y="4260453"/>
            <a:ext cx="1234281" cy="95250"/>
          </a:xfrm>
          <a:prstGeom prst="roundRect">
            <a:avLst>
              <a:gd name="adj" fmla="val 5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9" name="Text 56"/>
          <p:cNvSpPr/>
          <p:nvPr/>
        </p:nvSpPr>
        <p:spPr>
          <a:xfrm>
            <a:off x="11914849" y="4469970"/>
            <a:ext cx="1376627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Volume mix</a:t>
            </a:r>
            <a:endParaRPr lang="en-US" sz="1800" dirty="0"/>
          </a:p>
        </p:txBody>
      </p:sp>
      <p:sp>
        <p:nvSpPr>
          <p:cNvPr id="60" name="Text 57"/>
          <p:cNvSpPr/>
          <p:nvPr/>
        </p:nvSpPr>
        <p:spPr>
          <a:xfrm>
            <a:off x="16187870" y="4469970"/>
            <a:ext cx="946679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-0.2 pts</a:t>
            </a:r>
            <a:endParaRPr lang="en-US" sz="1800" dirty="0"/>
          </a:p>
        </p:txBody>
      </p:sp>
      <p:sp>
        <p:nvSpPr>
          <p:cNvPr id="61" name="Shape 58"/>
          <p:cNvSpPr/>
          <p:nvPr/>
        </p:nvSpPr>
        <p:spPr>
          <a:xfrm>
            <a:off x="11914849" y="4821205"/>
            <a:ext cx="5143500" cy="95250"/>
          </a:xfrm>
          <a:prstGeom prst="roundRect">
            <a:avLst>
              <a:gd name="adj" fmla="val 50000"/>
            </a:avLst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2" name="Shape 59"/>
          <p:cNvSpPr/>
          <p:nvPr/>
        </p:nvSpPr>
        <p:spPr>
          <a:xfrm>
            <a:off x="11914849" y="4821205"/>
            <a:ext cx="719997" cy="95250"/>
          </a:xfrm>
          <a:prstGeom prst="roundRect">
            <a:avLst>
              <a:gd name="adj" fmla="val 5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3" name="Shape 60"/>
          <p:cNvSpPr/>
          <p:nvPr/>
        </p:nvSpPr>
        <p:spPr>
          <a:xfrm>
            <a:off x="11914849" y="5068756"/>
            <a:ext cx="5143500" cy="3240154"/>
          </a:xfrm>
          <a:prstGeom prst="roundRect">
            <a:avLst>
              <a:gd name="adj" fmla="val 3528"/>
            </a:avLst>
          </a:prstGeom>
          <a:solidFill>
            <a:srgbClr val="F4F3F8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4" name="Text 61"/>
          <p:cNvSpPr/>
          <p:nvPr/>
        </p:nvSpPr>
        <p:spPr>
          <a:xfrm>
            <a:off x="12096750" y="5250656"/>
            <a:ext cx="525766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PIN TO THE BOARD PACK</a:t>
            </a:r>
            <a:endParaRPr lang="en-US" sz="1800" dirty="0"/>
          </a:p>
        </p:txBody>
      </p:sp>
      <p:sp>
        <p:nvSpPr>
          <p:cNvPr id="65" name="Text 62"/>
          <p:cNvSpPr/>
          <p:nvPr/>
        </p:nvSpPr>
        <p:spPr>
          <a:xfrm>
            <a:off x="12096750" y="5621073"/>
            <a:ext cx="525766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</a:t>
            </a:r>
            <a:endParaRPr lang="en-US" sz="1800" dirty="0"/>
          </a:p>
        </p:txBody>
      </p:sp>
      <p:sp>
        <p:nvSpPr>
          <p:cNvPr id="66" name="Shape 63"/>
          <p:cNvSpPr/>
          <p:nvPr/>
        </p:nvSpPr>
        <p:spPr>
          <a:xfrm>
            <a:off x="12096750" y="5991490"/>
            <a:ext cx="4779698" cy="524867"/>
          </a:xfrm>
          <a:prstGeom prst="roundRect">
            <a:avLst>
              <a:gd name="adj" fmla="val 14518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7" name="Text 64"/>
          <p:cNvSpPr/>
          <p:nvPr/>
        </p:nvSpPr>
        <p:spPr>
          <a:xfrm>
            <a:off x="12259733" y="6116373"/>
            <a:ext cx="4597122" cy="313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capital</a:t>
            </a:r>
            <a:endParaRPr lang="en-US" sz="1800" dirty="0"/>
          </a:p>
        </p:txBody>
      </p:sp>
      <p:sp>
        <p:nvSpPr>
          <p:cNvPr id="68" name="Text 65"/>
          <p:cNvSpPr/>
          <p:nvPr/>
        </p:nvSpPr>
        <p:spPr>
          <a:xfrm>
            <a:off x="12096750" y="6611607"/>
            <a:ext cx="525766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Refresh</a:t>
            </a:r>
            <a:endParaRPr lang="en-US" sz="1800" dirty="0"/>
          </a:p>
        </p:txBody>
      </p:sp>
      <p:sp>
        <p:nvSpPr>
          <p:cNvPr id="69" name="Shape 66"/>
          <p:cNvSpPr/>
          <p:nvPr/>
        </p:nvSpPr>
        <p:spPr>
          <a:xfrm>
            <a:off x="12096750" y="6982024"/>
            <a:ext cx="4779698" cy="524867"/>
          </a:xfrm>
          <a:prstGeom prst="roundRect">
            <a:avLst>
              <a:gd name="adj" fmla="val 14518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0" name="Text 67"/>
          <p:cNvSpPr/>
          <p:nvPr/>
        </p:nvSpPr>
        <p:spPr>
          <a:xfrm>
            <a:off x="12259733" y="7106907"/>
            <a:ext cx="4597122" cy="313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Monthly, on close</a:t>
            </a:r>
            <a:endParaRPr lang="en-US" sz="1800" dirty="0"/>
          </a:p>
        </p:txBody>
      </p:sp>
      <p:sp>
        <p:nvSpPr>
          <p:cNvPr id="71" name="Shape 68"/>
          <p:cNvSpPr/>
          <p:nvPr/>
        </p:nvSpPr>
        <p:spPr>
          <a:xfrm>
            <a:off x="12096750" y="7640175"/>
            <a:ext cx="883708" cy="486833"/>
          </a:xfrm>
          <a:prstGeom prst="roundRect">
            <a:avLst>
              <a:gd name="adj" fmla="val 15652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2" name="Text 69"/>
          <p:cNvSpPr/>
          <p:nvPr/>
        </p:nvSpPr>
        <p:spPr>
          <a:xfrm>
            <a:off x="12268200" y="7735425"/>
            <a:ext cx="61700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</a:t>
            </a:r>
            <a:endParaRPr lang="en-US" sz="1800" dirty="0"/>
          </a:p>
        </p:txBody>
      </p:sp>
      <p:sp>
        <p:nvSpPr>
          <p:cNvPr id="73" name="Shape 70"/>
          <p:cNvSpPr/>
          <p:nvPr/>
        </p:nvSpPr>
        <p:spPr>
          <a:xfrm>
            <a:off x="13094726" y="7640175"/>
            <a:ext cx="1208980" cy="486833"/>
          </a:xfrm>
          <a:prstGeom prst="roundRect">
            <a:avLst>
              <a:gd name="adj" fmla="val 15652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4" name="Text 71"/>
          <p:cNvSpPr/>
          <p:nvPr/>
        </p:nvSpPr>
        <p:spPr>
          <a:xfrm>
            <a:off x="13276760" y="7746008"/>
            <a:ext cx="921114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Discard</a:t>
            </a:r>
            <a:endParaRPr lang="en-US" sz="1800" dirty="0"/>
          </a:p>
        </p:txBody>
      </p:sp>
      <p:sp>
        <p:nvSpPr>
          <p:cNvPr id="75" name="Shape 72"/>
          <p:cNvSpPr/>
          <p:nvPr/>
        </p:nvSpPr>
        <p:spPr>
          <a:xfrm>
            <a:off x="11914849" y="8613511"/>
            <a:ext cx="5143500" cy="1624707"/>
          </a:xfrm>
          <a:prstGeom prst="roundRect">
            <a:avLst>
              <a:gd name="adj" fmla="val 7035"/>
            </a:avLst>
          </a:prstGeom>
          <a:solidFill>
            <a:srgbClr val="F2F9FC"/>
          </a:solidFill>
          <a:ln w="10583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6" name="Text 73"/>
          <p:cNvSpPr/>
          <p:nvPr/>
        </p:nvSpPr>
        <p:spPr>
          <a:xfrm>
            <a:off x="12096750" y="8795412"/>
            <a:ext cx="2331062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NEEDS A HUMAN</a:t>
            </a:r>
            <a:endParaRPr lang="en-US" sz="1800" dirty="0"/>
          </a:p>
        </p:txBody>
      </p:sp>
      <p:sp>
        <p:nvSpPr>
          <p:cNvPr id="77" name="Text 74"/>
          <p:cNvSpPr/>
          <p:nvPr/>
        </p:nvSpPr>
        <p:spPr>
          <a:xfrm>
            <a:off x="15165256" y="8795412"/>
            <a:ext cx="1882312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S. Amrein · CFO</a:t>
            </a:r>
            <a:endParaRPr lang="en-US" sz="1800" dirty="0"/>
          </a:p>
        </p:txBody>
      </p:sp>
      <p:sp>
        <p:nvSpPr>
          <p:cNvPr id="78" name="Text 75"/>
          <p:cNvSpPr/>
          <p:nvPr/>
        </p:nvSpPr>
        <p:spPr>
          <a:xfrm>
            <a:off x="12096750" y="9165828"/>
            <a:ext cx="5257668" cy="3465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154"/>
              </a:lnSpc>
              <a:buNone/>
            </a:pPr>
            <a:r>
              <a:rPr lang="en-US" sz="18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 this commentary in the board pack?</a:t>
            </a:r>
            <a:endParaRPr lang="en-US" sz="1800" dirty="0"/>
          </a:p>
        </p:txBody>
      </p:sp>
      <p:sp>
        <p:nvSpPr>
          <p:cNvPr id="79" name="Shape 76"/>
          <p:cNvSpPr/>
          <p:nvPr/>
        </p:nvSpPr>
        <p:spPr>
          <a:xfrm>
            <a:off x="12096750" y="9580067"/>
            <a:ext cx="1156229" cy="465667"/>
          </a:xfrm>
          <a:prstGeom prst="roundRect">
            <a:avLst>
              <a:gd name="adj" fmla="val 16364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0" name="Text 77"/>
          <p:cNvSpPr/>
          <p:nvPr/>
        </p:nvSpPr>
        <p:spPr>
          <a:xfrm>
            <a:off x="12268200" y="9675317"/>
            <a:ext cx="889529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</a:t>
            </a:r>
            <a:endParaRPr lang="en-US" sz="1800" dirty="0"/>
          </a:p>
        </p:txBody>
      </p:sp>
      <p:sp>
        <p:nvSpPr>
          <p:cNvPr id="81" name="Shape 78"/>
          <p:cNvSpPr/>
          <p:nvPr/>
        </p:nvSpPr>
        <p:spPr>
          <a:xfrm>
            <a:off x="13367247" y="9569483"/>
            <a:ext cx="875771" cy="486833"/>
          </a:xfrm>
          <a:prstGeom prst="roundRect">
            <a:avLst>
              <a:gd name="adj" fmla="val 15652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2" name="Text 79"/>
          <p:cNvSpPr/>
          <p:nvPr/>
        </p:nvSpPr>
        <p:spPr>
          <a:xfrm>
            <a:off x="13549280" y="9675317"/>
            <a:ext cx="587904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Hold</a:t>
            </a:r>
            <a:endParaRPr lang="en-US" sz="1800" dirty="0"/>
          </a:p>
        </p:txBody>
      </p:sp>
      <p:sp>
        <p:nvSpPr>
          <p:cNvPr id="83" name="Text 80"/>
          <p:cNvSpPr/>
          <p:nvPr/>
        </p:nvSpPr>
        <p:spPr>
          <a:xfrm>
            <a:off x="16044500" y="9675317"/>
            <a:ext cx="908149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6F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Logged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3807917" cy="683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kern="0" spc="-8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 scorecard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642776" y="1037167"/>
            <a:ext cx="4124424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CFO review · finance operations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952500" y="1712350"/>
            <a:ext cx="3320521" cy="3791976"/>
          </a:xfrm>
          <a:prstGeom prst="roundRect">
            <a:avLst>
              <a:gd name="adj" fmla="val 4590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Text 3"/>
          <p:cNvSpPr/>
          <p:nvPr/>
        </p:nvSpPr>
        <p:spPr>
          <a:xfrm>
            <a:off x="1305884" y="2065735"/>
            <a:ext cx="287512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DAYS TO CLOSE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05884" y="2436151"/>
            <a:ext cx="2875128" cy="874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400" b="1" kern="0" spc="-108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4.2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305884" y="3367485"/>
            <a:ext cx="2875128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-30% · target 4.0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4501555" y="1712350"/>
            <a:ext cx="3320521" cy="3791976"/>
          </a:xfrm>
          <a:prstGeom prst="roundRect">
            <a:avLst>
              <a:gd name="adj" fmla="val 4590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" name="Text 7"/>
          <p:cNvSpPr/>
          <p:nvPr/>
        </p:nvSpPr>
        <p:spPr>
          <a:xfrm>
            <a:off x="4854939" y="2065735"/>
            <a:ext cx="2692165" cy="588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TOUCHLESS INVOICES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54939" y="2711318"/>
            <a:ext cx="2875128" cy="874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400" b="1" kern="0" spc="-108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86%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4854939" y="3642651"/>
            <a:ext cx="2875128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+38 pts · target 90%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8050610" y="1712350"/>
            <a:ext cx="3320521" cy="3791976"/>
          </a:xfrm>
          <a:prstGeom prst="roundRect">
            <a:avLst>
              <a:gd name="adj" fmla="val 4590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" name="Text 11"/>
          <p:cNvSpPr/>
          <p:nvPr/>
        </p:nvSpPr>
        <p:spPr>
          <a:xfrm>
            <a:off x="8403994" y="2065735"/>
            <a:ext cx="287512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PER INVOICE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03994" y="2436151"/>
            <a:ext cx="2875128" cy="874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400" b="1" kern="0" spc="-108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$ 1.90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8403994" y="3367485"/>
            <a:ext cx="2875128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-39% · target $ 1.75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2500" y="5732859"/>
            <a:ext cx="3320521" cy="3792141"/>
          </a:xfrm>
          <a:prstGeom prst="roundRect">
            <a:avLst>
              <a:gd name="adj" fmla="val 4590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" name="Text 15"/>
          <p:cNvSpPr/>
          <p:nvPr/>
        </p:nvSpPr>
        <p:spPr>
          <a:xfrm>
            <a:off x="1305884" y="6086244"/>
            <a:ext cx="2692165" cy="588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FORECAST ACCURACY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05884" y="6731827"/>
            <a:ext cx="2875128" cy="874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400" b="1" kern="0" spc="-108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94%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1305884" y="7663161"/>
            <a:ext cx="2875128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+6 pts · target 95%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4501555" y="5732859"/>
            <a:ext cx="3320521" cy="3792141"/>
          </a:xfrm>
          <a:prstGeom prst="roundRect">
            <a:avLst>
              <a:gd name="adj" fmla="val 4590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1" name="Text 19"/>
          <p:cNvSpPr/>
          <p:nvPr/>
        </p:nvSpPr>
        <p:spPr>
          <a:xfrm>
            <a:off x="4854939" y="6086244"/>
            <a:ext cx="287512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EXCEPTION RATE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854939" y="6456661"/>
            <a:ext cx="2875128" cy="874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400" b="1" kern="0" spc="-108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2.1%</a:t>
            </a:r>
            <a:endParaRPr lang="en-US" sz="5400" dirty="0"/>
          </a:p>
        </p:txBody>
      </p:sp>
      <p:sp>
        <p:nvSpPr>
          <p:cNvPr id="23" name="Text 21"/>
          <p:cNvSpPr/>
          <p:nvPr/>
        </p:nvSpPr>
        <p:spPr>
          <a:xfrm>
            <a:off x="4854939" y="7387994"/>
            <a:ext cx="2875128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-1.3 pts · target 2.0%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8050610" y="5732859"/>
            <a:ext cx="3320521" cy="3792141"/>
          </a:xfrm>
          <a:prstGeom prst="roundRect">
            <a:avLst>
              <a:gd name="adj" fmla="val 4590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5" name="Text 23"/>
          <p:cNvSpPr/>
          <p:nvPr/>
        </p:nvSpPr>
        <p:spPr>
          <a:xfrm>
            <a:off x="8403994" y="6086244"/>
            <a:ext cx="287512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DSO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403994" y="6456661"/>
            <a:ext cx="2875128" cy="874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400" b="1" kern="0" spc="-108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 days</a:t>
            </a:r>
            <a:endParaRPr lang="en-US" sz="5400" dirty="0"/>
          </a:p>
        </p:txBody>
      </p:sp>
      <p:sp>
        <p:nvSpPr>
          <p:cNvPr id="27" name="Text 25"/>
          <p:cNvSpPr/>
          <p:nvPr/>
        </p:nvSpPr>
        <p:spPr>
          <a:xfrm>
            <a:off x="8403994" y="7387994"/>
            <a:ext cx="2875128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-5 days · target 42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1637699" y="762000"/>
            <a:ext cx="5697802" cy="8763001"/>
          </a:xfrm>
          <a:prstGeom prst="roundRect">
            <a:avLst>
              <a:gd name="adj" fmla="val 2675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9" name="Shape 27"/>
          <p:cNvSpPr/>
          <p:nvPr/>
        </p:nvSpPr>
        <p:spPr>
          <a:xfrm>
            <a:off x="11914849" y="1176569"/>
            <a:ext cx="114267" cy="114267"/>
          </a:xfrm>
          <a:prstGeom prst="ellipse">
            <a:avLst/>
          </a:prstGeom>
          <a:solidFill>
            <a:srgbClr val="00A1E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0" name="Text 28"/>
          <p:cNvSpPr/>
          <p:nvPr/>
        </p:nvSpPr>
        <p:spPr>
          <a:xfrm>
            <a:off x="12143383" y="1080327"/>
            <a:ext cx="2075673" cy="345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AIHub assistant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16306106" y="1039151"/>
            <a:ext cx="752244" cy="389268"/>
          </a:xfrm>
          <a:prstGeom prst="roundRect">
            <a:avLst>
              <a:gd name="adj" fmla="val 9788"/>
            </a:avLst>
          </a:prstGeom>
          <a:solidFill>
            <a:srgbClr val="DDEFF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2" name="Text 30"/>
          <p:cNvSpPr/>
          <p:nvPr/>
        </p:nvSpPr>
        <p:spPr>
          <a:xfrm>
            <a:off x="16420406" y="1096301"/>
            <a:ext cx="599844" cy="31306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3073394" y="1580720"/>
            <a:ext cx="3984956" cy="503701"/>
          </a:xfrm>
          <a:prstGeom prst="roundRect">
            <a:avLst>
              <a:gd name="adj" fmla="val 22692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4" name="Text 32"/>
          <p:cNvSpPr/>
          <p:nvPr/>
        </p:nvSpPr>
        <p:spPr>
          <a:xfrm>
            <a:off x="13244844" y="1695020"/>
            <a:ext cx="3761605" cy="31320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KPI is furthest from target?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1914849" y="2236721"/>
            <a:ext cx="5297805" cy="9975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18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Touchless invoices, 4 points short. The gap sits with two vendors that still send PDF invoices without a purchase order.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1914849" y="3348468"/>
            <a:ext cx="2254118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Touchless invoices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6395238" y="3348468"/>
            <a:ext cx="739312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-4 pts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1914849" y="3699702"/>
            <a:ext cx="5143500" cy="95250"/>
          </a:xfrm>
          <a:prstGeom prst="roundRect">
            <a:avLst>
              <a:gd name="adj" fmla="val 50000"/>
            </a:avLst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9" name="Shape 37"/>
          <p:cNvSpPr/>
          <p:nvPr/>
        </p:nvSpPr>
        <p:spPr>
          <a:xfrm>
            <a:off x="11914849" y="3699702"/>
            <a:ext cx="3703175" cy="95250"/>
          </a:xfrm>
          <a:prstGeom prst="roundRect">
            <a:avLst>
              <a:gd name="adj" fmla="val 5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0" name="Text 38"/>
          <p:cNvSpPr/>
          <p:nvPr/>
        </p:nvSpPr>
        <p:spPr>
          <a:xfrm>
            <a:off x="11914849" y="3909219"/>
            <a:ext cx="1929424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per invoice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6312390" y="3909219"/>
            <a:ext cx="822160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-$ 0.15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1914849" y="4260453"/>
            <a:ext cx="5143500" cy="95250"/>
          </a:xfrm>
          <a:prstGeom prst="roundRect">
            <a:avLst>
              <a:gd name="adj" fmla="val 50000"/>
            </a:avLst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3" name="Shape 41"/>
          <p:cNvSpPr/>
          <p:nvPr/>
        </p:nvSpPr>
        <p:spPr>
          <a:xfrm>
            <a:off x="11914849" y="4260453"/>
            <a:ext cx="1543017" cy="95250"/>
          </a:xfrm>
          <a:prstGeom prst="roundRect">
            <a:avLst>
              <a:gd name="adj" fmla="val 5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4" name="Text 42"/>
          <p:cNvSpPr/>
          <p:nvPr/>
        </p:nvSpPr>
        <p:spPr>
          <a:xfrm>
            <a:off x="11914849" y="4469970"/>
            <a:ext cx="562537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DSO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6227889" y="4469970"/>
            <a:ext cx="906661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-2 days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1914849" y="4821205"/>
            <a:ext cx="5143500" cy="95250"/>
          </a:xfrm>
          <a:prstGeom prst="roundRect">
            <a:avLst>
              <a:gd name="adj" fmla="val 50000"/>
            </a:avLst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7" name="Shape 45"/>
          <p:cNvSpPr/>
          <p:nvPr/>
        </p:nvSpPr>
        <p:spPr>
          <a:xfrm>
            <a:off x="11914849" y="4821205"/>
            <a:ext cx="1131425" cy="95250"/>
          </a:xfrm>
          <a:prstGeom prst="roundRect">
            <a:avLst>
              <a:gd name="adj" fmla="val 5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8" name="Shape 46"/>
          <p:cNvSpPr/>
          <p:nvPr/>
        </p:nvSpPr>
        <p:spPr>
          <a:xfrm>
            <a:off x="11914849" y="5068756"/>
            <a:ext cx="5143500" cy="3240154"/>
          </a:xfrm>
          <a:prstGeom prst="roundRect">
            <a:avLst>
              <a:gd name="adj" fmla="val 3528"/>
            </a:avLst>
          </a:prstGeom>
          <a:solidFill>
            <a:srgbClr val="F4F3F8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9" name="Text 47"/>
          <p:cNvSpPr/>
          <p:nvPr/>
        </p:nvSpPr>
        <p:spPr>
          <a:xfrm>
            <a:off x="12096750" y="5250656"/>
            <a:ext cx="525766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AS KPI ALERT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2096750" y="5621073"/>
            <a:ext cx="525766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 when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2096750" y="5991490"/>
            <a:ext cx="4779698" cy="524867"/>
          </a:xfrm>
          <a:prstGeom prst="roundRect">
            <a:avLst>
              <a:gd name="adj" fmla="val 14518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2" name="Text 50"/>
          <p:cNvSpPr/>
          <p:nvPr/>
        </p:nvSpPr>
        <p:spPr>
          <a:xfrm>
            <a:off x="12259733" y="6116373"/>
            <a:ext cx="4597122" cy="313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Touchless below 84%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12096750" y="6611607"/>
            <a:ext cx="525766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Notify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12096750" y="6982024"/>
            <a:ext cx="4779698" cy="524867"/>
          </a:xfrm>
          <a:prstGeom prst="roundRect">
            <a:avLst>
              <a:gd name="adj" fmla="val 14518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5" name="Text 53"/>
          <p:cNvSpPr/>
          <p:nvPr/>
        </p:nvSpPr>
        <p:spPr>
          <a:xfrm>
            <a:off x="12259733" y="7106907"/>
            <a:ext cx="4597122" cy="313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 of AP, Teams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12096750" y="7640175"/>
            <a:ext cx="883708" cy="486833"/>
          </a:xfrm>
          <a:prstGeom prst="roundRect">
            <a:avLst>
              <a:gd name="adj" fmla="val 15652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7" name="Text 55"/>
          <p:cNvSpPr/>
          <p:nvPr/>
        </p:nvSpPr>
        <p:spPr>
          <a:xfrm>
            <a:off x="12268200" y="7735425"/>
            <a:ext cx="61700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13094726" y="7640175"/>
            <a:ext cx="1208980" cy="486833"/>
          </a:xfrm>
          <a:prstGeom prst="roundRect">
            <a:avLst>
              <a:gd name="adj" fmla="val 15652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9" name="Text 57"/>
          <p:cNvSpPr/>
          <p:nvPr/>
        </p:nvSpPr>
        <p:spPr>
          <a:xfrm>
            <a:off x="13276760" y="7746008"/>
            <a:ext cx="921114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Discard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11914849" y="8613511"/>
            <a:ext cx="5143500" cy="1933112"/>
          </a:xfrm>
          <a:prstGeom prst="roundRect">
            <a:avLst>
              <a:gd name="adj" fmla="val 5913"/>
            </a:avLst>
          </a:prstGeom>
          <a:solidFill>
            <a:srgbClr val="F2F9FC"/>
          </a:solidFill>
          <a:ln w="10583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1" name="Text 59"/>
          <p:cNvSpPr/>
          <p:nvPr/>
        </p:nvSpPr>
        <p:spPr>
          <a:xfrm>
            <a:off x="12096750" y="8795412"/>
            <a:ext cx="2331062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NEEDS A HUMAN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15649279" y="8795412"/>
            <a:ext cx="1349888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 of AP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12096750" y="9165828"/>
            <a:ext cx="4923089" cy="6549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154"/>
              </a:lnSpc>
              <a:buNone/>
            </a:pPr>
            <a:r>
              <a:rPr lang="en-US" sz="18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both vendors to move to PO-backed billing?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2096750" y="9888472"/>
            <a:ext cx="1811073" cy="465667"/>
          </a:xfrm>
          <a:prstGeom prst="roundRect">
            <a:avLst>
              <a:gd name="adj" fmla="val 16364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5" name="Text 63"/>
          <p:cNvSpPr/>
          <p:nvPr/>
        </p:nvSpPr>
        <p:spPr>
          <a:xfrm>
            <a:off x="12268200" y="9983722"/>
            <a:ext cx="1544373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request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14022091" y="9877889"/>
            <a:ext cx="2204145" cy="486833"/>
          </a:xfrm>
          <a:prstGeom prst="roundRect">
            <a:avLst>
              <a:gd name="adj" fmla="val 15652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7" name="Text 65"/>
          <p:cNvSpPr/>
          <p:nvPr/>
        </p:nvSpPr>
        <p:spPr>
          <a:xfrm>
            <a:off x="14204124" y="9983722"/>
            <a:ext cx="1916278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 manually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16454769" y="9983722"/>
            <a:ext cx="908149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6F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Logged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521784" cy="683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kern="0" spc="-8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OKRs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2564474" y="1037167"/>
            <a:ext cx="6140797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CFO and the finance leadership team · Q3 2026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952500" y="1712350"/>
            <a:ext cx="10418630" cy="2160654"/>
          </a:xfrm>
          <a:prstGeom prst="roundRect">
            <a:avLst>
              <a:gd name="adj" fmla="val 7053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Text 3"/>
          <p:cNvSpPr/>
          <p:nvPr/>
        </p:nvSpPr>
        <p:spPr>
          <a:xfrm>
            <a:off x="1305884" y="2141802"/>
            <a:ext cx="403622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117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823806" y="2078302"/>
            <a:ext cx="4319422" cy="472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 the books faster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10232761" y="2065735"/>
            <a:ext cx="784986" cy="459052"/>
          </a:xfrm>
          <a:prstGeom prst="roundRect">
            <a:avLst>
              <a:gd name="adj" fmla="val 83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6"/>
          <p:cNvSpPr/>
          <p:nvPr/>
        </p:nvSpPr>
        <p:spPr>
          <a:xfrm>
            <a:off x="10366111" y="2141935"/>
            <a:ext cx="594486" cy="34475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CFO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305884" y="2715287"/>
            <a:ext cx="6705600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Cut the close to 4 days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7630419" y="2802103"/>
            <a:ext cx="2206294" cy="133284"/>
          </a:xfrm>
          <a:prstGeom prst="roundRect">
            <a:avLst>
              <a:gd name="adj" fmla="val 50000"/>
            </a:avLst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" name="Shape 9"/>
          <p:cNvSpPr/>
          <p:nvPr/>
        </p:nvSpPr>
        <p:spPr>
          <a:xfrm>
            <a:off x="7630419" y="2802103"/>
            <a:ext cx="1588492" cy="133284"/>
          </a:xfrm>
          <a:prstGeom prst="roundRect">
            <a:avLst>
              <a:gd name="adj" fmla="val 5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" name="Text 10"/>
          <p:cNvSpPr/>
          <p:nvPr/>
        </p:nvSpPr>
        <p:spPr>
          <a:xfrm>
            <a:off x="9989046" y="2715287"/>
            <a:ext cx="1028700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9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72%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305884" y="3212703"/>
            <a:ext cx="6705600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 of reconciliations automated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7630419" y="3299520"/>
            <a:ext cx="2206294" cy="133284"/>
          </a:xfrm>
          <a:prstGeom prst="roundRect">
            <a:avLst>
              <a:gd name="adj" fmla="val 50000"/>
            </a:avLst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" name="Shape 13"/>
          <p:cNvSpPr/>
          <p:nvPr/>
        </p:nvSpPr>
        <p:spPr>
          <a:xfrm>
            <a:off x="7630419" y="3299520"/>
            <a:ext cx="1434042" cy="133284"/>
          </a:xfrm>
          <a:prstGeom prst="roundRect">
            <a:avLst>
              <a:gd name="adj" fmla="val 5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4"/>
          <p:cNvSpPr/>
          <p:nvPr/>
        </p:nvSpPr>
        <p:spPr>
          <a:xfrm>
            <a:off x="9989046" y="3212703"/>
            <a:ext cx="1028700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9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65%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52500" y="4101538"/>
            <a:ext cx="10418630" cy="2160654"/>
          </a:xfrm>
          <a:prstGeom prst="roundRect">
            <a:avLst>
              <a:gd name="adj" fmla="val 7053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8" name="Text 16"/>
          <p:cNvSpPr/>
          <p:nvPr/>
        </p:nvSpPr>
        <p:spPr>
          <a:xfrm>
            <a:off x="1305884" y="4530990"/>
            <a:ext cx="452735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117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O2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872919" y="4467490"/>
            <a:ext cx="3793728" cy="472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Stop spend leakage</a:t>
            </a:r>
            <a:endParaRPr lang="en-US" sz="2850" dirty="0"/>
          </a:p>
        </p:txBody>
      </p:sp>
      <p:sp>
        <p:nvSpPr>
          <p:cNvPr id="20" name="Shape 18"/>
          <p:cNvSpPr/>
          <p:nvPr/>
        </p:nvSpPr>
        <p:spPr>
          <a:xfrm>
            <a:off x="8801365" y="4454922"/>
            <a:ext cx="2216382" cy="459052"/>
          </a:xfrm>
          <a:prstGeom prst="roundRect">
            <a:avLst>
              <a:gd name="adj" fmla="val 83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1" name="Text 19"/>
          <p:cNvSpPr/>
          <p:nvPr/>
        </p:nvSpPr>
        <p:spPr>
          <a:xfrm>
            <a:off x="8934715" y="4531122"/>
            <a:ext cx="2025882" cy="34475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controller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305884" y="5104474"/>
            <a:ext cx="6705600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Recover $ 1.2M of off-contract spend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7630419" y="5191291"/>
            <a:ext cx="2206294" cy="133284"/>
          </a:xfrm>
          <a:prstGeom prst="roundRect">
            <a:avLst>
              <a:gd name="adj" fmla="val 50000"/>
            </a:avLst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4" name="Shape 22"/>
          <p:cNvSpPr/>
          <p:nvPr/>
        </p:nvSpPr>
        <p:spPr>
          <a:xfrm>
            <a:off x="7630419" y="5191291"/>
            <a:ext cx="1058995" cy="133284"/>
          </a:xfrm>
          <a:prstGeom prst="roundRect">
            <a:avLst>
              <a:gd name="adj" fmla="val 5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5" name="Text 23"/>
          <p:cNvSpPr/>
          <p:nvPr/>
        </p:nvSpPr>
        <p:spPr>
          <a:xfrm>
            <a:off x="9989046" y="5104474"/>
            <a:ext cx="1028700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9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48%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305884" y="5601891"/>
            <a:ext cx="6705600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Hold exception rate below 2%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7630419" y="5688707"/>
            <a:ext cx="2206294" cy="133284"/>
          </a:xfrm>
          <a:prstGeom prst="roundRect">
            <a:avLst>
              <a:gd name="adj" fmla="val 50000"/>
            </a:avLst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8" name="Shape 26"/>
          <p:cNvSpPr/>
          <p:nvPr/>
        </p:nvSpPr>
        <p:spPr>
          <a:xfrm>
            <a:off x="7630419" y="5688707"/>
            <a:ext cx="1764936" cy="133284"/>
          </a:xfrm>
          <a:prstGeom prst="roundRect">
            <a:avLst>
              <a:gd name="adj" fmla="val 5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9" name="Text 27"/>
          <p:cNvSpPr/>
          <p:nvPr/>
        </p:nvSpPr>
        <p:spPr>
          <a:xfrm>
            <a:off x="9989046" y="5601891"/>
            <a:ext cx="1028700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9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80%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952500" y="6490725"/>
            <a:ext cx="10418630" cy="2160654"/>
          </a:xfrm>
          <a:prstGeom prst="roundRect">
            <a:avLst>
              <a:gd name="adj" fmla="val 7053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1" name="Text 29"/>
          <p:cNvSpPr/>
          <p:nvPr/>
        </p:nvSpPr>
        <p:spPr>
          <a:xfrm>
            <a:off x="1305884" y="6920178"/>
            <a:ext cx="456704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117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O3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876888" y="6856677"/>
            <a:ext cx="5900142" cy="472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finance data trustworthy</a:t>
            </a:r>
            <a:endParaRPr lang="en-US" sz="2850" dirty="0"/>
          </a:p>
        </p:txBody>
      </p:sp>
      <p:sp>
        <p:nvSpPr>
          <p:cNvPr id="33" name="Shape 31"/>
          <p:cNvSpPr/>
          <p:nvPr/>
        </p:nvSpPr>
        <p:spPr>
          <a:xfrm>
            <a:off x="9409080" y="6844110"/>
            <a:ext cx="1608667" cy="459052"/>
          </a:xfrm>
          <a:prstGeom prst="roundRect">
            <a:avLst>
              <a:gd name="adj" fmla="val 83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4" name="Text 32"/>
          <p:cNvSpPr/>
          <p:nvPr/>
        </p:nvSpPr>
        <p:spPr>
          <a:xfrm>
            <a:off x="9542430" y="6920310"/>
            <a:ext cx="1418167" cy="34475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 of AP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1305884" y="7493662"/>
            <a:ext cx="6705600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dataset policy-tagged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7630419" y="7580478"/>
            <a:ext cx="2206294" cy="133284"/>
          </a:xfrm>
          <a:prstGeom prst="roundRect">
            <a:avLst>
              <a:gd name="adj" fmla="val 50000"/>
            </a:avLst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7" name="Shape 35"/>
          <p:cNvSpPr/>
          <p:nvPr/>
        </p:nvSpPr>
        <p:spPr>
          <a:xfrm>
            <a:off x="7630419" y="7580478"/>
            <a:ext cx="2206294" cy="133284"/>
          </a:xfrm>
          <a:prstGeom prst="roundRect">
            <a:avLst>
              <a:gd name="adj" fmla="val 50000"/>
            </a:avLst>
          </a:prstGeom>
          <a:solidFill>
            <a:srgbClr val="2E6F52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8" name="Text 36"/>
          <p:cNvSpPr/>
          <p:nvPr/>
        </p:nvSpPr>
        <p:spPr>
          <a:xfrm>
            <a:off x="9989046" y="7493662"/>
            <a:ext cx="1028700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9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1305884" y="7991079"/>
            <a:ext cx="6705600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answer reproducible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7630419" y="8077895"/>
            <a:ext cx="2206294" cy="133284"/>
          </a:xfrm>
          <a:prstGeom prst="roundRect">
            <a:avLst>
              <a:gd name="adj" fmla="val 50000"/>
            </a:avLst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1" name="Shape 39"/>
          <p:cNvSpPr/>
          <p:nvPr/>
        </p:nvSpPr>
        <p:spPr>
          <a:xfrm>
            <a:off x="7630419" y="8077895"/>
            <a:ext cx="2206294" cy="133284"/>
          </a:xfrm>
          <a:prstGeom prst="roundRect">
            <a:avLst>
              <a:gd name="adj" fmla="val 50000"/>
            </a:avLst>
          </a:prstGeom>
          <a:solidFill>
            <a:srgbClr val="2E6F52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2" name="Text 40"/>
          <p:cNvSpPr/>
          <p:nvPr/>
        </p:nvSpPr>
        <p:spPr>
          <a:xfrm>
            <a:off x="9989046" y="7991079"/>
            <a:ext cx="1028700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9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1950" dirty="0"/>
          </a:p>
        </p:txBody>
      </p:sp>
      <p:sp>
        <p:nvSpPr>
          <p:cNvPr id="43" name="Shape 41"/>
          <p:cNvSpPr/>
          <p:nvPr/>
        </p:nvSpPr>
        <p:spPr>
          <a:xfrm>
            <a:off x="11637699" y="762000"/>
            <a:ext cx="5697802" cy="8763001"/>
          </a:xfrm>
          <a:prstGeom prst="roundRect">
            <a:avLst>
              <a:gd name="adj" fmla="val 2675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4" name="Shape 42"/>
          <p:cNvSpPr/>
          <p:nvPr/>
        </p:nvSpPr>
        <p:spPr>
          <a:xfrm>
            <a:off x="11914849" y="1176569"/>
            <a:ext cx="114267" cy="114267"/>
          </a:xfrm>
          <a:prstGeom prst="ellipse">
            <a:avLst/>
          </a:prstGeom>
          <a:solidFill>
            <a:srgbClr val="00A1E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43"/>
          <p:cNvSpPr/>
          <p:nvPr/>
        </p:nvSpPr>
        <p:spPr>
          <a:xfrm>
            <a:off x="12143383" y="1080327"/>
            <a:ext cx="2075673" cy="345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AIHub assistant</a:t>
            </a:r>
            <a:endParaRPr lang="en-US" sz="1950" dirty="0"/>
          </a:p>
        </p:txBody>
      </p:sp>
      <p:sp>
        <p:nvSpPr>
          <p:cNvPr id="46" name="Shape 44"/>
          <p:cNvSpPr/>
          <p:nvPr/>
        </p:nvSpPr>
        <p:spPr>
          <a:xfrm>
            <a:off x="16306106" y="1039151"/>
            <a:ext cx="752244" cy="389268"/>
          </a:xfrm>
          <a:prstGeom prst="roundRect">
            <a:avLst>
              <a:gd name="adj" fmla="val 9788"/>
            </a:avLst>
          </a:prstGeom>
          <a:solidFill>
            <a:srgbClr val="DDEFF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7" name="Text 45"/>
          <p:cNvSpPr/>
          <p:nvPr/>
        </p:nvSpPr>
        <p:spPr>
          <a:xfrm>
            <a:off x="16420406" y="1096301"/>
            <a:ext cx="599844" cy="31306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3775036" y="1580720"/>
            <a:ext cx="3283314" cy="503701"/>
          </a:xfrm>
          <a:prstGeom prst="roundRect">
            <a:avLst>
              <a:gd name="adj" fmla="val 22692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9" name="Text 47"/>
          <p:cNvSpPr/>
          <p:nvPr/>
        </p:nvSpPr>
        <p:spPr>
          <a:xfrm>
            <a:off x="13946486" y="1695020"/>
            <a:ext cx="3038913" cy="31320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at risk this quarter?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1914849" y="2236721"/>
            <a:ext cx="5297805" cy="9975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18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Off-contract spend recovery, at 48% with five weeks left. The other five key results are on or ahead of plan.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11914849" y="3348468"/>
            <a:ext cx="1883949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Spend recovery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6351912" y="3348468"/>
            <a:ext cx="782638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risk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11914849" y="3699702"/>
            <a:ext cx="5143500" cy="95250"/>
          </a:xfrm>
          <a:prstGeom prst="roundRect">
            <a:avLst>
              <a:gd name="adj" fmla="val 50000"/>
            </a:avLst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4" name="Shape 52"/>
          <p:cNvSpPr/>
          <p:nvPr/>
        </p:nvSpPr>
        <p:spPr>
          <a:xfrm>
            <a:off x="11914849" y="3699702"/>
            <a:ext cx="2468728" cy="95250"/>
          </a:xfrm>
          <a:prstGeom prst="roundRect">
            <a:avLst>
              <a:gd name="adj" fmla="val 5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5" name="Text 53"/>
          <p:cNvSpPr/>
          <p:nvPr/>
        </p:nvSpPr>
        <p:spPr>
          <a:xfrm>
            <a:off x="11914849" y="3909219"/>
            <a:ext cx="1823558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 in 4 days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16211849" y="3909219"/>
            <a:ext cx="922701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plan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11914849" y="4260453"/>
            <a:ext cx="5143500" cy="95250"/>
          </a:xfrm>
          <a:prstGeom prst="roundRect">
            <a:avLst>
              <a:gd name="adj" fmla="val 50000"/>
            </a:avLst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8" name="Shape 56"/>
          <p:cNvSpPr/>
          <p:nvPr/>
        </p:nvSpPr>
        <p:spPr>
          <a:xfrm>
            <a:off x="11914849" y="4260453"/>
            <a:ext cx="3703175" cy="95250"/>
          </a:xfrm>
          <a:prstGeom prst="roundRect">
            <a:avLst>
              <a:gd name="adj" fmla="val 5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9" name="Text 57"/>
          <p:cNvSpPr/>
          <p:nvPr/>
        </p:nvSpPr>
        <p:spPr>
          <a:xfrm>
            <a:off x="11914849" y="4469970"/>
            <a:ext cx="1701866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Exception rate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16211849" y="4469970"/>
            <a:ext cx="922701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plan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11914849" y="4821205"/>
            <a:ext cx="5143500" cy="95250"/>
          </a:xfrm>
          <a:prstGeom prst="roundRect">
            <a:avLst>
              <a:gd name="adj" fmla="val 50000"/>
            </a:avLst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2" name="Shape 60"/>
          <p:cNvSpPr/>
          <p:nvPr/>
        </p:nvSpPr>
        <p:spPr>
          <a:xfrm>
            <a:off x="11914849" y="4821205"/>
            <a:ext cx="4114767" cy="95250"/>
          </a:xfrm>
          <a:prstGeom prst="roundRect">
            <a:avLst>
              <a:gd name="adj" fmla="val 5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3" name="Shape 61"/>
          <p:cNvSpPr/>
          <p:nvPr/>
        </p:nvSpPr>
        <p:spPr>
          <a:xfrm>
            <a:off x="11914849" y="5068756"/>
            <a:ext cx="5143500" cy="2370336"/>
          </a:xfrm>
          <a:prstGeom prst="roundRect">
            <a:avLst>
              <a:gd name="adj" fmla="val 4822"/>
            </a:avLst>
          </a:prstGeom>
          <a:solidFill>
            <a:srgbClr val="F4F3F8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4" name="Text 62"/>
          <p:cNvSpPr/>
          <p:nvPr/>
        </p:nvSpPr>
        <p:spPr>
          <a:xfrm>
            <a:off x="12096750" y="5250656"/>
            <a:ext cx="525766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AS CHECK-IN NOTE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12096750" y="5621073"/>
            <a:ext cx="525766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Escalate spend recovery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12096750" y="5991490"/>
            <a:ext cx="525766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close date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12096750" y="6361906"/>
            <a:ext cx="525766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exception rate weekly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12096750" y="6770357"/>
            <a:ext cx="883708" cy="486833"/>
          </a:xfrm>
          <a:prstGeom prst="roundRect">
            <a:avLst>
              <a:gd name="adj" fmla="val 15652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9" name="Text 67"/>
          <p:cNvSpPr/>
          <p:nvPr/>
        </p:nvSpPr>
        <p:spPr>
          <a:xfrm>
            <a:off x="12268200" y="6865607"/>
            <a:ext cx="61700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</a:t>
            </a:r>
            <a:endParaRPr lang="en-US" sz="1800" dirty="0"/>
          </a:p>
        </p:txBody>
      </p:sp>
      <p:sp>
        <p:nvSpPr>
          <p:cNvPr id="70" name="Shape 68"/>
          <p:cNvSpPr/>
          <p:nvPr/>
        </p:nvSpPr>
        <p:spPr>
          <a:xfrm>
            <a:off x="13094726" y="6770357"/>
            <a:ext cx="1208980" cy="486833"/>
          </a:xfrm>
          <a:prstGeom prst="roundRect">
            <a:avLst>
              <a:gd name="adj" fmla="val 15652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1" name="Text 69"/>
          <p:cNvSpPr/>
          <p:nvPr/>
        </p:nvSpPr>
        <p:spPr>
          <a:xfrm>
            <a:off x="13276760" y="6876190"/>
            <a:ext cx="921114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Discard</a:t>
            </a:r>
            <a:endParaRPr lang="en-US" sz="1800" dirty="0"/>
          </a:p>
        </p:txBody>
      </p:sp>
      <p:sp>
        <p:nvSpPr>
          <p:cNvPr id="72" name="Shape 70"/>
          <p:cNvSpPr/>
          <p:nvPr/>
        </p:nvSpPr>
        <p:spPr>
          <a:xfrm>
            <a:off x="11914849" y="7743693"/>
            <a:ext cx="5143500" cy="1624707"/>
          </a:xfrm>
          <a:prstGeom prst="roundRect">
            <a:avLst>
              <a:gd name="adj" fmla="val 7035"/>
            </a:avLst>
          </a:prstGeom>
          <a:solidFill>
            <a:srgbClr val="F2F9FC"/>
          </a:solidFill>
          <a:ln w="10583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3" name="Text 71"/>
          <p:cNvSpPr/>
          <p:nvPr/>
        </p:nvSpPr>
        <p:spPr>
          <a:xfrm>
            <a:off x="12096750" y="7925594"/>
            <a:ext cx="2331062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NEEDS A HUMAN</a:t>
            </a:r>
            <a:endParaRPr lang="en-US" sz="1800" dirty="0"/>
          </a:p>
        </p:txBody>
      </p:sp>
      <p:sp>
        <p:nvSpPr>
          <p:cNvPr id="74" name="Text 72"/>
          <p:cNvSpPr/>
          <p:nvPr/>
        </p:nvSpPr>
        <p:spPr>
          <a:xfrm>
            <a:off x="14635593" y="7925594"/>
            <a:ext cx="2464941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L. Berger · Controller</a:t>
            </a:r>
            <a:endParaRPr lang="en-US" sz="1800" dirty="0"/>
          </a:p>
        </p:txBody>
      </p:sp>
      <p:sp>
        <p:nvSpPr>
          <p:cNvPr id="75" name="Text 73"/>
          <p:cNvSpPr/>
          <p:nvPr/>
        </p:nvSpPr>
        <p:spPr>
          <a:xfrm>
            <a:off x="12096750" y="8296011"/>
            <a:ext cx="5257668" cy="3465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154"/>
              </a:lnSpc>
              <a:buNone/>
            </a:pPr>
            <a:r>
              <a:rPr lang="en-US" sz="18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Escalate spend recovery to the CFO review?</a:t>
            </a:r>
            <a:endParaRPr lang="en-US" sz="1800" dirty="0"/>
          </a:p>
        </p:txBody>
      </p:sp>
      <p:sp>
        <p:nvSpPr>
          <p:cNvPr id="76" name="Shape 74"/>
          <p:cNvSpPr/>
          <p:nvPr/>
        </p:nvSpPr>
        <p:spPr>
          <a:xfrm>
            <a:off x="12096750" y="8710249"/>
            <a:ext cx="1277607" cy="465667"/>
          </a:xfrm>
          <a:prstGeom prst="roundRect">
            <a:avLst>
              <a:gd name="adj" fmla="val 16364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7" name="Text 75"/>
          <p:cNvSpPr/>
          <p:nvPr/>
        </p:nvSpPr>
        <p:spPr>
          <a:xfrm>
            <a:off x="12268200" y="8805499"/>
            <a:ext cx="1010907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Escalate</a:t>
            </a:r>
            <a:endParaRPr lang="en-US" sz="1800" dirty="0"/>
          </a:p>
        </p:txBody>
      </p:sp>
      <p:sp>
        <p:nvSpPr>
          <p:cNvPr id="78" name="Shape 76"/>
          <p:cNvSpPr/>
          <p:nvPr/>
        </p:nvSpPr>
        <p:spPr>
          <a:xfrm>
            <a:off x="13488624" y="8699665"/>
            <a:ext cx="1544174" cy="486833"/>
          </a:xfrm>
          <a:prstGeom prst="roundRect">
            <a:avLst>
              <a:gd name="adj" fmla="val 15652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9" name="Text 77"/>
          <p:cNvSpPr/>
          <p:nvPr/>
        </p:nvSpPr>
        <p:spPr>
          <a:xfrm>
            <a:off x="13670658" y="8805499"/>
            <a:ext cx="1256308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level</a:t>
            </a:r>
            <a:endParaRPr lang="en-US" sz="1800" dirty="0"/>
          </a:p>
        </p:txBody>
      </p:sp>
      <p:sp>
        <p:nvSpPr>
          <p:cNvPr id="80" name="Text 78"/>
          <p:cNvSpPr/>
          <p:nvPr/>
        </p:nvSpPr>
        <p:spPr>
          <a:xfrm>
            <a:off x="16044500" y="8805499"/>
            <a:ext cx="908149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6F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Logged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1460493" cy="683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kern="0" spc="-8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trail and lineage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952500" y="1712350"/>
            <a:ext cx="10418630" cy="781265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1382117" y="2141968"/>
            <a:ext cx="1419324" cy="1075201"/>
          </a:xfrm>
          <a:prstGeom prst="roundRect">
            <a:avLst>
              <a:gd name="adj" fmla="val 7087"/>
            </a:avLst>
          </a:prstGeom>
          <a:solidFill>
            <a:srgbClr val="F4F3F8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Text 3"/>
          <p:cNvSpPr/>
          <p:nvPr/>
        </p:nvSpPr>
        <p:spPr>
          <a:xfrm>
            <a:off x="1640351" y="2362101"/>
            <a:ext cx="979058" cy="6730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SAP FI-AP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991942" y="2669977"/>
            <a:ext cx="366117" cy="19017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" name="Shape 5"/>
          <p:cNvSpPr/>
          <p:nvPr/>
        </p:nvSpPr>
        <p:spPr>
          <a:xfrm>
            <a:off x="3548559" y="2141968"/>
            <a:ext cx="2092358" cy="1075201"/>
          </a:xfrm>
          <a:prstGeom prst="roundRect">
            <a:avLst>
              <a:gd name="adj" fmla="val 7087"/>
            </a:avLst>
          </a:prstGeom>
          <a:solidFill>
            <a:srgbClr val="F4F3F8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" name="Text 6"/>
          <p:cNvSpPr/>
          <p:nvPr/>
        </p:nvSpPr>
        <p:spPr>
          <a:xfrm>
            <a:off x="3806792" y="2362101"/>
            <a:ext cx="1652092" cy="6730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Governed dataset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831417" y="2669977"/>
            <a:ext cx="365952" cy="19017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" name="Shape 8"/>
          <p:cNvSpPr/>
          <p:nvPr/>
        </p:nvSpPr>
        <p:spPr>
          <a:xfrm>
            <a:off x="6387869" y="2141968"/>
            <a:ext cx="1979579" cy="1075201"/>
          </a:xfrm>
          <a:prstGeom prst="roundRect">
            <a:avLst>
              <a:gd name="adj" fmla="val 7087"/>
            </a:avLst>
          </a:prstGeom>
          <a:solidFill>
            <a:srgbClr val="F4F3F8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" name="Text 9"/>
          <p:cNvSpPr/>
          <p:nvPr/>
        </p:nvSpPr>
        <p:spPr>
          <a:xfrm>
            <a:off x="6646102" y="2362101"/>
            <a:ext cx="1539313" cy="6730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run #4471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557949" y="2669977"/>
            <a:ext cx="366117" cy="19017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" name="Shape 11"/>
          <p:cNvSpPr/>
          <p:nvPr/>
        </p:nvSpPr>
        <p:spPr>
          <a:xfrm>
            <a:off x="9114566" y="2141968"/>
            <a:ext cx="1826948" cy="1075201"/>
          </a:xfrm>
          <a:prstGeom prst="roundRect">
            <a:avLst>
              <a:gd name="adj" fmla="val 7087"/>
            </a:avLst>
          </a:prstGeom>
          <a:solidFill>
            <a:srgbClr val="F4F3F8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" name="Text 12"/>
          <p:cNvSpPr/>
          <p:nvPr/>
        </p:nvSpPr>
        <p:spPr>
          <a:xfrm>
            <a:off x="9372799" y="2362101"/>
            <a:ext cx="1386681" cy="6730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 shown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382117" y="3521935"/>
            <a:ext cx="9559396" cy="10583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4"/>
          <p:cNvSpPr/>
          <p:nvPr/>
        </p:nvSpPr>
        <p:spPr>
          <a:xfrm>
            <a:off x="1382117" y="3837285"/>
            <a:ext cx="1885950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09:14:02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3363185" y="3837285"/>
            <a:ext cx="2095500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a.keller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5534753" y="3837285"/>
            <a:ext cx="4348163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 generated · policy FIN-04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382117" y="4448969"/>
            <a:ext cx="1885950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09:14:02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3363185" y="4448969"/>
            <a:ext cx="2095500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5534753" y="4448969"/>
            <a:ext cx="4086953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Row filter applied · entity NO-01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382117" y="5060653"/>
            <a:ext cx="1885950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09:12:55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3363185" y="5060653"/>
            <a:ext cx="2095500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5534753" y="5060653"/>
            <a:ext cx="4563352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refreshed · AP invoice lines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382117" y="8746133"/>
            <a:ext cx="10515336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answer is reproducible: source, policy, prompt, result.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11637699" y="762000"/>
            <a:ext cx="5697802" cy="8763001"/>
          </a:xfrm>
          <a:prstGeom prst="roundRect">
            <a:avLst>
              <a:gd name="adj" fmla="val 2675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7" name="Shape 25"/>
          <p:cNvSpPr/>
          <p:nvPr/>
        </p:nvSpPr>
        <p:spPr>
          <a:xfrm>
            <a:off x="11914849" y="1176569"/>
            <a:ext cx="114267" cy="114267"/>
          </a:xfrm>
          <a:prstGeom prst="ellipse">
            <a:avLst/>
          </a:prstGeom>
          <a:solidFill>
            <a:srgbClr val="00A1E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8" name="Text 26"/>
          <p:cNvSpPr/>
          <p:nvPr/>
        </p:nvSpPr>
        <p:spPr>
          <a:xfrm>
            <a:off x="12143383" y="1080327"/>
            <a:ext cx="2075673" cy="345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AIHub assistant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16306106" y="1039151"/>
            <a:ext cx="752244" cy="389268"/>
          </a:xfrm>
          <a:prstGeom prst="roundRect">
            <a:avLst>
              <a:gd name="adj" fmla="val 9788"/>
            </a:avLst>
          </a:prstGeom>
          <a:solidFill>
            <a:srgbClr val="DDEFF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0" name="Text 28"/>
          <p:cNvSpPr/>
          <p:nvPr/>
        </p:nvSpPr>
        <p:spPr>
          <a:xfrm>
            <a:off x="16420406" y="1096301"/>
            <a:ext cx="599844" cy="31306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3291675" y="1580720"/>
            <a:ext cx="3766675" cy="503701"/>
          </a:xfrm>
          <a:prstGeom prst="roundRect">
            <a:avLst>
              <a:gd name="adj" fmla="val 22692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2" name="Text 30"/>
          <p:cNvSpPr/>
          <p:nvPr/>
        </p:nvSpPr>
        <p:spPr>
          <a:xfrm>
            <a:off x="13463125" y="1695020"/>
            <a:ext cx="3536775" cy="31320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has seen the bank details?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1914849" y="2236721"/>
            <a:ext cx="5297805" cy="9975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18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Nobody through AIHub. The field is masked at the dataset, so no run, prompt or answer has ever carried it.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1914849" y="3348468"/>
            <a:ext cx="1671489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Masked reads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6674373" y="3348468"/>
            <a:ext cx="460177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412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1914849" y="3699702"/>
            <a:ext cx="5143500" cy="95250"/>
          </a:xfrm>
          <a:prstGeom prst="roundRect">
            <a:avLst>
              <a:gd name="adj" fmla="val 50000"/>
            </a:avLst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7" name="Shape 35"/>
          <p:cNvSpPr/>
          <p:nvPr/>
        </p:nvSpPr>
        <p:spPr>
          <a:xfrm>
            <a:off x="11914849" y="3699702"/>
            <a:ext cx="5143500" cy="95250"/>
          </a:xfrm>
          <a:prstGeom prst="roundRect">
            <a:avLst>
              <a:gd name="adj" fmla="val 5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8" name="Text 36"/>
          <p:cNvSpPr/>
          <p:nvPr/>
        </p:nvSpPr>
        <p:spPr>
          <a:xfrm>
            <a:off x="11914849" y="3909219"/>
            <a:ext cx="2000184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Unmasked reads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6907538" y="3909219"/>
            <a:ext cx="227013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1914849" y="4260453"/>
            <a:ext cx="5143500" cy="95250"/>
          </a:xfrm>
          <a:prstGeom prst="roundRect">
            <a:avLst>
              <a:gd name="adj" fmla="val 50000"/>
            </a:avLst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1" name="Shape 39"/>
          <p:cNvSpPr/>
          <p:nvPr/>
        </p:nvSpPr>
        <p:spPr>
          <a:xfrm>
            <a:off x="11914849" y="4260453"/>
            <a:ext cx="102857" cy="95250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2" name="Text 40"/>
          <p:cNvSpPr/>
          <p:nvPr/>
        </p:nvSpPr>
        <p:spPr>
          <a:xfrm>
            <a:off x="11914849" y="4469970"/>
            <a:ext cx="1974354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requests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5910389" y="4469970"/>
            <a:ext cx="1224161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declined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11914849" y="4821205"/>
            <a:ext cx="5143500" cy="95250"/>
          </a:xfrm>
          <a:prstGeom prst="roundRect">
            <a:avLst>
              <a:gd name="adj" fmla="val 50000"/>
            </a:avLst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Shape 43"/>
          <p:cNvSpPr/>
          <p:nvPr/>
        </p:nvSpPr>
        <p:spPr>
          <a:xfrm>
            <a:off x="11914849" y="4821205"/>
            <a:ext cx="822854" cy="95250"/>
          </a:xfrm>
          <a:prstGeom prst="roundRect">
            <a:avLst>
              <a:gd name="adj" fmla="val 5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6" name="Shape 44"/>
          <p:cNvSpPr/>
          <p:nvPr/>
        </p:nvSpPr>
        <p:spPr>
          <a:xfrm>
            <a:off x="11914849" y="5068756"/>
            <a:ext cx="5143500" cy="2370336"/>
          </a:xfrm>
          <a:prstGeom prst="roundRect">
            <a:avLst>
              <a:gd name="adj" fmla="val 4822"/>
            </a:avLst>
          </a:prstGeom>
          <a:solidFill>
            <a:srgbClr val="F4F3F8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7" name="Text 45"/>
          <p:cNvSpPr/>
          <p:nvPr/>
        </p:nvSpPr>
        <p:spPr>
          <a:xfrm>
            <a:off x="12096750" y="5250656"/>
            <a:ext cx="525766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 FOR THE AUDITOR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2096750" y="5621073"/>
            <a:ext cx="525766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Lineage for run #4471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2096750" y="5991490"/>
            <a:ext cx="525766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log, August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2096750" y="6361906"/>
            <a:ext cx="525766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version history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2096750" y="6770357"/>
            <a:ext cx="883708" cy="486833"/>
          </a:xfrm>
          <a:prstGeom prst="roundRect">
            <a:avLst>
              <a:gd name="adj" fmla="val 15652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2" name="Text 50"/>
          <p:cNvSpPr/>
          <p:nvPr/>
        </p:nvSpPr>
        <p:spPr>
          <a:xfrm>
            <a:off x="12268200" y="6865607"/>
            <a:ext cx="61700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13094726" y="6770357"/>
            <a:ext cx="1208980" cy="486833"/>
          </a:xfrm>
          <a:prstGeom prst="roundRect">
            <a:avLst>
              <a:gd name="adj" fmla="val 15652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4" name="Text 52"/>
          <p:cNvSpPr/>
          <p:nvPr/>
        </p:nvSpPr>
        <p:spPr>
          <a:xfrm>
            <a:off x="13276760" y="6876190"/>
            <a:ext cx="921114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Discard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11914849" y="7743693"/>
            <a:ext cx="5143500" cy="1624707"/>
          </a:xfrm>
          <a:prstGeom prst="roundRect">
            <a:avLst>
              <a:gd name="adj" fmla="val 7035"/>
            </a:avLst>
          </a:prstGeom>
          <a:solidFill>
            <a:srgbClr val="F2F9FC"/>
          </a:solidFill>
          <a:ln w="10583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6" name="Text 54"/>
          <p:cNvSpPr/>
          <p:nvPr/>
        </p:nvSpPr>
        <p:spPr>
          <a:xfrm>
            <a:off x="12096750" y="7925594"/>
            <a:ext cx="2331062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NEEDS A HUMAN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15208086" y="7925594"/>
            <a:ext cx="1835200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C. Meier · Audit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12096750" y="8296011"/>
            <a:ext cx="5257668" cy="3465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154"/>
              </a:lnSpc>
              <a:buNone/>
            </a:pPr>
            <a:r>
              <a:rPr lang="en-US" sz="18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Certify the August evidence pack?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2096750" y="8710249"/>
            <a:ext cx="1104801" cy="465667"/>
          </a:xfrm>
          <a:prstGeom prst="roundRect">
            <a:avLst>
              <a:gd name="adj" fmla="val 16364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0" name="Text 58"/>
          <p:cNvSpPr/>
          <p:nvPr/>
        </p:nvSpPr>
        <p:spPr>
          <a:xfrm>
            <a:off x="12268200" y="8805499"/>
            <a:ext cx="838101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Certify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13315819" y="8699665"/>
            <a:ext cx="1892102" cy="486833"/>
          </a:xfrm>
          <a:prstGeom prst="roundRect">
            <a:avLst>
              <a:gd name="adj" fmla="val 15652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2" name="Text 60"/>
          <p:cNvSpPr/>
          <p:nvPr/>
        </p:nvSpPr>
        <p:spPr>
          <a:xfrm>
            <a:off x="13497852" y="8805499"/>
            <a:ext cx="1604235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 more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16044500" y="8805499"/>
            <a:ext cx="908149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6F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Logged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9895417" cy="683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kern="0" spc="-8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Swiss AI-Hub, the open-source core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0176867" y="1047750"/>
            <a:ext cx="4493320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065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github.com/bbvch-ai/aihub-core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952500" y="1712350"/>
            <a:ext cx="9427766" cy="833768"/>
          </a:xfrm>
          <a:prstGeom prst="roundRect">
            <a:avLst>
              <a:gd name="adj" fmla="val 13709"/>
            </a:avLst>
          </a:prstGeom>
          <a:solidFill>
            <a:srgbClr val="F2F9FC"/>
          </a:solidFill>
          <a:ln w="10583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Text 3"/>
          <p:cNvSpPr/>
          <p:nvPr/>
        </p:nvSpPr>
        <p:spPr>
          <a:xfrm>
            <a:off x="1210634" y="1970485"/>
            <a:ext cx="2514600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work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725168" y="1991651"/>
            <a:ext cx="4774903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SDK · Pipeline SDK · Process SDK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52500" y="2698419"/>
            <a:ext cx="9427766" cy="833768"/>
          </a:xfrm>
          <a:prstGeom prst="roundRect">
            <a:avLst>
              <a:gd name="adj" fmla="val 13709"/>
            </a:avLst>
          </a:prstGeom>
          <a:solidFill>
            <a:srgbClr val="F4F3F8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" name="Text 6"/>
          <p:cNvSpPr/>
          <p:nvPr/>
        </p:nvSpPr>
        <p:spPr>
          <a:xfrm>
            <a:off x="1210634" y="2956554"/>
            <a:ext cx="2514600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Interfaces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725168" y="2977720"/>
            <a:ext cx="5672584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 UI · Teams and Slack bots · Admin console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52500" y="3684488"/>
            <a:ext cx="9427766" cy="1066602"/>
          </a:xfrm>
          <a:prstGeom prst="roundRect">
            <a:avLst>
              <a:gd name="adj" fmla="val 10716"/>
            </a:avLst>
          </a:prstGeom>
          <a:solidFill>
            <a:srgbClr val="F4F3F8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" name="Text 9"/>
          <p:cNvSpPr/>
          <p:nvPr/>
        </p:nvSpPr>
        <p:spPr>
          <a:xfrm>
            <a:off x="1210634" y="4059039"/>
            <a:ext cx="2514600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services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3725168" y="3942623"/>
            <a:ext cx="6588873" cy="588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LiteLLM gateway · vLLM inference · Milvus vector store · Mem0 memory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52500" y="4903391"/>
            <a:ext cx="9427766" cy="1066602"/>
          </a:xfrm>
          <a:prstGeom prst="roundRect">
            <a:avLst>
              <a:gd name="adj" fmla="val 10716"/>
            </a:avLst>
          </a:prstGeom>
          <a:solidFill>
            <a:srgbClr val="F4F3F8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" name="Text 12"/>
          <p:cNvSpPr/>
          <p:nvPr/>
        </p:nvSpPr>
        <p:spPr>
          <a:xfrm>
            <a:off x="1210634" y="5277942"/>
            <a:ext cx="2514600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3725168" y="5161525"/>
            <a:ext cx="6588873" cy="588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Dagster pipelines · Rclone sources · MinerU parsing · SeaweedFS storage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52500" y="6122293"/>
            <a:ext cx="9427766" cy="1066602"/>
          </a:xfrm>
          <a:prstGeom prst="roundRect">
            <a:avLst>
              <a:gd name="adj" fmla="val 10716"/>
            </a:avLst>
          </a:prstGeom>
          <a:solidFill>
            <a:srgbClr val="F4F3F8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" name="Text 15"/>
          <p:cNvSpPr/>
          <p:nvPr/>
        </p:nvSpPr>
        <p:spPr>
          <a:xfrm>
            <a:off x="1210634" y="6496844"/>
            <a:ext cx="2514600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3725168" y="6380427"/>
            <a:ext cx="6588873" cy="588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Keycloak SSO · Presidio PII redaction · Langfuse tracing · Traefik TLS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646834" y="1712350"/>
            <a:ext cx="6688667" cy="781265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0" name="Text 18"/>
          <p:cNvSpPr/>
          <p:nvPr/>
        </p:nvSpPr>
        <p:spPr>
          <a:xfrm>
            <a:off x="11038417" y="2103934"/>
            <a:ext cx="6082665" cy="952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182"/>
              </a:lnSpc>
              <a:buNone/>
            </a:pPr>
            <a:r>
              <a:rPr lang="en-US" sz="3000" b="1" kern="0" spc="-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AI infrastructure stack for Swiss enterprises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1038417" y="3246603"/>
            <a:ext cx="6082665" cy="1524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034"/>
              </a:lnSpc>
              <a:buNone/>
            </a:pPr>
            <a:r>
              <a:rPr lang="en-US" sz="19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deployment starts about 30 integrated containers. Run it on your own servers, with local models, and every byte stays under your jurisdiction.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1038417" y="4961434"/>
            <a:ext cx="6082665" cy="1226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103"/>
              </a:lnSpc>
              <a:buNone/>
            </a:pPr>
            <a:r>
              <a:rPr lang="en-US" sz="195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Deployed and extended by bbv engineers. No vendor lock-in on the commodity layer. Your agents and data stay yours.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1038417" y="8858251"/>
            <a:ext cx="649605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Apache-2.0 / AGPL dual licence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1" cy="683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kern="0" spc="-8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FDE delivery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952500" y="1826617"/>
            <a:ext cx="16383001" cy="2680064"/>
          </a:xfrm>
          <a:prstGeom prst="roundRect">
            <a:avLst>
              <a:gd name="adj" fmla="val 5686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1496384" y="2370501"/>
            <a:ext cx="15295233" cy="57051"/>
          </a:xfrm>
          <a:prstGeom prst="roundRect">
            <a:avLst>
              <a:gd name="adj" fmla="val 5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Text 3"/>
          <p:cNvSpPr/>
          <p:nvPr/>
        </p:nvSpPr>
        <p:spPr>
          <a:xfrm>
            <a:off x="1496384" y="2770353"/>
            <a:ext cx="4017648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496384" y="3191537"/>
            <a:ext cx="3761980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455"/>
              </a:lnSpc>
              <a:buNone/>
            </a:pPr>
            <a:r>
              <a:rPr lang="en-US" sz="22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 with the finance team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5377326" y="2770353"/>
            <a:ext cx="4017648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2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377326" y="3191537"/>
            <a:ext cx="4017648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455"/>
              </a:lnSpc>
              <a:buNone/>
            </a:pPr>
            <a:r>
              <a:rPr lang="en-US" sz="22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and policy mapping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258267" y="2770353"/>
            <a:ext cx="4017648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4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258267" y="3191537"/>
            <a:ext cx="4017648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455"/>
              </a:lnSpc>
              <a:buNone/>
            </a:pPr>
            <a:r>
              <a:rPr lang="en-US" sz="22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in pilot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3139208" y="2770353"/>
            <a:ext cx="4017648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6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3139208" y="3191537"/>
            <a:ext cx="4017648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455"/>
              </a:lnSpc>
              <a:buNone/>
            </a:pPr>
            <a:r>
              <a:rPr lang="en-US" sz="22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52500" y="4925715"/>
            <a:ext cx="5308534" cy="2032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" name="Text 12"/>
          <p:cNvSpPr/>
          <p:nvPr/>
        </p:nvSpPr>
        <p:spPr>
          <a:xfrm>
            <a:off x="1344083" y="5317299"/>
            <a:ext cx="4977904" cy="874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400" b="1" kern="0" spc="-108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weeks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1344083" y="6248632"/>
            <a:ext cx="4977904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production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6489568" y="4925715"/>
            <a:ext cx="5308699" cy="2032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" name="Text 15"/>
          <p:cNvSpPr/>
          <p:nvPr/>
        </p:nvSpPr>
        <p:spPr>
          <a:xfrm>
            <a:off x="6881151" y="5317299"/>
            <a:ext cx="4978086" cy="874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400" b="1" kern="0" spc="-108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-38%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6881151" y="6248632"/>
            <a:ext cx="4978086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review hours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2026801" y="4925715"/>
            <a:ext cx="5308699" cy="2032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0" name="Text 18"/>
          <p:cNvSpPr/>
          <p:nvPr/>
        </p:nvSpPr>
        <p:spPr>
          <a:xfrm>
            <a:off x="12418385" y="5317299"/>
            <a:ext cx="4978086" cy="874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400" b="1" kern="0" spc="-108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team</a:t>
            </a:r>
            <a:endParaRPr lang="en-US" sz="5400" dirty="0"/>
          </a:p>
        </p:txBody>
      </p:sp>
      <p:sp>
        <p:nvSpPr>
          <p:cNvPr id="21" name="Text 19"/>
          <p:cNvSpPr/>
          <p:nvPr/>
        </p:nvSpPr>
        <p:spPr>
          <a:xfrm>
            <a:off x="12418385" y="6248632"/>
            <a:ext cx="4978086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embedded, not handed over</a:t>
            </a:r>
            <a:endParaRPr lang="en-US" sz="2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4092228" cy="683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kern="0" spc="-8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value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901241" y="1037167"/>
            <a:ext cx="6855123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Twelve months after go-live · signed off with the CFO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952500" y="1712350"/>
            <a:ext cx="5308534" cy="2804914"/>
          </a:xfrm>
          <a:prstGeom prst="roundRect">
            <a:avLst>
              <a:gd name="adj" fmla="val 5433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Text 3"/>
          <p:cNvSpPr/>
          <p:nvPr/>
        </p:nvSpPr>
        <p:spPr>
          <a:xfrm>
            <a:off x="1344083" y="2103934"/>
            <a:ext cx="4977904" cy="874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400" b="1" kern="0" spc="-108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$ 1.4M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344083" y="3054284"/>
            <a:ext cx="4977904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 run-rate benefit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44083" y="3486051"/>
            <a:ext cx="4661128" cy="677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Recovered spend, avoided rework, lower cost per invoice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89568" y="1712350"/>
            <a:ext cx="5308699" cy="2804914"/>
          </a:xfrm>
          <a:prstGeom prst="roundRect">
            <a:avLst>
              <a:gd name="adj" fmla="val 5433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" name="Text 7"/>
          <p:cNvSpPr/>
          <p:nvPr/>
        </p:nvSpPr>
        <p:spPr>
          <a:xfrm>
            <a:off x="6881151" y="2103934"/>
            <a:ext cx="4978086" cy="874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400" b="1" kern="0" spc="-108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11,000 h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6881151" y="3054284"/>
            <a:ext cx="4978086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to the team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881151" y="3486051"/>
            <a:ext cx="4661299" cy="677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Hours moved from reconciliation to analysis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026801" y="1712350"/>
            <a:ext cx="5308699" cy="2804914"/>
          </a:xfrm>
          <a:prstGeom prst="roundRect">
            <a:avLst>
              <a:gd name="adj" fmla="val 5433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" name="Text 11"/>
          <p:cNvSpPr/>
          <p:nvPr/>
        </p:nvSpPr>
        <p:spPr>
          <a:xfrm>
            <a:off x="12418385" y="2103934"/>
            <a:ext cx="4978086" cy="874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400" b="1" kern="0" spc="-108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months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12418385" y="3054284"/>
            <a:ext cx="4978086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Payback on the programme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2418385" y="3486051"/>
            <a:ext cx="497808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and delivery cost recovered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52500" y="4822032"/>
            <a:ext cx="16383001" cy="4702969"/>
          </a:xfrm>
          <a:prstGeom prst="roundRect">
            <a:avLst>
              <a:gd name="adj" fmla="val 3241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" name="Text 15"/>
          <p:cNvSpPr/>
          <p:nvPr/>
        </p:nvSpPr>
        <p:spPr>
          <a:xfrm>
            <a:off x="1382117" y="5251649"/>
            <a:ext cx="17076143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AND AFTER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82117" y="5872758"/>
            <a:ext cx="4400550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review hours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5649185" y="5793383"/>
            <a:ext cx="9656631" cy="190500"/>
          </a:xfrm>
          <a:prstGeom prst="roundRect">
            <a:avLst>
              <a:gd name="adj" fmla="val 20000"/>
            </a:avLst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0" name="Shape 18"/>
          <p:cNvSpPr/>
          <p:nvPr/>
        </p:nvSpPr>
        <p:spPr>
          <a:xfrm>
            <a:off x="5649185" y="6079133"/>
            <a:ext cx="3669440" cy="190500"/>
          </a:xfrm>
          <a:prstGeom prst="roundRect">
            <a:avLst>
              <a:gd name="adj" fmla="val 2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1" name="Text 19"/>
          <p:cNvSpPr/>
          <p:nvPr/>
        </p:nvSpPr>
        <p:spPr>
          <a:xfrm>
            <a:off x="15439033" y="5872758"/>
            <a:ext cx="1466850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-62%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382117" y="6615576"/>
            <a:ext cx="4400550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per invoice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5649185" y="6536201"/>
            <a:ext cx="9656631" cy="190500"/>
          </a:xfrm>
          <a:prstGeom prst="roundRect">
            <a:avLst>
              <a:gd name="adj" fmla="val 20000"/>
            </a:avLst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4" name="Shape 22"/>
          <p:cNvSpPr/>
          <p:nvPr/>
        </p:nvSpPr>
        <p:spPr>
          <a:xfrm>
            <a:off x="5649185" y="6821951"/>
            <a:ext cx="3766013" cy="190500"/>
          </a:xfrm>
          <a:prstGeom prst="roundRect">
            <a:avLst>
              <a:gd name="adj" fmla="val 2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5" name="Text 23"/>
          <p:cNvSpPr/>
          <p:nvPr/>
        </p:nvSpPr>
        <p:spPr>
          <a:xfrm>
            <a:off x="15439033" y="6615576"/>
            <a:ext cx="1466850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-61%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382117" y="7358393"/>
            <a:ext cx="4400550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Days to close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5649185" y="7279018"/>
            <a:ext cx="9656631" cy="190500"/>
          </a:xfrm>
          <a:prstGeom prst="roundRect">
            <a:avLst>
              <a:gd name="adj" fmla="val 20000"/>
            </a:avLst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8" name="Shape 26"/>
          <p:cNvSpPr/>
          <p:nvPr/>
        </p:nvSpPr>
        <p:spPr>
          <a:xfrm>
            <a:off x="5649185" y="7564768"/>
            <a:ext cx="2896857" cy="190500"/>
          </a:xfrm>
          <a:prstGeom prst="roundRect">
            <a:avLst>
              <a:gd name="adj" fmla="val 2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9" name="Text 27"/>
          <p:cNvSpPr/>
          <p:nvPr/>
        </p:nvSpPr>
        <p:spPr>
          <a:xfrm>
            <a:off x="15439033" y="7358393"/>
            <a:ext cx="1466850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-70%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382117" y="8777883"/>
            <a:ext cx="1707614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Owned infrastructure, no per-seat AI licence, value compounding with each new use case.</a:t>
            </a:r>
            <a:endParaRPr lang="en-US" sz="2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760431"/>
            <a:ext cx="17602201" cy="874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400" b="1" kern="0" spc="-108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Governed, isolated, automated, integrated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1143000" y="4053582"/>
            <a:ext cx="3829017" cy="1813884"/>
          </a:xfrm>
          <a:prstGeom prst="roundRect">
            <a:avLst>
              <a:gd name="adj" fmla="val 8402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" name="Text 2"/>
          <p:cNvSpPr/>
          <p:nvPr/>
        </p:nvSpPr>
        <p:spPr>
          <a:xfrm>
            <a:off x="1458350" y="4368932"/>
            <a:ext cx="3518148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117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458350" y="4790116"/>
            <a:ext cx="3518148" cy="429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458350" y="5276949"/>
            <a:ext cx="351814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travels with the data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200551" y="4053582"/>
            <a:ext cx="3829183" cy="1813884"/>
          </a:xfrm>
          <a:prstGeom prst="roundRect">
            <a:avLst>
              <a:gd name="adj" fmla="val 8402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" name="Text 6"/>
          <p:cNvSpPr/>
          <p:nvPr/>
        </p:nvSpPr>
        <p:spPr>
          <a:xfrm>
            <a:off x="5515901" y="4368932"/>
            <a:ext cx="3518330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117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5515901" y="4790116"/>
            <a:ext cx="3518330" cy="429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Segregation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5515901" y="5276949"/>
            <a:ext cx="351833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Workspaces stay isolated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258267" y="4053582"/>
            <a:ext cx="3829017" cy="1813884"/>
          </a:xfrm>
          <a:prstGeom prst="roundRect">
            <a:avLst>
              <a:gd name="adj" fmla="val 8402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" name="Text 10"/>
          <p:cNvSpPr/>
          <p:nvPr/>
        </p:nvSpPr>
        <p:spPr>
          <a:xfrm>
            <a:off x="9573617" y="4368932"/>
            <a:ext cx="3518148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117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573617" y="4790116"/>
            <a:ext cx="3518148" cy="429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Automation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9573617" y="5276949"/>
            <a:ext cx="351814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 do the routine pass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3315819" y="4053582"/>
            <a:ext cx="3829183" cy="1813884"/>
          </a:xfrm>
          <a:prstGeom prst="roundRect">
            <a:avLst>
              <a:gd name="adj" fmla="val 8402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6" name="Text 14"/>
          <p:cNvSpPr/>
          <p:nvPr/>
        </p:nvSpPr>
        <p:spPr>
          <a:xfrm>
            <a:off x="13631169" y="4368932"/>
            <a:ext cx="3518330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117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3631169" y="4790116"/>
            <a:ext cx="3518330" cy="429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3631169" y="5276949"/>
            <a:ext cx="351833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Wired into the finance stack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143000" y="6438801"/>
            <a:ext cx="1201870" cy="1087768"/>
          </a:xfrm>
          <a:prstGeom prst="roundRect">
            <a:avLst>
              <a:gd name="adj" fmla="val 10508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438801"/>
            <a:ext cx="1201870" cy="108776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2611438" y="6786893"/>
            <a:ext cx="1764076" cy="4296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bbv AIHub</a:t>
            </a:r>
            <a:endParaRPr lang="en-US" sz="2550" dirty="0"/>
          </a:p>
        </p:txBody>
      </p:sp>
      <p:sp>
        <p:nvSpPr>
          <p:cNvPr id="22" name="Shape 19"/>
          <p:cNvSpPr/>
          <p:nvPr/>
        </p:nvSpPr>
        <p:spPr>
          <a:xfrm>
            <a:off x="4481711" y="6754151"/>
            <a:ext cx="9525" cy="457068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3" name="Text 20"/>
          <p:cNvSpPr/>
          <p:nvPr/>
        </p:nvSpPr>
        <p:spPr>
          <a:xfrm>
            <a:off x="4757705" y="6813352"/>
            <a:ext cx="5184544" cy="3767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0065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github.com/bbvch-ai/aihub-core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2545</Words>
  <Application>Microsoft Office PowerPoint</Application>
  <PresentationFormat>Custom</PresentationFormat>
  <Paragraphs>570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Courier New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Dao Trong Vo</cp:lastModifiedBy>
  <cp:revision>1</cp:revision>
  <dcterms:created xsi:type="dcterms:W3CDTF">2026-08-11T08:14:16Z</dcterms:created>
  <dcterms:modified xsi:type="dcterms:W3CDTF">2026-08-11T09:27:45Z</dcterms:modified>
</cp:coreProperties>
</file>