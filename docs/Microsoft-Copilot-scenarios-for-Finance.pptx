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1.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60" r:id="rId1"/>
  </p:sldMasterIdLst>
  <p:notesMasterIdLst>
    <p:notesMasterId r:id="rId38"/>
  </p:notesMasterIdLst>
  <p:sldIdLst>
    <p:sldId id="1633" r:id="rId2"/>
    <p:sldId id="440" r:id="rId3"/>
    <p:sldId id="375" r:id="rId4"/>
    <p:sldId id="334" r:id="rId5"/>
    <p:sldId id="1646" r:id="rId6"/>
    <p:sldId id="342" r:id="rId7"/>
    <p:sldId id="264" r:id="rId8"/>
    <p:sldId id="404" r:id="rId9"/>
    <p:sldId id="2147483596" r:id="rId10"/>
    <p:sldId id="402" r:id="rId11"/>
    <p:sldId id="405" r:id="rId12"/>
    <p:sldId id="403" r:id="rId13"/>
    <p:sldId id="531" r:id="rId14"/>
    <p:sldId id="483" r:id="rId15"/>
    <p:sldId id="485" r:id="rId16"/>
    <p:sldId id="482" r:id="rId17"/>
    <p:sldId id="361" r:id="rId18"/>
    <p:sldId id="296" r:id="rId19"/>
    <p:sldId id="377" r:id="rId20"/>
    <p:sldId id="292" r:id="rId21"/>
    <p:sldId id="274" r:id="rId22"/>
    <p:sldId id="278" r:id="rId23"/>
    <p:sldId id="383" r:id="rId24"/>
    <p:sldId id="276" r:id="rId25"/>
    <p:sldId id="257" r:id="rId26"/>
    <p:sldId id="306" r:id="rId27"/>
    <p:sldId id="466" r:id="rId28"/>
    <p:sldId id="376" r:id="rId29"/>
    <p:sldId id="294" r:id="rId30"/>
    <p:sldId id="604" r:id="rId31"/>
    <p:sldId id="307" r:id="rId32"/>
    <p:sldId id="308" r:id="rId33"/>
    <p:sldId id="384" r:id="rId34"/>
    <p:sldId id="385" r:id="rId35"/>
    <p:sldId id="546" r:id="rId36"/>
    <p:sldId id="262"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8F8F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F3EA553-41F0-4ADE-9C17-0B79119E7394}" v="1" dt="2026-01-15T22:01:45.774"/>
    <p1510:client id="{97D9914F-BBC1-4220-BA84-1BBA1DE90E18}" v="221" dt="2026-01-15T01:47:46.50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1" d="100"/>
          <a:sy n="101" d="100"/>
        </p:scale>
        <p:origin x="936"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8/10/relationships/authors" Targe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microsoft.com/office/2015/10/relationships/revisionInfo" Target="revisionInfo.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5C10360-7F2B-43B7-AE47-3D95E72B02E5}" type="datetimeFigureOut">
              <a:rPr lang="en-US" smtClean="0"/>
              <a:t>8/11/2026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986178-B4BC-4168-845A-05655C68B09A}" type="slidenum">
              <a:rPr lang="en-US" smtClean="0"/>
              <a:t>‹#›</a:t>
            </a:fld>
            <a:endParaRPr lang="en-US" dirty="0"/>
          </a:p>
        </p:txBody>
      </p:sp>
    </p:spTree>
    <p:extLst>
      <p:ext uri="{BB962C8B-B14F-4D97-AF65-F5344CB8AC3E}">
        <p14:creationId xmlns:p14="http://schemas.microsoft.com/office/powerpoint/2010/main" val="24907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57A88C-D68B-7E43-B6BD-8EAA3060908E}"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1708389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248D70-1614-483A-8C8C-25212EAD5529}"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9875781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pPr marL="0" marR="0" lvl="0" indent="0">
              <a:lnSpc>
                <a:spcPct val="105000"/>
              </a:lnSpc>
              <a:spcBef>
                <a:spcPts val="0"/>
              </a:spcBef>
              <a:spcAft>
                <a:spcPts val="0"/>
              </a:spcAft>
              <a:buFont typeface="+mj-lt"/>
              <a:buNone/>
              <a:tabLst>
                <a:tab pos="3776345" algn="l"/>
              </a:tabLst>
            </a:pP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5C496AA-4723-472D-97C9-EE47AB39C7F9}"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5201755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2B9DDF-49F7-3716-EC8F-60ED2B76F2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82F166-56D3-8FF4-376D-5887442E276A}"/>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0BD61E74-A34D-8652-A60A-B1756FC15A5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D8673C3-F879-A48E-37A4-4B8DA306BD2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57A88C-D68B-7E43-B6BD-8EAA3060908E}"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1616327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57A88C-D68B-7E43-B6BD-8EAA3060908E}"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5023008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57A88C-D68B-7E43-B6BD-8EAA3060908E}"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2552163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57A88C-D68B-7E43-B6BD-8EAA3060908E}"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3556865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ECC1DF-A244-DDB3-D38F-6DB6BCD2A2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FAD582-C1CE-FFEA-B67E-EFD30A03F6E0}"/>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6ED43FF6-280E-E8BA-4F8E-E2A9C3D2DD7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B67F26E-F212-84FF-A212-463B95F65FB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57A88C-D68B-7E43-B6BD-8EAA3060908E}"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9251362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94AA71-149B-4518-8B09-A5251565E2A6}"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0949826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986178-B4BC-4168-845A-05655C68B09A}" type="slidenum">
              <a:rPr lang="en-US" smtClean="0"/>
              <a:t>29</a:t>
            </a:fld>
            <a:endParaRPr lang="en-US" dirty="0"/>
          </a:p>
        </p:txBody>
      </p:sp>
    </p:spTree>
    <p:extLst>
      <p:ext uri="{BB962C8B-B14F-4D97-AF65-F5344CB8AC3E}">
        <p14:creationId xmlns:p14="http://schemas.microsoft.com/office/powerpoint/2010/main" val="12887985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4DE6BB-531D-BF01-1BF6-BD88A3A822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D5B1A6-8938-CCA7-4A3F-5588147B6153}"/>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B1BD6BA7-9C38-8F7B-1E27-71F470C447A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962C869-36D1-66F5-32A8-91D5EDE10E9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94AA71-149B-4518-8B09-A5251565E2A6}"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37032636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57A88C-D68B-7E43-B6BD-8EAA3060908E}"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2279896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57A88C-D68B-7E43-B6BD-8EAA3060908E}"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96398488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m365copilot.com/"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m365copilot.com/"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m365copilot.com/"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hyperlink" Target="https://m365copilot.com/"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1_Title square photo 2">
    <p:bg>
      <p:bgPr>
        <a:solidFill>
          <a:srgbClr val="FFF8F3"/>
        </a:solidFill>
        <a:effectLst/>
      </p:bgPr>
    </p:bg>
    <p:spTree>
      <p:nvGrpSpPr>
        <p:cNvPr id="1" name=""/>
        <p:cNvGrpSpPr/>
        <p:nvPr/>
      </p:nvGrpSpPr>
      <p:grpSpPr>
        <a:xfrm>
          <a:off x="0" y="0"/>
          <a:ext cx="0" cy="0"/>
          <a:chOff x="0" y="0"/>
          <a:chExt cx="0" cy="0"/>
        </a:xfrm>
      </p:grpSpPr>
      <p:pic>
        <p:nvPicPr>
          <p:cNvPr id="4" name="Picture 3" descr="A close-up of a spiral&#10;&#10;Description automatically generated">
            <a:extLst>
              <a:ext uri="{FF2B5EF4-FFF2-40B4-BE49-F238E27FC236}">
                <a16:creationId xmlns:a16="http://schemas.microsoft.com/office/drawing/2014/main" id="{361D5F98-BDD8-425B-488B-22D9DCB8038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6" name="Rectangle 5">
            <a:extLst>
              <a:ext uri="{FF2B5EF4-FFF2-40B4-BE49-F238E27FC236}">
                <a16:creationId xmlns:a16="http://schemas.microsoft.com/office/drawing/2014/main" id="{418D8C93-A68F-427F-AC31-AE3104AD1194}"/>
              </a:ext>
            </a:extLst>
          </p:cNvPr>
          <p:cNvSpPr/>
          <p:nvPr userDrawn="1"/>
        </p:nvSpPr>
        <p:spPr bwMode="auto">
          <a:xfrm>
            <a:off x="0" y="0"/>
            <a:ext cx="12192000" cy="6858000"/>
          </a:xfrm>
          <a:prstGeom prst="rect">
            <a:avLst/>
          </a:prstGeom>
          <a:solidFill>
            <a:schemeClr val="bg1">
              <a:alpha val="24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917984"/>
            <a:ext cx="7758903" cy="615553"/>
          </a:xfrm>
        </p:spPr>
        <p:txBody>
          <a:bodyPr wrap="square" anchor="b" anchorCtr="0">
            <a:spAutoFit/>
          </a:bodyPr>
          <a:lstStyle>
            <a:lvl1pPr>
              <a:defRPr sz="4000">
                <a:solidFill>
                  <a:schemeClr val="tx1"/>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7752752"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a:t>
            </a:r>
          </a:p>
        </p:txBody>
      </p:sp>
      <p:pic>
        <p:nvPicPr>
          <p:cNvPr id="7" name="MS logo gray - EMF" descr="Microsoft logo, gray text version">
            <a:extLst>
              <a:ext uri="{FF2B5EF4-FFF2-40B4-BE49-F238E27FC236}">
                <a16:creationId xmlns:a16="http://schemas.microsoft.com/office/drawing/2014/main" id="{D4D1E6E7-6980-34C8-5B50-9BC3D2B8E20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78738154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pic>
        <p:nvPicPr>
          <p:cNvPr id="5" name="Picture 4" descr="A blue sky with white clouds&#10;&#10;AI-generated content may be incorrect.">
            <a:extLst>
              <a:ext uri="{FF2B5EF4-FFF2-40B4-BE49-F238E27FC236}">
                <a16:creationId xmlns:a16="http://schemas.microsoft.com/office/drawing/2014/main" id="{D06997A8-9B2A-B93C-F597-79B38162AF6A}"/>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18660744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2_Title Only">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C58B1CC-7E89-FC8B-DE61-81B2927808E2}"/>
              </a:ext>
              <a:ext uri="{C183D7F6-B498-43B3-948B-1728B52AA6E4}">
                <adec:decorative xmlns:adec="http://schemas.microsoft.com/office/drawing/2017/decorative" val="1"/>
              </a:ext>
            </a:extLst>
          </p:cNvPr>
          <p:cNvPicPr>
            <a:picLocks noChangeAspect="1"/>
          </p:cNvPicPr>
          <p:nvPr userDrawn="1"/>
        </p:nvPicPr>
        <p:blipFill rotWithShape="1">
          <a:blip r:embed="rId2">
            <a:duotone>
              <a:prstClr val="black"/>
              <a:srgbClr val="FFF8F3">
                <a:tint val="45000"/>
                <a:satMod val="400000"/>
              </a:srgbClr>
            </a:duotone>
          </a:blip>
          <a:srcRect t="7440" b="52893"/>
          <a:stretch/>
        </p:blipFill>
        <p:spPr>
          <a:xfrm>
            <a:off x="0" y="0"/>
            <a:ext cx="12191999" cy="6857999"/>
          </a:xfrm>
          <a:prstGeom prst="round2SameRect">
            <a:avLst>
              <a:gd name="adj1" fmla="val 0"/>
              <a:gd name="adj2" fmla="val 0"/>
            </a:avLst>
          </a:prstGeom>
        </p:spPr>
      </p:pic>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85723585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1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05829768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Only - left side ">
    <p:spTree>
      <p:nvGrpSpPr>
        <p:cNvPr id="1" name=""/>
        <p:cNvGrpSpPr/>
        <p:nvPr/>
      </p:nvGrpSpPr>
      <p:grpSpPr>
        <a:xfrm>
          <a:off x="0" y="0"/>
          <a:ext cx="0" cy="0"/>
          <a:chOff x="0" y="0"/>
          <a:chExt cx="0" cy="0"/>
        </a:xfrm>
      </p:grpSpPr>
      <p:pic>
        <p:nvPicPr>
          <p:cNvPr id="3" name="Picture 2" descr="A close-up of a curved object">
            <a:extLst>
              <a:ext uri="{FF2B5EF4-FFF2-40B4-BE49-F238E27FC236}">
                <a16:creationId xmlns:a16="http://schemas.microsoft.com/office/drawing/2014/main" id="{65978E02-7B42-4283-0732-A5ECD04C20F5}"/>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4" name="Rectangle 3">
            <a:extLst>
              <a:ext uri="{FF2B5EF4-FFF2-40B4-BE49-F238E27FC236}">
                <a16:creationId xmlns:a16="http://schemas.microsoft.com/office/drawing/2014/main" id="{FD9B2C81-3582-FD54-9197-2A2E6EA52FF9}"/>
              </a:ext>
            </a:extLst>
          </p:cNvPr>
          <p:cNvSpPr/>
          <p:nvPr userDrawn="1"/>
        </p:nvSpPr>
        <p:spPr bwMode="auto">
          <a:xfrm>
            <a:off x="0" y="0"/>
            <a:ext cx="8586216" cy="6858000"/>
          </a:xfrm>
          <a:prstGeom prst="rect">
            <a:avLst/>
          </a:prstGeom>
          <a:gradFill>
            <a:gsLst>
              <a:gs pos="0">
                <a:srgbClr val="FFF8F3"/>
              </a:gs>
              <a:gs pos="100000">
                <a:srgbClr val="FFF8F3">
                  <a:alpha val="0"/>
                </a:srgbClr>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4" y="2875002"/>
            <a:ext cx="4127692" cy="1107996"/>
          </a:xfrm>
        </p:spPr>
        <p:txBody>
          <a:bodyPr wrap="square" anchor="ctr">
            <a:spAutoFit/>
          </a:bodyPr>
          <a:lstStyle/>
          <a:p>
            <a:r>
              <a:rPr lang="en-US"/>
              <a:t>Click to edit Master title style</a:t>
            </a:r>
          </a:p>
        </p:txBody>
      </p:sp>
    </p:spTree>
    <p:extLst>
      <p:ext uri="{BB962C8B-B14F-4D97-AF65-F5344CB8AC3E}">
        <p14:creationId xmlns:p14="http://schemas.microsoft.com/office/powerpoint/2010/main" val="191600287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guide id="32" orient="horz" pos="2160">
          <p15:clr>
            <a:srgbClr val="5ACBF0"/>
          </p15:clr>
        </p15:guide>
        <p15:guide id="33" pos="2976">
          <p15:clr>
            <a:srgbClr val="5ACBF0"/>
          </p15:clr>
        </p15:guide>
        <p15:guide id="34" pos="3336">
          <p15:clr>
            <a:srgbClr val="5ACBF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07777"/>
          </a:xfrm>
        </p:spPr>
        <p:txBody>
          <a:bodyPr tIns="0"/>
          <a:lstStyle>
            <a:lvl1pPr>
              <a:defRPr sz="2000" spc="0">
                <a:latin typeface="+mj-lt"/>
                <a:cs typeface="Segoe UI"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192802544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1_Scenario six steps">
    <p:spTree>
      <p:nvGrpSpPr>
        <p:cNvPr id="1" name=""/>
        <p:cNvGrpSpPr/>
        <p:nvPr/>
      </p:nvGrpSpPr>
      <p:grpSpPr>
        <a:xfrm>
          <a:off x="0" y="0"/>
          <a:ext cx="0" cy="0"/>
          <a:chOff x="0" y="0"/>
          <a:chExt cx="0" cy="0"/>
        </a:xfrm>
      </p:grpSpPr>
      <p:sp>
        <p:nvSpPr>
          <p:cNvPr id="13" name="Rectangle: Rounded Corners 12">
            <a:extLst>
              <a:ext uri="{FF2B5EF4-FFF2-40B4-BE49-F238E27FC236}">
                <a16:creationId xmlns:a16="http://schemas.microsoft.com/office/drawing/2014/main" id="{B196B9EA-FBFB-4858-13AE-0D3B6A1BFE98}"/>
              </a:ext>
            </a:extLst>
          </p:cNvPr>
          <p:cNvSpPr>
            <a:spLocks/>
          </p:cNvSpPr>
          <p:nvPr userDrawn="1"/>
        </p:nvSpPr>
        <p:spPr bwMode="auto">
          <a:xfrm>
            <a:off x="2179638" y="304726"/>
            <a:ext cx="4582191" cy="526298"/>
          </a:xfrm>
          <a:prstGeom prst="roundRect">
            <a:avLst/>
          </a:prstGeom>
          <a:solidFill>
            <a:srgbClr val="DDEEF8"/>
          </a:solidFill>
          <a:ln>
            <a:solidFill>
              <a:schemeClr val="bg1"/>
            </a:solidFill>
            <a:headEnd type="none" w="med" len="med"/>
            <a:tailEnd type="none" w="med" len="med"/>
          </a:ln>
          <a:effectLst>
            <a:outerShdw blurRad="254000" algn="ctr" rotWithShape="0">
              <a:schemeClr val="bg1">
                <a:lumMod val="75000"/>
                <a:alpha val="3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11480" tIns="91440" rIns="91440" bIns="91440" numCol="1" spcCol="0" rtlCol="0" fromWordArt="0" anchor="ctr" anchorCtr="0" forceAA="0" compatLnSpc="1">
            <a:prstTxWarp prst="textNoShape">
              <a:avLst/>
            </a:prstTxWarp>
            <a:noAutofit/>
          </a:bodyPr>
          <a:lstStyle/>
          <a:p>
            <a:pPr marL="0" marR="0" lvl="0" indent="0" algn="l" defTabSz="932742" rtl="0" eaLnBrk="1" fontAlgn="auto" latinLnBrk="0" hangingPunct="1">
              <a:lnSpc>
                <a:spcPct val="100000"/>
              </a:lnSpc>
              <a:spcBef>
                <a:spcPts val="1200"/>
              </a:spcBef>
              <a:spcAft>
                <a:spcPts val="0"/>
              </a:spcAft>
              <a:buClrTx/>
              <a:buSzPct val="100000"/>
              <a:buFontTx/>
              <a:buNone/>
              <a:tabLst/>
              <a:defRPr/>
            </a:pPr>
            <a:endParaRPr kumimoji="0" lang="en-US" sz="1800" b="0" i="0" u="none" strike="noStrike" kern="1200" cap="none" spc="0" normalizeH="0" baseline="0" noProof="0" dirty="0">
              <a:ln>
                <a:noFill/>
              </a:ln>
              <a:solidFill>
                <a:srgbClr val="000000"/>
              </a:solidFill>
              <a:effectLst/>
              <a:uLnTx/>
              <a:uFillTx/>
              <a:latin typeface="Segoe UI Semibold"/>
              <a:ea typeface="+mn-ea"/>
              <a:cs typeface="+mn-cs"/>
            </a:endParaRPr>
          </a:p>
        </p:txBody>
      </p:sp>
      <p:sp>
        <p:nvSpPr>
          <p:cNvPr id="14" name="TextBox 13">
            <a:extLst>
              <a:ext uri="{FF2B5EF4-FFF2-40B4-BE49-F238E27FC236}">
                <a16:creationId xmlns:a16="http://schemas.microsoft.com/office/drawing/2014/main" id="{0510B21A-B692-149F-D60C-5E53B60E00B6}"/>
              </a:ext>
            </a:extLst>
          </p:cNvPr>
          <p:cNvSpPr txBox="1">
            <a:spLocks/>
          </p:cNvSpPr>
          <p:nvPr userDrawn="1"/>
        </p:nvSpPr>
        <p:spPr>
          <a:xfrm>
            <a:off x="0" y="304726"/>
            <a:ext cx="2431247" cy="526298"/>
          </a:xfrm>
          <a:custGeom>
            <a:avLst/>
            <a:gdLst>
              <a:gd name="connsiteX0" fmla="*/ 1993 w 2431247"/>
              <a:gd name="connsiteY0" fmla="*/ 0 h 526298"/>
              <a:gd name="connsiteX1" fmla="*/ 2338766 w 2431247"/>
              <a:gd name="connsiteY1" fmla="*/ 0 h 526298"/>
              <a:gd name="connsiteX2" fmla="*/ 2431247 w 2431247"/>
              <a:gd name="connsiteY2" fmla="*/ 92481 h 526298"/>
              <a:gd name="connsiteX3" fmla="*/ 2431247 w 2431247"/>
              <a:gd name="connsiteY3" fmla="*/ 433817 h 526298"/>
              <a:gd name="connsiteX4" fmla="*/ 2338766 w 2431247"/>
              <a:gd name="connsiteY4" fmla="*/ 526298 h 526298"/>
              <a:gd name="connsiteX5" fmla="*/ 1993 w 2431247"/>
              <a:gd name="connsiteY5" fmla="*/ 526298 h 526298"/>
              <a:gd name="connsiteX6" fmla="*/ 0 w 2431247"/>
              <a:gd name="connsiteY6" fmla="*/ 525896 h 526298"/>
              <a:gd name="connsiteX7" fmla="*/ 0 w 2431247"/>
              <a:gd name="connsiteY7" fmla="*/ 402 h 526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1247" h="526298">
                <a:moveTo>
                  <a:pt x="1993" y="0"/>
                </a:moveTo>
                <a:lnTo>
                  <a:pt x="2338766" y="0"/>
                </a:lnTo>
                <a:cubicBezTo>
                  <a:pt x="2389842" y="0"/>
                  <a:pt x="2431247" y="41405"/>
                  <a:pt x="2431247" y="92481"/>
                </a:cubicBezTo>
                <a:lnTo>
                  <a:pt x="2431247" y="433817"/>
                </a:lnTo>
                <a:cubicBezTo>
                  <a:pt x="2431247" y="484893"/>
                  <a:pt x="2389842" y="526298"/>
                  <a:pt x="2338766" y="526298"/>
                </a:cubicBezTo>
                <a:lnTo>
                  <a:pt x="1993" y="526298"/>
                </a:lnTo>
                <a:lnTo>
                  <a:pt x="0" y="525896"/>
                </a:lnTo>
                <a:lnTo>
                  <a:pt x="0" y="402"/>
                </a:lnTo>
                <a:close/>
              </a:path>
            </a:pathLst>
          </a:custGeom>
          <a:gradFill flip="none" rotWithShape="1">
            <a:gsLst>
              <a:gs pos="35000">
                <a:srgbClr val="0078D4"/>
              </a:gs>
              <a:gs pos="0">
                <a:srgbClr val="C03BC4"/>
              </a:gs>
            </a:gsLst>
            <a:path path="circle">
              <a:fillToRect l="100000" t="100000"/>
            </a:path>
            <a:tileRect r="-100000" b="-100000"/>
          </a:gradFill>
          <a:effectLst/>
        </p:spPr>
        <p:txBody>
          <a:bodyPr vert="horz" wrap="square" lIns="310896" tIns="0" rIns="0" bIns="0" rtlCol="0" anchor="ctr" anchorCtr="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b="1" i="0" kern="1200" spc="0" baseline="0">
                <a:solidFill>
                  <a:srgbClr val="FFFFFF"/>
                </a:solidFill>
                <a:latin typeface="Segoe UI Semibold" panose="020B0502040204020203" pitchFamily="34" charset="0"/>
                <a:ea typeface="+mn-ea"/>
                <a:cs typeface="Segoe UI Semibold"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endParaRPr kumimoji="0" lang="en-US" sz="2000" b="1" i="0" u="none" strike="noStrike" kern="1200" cap="none" spc="0" normalizeH="0" baseline="0" noProof="0" dirty="0">
              <a:ln>
                <a:noFill/>
              </a:ln>
              <a:solidFill>
                <a:srgbClr val="FFFFFF"/>
              </a:solidFill>
              <a:effectLst/>
              <a:uLnTx/>
              <a:uFillTx/>
              <a:latin typeface="Segoe UI Semibold" panose="020B0502040204020203" pitchFamily="34" charset="0"/>
              <a:ea typeface="+mn-ea"/>
              <a:cs typeface="Segoe UI Semibold" panose="020B0502040204020203" pitchFamily="34" charset="0"/>
            </a:endParaRPr>
          </a:p>
        </p:txBody>
      </p:sp>
      <p:sp>
        <p:nvSpPr>
          <p:cNvPr id="37" name="Step 5 Top">
            <a:extLst>
              <a:ext uri="{FF2B5EF4-FFF2-40B4-BE49-F238E27FC236}">
                <a16:creationId xmlns:a16="http://schemas.microsoft.com/office/drawing/2014/main" id="{6A995B05-0623-381A-BC20-075E020B55FB}"/>
              </a:ext>
            </a:extLst>
          </p:cNvPr>
          <p:cNvSpPr>
            <a:spLocks noGrp="1"/>
          </p:cNvSpPr>
          <p:nvPr>
            <p:ph type="body" sz="quarter" idx="32"/>
          </p:nvPr>
        </p:nvSpPr>
        <p:spPr>
          <a:xfrm>
            <a:off x="311388" y="1026303"/>
            <a:ext cx="2431246" cy="1131079"/>
          </a:xfrm>
        </p:spPr>
        <p:txBody>
          <a:bodyPr lIns="0" tIns="0" rIns="0" bIns="0">
            <a:noAutofit/>
          </a:bodyPr>
          <a:lstStyle>
            <a:lvl1pPr marL="0" indent="0">
              <a:spcBef>
                <a:spcPts val="0"/>
              </a:spcBef>
              <a:buNone/>
              <a:defRPr kumimoji="0" lang="en-US" sz="1050" b="0" i="0" u="none" strike="noStrike" kern="100" cap="none" normalizeH="0" baseline="0" dirty="0">
                <a:ln>
                  <a:noFill/>
                </a:ln>
                <a:solidFill>
                  <a:schemeClr val="tx1"/>
                </a:solidFill>
                <a:effectLst/>
                <a:uLnTx/>
                <a:uFillTx/>
                <a:latin typeface="+mn-lt"/>
                <a:ea typeface="Aptos" panose="020B0004020202020204" pitchFamily="34" charset="0"/>
                <a:cs typeface="Times New Roman" panose="02020603050405020304" pitchFamily="18" charset="0"/>
              </a:defRPr>
            </a:lvl1pPr>
          </a:lstStyle>
          <a:p>
            <a:pPr marL="0" marR="0" lvl="0" indent="0" algn="l" defTabSz="914400" rtl="0" eaLnBrk="1" fontAlgn="auto" latinLnBrk="0" hangingPunct="1">
              <a:spcBef>
                <a:spcPts val="0"/>
              </a:spcBef>
              <a:spcAft>
                <a:spcPts val="0"/>
              </a:spcAft>
              <a:buClrTx/>
              <a:buSzTx/>
              <a:buFontTx/>
              <a:buNone/>
              <a:tabLst/>
              <a:defRPr/>
            </a:pPr>
            <a:r>
              <a:rPr lang="en-US"/>
              <a:t>Click to edit Master text styles</a:t>
            </a:r>
          </a:p>
        </p:txBody>
      </p:sp>
      <p:sp>
        <p:nvSpPr>
          <p:cNvPr id="71" name="Text Placeholder 70">
            <a:extLst>
              <a:ext uri="{FF2B5EF4-FFF2-40B4-BE49-F238E27FC236}">
                <a16:creationId xmlns:a16="http://schemas.microsoft.com/office/drawing/2014/main" id="{82157D41-F80D-AE68-F668-478CD741D476}"/>
              </a:ext>
            </a:extLst>
          </p:cNvPr>
          <p:cNvSpPr>
            <a:spLocks noGrp="1"/>
          </p:cNvSpPr>
          <p:nvPr>
            <p:ph type="body" sz="quarter" idx="33"/>
          </p:nvPr>
        </p:nvSpPr>
        <p:spPr>
          <a:xfrm>
            <a:off x="304796" y="413987"/>
            <a:ext cx="2057403" cy="307777"/>
          </a:xfrm>
        </p:spPr>
        <p:txBody>
          <a:bodyPr anchor="ctr"/>
          <a:lstStyle>
            <a:lvl1pPr marL="0" indent="0" algn="l" defTabSz="932742" rtl="0" eaLnBrk="1" latinLnBrk="0" hangingPunct="1">
              <a:lnSpc>
                <a:spcPct val="100000"/>
              </a:lnSpc>
              <a:spcBef>
                <a:spcPct val="0"/>
              </a:spcBef>
              <a:buNone/>
              <a:defRPr lang="en-US" sz="2000" b="0" kern="1200" cap="none" spc="-50" baseline="0" dirty="0">
                <a:ln w="3175">
                  <a:noFill/>
                </a:ln>
                <a:solidFill>
                  <a:schemeClr val="bg1"/>
                </a:solidFill>
                <a:effectLst/>
                <a:latin typeface="+mj-lt"/>
                <a:ea typeface="+mn-ea"/>
                <a:cs typeface="Segoe UI" pitchFamily="34" charset="0"/>
              </a:defRPr>
            </a:lvl1pPr>
            <a:lvl2pPr marL="228600" indent="0">
              <a:buNone/>
              <a:defRPr/>
            </a:lvl2pPr>
          </a:lstStyle>
          <a:p>
            <a:pPr lvl="0"/>
            <a:r>
              <a:rPr lang="en-US"/>
              <a:t>Click to edit</a:t>
            </a:r>
          </a:p>
        </p:txBody>
      </p:sp>
      <p:sp>
        <p:nvSpPr>
          <p:cNvPr id="75" name="Scenario Level">
            <a:extLst>
              <a:ext uri="{FF2B5EF4-FFF2-40B4-BE49-F238E27FC236}">
                <a16:creationId xmlns:a16="http://schemas.microsoft.com/office/drawing/2014/main" id="{1BB75DAB-4D8A-2933-BB52-0C94AA4816E3}"/>
              </a:ext>
            </a:extLst>
          </p:cNvPr>
          <p:cNvSpPr txBox="1"/>
          <p:nvPr userDrawn="1"/>
        </p:nvSpPr>
        <p:spPr>
          <a:xfrm>
            <a:off x="10895070" y="358721"/>
            <a:ext cx="992247" cy="153888"/>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Segoe UI Semibold"/>
                <a:ea typeface="+mn-ea"/>
                <a:cs typeface="Segoe UI Semibold" panose="020B0502040204020203" pitchFamily="34" charset="0"/>
              </a:rPr>
              <a:t>Scenario level:</a:t>
            </a:r>
          </a:p>
        </p:txBody>
      </p:sp>
      <p:sp>
        <p:nvSpPr>
          <p:cNvPr id="5" name="Level">
            <a:extLst>
              <a:ext uri="{FF2B5EF4-FFF2-40B4-BE49-F238E27FC236}">
                <a16:creationId xmlns:a16="http://schemas.microsoft.com/office/drawing/2014/main" id="{D78A2D53-01ED-9D74-9712-451C6F321482}"/>
              </a:ext>
            </a:extLst>
          </p:cNvPr>
          <p:cNvSpPr>
            <a:spLocks noGrp="1"/>
          </p:cNvSpPr>
          <p:nvPr>
            <p:ph type="body" sz="quarter" idx="30"/>
          </p:nvPr>
        </p:nvSpPr>
        <p:spPr>
          <a:xfrm>
            <a:off x="10430351" y="521099"/>
            <a:ext cx="1456966" cy="175614"/>
          </a:xfrm>
        </p:spPr>
        <p:txBody>
          <a:bodyPr/>
          <a:lstStyle>
            <a:lvl1pPr marL="0" indent="0" algn="r">
              <a:spcBef>
                <a:spcPts val="0"/>
              </a:spcBef>
              <a:buNone/>
              <a:defRPr sz="1100" b="0" i="0" spc="0" baseline="0">
                <a:solidFill>
                  <a:srgbClr val="0078D4"/>
                </a:solidFill>
                <a:latin typeface="+mj-lt"/>
                <a:cs typeface="Segoe UI Semibold" panose="020B0502040204020203" pitchFamily="34" charset="0"/>
              </a:defRPr>
            </a:lvl1pPr>
            <a:lvl2pPr marL="228600" indent="0" algn="r">
              <a:spcBef>
                <a:spcPts val="0"/>
              </a:spcBef>
              <a:buNone/>
              <a:defRPr sz="1100" spc="-20" baseline="0">
                <a:solidFill>
                  <a:srgbClr val="B1B3B3"/>
                </a:solidFill>
              </a:defRPr>
            </a:lvl2pPr>
            <a:lvl3pPr algn="r">
              <a:defRPr/>
            </a:lvl3pPr>
            <a:lvl4pPr algn="r">
              <a:defRPr/>
            </a:lvl4pPr>
            <a:lvl5pPr algn="r">
              <a:defRPr/>
            </a:lvl5pPr>
          </a:lstStyle>
          <a:p>
            <a:r>
              <a:rPr lang="en-US"/>
              <a:t>Click to edit </a:t>
            </a:r>
          </a:p>
        </p:txBody>
      </p:sp>
      <p:sp>
        <p:nvSpPr>
          <p:cNvPr id="84" name="Available with">
            <a:extLst>
              <a:ext uri="{FF2B5EF4-FFF2-40B4-BE49-F238E27FC236}">
                <a16:creationId xmlns:a16="http://schemas.microsoft.com/office/drawing/2014/main" id="{8D8427AA-F015-D373-46E2-2EB1053D80CE}"/>
              </a:ext>
            </a:extLst>
          </p:cNvPr>
          <p:cNvSpPr txBox="1"/>
          <p:nvPr userDrawn="1"/>
        </p:nvSpPr>
        <p:spPr>
          <a:xfrm>
            <a:off x="9126798" y="358721"/>
            <a:ext cx="992247" cy="153888"/>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Segoe UI Semibold"/>
                <a:ea typeface="+mn-ea"/>
                <a:cs typeface="Segoe UI Semibold" panose="020B0502040204020203" pitchFamily="34" charset="0"/>
              </a:rPr>
              <a:t>Available with:</a:t>
            </a:r>
          </a:p>
        </p:txBody>
      </p:sp>
      <p:sp>
        <p:nvSpPr>
          <p:cNvPr id="103" name="Licenses">
            <a:extLst>
              <a:ext uri="{FF2B5EF4-FFF2-40B4-BE49-F238E27FC236}">
                <a16:creationId xmlns:a16="http://schemas.microsoft.com/office/drawing/2014/main" id="{6B562108-00FE-5F42-7550-13BB7DE58EA1}"/>
              </a:ext>
            </a:extLst>
          </p:cNvPr>
          <p:cNvSpPr>
            <a:spLocks noGrp="1"/>
          </p:cNvSpPr>
          <p:nvPr>
            <p:ph type="body" sz="quarter" idx="17"/>
          </p:nvPr>
        </p:nvSpPr>
        <p:spPr>
          <a:xfrm>
            <a:off x="7149557" y="521100"/>
            <a:ext cx="2969488" cy="169277"/>
          </a:xfrm>
        </p:spPr>
        <p:txBody>
          <a:bodyPr/>
          <a:lstStyle>
            <a:lvl1pPr marL="0" indent="0" algn="r">
              <a:spcBef>
                <a:spcPts val="0"/>
              </a:spcBef>
              <a:buNone/>
              <a:defRPr sz="1100" b="0" i="0" spc="0" baseline="0">
                <a:solidFill>
                  <a:srgbClr val="C03BC4"/>
                </a:solidFill>
                <a:latin typeface="+mj-lt"/>
                <a:cs typeface="Segoe UI Semibold" panose="020B0502040204020203" pitchFamily="34" charset="0"/>
              </a:defRPr>
            </a:lvl1pPr>
            <a:lvl2pPr marL="228600" indent="0" algn="r">
              <a:spcBef>
                <a:spcPts val="0"/>
              </a:spcBef>
              <a:buNone/>
              <a:defRPr sz="1100" spc="-20" baseline="0">
                <a:solidFill>
                  <a:srgbClr val="B1B3B3"/>
                </a:solidFill>
              </a:defRPr>
            </a:lvl2pPr>
            <a:lvl3pPr algn="r">
              <a:defRPr/>
            </a:lvl3pPr>
            <a:lvl4pPr algn="r">
              <a:defRPr/>
            </a:lvl4pPr>
            <a:lvl5pPr algn="r">
              <a:defRPr/>
            </a:lvl5pPr>
          </a:lstStyle>
          <a:p>
            <a:pPr lvl="0"/>
            <a:r>
              <a:rPr lang="en-US"/>
              <a:t>Click to edit</a:t>
            </a:r>
          </a:p>
        </p:txBody>
      </p:sp>
      <p:cxnSp>
        <p:nvCxnSpPr>
          <p:cNvPr id="86" name="Straight Connector 85">
            <a:extLst>
              <a:ext uri="{FF2B5EF4-FFF2-40B4-BE49-F238E27FC236}">
                <a16:creationId xmlns:a16="http://schemas.microsoft.com/office/drawing/2014/main" id="{4216CED8-8F45-B380-FB1B-B9408979340F}"/>
              </a:ext>
            </a:extLst>
          </p:cNvPr>
          <p:cNvCxnSpPr/>
          <p:nvPr userDrawn="1"/>
        </p:nvCxnSpPr>
        <p:spPr>
          <a:xfrm>
            <a:off x="10357789" y="358721"/>
            <a:ext cx="0" cy="331655"/>
          </a:xfrm>
          <a:prstGeom prst="line">
            <a:avLst/>
          </a:prstGeom>
          <a:ln>
            <a:solidFill>
              <a:srgbClr val="B1B3B3"/>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0" name="Title 12">
            <a:extLst>
              <a:ext uri="{FF2B5EF4-FFF2-40B4-BE49-F238E27FC236}">
                <a16:creationId xmlns:a16="http://schemas.microsoft.com/office/drawing/2014/main" id="{26B05CF8-4E6B-B8CC-5AA9-B8ED44639968}"/>
              </a:ext>
            </a:extLst>
          </p:cNvPr>
          <p:cNvSpPr>
            <a:spLocks noGrp="1"/>
          </p:cNvSpPr>
          <p:nvPr>
            <p:ph type="title"/>
          </p:nvPr>
        </p:nvSpPr>
        <p:spPr>
          <a:xfrm>
            <a:off x="2492556" y="429376"/>
            <a:ext cx="4144817" cy="276999"/>
          </a:xfrm>
        </p:spPr>
        <p:txBody>
          <a:bodyPr anchor="ctr"/>
          <a:lstStyle>
            <a:lvl1pPr>
              <a:defRPr lang="en-US" sz="1800" b="0" kern="1200" cap="none" spc="-50" baseline="0" dirty="0">
                <a:ln w="3175">
                  <a:noFill/>
                </a:ln>
                <a:solidFill>
                  <a:schemeClr val="tx1"/>
                </a:solidFill>
                <a:effectLst/>
                <a:latin typeface="+mj-lt"/>
                <a:ea typeface="+mn-ea"/>
                <a:cs typeface="Segoe UI" panose="020B0502040204020203" pitchFamily="34" charset="0"/>
              </a:defRPr>
            </a:lvl1pPr>
          </a:lstStyle>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pPr>
            <a:r>
              <a:rPr lang="en-US"/>
              <a:t>Click to edit</a:t>
            </a:r>
          </a:p>
        </p:txBody>
      </p:sp>
      <p:sp>
        <p:nvSpPr>
          <p:cNvPr id="74" name="Rectangle: Top Corners Rounded 73">
            <a:extLst>
              <a:ext uri="{FF2B5EF4-FFF2-40B4-BE49-F238E27FC236}">
                <a16:creationId xmlns:a16="http://schemas.microsoft.com/office/drawing/2014/main" id="{9C693E26-EC61-AEAC-C1C4-733CBC83CC4A}"/>
              </a:ext>
            </a:extLst>
          </p:cNvPr>
          <p:cNvSpPr>
            <a:spLocks/>
          </p:cNvSpPr>
          <p:nvPr userDrawn="1"/>
        </p:nvSpPr>
        <p:spPr bwMode="auto">
          <a:xfrm rot="16200000" flipV="1">
            <a:off x="6107793" y="-1681313"/>
            <a:ext cx="2612241" cy="8679949"/>
          </a:xfrm>
          <a:custGeom>
            <a:avLst/>
            <a:gdLst>
              <a:gd name="connsiteX0" fmla="*/ 163683 w 2612241"/>
              <a:gd name="connsiteY0" fmla="*/ 0 h 8666696"/>
              <a:gd name="connsiteX1" fmla="*/ 2448558 w 2612241"/>
              <a:gd name="connsiteY1" fmla="*/ 0 h 8666696"/>
              <a:gd name="connsiteX2" fmla="*/ 2612241 w 2612241"/>
              <a:gd name="connsiteY2" fmla="*/ 163683 h 8666696"/>
              <a:gd name="connsiteX3" fmla="*/ 2612241 w 2612241"/>
              <a:gd name="connsiteY3" fmla="*/ 8666696 h 8666696"/>
              <a:gd name="connsiteX4" fmla="*/ 2612241 w 2612241"/>
              <a:gd name="connsiteY4" fmla="*/ 8666696 h 8666696"/>
              <a:gd name="connsiteX5" fmla="*/ 0 w 2612241"/>
              <a:gd name="connsiteY5" fmla="*/ 8666696 h 8666696"/>
              <a:gd name="connsiteX6" fmla="*/ 0 w 2612241"/>
              <a:gd name="connsiteY6" fmla="*/ 8666696 h 8666696"/>
              <a:gd name="connsiteX7" fmla="*/ 0 w 2612241"/>
              <a:gd name="connsiteY7" fmla="*/ 163683 h 8666696"/>
              <a:gd name="connsiteX8" fmla="*/ 163683 w 2612241"/>
              <a:gd name="connsiteY8" fmla="*/ 0 h 8666696"/>
              <a:gd name="connsiteX0" fmla="*/ 0 w 2612241"/>
              <a:gd name="connsiteY0" fmla="*/ 8666696 h 8758136"/>
              <a:gd name="connsiteX1" fmla="*/ 0 w 2612241"/>
              <a:gd name="connsiteY1" fmla="*/ 163683 h 8758136"/>
              <a:gd name="connsiteX2" fmla="*/ 163683 w 2612241"/>
              <a:gd name="connsiteY2" fmla="*/ 0 h 8758136"/>
              <a:gd name="connsiteX3" fmla="*/ 2448558 w 2612241"/>
              <a:gd name="connsiteY3" fmla="*/ 0 h 8758136"/>
              <a:gd name="connsiteX4" fmla="*/ 2612241 w 2612241"/>
              <a:gd name="connsiteY4" fmla="*/ 163683 h 8758136"/>
              <a:gd name="connsiteX5" fmla="*/ 2612241 w 2612241"/>
              <a:gd name="connsiteY5" fmla="*/ 8666696 h 8758136"/>
              <a:gd name="connsiteX6" fmla="*/ 2612241 w 2612241"/>
              <a:gd name="connsiteY6" fmla="*/ 8666696 h 8758136"/>
              <a:gd name="connsiteX7" fmla="*/ 0 w 2612241"/>
              <a:gd name="connsiteY7" fmla="*/ 8666696 h 8758136"/>
              <a:gd name="connsiteX8" fmla="*/ 91440 w 2612241"/>
              <a:gd name="connsiteY8" fmla="*/ 8758136 h 8758136"/>
              <a:gd name="connsiteX0" fmla="*/ 0 w 2612241"/>
              <a:gd name="connsiteY0" fmla="*/ 8666696 h 8666696"/>
              <a:gd name="connsiteX1" fmla="*/ 0 w 2612241"/>
              <a:gd name="connsiteY1" fmla="*/ 163683 h 8666696"/>
              <a:gd name="connsiteX2" fmla="*/ 163683 w 2612241"/>
              <a:gd name="connsiteY2" fmla="*/ 0 h 8666696"/>
              <a:gd name="connsiteX3" fmla="*/ 2448558 w 2612241"/>
              <a:gd name="connsiteY3" fmla="*/ 0 h 8666696"/>
              <a:gd name="connsiteX4" fmla="*/ 2612241 w 2612241"/>
              <a:gd name="connsiteY4" fmla="*/ 163683 h 8666696"/>
              <a:gd name="connsiteX5" fmla="*/ 2612241 w 2612241"/>
              <a:gd name="connsiteY5" fmla="*/ 8666696 h 8666696"/>
              <a:gd name="connsiteX6" fmla="*/ 2612241 w 2612241"/>
              <a:gd name="connsiteY6" fmla="*/ 8666696 h 8666696"/>
              <a:gd name="connsiteX7" fmla="*/ 0 w 2612241"/>
              <a:gd name="connsiteY7" fmla="*/ 8666696 h 8666696"/>
              <a:gd name="connsiteX0" fmla="*/ 0 w 2612241"/>
              <a:gd name="connsiteY0" fmla="*/ 8666696 h 8666696"/>
              <a:gd name="connsiteX1" fmla="*/ 0 w 2612241"/>
              <a:gd name="connsiteY1" fmla="*/ 163683 h 8666696"/>
              <a:gd name="connsiteX2" fmla="*/ 163683 w 2612241"/>
              <a:gd name="connsiteY2" fmla="*/ 0 h 8666696"/>
              <a:gd name="connsiteX3" fmla="*/ 2448558 w 2612241"/>
              <a:gd name="connsiteY3" fmla="*/ 0 h 8666696"/>
              <a:gd name="connsiteX4" fmla="*/ 2612241 w 2612241"/>
              <a:gd name="connsiteY4" fmla="*/ 163683 h 8666696"/>
              <a:gd name="connsiteX5" fmla="*/ 2612241 w 2612241"/>
              <a:gd name="connsiteY5" fmla="*/ 8666696 h 8666696"/>
              <a:gd name="connsiteX6" fmla="*/ 2612241 w 2612241"/>
              <a:gd name="connsiteY6" fmla="*/ 8666696 h 8666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12241" h="8666696">
                <a:moveTo>
                  <a:pt x="0" y="8666696"/>
                </a:moveTo>
                <a:lnTo>
                  <a:pt x="0" y="163683"/>
                </a:lnTo>
                <a:cubicBezTo>
                  <a:pt x="0" y="73283"/>
                  <a:pt x="73283" y="0"/>
                  <a:pt x="163683" y="0"/>
                </a:cubicBezTo>
                <a:lnTo>
                  <a:pt x="2448558" y="0"/>
                </a:lnTo>
                <a:cubicBezTo>
                  <a:pt x="2538958" y="0"/>
                  <a:pt x="2612241" y="73283"/>
                  <a:pt x="2612241" y="163683"/>
                </a:cubicBezTo>
                <a:lnTo>
                  <a:pt x="2612241" y="8666696"/>
                </a:lnTo>
                <a:lnTo>
                  <a:pt x="2612241" y="8666696"/>
                </a:lnTo>
              </a:path>
            </a:pathLst>
          </a:custGeom>
          <a:ln w="15875" cap="flat">
            <a:gradFill flip="none" rotWithShape="1">
              <a:gsLst>
                <a:gs pos="0">
                  <a:srgbClr val="0078D4"/>
                </a:gs>
                <a:gs pos="100000">
                  <a:schemeClr val="accent3"/>
                </a:gs>
              </a:gsLst>
              <a:lin ang="16200000" scaled="1"/>
              <a:tileRect/>
            </a:gra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IN" sz="2000" b="0" i="0" u="none" strike="noStrike" kern="0" cap="none" spc="0" normalizeH="0" baseline="0" noProof="0" dirty="0">
              <a:ln>
                <a:noFill/>
              </a:ln>
              <a:solidFill>
                <a:srgbClr val="FFFFFF"/>
              </a:solidFill>
              <a:effectLst/>
              <a:uLnTx/>
              <a:uFillTx/>
              <a:latin typeface="Segoe UI"/>
              <a:ea typeface="+mn-ea"/>
              <a:cs typeface="Segoe UI" pitchFamily="34" charset="0"/>
            </a:endParaRPr>
          </a:p>
        </p:txBody>
      </p:sp>
      <p:grpSp>
        <p:nvGrpSpPr>
          <p:cNvPr id="45" name="Group 44">
            <a:extLst>
              <a:ext uri="{FF2B5EF4-FFF2-40B4-BE49-F238E27FC236}">
                <a16:creationId xmlns:a16="http://schemas.microsoft.com/office/drawing/2014/main" id="{68467A5F-7BA2-6E3A-1EFE-31FAA4F5B267}"/>
              </a:ext>
              <a:ext uri="{C183D7F6-B498-43B3-948B-1728B52AA6E4}">
                <adec:decorative xmlns:adec="http://schemas.microsoft.com/office/drawing/2017/decorative" val="1"/>
              </a:ext>
            </a:extLst>
          </p:cNvPr>
          <p:cNvGrpSpPr/>
          <p:nvPr userDrawn="1"/>
        </p:nvGrpSpPr>
        <p:grpSpPr>
          <a:xfrm>
            <a:off x="5805591" y="1247214"/>
            <a:ext cx="210652" cy="210652"/>
            <a:chOff x="5214995" y="-1168400"/>
            <a:chExt cx="431800" cy="431800"/>
          </a:xfrm>
        </p:grpSpPr>
        <p:sp>
          <p:nvSpPr>
            <p:cNvPr id="46" name="Oval 45">
              <a:extLst>
                <a:ext uri="{FF2B5EF4-FFF2-40B4-BE49-F238E27FC236}">
                  <a16:creationId xmlns:a16="http://schemas.microsoft.com/office/drawing/2014/main" id="{1514AE07-2437-886C-64BF-90FCDB18900D}"/>
                </a:ext>
              </a:extLst>
            </p:cNvPr>
            <p:cNvSpPr/>
            <p:nvPr/>
          </p:nvSpPr>
          <p:spPr bwMode="auto">
            <a:xfrm>
              <a:off x="5214995" y="-1168400"/>
              <a:ext cx="431800" cy="431800"/>
            </a:xfrm>
            <a:prstGeom prst="ellipse">
              <a:avLst/>
            </a:prstGeom>
            <a:gradFill flip="none" rotWithShape="1">
              <a:gsLst>
                <a:gs pos="60000">
                  <a:srgbClr val="0078D4"/>
                </a:gs>
                <a:gs pos="4000">
                  <a:srgbClr val="C03BC4"/>
                </a:gs>
              </a:gsLst>
              <a:path path="circle">
                <a:fillToRect l="100000" t="100000"/>
              </a:path>
              <a:tileRect r="-100000" b="-100000"/>
            </a:gradFill>
            <a:ln w="15875">
              <a:solidFill>
                <a:schemeClr val="bg1"/>
              </a:solidFill>
            </a:ln>
            <a:effectLst>
              <a:outerShdw blurRad="254000" algn="ctr" rotWithShape="0">
                <a:schemeClr val="bg1">
                  <a:lumMod val="75000"/>
                  <a:alpha val="30000"/>
                </a:schemeClr>
              </a:outerShdw>
            </a:effectLst>
          </p:spPr>
          <p:txBody>
            <a:bodyPr vert="horz" wrap="square" lIns="320040" tIns="0" rIns="0" bIns="0" rtlCol="0" anchor="ctr" anchorCtr="0">
              <a:noAutofit/>
            </a:bodyPr>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2000" b="1" i="0" u="none" strike="noStrike" kern="1200" cap="none" spc="0" normalizeH="0" baseline="0" noProof="0" dirty="0">
                <a:ln>
                  <a:noFill/>
                </a:ln>
                <a:solidFill>
                  <a:srgbClr val="FFFFFF"/>
                </a:solidFill>
                <a:effectLst/>
                <a:uLnTx/>
                <a:uFillTx/>
                <a:latin typeface="Segoe UI Semibold"/>
                <a:ea typeface="+mn-ea"/>
                <a:cs typeface="Segoe UI Semibold" panose="020B0502040204020203" pitchFamily="34" charset="0"/>
              </a:endParaRPr>
            </a:p>
          </p:txBody>
        </p:sp>
        <p:sp>
          <p:nvSpPr>
            <p:cNvPr id="47" name="Rectangle 89">
              <a:extLst>
                <a:ext uri="{FF2B5EF4-FFF2-40B4-BE49-F238E27FC236}">
                  <a16:creationId xmlns:a16="http://schemas.microsoft.com/office/drawing/2014/main" id="{F1304105-F302-1DA2-7A52-41BBBCC44EED}"/>
                </a:ext>
              </a:extLst>
            </p:cNvPr>
            <p:cNvSpPr/>
            <p:nvPr/>
          </p:nvSpPr>
          <p:spPr bwMode="auto">
            <a:xfrm rot="2700000">
              <a:off x="5334303" y="-1026795"/>
              <a:ext cx="148589" cy="148589"/>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25400" cap="rnd">
              <a:solidFill>
                <a:schemeClr val="bg1"/>
              </a:soli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Segoe UI"/>
                <a:ea typeface="+mn-ea"/>
                <a:cs typeface="Segoe UI" pitchFamily="34" charset="0"/>
              </a:endParaRPr>
            </a:p>
          </p:txBody>
        </p:sp>
      </p:grpSp>
      <p:grpSp>
        <p:nvGrpSpPr>
          <p:cNvPr id="57" name="Group 56">
            <a:extLst>
              <a:ext uri="{FF2B5EF4-FFF2-40B4-BE49-F238E27FC236}">
                <a16:creationId xmlns:a16="http://schemas.microsoft.com/office/drawing/2014/main" id="{5C32FE7B-F07D-C499-EA83-97D8A5B9D99A}"/>
              </a:ext>
              <a:ext uri="{C183D7F6-B498-43B3-948B-1728B52AA6E4}">
                <adec:decorative xmlns:adec="http://schemas.microsoft.com/office/drawing/2017/decorative" val="1"/>
              </a:ext>
            </a:extLst>
          </p:cNvPr>
          <p:cNvGrpSpPr/>
          <p:nvPr userDrawn="1"/>
        </p:nvGrpSpPr>
        <p:grpSpPr>
          <a:xfrm>
            <a:off x="8689384" y="1247214"/>
            <a:ext cx="210652" cy="210652"/>
            <a:chOff x="5214995" y="-1168400"/>
            <a:chExt cx="431800" cy="431800"/>
          </a:xfrm>
        </p:grpSpPr>
        <p:sp>
          <p:nvSpPr>
            <p:cNvPr id="58" name="Oval 57">
              <a:extLst>
                <a:ext uri="{FF2B5EF4-FFF2-40B4-BE49-F238E27FC236}">
                  <a16:creationId xmlns:a16="http://schemas.microsoft.com/office/drawing/2014/main" id="{4D7ABAD2-6246-A1F3-5E86-044B3D8C3074}"/>
                </a:ext>
              </a:extLst>
            </p:cNvPr>
            <p:cNvSpPr/>
            <p:nvPr/>
          </p:nvSpPr>
          <p:spPr bwMode="auto">
            <a:xfrm>
              <a:off x="5214995" y="-1168400"/>
              <a:ext cx="431800" cy="431800"/>
            </a:xfrm>
            <a:prstGeom prst="ellipse">
              <a:avLst/>
            </a:prstGeom>
            <a:gradFill flip="none" rotWithShape="1">
              <a:gsLst>
                <a:gs pos="60000">
                  <a:srgbClr val="0078D4"/>
                </a:gs>
                <a:gs pos="4000">
                  <a:srgbClr val="C03BC4"/>
                </a:gs>
              </a:gsLst>
              <a:path path="circle">
                <a:fillToRect l="100000" t="100000"/>
              </a:path>
              <a:tileRect r="-100000" b="-100000"/>
            </a:gradFill>
            <a:ln w="15875">
              <a:solidFill>
                <a:schemeClr val="bg1"/>
              </a:solidFill>
            </a:ln>
            <a:effectLst>
              <a:outerShdw blurRad="254000" algn="ctr" rotWithShape="0">
                <a:schemeClr val="bg1">
                  <a:lumMod val="75000"/>
                  <a:alpha val="30000"/>
                </a:schemeClr>
              </a:outerShdw>
            </a:effectLst>
          </p:spPr>
          <p:txBody>
            <a:bodyPr vert="horz" wrap="square" lIns="320040" tIns="0" rIns="0" bIns="0" rtlCol="0" anchor="ctr" anchorCtr="0">
              <a:noAutofit/>
            </a:bodyPr>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2000" b="1" i="0" u="none" strike="noStrike" kern="1200" cap="none" spc="0" normalizeH="0" baseline="0" noProof="0" dirty="0">
                <a:ln>
                  <a:noFill/>
                </a:ln>
                <a:solidFill>
                  <a:srgbClr val="FFFFFF"/>
                </a:solidFill>
                <a:effectLst/>
                <a:uLnTx/>
                <a:uFillTx/>
                <a:latin typeface="Segoe UI Semibold"/>
                <a:ea typeface="+mn-ea"/>
                <a:cs typeface="Segoe UI Semibold" panose="020B0502040204020203" pitchFamily="34" charset="0"/>
              </a:endParaRPr>
            </a:p>
          </p:txBody>
        </p:sp>
        <p:sp>
          <p:nvSpPr>
            <p:cNvPr id="59" name="Rectangle 89">
              <a:extLst>
                <a:ext uri="{FF2B5EF4-FFF2-40B4-BE49-F238E27FC236}">
                  <a16:creationId xmlns:a16="http://schemas.microsoft.com/office/drawing/2014/main" id="{0E6F2315-5317-6C1E-5DF8-4BE9FE7C7CA6}"/>
                </a:ext>
              </a:extLst>
            </p:cNvPr>
            <p:cNvSpPr/>
            <p:nvPr/>
          </p:nvSpPr>
          <p:spPr bwMode="auto">
            <a:xfrm rot="2700000">
              <a:off x="5334303" y="-1026795"/>
              <a:ext cx="148589" cy="148589"/>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25400" cap="rnd">
              <a:solidFill>
                <a:schemeClr val="bg1"/>
              </a:soli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Segoe UI"/>
                <a:ea typeface="+mn-ea"/>
                <a:cs typeface="Segoe UI" pitchFamily="34" charset="0"/>
              </a:endParaRPr>
            </a:p>
          </p:txBody>
        </p:sp>
      </p:grpSp>
      <p:grpSp>
        <p:nvGrpSpPr>
          <p:cNvPr id="60" name="Group 59">
            <a:extLst>
              <a:ext uri="{FF2B5EF4-FFF2-40B4-BE49-F238E27FC236}">
                <a16:creationId xmlns:a16="http://schemas.microsoft.com/office/drawing/2014/main" id="{39B13FA4-84C5-6F46-C1BB-22875F9B20B8}"/>
              </a:ext>
              <a:ext uri="{C183D7F6-B498-43B3-948B-1728B52AA6E4}">
                <adec:decorative xmlns:adec="http://schemas.microsoft.com/office/drawing/2017/decorative" val="1"/>
              </a:ext>
            </a:extLst>
          </p:cNvPr>
          <p:cNvGrpSpPr/>
          <p:nvPr userDrawn="1"/>
        </p:nvGrpSpPr>
        <p:grpSpPr>
          <a:xfrm rot="5400000">
            <a:off x="11648565" y="2541168"/>
            <a:ext cx="210652" cy="210652"/>
            <a:chOff x="5214995" y="-1168400"/>
            <a:chExt cx="431800" cy="431800"/>
          </a:xfrm>
        </p:grpSpPr>
        <p:sp>
          <p:nvSpPr>
            <p:cNvPr id="61" name="Oval 60">
              <a:extLst>
                <a:ext uri="{FF2B5EF4-FFF2-40B4-BE49-F238E27FC236}">
                  <a16:creationId xmlns:a16="http://schemas.microsoft.com/office/drawing/2014/main" id="{47D4A430-8084-5075-B04A-2E8CDD118B76}"/>
                </a:ext>
              </a:extLst>
            </p:cNvPr>
            <p:cNvSpPr/>
            <p:nvPr/>
          </p:nvSpPr>
          <p:spPr bwMode="auto">
            <a:xfrm>
              <a:off x="5214995" y="-1168400"/>
              <a:ext cx="431800" cy="431800"/>
            </a:xfrm>
            <a:prstGeom prst="ellipse">
              <a:avLst/>
            </a:prstGeom>
            <a:gradFill flip="none" rotWithShape="1">
              <a:gsLst>
                <a:gs pos="60000">
                  <a:srgbClr val="0078D4"/>
                </a:gs>
                <a:gs pos="4000">
                  <a:srgbClr val="C03BC4"/>
                </a:gs>
              </a:gsLst>
              <a:path path="circle">
                <a:fillToRect l="100000" t="100000"/>
              </a:path>
              <a:tileRect r="-100000" b="-100000"/>
            </a:gradFill>
            <a:ln w="15875">
              <a:solidFill>
                <a:schemeClr val="bg1"/>
              </a:solidFill>
            </a:ln>
            <a:effectLst>
              <a:outerShdw blurRad="254000" algn="ctr" rotWithShape="0">
                <a:schemeClr val="bg1">
                  <a:lumMod val="75000"/>
                  <a:alpha val="30000"/>
                </a:schemeClr>
              </a:outerShdw>
            </a:effectLst>
          </p:spPr>
          <p:txBody>
            <a:bodyPr vert="horz" wrap="square" lIns="320040" tIns="0" rIns="0" bIns="0" rtlCol="0" anchor="ctr" anchorCtr="0">
              <a:noAutofit/>
            </a:bodyPr>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2000" b="1" i="0" u="none" strike="noStrike" kern="1200" cap="none" spc="0" normalizeH="0" baseline="0" noProof="0" dirty="0">
                <a:ln>
                  <a:noFill/>
                </a:ln>
                <a:solidFill>
                  <a:srgbClr val="FFFFFF"/>
                </a:solidFill>
                <a:effectLst/>
                <a:uLnTx/>
                <a:uFillTx/>
                <a:latin typeface="Segoe UI Semibold"/>
                <a:ea typeface="+mn-ea"/>
                <a:cs typeface="Segoe UI Semibold" panose="020B0502040204020203" pitchFamily="34" charset="0"/>
              </a:endParaRPr>
            </a:p>
          </p:txBody>
        </p:sp>
        <p:sp>
          <p:nvSpPr>
            <p:cNvPr id="62" name="Rectangle 89">
              <a:extLst>
                <a:ext uri="{FF2B5EF4-FFF2-40B4-BE49-F238E27FC236}">
                  <a16:creationId xmlns:a16="http://schemas.microsoft.com/office/drawing/2014/main" id="{ABE5358E-92F9-96A5-6FDB-150E91A8AF78}"/>
                </a:ext>
              </a:extLst>
            </p:cNvPr>
            <p:cNvSpPr/>
            <p:nvPr/>
          </p:nvSpPr>
          <p:spPr bwMode="auto">
            <a:xfrm rot="2700000">
              <a:off x="5334303" y="-1026795"/>
              <a:ext cx="148589" cy="148589"/>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25400" cap="rnd">
              <a:solidFill>
                <a:schemeClr val="bg1"/>
              </a:soli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Segoe UI"/>
                <a:ea typeface="+mn-ea"/>
                <a:cs typeface="Segoe UI" pitchFamily="34" charset="0"/>
              </a:endParaRPr>
            </a:p>
          </p:txBody>
        </p:sp>
      </p:grpSp>
      <p:grpSp>
        <p:nvGrpSpPr>
          <p:cNvPr id="63" name="Group 62">
            <a:extLst>
              <a:ext uri="{FF2B5EF4-FFF2-40B4-BE49-F238E27FC236}">
                <a16:creationId xmlns:a16="http://schemas.microsoft.com/office/drawing/2014/main" id="{EFFD46EF-67A1-2B45-C906-05C4ACC2DA34}"/>
              </a:ext>
              <a:ext uri="{C183D7F6-B498-43B3-948B-1728B52AA6E4}">
                <adec:decorative xmlns:adec="http://schemas.microsoft.com/office/drawing/2017/decorative" val="1"/>
              </a:ext>
            </a:extLst>
          </p:cNvPr>
          <p:cNvGrpSpPr/>
          <p:nvPr userDrawn="1"/>
        </p:nvGrpSpPr>
        <p:grpSpPr>
          <a:xfrm flipH="1">
            <a:off x="5805591" y="3859456"/>
            <a:ext cx="210652" cy="210652"/>
            <a:chOff x="5214995" y="-1168400"/>
            <a:chExt cx="431800" cy="431800"/>
          </a:xfrm>
        </p:grpSpPr>
        <p:sp>
          <p:nvSpPr>
            <p:cNvPr id="64" name="Oval 63">
              <a:extLst>
                <a:ext uri="{FF2B5EF4-FFF2-40B4-BE49-F238E27FC236}">
                  <a16:creationId xmlns:a16="http://schemas.microsoft.com/office/drawing/2014/main" id="{14ED043E-EA90-195B-771E-CE53479D2BC8}"/>
                </a:ext>
              </a:extLst>
            </p:cNvPr>
            <p:cNvSpPr/>
            <p:nvPr/>
          </p:nvSpPr>
          <p:spPr bwMode="auto">
            <a:xfrm>
              <a:off x="5214995" y="-1168400"/>
              <a:ext cx="431800" cy="431800"/>
            </a:xfrm>
            <a:prstGeom prst="ellipse">
              <a:avLst/>
            </a:prstGeom>
            <a:gradFill flip="none" rotWithShape="1">
              <a:gsLst>
                <a:gs pos="60000">
                  <a:srgbClr val="0078D4"/>
                </a:gs>
                <a:gs pos="4000">
                  <a:srgbClr val="C03BC4"/>
                </a:gs>
              </a:gsLst>
              <a:path path="circle">
                <a:fillToRect l="100000" t="100000"/>
              </a:path>
              <a:tileRect r="-100000" b="-100000"/>
            </a:gradFill>
            <a:ln w="15875">
              <a:solidFill>
                <a:schemeClr val="bg1"/>
              </a:solidFill>
            </a:ln>
            <a:effectLst>
              <a:outerShdw blurRad="254000" algn="ctr" rotWithShape="0">
                <a:schemeClr val="bg1">
                  <a:lumMod val="75000"/>
                  <a:alpha val="30000"/>
                </a:schemeClr>
              </a:outerShdw>
            </a:effectLst>
          </p:spPr>
          <p:txBody>
            <a:bodyPr vert="horz" wrap="square" lIns="320040" tIns="0" rIns="0" bIns="0" rtlCol="0" anchor="ctr" anchorCtr="0">
              <a:noAutofit/>
            </a:bodyPr>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2000" b="1" i="0" u="none" strike="noStrike" kern="1200" cap="none" spc="0" normalizeH="0" baseline="0" noProof="0" dirty="0">
                <a:ln>
                  <a:noFill/>
                </a:ln>
                <a:solidFill>
                  <a:srgbClr val="FFFFFF"/>
                </a:solidFill>
                <a:effectLst/>
                <a:uLnTx/>
                <a:uFillTx/>
                <a:latin typeface="Segoe UI Semibold"/>
                <a:ea typeface="+mn-ea"/>
                <a:cs typeface="Segoe UI Semibold" panose="020B0502040204020203" pitchFamily="34" charset="0"/>
              </a:endParaRPr>
            </a:p>
          </p:txBody>
        </p:sp>
        <p:sp>
          <p:nvSpPr>
            <p:cNvPr id="65" name="Rectangle 89">
              <a:extLst>
                <a:ext uri="{FF2B5EF4-FFF2-40B4-BE49-F238E27FC236}">
                  <a16:creationId xmlns:a16="http://schemas.microsoft.com/office/drawing/2014/main" id="{3853106D-E38A-371E-B378-89F7601572D3}"/>
                </a:ext>
              </a:extLst>
            </p:cNvPr>
            <p:cNvSpPr/>
            <p:nvPr/>
          </p:nvSpPr>
          <p:spPr bwMode="auto">
            <a:xfrm rot="2700000">
              <a:off x="5334303" y="-1026795"/>
              <a:ext cx="148589" cy="148589"/>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25400" cap="rnd">
              <a:solidFill>
                <a:schemeClr val="bg1"/>
              </a:soli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Segoe UI"/>
                <a:ea typeface="+mn-ea"/>
                <a:cs typeface="Segoe UI" pitchFamily="34" charset="0"/>
              </a:endParaRPr>
            </a:p>
          </p:txBody>
        </p:sp>
      </p:grpSp>
      <p:grpSp>
        <p:nvGrpSpPr>
          <p:cNvPr id="67" name="Group 66">
            <a:extLst>
              <a:ext uri="{FF2B5EF4-FFF2-40B4-BE49-F238E27FC236}">
                <a16:creationId xmlns:a16="http://schemas.microsoft.com/office/drawing/2014/main" id="{AB2872BD-57A1-5A98-BBEC-120407B2348E}"/>
              </a:ext>
              <a:ext uri="{C183D7F6-B498-43B3-948B-1728B52AA6E4}">
                <adec:decorative xmlns:adec="http://schemas.microsoft.com/office/drawing/2017/decorative" val="1"/>
              </a:ext>
            </a:extLst>
          </p:cNvPr>
          <p:cNvGrpSpPr/>
          <p:nvPr userDrawn="1"/>
        </p:nvGrpSpPr>
        <p:grpSpPr>
          <a:xfrm flipH="1">
            <a:off x="8689384" y="3859456"/>
            <a:ext cx="210652" cy="210652"/>
            <a:chOff x="5214995" y="-1168400"/>
            <a:chExt cx="431800" cy="431800"/>
          </a:xfrm>
        </p:grpSpPr>
        <p:sp>
          <p:nvSpPr>
            <p:cNvPr id="68" name="Oval 67">
              <a:extLst>
                <a:ext uri="{FF2B5EF4-FFF2-40B4-BE49-F238E27FC236}">
                  <a16:creationId xmlns:a16="http://schemas.microsoft.com/office/drawing/2014/main" id="{DC271353-C79B-E3BF-32F5-48C1A526FF02}"/>
                </a:ext>
              </a:extLst>
            </p:cNvPr>
            <p:cNvSpPr/>
            <p:nvPr/>
          </p:nvSpPr>
          <p:spPr bwMode="auto">
            <a:xfrm>
              <a:off x="5214995" y="-1168400"/>
              <a:ext cx="431800" cy="431800"/>
            </a:xfrm>
            <a:prstGeom prst="ellipse">
              <a:avLst/>
            </a:prstGeom>
            <a:gradFill flip="none" rotWithShape="1">
              <a:gsLst>
                <a:gs pos="60000">
                  <a:srgbClr val="0078D4"/>
                </a:gs>
                <a:gs pos="4000">
                  <a:srgbClr val="C03BC4"/>
                </a:gs>
              </a:gsLst>
              <a:path path="circle">
                <a:fillToRect l="100000" t="100000"/>
              </a:path>
              <a:tileRect r="-100000" b="-100000"/>
            </a:gradFill>
            <a:ln w="15875">
              <a:solidFill>
                <a:schemeClr val="bg1"/>
              </a:solidFill>
            </a:ln>
            <a:effectLst>
              <a:outerShdw blurRad="254000" algn="ctr" rotWithShape="0">
                <a:schemeClr val="bg1">
                  <a:lumMod val="75000"/>
                  <a:alpha val="30000"/>
                </a:schemeClr>
              </a:outerShdw>
            </a:effectLst>
          </p:spPr>
          <p:txBody>
            <a:bodyPr vert="horz" wrap="square" lIns="320040" tIns="0" rIns="0" bIns="0" rtlCol="0" anchor="ctr" anchorCtr="0">
              <a:noAutofit/>
            </a:bodyPr>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2000" b="1" i="0" u="none" strike="noStrike" kern="1200" cap="none" spc="0" normalizeH="0" baseline="0" noProof="0" dirty="0">
                <a:ln>
                  <a:noFill/>
                </a:ln>
                <a:solidFill>
                  <a:srgbClr val="FFFFFF"/>
                </a:solidFill>
                <a:effectLst/>
                <a:uLnTx/>
                <a:uFillTx/>
                <a:latin typeface="Segoe UI Semibold"/>
                <a:ea typeface="+mn-ea"/>
                <a:cs typeface="Segoe UI Semibold" panose="020B0502040204020203" pitchFamily="34" charset="0"/>
              </a:endParaRPr>
            </a:p>
          </p:txBody>
        </p:sp>
        <p:sp>
          <p:nvSpPr>
            <p:cNvPr id="69" name="Rectangle 89">
              <a:extLst>
                <a:ext uri="{FF2B5EF4-FFF2-40B4-BE49-F238E27FC236}">
                  <a16:creationId xmlns:a16="http://schemas.microsoft.com/office/drawing/2014/main" id="{B93F1E4A-9BA7-C4D0-83D8-2451A1DEAD80}"/>
                </a:ext>
              </a:extLst>
            </p:cNvPr>
            <p:cNvSpPr/>
            <p:nvPr/>
          </p:nvSpPr>
          <p:spPr bwMode="auto">
            <a:xfrm rot="2700000">
              <a:off x="5334303" y="-1026795"/>
              <a:ext cx="148589" cy="148589"/>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25400" cap="rnd">
              <a:solidFill>
                <a:schemeClr val="bg1"/>
              </a:soli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Segoe UI"/>
                <a:ea typeface="+mn-ea"/>
                <a:cs typeface="Segoe UI" pitchFamily="34" charset="0"/>
              </a:endParaRPr>
            </a:p>
          </p:txBody>
        </p:sp>
      </p:grpSp>
      <p:sp>
        <p:nvSpPr>
          <p:cNvPr id="11" name="Text Placeholder 11">
            <a:extLst>
              <a:ext uri="{FF2B5EF4-FFF2-40B4-BE49-F238E27FC236}">
                <a16:creationId xmlns:a16="http://schemas.microsoft.com/office/drawing/2014/main" id="{9977582E-F97B-70B5-CB03-F46869F849CD}"/>
              </a:ext>
            </a:extLst>
          </p:cNvPr>
          <p:cNvSpPr>
            <a:spLocks noGrp="1"/>
          </p:cNvSpPr>
          <p:nvPr>
            <p:ph type="body" sz="quarter" idx="69"/>
          </p:nvPr>
        </p:nvSpPr>
        <p:spPr>
          <a:xfrm>
            <a:off x="3182890" y="2725494"/>
            <a:ext cx="2572262" cy="712876"/>
          </a:xfrm>
          <a:prstGeom prst="roundRect">
            <a:avLst>
              <a:gd name="adj" fmla="val 9576"/>
            </a:avLst>
          </a:prstGeom>
          <a:solidFill>
            <a:schemeClr val="bg1">
              <a:lumMod val="95000"/>
              <a:alpha val="50000"/>
            </a:schemeClr>
          </a:solidFill>
        </p:spPr>
        <p:txBody>
          <a:bodyPr lIns="0" tIns="0" rIns="0" bIns="0" anchor="t">
            <a:noAutofit/>
          </a:bodyPr>
          <a:lstStyle>
            <a:lvl1pPr marL="0" indent="0">
              <a:spcBef>
                <a:spcPts val="0"/>
              </a:spcBef>
              <a:spcAft>
                <a:spcPts val="100"/>
              </a:spcAft>
              <a:buNone/>
              <a:defRPr sz="900"/>
            </a:lvl1pPr>
            <a:lvl2pPr marL="0" indent="0">
              <a:spcBef>
                <a:spcPts val="0"/>
              </a:spcBef>
              <a:spcAft>
                <a:spcPts val="200"/>
              </a:spcAft>
              <a:buNone/>
              <a:defRPr sz="900"/>
            </a:lvl2pPr>
            <a:lvl3pPr marL="0" indent="0">
              <a:spcBef>
                <a:spcPts val="0"/>
              </a:spcBef>
              <a:spcAft>
                <a:spcPts val="100"/>
              </a:spcAft>
              <a:buNone/>
              <a:defRPr sz="900">
                <a:latin typeface="+mj-lt"/>
              </a:defRPr>
            </a:lvl3pPr>
            <a:lvl4pPr marL="0" indent="0">
              <a:buNone/>
              <a:defRPr sz="900">
                <a:latin typeface="+mj-lt"/>
              </a:defRPr>
            </a:lvl4pPr>
            <a:lvl5pPr>
              <a:defRPr/>
            </a:lvl5pPr>
          </a:lstStyle>
          <a:p>
            <a:pPr lvl="0"/>
            <a:r>
              <a:rPr lang="en-US"/>
              <a:t>Click to edit Master text styles</a:t>
            </a:r>
          </a:p>
          <a:p>
            <a:pPr lvl="3"/>
            <a:r>
              <a:rPr lang="en-US"/>
              <a:t>Level 2</a:t>
            </a:r>
          </a:p>
        </p:txBody>
      </p:sp>
      <p:sp>
        <p:nvSpPr>
          <p:cNvPr id="81" name="Step 1 Title">
            <a:extLst>
              <a:ext uri="{FF2B5EF4-FFF2-40B4-BE49-F238E27FC236}">
                <a16:creationId xmlns:a16="http://schemas.microsoft.com/office/drawing/2014/main" id="{7E33DF77-DD28-CC24-9FC2-0AD434BCF4C0}"/>
              </a:ext>
            </a:extLst>
          </p:cNvPr>
          <p:cNvSpPr>
            <a:spLocks noGrp="1"/>
          </p:cNvSpPr>
          <p:nvPr>
            <p:ph type="body" sz="quarter" idx="11"/>
          </p:nvPr>
        </p:nvSpPr>
        <p:spPr>
          <a:xfrm>
            <a:off x="3182890" y="1112478"/>
            <a:ext cx="2572262" cy="153888"/>
          </a:xfrm>
          <a:prstGeom prst="rect">
            <a:avLst/>
          </a:prstGeom>
          <a:noFill/>
          <a:effectLst/>
        </p:spPr>
        <p:txBody>
          <a:bodyPr lIns="0" tIns="0" rIns="0" bIns="0" anchor="ctr" anchorCtr="0">
            <a:spAutoFit/>
          </a:bodyPr>
          <a:lstStyle>
            <a:lvl1pPr marL="114300" indent="-114300" algn="l">
              <a:buSzPct val="100000"/>
              <a:buFont typeface="+mj-lt"/>
              <a:buAutoNum type="arabicPeriod"/>
              <a:defRPr sz="1000" b="0" i="0">
                <a:solidFill>
                  <a:schemeClr val="tx1"/>
                </a:solidFill>
                <a:latin typeface="+mj-lt"/>
                <a:cs typeface="Segoe UI Semibold" panose="020B0502040204020203" pitchFamily="34" charset="0"/>
              </a:defRPr>
            </a:lvl1pPr>
          </a:lstStyle>
          <a:p>
            <a:pPr lvl="0"/>
            <a:r>
              <a:rPr lang="en-US"/>
              <a:t>Click to edit Master text styles</a:t>
            </a:r>
          </a:p>
        </p:txBody>
      </p:sp>
      <p:sp>
        <p:nvSpPr>
          <p:cNvPr id="82" name="Step 1 Top">
            <a:extLst>
              <a:ext uri="{FF2B5EF4-FFF2-40B4-BE49-F238E27FC236}">
                <a16:creationId xmlns:a16="http://schemas.microsoft.com/office/drawing/2014/main" id="{4B00355E-1235-20E9-A051-604C9CFEC8E8}"/>
              </a:ext>
            </a:extLst>
          </p:cNvPr>
          <p:cNvSpPr>
            <a:spLocks noGrp="1"/>
          </p:cNvSpPr>
          <p:nvPr>
            <p:ph type="body" sz="quarter" idx="18"/>
          </p:nvPr>
        </p:nvSpPr>
        <p:spPr>
          <a:xfrm>
            <a:off x="3182890" y="1438715"/>
            <a:ext cx="2572262" cy="626701"/>
          </a:xfrm>
        </p:spPr>
        <p:txBody>
          <a:bodyPr lIns="0" tIns="0" rIns="0" bIns="0">
            <a:noAutofit/>
          </a:bodyPr>
          <a:lstStyle>
            <a:lvl1pPr marL="0" indent="0">
              <a:spcBef>
                <a:spcPts val="0"/>
              </a:spcBef>
              <a:buNone/>
              <a:defRPr sz="900"/>
            </a:lvl1pPr>
          </a:lstStyle>
          <a:p>
            <a:pPr lvl="0"/>
            <a:r>
              <a:rPr lang="en-US"/>
              <a:t>Click to edit Master text styles</a:t>
            </a:r>
          </a:p>
        </p:txBody>
      </p:sp>
      <p:sp>
        <p:nvSpPr>
          <p:cNvPr id="90" name="Step 1 Title">
            <a:extLst>
              <a:ext uri="{FF2B5EF4-FFF2-40B4-BE49-F238E27FC236}">
                <a16:creationId xmlns:a16="http://schemas.microsoft.com/office/drawing/2014/main" id="{2F0B0E91-BF30-3362-2F5C-B3C5D2B134A1}"/>
              </a:ext>
            </a:extLst>
          </p:cNvPr>
          <p:cNvSpPr>
            <a:spLocks noGrp="1"/>
          </p:cNvSpPr>
          <p:nvPr>
            <p:ph type="body" sz="quarter" idx="42"/>
          </p:nvPr>
        </p:nvSpPr>
        <p:spPr>
          <a:xfrm>
            <a:off x="6066682" y="1112478"/>
            <a:ext cx="2572262" cy="153888"/>
          </a:xfrm>
          <a:prstGeom prst="rect">
            <a:avLst/>
          </a:prstGeom>
          <a:noFill/>
          <a:effectLst/>
        </p:spPr>
        <p:txBody>
          <a:bodyPr lIns="0" tIns="0" rIns="0" bIns="0" anchor="ctr" anchorCtr="0">
            <a:spAutoFit/>
          </a:bodyPr>
          <a:lstStyle>
            <a:lvl1pPr marL="114300" indent="-114300" algn="l">
              <a:buSzPct val="100000"/>
              <a:buFont typeface="+mj-lt"/>
              <a:buAutoNum type="arabicPeriod" startAt="2"/>
              <a:defRPr sz="1000" b="0" i="0">
                <a:solidFill>
                  <a:schemeClr val="tx1"/>
                </a:solidFill>
                <a:latin typeface="+mj-lt"/>
                <a:cs typeface="Segoe UI Semibold" panose="020B0502040204020203" pitchFamily="34" charset="0"/>
              </a:defRPr>
            </a:lvl1pPr>
          </a:lstStyle>
          <a:p>
            <a:pPr lvl="0"/>
            <a:r>
              <a:rPr lang="en-US"/>
              <a:t>Click to edit Master text styles</a:t>
            </a:r>
          </a:p>
        </p:txBody>
      </p:sp>
      <p:sp>
        <p:nvSpPr>
          <p:cNvPr id="91" name="Step 1 Top">
            <a:extLst>
              <a:ext uri="{FF2B5EF4-FFF2-40B4-BE49-F238E27FC236}">
                <a16:creationId xmlns:a16="http://schemas.microsoft.com/office/drawing/2014/main" id="{4F227FB4-9BBF-2C43-E0ED-95EC51590A0D}"/>
              </a:ext>
            </a:extLst>
          </p:cNvPr>
          <p:cNvSpPr>
            <a:spLocks noGrp="1"/>
          </p:cNvSpPr>
          <p:nvPr>
            <p:ph type="body" sz="quarter" idx="43"/>
          </p:nvPr>
        </p:nvSpPr>
        <p:spPr>
          <a:xfrm>
            <a:off x="6066682" y="1438715"/>
            <a:ext cx="2572262" cy="626701"/>
          </a:xfrm>
        </p:spPr>
        <p:txBody>
          <a:bodyPr lIns="0" tIns="0" rIns="0" bIns="0">
            <a:noAutofit/>
          </a:bodyPr>
          <a:lstStyle>
            <a:lvl1pPr marL="0" indent="0">
              <a:spcBef>
                <a:spcPts val="0"/>
              </a:spcBef>
              <a:buNone/>
              <a:defRPr sz="900"/>
            </a:lvl1pPr>
          </a:lstStyle>
          <a:p>
            <a:pPr lvl="0"/>
            <a:r>
              <a:rPr lang="en-US"/>
              <a:t>Click to edit Master text styles</a:t>
            </a:r>
          </a:p>
        </p:txBody>
      </p:sp>
      <p:sp>
        <p:nvSpPr>
          <p:cNvPr id="10" name="Text Placeholder 11">
            <a:extLst>
              <a:ext uri="{FF2B5EF4-FFF2-40B4-BE49-F238E27FC236}">
                <a16:creationId xmlns:a16="http://schemas.microsoft.com/office/drawing/2014/main" id="{933075CE-083E-DACE-75B9-DDCB2E437557}"/>
              </a:ext>
            </a:extLst>
          </p:cNvPr>
          <p:cNvSpPr>
            <a:spLocks noGrp="1"/>
          </p:cNvSpPr>
          <p:nvPr>
            <p:ph type="body" sz="quarter" idx="68"/>
          </p:nvPr>
        </p:nvSpPr>
        <p:spPr>
          <a:xfrm>
            <a:off x="8950475" y="2725494"/>
            <a:ext cx="2572262" cy="712876"/>
          </a:xfrm>
          <a:prstGeom prst="roundRect">
            <a:avLst>
              <a:gd name="adj" fmla="val 9576"/>
            </a:avLst>
          </a:prstGeom>
          <a:solidFill>
            <a:schemeClr val="bg1">
              <a:lumMod val="95000"/>
              <a:alpha val="50000"/>
            </a:schemeClr>
          </a:solidFill>
        </p:spPr>
        <p:txBody>
          <a:bodyPr lIns="0" tIns="0" rIns="0" bIns="0" anchor="t">
            <a:noAutofit/>
          </a:bodyPr>
          <a:lstStyle>
            <a:lvl1pPr marL="0" indent="0">
              <a:spcBef>
                <a:spcPts val="0"/>
              </a:spcBef>
              <a:spcAft>
                <a:spcPts val="100"/>
              </a:spcAft>
              <a:buNone/>
              <a:defRPr sz="900"/>
            </a:lvl1pPr>
            <a:lvl2pPr marL="0" indent="0">
              <a:spcBef>
                <a:spcPts val="0"/>
              </a:spcBef>
              <a:spcAft>
                <a:spcPts val="200"/>
              </a:spcAft>
              <a:buNone/>
              <a:defRPr sz="900"/>
            </a:lvl2pPr>
            <a:lvl3pPr marL="0" indent="0">
              <a:spcBef>
                <a:spcPts val="0"/>
              </a:spcBef>
              <a:spcAft>
                <a:spcPts val="100"/>
              </a:spcAft>
              <a:buNone/>
              <a:defRPr sz="900">
                <a:latin typeface="+mj-lt"/>
              </a:defRPr>
            </a:lvl3pPr>
            <a:lvl4pPr marL="0" indent="0">
              <a:buNone/>
              <a:defRPr sz="900">
                <a:latin typeface="+mj-lt"/>
              </a:defRPr>
            </a:lvl4pPr>
            <a:lvl5pPr>
              <a:defRPr/>
            </a:lvl5pPr>
          </a:lstStyle>
          <a:p>
            <a:pPr lvl="0"/>
            <a:r>
              <a:rPr lang="en-US"/>
              <a:t>Click to edit Master text styles</a:t>
            </a:r>
          </a:p>
          <a:p>
            <a:pPr lvl="3"/>
            <a:r>
              <a:rPr lang="en-US"/>
              <a:t>Level 2</a:t>
            </a:r>
          </a:p>
        </p:txBody>
      </p:sp>
      <p:sp>
        <p:nvSpPr>
          <p:cNvPr id="93" name="Step 1 Title">
            <a:extLst>
              <a:ext uri="{FF2B5EF4-FFF2-40B4-BE49-F238E27FC236}">
                <a16:creationId xmlns:a16="http://schemas.microsoft.com/office/drawing/2014/main" id="{78B57A65-16AE-5996-C81D-89A1171052DC}"/>
              </a:ext>
            </a:extLst>
          </p:cNvPr>
          <p:cNvSpPr>
            <a:spLocks noGrp="1"/>
          </p:cNvSpPr>
          <p:nvPr>
            <p:ph type="body" sz="quarter" idx="45"/>
          </p:nvPr>
        </p:nvSpPr>
        <p:spPr>
          <a:xfrm>
            <a:off x="8950475" y="1112478"/>
            <a:ext cx="2572262" cy="153888"/>
          </a:xfrm>
          <a:prstGeom prst="rect">
            <a:avLst/>
          </a:prstGeom>
          <a:noFill/>
          <a:effectLst/>
        </p:spPr>
        <p:txBody>
          <a:bodyPr lIns="0" tIns="0" rIns="0" bIns="0" anchor="ctr" anchorCtr="0">
            <a:spAutoFit/>
          </a:bodyPr>
          <a:lstStyle>
            <a:lvl1pPr marL="114300" indent="-114300" algn="l">
              <a:buSzPct val="100000"/>
              <a:buFont typeface="+mj-lt"/>
              <a:buAutoNum type="arabicPeriod" startAt="3"/>
              <a:defRPr sz="1000" b="0" i="0">
                <a:solidFill>
                  <a:schemeClr val="tx1"/>
                </a:solidFill>
                <a:latin typeface="+mj-lt"/>
                <a:cs typeface="Segoe UI Semibold" panose="020B0502040204020203" pitchFamily="34" charset="0"/>
              </a:defRPr>
            </a:lvl1pPr>
          </a:lstStyle>
          <a:p>
            <a:pPr lvl="0"/>
            <a:r>
              <a:rPr lang="en-US"/>
              <a:t>Click to edit Master text styles</a:t>
            </a:r>
          </a:p>
        </p:txBody>
      </p:sp>
      <p:sp>
        <p:nvSpPr>
          <p:cNvPr id="94" name="Step 1 Top">
            <a:extLst>
              <a:ext uri="{FF2B5EF4-FFF2-40B4-BE49-F238E27FC236}">
                <a16:creationId xmlns:a16="http://schemas.microsoft.com/office/drawing/2014/main" id="{6B743263-A0E0-B08F-8640-1A6F2A474017}"/>
              </a:ext>
            </a:extLst>
          </p:cNvPr>
          <p:cNvSpPr>
            <a:spLocks noGrp="1"/>
          </p:cNvSpPr>
          <p:nvPr>
            <p:ph type="body" sz="quarter" idx="46"/>
          </p:nvPr>
        </p:nvSpPr>
        <p:spPr>
          <a:xfrm>
            <a:off x="8950475" y="1438715"/>
            <a:ext cx="2572262" cy="626701"/>
          </a:xfrm>
        </p:spPr>
        <p:txBody>
          <a:bodyPr lIns="0" tIns="0" rIns="0" bIns="0">
            <a:noAutofit/>
          </a:bodyPr>
          <a:lstStyle>
            <a:lvl1pPr marL="0" indent="0">
              <a:spcBef>
                <a:spcPts val="0"/>
              </a:spcBef>
              <a:buNone/>
              <a:defRPr sz="900"/>
            </a:lvl1pPr>
          </a:lstStyle>
          <a:p>
            <a:pPr lvl="0"/>
            <a:r>
              <a:rPr lang="en-US"/>
              <a:t>Click to edit Master text styles</a:t>
            </a:r>
          </a:p>
        </p:txBody>
      </p:sp>
      <p:sp>
        <p:nvSpPr>
          <p:cNvPr id="12" name="Text Placeholder 11">
            <a:extLst>
              <a:ext uri="{FF2B5EF4-FFF2-40B4-BE49-F238E27FC236}">
                <a16:creationId xmlns:a16="http://schemas.microsoft.com/office/drawing/2014/main" id="{FE828537-77ED-661B-164D-7972C8F2B3CF}"/>
              </a:ext>
            </a:extLst>
          </p:cNvPr>
          <p:cNvSpPr>
            <a:spLocks noGrp="1"/>
          </p:cNvSpPr>
          <p:nvPr>
            <p:ph type="body" sz="quarter" idx="70"/>
          </p:nvPr>
        </p:nvSpPr>
        <p:spPr>
          <a:xfrm>
            <a:off x="6066682" y="2725494"/>
            <a:ext cx="2572262" cy="712876"/>
          </a:xfrm>
          <a:prstGeom prst="roundRect">
            <a:avLst>
              <a:gd name="adj" fmla="val 9576"/>
            </a:avLst>
          </a:prstGeom>
          <a:solidFill>
            <a:schemeClr val="bg1">
              <a:lumMod val="95000"/>
              <a:alpha val="50000"/>
            </a:schemeClr>
          </a:solidFill>
        </p:spPr>
        <p:txBody>
          <a:bodyPr lIns="0" tIns="0" rIns="0" bIns="0" anchor="t">
            <a:noAutofit/>
          </a:bodyPr>
          <a:lstStyle>
            <a:lvl1pPr marL="0" indent="0">
              <a:spcBef>
                <a:spcPts val="0"/>
              </a:spcBef>
              <a:spcAft>
                <a:spcPts val="100"/>
              </a:spcAft>
              <a:buNone/>
              <a:defRPr sz="900"/>
            </a:lvl1pPr>
            <a:lvl2pPr marL="0" indent="0">
              <a:spcBef>
                <a:spcPts val="0"/>
              </a:spcBef>
              <a:spcAft>
                <a:spcPts val="200"/>
              </a:spcAft>
              <a:buNone/>
              <a:defRPr sz="900"/>
            </a:lvl2pPr>
            <a:lvl3pPr marL="0" indent="0">
              <a:spcBef>
                <a:spcPts val="0"/>
              </a:spcBef>
              <a:spcAft>
                <a:spcPts val="100"/>
              </a:spcAft>
              <a:buNone/>
              <a:defRPr sz="900">
                <a:latin typeface="+mj-lt"/>
              </a:defRPr>
            </a:lvl3pPr>
            <a:lvl4pPr marL="0" indent="0">
              <a:buNone/>
              <a:defRPr sz="900">
                <a:latin typeface="+mj-lt"/>
              </a:defRPr>
            </a:lvl4pPr>
            <a:lvl5pPr>
              <a:defRPr/>
            </a:lvl5pPr>
          </a:lstStyle>
          <a:p>
            <a:pPr lvl="0"/>
            <a:r>
              <a:rPr lang="en-US"/>
              <a:t>Click to edit Master text styles</a:t>
            </a:r>
          </a:p>
          <a:p>
            <a:pPr lvl="3"/>
            <a:r>
              <a:rPr lang="en-US"/>
              <a:t>Level 2</a:t>
            </a:r>
          </a:p>
        </p:txBody>
      </p:sp>
      <p:sp>
        <p:nvSpPr>
          <p:cNvPr id="102" name="Text Placeholder 11">
            <a:extLst>
              <a:ext uri="{FF2B5EF4-FFF2-40B4-BE49-F238E27FC236}">
                <a16:creationId xmlns:a16="http://schemas.microsoft.com/office/drawing/2014/main" id="{B7B6A3B2-F891-96DB-EDD6-15440AF2E8CD}"/>
              </a:ext>
            </a:extLst>
          </p:cNvPr>
          <p:cNvSpPr>
            <a:spLocks noGrp="1"/>
          </p:cNvSpPr>
          <p:nvPr>
            <p:ph type="body" sz="quarter" idx="48"/>
          </p:nvPr>
        </p:nvSpPr>
        <p:spPr>
          <a:xfrm>
            <a:off x="3182890" y="5334522"/>
            <a:ext cx="2572262" cy="712876"/>
          </a:xfrm>
          <a:prstGeom prst="roundRect">
            <a:avLst>
              <a:gd name="adj" fmla="val 9576"/>
            </a:avLst>
          </a:prstGeom>
          <a:solidFill>
            <a:schemeClr val="bg1">
              <a:lumMod val="95000"/>
              <a:alpha val="50000"/>
            </a:schemeClr>
          </a:solidFill>
        </p:spPr>
        <p:txBody>
          <a:bodyPr lIns="0" tIns="0" rIns="0" bIns="0" anchor="t">
            <a:noAutofit/>
          </a:bodyPr>
          <a:lstStyle>
            <a:lvl1pPr marL="0" indent="0">
              <a:spcBef>
                <a:spcPts val="0"/>
              </a:spcBef>
              <a:spcAft>
                <a:spcPts val="100"/>
              </a:spcAft>
              <a:buNone/>
              <a:defRPr sz="900"/>
            </a:lvl1pPr>
            <a:lvl2pPr marL="0" indent="0">
              <a:spcBef>
                <a:spcPts val="0"/>
              </a:spcBef>
              <a:spcAft>
                <a:spcPts val="200"/>
              </a:spcAft>
              <a:buNone/>
              <a:defRPr sz="900"/>
            </a:lvl2pPr>
            <a:lvl3pPr marL="0" indent="0">
              <a:spcBef>
                <a:spcPts val="0"/>
              </a:spcBef>
              <a:spcAft>
                <a:spcPts val="100"/>
              </a:spcAft>
              <a:buNone/>
              <a:defRPr sz="900">
                <a:latin typeface="+mj-lt"/>
              </a:defRPr>
            </a:lvl3pPr>
            <a:lvl4pPr marL="0" indent="0">
              <a:buNone/>
              <a:defRPr sz="900">
                <a:latin typeface="+mj-lt"/>
              </a:defRPr>
            </a:lvl4pPr>
            <a:lvl5pPr>
              <a:defRPr/>
            </a:lvl5pPr>
          </a:lstStyle>
          <a:p>
            <a:pPr lvl="0"/>
            <a:r>
              <a:rPr lang="en-US"/>
              <a:t>Click to edit Master text styles</a:t>
            </a:r>
          </a:p>
          <a:p>
            <a:pPr lvl="3"/>
            <a:r>
              <a:rPr lang="en-US"/>
              <a:t>Level 2</a:t>
            </a:r>
          </a:p>
        </p:txBody>
      </p:sp>
      <p:sp>
        <p:nvSpPr>
          <p:cNvPr id="104" name="Step 1 Title">
            <a:extLst>
              <a:ext uri="{FF2B5EF4-FFF2-40B4-BE49-F238E27FC236}">
                <a16:creationId xmlns:a16="http://schemas.microsoft.com/office/drawing/2014/main" id="{0F93BF10-EBCF-85EF-D1B2-A7563451D76D}"/>
              </a:ext>
            </a:extLst>
          </p:cNvPr>
          <p:cNvSpPr>
            <a:spLocks noGrp="1"/>
          </p:cNvSpPr>
          <p:nvPr>
            <p:ph type="body" sz="quarter" idx="49"/>
          </p:nvPr>
        </p:nvSpPr>
        <p:spPr>
          <a:xfrm>
            <a:off x="3182890" y="3725103"/>
            <a:ext cx="2572262" cy="153888"/>
          </a:xfrm>
          <a:prstGeom prst="rect">
            <a:avLst/>
          </a:prstGeom>
          <a:noFill/>
          <a:effectLst/>
        </p:spPr>
        <p:txBody>
          <a:bodyPr lIns="0" tIns="0" rIns="0" bIns="0" anchor="ctr" anchorCtr="0">
            <a:spAutoFit/>
          </a:bodyPr>
          <a:lstStyle>
            <a:lvl1pPr marL="114300" indent="-114300" algn="l">
              <a:buSzPct val="100000"/>
              <a:buFont typeface="+mj-lt"/>
              <a:buAutoNum type="arabicPeriod" startAt="6"/>
              <a:defRPr sz="1000" b="0" i="0">
                <a:solidFill>
                  <a:schemeClr val="tx1"/>
                </a:solidFill>
                <a:latin typeface="+mj-lt"/>
                <a:cs typeface="Segoe UI Semibold" panose="020B0502040204020203" pitchFamily="34" charset="0"/>
              </a:defRPr>
            </a:lvl1pPr>
          </a:lstStyle>
          <a:p>
            <a:pPr lvl="0"/>
            <a:r>
              <a:rPr lang="en-US"/>
              <a:t>Click to edit Master text styles</a:t>
            </a:r>
          </a:p>
        </p:txBody>
      </p:sp>
      <p:sp>
        <p:nvSpPr>
          <p:cNvPr id="105" name="Step 1 Top">
            <a:extLst>
              <a:ext uri="{FF2B5EF4-FFF2-40B4-BE49-F238E27FC236}">
                <a16:creationId xmlns:a16="http://schemas.microsoft.com/office/drawing/2014/main" id="{C1C2FA4E-D061-ECCE-C8BB-24C647D60102}"/>
              </a:ext>
            </a:extLst>
          </p:cNvPr>
          <p:cNvSpPr>
            <a:spLocks noGrp="1"/>
          </p:cNvSpPr>
          <p:nvPr>
            <p:ph type="body" sz="quarter" idx="50"/>
          </p:nvPr>
        </p:nvSpPr>
        <p:spPr>
          <a:xfrm>
            <a:off x="3182890" y="4050957"/>
            <a:ext cx="2572262" cy="626701"/>
          </a:xfrm>
        </p:spPr>
        <p:txBody>
          <a:bodyPr lIns="0" tIns="0" rIns="0" bIns="0">
            <a:noAutofit/>
          </a:bodyPr>
          <a:lstStyle>
            <a:lvl1pPr marL="0" indent="0">
              <a:spcBef>
                <a:spcPts val="0"/>
              </a:spcBef>
              <a:buNone/>
              <a:defRPr sz="900"/>
            </a:lvl1pPr>
          </a:lstStyle>
          <a:p>
            <a:pPr lvl="0"/>
            <a:r>
              <a:rPr lang="en-US"/>
              <a:t>Click to edit Master text styles</a:t>
            </a:r>
          </a:p>
        </p:txBody>
      </p:sp>
      <p:sp>
        <p:nvSpPr>
          <p:cNvPr id="119" name="Step 1 Title">
            <a:extLst>
              <a:ext uri="{FF2B5EF4-FFF2-40B4-BE49-F238E27FC236}">
                <a16:creationId xmlns:a16="http://schemas.microsoft.com/office/drawing/2014/main" id="{9CB910C7-53F5-CD35-F7B3-ED8F5DD4F6A1}"/>
              </a:ext>
            </a:extLst>
          </p:cNvPr>
          <p:cNvSpPr>
            <a:spLocks noGrp="1"/>
          </p:cNvSpPr>
          <p:nvPr>
            <p:ph type="body" sz="quarter" idx="51"/>
          </p:nvPr>
        </p:nvSpPr>
        <p:spPr>
          <a:xfrm>
            <a:off x="6066682" y="3725103"/>
            <a:ext cx="2572262" cy="153888"/>
          </a:xfrm>
          <a:prstGeom prst="rect">
            <a:avLst/>
          </a:prstGeom>
          <a:noFill/>
          <a:effectLst/>
        </p:spPr>
        <p:txBody>
          <a:bodyPr lIns="0" tIns="0" rIns="0" bIns="0" anchor="ctr" anchorCtr="0">
            <a:spAutoFit/>
          </a:bodyPr>
          <a:lstStyle>
            <a:lvl1pPr marL="114300" indent="-114300" algn="l">
              <a:buSzPct val="100000"/>
              <a:buFont typeface="+mj-lt"/>
              <a:buAutoNum type="arabicPeriod" startAt="5"/>
              <a:defRPr sz="1000" b="0" i="0">
                <a:solidFill>
                  <a:schemeClr val="tx1"/>
                </a:solidFill>
                <a:latin typeface="+mj-lt"/>
                <a:cs typeface="Segoe UI Semibold" panose="020B0502040204020203" pitchFamily="34" charset="0"/>
              </a:defRPr>
            </a:lvl1pPr>
          </a:lstStyle>
          <a:p>
            <a:pPr lvl="0"/>
            <a:r>
              <a:rPr lang="en-US"/>
              <a:t>Click to edit Master text styles</a:t>
            </a:r>
          </a:p>
        </p:txBody>
      </p:sp>
      <p:sp>
        <p:nvSpPr>
          <p:cNvPr id="120" name="Step 1 Top">
            <a:extLst>
              <a:ext uri="{FF2B5EF4-FFF2-40B4-BE49-F238E27FC236}">
                <a16:creationId xmlns:a16="http://schemas.microsoft.com/office/drawing/2014/main" id="{E81FD2D6-1B95-AE76-667E-A7ADD3CD3A50}"/>
              </a:ext>
            </a:extLst>
          </p:cNvPr>
          <p:cNvSpPr>
            <a:spLocks noGrp="1"/>
          </p:cNvSpPr>
          <p:nvPr>
            <p:ph type="body" sz="quarter" idx="52"/>
          </p:nvPr>
        </p:nvSpPr>
        <p:spPr>
          <a:xfrm>
            <a:off x="6066682" y="4050957"/>
            <a:ext cx="2572262" cy="626701"/>
          </a:xfrm>
        </p:spPr>
        <p:txBody>
          <a:bodyPr lIns="0" tIns="0" rIns="0" bIns="0">
            <a:noAutofit/>
          </a:bodyPr>
          <a:lstStyle>
            <a:lvl1pPr marL="0" indent="0">
              <a:spcBef>
                <a:spcPts val="0"/>
              </a:spcBef>
              <a:buNone/>
              <a:defRPr sz="900"/>
            </a:lvl1pPr>
          </a:lstStyle>
          <a:p>
            <a:pPr lvl="0"/>
            <a:r>
              <a:rPr lang="en-US"/>
              <a:t>Click to edit Master text styles</a:t>
            </a:r>
          </a:p>
        </p:txBody>
      </p:sp>
      <p:sp>
        <p:nvSpPr>
          <p:cNvPr id="8" name="Text Placeholder 11">
            <a:extLst>
              <a:ext uri="{FF2B5EF4-FFF2-40B4-BE49-F238E27FC236}">
                <a16:creationId xmlns:a16="http://schemas.microsoft.com/office/drawing/2014/main" id="{19D255C6-A463-0E1B-EFD1-0675518123ED}"/>
              </a:ext>
            </a:extLst>
          </p:cNvPr>
          <p:cNvSpPr>
            <a:spLocks noGrp="1"/>
          </p:cNvSpPr>
          <p:nvPr>
            <p:ph type="body" sz="quarter" idx="66"/>
          </p:nvPr>
        </p:nvSpPr>
        <p:spPr>
          <a:xfrm>
            <a:off x="8950475" y="5334522"/>
            <a:ext cx="2572262" cy="712876"/>
          </a:xfrm>
          <a:prstGeom prst="roundRect">
            <a:avLst>
              <a:gd name="adj" fmla="val 9576"/>
            </a:avLst>
          </a:prstGeom>
          <a:solidFill>
            <a:schemeClr val="bg1">
              <a:lumMod val="95000"/>
              <a:alpha val="50000"/>
            </a:schemeClr>
          </a:solidFill>
        </p:spPr>
        <p:txBody>
          <a:bodyPr lIns="0" tIns="0" rIns="0" bIns="0" anchor="t">
            <a:noAutofit/>
          </a:bodyPr>
          <a:lstStyle>
            <a:lvl1pPr marL="0" indent="0">
              <a:spcBef>
                <a:spcPts val="0"/>
              </a:spcBef>
              <a:spcAft>
                <a:spcPts val="100"/>
              </a:spcAft>
              <a:buNone/>
              <a:defRPr sz="900"/>
            </a:lvl1pPr>
            <a:lvl2pPr marL="0" indent="0">
              <a:spcBef>
                <a:spcPts val="0"/>
              </a:spcBef>
              <a:spcAft>
                <a:spcPts val="200"/>
              </a:spcAft>
              <a:buNone/>
              <a:defRPr sz="900"/>
            </a:lvl2pPr>
            <a:lvl3pPr marL="0" indent="0">
              <a:spcBef>
                <a:spcPts val="0"/>
              </a:spcBef>
              <a:spcAft>
                <a:spcPts val="100"/>
              </a:spcAft>
              <a:buNone/>
              <a:defRPr sz="900">
                <a:latin typeface="+mj-lt"/>
              </a:defRPr>
            </a:lvl3pPr>
            <a:lvl4pPr marL="0" indent="0">
              <a:buNone/>
              <a:defRPr sz="900">
                <a:latin typeface="+mj-lt"/>
              </a:defRPr>
            </a:lvl4pPr>
            <a:lvl5pPr>
              <a:defRPr/>
            </a:lvl5pPr>
          </a:lstStyle>
          <a:p>
            <a:pPr lvl="0"/>
            <a:r>
              <a:rPr lang="en-US"/>
              <a:t>Click to edit Master text styles</a:t>
            </a:r>
          </a:p>
          <a:p>
            <a:pPr lvl="3"/>
            <a:r>
              <a:rPr lang="en-US"/>
              <a:t>Level 2</a:t>
            </a:r>
          </a:p>
        </p:txBody>
      </p:sp>
      <p:sp>
        <p:nvSpPr>
          <p:cNvPr id="122" name="Step 1 Title">
            <a:extLst>
              <a:ext uri="{FF2B5EF4-FFF2-40B4-BE49-F238E27FC236}">
                <a16:creationId xmlns:a16="http://schemas.microsoft.com/office/drawing/2014/main" id="{A1FCE115-20B6-1C4D-4833-053AE41AEBD7}"/>
              </a:ext>
            </a:extLst>
          </p:cNvPr>
          <p:cNvSpPr>
            <a:spLocks noGrp="1"/>
          </p:cNvSpPr>
          <p:nvPr>
            <p:ph type="body" sz="quarter" idx="54"/>
          </p:nvPr>
        </p:nvSpPr>
        <p:spPr>
          <a:xfrm>
            <a:off x="8950475" y="3725103"/>
            <a:ext cx="2572262" cy="153888"/>
          </a:xfrm>
          <a:prstGeom prst="rect">
            <a:avLst/>
          </a:prstGeom>
          <a:noFill/>
          <a:effectLst/>
        </p:spPr>
        <p:txBody>
          <a:bodyPr lIns="0" tIns="0" rIns="0" bIns="0" anchor="ctr" anchorCtr="0">
            <a:spAutoFit/>
          </a:bodyPr>
          <a:lstStyle>
            <a:lvl1pPr marL="114300" indent="-114300" algn="l">
              <a:buSzPct val="100000"/>
              <a:buFont typeface="+mj-lt"/>
              <a:buAutoNum type="arabicPeriod" startAt="4"/>
              <a:defRPr sz="1000" b="0" i="0">
                <a:solidFill>
                  <a:schemeClr val="tx1"/>
                </a:solidFill>
                <a:latin typeface="+mj-lt"/>
                <a:cs typeface="Segoe UI Semibold" panose="020B0502040204020203" pitchFamily="34" charset="0"/>
              </a:defRPr>
            </a:lvl1pPr>
          </a:lstStyle>
          <a:p>
            <a:pPr lvl="0"/>
            <a:r>
              <a:rPr lang="en-US"/>
              <a:t>Click to edit Master text styles</a:t>
            </a:r>
          </a:p>
        </p:txBody>
      </p:sp>
      <p:sp>
        <p:nvSpPr>
          <p:cNvPr id="123" name="Step 1 Top">
            <a:extLst>
              <a:ext uri="{FF2B5EF4-FFF2-40B4-BE49-F238E27FC236}">
                <a16:creationId xmlns:a16="http://schemas.microsoft.com/office/drawing/2014/main" id="{3D5F63B4-9275-D6B7-3A0E-699C0C868EA5}"/>
              </a:ext>
            </a:extLst>
          </p:cNvPr>
          <p:cNvSpPr>
            <a:spLocks noGrp="1"/>
          </p:cNvSpPr>
          <p:nvPr>
            <p:ph type="body" sz="quarter" idx="55"/>
          </p:nvPr>
        </p:nvSpPr>
        <p:spPr>
          <a:xfrm>
            <a:off x="8950475" y="4050957"/>
            <a:ext cx="2572262" cy="626701"/>
          </a:xfrm>
        </p:spPr>
        <p:txBody>
          <a:bodyPr lIns="0" tIns="0" rIns="0" bIns="0">
            <a:noAutofit/>
          </a:bodyPr>
          <a:lstStyle>
            <a:lvl1pPr marL="0" indent="0">
              <a:spcBef>
                <a:spcPts val="0"/>
              </a:spcBef>
              <a:buNone/>
              <a:defRPr sz="900"/>
            </a:lvl1pPr>
          </a:lstStyle>
          <a:p>
            <a:pPr lvl="0"/>
            <a:r>
              <a:rPr lang="en-US"/>
              <a:t>Click to edit Master text styles</a:t>
            </a:r>
          </a:p>
        </p:txBody>
      </p:sp>
      <p:sp>
        <p:nvSpPr>
          <p:cNvPr id="9" name="Text Placeholder 11">
            <a:extLst>
              <a:ext uri="{FF2B5EF4-FFF2-40B4-BE49-F238E27FC236}">
                <a16:creationId xmlns:a16="http://schemas.microsoft.com/office/drawing/2014/main" id="{9AEFB6C2-AB19-3A46-843C-CF95D15344CB}"/>
              </a:ext>
            </a:extLst>
          </p:cNvPr>
          <p:cNvSpPr>
            <a:spLocks noGrp="1"/>
          </p:cNvSpPr>
          <p:nvPr>
            <p:ph type="body" sz="quarter" idx="67"/>
          </p:nvPr>
        </p:nvSpPr>
        <p:spPr>
          <a:xfrm>
            <a:off x="6066682" y="5334522"/>
            <a:ext cx="2572262" cy="712876"/>
          </a:xfrm>
          <a:prstGeom prst="roundRect">
            <a:avLst>
              <a:gd name="adj" fmla="val 9576"/>
            </a:avLst>
          </a:prstGeom>
          <a:solidFill>
            <a:schemeClr val="bg1">
              <a:lumMod val="95000"/>
              <a:alpha val="50000"/>
            </a:schemeClr>
          </a:solidFill>
        </p:spPr>
        <p:txBody>
          <a:bodyPr lIns="0" tIns="0" rIns="0" bIns="0" anchor="t">
            <a:noAutofit/>
          </a:bodyPr>
          <a:lstStyle>
            <a:lvl1pPr marL="0" indent="0">
              <a:spcBef>
                <a:spcPts val="0"/>
              </a:spcBef>
              <a:spcAft>
                <a:spcPts val="100"/>
              </a:spcAft>
              <a:buNone/>
              <a:defRPr sz="900"/>
            </a:lvl1pPr>
            <a:lvl2pPr marL="0" indent="0">
              <a:spcBef>
                <a:spcPts val="0"/>
              </a:spcBef>
              <a:spcAft>
                <a:spcPts val="200"/>
              </a:spcAft>
              <a:buNone/>
              <a:defRPr sz="900"/>
            </a:lvl2pPr>
            <a:lvl3pPr marL="0" indent="0">
              <a:spcBef>
                <a:spcPts val="0"/>
              </a:spcBef>
              <a:spcAft>
                <a:spcPts val="100"/>
              </a:spcAft>
              <a:buNone/>
              <a:defRPr sz="900">
                <a:latin typeface="+mj-lt"/>
              </a:defRPr>
            </a:lvl3pPr>
            <a:lvl4pPr marL="0" indent="0">
              <a:buNone/>
              <a:defRPr sz="900">
                <a:latin typeface="+mj-lt"/>
              </a:defRPr>
            </a:lvl4pPr>
            <a:lvl5pPr>
              <a:defRPr/>
            </a:lvl5pPr>
          </a:lstStyle>
          <a:p>
            <a:pPr lvl="0"/>
            <a:r>
              <a:rPr lang="en-US"/>
              <a:t>Click to edit Master text styles</a:t>
            </a:r>
          </a:p>
          <a:p>
            <a:pPr lvl="3"/>
            <a:r>
              <a:rPr lang="en-US"/>
              <a:t>Level 2</a:t>
            </a:r>
          </a:p>
        </p:txBody>
      </p:sp>
      <p:sp>
        <p:nvSpPr>
          <p:cNvPr id="7" name="Footnote">
            <a:extLst>
              <a:ext uri="{FF2B5EF4-FFF2-40B4-BE49-F238E27FC236}">
                <a16:creationId xmlns:a16="http://schemas.microsoft.com/office/drawing/2014/main" id="{AC05EA29-0447-0506-FB1B-E11117B0DF2E}"/>
              </a:ext>
            </a:extLst>
          </p:cNvPr>
          <p:cNvSpPr txBox="1">
            <a:spLocks/>
          </p:cNvSpPr>
          <p:nvPr userDrawn="1"/>
        </p:nvSpPr>
        <p:spPr>
          <a:xfrm>
            <a:off x="320040" y="6309360"/>
            <a:ext cx="9597418" cy="430887"/>
          </a:xfrm>
          <a:prstGeom prst="rect">
            <a:avLst/>
          </a:prstGeom>
        </p:spPr>
        <p:txBody>
          <a:bodyPr vert="horz" wrap="square" lIns="0" tIns="0" rIns="0" bIns="0" rtlCol="0">
            <a:sp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7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700" b="0" i="0" u="none" strike="noStrike" kern="1200" cap="none" spc="0" normalizeH="0" baseline="30000" noProof="0" dirty="0">
                <a:ln>
                  <a:noFill/>
                </a:ln>
                <a:solidFill>
                  <a:srgbClr val="000000"/>
                </a:solidFill>
                <a:effectLst/>
                <a:uLnTx/>
                <a:uFillTx/>
                <a:latin typeface="Segoe UI"/>
                <a:ea typeface="+mn-ea"/>
                <a:cs typeface="Segoe UI" panose="020B0502040204020203" pitchFamily="34" charset="0"/>
              </a:rPr>
              <a:t>1</a:t>
            </a:r>
            <a:r>
              <a:rPr kumimoji="0" lang="en-US" sz="7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Access M365 Copilot Chat at </a:t>
            </a:r>
            <a:r>
              <a:rPr kumimoji="0" lang="en-US" sz="7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hlinkClick r:id="rId2"/>
              </a:rPr>
              <a:t>m365copilot.com</a:t>
            </a:r>
            <a:r>
              <a:rPr kumimoji="0" lang="en-US" sz="7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 or the Microsoft 365 Copilot Chat mobile app and set toggle to “Web”.</a:t>
            </a:r>
          </a:p>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700" b="0" i="0" u="none" strike="noStrike" kern="1200" cap="none" spc="0" normalizeH="0" baseline="30000" noProof="0" dirty="0">
                <a:ln>
                  <a:noFill/>
                </a:ln>
                <a:solidFill>
                  <a:srgbClr val="000000"/>
                </a:solidFill>
                <a:effectLst/>
                <a:uLnTx/>
                <a:uFillTx/>
                <a:latin typeface="Segoe UI"/>
                <a:ea typeface="+mn-ea"/>
                <a:cs typeface="Segoe UI" panose="020B0502040204020203" pitchFamily="34" charset="0"/>
              </a:rPr>
              <a:t>2</a:t>
            </a:r>
            <a:r>
              <a:rPr kumimoji="0" lang="en-US" sz="7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Access M365 Copilot Chat at </a:t>
            </a:r>
            <a:r>
              <a:rPr kumimoji="0" lang="en-US" sz="7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hlinkClick r:id="rId2"/>
              </a:rPr>
              <a:t>m365copilot.com</a:t>
            </a:r>
            <a:r>
              <a:rPr kumimoji="0" lang="en-US" sz="7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 the Microsoft 365 Copilot Chat mobile app, or the M365 Copilot Chat app in Teams, and set toggle to “Work”.</a:t>
            </a:r>
          </a:p>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700" b="0" i="0" u="none" strike="noStrike" kern="1200" cap="none" spc="0" normalizeH="0" baseline="30000" noProof="0" dirty="0">
                <a:ln>
                  <a:noFill/>
                </a:ln>
                <a:solidFill>
                  <a:srgbClr val="000000"/>
                </a:solidFill>
                <a:effectLst/>
                <a:uLnTx/>
                <a:uFillTx/>
                <a:latin typeface="Segoe UI"/>
                <a:ea typeface="+mn-ea"/>
                <a:cs typeface="Segoe UI" panose="020B0502040204020203" pitchFamily="34" charset="0"/>
              </a:rPr>
              <a:t>3</a:t>
            </a:r>
            <a:r>
              <a:rPr kumimoji="0" lang="en-US" sz="7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AI Agents allow Copilot to access your organization-specific apps. In the past this would have required an API call to get data from a system of record.</a:t>
            </a:r>
          </a:p>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7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The content in this example scenario is for demonstration purposes only. You should evaluate how Copilot aligns with your organization’s business processes, regulatory requirements, and responsible AI principles.</a:t>
            </a:r>
          </a:p>
        </p:txBody>
      </p:sp>
      <p:sp>
        <p:nvSpPr>
          <p:cNvPr id="2" name="Text Placeholder 8">
            <a:extLst>
              <a:ext uri="{FF2B5EF4-FFF2-40B4-BE49-F238E27FC236}">
                <a16:creationId xmlns:a16="http://schemas.microsoft.com/office/drawing/2014/main" id="{A1FD8182-9192-3293-3C25-613D50894B80}"/>
              </a:ext>
            </a:extLst>
          </p:cNvPr>
          <p:cNvSpPr>
            <a:spLocks noGrp="1"/>
          </p:cNvSpPr>
          <p:nvPr>
            <p:ph type="body" sz="quarter" idx="64"/>
          </p:nvPr>
        </p:nvSpPr>
        <p:spPr>
          <a:xfrm>
            <a:off x="320721" y="4709762"/>
            <a:ext cx="1131651" cy="219456"/>
          </a:xfrm>
          <a:prstGeom prst="roundRect">
            <a:avLst>
              <a:gd name="adj" fmla="val 50000"/>
            </a:avLst>
          </a:prstGeom>
          <a:solidFill>
            <a:srgbClr val="C03BC4"/>
          </a:solidFill>
          <a:ln w="12700">
            <a:solidFill>
              <a:srgbClr val="C03BC4"/>
            </a:solidFill>
          </a:ln>
          <a:effectLst>
            <a:outerShdw blurRad="63500" dist="63500" dir="2700000" algn="tl" rotWithShape="0">
              <a:prstClr val="black">
                <a:alpha val="20000"/>
              </a:prstClr>
            </a:outerShdw>
          </a:effectLst>
        </p:spPr>
        <p:txBody>
          <a:bodyPr lIns="0" tIns="36576" rIns="0" bIns="36576" anchor="ctr">
            <a:noAutofit/>
          </a:bodyPr>
          <a:lstStyle>
            <a:lvl1pPr marL="0" indent="0" algn="ctr">
              <a:buNone/>
              <a:defRPr sz="900">
                <a:solidFill>
                  <a:schemeClr val="bg1"/>
                </a:solidFill>
                <a:latin typeface="+mj-lt"/>
              </a:defRPr>
            </a:lvl1pPr>
            <a:lvl2pPr marL="228600" indent="0">
              <a:buNone/>
              <a:defRPr/>
            </a:lvl2pPr>
          </a:lstStyle>
          <a:p>
            <a:pPr lvl="0"/>
            <a:r>
              <a:rPr lang="en-US"/>
              <a:t>Click to edit</a:t>
            </a:r>
          </a:p>
        </p:txBody>
      </p:sp>
      <p:sp>
        <p:nvSpPr>
          <p:cNvPr id="3" name="Text Placeholder 8">
            <a:extLst>
              <a:ext uri="{FF2B5EF4-FFF2-40B4-BE49-F238E27FC236}">
                <a16:creationId xmlns:a16="http://schemas.microsoft.com/office/drawing/2014/main" id="{DD81CAF3-1B44-C8D0-3BB0-F3DD087633FA}"/>
              </a:ext>
            </a:extLst>
          </p:cNvPr>
          <p:cNvSpPr>
            <a:spLocks noGrp="1"/>
          </p:cNvSpPr>
          <p:nvPr>
            <p:ph type="body" sz="quarter" idx="65"/>
          </p:nvPr>
        </p:nvSpPr>
        <p:spPr>
          <a:xfrm>
            <a:off x="320721" y="3467940"/>
            <a:ext cx="1131650" cy="219456"/>
          </a:xfrm>
          <a:prstGeom prst="roundRect">
            <a:avLst>
              <a:gd name="adj" fmla="val 50000"/>
            </a:avLst>
          </a:prstGeom>
          <a:solidFill>
            <a:srgbClr val="0078D4"/>
          </a:solidFill>
          <a:ln w="12700">
            <a:solidFill>
              <a:srgbClr val="0078D4"/>
            </a:solidFill>
          </a:ln>
          <a:effectLst>
            <a:outerShdw blurRad="63500" dist="63500" dir="2700000" algn="tl" rotWithShape="0">
              <a:prstClr val="black">
                <a:alpha val="20000"/>
              </a:prstClr>
            </a:outerShdw>
          </a:effectLst>
        </p:spPr>
        <p:txBody>
          <a:bodyPr lIns="0" tIns="36576" rIns="0" bIns="36576" anchor="ctr">
            <a:noAutofit/>
          </a:bodyPr>
          <a:lstStyle>
            <a:lvl1pPr marL="0" indent="0" algn="ctr">
              <a:buNone/>
              <a:defRPr sz="900">
                <a:solidFill>
                  <a:schemeClr val="bg1"/>
                </a:solidFill>
                <a:latin typeface="+mj-lt"/>
              </a:defRPr>
            </a:lvl1pPr>
            <a:lvl2pPr marL="228600" indent="0">
              <a:buNone/>
              <a:defRPr/>
            </a:lvl2pPr>
          </a:lstStyle>
          <a:p>
            <a:pPr lvl="0"/>
            <a:r>
              <a:rPr lang="en-US"/>
              <a:t>Click to edit</a:t>
            </a:r>
          </a:p>
        </p:txBody>
      </p:sp>
    </p:spTree>
    <p:extLst>
      <p:ext uri="{BB962C8B-B14F-4D97-AF65-F5344CB8AC3E}">
        <p14:creationId xmlns:p14="http://schemas.microsoft.com/office/powerpoint/2010/main" val="4252578023"/>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0">
          <p15:clr>
            <a:srgbClr val="A4A3A4"/>
          </p15:clr>
        </p15:guide>
        <p15:guide id="8" pos="1368">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36">
          <p15:clr>
            <a:srgbClr val="A4A3A4"/>
          </p15:clr>
        </p15:guide>
        <p15:guide id="14" pos="3168">
          <p15:clr>
            <a:srgbClr val="A4A3A4"/>
          </p15:clr>
        </p15:guide>
        <p15:guide id="15" pos="3352">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2_Scenario five steps">
    <p:spTree>
      <p:nvGrpSpPr>
        <p:cNvPr id="1" name=""/>
        <p:cNvGrpSpPr/>
        <p:nvPr/>
      </p:nvGrpSpPr>
      <p:grpSpPr>
        <a:xfrm>
          <a:off x="0" y="0"/>
          <a:ext cx="0" cy="0"/>
          <a:chOff x="0" y="0"/>
          <a:chExt cx="0" cy="0"/>
        </a:xfrm>
      </p:grpSpPr>
      <p:sp>
        <p:nvSpPr>
          <p:cNvPr id="8" name="Rectangle: Rounded Corners 7">
            <a:extLst>
              <a:ext uri="{FF2B5EF4-FFF2-40B4-BE49-F238E27FC236}">
                <a16:creationId xmlns:a16="http://schemas.microsoft.com/office/drawing/2014/main" id="{FC6C3234-D3F7-EB91-19FC-3FF3921A6EF7}"/>
              </a:ext>
            </a:extLst>
          </p:cNvPr>
          <p:cNvSpPr>
            <a:spLocks/>
          </p:cNvSpPr>
          <p:nvPr userDrawn="1"/>
        </p:nvSpPr>
        <p:spPr bwMode="auto">
          <a:xfrm>
            <a:off x="2179638" y="304726"/>
            <a:ext cx="4582191" cy="526298"/>
          </a:xfrm>
          <a:prstGeom prst="roundRect">
            <a:avLst/>
          </a:prstGeom>
          <a:solidFill>
            <a:srgbClr val="DDEEF8"/>
          </a:solidFill>
          <a:ln>
            <a:solidFill>
              <a:schemeClr val="bg1"/>
            </a:solidFill>
            <a:headEnd type="none" w="med" len="med"/>
            <a:tailEnd type="none" w="med" len="med"/>
          </a:ln>
          <a:effectLst>
            <a:outerShdw blurRad="254000" algn="ctr" rotWithShape="0">
              <a:schemeClr val="bg1">
                <a:lumMod val="75000"/>
                <a:alpha val="3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11480" tIns="91440" rIns="91440" bIns="91440" numCol="1" spcCol="0" rtlCol="0" fromWordArt="0" anchor="ctr" anchorCtr="0" forceAA="0" compatLnSpc="1">
            <a:prstTxWarp prst="textNoShape">
              <a:avLst/>
            </a:prstTxWarp>
            <a:noAutofit/>
          </a:bodyPr>
          <a:lstStyle/>
          <a:p>
            <a:pPr marL="0" marR="0" lvl="0" indent="0" algn="l" defTabSz="932742" rtl="0" eaLnBrk="1" fontAlgn="auto" latinLnBrk="0" hangingPunct="1">
              <a:lnSpc>
                <a:spcPct val="100000"/>
              </a:lnSpc>
              <a:spcBef>
                <a:spcPts val="1200"/>
              </a:spcBef>
              <a:spcAft>
                <a:spcPts val="0"/>
              </a:spcAft>
              <a:buClrTx/>
              <a:buSzPct val="100000"/>
              <a:buFontTx/>
              <a:buNone/>
              <a:tabLst/>
              <a:defRPr/>
            </a:pPr>
            <a:endParaRPr kumimoji="0" lang="en-US" sz="1800" b="0" i="0" u="none" strike="noStrike" kern="1200" cap="none" spc="0" normalizeH="0" baseline="0" noProof="0" dirty="0">
              <a:ln>
                <a:noFill/>
              </a:ln>
              <a:solidFill>
                <a:srgbClr val="000000"/>
              </a:solidFill>
              <a:effectLst/>
              <a:uLnTx/>
              <a:uFillTx/>
              <a:latin typeface="Segoe UI Semibold"/>
              <a:ea typeface="+mn-ea"/>
              <a:cs typeface="+mn-cs"/>
            </a:endParaRPr>
          </a:p>
        </p:txBody>
      </p:sp>
      <p:sp>
        <p:nvSpPr>
          <p:cNvPr id="9" name="TextBox 8">
            <a:extLst>
              <a:ext uri="{FF2B5EF4-FFF2-40B4-BE49-F238E27FC236}">
                <a16:creationId xmlns:a16="http://schemas.microsoft.com/office/drawing/2014/main" id="{DE489450-2B99-F45D-B0AD-1BD8CA42038B}"/>
              </a:ext>
            </a:extLst>
          </p:cNvPr>
          <p:cNvSpPr txBox="1">
            <a:spLocks/>
          </p:cNvSpPr>
          <p:nvPr userDrawn="1"/>
        </p:nvSpPr>
        <p:spPr>
          <a:xfrm>
            <a:off x="0" y="304726"/>
            <a:ext cx="2431247" cy="526298"/>
          </a:xfrm>
          <a:custGeom>
            <a:avLst/>
            <a:gdLst>
              <a:gd name="connsiteX0" fmla="*/ 1993 w 2431247"/>
              <a:gd name="connsiteY0" fmla="*/ 0 h 526298"/>
              <a:gd name="connsiteX1" fmla="*/ 2338766 w 2431247"/>
              <a:gd name="connsiteY1" fmla="*/ 0 h 526298"/>
              <a:gd name="connsiteX2" fmla="*/ 2431247 w 2431247"/>
              <a:gd name="connsiteY2" fmla="*/ 92481 h 526298"/>
              <a:gd name="connsiteX3" fmla="*/ 2431247 w 2431247"/>
              <a:gd name="connsiteY3" fmla="*/ 433817 h 526298"/>
              <a:gd name="connsiteX4" fmla="*/ 2338766 w 2431247"/>
              <a:gd name="connsiteY4" fmla="*/ 526298 h 526298"/>
              <a:gd name="connsiteX5" fmla="*/ 1993 w 2431247"/>
              <a:gd name="connsiteY5" fmla="*/ 526298 h 526298"/>
              <a:gd name="connsiteX6" fmla="*/ 0 w 2431247"/>
              <a:gd name="connsiteY6" fmla="*/ 525896 h 526298"/>
              <a:gd name="connsiteX7" fmla="*/ 0 w 2431247"/>
              <a:gd name="connsiteY7" fmla="*/ 402 h 526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1247" h="526298">
                <a:moveTo>
                  <a:pt x="1993" y="0"/>
                </a:moveTo>
                <a:lnTo>
                  <a:pt x="2338766" y="0"/>
                </a:lnTo>
                <a:cubicBezTo>
                  <a:pt x="2389842" y="0"/>
                  <a:pt x="2431247" y="41405"/>
                  <a:pt x="2431247" y="92481"/>
                </a:cubicBezTo>
                <a:lnTo>
                  <a:pt x="2431247" y="433817"/>
                </a:lnTo>
                <a:cubicBezTo>
                  <a:pt x="2431247" y="484893"/>
                  <a:pt x="2389842" y="526298"/>
                  <a:pt x="2338766" y="526298"/>
                </a:cubicBezTo>
                <a:lnTo>
                  <a:pt x="1993" y="526298"/>
                </a:lnTo>
                <a:lnTo>
                  <a:pt x="0" y="525896"/>
                </a:lnTo>
                <a:lnTo>
                  <a:pt x="0" y="402"/>
                </a:lnTo>
                <a:close/>
              </a:path>
            </a:pathLst>
          </a:custGeom>
          <a:gradFill flip="none" rotWithShape="1">
            <a:gsLst>
              <a:gs pos="35000">
                <a:srgbClr val="0078D4"/>
              </a:gs>
              <a:gs pos="0">
                <a:srgbClr val="C03BC4"/>
              </a:gs>
            </a:gsLst>
            <a:path path="circle">
              <a:fillToRect l="100000" t="100000"/>
            </a:path>
            <a:tileRect r="-100000" b="-100000"/>
          </a:gradFill>
          <a:effectLst/>
        </p:spPr>
        <p:txBody>
          <a:bodyPr vert="horz" wrap="square" lIns="310896" tIns="0" rIns="0" bIns="0" rtlCol="0" anchor="ctr" anchorCtr="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b="1" i="0" kern="1200" spc="0" baseline="0">
                <a:solidFill>
                  <a:srgbClr val="FFFFFF"/>
                </a:solidFill>
                <a:latin typeface="Segoe UI Semibold" panose="020B0502040204020203" pitchFamily="34" charset="0"/>
                <a:ea typeface="+mn-ea"/>
                <a:cs typeface="Segoe UI Semibold"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endParaRPr kumimoji="0" lang="en-US" sz="2000" b="1" i="0" u="none" strike="noStrike" kern="1200" cap="none" spc="0" normalizeH="0" baseline="0" noProof="0" dirty="0">
              <a:ln>
                <a:noFill/>
              </a:ln>
              <a:solidFill>
                <a:srgbClr val="FFFFFF"/>
              </a:solidFill>
              <a:effectLst/>
              <a:uLnTx/>
              <a:uFillTx/>
              <a:latin typeface="Segoe UI Semibold" panose="020B0502040204020203" pitchFamily="34" charset="0"/>
              <a:ea typeface="+mn-ea"/>
              <a:cs typeface="Segoe UI Semibold" panose="020B0502040204020203" pitchFamily="34" charset="0"/>
            </a:endParaRPr>
          </a:p>
        </p:txBody>
      </p:sp>
      <p:sp>
        <p:nvSpPr>
          <p:cNvPr id="71" name="Scenario Level">
            <a:extLst>
              <a:ext uri="{FF2B5EF4-FFF2-40B4-BE49-F238E27FC236}">
                <a16:creationId xmlns:a16="http://schemas.microsoft.com/office/drawing/2014/main" id="{5C914349-B5B3-D703-EE31-78482DD3DAA9}"/>
              </a:ext>
            </a:extLst>
          </p:cNvPr>
          <p:cNvSpPr txBox="1"/>
          <p:nvPr userDrawn="1"/>
        </p:nvSpPr>
        <p:spPr>
          <a:xfrm>
            <a:off x="10895070" y="358721"/>
            <a:ext cx="992247" cy="153888"/>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Segoe UI Semibold"/>
                <a:ea typeface="+mn-ea"/>
                <a:cs typeface="Segoe UI Semibold" panose="020B0502040204020203" pitchFamily="34" charset="0"/>
              </a:rPr>
              <a:t>Scenario level:</a:t>
            </a:r>
          </a:p>
        </p:txBody>
      </p:sp>
      <p:sp>
        <p:nvSpPr>
          <p:cNvPr id="73" name="Available with">
            <a:extLst>
              <a:ext uri="{FF2B5EF4-FFF2-40B4-BE49-F238E27FC236}">
                <a16:creationId xmlns:a16="http://schemas.microsoft.com/office/drawing/2014/main" id="{1E59605F-F04E-58C0-102B-28C6AFF01B7D}"/>
              </a:ext>
            </a:extLst>
          </p:cNvPr>
          <p:cNvSpPr txBox="1"/>
          <p:nvPr userDrawn="1"/>
        </p:nvSpPr>
        <p:spPr>
          <a:xfrm>
            <a:off x="9126798" y="358721"/>
            <a:ext cx="992247" cy="153888"/>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Segoe UI Semibold"/>
                <a:ea typeface="+mn-ea"/>
                <a:cs typeface="Segoe UI Semibold" panose="020B0502040204020203" pitchFamily="34" charset="0"/>
              </a:rPr>
              <a:t>Available with:</a:t>
            </a:r>
          </a:p>
        </p:txBody>
      </p:sp>
      <p:cxnSp>
        <p:nvCxnSpPr>
          <p:cNvPr id="76" name="Straight Connector 75">
            <a:extLst>
              <a:ext uri="{FF2B5EF4-FFF2-40B4-BE49-F238E27FC236}">
                <a16:creationId xmlns:a16="http://schemas.microsoft.com/office/drawing/2014/main" id="{384F79FD-8FB8-5727-A3FB-9193B8AF441D}"/>
              </a:ext>
            </a:extLst>
          </p:cNvPr>
          <p:cNvCxnSpPr/>
          <p:nvPr userDrawn="1"/>
        </p:nvCxnSpPr>
        <p:spPr>
          <a:xfrm>
            <a:off x="10357789" y="358721"/>
            <a:ext cx="0" cy="331655"/>
          </a:xfrm>
          <a:prstGeom prst="line">
            <a:avLst/>
          </a:prstGeom>
          <a:ln>
            <a:solidFill>
              <a:srgbClr val="B1B3B3"/>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78" name="Rectangle: Top Corners Rounded 73">
            <a:extLst>
              <a:ext uri="{FF2B5EF4-FFF2-40B4-BE49-F238E27FC236}">
                <a16:creationId xmlns:a16="http://schemas.microsoft.com/office/drawing/2014/main" id="{6FDEA399-18DB-E6DC-793E-5041B1E784CA}"/>
              </a:ext>
            </a:extLst>
          </p:cNvPr>
          <p:cNvSpPr>
            <a:spLocks/>
          </p:cNvSpPr>
          <p:nvPr userDrawn="1"/>
        </p:nvSpPr>
        <p:spPr bwMode="auto">
          <a:xfrm rot="16200000" flipV="1">
            <a:off x="6107793" y="-1681313"/>
            <a:ext cx="2612241" cy="8679949"/>
          </a:xfrm>
          <a:custGeom>
            <a:avLst/>
            <a:gdLst>
              <a:gd name="connsiteX0" fmla="*/ 163683 w 2612241"/>
              <a:gd name="connsiteY0" fmla="*/ 0 h 8666696"/>
              <a:gd name="connsiteX1" fmla="*/ 2448558 w 2612241"/>
              <a:gd name="connsiteY1" fmla="*/ 0 h 8666696"/>
              <a:gd name="connsiteX2" fmla="*/ 2612241 w 2612241"/>
              <a:gd name="connsiteY2" fmla="*/ 163683 h 8666696"/>
              <a:gd name="connsiteX3" fmla="*/ 2612241 w 2612241"/>
              <a:gd name="connsiteY3" fmla="*/ 8666696 h 8666696"/>
              <a:gd name="connsiteX4" fmla="*/ 2612241 w 2612241"/>
              <a:gd name="connsiteY4" fmla="*/ 8666696 h 8666696"/>
              <a:gd name="connsiteX5" fmla="*/ 0 w 2612241"/>
              <a:gd name="connsiteY5" fmla="*/ 8666696 h 8666696"/>
              <a:gd name="connsiteX6" fmla="*/ 0 w 2612241"/>
              <a:gd name="connsiteY6" fmla="*/ 8666696 h 8666696"/>
              <a:gd name="connsiteX7" fmla="*/ 0 w 2612241"/>
              <a:gd name="connsiteY7" fmla="*/ 163683 h 8666696"/>
              <a:gd name="connsiteX8" fmla="*/ 163683 w 2612241"/>
              <a:gd name="connsiteY8" fmla="*/ 0 h 8666696"/>
              <a:gd name="connsiteX0" fmla="*/ 0 w 2612241"/>
              <a:gd name="connsiteY0" fmla="*/ 8666696 h 8758136"/>
              <a:gd name="connsiteX1" fmla="*/ 0 w 2612241"/>
              <a:gd name="connsiteY1" fmla="*/ 163683 h 8758136"/>
              <a:gd name="connsiteX2" fmla="*/ 163683 w 2612241"/>
              <a:gd name="connsiteY2" fmla="*/ 0 h 8758136"/>
              <a:gd name="connsiteX3" fmla="*/ 2448558 w 2612241"/>
              <a:gd name="connsiteY3" fmla="*/ 0 h 8758136"/>
              <a:gd name="connsiteX4" fmla="*/ 2612241 w 2612241"/>
              <a:gd name="connsiteY4" fmla="*/ 163683 h 8758136"/>
              <a:gd name="connsiteX5" fmla="*/ 2612241 w 2612241"/>
              <a:gd name="connsiteY5" fmla="*/ 8666696 h 8758136"/>
              <a:gd name="connsiteX6" fmla="*/ 2612241 w 2612241"/>
              <a:gd name="connsiteY6" fmla="*/ 8666696 h 8758136"/>
              <a:gd name="connsiteX7" fmla="*/ 0 w 2612241"/>
              <a:gd name="connsiteY7" fmla="*/ 8666696 h 8758136"/>
              <a:gd name="connsiteX8" fmla="*/ 91440 w 2612241"/>
              <a:gd name="connsiteY8" fmla="*/ 8758136 h 8758136"/>
              <a:gd name="connsiteX0" fmla="*/ 0 w 2612241"/>
              <a:gd name="connsiteY0" fmla="*/ 8666696 h 8666696"/>
              <a:gd name="connsiteX1" fmla="*/ 0 w 2612241"/>
              <a:gd name="connsiteY1" fmla="*/ 163683 h 8666696"/>
              <a:gd name="connsiteX2" fmla="*/ 163683 w 2612241"/>
              <a:gd name="connsiteY2" fmla="*/ 0 h 8666696"/>
              <a:gd name="connsiteX3" fmla="*/ 2448558 w 2612241"/>
              <a:gd name="connsiteY3" fmla="*/ 0 h 8666696"/>
              <a:gd name="connsiteX4" fmla="*/ 2612241 w 2612241"/>
              <a:gd name="connsiteY4" fmla="*/ 163683 h 8666696"/>
              <a:gd name="connsiteX5" fmla="*/ 2612241 w 2612241"/>
              <a:gd name="connsiteY5" fmla="*/ 8666696 h 8666696"/>
              <a:gd name="connsiteX6" fmla="*/ 2612241 w 2612241"/>
              <a:gd name="connsiteY6" fmla="*/ 8666696 h 8666696"/>
              <a:gd name="connsiteX7" fmla="*/ 0 w 2612241"/>
              <a:gd name="connsiteY7" fmla="*/ 8666696 h 8666696"/>
              <a:gd name="connsiteX0" fmla="*/ 0 w 2612241"/>
              <a:gd name="connsiteY0" fmla="*/ 8666696 h 8666696"/>
              <a:gd name="connsiteX1" fmla="*/ 0 w 2612241"/>
              <a:gd name="connsiteY1" fmla="*/ 163683 h 8666696"/>
              <a:gd name="connsiteX2" fmla="*/ 163683 w 2612241"/>
              <a:gd name="connsiteY2" fmla="*/ 0 h 8666696"/>
              <a:gd name="connsiteX3" fmla="*/ 2448558 w 2612241"/>
              <a:gd name="connsiteY3" fmla="*/ 0 h 8666696"/>
              <a:gd name="connsiteX4" fmla="*/ 2612241 w 2612241"/>
              <a:gd name="connsiteY4" fmla="*/ 163683 h 8666696"/>
              <a:gd name="connsiteX5" fmla="*/ 2612241 w 2612241"/>
              <a:gd name="connsiteY5" fmla="*/ 8666696 h 8666696"/>
              <a:gd name="connsiteX6" fmla="*/ 2612241 w 2612241"/>
              <a:gd name="connsiteY6" fmla="*/ 8666696 h 8666696"/>
              <a:gd name="connsiteX0" fmla="*/ 0 w 2612241"/>
              <a:gd name="connsiteY0" fmla="*/ 8666696 h 8666696"/>
              <a:gd name="connsiteX1" fmla="*/ 2382 w 2612241"/>
              <a:gd name="connsiteY1" fmla="*/ 7817633 h 8666696"/>
              <a:gd name="connsiteX2" fmla="*/ 0 w 2612241"/>
              <a:gd name="connsiteY2" fmla="*/ 163683 h 8666696"/>
              <a:gd name="connsiteX3" fmla="*/ 163683 w 2612241"/>
              <a:gd name="connsiteY3" fmla="*/ 0 h 8666696"/>
              <a:gd name="connsiteX4" fmla="*/ 2448558 w 2612241"/>
              <a:gd name="connsiteY4" fmla="*/ 0 h 8666696"/>
              <a:gd name="connsiteX5" fmla="*/ 2612241 w 2612241"/>
              <a:gd name="connsiteY5" fmla="*/ 163683 h 8666696"/>
              <a:gd name="connsiteX6" fmla="*/ 2612241 w 2612241"/>
              <a:gd name="connsiteY6" fmla="*/ 8666696 h 8666696"/>
              <a:gd name="connsiteX7" fmla="*/ 2612241 w 2612241"/>
              <a:gd name="connsiteY7" fmla="*/ 8666696 h 8666696"/>
              <a:gd name="connsiteX0" fmla="*/ 2382 w 2612241"/>
              <a:gd name="connsiteY0" fmla="*/ 7817633 h 8666696"/>
              <a:gd name="connsiteX1" fmla="*/ 0 w 2612241"/>
              <a:gd name="connsiteY1" fmla="*/ 163683 h 8666696"/>
              <a:gd name="connsiteX2" fmla="*/ 163683 w 2612241"/>
              <a:gd name="connsiteY2" fmla="*/ 0 h 8666696"/>
              <a:gd name="connsiteX3" fmla="*/ 2448558 w 2612241"/>
              <a:gd name="connsiteY3" fmla="*/ 0 h 8666696"/>
              <a:gd name="connsiteX4" fmla="*/ 2612241 w 2612241"/>
              <a:gd name="connsiteY4" fmla="*/ 163683 h 8666696"/>
              <a:gd name="connsiteX5" fmla="*/ 2612241 w 2612241"/>
              <a:gd name="connsiteY5" fmla="*/ 8666696 h 8666696"/>
              <a:gd name="connsiteX6" fmla="*/ 2612241 w 2612241"/>
              <a:gd name="connsiteY6" fmla="*/ 8666696 h 8666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12241" h="8666696">
                <a:moveTo>
                  <a:pt x="2382" y="7817633"/>
                </a:moveTo>
                <a:lnTo>
                  <a:pt x="0" y="163683"/>
                </a:lnTo>
                <a:cubicBezTo>
                  <a:pt x="0" y="73283"/>
                  <a:pt x="73283" y="0"/>
                  <a:pt x="163683" y="0"/>
                </a:cubicBezTo>
                <a:lnTo>
                  <a:pt x="2448558" y="0"/>
                </a:lnTo>
                <a:cubicBezTo>
                  <a:pt x="2538958" y="0"/>
                  <a:pt x="2612241" y="73283"/>
                  <a:pt x="2612241" y="163683"/>
                </a:cubicBezTo>
                <a:lnTo>
                  <a:pt x="2612241" y="8666696"/>
                </a:lnTo>
                <a:lnTo>
                  <a:pt x="2612241" y="8666696"/>
                </a:lnTo>
              </a:path>
            </a:pathLst>
          </a:custGeom>
          <a:ln w="15875" cap="flat">
            <a:gradFill flip="none" rotWithShape="1">
              <a:gsLst>
                <a:gs pos="0">
                  <a:srgbClr val="0078D4"/>
                </a:gs>
                <a:gs pos="100000">
                  <a:schemeClr val="accent3"/>
                </a:gs>
              </a:gsLst>
              <a:lin ang="16200000" scaled="1"/>
              <a:tileRect/>
            </a:gra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IN" sz="2000" b="0" i="0" u="none" strike="noStrike" kern="0" cap="none" spc="0" normalizeH="0" baseline="0" noProof="0" dirty="0">
              <a:ln>
                <a:noFill/>
              </a:ln>
              <a:solidFill>
                <a:srgbClr val="FFFFFF"/>
              </a:solidFill>
              <a:effectLst/>
              <a:uLnTx/>
              <a:uFillTx/>
              <a:latin typeface="Segoe UI"/>
              <a:ea typeface="+mn-ea"/>
              <a:cs typeface="Segoe UI" pitchFamily="34" charset="0"/>
            </a:endParaRPr>
          </a:p>
        </p:txBody>
      </p:sp>
      <p:grpSp>
        <p:nvGrpSpPr>
          <p:cNvPr id="79" name="Group 78">
            <a:extLst>
              <a:ext uri="{FF2B5EF4-FFF2-40B4-BE49-F238E27FC236}">
                <a16:creationId xmlns:a16="http://schemas.microsoft.com/office/drawing/2014/main" id="{ECD8F809-3EF5-43AD-9927-8D87766BB31B}"/>
              </a:ext>
              <a:ext uri="{C183D7F6-B498-43B3-948B-1728B52AA6E4}">
                <adec:decorative xmlns:adec="http://schemas.microsoft.com/office/drawing/2017/decorative" val="1"/>
              </a:ext>
            </a:extLst>
          </p:cNvPr>
          <p:cNvGrpSpPr/>
          <p:nvPr userDrawn="1"/>
        </p:nvGrpSpPr>
        <p:grpSpPr>
          <a:xfrm>
            <a:off x="5805591" y="1247214"/>
            <a:ext cx="210652" cy="210652"/>
            <a:chOff x="5214995" y="-1168400"/>
            <a:chExt cx="431800" cy="431800"/>
          </a:xfrm>
        </p:grpSpPr>
        <p:sp>
          <p:nvSpPr>
            <p:cNvPr id="80" name="Oval 79">
              <a:extLst>
                <a:ext uri="{FF2B5EF4-FFF2-40B4-BE49-F238E27FC236}">
                  <a16:creationId xmlns:a16="http://schemas.microsoft.com/office/drawing/2014/main" id="{BD95EE76-3BB3-5D96-1162-650D8265E79B}"/>
                </a:ext>
              </a:extLst>
            </p:cNvPr>
            <p:cNvSpPr/>
            <p:nvPr/>
          </p:nvSpPr>
          <p:spPr bwMode="auto">
            <a:xfrm>
              <a:off x="5214995" y="-1168400"/>
              <a:ext cx="431800" cy="431800"/>
            </a:xfrm>
            <a:prstGeom prst="ellipse">
              <a:avLst/>
            </a:prstGeom>
            <a:gradFill flip="none" rotWithShape="1">
              <a:gsLst>
                <a:gs pos="60000">
                  <a:srgbClr val="0078D4"/>
                </a:gs>
                <a:gs pos="4000">
                  <a:srgbClr val="C03BC4"/>
                </a:gs>
              </a:gsLst>
              <a:path path="circle">
                <a:fillToRect l="100000" t="100000"/>
              </a:path>
              <a:tileRect r="-100000" b="-100000"/>
            </a:gradFill>
            <a:ln w="15875">
              <a:solidFill>
                <a:schemeClr val="bg1"/>
              </a:solidFill>
            </a:ln>
            <a:effectLst>
              <a:outerShdw blurRad="254000" algn="ctr" rotWithShape="0">
                <a:schemeClr val="bg1">
                  <a:lumMod val="75000"/>
                  <a:alpha val="30000"/>
                </a:schemeClr>
              </a:outerShdw>
            </a:effectLst>
          </p:spPr>
          <p:txBody>
            <a:bodyPr vert="horz" wrap="square" lIns="320040" tIns="0" rIns="0" bIns="0" rtlCol="0" anchor="ctr" anchorCtr="0">
              <a:noAutofit/>
            </a:bodyPr>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2000" b="1" i="0" u="none" strike="noStrike" kern="1200" cap="none" spc="0" normalizeH="0" baseline="0" noProof="0" dirty="0">
                <a:ln>
                  <a:noFill/>
                </a:ln>
                <a:solidFill>
                  <a:srgbClr val="FFFFFF"/>
                </a:solidFill>
                <a:effectLst/>
                <a:uLnTx/>
                <a:uFillTx/>
                <a:latin typeface="Segoe UI Semibold"/>
                <a:ea typeface="+mn-ea"/>
                <a:cs typeface="Segoe UI Semibold" panose="020B0502040204020203" pitchFamily="34" charset="0"/>
              </a:endParaRPr>
            </a:p>
          </p:txBody>
        </p:sp>
        <p:sp>
          <p:nvSpPr>
            <p:cNvPr id="81" name="Rectangle 89">
              <a:extLst>
                <a:ext uri="{FF2B5EF4-FFF2-40B4-BE49-F238E27FC236}">
                  <a16:creationId xmlns:a16="http://schemas.microsoft.com/office/drawing/2014/main" id="{C479534D-98FF-6F65-ECCB-79C6294552EA}"/>
                </a:ext>
              </a:extLst>
            </p:cNvPr>
            <p:cNvSpPr/>
            <p:nvPr/>
          </p:nvSpPr>
          <p:spPr bwMode="auto">
            <a:xfrm rot="2700000">
              <a:off x="5334303" y="-1026795"/>
              <a:ext cx="148589" cy="148589"/>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25400" cap="rnd">
              <a:solidFill>
                <a:schemeClr val="bg1"/>
              </a:soli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Segoe UI"/>
                <a:ea typeface="+mn-ea"/>
                <a:cs typeface="Segoe UI" pitchFamily="34" charset="0"/>
              </a:endParaRPr>
            </a:p>
          </p:txBody>
        </p:sp>
      </p:grpSp>
      <p:grpSp>
        <p:nvGrpSpPr>
          <p:cNvPr id="82" name="Group 81">
            <a:extLst>
              <a:ext uri="{FF2B5EF4-FFF2-40B4-BE49-F238E27FC236}">
                <a16:creationId xmlns:a16="http://schemas.microsoft.com/office/drawing/2014/main" id="{4684A0D0-9EC4-FC0C-B023-76950C80DF9A}"/>
              </a:ext>
              <a:ext uri="{C183D7F6-B498-43B3-948B-1728B52AA6E4}">
                <adec:decorative xmlns:adec="http://schemas.microsoft.com/office/drawing/2017/decorative" val="1"/>
              </a:ext>
            </a:extLst>
          </p:cNvPr>
          <p:cNvGrpSpPr/>
          <p:nvPr userDrawn="1"/>
        </p:nvGrpSpPr>
        <p:grpSpPr>
          <a:xfrm>
            <a:off x="8689384" y="1247214"/>
            <a:ext cx="210652" cy="210652"/>
            <a:chOff x="5214995" y="-1168400"/>
            <a:chExt cx="431800" cy="431800"/>
          </a:xfrm>
        </p:grpSpPr>
        <p:sp>
          <p:nvSpPr>
            <p:cNvPr id="83" name="Oval 82">
              <a:extLst>
                <a:ext uri="{FF2B5EF4-FFF2-40B4-BE49-F238E27FC236}">
                  <a16:creationId xmlns:a16="http://schemas.microsoft.com/office/drawing/2014/main" id="{C82D2312-1888-7E4C-63E7-F0B9A0902E6D}"/>
                </a:ext>
              </a:extLst>
            </p:cNvPr>
            <p:cNvSpPr/>
            <p:nvPr/>
          </p:nvSpPr>
          <p:spPr bwMode="auto">
            <a:xfrm>
              <a:off x="5214995" y="-1168400"/>
              <a:ext cx="431800" cy="431800"/>
            </a:xfrm>
            <a:prstGeom prst="ellipse">
              <a:avLst/>
            </a:prstGeom>
            <a:gradFill flip="none" rotWithShape="1">
              <a:gsLst>
                <a:gs pos="60000">
                  <a:srgbClr val="0078D4"/>
                </a:gs>
                <a:gs pos="4000">
                  <a:srgbClr val="C03BC4"/>
                </a:gs>
              </a:gsLst>
              <a:path path="circle">
                <a:fillToRect l="100000" t="100000"/>
              </a:path>
              <a:tileRect r="-100000" b="-100000"/>
            </a:gradFill>
            <a:ln w="15875">
              <a:solidFill>
                <a:schemeClr val="bg1"/>
              </a:solidFill>
            </a:ln>
            <a:effectLst>
              <a:outerShdw blurRad="254000" algn="ctr" rotWithShape="0">
                <a:schemeClr val="bg1">
                  <a:lumMod val="75000"/>
                  <a:alpha val="30000"/>
                </a:schemeClr>
              </a:outerShdw>
            </a:effectLst>
          </p:spPr>
          <p:txBody>
            <a:bodyPr vert="horz" wrap="square" lIns="320040" tIns="0" rIns="0" bIns="0" rtlCol="0" anchor="ctr" anchorCtr="0">
              <a:noAutofit/>
            </a:bodyPr>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2000" b="1" i="0" u="none" strike="noStrike" kern="1200" cap="none" spc="0" normalizeH="0" baseline="0" noProof="0" dirty="0">
                <a:ln>
                  <a:noFill/>
                </a:ln>
                <a:solidFill>
                  <a:srgbClr val="FFFFFF"/>
                </a:solidFill>
                <a:effectLst/>
                <a:uLnTx/>
                <a:uFillTx/>
                <a:latin typeface="Segoe UI Semibold"/>
                <a:ea typeface="+mn-ea"/>
                <a:cs typeface="Segoe UI Semibold" panose="020B0502040204020203" pitchFamily="34" charset="0"/>
              </a:endParaRPr>
            </a:p>
          </p:txBody>
        </p:sp>
        <p:sp>
          <p:nvSpPr>
            <p:cNvPr id="85" name="Rectangle 89">
              <a:extLst>
                <a:ext uri="{FF2B5EF4-FFF2-40B4-BE49-F238E27FC236}">
                  <a16:creationId xmlns:a16="http://schemas.microsoft.com/office/drawing/2014/main" id="{E1424AAE-0B41-949F-3E6D-9A5D7323D7DB}"/>
                </a:ext>
              </a:extLst>
            </p:cNvPr>
            <p:cNvSpPr/>
            <p:nvPr/>
          </p:nvSpPr>
          <p:spPr bwMode="auto">
            <a:xfrm rot="2700000">
              <a:off x="5334303" y="-1026795"/>
              <a:ext cx="148589" cy="148589"/>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25400" cap="rnd">
              <a:solidFill>
                <a:schemeClr val="bg1"/>
              </a:soli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Segoe UI"/>
                <a:ea typeface="+mn-ea"/>
                <a:cs typeface="Segoe UI" pitchFamily="34" charset="0"/>
              </a:endParaRPr>
            </a:p>
          </p:txBody>
        </p:sp>
      </p:grpSp>
      <p:grpSp>
        <p:nvGrpSpPr>
          <p:cNvPr id="87" name="Group 86">
            <a:extLst>
              <a:ext uri="{FF2B5EF4-FFF2-40B4-BE49-F238E27FC236}">
                <a16:creationId xmlns:a16="http://schemas.microsoft.com/office/drawing/2014/main" id="{DA40472D-7D94-31D5-9B70-1F1437F60342}"/>
              </a:ext>
              <a:ext uri="{C183D7F6-B498-43B3-948B-1728B52AA6E4}">
                <adec:decorative xmlns:adec="http://schemas.microsoft.com/office/drawing/2017/decorative" val="1"/>
              </a:ext>
            </a:extLst>
          </p:cNvPr>
          <p:cNvGrpSpPr/>
          <p:nvPr userDrawn="1"/>
        </p:nvGrpSpPr>
        <p:grpSpPr>
          <a:xfrm rot="5400000">
            <a:off x="11648565" y="2541166"/>
            <a:ext cx="210652" cy="210652"/>
            <a:chOff x="5214995" y="-1168400"/>
            <a:chExt cx="431800" cy="431800"/>
          </a:xfrm>
        </p:grpSpPr>
        <p:sp>
          <p:nvSpPr>
            <p:cNvPr id="88" name="Oval 87">
              <a:extLst>
                <a:ext uri="{FF2B5EF4-FFF2-40B4-BE49-F238E27FC236}">
                  <a16:creationId xmlns:a16="http://schemas.microsoft.com/office/drawing/2014/main" id="{33E7D74F-AA6E-58D6-9B3A-285D63438743}"/>
                </a:ext>
              </a:extLst>
            </p:cNvPr>
            <p:cNvSpPr/>
            <p:nvPr/>
          </p:nvSpPr>
          <p:spPr bwMode="auto">
            <a:xfrm>
              <a:off x="5214995" y="-1168400"/>
              <a:ext cx="431800" cy="431800"/>
            </a:xfrm>
            <a:prstGeom prst="ellipse">
              <a:avLst/>
            </a:prstGeom>
            <a:gradFill flip="none" rotWithShape="1">
              <a:gsLst>
                <a:gs pos="60000">
                  <a:srgbClr val="0078D4"/>
                </a:gs>
                <a:gs pos="4000">
                  <a:srgbClr val="C03BC4"/>
                </a:gs>
              </a:gsLst>
              <a:path path="circle">
                <a:fillToRect l="100000" t="100000"/>
              </a:path>
              <a:tileRect r="-100000" b="-100000"/>
            </a:gradFill>
            <a:ln w="15875">
              <a:solidFill>
                <a:schemeClr val="bg1"/>
              </a:solidFill>
            </a:ln>
            <a:effectLst>
              <a:outerShdw blurRad="254000" algn="ctr" rotWithShape="0">
                <a:schemeClr val="bg1">
                  <a:lumMod val="75000"/>
                  <a:alpha val="30000"/>
                </a:schemeClr>
              </a:outerShdw>
            </a:effectLst>
          </p:spPr>
          <p:txBody>
            <a:bodyPr vert="horz" wrap="square" lIns="320040" tIns="0" rIns="0" bIns="0" rtlCol="0" anchor="ctr" anchorCtr="0">
              <a:noAutofit/>
            </a:bodyPr>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2000" b="1" i="0" u="none" strike="noStrike" kern="1200" cap="none" spc="0" normalizeH="0" baseline="0" noProof="0" dirty="0">
                <a:ln>
                  <a:noFill/>
                </a:ln>
                <a:solidFill>
                  <a:srgbClr val="FFFFFF"/>
                </a:solidFill>
                <a:effectLst/>
                <a:uLnTx/>
                <a:uFillTx/>
                <a:latin typeface="Segoe UI Semibold"/>
                <a:ea typeface="+mn-ea"/>
                <a:cs typeface="Segoe UI Semibold" panose="020B0502040204020203" pitchFamily="34" charset="0"/>
              </a:endParaRPr>
            </a:p>
          </p:txBody>
        </p:sp>
        <p:sp>
          <p:nvSpPr>
            <p:cNvPr id="89" name="Rectangle 89">
              <a:extLst>
                <a:ext uri="{FF2B5EF4-FFF2-40B4-BE49-F238E27FC236}">
                  <a16:creationId xmlns:a16="http://schemas.microsoft.com/office/drawing/2014/main" id="{D741BEDD-0302-D041-F924-FED2F26F753C}"/>
                </a:ext>
              </a:extLst>
            </p:cNvPr>
            <p:cNvSpPr/>
            <p:nvPr/>
          </p:nvSpPr>
          <p:spPr bwMode="auto">
            <a:xfrm rot="2700000">
              <a:off x="5334303" y="-1026795"/>
              <a:ext cx="148589" cy="148589"/>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25400" cap="rnd">
              <a:solidFill>
                <a:schemeClr val="bg1"/>
              </a:soli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Segoe UI"/>
                <a:ea typeface="+mn-ea"/>
                <a:cs typeface="Segoe UI" pitchFamily="34" charset="0"/>
              </a:endParaRPr>
            </a:p>
          </p:txBody>
        </p:sp>
      </p:grpSp>
      <p:grpSp>
        <p:nvGrpSpPr>
          <p:cNvPr id="90" name="Group 89">
            <a:extLst>
              <a:ext uri="{FF2B5EF4-FFF2-40B4-BE49-F238E27FC236}">
                <a16:creationId xmlns:a16="http://schemas.microsoft.com/office/drawing/2014/main" id="{7ECE0A2C-9275-E8D8-37D4-26EF9382F090}"/>
              </a:ext>
              <a:ext uri="{C183D7F6-B498-43B3-948B-1728B52AA6E4}">
                <adec:decorative xmlns:adec="http://schemas.microsoft.com/office/drawing/2017/decorative" val="1"/>
              </a:ext>
            </a:extLst>
          </p:cNvPr>
          <p:cNvGrpSpPr/>
          <p:nvPr userDrawn="1"/>
        </p:nvGrpSpPr>
        <p:grpSpPr>
          <a:xfrm flipH="1">
            <a:off x="7247487" y="3859456"/>
            <a:ext cx="210652" cy="210652"/>
            <a:chOff x="5214995" y="-1168400"/>
            <a:chExt cx="431800" cy="431800"/>
          </a:xfrm>
        </p:grpSpPr>
        <p:sp>
          <p:nvSpPr>
            <p:cNvPr id="91" name="Oval 90">
              <a:extLst>
                <a:ext uri="{FF2B5EF4-FFF2-40B4-BE49-F238E27FC236}">
                  <a16:creationId xmlns:a16="http://schemas.microsoft.com/office/drawing/2014/main" id="{9D2B6D01-D3C4-D4AC-FA55-BCAA6D16B124}"/>
                </a:ext>
              </a:extLst>
            </p:cNvPr>
            <p:cNvSpPr/>
            <p:nvPr/>
          </p:nvSpPr>
          <p:spPr bwMode="auto">
            <a:xfrm>
              <a:off x="5214995" y="-1168400"/>
              <a:ext cx="431800" cy="431800"/>
            </a:xfrm>
            <a:prstGeom prst="ellipse">
              <a:avLst/>
            </a:prstGeom>
            <a:gradFill flip="none" rotWithShape="1">
              <a:gsLst>
                <a:gs pos="60000">
                  <a:srgbClr val="0078D4"/>
                </a:gs>
                <a:gs pos="4000">
                  <a:srgbClr val="C03BC4"/>
                </a:gs>
              </a:gsLst>
              <a:path path="circle">
                <a:fillToRect l="100000" t="100000"/>
              </a:path>
              <a:tileRect r="-100000" b="-100000"/>
            </a:gradFill>
            <a:ln w="15875">
              <a:solidFill>
                <a:schemeClr val="bg1"/>
              </a:solidFill>
            </a:ln>
            <a:effectLst>
              <a:outerShdw blurRad="254000" algn="ctr" rotWithShape="0">
                <a:schemeClr val="bg1">
                  <a:lumMod val="75000"/>
                  <a:alpha val="30000"/>
                </a:schemeClr>
              </a:outerShdw>
            </a:effectLst>
          </p:spPr>
          <p:txBody>
            <a:bodyPr vert="horz" wrap="square" lIns="320040" tIns="0" rIns="0" bIns="0" rtlCol="0" anchor="ctr" anchorCtr="0">
              <a:noAutofit/>
            </a:bodyPr>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2000" b="1" i="0" u="none" strike="noStrike" kern="1200" cap="none" spc="0" normalizeH="0" baseline="0" noProof="0" dirty="0">
                <a:ln>
                  <a:noFill/>
                </a:ln>
                <a:solidFill>
                  <a:srgbClr val="FFFFFF"/>
                </a:solidFill>
                <a:effectLst/>
                <a:uLnTx/>
                <a:uFillTx/>
                <a:latin typeface="Segoe UI Semibold"/>
                <a:ea typeface="+mn-ea"/>
                <a:cs typeface="Segoe UI Semibold" panose="020B0502040204020203" pitchFamily="34" charset="0"/>
              </a:endParaRPr>
            </a:p>
          </p:txBody>
        </p:sp>
        <p:sp>
          <p:nvSpPr>
            <p:cNvPr id="92" name="Rectangle 89">
              <a:extLst>
                <a:ext uri="{FF2B5EF4-FFF2-40B4-BE49-F238E27FC236}">
                  <a16:creationId xmlns:a16="http://schemas.microsoft.com/office/drawing/2014/main" id="{E69E9A3D-9D75-565F-769F-9D5EAF4DE661}"/>
                </a:ext>
              </a:extLst>
            </p:cNvPr>
            <p:cNvSpPr/>
            <p:nvPr/>
          </p:nvSpPr>
          <p:spPr bwMode="auto">
            <a:xfrm rot="2700000">
              <a:off x="5334303" y="-1026795"/>
              <a:ext cx="148589" cy="148589"/>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25400" cap="rnd">
              <a:solidFill>
                <a:schemeClr val="bg1"/>
              </a:soli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Segoe UI"/>
                <a:ea typeface="+mn-ea"/>
                <a:cs typeface="Segoe UI" pitchFamily="34" charset="0"/>
              </a:endParaRPr>
            </a:p>
          </p:txBody>
        </p:sp>
      </p:grpSp>
      <p:sp>
        <p:nvSpPr>
          <p:cNvPr id="10" name="Title 9">
            <a:extLst>
              <a:ext uri="{FF2B5EF4-FFF2-40B4-BE49-F238E27FC236}">
                <a16:creationId xmlns:a16="http://schemas.microsoft.com/office/drawing/2014/main" id="{37120404-23B9-B744-0816-1D0C351C9B66}"/>
              </a:ext>
            </a:extLst>
          </p:cNvPr>
          <p:cNvSpPr>
            <a:spLocks noGrp="1"/>
          </p:cNvSpPr>
          <p:nvPr>
            <p:ph type="title"/>
          </p:nvPr>
        </p:nvSpPr>
        <p:spPr>
          <a:xfrm>
            <a:off x="2492556" y="429376"/>
            <a:ext cx="4144817" cy="276999"/>
          </a:xfrm>
        </p:spPr>
        <p:txBody>
          <a:bodyPr/>
          <a:lstStyle>
            <a:lvl1pPr>
              <a:defRPr lang="en-IN" sz="1800" kern="1200" spc="-50" baseline="0" dirty="0">
                <a:solidFill>
                  <a:schemeClr val="tx1"/>
                </a:solidFill>
                <a:latin typeface="+mj-lt"/>
                <a:ea typeface="+mn-ea"/>
                <a:cs typeface="Segoe UI" panose="020B0502040204020203" pitchFamily="34" charset="0"/>
              </a:defRPr>
            </a:lvl1pPr>
          </a:lstStyle>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pPr>
            <a:r>
              <a:rPr lang="en-US"/>
              <a:t>Click to edit Master title style</a:t>
            </a:r>
            <a:endParaRPr lang="en-IN"/>
          </a:p>
        </p:txBody>
      </p:sp>
      <p:sp>
        <p:nvSpPr>
          <p:cNvPr id="5" name="Text Placeholder 70">
            <a:extLst>
              <a:ext uri="{FF2B5EF4-FFF2-40B4-BE49-F238E27FC236}">
                <a16:creationId xmlns:a16="http://schemas.microsoft.com/office/drawing/2014/main" id="{BECC6E1E-CB20-24F2-9CE6-B77C08524D07}"/>
              </a:ext>
            </a:extLst>
          </p:cNvPr>
          <p:cNvSpPr>
            <a:spLocks noGrp="1"/>
          </p:cNvSpPr>
          <p:nvPr>
            <p:ph type="body" sz="quarter" idx="33"/>
          </p:nvPr>
        </p:nvSpPr>
        <p:spPr>
          <a:xfrm>
            <a:off x="304796" y="413987"/>
            <a:ext cx="1941119" cy="307777"/>
          </a:xfrm>
        </p:spPr>
        <p:txBody>
          <a:bodyPr anchor="ctr"/>
          <a:lstStyle>
            <a:lvl1pPr marL="0" indent="0">
              <a:spcBef>
                <a:spcPts val="0"/>
              </a:spcBef>
              <a:buNone/>
              <a:defRPr sz="2000" spc="-50" baseline="0">
                <a:solidFill>
                  <a:schemeClr val="bg1"/>
                </a:solidFill>
                <a:latin typeface="+mj-lt"/>
              </a:defRPr>
            </a:lvl1pPr>
            <a:lvl2pPr marL="228600" indent="0">
              <a:buNone/>
              <a:defRPr/>
            </a:lvl2pPr>
          </a:lstStyle>
          <a:p>
            <a:pPr lvl="0"/>
            <a:r>
              <a:rPr lang="en-US"/>
              <a:t>Click to edit</a:t>
            </a:r>
          </a:p>
        </p:txBody>
      </p:sp>
      <p:sp>
        <p:nvSpPr>
          <p:cNvPr id="74" name="Licenses">
            <a:extLst>
              <a:ext uri="{FF2B5EF4-FFF2-40B4-BE49-F238E27FC236}">
                <a16:creationId xmlns:a16="http://schemas.microsoft.com/office/drawing/2014/main" id="{E442F0DF-3967-354D-A17D-A2229F6B3036}"/>
              </a:ext>
            </a:extLst>
          </p:cNvPr>
          <p:cNvSpPr>
            <a:spLocks noGrp="1"/>
          </p:cNvSpPr>
          <p:nvPr userDrawn="1">
            <p:ph type="body" sz="quarter" idx="44"/>
          </p:nvPr>
        </p:nvSpPr>
        <p:spPr>
          <a:xfrm>
            <a:off x="7149557" y="521100"/>
            <a:ext cx="2969488" cy="169277"/>
          </a:xfrm>
        </p:spPr>
        <p:txBody>
          <a:bodyPr/>
          <a:lstStyle>
            <a:lvl1pPr marL="0" indent="0" algn="r">
              <a:spcBef>
                <a:spcPts val="0"/>
              </a:spcBef>
              <a:buNone/>
              <a:defRPr sz="1100" b="1" i="0" spc="0" baseline="0">
                <a:solidFill>
                  <a:srgbClr val="C03BC4"/>
                </a:solidFill>
                <a:latin typeface="+mj-lt"/>
                <a:cs typeface="Segoe UI Semibold" panose="020B0502040204020203" pitchFamily="34" charset="0"/>
              </a:defRPr>
            </a:lvl1pPr>
            <a:lvl2pPr marL="228600" indent="0" algn="r">
              <a:spcBef>
                <a:spcPts val="0"/>
              </a:spcBef>
              <a:buNone/>
              <a:defRPr sz="1100" spc="-20" baseline="0">
                <a:solidFill>
                  <a:srgbClr val="B1B3B3"/>
                </a:solidFill>
              </a:defRPr>
            </a:lvl2pPr>
            <a:lvl3pPr algn="r">
              <a:defRPr/>
            </a:lvl3pPr>
            <a:lvl4pPr algn="r">
              <a:defRPr/>
            </a:lvl4pPr>
            <a:lvl5pPr algn="r">
              <a:defRPr/>
            </a:lvl5pPr>
          </a:lstStyle>
          <a:p>
            <a:pPr lvl="0"/>
            <a:r>
              <a:rPr lang="en-US"/>
              <a:t>Click to edit</a:t>
            </a:r>
          </a:p>
        </p:txBody>
      </p:sp>
      <p:sp>
        <p:nvSpPr>
          <p:cNvPr id="72" name="Level">
            <a:extLst>
              <a:ext uri="{FF2B5EF4-FFF2-40B4-BE49-F238E27FC236}">
                <a16:creationId xmlns:a16="http://schemas.microsoft.com/office/drawing/2014/main" id="{0CD96223-5C6F-D226-0888-B8E8522B7793}"/>
              </a:ext>
            </a:extLst>
          </p:cNvPr>
          <p:cNvSpPr>
            <a:spLocks noGrp="1"/>
          </p:cNvSpPr>
          <p:nvPr userDrawn="1">
            <p:ph type="body" sz="quarter" idx="43"/>
          </p:nvPr>
        </p:nvSpPr>
        <p:spPr>
          <a:xfrm>
            <a:off x="10430351" y="521099"/>
            <a:ext cx="1456966" cy="175614"/>
          </a:xfrm>
        </p:spPr>
        <p:txBody>
          <a:bodyPr/>
          <a:lstStyle>
            <a:lvl1pPr marL="0" indent="0" algn="r">
              <a:spcBef>
                <a:spcPts val="0"/>
              </a:spcBef>
              <a:buNone/>
              <a:defRPr sz="1100" b="1" i="0" spc="0" baseline="0">
                <a:solidFill>
                  <a:srgbClr val="0078D4"/>
                </a:solidFill>
                <a:latin typeface="+mj-lt"/>
                <a:cs typeface="Segoe UI Semibold" panose="020B0502040204020203" pitchFamily="34" charset="0"/>
              </a:defRPr>
            </a:lvl1pPr>
            <a:lvl2pPr marL="228600" indent="0" algn="r">
              <a:spcBef>
                <a:spcPts val="0"/>
              </a:spcBef>
              <a:buNone/>
              <a:defRPr sz="1100" spc="-20" baseline="0">
                <a:solidFill>
                  <a:srgbClr val="B1B3B3"/>
                </a:solidFill>
              </a:defRPr>
            </a:lvl2pPr>
            <a:lvl3pPr algn="r">
              <a:defRPr/>
            </a:lvl3pPr>
            <a:lvl4pPr algn="r">
              <a:defRPr/>
            </a:lvl4pPr>
            <a:lvl5pPr algn="r">
              <a:defRPr/>
            </a:lvl5pPr>
          </a:lstStyle>
          <a:p>
            <a:r>
              <a:rPr lang="en-US"/>
              <a:t>Click to edit</a:t>
            </a:r>
          </a:p>
        </p:txBody>
      </p:sp>
      <p:sp>
        <p:nvSpPr>
          <p:cNvPr id="14" name="Step 5 Top">
            <a:extLst>
              <a:ext uri="{FF2B5EF4-FFF2-40B4-BE49-F238E27FC236}">
                <a16:creationId xmlns:a16="http://schemas.microsoft.com/office/drawing/2014/main" id="{5F6FC536-93D3-A645-6321-E19971F6F7AD}"/>
              </a:ext>
            </a:extLst>
          </p:cNvPr>
          <p:cNvSpPr>
            <a:spLocks noGrp="1"/>
          </p:cNvSpPr>
          <p:nvPr>
            <p:ph type="body" sz="quarter" idx="42"/>
          </p:nvPr>
        </p:nvSpPr>
        <p:spPr>
          <a:xfrm>
            <a:off x="311388" y="1026303"/>
            <a:ext cx="2431246" cy="1131079"/>
          </a:xfrm>
        </p:spPr>
        <p:txBody>
          <a:bodyPr lIns="0" tIns="0" rIns="0" bIns="0">
            <a:noAutofit/>
          </a:bodyPr>
          <a:lstStyle>
            <a:lvl1pPr marL="0" indent="0">
              <a:spcBef>
                <a:spcPts val="0"/>
              </a:spcBef>
              <a:buNone/>
              <a:defRPr kumimoji="0" lang="en-US" sz="1050" b="0" i="0" u="none" strike="noStrike" kern="100" cap="none" normalizeH="0" baseline="0" dirty="0">
                <a:ln>
                  <a:noFill/>
                </a:ln>
                <a:solidFill>
                  <a:schemeClr val="tx1"/>
                </a:solidFill>
                <a:effectLst/>
                <a:uLnTx/>
                <a:uFillTx/>
                <a:latin typeface="+mn-lt"/>
                <a:ea typeface="Aptos" panose="020B0004020202020204" pitchFamily="34" charset="0"/>
                <a:cs typeface="Times New Roman" panose="02020603050405020304" pitchFamily="18" charset="0"/>
              </a:defRPr>
            </a:lvl1pPr>
          </a:lstStyle>
          <a:p>
            <a:pPr marL="0" marR="0" lvl="0" indent="0" algn="l" defTabSz="914400" rtl="0" eaLnBrk="1" fontAlgn="auto" latinLnBrk="0" hangingPunct="1">
              <a:spcBef>
                <a:spcPts val="0"/>
              </a:spcBef>
              <a:spcAft>
                <a:spcPts val="0"/>
              </a:spcAft>
              <a:buClrTx/>
              <a:buSzTx/>
              <a:buFontTx/>
              <a:buNone/>
              <a:tabLst/>
              <a:defRPr/>
            </a:pPr>
            <a:r>
              <a:rPr lang="en-US"/>
              <a:t>Click to edit Master text styles</a:t>
            </a:r>
          </a:p>
        </p:txBody>
      </p:sp>
      <p:sp>
        <p:nvSpPr>
          <p:cNvPr id="153" name="Text Placeholder 8">
            <a:extLst>
              <a:ext uri="{FF2B5EF4-FFF2-40B4-BE49-F238E27FC236}">
                <a16:creationId xmlns:a16="http://schemas.microsoft.com/office/drawing/2014/main" id="{20290FDF-B386-A402-3F54-8F38D89E3855}"/>
              </a:ext>
            </a:extLst>
          </p:cNvPr>
          <p:cNvSpPr>
            <a:spLocks noGrp="1"/>
          </p:cNvSpPr>
          <p:nvPr>
            <p:ph type="body" sz="quarter" idx="65"/>
          </p:nvPr>
        </p:nvSpPr>
        <p:spPr>
          <a:xfrm>
            <a:off x="320721" y="3467940"/>
            <a:ext cx="1131650" cy="219456"/>
          </a:xfrm>
          <a:prstGeom prst="roundRect">
            <a:avLst>
              <a:gd name="adj" fmla="val 50000"/>
            </a:avLst>
          </a:prstGeom>
          <a:solidFill>
            <a:srgbClr val="0078D4"/>
          </a:solidFill>
          <a:ln w="12700">
            <a:solidFill>
              <a:srgbClr val="0078D4"/>
            </a:solidFill>
          </a:ln>
          <a:effectLst>
            <a:outerShdw blurRad="63500" dist="63500" dir="2700000" algn="tl" rotWithShape="0">
              <a:prstClr val="black">
                <a:alpha val="20000"/>
              </a:prstClr>
            </a:outerShdw>
          </a:effectLst>
        </p:spPr>
        <p:txBody>
          <a:bodyPr lIns="0" tIns="36576" rIns="0" bIns="36576" anchor="ctr">
            <a:noAutofit/>
          </a:bodyPr>
          <a:lstStyle>
            <a:lvl1pPr marL="0" indent="0" algn="ctr">
              <a:buNone/>
              <a:defRPr sz="900">
                <a:solidFill>
                  <a:schemeClr val="bg1"/>
                </a:solidFill>
                <a:latin typeface="+mj-lt"/>
              </a:defRPr>
            </a:lvl1pPr>
            <a:lvl2pPr marL="228600" indent="0">
              <a:buNone/>
              <a:defRPr/>
            </a:lvl2pPr>
          </a:lstStyle>
          <a:p>
            <a:pPr lvl="0"/>
            <a:r>
              <a:rPr lang="en-US"/>
              <a:t>Click to edit</a:t>
            </a:r>
          </a:p>
        </p:txBody>
      </p:sp>
      <p:sp>
        <p:nvSpPr>
          <p:cNvPr id="152" name="Text Placeholder 8">
            <a:extLst>
              <a:ext uri="{FF2B5EF4-FFF2-40B4-BE49-F238E27FC236}">
                <a16:creationId xmlns:a16="http://schemas.microsoft.com/office/drawing/2014/main" id="{CC259F50-FF88-8A52-A7A2-B916E54D0007}"/>
              </a:ext>
            </a:extLst>
          </p:cNvPr>
          <p:cNvSpPr>
            <a:spLocks noGrp="1"/>
          </p:cNvSpPr>
          <p:nvPr>
            <p:ph type="body" sz="quarter" idx="64"/>
          </p:nvPr>
        </p:nvSpPr>
        <p:spPr>
          <a:xfrm>
            <a:off x="320721" y="4709762"/>
            <a:ext cx="1131651" cy="219456"/>
          </a:xfrm>
          <a:prstGeom prst="roundRect">
            <a:avLst>
              <a:gd name="adj" fmla="val 50000"/>
            </a:avLst>
          </a:prstGeom>
          <a:solidFill>
            <a:srgbClr val="C03BC4"/>
          </a:solidFill>
          <a:ln w="12700">
            <a:solidFill>
              <a:srgbClr val="C03BC4"/>
            </a:solidFill>
          </a:ln>
          <a:effectLst>
            <a:outerShdw blurRad="63500" dist="63500" dir="2700000" algn="tl" rotWithShape="0">
              <a:prstClr val="black">
                <a:alpha val="20000"/>
              </a:prstClr>
            </a:outerShdw>
          </a:effectLst>
        </p:spPr>
        <p:txBody>
          <a:bodyPr lIns="0" tIns="36576" rIns="0" bIns="36576" anchor="ctr">
            <a:noAutofit/>
          </a:bodyPr>
          <a:lstStyle>
            <a:lvl1pPr marL="0" indent="0" algn="ctr">
              <a:buNone/>
              <a:defRPr sz="900">
                <a:solidFill>
                  <a:schemeClr val="bg1"/>
                </a:solidFill>
                <a:latin typeface="+mj-lt"/>
              </a:defRPr>
            </a:lvl1pPr>
            <a:lvl2pPr marL="228600" indent="0">
              <a:buNone/>
              <a:defRPr/>
            </a:lvl2pPr>
          </a:lstStyle>
          <a:p>
            <a:pPr lvl="0"/>
            <a:r>
              <a:rPr lang="en-US"/>
              <a:t>Click to edit</a:t>
            </a:r>
          </a:p>
        </p:txBody>
      </p:sp>
      <p:sp>
        <p:nvSpPr>
          <p:cNvPr id="104" name="Step 1 Title">
            <a:extLst>
              <a:ext uri="{FF2B5EF4-FFF2-40B4-BE49-F238E27FC236}">
                <a16:creationId xmlns:a16="http://schemas.microsoft.com/office/drawing/2014/main" id="{AAECE90F-E2FD-C50D-2380-5A623E6E68CC}"/>
              </a:ext>
            </a:extLst>
          </p:cNvPr>
          <p:cNvSpPr>
            <a:spLocks noGrp="1"/>
          </p:cNvSpPr>
          <p:nvPr userDrawn="1">
            <p:ph type="body" sz="quarter" idx="47"/>
          </p:nvPr>
        </p:nvSpPr>
        <p:spPr>
          <a:xfrm>
            <a:off x="3182890" y="1112478"/>
            <a:ext cx="2572262" cy="153888"/>
          </a:xfrm>
          <a:prstGeom prst="rect">
            <a:avLst/>
          </a:prstGeom>
          <a:noFill/>
          <a:effectLst/>
        </p:spPr>
        <p:txBody>
          <a:bodyPr lIns="0" tIns="0" rIns="0" bIns="0" anchor="ctr" anchorCtr="0">
            <a:spAutoFit/>
          </a:bodyPr>
          <a:lstStyle>
            <a:lvl1pPr marL="114300" indent="-114300" algn="l">
              <a:buSzPct val="100000"/>
              <a:buFont typeface="+mj-lt"/>
              <a:buAutoNum type="arabicPeriod"/>
              <a:defRPr sz="1000" b="0" i="0">
                <a:solidFill>
                  <a:schemeClr val="tx1"/>
                </a:solidFill>
                <a:latin typeface="+mj-lt"/>
                <a:cs typeface="Segoe UI Semibold" panose="020B0502040204020203" pitchFamily="34" charset="0"/>
              </a:defRPr>
            </a:lvl1pPr>
          </a:lstStyle>
          <a:p>
            <a:pPr lvl="0"/>
            <a:r>
              <a:rPr lang="en-US"/>
              <a:t>Click to edit Master text styles</a:t>
            </a:r>
          </a:p>
        </p:txBody>
      </p:sp>
      <p:sp>
        <p:nvSpPr>
          <p:cNvPr id="110" name="Step 1 Top">
            <a:extLst>
              <a:ext uri="{FF2B5EF4-FFF2-40B4-BE49-F238E27FC236}">
                <a16:creationId xmlns:a16="http://schemas.microsoft.com/office/drawing/2014/main" id="{A10522D6-287E-CAF9-7877-202543AC084D}"/>
              </a:ext>
            </a:extLst>
          </p:cNvPr>
          <p:cNvSpPr>
            <a:spLocks noGrp="1"/>
          </p:cNvSpPr>
          <p:nvPr userDrawn="1">
            <p:ph type="body" sz="quarter" idx="48"/>
          </p:nvPr>
        </p:nvSpPr>
        <p:spPr>
          <a:xfrm>
            <a:off x="3182890" y="1438715"/>
            <a:ext cx="2572262" cy="626701"/>
          </a:xfrm>
        </p:spPr>
        <p:txBody>
          <a:bodyPr lIns="0" tIns="0" rIns="0" bIns="0">
            <a:noAutofit/>
          </a:bodyPr>
          <a:lstStyle>
            <a:lvl1pPr marL="0" indent="0">
              <a:spcBef>
                <a:spcPts val="0"/>
              </a:spcBef>
              <a:buNone/>
              <a:defRPr sz="900"/>
            </a:lvl1pPr>
          </a:lstStyle>
          <a:p>
            <a:pPr lvl="0"/>
            <a:r>
              <a:rPr lang="en-US"/>
              <a:t>Click to edit Master text styles</a:t>
            </a:r>
          </a:p>
        </p:txBody>
      </p:sp>
      <p:sp>
        <p:nvSpPr>
          <p:cNvPr id="102" name="Text Placeholder 11">
            <a:extLst>
              <a:ext uri="{FF2B5EF4-FFF2-40B4-BE49-F238E27FC236}">
                <a16:creationId xmlns:a16="http://schemas.microsoft.com/office/drawing/2014/main" id="{899216D1-14EF-7DC6-A6A8-3649535AF5ED}"/>
              </a:ext>
            </a:extLst>
          </p:cNvPr>
          <p:cNvSpPr>
            <a:spLocks noGrp="1"/>
          </p:cNvSpPr>
          <p:nvPr>
            <p:ph type="body" sz="quarter" idx="46"/>
          </p:nvPr>
        </p:nvSpPr>
        <p:spPr>
          <a:xfrm>
            <a:off x="3182889" y="2725494"/>
            <a:ext cx="2572262" cy="712876"/>
          </a:xfrm>
          <a:prstGeom prst="roundRect">
            <a:avLst>
              <a:gd name="adj" fmla="val 9576"/>
            </a:avLst>
          </a:prstGeom>
          <a:solidFill>
            <a:schemeClr val="bg1">
              <a:lumMod val="95000"/>
              <a:alpha val="50000"/>
            </a:schemeClr>
          </a:solidFill>
        </p:spPr>
        <p:txBody>
          <a:bodyPr lIns="0" tIns="0" rIns="0" bIns="0" anchor="t">
            <a:noAutofit/>
          </a:bodyPr>
          <a:lstStyle>
            <a:lvl1pPr marL="0" indent="0">
              <a:spcBef>
                <a:spcPts val="0"/>
              </a:spcBef>
              <a:spcAft>
                <a:spcPts val="100"/>
              </a:spcAft>
              <a:buNone/>
              <a:defRPr sz="900"/>
            </a:lvl1pPr>
            <a:lvl2pPr marL="0" indent="0">
              <a:spcBef>
                <a:spcPts val="0"/>
              </a:spcBef>
              <a:spcAft>
                <a:spcPts val="200"/>
              </a:spcAft>
              <a:buNone/>
              <a:defRPr sz="900"/>
            </a:lvl2pPr>
            <a:lvl3pPr marL="0" indent="0">
              <a:spcBef>
                <a:spcPts val="0"/>
              </a:spcBef>
              <a:spcAft>
                <a:spcPts val="100"/>
              </a:spcAft>
              <a:buNone/>
              <a:defRPr sz="900">
                <a:latin typeface="+mj-lt"/>
              </a:defRPr>
            </a:lvl3pPr>
            <a:lvl4pPr marL="0" indent="0" algn="l">
              <a:buNone/>
              <a:defRPr sz="900">
                <a:latin typeface="+mj-lt"/>
              </a:defRPr>
            </a:lvl4pPr>
            <a:lvl5pPr>
              <a:defRPr/>
            </a:lvl5pPr>
          </a:lstStyle>
          <a:p>
            <a:pPr lvl="0"/>
            <a:r>
              <a:rPr lang="en-US"/>
              <a:t>Click to edit Master text styles</a:t>
            </a:r>
          </a:p>
          <a:p>
            <a:pPr lvl="3"/>
            <a:r>
              <a:rPr lang="en-US"/>
              <a:t>Level 2</a:t>
            </a:r>
          </a:p>
        </p:txBody>
      </p:sp>
      <p:sp>
        <p:nvSpPr>
          <p:cNvPr id="114" name="Step 1 Title">
            <a:extLst>
              <a:ext uri="{FF2B5EF4-FFF2-40B4-BE49-F238E27FC236}">
                <a16:creationId xmlns:a16="http://schemas.microsoft.com/office/drawing/2014/main" id="{AFF8CAD5-73C9-15E8-C15B-5669E59EDF22}"/>
              </a:ext>
            </a:extLst>
          </p:cNvPr>
          <p:cNvSpPr>
            <a:spLocks noGrp="1"/>
          </p:cNvSpPr>
          <p:nvPr userDrawn="1">
            <p:ph type="body" sz="quarter" idx="49"/>
          </p:nvPr>
        </p:nvSpPr>
        <p:spPr>
          <a:xfrm>
            <a:off x="6066682" y="1112478"/>
            <a:ext cx="2572262" cy="153888"/>
          </a:xfrm>
          <a:prstGeom prst="rect">
            <a:avLst/>
          </a:prstGeom>
          <a:noFill/>
          <a:effectLst/>
        </p:spPr>
        <p:txBody>
          <a:bodyPr lIns="0" tIns="0" rIns="0" bIns="0" anchor="ctr" anchorCtr="0">
            <a:spAutoFit/>
          </a:bodyPr>
          <a:lstStyle>
            <a:lvl1pPr marL="114300" indent="-114300" algn="l">
              <a:buSzPct val="100000"/>
              <a:buFont typeface="+mj-lt"/>
              <a:buAutoNum type="arabicPeriod" startAt="2"/>
              <a:defRPr sz="1000" b="0" i="0">
                <a:solidFill>
                  <a:schemeClr val="tx1"/>
                </a:solidFill>
                <a:latin typeface="+mj-lt"/>
                <a:cs typeface="Segoe UI Semibold" panose="020B0502040204020203" pitchFamily="34" charset="0"/>
              </a:defRPr>
            </a:lvl1pPr>
          </a:lstStyle>
          <a:p>
            <a:pPr lvl="0"/>
            <a:r>
              <a:rPr lang="en-US"/>
              <a:t>Click to edit Master text styles</a:t>
            </a:r>
          </a:p>
        </p:txBody>
      </p:sp>
      <p:sp>
        <p:nvSpPr>
          <p:cNvPr id="119" name="Step 1 Top">
            <a:extLst>
              <a:ext uri="{FF2B5EF4-FFF2-40B4-BE49-F238E27FC236}">
                <a16:creationId xmlns:a16="http://schemas.microsoft.com/office/drawing/2014/main" id="{CBBB447E-62C7-3EE8-58FD-A63BA4091DC2}"/>
              </a:ext>
            </a:extLst>
          </p:cNvPr>
          <p:cNvSpPr>
            <a:spLocks noGrp="1"/>
          </p:cNvSpPr>
          <p:nvPr userDrawn="1">
            <p:ph type="body" sz="quarter" idx="50"/>
          </p:nvPr>
        </p:nvSpPr>
        <p:spPr>
          <a:xfrm>
            <a:off x="6066682" y="1438715"/>
            <a:ext cx="2572262" cy="626701"/>
          </a:xfrm>
        </p:spPr>
        <p:txBody>
          <a:bodyPr lIns="0" tIns="0" rIns="0" bIns="0">
            <a:noAutofit/>
          </a:bodyPr>
          <a:lstStyle>
            <a:lvl1pPr marL="0" indent="0">
              <a:spcBef>
                <a:spcPts val="0"/>
              </a:spcBef>
              <a:buNone/>
              <a:defRPr sz="900"/>
            </a:lvl1pPr>
          </a:lstStyle>
          <a:p>
            <a:pPr lvl="0"/>
            <a:r>
              <a:rPr lang="en-US"/>
              <a:t>Click to edit Master text styles</a:t>
            </a:r>
          </a:p>
        </p:txBody>
      </p:sp>
      <p:sp>
        <p:nvSpPr>
          <p:cNvPr id="3" name="Text Placeholder 11">
            <a:extLst>
              <a:ext uri="{FF2B5EF4-FFF2-40B4-BE49-F238E27FC236}">
                <a16:creationId xmlns:a16="http://schemas.microsoft.com/office/drawing/2014/main" id="{F6E7EFF7-AB37-8C10-0D72-C219A327442B}"/>
              </a:ext>
            </a:extLst>
          </p:cNvPr>
          <p:cNvSpPr>
            <a:spLocks noGrp="1"/>
          </p:cNvSpPr>
          <p:nvPr>
            <p:ph type="body" sz="quarter" idx="66"/>
          </p:nvPr>
        </p:nvSpPr>
        <p:spPr>
          <a:xfrm>
            <a:off x="6066682" y="2725494"/>
            <a:ext cx="2572262" cy="712876"/>
          </a:xfrm>
          <a:prstGeom prst="roundRect">
            <a:avLst>
              <a:gd name="adj" fmla="val 9576"/>
            </a:avLst>
          </a:prstGeom>
          <a:solidFill>
            <a:schemeClr val="bg1">
              <a:lumMod val="95000"/>
              <a:alpha val="50000"/>
            </a:schemeClr>
          </a:solidFill>
        </p:spPr>
        <p:txBody>
          <a:bodyPr lIns="0" tIns="0" rIns="0" bIns="0" anchor="t">
            <a:noAutofit/>
          </a:bodyPr>
          <a:lstStyle>
            <a:lvl1pPr marL="0" indent="0">
              <a:spcBef>
                <a:spcPts val="0"/>
              </a:spcBef>
              <a:spcAft>
                <a:spcPts val="100"/>
              </a:spcAft>
              <a:buNone/>
              <a:defRPr sz="900"/>
            </a:lvl1pPr>
            <a:lvl2pPr marL="0" indent="0">
              <a:spcBef>
                <a:spcPts val="0"/>
              </a:spcBef>
              <a:spcAft>
                <a:spcPts val="200"/>
              </a:spcAft>
              <a:buNone/>
              <a:defRPr sz="900"/>
            </a:lvl2pPr>
            <a:lvl3pPr marL="0" indent="0">
              <a:spcBef>
                <a:spcPts val="0"/>
              </a:spcBef>
              <a:spcAft>
                <a:spcPts val="100"/>
              </a:spcAft>
              <a:buNone/>
              <a:defRPr sz="900">
                <a:latin typeface="+mj-lt"/>
              </a:defRPr>
            </a:lvl3pPr>
            <a:lvl4pPr marL="0" indent="0" algn="l">
              <a:buNone/>
              <a:defRPr sz="900">
                <a:latin typeface="+mj-lt"/>
              </a:defRPr>
            </a:lvl4pPr>
            <a:lvl5pPr>
              <a:defRPr/>
            </a:lvl5pPr>
          </a:lstStyle>
          <a:p>
            <a:pPr lvl="0"/>
            <a:r>
              <a:rPr lang="en-US"/>
              <a:t>Click to edit Master text styles</a:t>
            </a:r>
          </a:p>
          <a:p>
            <a:pPr lvl="3"/>
            <a:r>
              <a:rPr lang="en-US"/>
              <a:t>Level 2</a:t>
            </a:r>
          </a:p>
        </p:txBody>
      </p:sp>
      <p:sp>
        <p:nvSpPr>
          <p:cNvPr id="127" name="Step 1 Title">
            <a:extLst>
              <a:ext uri="{FF2B5EF4-FFF2-40B4-BE49-F238E27FC236}">
                <a16:creationId xmlns:a16="http://schemas.microsoft.com/office/drawing/2014/main" id="{DC3628C0-ED08-9682-4738-5B06F7C21C56}"/>
              </a:ext>
            </a:extLst>
          </p:cNvPr>
          <p:cNvSpPr>
            <a:spLocks noGrp="1"/>
          </p:cNvSpPr>
          <p:nvPr userDrawn="1">
            <p:ph type="body" sz="quarter" idx="52"/>
          </p:nvPr>
        </p:nvSpPr>
        <p:spPr>
          <a:xfrm>
            <a:off x="8950475" y="1112478"/>
            <a:ext cx="2572262" cy="153888"/>
          </a:xfrm>
          <a:prstGeom prst="rect">
            <a:avLst/>
          </a:prstGeom>
          <a:noFill/>
          <a:effectLst/>
        </p:spPr>
        <p:txBody>
          <a:bodyPr lIns="0" tIns="0" rIns="0" bIns="0" anchor="ctr" anchorCtr="0">
            <a:spAutoFit/>
          </a:bodyPr>
          <a:lstStyle>
            <a:lvl1pPr marL="114300" indent="-114300" algn="l">
              <a:buSzPct val="100000"/>
              <a:buFont typeface="+mj-lt"/>
              <a:buAutoNum type="arabicPeriod" startAt="3"/>
              <a:defRPr sz="1000" b="0" i="0">
                <a:solidFill>
                  <a:schemeClr val="tx1"/>
                </a:solidFill>
                <a:latin typeface="+mj-lt"/>
                <a:cs typeface="Segoe UI Semibold" panose="020B0502040204020203" pitchFamily="34" charset="0"/>
              </a:defRPr>
            </a:lvl1pPr>
          </a:lstStyle>
          <a:p>
            <a:pPr lvl="0"/>
            <a:r>
              <a:rPr lang="en-US"/>
              <a:t>Click to edit Master text styles</a:t>
            </a:r>
          </a:p>
        </p:txBody>
      </p:sp>
      <p:sp>
        <p:nvSpPr>
          <p:cNvPr id="128" name="Step 1 Top">
            <a:extLst>
              <a:ext uri="{FF2B5EF4-FFF2-40B4-BE49-F238E27FC236}">
                <a16:creationId xmlns:a16="http://schemas.microsoft.com/office/drawing/2014/main" id="{E91EBCF2-F3C6-3640-61AD-0C42AE3B6C92}"/>
              </a:ext>
            </a:extLst>
          </p:cNvPr>
          <p:cNvSpPr>
            <a:spLocks noGrp="1"/>
          </p:cNvSpPr>
          <p:nvPr userDrawn="1">
            <p:ph type="body" sz="quarter" idx="53"/>
          </p:nvPr>
        </p:nvSpPr>
        <p:spPr>
          <a:xfrm>
            <a:off x="8950475" y="1438715"/>
            <a:ext cx="2572262" cy="626701"/>
          </a:xfrm>
        </p:spPr>
        <p:txBody>
          <a:bodyPr lIns="0" tIns="0" rIns="0" bIns="0">
            <a:noAutofit/>
          </a:bodyPr>
          <a:lstStyle>
            <a:lvl1pPr marL="0" indent="0">
              <a:spcBef>
                <a:spcPts val="0"/>
              </a:spcBef>
              <a:buNone/>
              <a:defRPr sz="900"/>
            </a:lvl1pPr>
          </a:lstStyle>
          <a:p>
            <a:pPr lvl="0"/>
            <a:r>
              <a:rPr lang="en-US"/>
              <a:t>Click to edit Master text styles</a:t>
            </a:r>
          </a:p>
        </p:txBody>
      </p:sp>
      <p:sp>
        <p:nvSpPr>
          <p:cNvPr id="4" name="Text Placeholder 11">
            <a:extLst>
              <a:ext uri="{FF2B5EF4-FFF2-40B4-BE49-F238E27FC236}">
                <a16:creationId xmlns:a16="http://schemas.microsoft.com/office/drawing/2014/main" id="{6820393F-A448-2E4C-089D-807F9DC2A07E}"/>
              </a:ext>
            </a:extLst>
          </p:cNvPr>
          <p:cNvSpPr>
            <a:spLocks noGrp="1"/>
          </p:cNvSpPr>
          <p:nvPr>
            <p:ph type="body" sz="quarter" idx="67"/>
          </p:nvPr>
        </p:nvSpPr>
        <p:spPr>
          <a:xfrm>
            <a:off x="8950475" y="2725494"/>
            <a:ext cx="2572262" cy="712876"/>
          </a:xfrm>
          <a:prstGeom prst="roundRect">
            <a:avLst>
              <a:gd name="adj" fmla="val 9576"/>
            </a:avLst>
          </a:prstGeom>
          <a:solidFill>
            <a:schemeClr val="bg1">
              <a:lumMod val="95000"/>
              <a:alpha val="50000"/>
            </a:schemeClr>
          </a:solidFill>
        </p:spPr>
        <p:txBody>
          <a:bodyPr lIns="0" tIns="0" rIns="0" bIns="0" anchor="t">
            <a:noAutofit/>
          </a:bodyPr>
          <a:lstStyle>
            <a:lvl1pPr marL="0" indent="0">
              <a:spcBef>
                <a:spcPts val="0"/>
              </a:spcBef>
              <a:spcAft>
                <a:spcPts val="100"/>
              </a:spcAft>
              <a:buNone/>
              <a:defRPr sz="900"/>
            </a:lvl1pPr>
            <a:lvl2pPr marL="0" indent="0">
              <a:spcBef>
                <a:spcPts val="0"/>
              </a:spcBef>
              <a:spcAft>
                <a:spcPts val="200"/>
              </a:spcAft>
              <a:buNone/>
              <a:defRPr sz="900"/>
            </a:lvl2pPr>
            <a:lvl3pPr marL="0" indent="0">
              <a:spcBef>
                <a:spcPts val="0"/>
              </a:spcBef>
              <a:spcAft>
                <a:spcPts val="100"/>
              </a:spcAft>
              <a:buNone/>
              <a:defRPr sz="900">
                <a:latin typeface="+mj-lt"/>
              </a:defRPr>
            </a:lvl3pPr>
            <a:lvl4pPr marL="0" indent="0" algn="l">
              <a:buNone/>
              <a:defRPr sz="900">
                <a:latin typeface="+mj-lt"/>
              </a:defRPr>
            </a:lvl4pPr>
            <a:lvl5pPr>
              <a:defRPr/>
            </a:lvl5pPr>
          </a:lstStyle>
          <a:p>
            <a:pPr lvl="0"/>
            <a:r>
              <a:rPr lang="en-US"/>
              <a:t>Click to edit Master text styles</a:t>
            </a:r>
          </a:p>
          <a:p>
            <a:pPr lvl="3"/>
            <a:r>
              <a:rPr lang="en-US"/>
              <a:t>Level 2</a:t>
            </a:r>
          </a:p>
        </p:txBody>
      </p:sp>
      <p:sp>
        <p:nvSpPr>
          <p:cNvPr id="138" name="Step 1 Title">
            <a:extLst>
              <a:ext uri="{FF2B5EF4-FFF2-40B4-BE49-F238E27FC236}">
                <a16:creationId xmlns:a16="http://schemas.microsoft.com/office/drawing/2014/main" id="{E7C3DF1D-9756-4E60-3B60-5FC1042D732B}"/>
              </a:ext>
            </a:extLst>
          </p:cNvPr>
          <p:cNvSpPr>
            <a:spLocks noGrp="1"/>
          </p:cNvSpPr>
          <p:nvPr userDrawn="1">
            <p:ph type="body" sz="quarter" idx="61"/>
          </p:nvPr>
        </p:nvSpPr>
        <p:spPr>
          <a:xfrm>
            <a:off x="7507483" y="3725103"/>
            <a:ext cx="3161734" cy="153888"/>
          </a:xfrm>
          <a:prstGeom prst="rect">
            <a:avLst/>
          </a:prstGeom>
          <a:noFill/>
          <a:effectLst/>
        </p:spPr>
        <p:txBody>
          <a:bodyPr wrap="square" lIns="0" tIns="0" rIns="0" bIns="0" anchor="ctr" anchorCtr="0">
            <a:spAutoFit/>
          </a:bodyPr>
          <a:lstStyle>
            <a:lvl1pPr marL="114300" indent="-114300" algn="l">
              <a:buSzPct val="100000"/>
              <a:buFont typeface="+mj-lt"/>
              <a:buAutoNum type="arabicPeriod" startAt="4"/>
              <a:defRPr sz="1000" b="0" i="0">
                <a:solidFill>
                  <a:schemeClr val="tx1"/>
                </a:solidFill>
                <a:latin typeface="+mj-lt"/>
                <a:cs typeface="Segoe UI Semibold" panose="020B0502040204020203" pitchFamily="34" charset="0"/>
              </a:defRPr>
            </a:lvl1pPr>
          </a:lstStyle>
          <a:p>
            <a:pPr lvl="0"/>
            <a:r>
              <a:rPr lang="en-US"/>
              <a:t>Click to edit Master text styles</a:t>
            </a:r>
          </a:p>
        </p:txBody>
      </p:sp>
      <p:sp>
        <p:nvSpPr>
          <p:cNvPr id="139" name="Step 1 Top">
            <a:extLst>
              <a:ext uri="{FF2B5EF4-FFF2-40B4-BE49-F238E27FC236}">
                <a16:creationId xmlns:a16="http://schemas.microsoft.com/office/drawing/2014/main" id="{DD4D8F41-19D0-1C40-C8A6-6751BDCBB4E6}"/>
              </a:ext>
            </a:extLst>
          </p:cNvPr>
          <p:cNvSpPr>
            <a:spLocks noGrp="1"/>
          </p:cNvSpPr>
          <p:nvPr userDrawn="1">
            <p:ph type="body" sz="quarter" idx="62"/>
          </p:nvPr>
        </p:nvSpPr>
        <p:spPr>
          <a:xfrm>
            <a:off x="7507483" y="4050957"/>
            <a:ext cx="3161734" cy="626701"/>
          </a:xfrm>
        </p:spPr>
        <p:txBody>
          <a:bodyPr lIns="0" tIns="0" rIns="0" bIns="0">
            <a:noAutofit/>
          </a:bodyPr>
          <a:lstStyle>
            <a:lvl1pPr marL="0" indent="0">
              <a:spcBef>
                <a:spcPts val="0"/>
              </a:spcBef>
              <a:buNone/>
              <a:defRPr sz="900"/>
            </a:lvl1pPr>
          </a:lstStyle>
          <a:p>
            <a:pPr lvl="0"/>
            <a:r>
              <a:rPr lang="en-US"/>
              <a:t>Click to edit Master text styles</a:t>
            </a:r>
          </a:p>
        </p:txBody>
      </p:sp>
      <p:sp>
        <p:nvSpPr>
          <p:cNvPr id="7" name="Text Placeholder 11">
            <a:extLst>
              <a:ext uri="{FF2B5EF4-FFF2-40B4-BE49-F238E27FC236}">
                <a16:creationId xmlns:a16="http://schemas.microsoft.com/office/drawing/2014/main" id="{0510E80C-A092-E34D-569F-C7503B34CDEA}"/>
              </a:ext>
            </a:extLst>
          </p:cNvPr>
          <p:cNvSpPr>
            <a:spLocks noGrp="1"/>
          </p:cNvSpPr>
          <p:nvPr>
            <p:ph type="body" sz="quarter" idx="69"/>
          </p:nvPr>
        </p:nvSpPr>
        <p:spPr>
          <a:xfrm>
            <a:off x="7507483" y="5338502"/>
            <a:ext cx="3161734" cy="712876"/>
          </a:xfrm>
          <a:prstGeom prst="roundRect">
            <a:avLst>
              <a:gd name="adj" fmla="val 9576"/>
            </a:avLst>
          </a:prstGeom>
          <a:solidFill>
            <a:schemeClr val="bg1">
              <a:lumMod val="95000"/>
              <a:alpha val="50000"/>
            </a:schemeClr>
          </a:solidFill>
        </p:spPr>
        <p:txBody>
          <a:bodyPr lIns="0" tIns="0" rIns="0" bIns="0" anchor="t">
            <a:noAutofit/>
          </a:bodyPr>
          <a:lstStyle>
            <a:lvl1pPr marL="0" indent="0">
              <a:spcBef>
                <a:spcPts val="0"/>
              </a:spcBef>
              <a:spcAft>
                <a:spcPts val="100"/>
              </a:spcAft>
              <a:buNone/>
              <a:defRPr sz="900"/>
            </a:lvl1pPr>
            <a:lvl2pPr marL="0" indent="0">
              <a:spcBef>
                <a:spcPts val="0"/>
              </a:spcBef>
              <a:spcAft>
                <a:spcPts val="200"/>
              </a:spcAft>
              <a:buNone/>
              <a:defRPr sz="900"/>
            </a:lvl2pPr>
            <a:lvl3pPr marL="0" indent="0">
              <a:spcBef>
                <a:spcPts val="0"/>
              </a:spcBef>
              <a:spcAft>
                <a:spcPts val="100"/>
              </a:spcAft>
              <a:buNone/>
              <a:defRPr sz="900">
                <a:latin typeface="+mj-lt"/>
              </a:defRPr>
            </a:lvl3pPr>
            <a:lvl4pPr marL="0" indent="0" algn="l">
              <a:buNone/>
              <a:defRPr sz="900">
                <a:latin typeface="+mj-lt"/>
              </a:defRPr>
            </a:lvl4pPr>
            <a:lvl5pPr>
              <a:defRPr/>
            </a:lvl5pPr>
          </a:lstStyle>
          <a:p>
            <a:pPr lvl="0"/>
            <a:r>
              <a:rPr lang="en-US"/>
              <a:t>Click to edit Master text styles</a:t>
            </a:r>
          </a:p>
          <a:p>
            <a:pPr lvl="3"/>
            <a:r>
              <a:rPr lang="en-US"/>
              <a:t>Level 2</a:t>
            </a:r>
          </a:p>
        </p:txBody>
      </p:sp>
      <p:sp>
        <p:nvSpPr>
          <p:cNvPr id="135" name="Step 1 Title">
            <a:extLst>
              <a:ext uri="{FF2B5EF4-FFF2-40B4-BE49-F238E27FC236}">
                <a16:creationId xmlns:a16="http://schemas.microsoft.com/office/drawing/2014/main" id="{F3576EDF-8C4D-5381-E991-4104EFE19D8D}"/>
              </a:ext>
            </a:extLst>
          </p:cNvPr>
          <p:cNvSpPr>
            <a:spLocks noGrp="1"/>
          </p:cNvSpPr>
          <p:nvPr userDrawn="1">
            <p:ph type="body" sz="quarter" idx="58"/>
          </p:nvPr>
        </p:nvSpPr>
        <p:spPr>
          <a:xfrm>
            <a:off x="4036409" y="3725103"/>
            <a:ext cx="3161734" cy="153888"/>
          </a:xfrm>
          <a:prstGeom prst="rect">
            <a:avLst/>
          </a:prstGeom>
          <a:noFill/>
          <a:effectLst/>
        </p:spPr>
        <p:txBody>
          <a:bodyPr wrap="square" lIns="0" tIns="0" rIns="0" bIns="0" anchor="ctr" anchorCtr="0">
            <a:spAutoFit/>
          </a:bodyPr>
          <a:lstStyle>
            <a:lvl1pPr marL="114300" indent="-114300" algn="l">
              <a:buSzPct val="100000"/>
              <a:buFont typeface="+mj-lt"/>
              <a:buAutoNum type="arabicPeriod" startAt="5"/>
              <a:defRPr sz="1000" b="0" i="0">
                <a:solidFill>
                  <a:schemeClr val="tx1"/>
                </a:solidFill>
                <a:latin typeface="+mj-lt"/>
                <a:cs typeface="Segoe UI Semibold" panose="020B0502040204020203" pitchFamily="34" charset="0"/>
              </a:defRPr>
            </a:lvl1pPr>
          </a:lstStyle>
          <a:p>
            <a:pPr lvl="0"/>
            <a:r>
              <a:rPr lang="en-US"/>
              <a:t>Click to edit Master text styles</a:t>
            </a:r>
          </a:p>
        </p:txBody>
      </p:sp>
      <p:sp>
        <p:nvSpPr>
          <p:cNvPr id="136" name="Step 1 Top">
            <a:extLst>
              <a:ext uri="{FF2B5EF4-FFF2-40B4-BE49-F238E27FC236}">
                <a16:creationId xmlns:a16="http://schemas.microsoft.com/office/drawing/2014/main" id="{E979A6D5-04D7-EDA1-795C-CDE631F70816}"/>
              </a:ext>
            </a:extLst>
          </p:cNvPr>
          <p:cNvSpPr>
            <a:spLocks noGrp="1"/>
          </p:cNvSpPr>
          <p:nvPr userDrawn="1">
            <p:ph type="body" sz="quarter" idx="59"/>
          </p:nvPr>
        </p:nvSpPr>
        <p:spPr>
          <a:xfrm>
            <a:off x="4036409" y="4050957"/>
            <a:ext cx="3161734" cy="626701"/>
          </a:xfrm>
        </p:spPr>
        <p:txBody>
          <a:bodyPr lIns="0" tIns="0" rIns="0" bIns="0">
            <a:noAutofit/>
          </a:bodyPr>
          <a:lstStyle>
            <a:lvl1pPr marL="0" indent="0">
              <a:spcBef>
                <a:spcPts val="0"/>
              </a:spcBef>
              <a:buNone/>
              <a:defRPr sz="900"/>
            </a:lvl1pPr>
          </a:lstStyle>
          <a:p>
            <a:pPr lvl="0"/>
            <a:r>
              <a:rPr lang="en-US"/>
              <a:t>Click to edit Master text styles</a:t>
            </a:r>
          </a:p>
        </p:txBody>
      </p:sp>
      <p:sp>
        <p:nvSpPr>
          <p:cNvPr id="6" name="Text Placeholder 11">
            <a:extLst>
              <a:ext uri="{FF2B5EF4-FFF2-40B4-BE49-F238E27FC236}">
                <a16:creationId xmlns:a16="http://schemas.microsoft.com/office/drawing/2014/main" id="{DACE21C0-49A4-DA91-EDBF-71FBF06125C4}"/>
              </a:ext>
            </a:extLst>
          </p:cNvPr>
          <p:cNvSpPr>
            <a:spLocks noGrp="1"/>
          </p:cNvSpPr>
          <p:nvPr>
            <p:ph type="body" sz="quarter" idx="68"/>
          </p:nvPr>
        </p:nvSpPr>
        <p:spPr>
          <a:xfrm>
            <a:off x="4036409" y="5338502"/>
            <a:ext cx="3161734" cy="712876"/>
          </a:xfrm>
          <a:prstGeom prst="roundRect">
            <a:avLst>
              <a:gd name="adj" fmla="val 9576"/>
            </a:avLst>
          </a:prstGeom>
          <a:solidFill>
            <a:schemeClr val="bg1">
              <a:lumMod val="95000"/>
              <a:alpha val="50000"/>
            </a:schemeClr>
          </a:solidFill>
        </p:spPr>
        <p:txBody>
          <a:bodyPr lIns="0" tIns="0" rIns="0" bIns="0" anchor="t">
            <a:noAutofit/>
          </a:bodyPr>
          <a:lstStyle>
            <a:lvl1pPr marL="0" indent="0">
              <a:spcBef>
                <a:spcPts val="0"/>
              </a:spcBef>
              <a:spcAft>
                <a:spcPts val="100"/>
              </a:spcAft>
              <a:buNone/>
              <a:defRPr sz="900"/>
            </a:lvl1pPr>
            <a:lvl2pPr marL="0" indent="0">
              <a:spcBef>
                <a:spcPts val="0"/>
              </a:spcBef>
              <a:spcAft>
                <a:spcPts val="200"/>
              </a:spcAft>
              <a:buNone/>
              <a:defRPr sz="900"/>
            </a:lvl2pPr>
            <a:lvl3pPr marL="0" indent="0">
              <a:spcBef>
                <a:spcPts val="0"/>
              </a:spcBef>
              <a:spcAft>
                <a:spcPts val="100"/>
              </a:spcAft>
              <a:buNone/>
              <a:defRPr sz="900">
                <a:latin typeface="+mj-lt"/>
              </a:defRPr>
            </a:lvl3pPr>
            <a:lvl4pPr marL="0" indent="0" algn="l">
              <a:buNone/>
              <a:defRPr sz="900">
                <a:latin typeface="+mj-lt"/>
              </a:defRPr>
            </a:lvl4pPr>
            <a:lvl5pPr>
              <a:defRPr/>
            </a:lvl5pPr>
          </a:lstStyle>
          <a:p>
            <a:pPr lvl="0"/>
            <a:r>
              <a:rPr lang="en-US"/>
              <a:t>Click to edit Master text styles</a:t>
            </a:r>
          </a:p>
          <a:p>
            <a:pPr lvl="3"/>
            <a:r>
              <a:rPr lang="en-US"/>
              <a:t>Level 2</a:t>
            </a:r>
          </a:p>
        </p:txBody>
      </p:sp>
      <p:sp>
        <p:nvSpPr>
          <p:cNvPr id="145" name="Footnote">
            <a:extLst>
              <a:ext uri="{FF2B5EF4-FFF2-40B4-BE49-F238E27FC236}">
                <a16:creationId xmlns:a16="http://schemas.microsoft.com/office/drawing/2014/main" id="{EFC765AC-7584-A8D3-1059-43D998733533}"/>
              </a:ext>
            </a:extLst>
          </p:cNvPr>
          <p:cNvSpPr txBox="1">
            <a:spLocks/>
          </p:cNvSpPr>
          <p:nvPr userDrawn="1"/>
        </p:nvSpPr>
        <p:spPr>
          <a:xfrm>
            <a:off x="320040" y="6309360"/>
            <a:ext cx="9597418" cy="430887"/>
          </a:xfrm>
          <a:prstGeom prst="rect">
            <a:avLst/>
          </a:prstGeom>
        </p:spPr>
        <p:txBody>
          <a:bodyPr vert="horz" wrap="square" lIns="0" tIns="0" rIns="0" bIns="0" rtlCol="0">
            <a:sp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7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700" b="0" i="0" u="none" strike="noStrike" kern="1200" cap="none" spc="0" normalizeH="0" baseline="30000" noProof="0" dirty="0">
                <a:ln>
                  <a:noFill/>
                </a:ln>
                <a:solidFill>
                  <a:srgbClr val="000000"/>
                </a:solidFill>
                <a:effectLst/>
                <a:uLnTx/>
                <a:uFillTx/>
                <a:latin typeface="Segoe UI"/>
                <a:ea typeface="+mn-ea"/>
                <a:cs typeface="Segoe UI" panose="020B0502040204020203" pitchFamily="34" charset="0"/>
              </a:rPr>
              <a:t>1</a:t>
            </a:r>
            <a:r>
              <a:rPr kumimoji="0" lang="en-US" sz="7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Access M365 Copilot Chat at </a:t>
            </a:r>
            <a:r>
              <a:rPr kumimoji="0" lang="en-US" sz="7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hlinkClick r:id="rId2"/>
              </a:rPr>
              <a:t>m365copilot.com</a:t>
            </a:r>
            <a:r>
              <a:rPr kumimoji="0" lang="en-US" sz="7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 or the Microsoft 365 Copilot Chat mobile app and set toggle to “Web”.</a:t>
            </a:r>
          </a:p>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700" b="0" i="0" u="none" strike="noStrike" kern="1200" cap="none" spc="0" normalizeH="0" baseline="30000" noProof="0" dirty="0">
                <a:ln>
                  <a:noFill/>
                </a:ln>
                <a:solidFill>
                  <a:srgbClr val="000000"/>
                </a:solidFill>
                <a:effectLst/>
                <a:uLnTx/>
                <a:uFillTx/>
                <a:latin typeface="Segoe UI"/>
                <a:ea typeface="+mn-ea"/>
                <a:cs typeface="Segoe UI" panose="020B0502040204020203" pitchFamily="34" charset="0"/>
              </a:rPr>
              <a:t>2</a:t>
            </a:r>
            <a:r>
              <a:rPr kumimoji="0" lang="en-US" sz="7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Access M365 Copilot Chat at </a:t>
            </a:r>
            <a:r>
              <a:rPr kumimoji="0" lang="en-US" sz="7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hlinkClick r:id="rId2"/>
              </a:rPr>
              <a:t>m365copilot.com</a:t>
            </a:r>
            <a:r>
              <a:rPr kumimoji="0" lang="en-US" sz="7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 the Microsoft 365 Copilot Chat mobile app, or the M365 Copilot Chat app in Teams, and set toggle to “Work”.</a:t>
            </a:r>
          </a:p>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700" b="0" i="0" u="none" strike="noStrike" kern="1200" cap="none" spc="0" normalizeH="0" baseline="30000" noProof="0" dirty="0">
                <a:ln>
                  <a:noFill/>
                </a:ln>
                <a:solidFill>
                  <a:srgbClr val="000000"/>
                </a:solidFill>
                <a:effectLst/>
                <a:uLnTx/>
                <a:uFillTx/>
                <a:latin typeface="Segoe UI"/>
                <a:ea typeface="+mn-ea"/>
                <a:cs typeface="Segoe UI" panose="020B0502040204020203" pitchFamily="34" charset="0"/>
              </a:rPr>
              <a:t>3</a:t>
            </a:r>
            <a:r>
              <a:rPr kumimoji="0" lang="en-US" sz="7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AI Agents allow Copilot to access your organization-specific apps. In the past this would have required an API call to get data from a system of record.</a:t>
            </a:r>
          </a:p>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7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The content in this example scenario is for demonstration purposes only. You should evaluate how Copilot aligns with your organization’s business processes, regulatory requirements, and responsible AI principles.</a:t>
            </a:r>
          </a:p>
        </p:txBody>
      </p:sp>
    </p:spTree>
    <p:extLst>
      <p:ext uri="{BB962C8B-B14F-4D97-AF65-F5344CB8AC3E}">
        <p14:creationId xmlns:p14="http://schemas.microsoft.com/office/powerpoint/2010/main" val="127439864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8">
          <p15:clr>
            <a:srgbClr val="A4A3A4"/>
          </p15:clr>
        </p15:guide>
        <p15:guide id="11" pos="2150">
          <p15:clr>
            <a:srgbClr val="A4A3A4"/>
          </p15:clr>
        </p15:guide>
        <p15:guide id="12" pos="2561">
          <p15:clr>
            <a:srgbClr val="A4A3A4"/>
          </p15:clr>
        </p15:guide>
        <p15:guide id="13" pos="2760">
          <p15:clr>
            <a:srgbClr val="A4A3A4"/>
          </p15:clr>
        </p15:guide>
        <p15:guide id="14" pos="3155">
          <p15:clr>
            <a:srgbClr val="A4A3A4"/>
          </p15:clr>
        </p15:guide>
        <p15:guide id="15" pos="3352">
          <p15:clr>
            <a:srgbClr val="A4A3A4"/>
          </p15:clr>
        </p15:guide>
        <p15:guide id="16" pos="3749">
          <p15:clr>
            <a:srgbClr val="A4A3A4"/>
          </p15:clr>
        </p15:guide>
        <p15:guide id="17" pos="3932">
          <p15:clr>
            <a:srgbClr val="A4A3A4"/>
          </p15:clr>
        </p15:guide>
        <p15:guide id="18" pos="4344">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888">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_Scenario five steps">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894A1448-F8D7-EA0F-E466-136E038AA3F1}"/>
              </a:ext>
            </a:extLst>
          </p:cNvPr>
          <p:cNvCxnSpPr>
            <a:cxnSpLocks/>
          </p:cNvCxnSpPr>
          <p:nvPr userDrawn="1"/>
        </p:nvCxnSpPr>
        <p:spPr>
          <a:xfrm>
            <a:off x="3182889" y="1352539"/>
            <a:ext cx="8339848" cy="0"/>
          </a:xfrm>
          <a:prstGeom prst="line">
            <a:avLst/>
          </a:prstGeom>
          <a:ln w="15875" cap="flat">
            <a:gradFill flip="none" rotWithShape="1">
              <a:gsLst>
                <a:gs pos="0">
                  <a:srgbClr val="0078D4"/>
                </a:gs>
                <a:gs pos="100000">
                  <a:schemeClr val="accent3"/>
                </a:gs>
              </a:gsLst>
              <a:lin ang="16200000" scaled="1"/>
              <a:tileRect/>
            </a:gra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8" name="Rectangle: Rounded Corners 7">
            <a:extLst>
              <a:ext uri="{FF2B5EF4-FFF2-40B4-BE49-F238E27FC236}">
                <a16:creationId xmlns:a16="http://schemas.microsoft.com/office/drawing/2014/main" id="{FC6C3234-D3F7-EB91-19FC-3FF3921A6EF7}"/>
              </a:ext>
            </a:extLst>
          </p:cNvPr>
          <p:cNvSpPr>
            <a:spLocks/>
          </p:cNvSpPr>
          <p:nvPr userDrawn="1"/>
        </p:nvSpPr>
        <p:spPr bwMode="auto">
          <a:xfrm>
            <a:off x="2179638" y="304726"/>
            <a:ext cx="4582191" cy="526298"/>
          </a:xfrm>
          <a:prstGeom prst="roundRect">
            <a:avLst/>
          </a:prstGeom>
          <a:solidFill>
            <a:srgbClr val="DDEEF8"/>
          </a:solidFill>
          <a:ln>
            <a:solidFill>
              <a:schemeClr val="bg1"/>
            </a:solidFill>
            <a:headEnd type="none" w="med" len="med"/>
            <a:tailEnd type="none" w="med" len="med"/>
          </a:ln>
          <a:effectLst>
            <a:outerShdw blurRad="254000" algn="ctr" rotWithShape="0">
              <a:schemeClr val="bg1">
                <a:lumMod val="75000"/>
                <a:alpha val="3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11480" tIns="91440" rIns="91440" bIns="91440" numCol="1" spcCol="0" rtlCol="0" fromWordArt="0" anchor="ctr" anchorCtr="0" forceAA="0" compatLnSpc="1">
            <a:prstTxWarp prst="textNoShape">
              <a:avLst/>
            </a:prstTxWarp>
            <a:noAutofit/>
          </a:bodyPr>
          <a:lstStyle/>
          <a:p>
            <a:pPr marL="0" marR="0" lvl="0" indent="0" algn="l" defTabSz="932742" rtl="0" eaLnBrk="1" fontAlgn="auto" latinLnBrk="0" hangingPunct="1">
              <a:lnSpc>
                <a:spcPct val="100000"/>
              </a:lnSpc>
              <a:spcBef>
                <a:spcPts val="1200"/>
              </a:spcBef>
              <a:spcAft>
                <a:spcPts val="0"/>
              </a:spcAft>
              <a:buClrTx/>
              <a:buSzPct val="100000"/>
              <a:buFontTx/>
              <a:buNone/>
              <a:tabLst/>
              <a:defRPr/>
            </a:pPr>
            <a:endParaRPr kumimoji="0" lang="en-US" sz="1800" b="0" i="0" u="none" strike="noStrike" kern="1200" cap="none" spc="0" normalizeH="0" baseline="0" noProof="0" dirty="0">
              <a:ln>
                <a:noFill/>
              </a:ln>
              <a:solidFill>
                <a:srgbClr val="000000"/>
              </a:solidFill>
              <a:effectLst/>
              <a:uLnTx/>
              <a:uFillTx/>
              <a:latin typeface="Segoe UI Semibold"/>
              <a:ea typeface="+mn-ea"/>
              <a:cs typeface="+mn-cs"/>
            </a:endParaRPr>
          </a:p>
        </p:txBody>
      </p:sp>
      <p:sp>
        <p:nvSpPr>
          <p:cNvPr id="9" name="TextBox 8">
            <a:extLst>
              <a:ext uri="{FF2B5EF4-FFF2-40B4-BE49-F238E27FC236}">
                <a16:creationId xmlns:a16="http://schemas.microsoft.com/office/drawing/2014/main" id="{DE489450-2B99-F45D-B0AD-1BD8CA42038B}"/>
              </a:ext>
            </a:extLst>
          </p:cNvPr>
          <p:cNvSpPr txBox="1">
            <a:spLocks/>
          </p:cNvSpPr>
          <p:nvPr userDrawn="1"/>
        </p:nvSpPr>
        <p:spPr>
          <a:xfrm>
            <a:off x="0" y="304726"/>
            <a:ext cx="2431247" cy="526298"/>
          </a:xfrm>
          <a:custGeom>
            <a:avLst/>
            <a:gdLst>
              <a:gd name="connsiteX0" fmla="*/ 1993 w 2431247"/>
              <a:gd name="connsiteY0" fmla="*/ 0 h 526298"/>
              <a:gd name="connsiteX1" fmla="*/ 2338766 w 2431247"/>
              <a:gd name="connsiteY1" fmla="*/ 0 h 526298"/>
              <a:gd name="connsiteX2" fmla="*/ 2431247 w 2431247"/>
              <a:gd name="connsiteY2" fmla="*/ 92481 h 526298"/>
              <a:gd name="connsiteX3" fmla="*/ 2431247 w 2431247"/>
              <a:gd name="connsiteY3" fmla="*/ 433817 h 526298"/>
              <a:gd name="connsiteX4" fmla="*/ 2338766 w 2431247"/>
              <a:gd name="connsiteY4" fmla="*/ 526298 h 526298"/>
              <a:gd name="connsiteX5" fmla="*/ 1993 w 2431247"/>
              <a:gd name="connsiteY5" fmla="*/ 526298 h 526298"/>
              <a:gd name="connsiteX6" fmla="*/ 0 w 2431247"/>
              <a:gd name="connsiteY6" fmla="*/ 525896 h 526298"/>
              <a:gd name="connsiteX7" fmla="*/ 0 w 2431247"/>
              <a:gd name="connsiteY7" fmla="*/ 402 h 526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1247" h="526298">
                <a:moveTo>
                  <a:pt x="1993" y="0"/>
                </a:moveTo>
                <a:lnTo>
                  <a:pt x="2338766" y="0"/>
                </a:lnTo>
                <a:cubicBezTo>
                  <a:pt x="2389842" y="0"/>
                  <a:pt x="2431247" y="41405"/>
                  <a:pt x="2431247" y="92481"/>
                </a:cubicBezTo>
                <a:lnTo>
                  <a:pt x="2431247" y="433817"/>
                </a:lnTo>
                <a:cubicBezTo>
                  <a:pt x="2431247" y="484893"/>
                  <a:pt x="2389842" y="526298"/>
                  <a:pt x="2338766" y="526298"/>
                </a:cubicBezTo>
                <a:lnTo>
                  <a:pt x="1993" y="526298"/>
                </a:lnTo>
                <a:lnTo>
                  <a:pt x="0" y="525896"/>
                </a:lnTo>
                <a:lnTo>
                  <a:pt x="0" y="402"/>
                </a:lnTo>
                <a:close/>
              </a:path>
            </a:pathLst>
          </a:custGeom>
          <a:gradFill flip="none" rotWithShape="1">
            <a:gsLst>
              <a:gs pos="35000">
                <a:srgbClr val="0078D4"/>
              </a:gs>
              <a:gs pos="0">
                <a:srgbClr val="C03BC4"/>
              </a:gs>
            </a:gsLst>
            <a:path path="circle">
              <a:fillToRect l="100000" t="100000"/>
            </a:path>
            <a:tileRect r="-100000" b="-100000"/>
          </a:gradFill>
          <a:effectLst/>
        </p:spPr>
        <p:txBody>
          <a:bodyPr vert="horz" wrap="square" lIns="310896" tIns="0" rIns="0" bIns="0" rtlCol="0" anchor="ctr" anchorCtr="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b="1" i="0" kern="1200" spc="0" baseline="0">
                <a:solidFill>
                  <a:srgbClr val="FFFFFF"/>
                </a:solidFill>
                <a:latin typeface="Segoe UI Semibold" panose="020B0502040204020203" pitchFamily="34" charset="0"/>
                <a:ea typeface="+mn-ea"/>
                <a:cs typeface="Segoe UI Semibold"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endParaRPr kumimoji="0" lang="en-US" sz="2000" b="1" i="0" u="none" strike="noStrike" kern="1200" cap="none" spc="0" normalizeH="0" baseline="0" noProof="0" dirty="0">
              <a:ln>
                <a:noFill/>
              </a:ln>
              <a:solidFill>
                <a:srgbClr val="FFFFFF"/>
              </a:solidFill>
              <a:effectLst/>
              <a:uLnTx/>
              <a:uFillTx/>
              <a:latin typeface="Segoe UI Semibold" panose="020B0502040204020203" pitchFamily="34" charset="0"/>
              <a:ea typeface="+mn-ea"/>
              <a:cs typeface="Segoe UI Semibold" panose="020B0502040204020203" pitchFamily="34" charset="0"/>
            </a:endParaRPr>
          </a:p>
        </p:txBody>
      </p:sp>
      <p:sp>
        <p:nvSpPr>
          <p:cNvPr id="71" name="Scenario Level">
            <a:extLst>
              <a:ext uri="{FF2B5EF4-FFF2-40B4-BE49-F238E27FC236}">
                <a16:creationId xmlns:a16="http://schemas.microsoft.com/office/drawing/2014/main" id="{5C914349-B5B3-D703-EE31-78482DD3DAA9}"/>
              </a:ext>
            </a:extLst>
          </p:cNvPr>
          <p:cNvSpPr txBox="1"/>
          <p:nvPr userDrawn="1"/>
        </p:nvSpPr>
        <p:spPr>
          <a:xfrm>
            <a:off x="10895070" y="358721"/>
            <a:ext cx="992247" cy="153888"/>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Segoe UI Semibold"/>
                <a:ea typeface="+mn-ea"/>
                <a:cs typeface="Segoe UI Semibold" panose="020B0502040204020203" pitchFamily="34" charset="0"/>
              </a:rPr>
              <a:t>Scenario level:</a:t>
            </a:r>
          </a:p>
        </p:txBody>
      </p:sp>
      <p:sp>
        <p:nvSpPr>
          <p:cNvPr id="73" name="Available with">
            <a:extLst>
              <a:ext uri="{FF2B5EF4-FFF2-40B4-BE49-F238E27FC236}">
                <a16:creationId xmlns:a16="http://schemas.microsoft.com/office/drawing/2014/main" id="{1E59605F-F04E-58C0-102B-28C6AFF01B7D}"/>
              </a:ext>
            </a:extLst>
          </p:cNvPr>
          <p:cNvSpPr txBox="1"/>
          <p:nvPr userDrawn="1"/>
        </p:nvSpPr>
        <p:spPr>
          <a:xfrm>
            <a:off x="9126798" y="358721"/>
            <a:ext cx="992247" cy="153888"/>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Segoe UI Semibold"/>
                <a:ea typeface="+mn-ea"/>
                <a:cs typeface="Segoe UI Semibold" panose="020B0502040204020203" pitchFamily="34" charset="0"/>
              </a:rPr>
              <a:t>Available with:</a:t>
            </a:r>
          </a:p>
        </p:txBody>
      </p:sp>
      <p:cxnSp>
        <p:nvCxnSpPr>
          <p:cNvPr id="76" name="Straight Connector 75">
            <a:extLst>
              <a:ext uri="{FF2B5EF4-FFF2-40B4-BE49-F238E27FC236}">
                <a16:creationId xmlns:a16="http://schemas.microsoft.com/office/drawing/2014/main" id="{384F79FD-8FB8-5727-A3FB-9193B8AF441D}"/>
              </a:ext>
            </a:extLst>
          </p:cNvPr>
          <p:cNvCxnSpPr/>
          <p:nvPr userDrawn="1"/>
        </p:nvCxnSpPr>
        <p:spPr>
          <a:xfrm>
            <a:off x="10357789" y="358721"/>
            <a:ext cx="0" cy="331655"/>
          </a:xfrm>
          <a:prstGeom prst="line">
            <a:avLst/>
          </a:prstGeom>
          <a:ln>
            <a:solidFill>
              <a:srgbClr val="B1B3B3"/>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nvGrpSpPr>
          <p:cNvPr id="79" name="Group 78">
            <a:extLst>
              <a:ext uri="{FF2B5EF4-FFF2-40B4-BE49-F238E27FC236}">
                <a16:creationId xmlns:a16="http://schemas.microsoft.com/office/drawing/2014/main" id="{ECD8F809-3EF5-43AD-9927-8D87766BB31B}"/>
              </a:ext>
              <a:ext uri="{C183D7F6-B498-43B3-948B-1728B52AA6E4}">
                <adec:decorative xmlns:adec="http://schemas.microsoft.com/office/drawing/2017/decorative" val="1"/>
              </a:ext>
            </a:extLst>
          </p:cNvPr>
          <p:cNvGrpSpPr/>
          <p:nvPr userDrawn="1"/>
        </p:nvGrpSpPr>
        <p:grpSpPr>
          <a:xfrm>
            <a:off x="5805591" y="1247214"/>
            <a:ext cx="210652" cy="210652"/>
            <a:chOff x="5214995" y="-1168400"/>
            <a:chExt cx="431800" cy="431800"/>
          </a:xfrm>
        </p:grpSpPr>
        <p:sp>
          <p:nvSpPr>
            <p:cNvPr id="80" name="Oval 79">
              <a:extLst>
                <a:ext uri="{FF2B5EF4-FFF2-40B4-BE49-F238E27FC236}">
                  <a16:creationId xmlns:a16="http://schemas.microsoft.com/office/drawing/2014/main" id="{BD95EE76-3BB3-5D96-1162-650D8265E79B}"/>
                </a:ext>
              </a:extLst>
            </p:cNvPr>
            <p:cNvSpPr/>
            <p:nvPr/>
          </p:nvSpPr>
          <p:spPr bwMode="auto">
            <a:xfrm>
              <a:off x="5214995" y="-1168400"/>
              <a:ext cx="431800" cy="431800"/>
            </a:xfrm>
            <a:prstGeom prst="ellipse">
              <a:avLst/>
            </a:prstGeom>
            <a:gradFill flip="none" rotWithShape="1">
              <a:gsLst>
                <a:gs pos="60000">
                  <a:srgbClr val="0078D4"/>
                </a:gs>
                <a:gs pos="4000">
                  <a:srgbClr val="C03BC4"/>
                </a:gs>
              </a:gsLst>
              <a:path path="circle">
                <a:fillToRect l="100000" t="100000"/>
              </a:path>
              <a:tileRect r="-100000" b="-100000"/>
            </a:gradFill>
            <a:ln w="15875">
              <a:solidFill>
                <a:schemeClr val="bg1"/>
              </a:solidFill>
            </a:ln>
            <a:effectLst>
              <a:outerShdw blurRad="254000" algn="ctr" rotWithShape="0">
                <a:schemeClr val="bg1">
                  <a:lumMod val="75000"/>
                  <a:alpha val="30000"/>
                </a:schemeClr>
              </a:outerShdw>
            </a:effectLst>
          </p:spPr>
          <p:txBody>
            <a:bodyPr vert="horz" wrap="square" lIns="320040" tIns="0" rIns="0" bIns="0" rtlCol="0" anchor="ctr" anchorCtr="0">
              <a:noAutofit/>
            </a:bodyPr>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2000" b="1" i="0" u="none" strike="noStrike" kern="1200" cap="none" spc="0" normalizeH="0" baseline="0" noProof="0" dirty="0">
                <a:ln>
                  <a:noFill/>
                </a:ln>
                <a:solidFill>
                  <a:srgbClr val="FFFFFF"/>
                </a:solidFill>
                <a:effectLst/>
                <a:uLnTx/>
                <a:uFillTx/>
                <a:latin typeface="Segoe UI Semibold"/>
                <a:ea typeface="+mn-ea"/>
                <a:cs typeface="Segoe UI Semibold" panose="020B0502040204020203" pitchFamily="34" charset="0"/>
              </a:endParaRPr>
            </a:p>
          </p:txBody>
        </p:sp>
        <p:sp>
          <p:nvSpPr>
            <p:cNvPr id="81" name="Rectangle 89">
              <a:extLst>
                <a:ext uri="{FF2B5EF4-FFF2-40B4-BE49-F238E27FC236}">
                  <a16:creationId xmlns:a16="http://schemas.microsoft.com/office/drawing/2014/main" id="{C479534D-98FF-6F65-ECCB-79C6294552EA}"/>
                </a:ext>
              </a:extLst>
            </p:cNvPr>
            <p:cNvSpPr/>
            <p:nvPr/>
          </p:nvSpPr>
          <p:spPr bwMode="auto">
            <a:xfrm rot="2700000">
              <a:off x="5334303" y="-1026795"/>
              <a:ext cx="148589" cy="148589"/>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25400" cap="rnd">
              <a:solidFill>
                <a:schemeClr val="bg1"/>
              </a:soli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Segoe UI"/>
                <a:ea typeface="+mn-ea"/>
                <a:cs typeface="Segoe UI" pitchFamily="34" charset="0"/>
              </a:endParaRPr>
            </a:p>
          </p:txBody>
        </p:sp>
      </p:grpSp>
      <p:grpSp>
        <p:nvGrpSpPr>
          <p:cNvPr id="82" name="Group 81">
            <a:extLst>
              <a:ext uri="{FF2B5EF4-FFF2-40B4-BE49-F238E27FC236}">
                <a16:creationId xmlns:a16="http://schemas.microsoft.com/office/drawing/2014/main" id="{4684A0D0-9EC4-FC0C-B023-76950C80DF9A}"/>
              </a:ext>
              <a:ext uri="{C183D7F6-B498-43B3-948B-1728B52AA6E4}">
                <adec:decorative xmlns:adec="http://schemas.microsoft.com/office/drawing/2017/decorative" val="1"/>
              </a:ext>
            </a:extLst>
          </p:cNvPr>
          <p:cNvGrpSpPr/>
          <p:nvPr userDrawn="1"/>
        </p:nvGrpSpPr>
        <p:grpSpPr>
          <a:xfrm>
            <a:off x="8689384" y="1247214"/>
            <a:ext cx="210652" cy="210652"/>
            <a:chOff x="5214995" y="-1168400"/>
            <a:chExt cx="431800" cy="431800"/>
          </a:xfrm>
        </p:grpSpPr>
        <p:sp>
          <p:nvSpPr>
            <p:cNvPr id="83" name="Oval 82">
              <a:extLst>
                <a:ext uri="{FF2B5EF4-FFF2-40B4-BE49-F238E27FC236}">
                  <a16:creationId xmlns:a16="http://schemas.microsoft.com/office/drawing/2014/main" id="{C82D2312-1888-7E4C-63E7-F0B9A0902E6D}"/>
                </a:ext>
              </a:extLst>
            </p:cNvPr>
            <p:cNvSpPr/>
            <p:nvPr/>
          </p:nvSpPr>
          <p:spPr bwMode="auto">
            <a:xfrm>
              <a:off x="5214995" y="-1168400"/>
              <a:ext cx="431800" cy="431800"/>
            </a:xfrm>
            <a:prstGeom prst="ellipse">
              <a:avLst/>
            </a:prstGeom>
            <a:gradFill flip="none" rotWithShape="1">
              <a:gsLst>
                <a:gs pos="60000">
                  <a:srgbClr val="0078D4"/>
                </a:gs>
                <a:gs pos="4000">
                  <a:srgbClr val="C03BC4"/>
                </a:gs>
              </a:gsLst>
              <a:path path="circle">
                <a:fillToRect l="100000" t="100000"/>
              </a:path>
              <a:tileRect r="-100000" b="-100000"/>
            </a:gradFill>
            <a:ln w="15875">
              <a:solidFill>
                <a:schemeClr val="bg1"/>
              </a:solidFill>
            </a:ln>
            <a:effectLst>
              <a:outerShdw blurRad="254000" algn="ctr" rotWithShape="0">
                <a:schemeClr val="bg1">
                  <a:lumMod val="75000"/>
                  <a:alpha val="30000"/>
                </a:schemeClr>
              </a:outerShdw>
            </a:effectLst>
          </p:spPr>
          <p:txBody>
            <a:bodyPr vert="horz" wrap="square" lIns="320040" tIns="0" rIns="0" bIns="0" rtlCol="0" anchor="ctr" anchorCtr="0">
              <a:noAutofit/>
            </a:bodyPr>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2000" b="1" i="0" u="none" strike="noStrike" kern="1200" cap="none" spc="0" normalizeH="0" baseline="0" noProof="0" dirty="0">
                <a:ln>
                  <a:noFill/>
                </a:ln>
                <a:solidFill>
                  <a:srgbClr val="FFFFFF"/>
                </a:solidFill>
                <a:effectLst/>
                <a:uLnTx/>
                <a:uFillTx/>
                <a:latin typeface="Segoe UI Semibold"/>
                <a:ea typeface="+mn-ea"/>
                <a:cs typeface="Segoe UI Semibold" panose="020B0502040204020203" pitchFamily="34" charset="0"/>
              </a:endParaRPr>
            </a:p>
          </p:txBody>
        </p:sp>
        <p:sp>
          <p:nvSpPr>
            <p:cNvPr id="85" name="Rectangle 89">
              <a:extLst>
                <a:ext uri="{FF2B5EF4-FFF2-40B4-BE49-F238E27FC236}">
                  <a16:creationId xmlns:a16="http://schemas.microsoft.com/office/drawing/2014/main" id="{E1424AAE-0B41-949F-3E6D-9A5D7323D7DB}"/>
                </a:ext>
              </a:extLst>
            </p:cNvPr>
            <p:cNvSpPr/>
            <p:nvPr/>
          </p:nvSpPr>
          <p:spPr bwMode="auto">
            <a:xfrm rot="2700000">
              <a:off x="5334303" y="-1026795"/>
              <a:ext cx="148589" cy="148589"/>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25400" cap="rnd">
              <a:solidFill>
                <a:schemeClr val="bg1"/>
              </a:soli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Segoe UI"/>
                <a:ea typeface="+mn-ea"/>
                <a:cs typeface="Segoe UI" pitchFamily="34" charset="0"/>
              </a:endParaRPr>
            </a:p>
          </p:txBody>
        </p:sp>
      </p:grpSp>
      <p:sp>
        <p:nvSpPr>
          <p:cNvPr id="10" name="Title 9">
            <a:extLst>
              <a:ext uri="{FF2B5EF4-FFF2-40B4-BE49-F238E27FC236}">
                <a16:creationId xmlns:a16="http://schemas.microsoft.com/office/drawing/2014/main" id="{37120404-23B9-B744-0816-1D0C351C9B66}"/>
              </a:ext>
            </a:extLst>
          </p:cNvPr>
          <p:cNvSpPr>
            <a:spLocks noGrp="1"/>
          </p:cNvSpPr>
          <p:nvPr>
            <p:ph type="title"/>
          </p:nvPr>
        </p:nvSpPr>
        <p:spPr>
          <a:xfrm>
            <a:off x="2492556" y="429376"/>
            <a:ext cx="4144817" cy="276999"/>
          </a:xfrm>
        </p:spPr>
        <p:txBody>
          <a:bodyPr/>
          <a:lstStyle>
            <a:lvl1pPr>
              <a:defRPr lang="en-IN" sz="1800" kern="1200" spc="-50" baseline="0" dirty="0">
                <a:solidFill>
                  <a:schemeClr val="tx1"/>
                </a:solidFill>
                <a:latin typeface="+mj-lt"/>
                <a:ea typeface="+mn-ea"/>
                <a:cs typeface="Segoe UI" panose="020B0502040204020203" pitchFamily="34" charset="0"/>
              </a:defRPr>
            </a:lvl1pPr>
          </a:lstStyle>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pPr>
            <a:r>
              <a:rPr lang="en-US"/>
              <a:t>Click to edit Master title style</a:t>
            </a:r>
            <a:endParaRPr lang="en-IN"/>
          </a:p>
        </p:txBody>
      </p:sp>
      <p:sp>
        <p:nvSpPr>
          <p:cNvPr id="5" name="Text Placeholder 70">
            <a:extLst>
              <a:ext uri="{FF2B5EF4-FFF2-40B4-BE49-F238E27FC236}">
                <a16:creationId xmlns:a16="http://schemas.microsoft.com/office/drawing/2014/main" id="{BECC6E1E-CB20-24F2-9CE6-B77C08524D07}"/>
              </a:ext>
            </a:extLst>
          </p:cNvPr>
          <p:cNvSpPr>
            <a:spLocks noGrp="1"/>
          </p:cNvSpPr>
          <p:nvPr>
            <p:ph type="body" sz="quarter" idx="33"/>
          </p:nvPr>
        </p:nvSpPr>
        <p:spPr>
          <a:xfrm>
            <a:off x="304796" y="413987"/>
            <a:ext cx="1941119" cy="307777"/>
          </a:xfrm>
        </p:spPr>
        <p:txBody>
          <a:bodyPr anchor="ctr"/>
          <a:lstStyle>
            <a:lvl1pPr marL="0" indent="0">
              <a:spcBef>
                <a:spcPts val="0"/>
              </a:spcBef>
              <a:buNone/>
              <a:defRPr sz="2000" spc="-50" baseline="0">
                <a:solidFill>
                  <a:schemeClr val="bg1"/>
                </a:solidFill>
                <a:latin typeface="+mj-lt"/>
              </a:defRPr>
            </a:lvl1pPr>
            <a:lvl2pPr marL="228600" indent="0">
              <a:buNone/>
              <a:defRPr/>
            </a:lvl2pPr>
          </a:lstStyle>
          <a:p>
            <a:pPr lvl="0"/>
            <a:r>
              <a:rPr lang="en-US"/>
              <a:t>Click to edit</a:t>
            </a:r>
          </a:p>
        </p:txBody>
      </p:sp>
      <p:sp>
        <p:nvSpPr>
          <p:cNvPr id="74" name="Licenses">
            <a:extLst>
              <a:ext uri="{FF2B5EF4-FFF2-40B4-BE49-F238E27FC236}">
                <a16:creationId xmlns:a16="http://schemas.microsoft.com/office/drawing/2014/main" id="{E442F0DF-3967-354D-A17D-A2229F6B3036}"/>
              </a:ext>
            </a:extLst>
          </p:cNvPr>
          <p:cNvSpPr>
            <a:spLocks noGrp="1"/>
          </p:cNvSpPr>
          <p:nvPr userDrawn="1">
            <p:ph type="body" sz="quarter" idx="44"/>
          </p:nvPr>
        </p:nvSpPr>
        <p:spPr>
          <a:xfrm>
            <a:off x="7149557" y="521100"/>
            <a:ext cx="2969488" cy="169277"/>
          </a:xfrm>
        </p:spPr>
        <p:txBody>
          <a:bodyPr/>
          <a:lstStyle>
            <a:lvl1pPr marL="0" indent="0" algn="r">
              <a:spcBef>
                <a:spcPts val="0"/>
              </a:spcBef>
              <a:buNone/>
              <a:defRPr sz="1100" b="1" i="0" spc="0" baseline="0">
                <a:solidFill>
                  <a:srgbClr val="C03BC4"/>
                </a:solidFill>
                <a:latin typeface="+mj-lt"/>
                <a:cs typeface="Segoe UI Semibold" panose="020B0502040204020203" pitchFamily="34" charset="0"/>
              </a:defRPr>
            </a:lvl1pPr>
            <a:lvl2pPr marL="228600" indent="0" algn="r">
              <a:spcBef>
                <a:spcPts val="0"/>
              </a:spcBef>
              <a:buNone/>
              <a:defRPr sz="1100" spc="-20" baseline="0">
                <a:solidFill>
                  <a:srgbClr val="B1B3B3"/>
                </a:solidFill>
              </a:defRPr>
            </a:lvl2pPr>
            <a:lvl3pPr algn="r">
              <a:defRPr/>
            </a:lvl3pPr>
            <a:lvl4pPr algn="r">
              <a:defRPr/>
            </a:lvl4pPr>
            <a:lvl5pPr algn="r">
              <a:defRPr/>
            </a:lvl5pPr>
          </a:lstStyle>
          <a:p>
            <a:pPr lvl="0"/>
            <a:r>
              <a:rPr lang="en-US"/>
              <a:t>Click to edit</a:t>
            </a:r>
          </a:p>
        </p:txBody>
      </p:sp>
      <p:sp>
        <p:nvSpPr>
          <p:cNvPr id="72" name="Level">
            <a:extLst>
              <a:ext uri="{FF2B5EF4-FFF2-40B4-BE49-F238E27FC236}">
                <a16:creationId xmlns:a16="http://schemas.microsoft.com/office/drawing/2014/main" id="{0CD96223-5C6F-D226-0888-B8E8522B7793}"/>
              </a:ext>
            </a:extLst>
          </p:cNvPr>
          <p:cNvSpPr>
            <a:spLocks noGrp="1"/>
          </p:cNvSpPr>
          <p:nvPr userDrawn="1">
            <p:ph type="body" sz="quarter" idx="43"/>
          </p:nvPr>
        </p:nvSpPr>
        <p:spPr>
          <a:xfrm>
            <a:off x="10430351" y="521099"/>
            <a:ext cx="1456966" cy="175614"/>
          </a:xfrm>
        </p:spPr>
        <p:txBody>
          <a:bodyPr/>
          <a:lstStyle>
            <a:lvl1pPr marL="0" indent="0" algn="r">
              <a:spcBef>
                <a:spcPts val="0"/>
              </a:spcBef>
              <a:buNone/>
              <a:defRPr sz="1100" b="1" i="0" spc="0" baseline="0">
                <a:solidFill>
                  <a:srgbClr val="0078D4"/>
                </a:solidFill>
                <a:latin typeface="+mj-lt"/>
                <a:cs typeface="Segoe UI Semibold" panose="020B0502040204020203" pitchFamily="34" charset="0"/>
              </a:defRPr>
            </a:lvl1pPr>
            <a:lvl2pPr marL="228600" indent="0" algn="r">
              <a:spcBef>
                <a:spcPts val="0"/>
              </a:spcBef>
              <a:buNone/>
              <a:defRPr sz="1100" spc="-20" baseline="0">
                <a:solidFill>
                  <a:srgbClr val="B1B3B3"/>
                </a:solidFill>
              </a:defRPr>
            </a:lvl2pPr>
            <a:lvl3pPr algn="r">
              <a:defRPr/>
            </a:lvl3pPr>
            <a:lvl4pPr algn="r">
              <a:defRPr/>
            </a:lvl4pPr>
            <a:lvl5pPr algn="r">
              <a:defRPr/>
            </a:lvl5pPr>
          </a:lstStyle>
          <a:p>
            <a:r>
              <a:rPr lang="en-US"/>
              <a:t>Click to edit</a:t>
            </a:r>
          </a:p>
        </p:txBody>
      </p:sp>
      <p:sp>
        <p:nvSpPr>
          <p:cNvPr id="14" name="Step 5 Top">
            <a:extLst>
              <a:ext uri="{FF2B5EF4-FFF2-40B4-BE49-F238E27FC236}">
                <a16:creationId xmlns:a16="http://schemas.microsoft.com/office/drawing/2014/main" id="{5F6FC536-93D3-A645-6321-E19971F6F7AD}"/>
              </a:ext>
            </a:extLst>
          </p:cNvPr>
          <p:cNvSpPr>
            <a:spLocks noGrp="1"/>
          </p:cNvSpPr>
          <p:nvPr>
            <p:ph type="body" sz="quarter" idx="42"/>
          </p:nvPr>
        </p:nvSpPr>
        <p:spPr>
          <a:xfrm>
            <a:off x="311388" y="1026303"/>
            <a:ext cx="2431246" cy="1131079"/>
          </a:xfrm>
        </p:spPr>
        <p:txBody>
          <a:bodyPr lIns="0" tIns="0" rIns="0" bIns="0">
            <a:noAutofit/>
          </a:bodyPr>
          <a:lstStyle>
            <a:lvl1pPr marL="0" indent="0">
              <a:spcBef>
                <a:spcPts val="0"/>
              </a:spcBef>
              <a:buNone/>
              <a:defRPr kumimoji="0" lang="en-US" sz="1050" b="0" i="0" u="none" strike="noStrike" kern="100" cap="none" normalizeH="0" baseline="0" dirty="0">
                <a:ln>
                  <a:noFill/>
                </a:ln>
                <a:solidFill>
                  <a:schemeClr val="tx1"/>
                </a:solidFill>
                <a:effectLst/>
                <a:uLnTx/>
                <a:uFillTx/>
                <a:latin typeface="+mn-lt"/>
                <a:ea typeface="Aptos" panose="020B0004020202020204" pitchFamily="34" charset="0"/>
                <a:cs typeface="Times New Roman" panose="02020603050405020304" pitchFamily="18" charset="0"/>
              </a:defRPr>
            </a:lvl1pPr>
          </a:lstStyle>
          <a:p>
            <a:pPr marL="0" marR="0" lvl="0" indent="0" algn="l" defTabSz="914400" rtl="0" eaLnBrk="1" fontAlgn="auto" latinLnBrk="0" hangingPunct="1">
              <a:spcBef>
                <a:spcPts val="0"/>
              </a:spcBef>
              <a:spcAft>
                <a:spcPts val="0"/>
              </a:spcAft>
              <a:buClrTx/>
              <a:buSzTx/>
              <a:buFontTx/>
              <a:buNone/>
              <a:tabLst/>
              <a:defRPr/>
            </a:pPr>
            <a:r>
              <a:rPr lang="en-US"/>
              <a:t>Click to edit Master text styles</a:t>
            </a:r>
          </a:p>
        </p:txBody>
      </p:sp>
      <p:sp>
        <p:nvSpPr>
          <p:cNvPr id="153" name="Text Placeholder 8">
            <a:extLst>
              <a:ext uri="{FF2B5EF4-FFF2-40B4-BE49-F238E27FC236}">
                <a16:creationId xmlns:a16="http://schemas.microsoft.com/office/drawing/2014/main" id="{20290FDF-B386-A402-3F54-8F38D89E3855}"/>
              </a:ext>
            </a:extLst>
          </p:cNvPr>
          <p:cNvSpPr>
            <a:spLocks noGrp="1"/>
          </p:cNvSpPr>
          <p:nvPr>
            <p:ph type="body" sz="quarter" idx="65"/>
          </p:nvPr>
        </p:nvSpPr>
        <p:spPr>
          <a:xfrm>
            <a:off x="320721" y="3467940"/>
            <a:ext cx="1131650" cy="219456"/>
          </a:xfrm>
          <a:prstGeom prst="roundRect">
            <a:avLst>
              <a:gd name="adj" fmla="val 50000"/>
            </a:avLst>
          </a:prstGeom>
          <a:solidFill>
            <a:srgbClr val="0078D4"/>
          </a:solidFill>
          <a:ln w="12700">
            <a:solidFill>
              <a:srgbClr val="0078D4"/>
            </a:solidFill>
          </a:ln>
          <a:effectLst>
            <a:outerShdw blurRad="63500" dist="63500" dir="2700000" algn="tl" rotWithShape="0">
              <a:prstClr val="black">
                <a:alpha val="20000"/>
              </a:prstClr>
            </a:outerShdw>
          </a:effectLst>
        </p:spPr>
        <p:txBody>
          <a:bodyPr lIns="0" tIns="36576" rIns="0" bIns="36576" anchor="ctr">
            <a:noAutofit/>
          </a:bodyPr>
          <a:lstStyle>
            <a:lvl1pPr marL="0" indent="0" algn="ctr">
              <a:buNone/>
              <a:defRPr sz="900">
                <a:solidFill>
                  <a:schemeClr val="bg1"/>
                </a:solidFill>
                <a:latin typeface="+mj-lt"/>
              </a:defRPr>
            </a:lvl1pPr>
            <a:lvl2pPr marL="228600" indent="0">
              <a:buNone/>
              <a:defRPr/>
            </a:lvl2pPr>
          </a:lstStyle>
          <a:p>
            <a:pPr lvl="0"/>
            <a:r>
              <a:rPr lang="en-US"/>
              <a:t>Click to edit</a:t>
            </a:r>
          </a:p>
        </p:txBody>
      </p:sp>
      <p:sp>
        <p:nvSpPr>
          <p:cNvPr id="152" name="Text Placeholder 8">
            <a:extLst>
              <a:ext uri="{FF2B5EF4-FFF2-40B4-BE49-F238E27FC236}">
                <a16:creationId xmlns:a16="http://schemas.microsoft.com/office/drawing/2014/main" id="{CC259F50-FF88-8A52-A7A2-B916E54D0007}"/>
              </a:ext>
            </a:extLst>
          </p:cNvPr>
          <p:cNvSpPr>
            <a:spLocks noGrp="1"/>
          </p:cNvSpPr>
          <p:nvPr>
            <p:ph type="body" sz="quarter" idx="64"/>
          </p:nvPr>
        </p:nvSpPr>
        <p:spPr>
          <a:xfrm>
            <a:off x="320721" y="4709762"/>
            <a:ext cx="1131651" cy="219456"/>
          </a:xfrm>
          <a:prstGeom prst="roundRect">
            <a:avLst>
              <a:gd name="adj" fmla="val 50000"/>
            </a:avLst>
          </a:prstGeom>
          <a:solidFill>
            <a:srgbClr val="C03BC4"/>
          </a:solidFill>
          <a:ln w="12700">
            <a:solidFill>
              <a:srgbClr val="C03BC4"/>
            </a:solidFill>
          </a:ln>
          <a:effectLst>
            <a:outerShdw blurRad="63500" dist="63500" dir="2700000" algn="tl" rotWithShape="0">
              <a:prstClr val="black">
                <a:alpha val="20000"/>
              </a:prstClr>
            </a:outerShdw>
          </a:effectLst>
        </p:spPr>
        <p:txBody>
          <a:bodyPr lIns="0" tIns="36576" rIns="0" bIns="36576" anchor="ctr">
            <a:noAutofit/>
          </a:bodyPr>
          <a:lstStyle>
            <a:lvl1pPr marL="0" indent="0" algn="ctr">
              <a:buNone/>
              <a:defRPr sz="900">
                <a:solidFill>
                  <a:schemeClr val="bg1"/>
                </a:solidFill>
                <a:latin typeface="+mj-lt"/>
              </a:defRPr>
            </a:lvl1pPr>
            <a:lvl2pPr marL="228600" indent="0">
              <a:buNone/>
              <a:defRPr/>
            </a:lvl2pPr>
          </a:lstStyle>
          <a:p>
            <a:pPr lvl="0"/>
            <a:r>
              <a:rPr lang="en-US"/>
              <a:t>Click to edit</a:t>
            </a:r>
          </a:p>
        </p:txBody>
      </p:sp>
      <p:sp>
        <p:nvSpPr>
          <p:cNvPr id="104" name="Step 1 Title">
            <a:extLst>
              <a:ext uri="{FF2B5EF4-FFF2-40B4-BE49-F238E27FC236}">
                <a16:creationId xmlns:a16="http://schemas.microsoft.com/office/drawing/2014/main" id="{AAECE90F-E2FD-C50D-2380-5A623E6E68CC}"/>
              </a:ext>
            </a:extLst>
          </p:cNvPr>
          <p:cNvSpPr>
            <a:spLocks noGrp="1"/>
          </p:cNvSpPr>
          <p:nvPr userDrawn="1">
            <p:ph type="body" sz="quarter" idx="47"/>
          </p:nvPr>
        </p:nvSpPr>
        <p:spPr>
          <a:xfrm>
            <a:off x="3182890" y="1112478"/>
            <a:ext cx="2572262" cy="153888"/>
          </a:xfrm>
          <a:prstGeom prst="rect">
            <a:avLst/>
          </a:prstGeom>
          <a:noFill/>
          <a:effectLst/>
        </p:spPr>
        <p:txBody>
          <a:bodyPr lIns="0" tIns="0" rIns="0" bIns="0" anchor="ctr" anchorCtr="0">
            <a:spAutoFit/>
          </a:bodyPr>
          <a:lstStyle>
            <a:lvl1pPr marL="114300" indent="-114300" algn="l">
              <a:buSzPct val="100000"/>
              <a:buFont typeface="+mj-lt"/>
              <a:buAutoNum type="arabicPeriod"/>
              <a:defRPr sz="1000" b="0" i="0">
                <a:solidFill>
                  <a:schemeClr val="tx1"/>
                </a:solidFill>
                <a:latin typeface="+mj-lt"/>
                <a:cs typeface="Segoe UI Semibold" panose="020B0502040204020203" pitchFamily="34" charset="0"/>
              </a:defRPr>
            </a:lvl1pPr>
          </a:lstStyle>
          <a:p>
            <a:pPr lvl="0"/>
            <a:r>
              <a:rPr lang="en-US"/>
              <a:t>Click to edit Master text styles</a:t>
            </a:r>
          </a:p>
        </p:txBody>
      </p:sp>
      <p:sp>
        <p:nvSpPr>
          <p:cNvPr id="110" name="Step 1 Top">
            <a:extLst>
              <a:ext uri="{FF2B5EF4-FFF2-40B4-BE49-F238E27FC236}">
                <a16:creationId xmlns:a16="http://schemas.microsoft.com/office/drawing/2014/main" id="{A10522D6-287E-CAF9-7877-202543AC084D}"/>
              </a:ext>
            </a:extLst>
          </p:cNvPr>
          <p:cNvSpPr>
            <a:spLocks noGrp="1"/>
          </p:cNvSpPr>
          <p:nvPr userDrawn="1">
            <p:ph type="body" sz="quarter" idx="48"/>
          </p:nvPr>
        </p:nvSpPr>
        <p:spPr>
          <a:xfrm>
            <a:off x="3182890" y="1438715"/>
            <a:ext cx="2572262" cy="626701"/>
          </a:xfrm>
        </p:spPr>
        <p:txBody>
          <a:bodyPr lIns="0" tIns="0" rIns="0" bIns="0">
            <a:noAutofit/>
          </a:bodyPr>
          <a:lstStyle>
            <a:lvl1pPr marL="0" indent="0">
              <a:spcBef>
                <a:spcPts val="0"/>
              </a:spcBef>
              <a:buNone/>
              <a:defRPr sz="900"/>
            </a:lvl1pPr>
          </a:lstStyle>
          <a:p>
            <a:pPr lvl="0"/>
            <a:r>
              <a:rPr lang="en-US"/>
              <a:t>Click to edit Master text styles</a:t>
            </a:r>
          </a:p>
        </p:txBody>
      </p:sp>
      <p:sp>
        <p:nvSpPr>
          <p:cNvPr id="102" name="Text Placeholder 11">
            <a:extLst>
              <a:ext uri="{FF2B5EF4-FFF2-40B4-BE49-F238E27FC236}">
                <a16:creationId xmlns:a16="http://schemas.microsoft.com/office/drawing/2014/main" id="{899216D1-14EF-7DC6-A6A8-3649535AF5ED}"/>
              </a:ext>
            </a:extLst>
          </p:cNvPr>
          <p:cNvSpPr>
            <a:spLocks noGrp="1"/>
          </p:cNvSpPr>
          <p:nvPr>
            <p:ph type="body" sz="quarter" idx="46"/>
          </p:nvPr>
        </p:nvSpPr>
        <p:spPr>
          <a:xfrm>
            <a:off x="3182889" y="2725494"/>
            <a:ext cx="2572262" cy="712876"/>
          </a:xfrm>
          <a:prstGeom prst="roundRect">
            <a:avLst>
              <a:gd name="adj" fmla="val 9576"/>
            </a:avLst>
          </a:prstGeom>
          <a:solidFill>
            <a:schemeClr val="bg1">
              <a:lumMod val="95000"/>
              <a:alpha val="50000"/>
            </a:schemeClr>
          </a:solidFill>
        </p:spPr>
        <p:txBody>
          <a:bodyPr lIns="0" tIns="0" rIns="0" bIns="0" anchor="t">
            <a:noAutofit/>
          </a:bodyPr>
          <a:lstStyle>
            <a:lvl1pPr marL="0" indent="0">
              <a:spcBef>
                <a:spcPts val="0"/>
              </a:spcBef>
              <a:spcAft>
                <a:spcPts val="100"/>
              </a:spcAft>
              <a:buNone/>
              <a:defRPr sz="900"/>
            </a:lvl1pPr>
            <a:lvl2pPr marL="0" indent="0">
              <a:spcBef>
                <a:spcPts val="0"/>
              </a:spcBef>
              <a:spcAft>
                <a:spcPts val="200"/>
              </a:spcAft>
              <a:buNone/>
              <a:defRPr sz="900"/>
            </a:lvl2pPr>
            <a:lvl3pPr marL="0" indent="0">
              <a:spcBef>
                <a:spcPts val="0"/>
              </a:spcBef>
              <a:spcAft>
                <a:spcPts val="100"/>
              </a:spcAft>
              <a:buNone/>
              <a:defRPr sz="900">
                <a:latin typeface="+mj-lt"/>
              </a:defRPr>
            </a:lvl3pPr>
            <a:lvl4pPr marL="0" indent="0" algn="l">
              <a:buNone/>
              <a:defRPr sz="900">
                <a:latin typeface="+mj-lt"/>
              </a:defRPr>
            </a:lvl4pPr>
            <a:lvl5pPr>
              <a:defRPr/>
            </a:lvl5pPr>
          </a:lstStyle>
          <a:p>
            <a:pPr lvl="0"/>
            <a:r>
              <a:rPr lang="en-US"/>
              <a:t>Click to edit Master text styles</a:t>
            </a:r>
          </a:p>
          <a:p>
            <a:pPr lvl="3"/>
            <a:r>
              <a:rPr lang="en-US"/>
              <a:t>Level 2</a:t>
            </a:r>
          </a:p>
        </p:txBody>
      </p:sp>
      <p:sp>
        <p:nvSpPr>
          <p:cNvPr id="114" name="Step 1 Title">
            <a:extLst>
              <a:ext uri="{FF2B5EF4-FFF2-40B4-BE49-F238E27FC236}">
                <a16:creationId xmlns:a16="http://schemas.microsoft.com/office/drawing/2014/main" id="{AFF8CAD5-73C9-15E8-C15B-5669E59EDF22}"/>
              </a:ext>
            </a:extLst>
          </p:cNvPr>
          <p:cNvSpPr>
            <a:spLocks noGrp="1"/>
          </p:cNvSpPr>
          <p:nvPr userDrawn="1">
            <p:ph type="body" sz="quarter" idx="49"/>
          </p:nvPr>
        </p:nvSpPr>
        <p:spPr>
          <a:xfrm>
            <a:off x="6066682" y="1112478"/>
            <a:ext cx="2572262" cy="153888"/>
          </a:xfrm>
          <a:prstGeom prst="rect">
            <a:avLst/>
          </a:prstGeom>
          <a:noFill/>
          <a:effectLst/>
        </p:spPr>
        <p:txBody>
          <a:bodyPr lIns="0" tIns="0" rIns="0" bIns="0" anchor="ctr" anchorCtr="0">
            <a:spAutoFit/>
          </a:bodyPr>
          <a:lstStyle>
            <a:lvl1pPr marL="114300" indent="-114300" algn="l">
              <a:buSzPct val="100000"/>
              <a:buFont typeface="+mj-lt"/>
              <a:buAutoNum type="arabicPeriod" startAt="2"/>
              <a:defRPr sz="1000" b="0" i="0">
                <a:solidFill>
                  <a:schemeClr val="tx1"/>
                </a:solidFill>
                <a:latin typeface="+mj-lt"/>
                <a:cs typeface="Segoe UI Semibold" panose="020B0502040204020203" pitchFamily="34" charset="0"/>
              </a:defRPr>
            </a:lvl1pPr>
          </a:lstStyle>
          <a:p>
            <a:pPr lvl="0"/>
            <a:r>
              <a:rPr lang="en-US"/>
              <a:t>Click to edit Master text styles</a:t>
            </a:r>
          </a:p>
        </p:txBody>
      </p:sp>
      <p:sp>
        <p:nvSpPr>
          <p:cNvPr id="119" name="Step 1 Top">
            <a:extLst>
              <a:ext uri="{FF2B5EF4-FFF2-40B4-BE49-F238E27FC236}">
                <a16:creationId xmlns:a16="http://schemas.microsoft.com/office/drawing/2014/main" id="{CBBB447E-62C7-3EE8-58FD-A63BA4091DC2}"/>
              </a:ext>
            </a:extLst>
          </p:cNvPr>
          <p:cNvSpPr>
            <a:spLocks noGrp="1"/>
          </p:cNvSpPr>
          <p:nvPr userDrawn="1">
            <p:ph type="body" sz="quarter" idx="50"/>
          </p:nvPr>
        </p:nvSpPr>
        <p:spPr>
          <a:xfrm>
            <a:off x="6066682" y="1438715"/>
            <a:ext cx="2572262" cy="626701"/>
          </a:xfrm>
        </p:spPr>
        <p:txBody>
          <a:bodyPr lIns="0" tIns="0" rIns="0" bIns="0">
            <a:noAutofit/>
          </a:bodyPr>
          <a:lstStyle>
            <a:lvl1pPr marL="0" indent="0">
              <a:spcBef>
                <a:spcPts val="0"/>
              </a:spcBef>
              <a:buNone/>
              <a:defRPr sz="900"/>
            </a:lvl1pPr>
          </a:lstStyle>
          <a:p>
            <a:pPr lvl="0"/>
            <a:r>
              <a:rPr lang="en-US"/>
              <a:t>Click to edit Master text styles</a:t>
            </a:r>
          </a:p>
        </p:txBody>
      </p:sp>
      <p:sp>
        <p:nvSpPr>
          <p:cNvPr id="3" name="Text Placeholder 11">
            <a:extLst>
              <a:ext uri="{FF2B5EF4-FFF2-40B4-BE49-F238E27FC236}">
                <a16:creationId xmlns:a16="http://schemas.microsoft.com/office/drawing/2014/main" id="{F6E7EFF7-AB37-8C10-0D72-C219A327442B}"/>
              </a:ext>
            </a:extLst>
          </p:cNvPr>
          <p:cNvSpPr>
            <a:spLocks noGrp="1"/>
          </p:cNvSpPr>
          <p:nvPr>
            <p:ph type="body" sz="quarter" idx="66"/>
          </p:nvPr>
        </p:nvSpPr>
        <p:spPr>
          <a:xfrm>
            <a:off x="6066682" y="2725494"/>
            <a:ext cx="2572262" cy="712876"/>
          </a:xfrm>
          <a:prstGeom prst="roundRect">
            <a:avLst>
              <a:gd name="adj" fmla="val 9576"/>
            </a:avLst>
          </a:prstGeom>
          <a:solidFill>
            <a:schemeClr val="bg1">
              <a:lumMod val="95000"/>
              <a:alpha val="50000"/>
            </a:schemeClr>
          </a:solidFill>
        </p:spPr>
        <p:txBody>
          <a:bodyPr lIns="0" tIns="0" rIns="0" bIns="0" anchor="t">
            <a:noAutofit/>
          </a:bodyPr>
          <a:lstStyle>
            <a:lvl1pPr marL="0" indent="0">
              <a:spcBef>
                <a:spcPts val="0"/>
              </a:spcBef>
              <a:spcAft>
                <a:spcPts val="100"/>
              </a:spcAft>
              <a:buNone/>
              <a:defRPr sz="900"/>
            </a:lvl1pPr>
            <a:lvl2pPr marL="0" indent="0">
              <a:spcBef>
                <a:spcPts val="0"/>
              </a:spcBef>
              <a:spcAft>
                <a:spcPts val="200"/>
              </a:spcAft>
              <a:buNone/>
              <a:defRPr sz="900"/>
            </a:lvl2pPr>
            <a:lvl3pPr marL="0" indent="0">
              <a:spcBef>
                <a:spcPts val="0"/>
              </a:spcBef>
              <a:spcAft>
                <a:spcPts val="100"/>
              </a:spcAft>
              <a:buNone/>
              <a:defRPr sz="900">
                <a:latin typeface="+mj-lt"/>
              </a:defRPr>
            </a:lvl3pPr>
            <a:lvl4pPr marL="0" indent="0" algn="l">
              <a:buNone/>
              <a:defRPr sz="900">
                <a:latin typeface="+mj-lt"/>
              </a:defRPr>
            </a:lvl4pPr>
            <a:lvl5pPr>
              <a:defRPr/>
            </a:lvl5pPr>
          </a:lstStyle>
          <a:p>
            <a:pPr lvl="0"/>
            <a:r>
              <a:rPr lang="en-US"/>
              <a:t>Click to edit Master text styles</a:t>
            </a:r>
          </a:p>
          <a:p>
            <a:pPr lvl="3"/>
            <a:r>
              <a:rPr lang="en-US"/>
              <a:t>Level 2</a:t>
            </a:r>
          </a:p>
        </p:txBody>
      </p:sp>
      <p:sp>
        <p:nvSpPr>
          <p:cNvPr id="127" name="Step 1 Title">
            <a:extLst>
              <a:ext uri="{FF2B5EF4-FFF2-40B4-BE49-F238E27FC236}">
                <a16:creationId xmlns:a16="http://schemas.microsoft.com/office/drawing/2014/main" id="{DC3628C0-ED08-9682-4738-5B06F7C21C56}"/>
              </a:ext>
            </a:extLst>
          </p:cNvPr>
          <p:cNvSpPr>
            <a:spLocks noGrp="1"/>
          </p:cNvSpPr>
          <p:nvPr userDrawn="1">
            <p:ph type="body" sz="quarter" idx="52"/>
          </p:nvPr>
        </p:nvSpPr>
        <p:spPr>
          <a:xfrm>
            <a:off x="8950475" y="1112478"/>
            <a:ext cx="2572262" cy="153888"/>
          </a:xfrm>
          <a:prstGeom prst="rect">
            <a:avLst/>
          </a:prstGeom>
          <a:noFill/>
          <a:effectLst/>
        </p:spPr>
        <p:txBody>
          <a:bodyPr lIns="0" tIns="0" rIns="0" bIns="0" anchor="ctr" anchorCtr="0">
            <a:spAutoFit/>
          </a:bodyPr>
          <a:lstStyle>
            <a:lvl1pPr marL="114300" indent="-114300" algn="l">
              <a:buSzPct val="100000"/>
              <a:buFont typeface="+mj-lt"/>
              <a:buAutoNum type="arabicPeriod" startAt="3"/>
              <a:defRPr sz="1000" b="0" i="0">
                <a:solidFill>
                  <a:schemeClr val="tx1"/>
                </a:solidFill>
                <a:latin typeface="+mj-lt"/>
                <a:cs typeface="Segoe UI Semibold" panose="020B0502040204020203" pitchFamily="34" charset="0"/>
              </a:defRPr>
            </a:lvl1pPr>
          </a:lstStyle>
          <a:p>
            <a:pPr lvl="0"/>
            <a:r>
              <a:rPr lang="en-US"/>
              <a:t>Click to edit Master text styles</a:t>
            </a:r>
          </a:p>
        </p:txBody>
      </p:sp>
      <p:sp>
        <p:nvSpPr>
          <p:cNvPr id="128" name="Step 1 Top">
            <a:extLst>
              <a:ext uri="{FF2B5EF4-FFF2-40B4-BE49-F238E27FC236}">
                <a16:creationId xmlns:a16="http://schemas.microsoft.com/office/drawing/2014/main" id="{E91EBCF2-F3C6-3640-61AD-0C42AE3B6C92}"/>
              </a:ext>
            </a:extLst>
          </p:cNvPr>
          <p:cNvSpPr>
            <a:spLocks noGrp="1"/>
          </p:cNvSpPr>
          <p:nvPr userDrawn="1">
            <p:ph type="body" sz="quarter" idx="53"/>
          </p:nvPr>
        </p:nvSpPr>
        <p:spPr>
          <a:xfrm>
            <a:off x="8950475" y="1438715"/>
            <a:ext cx="2572262" cy="626701"/>
          </a:xfrm>
        </p:spPr>
        <p:txBody>
          <a:bodyPr lIns="0" tIns="0" rIns="0" bIns="0">
            <a:noAutofit/>
          </a:bodyPr>
          <a:lstStyle>
            <a:lvl1pPr marL="0" indent="0">
              <a:spcBef>
                <a:spcPts val="0"/>
              </a:spcBef>
              <a:buNone/>
              <a:defRPr sz="900"/>
            </a:lvl1pPr>
          </a:lstStyle>
          <a:p>
            <a:pPr lvl="0"/>
            <a:r>
              <a:rPr lang="en-US"/>
              <a:t>Click to edit Master text styles</a:t>
            </a:r>
          </a:p>
        </p:txBody>
      </p:sp>
      <p:sp>
        <p:nvSpPr>
          <p:cNvPr id="4" name="Text Placeholder 11">
            <a:extLst>
              <a:ext uri="{FF2B5EF4-FFF2-40B4-BE49-F238E27FC236}">
                <a16:creationId xmlns:a16="http://schemas.microsoft.com/office/drawing/2014/main" id="{6820393F-A448-2E4C-089D-807F9DC2A07E}"/>
              </a:ext>
            </a:extLst>
          </p:cNvPr>
          <p:cNvSpPr>
            <a:spLocks noGrp="1"/>
          </p:cNvSpPr>
          <p:nvPr>
            <p:ph type="body" sz="quarter" idx="67"/>
          </p:nvPr>
        </p:nvSpPr>
        <p:spPr>
          <a:xfrm>
            <a:off x="8950475" y="2725494"/>
            <a:ext cx="2572262" cy="712876"/>
          </a:xfrm>
          <a:prstGeom prst="roundRect">
            <a:avLst>
              <a:gd name="adj" fmla="val 9576"/>
            </a:avLst>
          </a:prstGeom>
          <a:solidFill>
            <a:schemeClr val="bg1">
              <a:lumMod val="95000"/>
              <a:alpha val="50000"/>
            </a:schemeClr>
          </a:solidFill>
        </p:spPr>
        <p:txBody>
          <a:bodyPr lIns="0" tIns="0" rIns="0" bIns="0" anchor="t">
            <a:noAutofit/>
          </a:bodyPr>
          <a:lstStyle>
            <a:lvl1pPr marL="0" indent="0">
              <a:spcBef>
                <a:spcPts val="0"/>
              </a:spcBef>
              <a:spcAft>
                <a:spcPts val="100"/>
              </a:spcAft>
              <a:buNone/>
              <a:defRPr sz="900"/>
            </a:lvl1pPr>
            <a:lvl2pPr marL="0" indent="0">
              <a:spcBef>
                <a:spcPts val="0"/>
              </a:spcBef>
              <a:spcAft>
                <a:spcPts val="200"/>
              </a:spcAft>
              <a:buNone/>
              <a:defRPr sz="900"/>
            </a:lvl2pPr>
            <a:lvl3pPr marL="0" indent="0">
              <a:spcBef>
                <a:spcPts val="0"/>
              </a:spcBef>
              <a:spcAft>
                <a:spcPts val="100"/>
              </a:spcAft>
              <a:buNone/>
              <a:defRPr sz="900">
                <a:latin typeface="+mj-lt"/>
              </a:defRPr>
            </a:lvl3pPr>
            <a:lvl4pPr marL="0" indent="0" algn="l">
              <a:buNone/>
              <a:defRPr sz="900">
                <a:latin typeface="+mj-lt"/>
              </a:defRPr>
            </a:lvl4pPr>
            <a:lvl5pPr>
              <a:defRPr/>
            </a:lvl5pPr>
          </a:lstStyle>
          <a:p>
            <a:pPr lvl="0"/>
            <a:r>
              <a:rPr lang="en-US"/>
              <a:t>Click to edit Master text styles</a:t>
            </a:r>
          </a:p>
          <a:p>
            <a:pPr lvl="3"/>
            <a:r>
              <a:rPr lang="en-US"/>
              <a:t>Level 2</a:t>
            </a:r>
          </a:p>
        </p:txBody>
      </p:sp>
      <p:sp>
        <p:nvSpPr>
          <p:cNvPr id="145" name="Footnote">
            <a:extLst>
              <a:ext uri="{FF2B5EF4-FFF2-40B4-BE49-F238E27FC236}">
                <a16:creationId xmlns:a16="http://schemas.microsoft.com/office/drawing/2014/main" id="{EFC765AC-7584-A8D3-1059-43D998733533}"/>
              </a:ext>
            </a:extLst>
          </p:cNvPr>
          <p:cNvSpPr txBox="1">
            <a:spLocks/>
          </p:cNvSpPr>
          <p:nvPr userDrawn="1"/>
        </p:nvSpPr>
        <p:spPr>
          <a:xfrm>
            <a:off x="320040" y="6309360"/>
            <a:ext cx="9597418" cy="430887"/>
          </a:xfrm>
          <a:prstGeom prst="rect">
            <a:avLst/>
          </a:prstGeom>
        </p:spPr>
        <p:txBody>
          <a:bodyPr vert="horz" wrap="square" lIns="0" tIns="0" rIns="0" bIns="0" rtlCol="0">
            <a:sp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7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700" b="0" i="0" u="none" strike="noStrike" kern="1200" cap="none" spc="0" normalizeH="0" baseline="30000" noProof="0" dirty="0">
                <a:ln>
                  <a:noFill/>
                </a:ln>
                <a:solidFill>
                  <a:srgbClr val="000000"/>
                </a:solidFill>
                <a:effectLst/>
                <a:uLnTx/>
                <a:uFillTx/>
                <a:latin typeface="Segoe UI"/>
                <a:ea typeface="+mn-ea"/>
                <a:cs typeface="Segoe UI" panose="020B0502040204020203" pitchFamily="34" charset="0"/>
              </a:rPr>
              <a:t>1</a:t>
            </a:r>
            <a:r>
              <a:rPr kumimoji="0" lang="en-US" sz="7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Access M365 Copilot Chat at </a:t>
            </a:r>
            <a:r>
              <a:rPr kumimoji="0" lang="en-US" sz="7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hlinkClick r:id="rId2"/>
              </a:rPr>
              <a:t>m365copilot.com</a:t>
            </a:r>
            <a:r>
              <a:rPr kumimoji="0" lang="en-US" sz="7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 or the Microsoft 365 Copilot Chat mobile app and set toggle to “Web”.</a:t>
            </a:r>
          </a:p>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700" b="0" i="0" u="none" strike="noStrike" kern="1200" cap="none" spc="0" normalizeH="0" baseline="30000" noProof="0" dirty="0">
                <a:ln>
                  <a:noFill/>
                </a:ln>
                <a:solidFill>
                  <a:srgbClr val="000000"/>
                </a:solidFill>
                <a:effectLst/>
                <a:uLnTx/>
                <a:uFillTx/>
                <a:latin typeface="Segoe UI"/>
                <a:ea typeface="+mn-ea"/>
                <a:cs typeface="Segoe UI" panose="020B0502040204020203" pitchFamily="34" charset="0"/>
              </a:rPr>
              <a:t>2</a:t>
            </a:r>
            <a:r>
              <a:rPr kumimoji="0" lang="en-US" sz="7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Access M365 Copilot Chat at </a:t>
            </a:r>
            <a:r>
              <a:rPr kumimoji="0" lang="en-US" sz="7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hlinkClick r:id="rId2"/>
              </a:rPr>
              <a:t>m365copilot.com</a:t>
            </a:r>
            <a:r>
              <a:rPr kumimoji="0" lang="en-US" sz="7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 the Microsoft 365 Copilot Chat mobile app, or the M365 Copilot Chat app in Teams, and set toggle to “Work”.</a:t>
            </a:r>
          </a:p>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700" b="0" i="0" u="none" strike="noStrike" kern="1200" cap="none" spc="0" normalizeH="0" baseline="30000" noProof="0" dirty="0">
                <a:ln>
                  <a:noFill/>
                </a:ln>
                <a:solidFill>
                  <a:srgbClr val="000000"/>
                </a:solidFill>
                <a:effectLst/>
                <a:uLnTx/>
                <a:uFillTx/>
                <a:latin typeface="Segoe UI"/>
                <a:ea typeface="+mn-ea"/>
                <a:cs typeface="Segoe UI" panose="020B0502040204020203" pitchFamily="34" charset="0"/>
              </a:rPr>
              <a:t>3</a:t>
            </a:r>
            <a:r>
              <a:rPr kumimoji="0" lang="en-US" sz="7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AI Agents allow Copilot to access your organization-specific apps. In the past this would have required an API call to get data from a system of record.</a:t>
            </a:r>
          </a:p>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7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The content in this example scenario is for demonstration purposes only. You should evaluate how Copilot aligns with your organization’s business processes, regulatory requirements, and responsible AI principles.</a:t>
            </a:r>
          </a:p>
        </p:txBody>
      </p:sp>
    </p:spTree>
    <p:extLst>
      <p:ext uri="{BB962C8B-B14F-4D97-AF65-F5344CB8AC3E}">
        <p14:creationId xmlns:p14="http://schemas.microsoft.com/office/powerpoint/2010/main" val="336991043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8">
          <p15:clr>
            <a:srgbClr val="A4A3A4"/>
          </p15:clr>
        </p15:guide>
        <p15:guide id="11" pos="2150">
          <p15:clr>
            <a:srgbClr val="A4A3A4"/>
          </p15:clr>
        </p15:guide>
        <p15:guide id="12" pos="2561">
          <p15:clr>
            <a:srgbClr val="A4A3A4"/>
          </p15:clr>
        </p15:guide>
        <p15:guide id="13" pos="2760">
          <p15:clr>
            <a:srgbClr val="A4A3A4"/>
          </p15:clr>
        </p15:guide>
        <p15:guide id="14" pos="3155">
          <p15:clr>
            <a:srgbClr val="A4A3A4"/>
          </p15:clr>
        </p15:guide>
        <p15:guide id="15" pos="3352">
          <p15:clr>
            <a:srgbClr val="A4A3A4"/>
          </p15:clr>
        </p15:guide>
        <p15:guide id="16" pos="3749">
          <p15:clr>
            <a:srgbClr val="A4A3A4"/>
          </p15:clr>
        </p15:guide>
        <p15:guide id="17" pos="3932">
          <p15:clr>
            <a:srgbClr val="A4A3A4"/>
          </p15:clr>
        </p15:guide>
        <p15:guide id="18" pos="4344">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888">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ay in the life six steps">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hasCustomPrompt="1"/>
          </p:nvPr>
        </p:nvSpPr>
        <p:spPr>
          <a:xfrm>
            <a:off x="584200" y="387766"/>
            <a:ext cx="5672544" cy="526298"/>
          </a:xfrm>
        </p:spPr>
        <p:txBody>
          <a:bodyPr tIns="0"/>
          <a:lstStyle>
            <a:lvl1pPr>
              <a:lnSpc>
                <a:spcPct val="95000"/>
              </a:lnSpc>
              <a:defRPr sz="1800" spc="0">
                <a:latin typeface="+mj-lt"/>
                <a:cs typeface="Segoe UI" panose="020B0502040204020203" pitchFamily="34" charset="0"/>
              </a:defRPr>
            </a:lvl1pPr>
          </a:lstStyle>
          <a:p>
            <a:r>
              <a:rPr lang="en-US"/>
              <a:t>Click to edit Master title style; can be up to two lines long; lorem ipsum dolor sit </a:t>
            </a:r>
            <a:r>
              <a:rPr lang="en-US" err="1"/>
              <a:t>amet</a:t>
            </a:r>
            <a:r>
              <a:rPr lang="en-US"/>
              <a:t> </a:t>
            </a:r>
            <a:r>
              <a:rPr lang="en-US" err="1"/>
              <a:t>consectetur</a:t>
            </a:r>
            <a:endParaRPr lang="en-US"/>
          </a:p>
        </p:txBody>
      </p:sp>
      <p:sp>
        <p:nvSpPr>
          <p:cNvPr id="75" name="Scenario Level">
            <a:extLst>
              <a:ext uri="{FF2B5EF4-FFF2-40B4-BE49-F238E27FC236}">
                <a16:creationId xmlns:a16="http://schemas.microsoft.com/office/drawing/2014/main" id="{1BB75DAB-4D8A-2933-BB52-0C94AA4816E3}"/>
              </a:ext>
            </a:extLst>
          </p:cNvPr>
          <p:cNvSpPr txBox="1"/>
          <p:nvPr userDrawn="1"/>
        </p:nvSpPr>
        <p:spPr>
          <a:xfrm>
            <a:off x="10955436" y="351933"/>
            <a:ext cx="931764" cy="153888"/>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1" u="none" strike="noStrike" kern="1200" cap="none" spc="0" normalizeH="0" baseline="0" noProof="0" dirty="0">
                <a:ln>
                  <a:noFill/>
                </a:ln>
                <a:solidFill>
                  <a:srgbClr val="000000"/>
                </a:solidFill>
                <a:effectLst/>
                <a:uLnTx/>
                <a:uFillTx/>
                <a:latin typeface="Segoe UI Semibold" panose="020B0502040204020203" pitchFamily="34" charset="0"/>
                <a:cs typeface="Segoe UI Semibold" panose="020B0502040204020203" pitchFamily="34" charset="0"/>
              </a:rPr>
              <a:t>Scenario level:</a:t>
            </a:r>
          </a:p>
        </p:txBody>
      </p:sp>
      <p:sp>
        <p:nvSpPr>
          <p:cNvPr id="3" name="Level">
            <a:extLst>
              <a:ext uri="{FF2B5EF4-FFF2-40B4-BE49-F238E27FC236}">
                <a16:creationId xmlns:a16="http://schemas.microsoft.com/office/drawing/2014/main" id="{78D71A05-3479-3DEB-1227-2FC98983A80C}"/>
              </a:ext>
            </a:extLst>
          </p:cNvPr>
          <p:cNvSpPr>
            <a:spLocks noGrp="1"/>
          </p:cNvSpPr>
          <p:nvPr>
            <p:ph type="body" sz="quarter" idx="37" hasCustomPrompt="1"/>
          </p:nvPr>
        </p:nvSpPr>
        <p:spPr>
          <a:xfrm>
            <a:off x="10430234" y="521099"/>
            <a:ext cx="1456966" cy="175614"/>
          </a:xfrm>
        </p:spPr>
        <p:txBody>
          <a:bodyPr/>
          <a:lstStyle>
            <a:lvl1pPr marL="0" indent="0" algn="r">
              <a:spcBef>
                <a:spcPts val="0"/>
              </a:spcBef>
              <a:buNone/>
              <a:defRPr sz="1100" b="1" i="0" spc="-20" baseline="0">
                <a:solidFill>
                  <a:srgbClr val="0078D4"/>
                </a:solidFill>
                <a:latin typeface="Segoe UI Semibold" panose="020B0502040204020203" pitchFamily="34" charset="0"/>
                <a:cs typeface="Segoe UI Semibold" panose="020B0502040204020203" pitchFamily="34" charset="0"/>
              </a:defRPr>
            </a:lvl1pPr>
            <a:lvl2pPr marL="228600" indent="0" algn="r">
              <a:spcBef>
                <a:spcPts val="0"/>
              </a:spcBef>
              <a:buNone/>
              <a:defRPr sz="1100" spc="-20" baseline="0">
                <a:solidFill>
                  <a:srgbClr val="B1B3B3"/>
                </a:solidFill>
              </a:defRPr>
            </a:lvl2pPr>
            <a:lvl3pPr algn="r">
              <a:defRPr/>
            </a:lvl3pPr>
            <a:lvl4pPr algn="r">
              <a:defRPr/>
            </a:lvl4pPr>
            <a:lvl5pPr algn="r">
              <a:defRPr/>
            </a:lvl5pPr>
          </a:lstStyle>
          <a:p>
            <a:r>
              <a:rPr lang="en-US"/>
              <a:t>Buy</a:t>
            </a:r>
          </a:p>
        </p:txBody>
      </p:sp>
      <p:sp>
        <p:nvSpPr>
          <p:cNvPr id="84" name="Available With">
            <a:extLst>
              <a:ext uri="{FF2B5EF4-FFF2-40B4-BE49-F238E27FC236}">
                <a16:creationId xmlns:a16="http://schemas.microsoft.com/office/drawing/2014/main" id="{8D8427AA-F015-D373-46E2-2EB1053D80CE}"/>
              </a:ext>
            </a:extLst>
          </p:cNvPr>
          <p:cNvSpPr txBox="1"/>
          <p:nvPr userDrawn="1"/>
        </p:nvSpPr>
        <p:spPr>
          <a:xfrm>
            <a:off x="9187165" y="351933"/>
            <a:ext cx="931764" cy="153888"/>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1" u="none" strike="noStrike" kern="1200" cap="none" spc="0" normalizeH="0" baseline="0" noProof="0" dirty="0">
                <a:ln>
                  <a:noFill/>
                </a:ln>
                <a:solidFill>
                  <a:srgbClr val="000000"/>
                </a:solidFill>
                <a:effectLst/>
                <a:uLnTx/>
                <a:uFillTx/>
                <a:latin typeface="Segoe UI Semibold" panose="020B0502040204020203" pitchFamily="34" charset="0"/>
                <a:cs typeface="Segoe UI Semibold" panose="020B0502040204020203" pitchFamily="34" charset="0"/>
              </a:rPr>
              <a:t>Available with:</a:t>
            </a:r>
          </a:p>
        </p:txBody>
      </p:sp>
      <p:cxnSp>
        <p:nvCxnSpPr>
          <p:cNvPr id="86" name="Straight Connector 85">
            <a:extLst>
              <a:ext uri="{FF2B5EF4-FFF2-40B4-BE49-F238E27FC236}">
                <a16:creationId xmlns:a16="http://schemas.microsoft.com/office/drawing/2014/main" id="{4216CED8-8F45-B380-FB1B-B9408979340F}"/>
              </a:ext>
            </a:extLst>
          </p:cNvPr>
          <p:cNvCxnSpPr/>
          <p:nvPr userDrawn="1"/>
        </p:nvCxnSpPr>
        <p:spPr>
          <a:xfrm>
            <a:off x="10357672" y="358721"/>
            <a:ext cx="0" cy="331655"/>
          </a:xfrm>
          <a:prstGeom prst="line">
            <a:avLst/>
          </a:prstGeom>
          <a:ln>
            <a:solidFill>
              <a:srgbClr val="B1B3B3"/>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03" name="License">
            <a:extLst>
              <a:ext uri="{FF2B5EF4-FFF2-40B4-BE49-F238E27FC236}">
                <a16:creationId xmlns:a16="http://schemas.microsoft.com/office/drawing/2014/main" id="{6B562108-00FE-5F42-7550-13BB7DE58EA1}"/>
              </a:ext>
            </a:extLst>
          </p:cNvPr>
          <p:cNvSpPr>
            <a:spLocks noGrp="1"/>
          </p:cNvSpPr>
          <p:nvPr>
            <p:ph type="body" sz="quarter" idx="17" hasCustomPrompt="1"/>
          </p:nvPr>
        </p:nvSpPr>
        <p:spPr>
          <a:xfrm>
            <a:off x="6519107" y="521099"/>
            <a:ext cx="3599821" cy="169277"/>
          </a:xfrm>
        </p:spPr>
        <p:txBody>
          <a:bodyPr/>
          <a:lstStyle>
            <a:lvl1pPr marL="0" indent="0" algn="r">
              <a:spcBef>
                <a:spcPts val="0"/>
              </a:spcBef>
              <a:buNone/>
              <a:defRPr sz="1100" b="1" i="0" spc="-20" baseline="0">
                <a:solidFill>
                  <a:srgbClr val="C03BC4"/>
                </a:solidFill>
                <a:latin typeface="Segoe UI Semibold" panose="020B0502040204020203" pitchFamily="34" charset="0"/>
                <a:cs typeface="Segoe UI Semibold" panose="020B0502040204020203" pitchFamily="34" charset="0"/>
              </a:defRPr>
            </a:lvl1pPr>
            <a:lvl2pPr marL="228600" indent="0" algn="r">
              <a:spcBef>
                <a:spcPts val="0"/>
              </a:spcBef>
              <a:buNone/>
              <a:defRPr sz="1100" spc="-20" baseline="0">
                <a:solidFill>
                  <a:srgbClr val="B1B3B3"/>
                </a:solidFill>
              </a:defRPr>
            </a:lvl2pPr>
            <a:lvl3pPr algn="r">
              <a:defRPr/>
            </a:lvl3pPr>
            <a:lvl4pPr algn="r">
              <a:defRPr/>
            </a:lvl4pPr>
            <a:lvl5pPr algn="r">
              <a:defRPr/>
            </a:lvl5pPr>
          </a:lstStyle>
          <a:p>
            <a:pPr lvl="0"/>
            <a:r>
              <a:rPr lang="en-US"/>
              <a:t>Microsoft 365 Copilot</a:t>
            </a:r>
          </a:p>
        </p:txBody>
      </p:sp>
      <p:sp>
        <p:nvSpPr>
          <p:cNvPr id="119" name="Freeform: Shape 2">
            <a:extLst>
              <a:ext uri="{FF2B5EF4-FFF2-40B4-BE49-F238E27FC236}">
                <a16:creationId xmlns:a16="http://schemas.microsoft.com/office/drawing/2014/main" id="{DFCC0CE5-9BBF-33A2-43D3-995556541219}"/>
              </a:ext>
              <a:ext uri="{C183D7F6-B498-43B3-948B-1728B52AA6E4}">
                <adec:decorative xmlns:adec="http://schemas.microsoft.com/office/drawing/2017/decorative" val="1"/>
              </a:ext>
            </a:extLst>
          </p:cNvPr>
          <p:cNvSpPr/>
          <p:nvPr userDrawn="1"/>
        </p:nvSpPr>
        <p:spPr bwMode="auto">
          <a:xfrm>
            <a:off x="-1" y="1857513"/>
            <a:ext cx="10010265" cy="2453282"/>
          </a:xfrm>
          <a:custGeom>
            <a:avLst/>
            <a:gdLst>
              <a:gd name="connsiteX0" fmla="*/ 0 w 9070975"/>
              <a:gd name="connsiteY0" fmla="*/ 0 h 2491048"/>
              <a:gd name="connsiteX1" fmla="*/ 8850592 w 9070975"/>
              <a:gd name="connsiteY1" fmla="*/ 0 h 2491048"/>
              <a:gd name="connsiteX2" fmla="*/ 9070975 w 9070975"/>
              <a:gd name="connsiteY2" fmla="*/ 220383 h 2491048"/>
              <a:gd name="connsiteX3" fmla="*/ 9070975 w 9070975"/>
              <a:gd name="connsiteY3" fmla="*/ 2270665 h 2491048"/>
              <a:gd name="connsiteX4" fmla="*/ 8850592 w 9070975"/>
              <a:gd name="connsiteY4" fmla="*/ 2491048 h 2491048"/>
              <a:gd name="connsiteX5" fmla="*/ 0 w 9070975"/>
              <a:gd name="connsiteY5" fmla="*/ 2491048 h 2491048"/>
              <a:gd name="connsiteX0" fmla="*/ 25400 w 9096375"/>
              <a:gd name="connsiteY0" fmla="*/ 0 h 2491048"/>
              <a:gd name="connsiteX1" fmla="*/ 8875992 w 9096375"/>
              <a:gd name="connsiteY1" fmla="*/ 0 h 2491048"/>
              <a:gd name="connsiteX2" fmla="*/ 9096375 w 9096375"/>
              <a:gd name="connsiteY2" fmla="*/ 220383 h 2491048"/>
              <a:gd name="connsiteX3" fmla="*/ 9096375 w 9096375"/>
              <a:gd name="connsiteY3" fmla="*/ 2270665 h 2491048"/>
              <a:gd name="connsiteX4" fmla="*/ 8875992 w 9096375"/>
              <a:gd name="connsiteY4" fmla="*/ 2491048 h 2491048"/>
              <a:gd name="connsiteX5" fmla="*/ 25400 w 9096375"/>
              <a:gd name="connsiteY5" fmla="*/ 2491048 h 2491048"/>
              <a:gd name="connsiteX6" fmla="*/ 0 w 9096375"/>
              <a:gd name="connsiteY6" fmla="*/ 1182948 h 2491048"/>
              <a:gd name="connsiteX7" fmla="*/ 25400 w 9096375"/>
              <a:gd name="connsiteY7" fmla="*/ 0 h 2491048"/>
              <a:gd name="connsiteX0" fmla="*/ 0 w 9096375"/>
              <a:gd name="connsiteY0" fmla="*/ 1182948 h 2491048"/>
              <a:gd name="connsiteX1" fmla="*/ 25400 w 9096375"/>
              <a:gd name="connsiteY1" fmla="*/ 0 h 2491048"/>
              <a:gd name="connsiteX2" fmla="*/ 8875992 w 9096375"/>
              <a:gd name="connsiteY2" fmla="*/ 0 h 2491048"/>
              <a:gd name="connsiteX3" fmla="*/ 9096375 w 9096375"/>
              <a:gd name="connsiteY3" fmla="*/ 220383 h 2491048"/>
              <a:gd name="connsiteX4" fmla="*/ 9096375 w 9096375"/>
              <a:gd name="connsiteY4" fmla="*/ 2270665 h 2491048"/>
              <a:gd name="connsiteX5" fmla="*/ 8875992 w 9096375"/>
              <a:gd name="connsiteY5" fmla="*/ 2491048 h 2491048"/>
              <a:gd name="connsiteX6" fmla="*/ 25400 w 9096375"/>
              <a:gd name="connsiteY6" fmla="*/ 2491048 h 2491048"/>
              <a:gd name="connsiteX7" fmla="*/ 91440 w 9096375"/>
              <a:gd name="connsiteY7" fmla="*/ 1274388 h 2491048"/>
              <a:gd name="connsiteX0" fmla="*/ 0 w 9096375"/>
              <a:gd name="connsiteY0" fmla="*/ 1182948 h 2491048"/>
              <a:gd name="connsiteX1" fmla="*/ 25400 w 9096375"/>
              <a:gd name="connsiteY1" fmla="*/ 0 h 2491048"/>
              <a:gd name="connsiteX2" fmla="*/ 8875992 w 9096375"/>
              <a:gd name="connsiteY2" fmla="*/ 0 h 2491048"/>
              <a:gd name="connsiteX3" fmla="*/ 9096375 w 9096375"/>
              <a:gd name="connsiteY3" fmla="*/ 220383 h 2491048"/>
              <a:gd name="connsiteX4" fmla="*/ 9096375 w 9096375"/>
              <a:gd name="connsiteY4" fmla="*/ 2270665 h 2491048"/>
              <a:gd name="connsiteX5" fmla="*/ 8875992 w 9096375"/>
              <a:gd name="connsiteY5" fmla="*/ 2491048 h 2491048"/>
              <a:gd name="connsiteX6" fmla="*/ 25400 w 9096375"/>
              <a:gd name="connsiteY6" fmla="*/ 2491048 h 2491048"/>
              <a:gd name="connsiteX0" fmla="*/ 0 w 9070975"/>
              <a:gd name="connsiteY0" fmla="*/ 0 h 2491048"/>
              <a:gd name="connsiteX1" fmla="*/ 8850592 w 9070975"/>
              <a:gd name="connsiteY1" fmla="*/ 0 h 2491048"/>
              <a:gd name="connsiteX2" fmla="*/ 9070975 w 9070975"/>
              <a:gd name="connsiteY2" fmla="*/ 220383 h 2491048"/>
              <a:gd name="connsiteX3" fmla="*/ 9070975 w 9070975"/>
              <a:gd name="connsiteY3" fmla="*/ 2270665 h 2491048"/>
              <a:gd name="connsiteX4" fmla="*/ 8850592 w 9070975"/>
              <a:gd name="connsiteY4" fmla="*/ 2491048 h 2491048"/>
              <a:gd name="connsiteX5" fmla="*/ 0 w 9070975"/>
              <a:gd name="connsiteY5" fmla="*/ 2491048 h 2491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070975" h="2491048">
                <a:moveTo>
                  <a:pt x="0" y="0"/>
                </a:moveTo>
                <a:lnTo>
                  <a:pt x="8850592" y="0"/>
                </a:lnTo>
                <a:cubicBezTo>
                  <a:pt x="8972306" y="0"/>
                  <a:pt x="9070975" y="98669"/>
                  <a:pt x="9070975" y="220383"/>
                </a:cubicBezTo>
                <a:lnTo>
                  <a:pt x="9070975" y="2270665"/>
                </a:lnTo>
                <a:cubicBezTo>
                  <a:pt x="9070975" y="2392379"/>
                  <a:pt x="8972306" y="2491048"/>
                  <a:pt x="8850592" y="2491048"/>
                </a:cubicBezTo>
                <a:lnTo>
                  <a:pt x="0" y="2491048"/>
                </a:lnTo>
              </a:path>
            </a:pathLst>
          </a:custGeom>
          <a:ln w="15875" cap="flat">
            <a:gradFill flip="none" rotWithShape="1">
              <a:gsLst>
                <a:gs pos="0">
                  <a:srgbClr val="0078D4"/>
                </a:gs>
                <a:gs pos="100000">
                  <a:schemeClr val="accent3"/>
                </a:gs>
              </a:gsLst>
              <a:lin ang="0" scaled="1"/>
              <a:tileRect/>
            </a:gra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Segoe UI"/>
              <a:ea typeface="+mn-ea"/>
              <a:cs typeface="Segoe UI" pitchFamily="34" charset="0"/>
            </a:endParaRPr>
          </a:p>
        </p:txBody>
      </p:sp>
      <p:grpSp>
        <p:nvGrpSpPr>
          <p:cNvPr id="147" name="Group 146">
            <a:extLst>
              <a:ext uri="{FF2B5EF4-FFF2-40B4-BE49-F238E27FC236}">
                <a16:creationId xmlns:a16="http://schemas.microsoft.com/office/drawing/2014/main" id="{F3E1CBA9-BB11-EF2E-649E-27B49E82FE86}"/>
              </a:ext>
            </a:extLst>
          </p:cNvPr>
          <p:cNvGrpSpPr/>
          <p:nvPr userDrawn="1"/>
        </p:nvGrpSpPr>
        <p:grpSpPr>
          <a:xfrm>
            <a:off x="3476832" y="1793093"/>
            <a:ext cx="166152" cy="166152"/>
            <a:chOff x="5214995" y="-1168400"/>
            <a:chExt cx="431800" cy="431800"/>
          </a:xfrm>
        </p:grpSpPr>
        <p:sp>
          <p:nvSpPr>
            <p:cNvPr id="148" name="Oval 147">
              <a:extLst>
                <a:ext uri="{FF2B5EF4-FFF2-40B4-BE49-F238E27FC236}">
                  <a16:creationId xmlns:a16="http://schemas.microsoft.com/office/drawing/2014/main" id="{E54C8AC7-0DF2-A7B4-59BC-354BDE9A823D}"/>
                </a:ext>
              </a:extLst>
            </p:cNvPr>
            <p:cNvSpPr/>
            <p:nvPr/>
          </p:nvSpPr>
          <p:spPr bwMode="auto">
            <a:xfrm>
              <a:off x="5214995" y="-1168400"/>
              <a:ext cx="431800" cy="431800"/>
            </a:xfrm>
            <a:prstGeom prst="ellipse">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FFFFFF"/>
                </a:solidFill>
                <a:effectLst/>
                <a:uLnTx/>
                <a:uFillTx/>
                <a:latin typeface="Segoe UI"/>
                <a:ea typeface="Segoe UI" pitchFamily="34" charset="0"/>
                <a:cs typeface="Segoe UI" pitchFamily="34" charset="0"/>
              </a:endParaRPr>
            </a:p>
          </p:txBody>
        </p:sp>
        <p:sp>
          <p:nvSpPr>
            <p:cNvPr id="149" name="Rectangle 89">
              <a:extLst>
                <a:ext uri="{FF2B5EF4-FFF2-40B4-BE49-F238E27FC236}">
                  <a16:creationId xmlns:a16="http://schemas.microsoft.com/office/drawing/2014/main" id="{F0376496-3125-ED18-7608-C142A0C35F33}"/>
                </a:ext>
              </a:extLst>
            </p:cNvPr>
            <p:cNvSpPr/>
            <p:nvPr/>
          </p:nvSpPr>
          <p:spPr bwMode="auto">
            <a:xfrm rot="2700000">
              <a:off x="5303185" y="-1042110"/>
              <a:ext cx="179220" cy="179220"/>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15875" cap="rnd">
              <a:gradFill flip="none" rotWithShape="1">
                <a:gsLst>
                  <a:gs pos="0">
                    <a:srgbClr val="0078D4"/>
                  </a:gs>
                  <a:gs pos="100000">
                    <a:schemeClr val="accent3"/>
                  </a:gs>
                </a:gsLst>
                <a:lin ang="0" scaled="1"/>
                <a:tileRect/>
              </a:gra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Segoe UI"/>
                <a:ea typeface="+mn-ea"/>
                <a:cs typeface="Segoe UI" pitchFamily="34" charset="0"/>
              </a:endParaRPr>
            </a:p>
          </p:txBody>
        </p:sp>
      </p:grpSp>
      <p:grpSp>
        <p:nvGrpSpPr>
          <p:cNvPr id="150" name="Group 149">
            <a:extLst>
              <a:ext uri="{FF2B5EF4-FFF2-40B4-BE49-F238E27FC236}">
                <a16:creationId xmlns:a16="http://schemas.microsoft.com/office/drawing/2014/main" id="{3D3E10AB-B82F-F7E8-A33D-8AF61C784420}"/>
              </a:ext>
            </a:extLst>
          </p:cNvPr>
          <p:cNvGrpSpPr/>
          <p:nvPr userDrawn="1"/>
        </p:nvGrpSpPr>
        <p:grpSpPr>
          <a:xfrm>
            <a:off x="6669529" y="1793093"/>
            <a:ext cx="166152" cy="166152"/>
            <a:chOff x="5214995" y="-1168400"/>
            <a:chExt cx="431800" cy="431800"/>
          </a:xfrm>
        </p:grpSpPr>
        <p:sp>
          <p:nvSpPr>
            <p:cNvPr id="151" name="Oval 150">
              <a:extLst>
                <a:ext uri="{FF2B5EF4-FFF2-40B4-BE49-F238E27FC236}">
                  <a16:creationId xmlns:a16="http://schemas.microsoft.com/office/drawing/2014/main" id="{CC526CF7-4F8D-6DB9-E3E9-2381E7AFAF4A}"/>
                </a:ext>
              </a:extLst>
            </p:cNvPr>
            <p:cNvSpPr/>
            <p:nvPr/>
          </p:nvSpPr>
          <p:spPr bwMode="auto">
            <a:xfrm>
              <a:off x="5214995" y="-1168400"/>
              <a:ext cx="431800" cy="431800"/>
            </a:xfrm>
            <a:prstGeom prst="ellipse">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FFFFFF"/>
                </a:solidFill>
                <a:effectLst/>
                <a:uLnTx/>
                <a:uFillTx/>
                <a:latin typeface="Segoe UI"/>
                <a:ea typeface="+mn-ea"/>
                <a:cs typeface="Segoe UI" pitchFamily="34" charset="0"/>
              </a:endParaRPr>
            </a:p>
          </p:txBody>
        </p:sp>
        <p:sp>
          <p:nvSpPr>
            <p:cNvPr id="152" name="Rectangle 89">
              <a:extLst>
                <a:ext uri="{FF2B5EF4-FFF2-40B4-BE49-F238E27FC236}">
                  <a16:creationId xmlns:a16="http://schemas.microsoft.com/office/drawing/2014/main" id="{63E3BD4D-8045-49DC-2041-46643AE5ED02}"/>
                </a:ext>
              </a:extLst>
            </p:cNvPr>
            <p:cNvSpPr/>
            <p:nvPr/>
          </p:nvSpPr>
          <p:spPr bwMode="auto">
            <a:xfrm rot="2700000">
              <a:off x="5303185" y="-1042110"/>
              <a:ext cx="179220" cy="179220"/>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15875" cap="rnd">
              <a:gradFill flip="none" rotWithShape="1">
                <a:gsLst>
                  <a:gs pos="0">
                    <a:srgbClr val="0078D4"/>
                  </a:gs>
                  <a:gs pos="100000">
                    <a:schemeClr val="accent3"/>
                  </a:gs>
                </a:gsLst>
                <a:lin ang="0" scaled="1"/>
                <a:tileRect/>
              </a:gra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Segoe UI"/>
                <a:ea typeface="+mn-ea"/>
                <a:cs typeface="Segoe UI" pitchFamily="34" charset="0"/>
              </a:endParaRPr>
            </a:p>
          </p:txBody>
        </p:sp>
      </p:grpSp>
      <p:grpSp>
        <p:nvGrpSpPr>
          <p:cNvPr id="153" name="Group 152">
            <a:extLst>
              <a:ext uri="{FF2B5EF4-FFF2-40B4-BE49-F238E27FC236}">
                <a16:creationId xmlns:a16="http://schemas.microsoft.com/office/drawing/2014/main" id="{816F1C59-4D7D-3BDD-0560-654E11A9B15E}"/>
              </a:ext>
            </a:extLst>
          </p:cNvPr>
          <p:cNvGrpSpPr/>
          <p:nvPr userDrawn="1"/>
        </p:nvGrpSpPr>
        <p:grpSpPr>
          <a:xfrm flipH="1">
            <a:off x="3476832" y="4248344"/>
            <a:ext cx="166152" cy="166152"/>
            <a:chOff x="5214995" y="-1168400"/>
            <a:chExt cx="431800" cy="431800"/>
          </a:xfrm>
        </p:grpSpPr>
        <p:sp>
          <p:nvSpPr>
            <p:cNvPr id="154" name="Oval 153">
              <a:extLst>
                <a:ext uri="{FF2B5EF4-FFF2-40B4-BE49-F238E27FC236}">
                  <a16:creationId xmlns:a16="http://schemas.microsoft.com/office/drawing/2014/main" id="{A0C410FC-F149-F1FA-B620-BF7F0EDE7D6C}"/>
                </a:ext>
              </a:extLst>
            </p:cNvPr>
            <p:cNvSpPr/>
            <p:nvPr/>
          </p:nvSpPr>
          <p:spPr bwMode="auto">
            <a:xfrm>
              <a:off x="5214995" y="-1168400"/>
              <a:ext cx="431800" cy="431800"/>
            </a:xfrm>
            <a:prstGeom prst="ellipse">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FFFFFF"/>
                </a:solidFill>
                <a:effectLst/>
                <a:uLnTx/>
                <a:uFillTx/>
                <a:latin typeface="Segoe UI"/>
                <a:ea typeface="+mn-ea"/>
                <a:cs typeface="Segoe UI" pitchFamily="34" charset="0"/>
              </a:endParaRPr>
            </a:p>
          </p:txBody>
        </p:sp>
        <p:sp>
          <p:nvSpPr>
            <p:cNvPr id="155" name="Rectangle 89">
              <a:extLst>
                <a:ext uri="{FF2B5EF4-FFF2-40B4-BE49-F238E27FC236}">
                  <a16:creationId xmlns:a16="http://schemas.microsoft.com/office/drawing/2014/main" id="{5B5C9B65-59ED-2529-1E53-C9ABE9CB79FD}"/>
                </a:ext>
              </a:extLst>
            </p:cNvPr>
            <p:cNvSpPr/>
            <p:nvPr/>
          </p:nvSpPr>
          <p:spPr bwMode="auto">
            <a:xfrm rot="2700000">
              <a:off x="5303185" y="-1042110"/>
              <a:ext cx="179220" cy="179220"/>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15875" cap="rnd">
              <a:gradFill flip="none" rotWithShape="1">
                <a:gsLst>
                  <a:gs pos="0">
                    <a:srgbClr val="0078D4"/>
                  </a:gs>
                  <a:gs pos="100000">
                    <a:schemeClr val="accent3"/>
                  </a:gs>
                </a:gsLst>
                <a:lin ang="0" scaled="1"/>
                <a:tileRect/>
              </a:gra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Segoe UI"/>
                <a:ea typeface="+mn-ea"/>
                <a:cs typeface="Segoe UI" pitchFamily="34" charset="0"/>
              </a:endParaRPr>
            </a:p>
          </p:txBody>
        </p:sp>
      </p:grpSp>
      <p:grpSp>
        <p:nvGrpSpPr>
          <p:cNvPr id="156" name="Group 155">
            <a:extLst>
              <a:ext uri="{FF2B5EF4-FFF2-40B4-BE49-F238E27FC236}">
                <a16:creationId xmlns:a16="http://schemas.microsoft.com/office/drawing/2014/main" id="{28DAF83D-E0BD-BE8E-ECEC-5E5EDE3E6C74}"/>
              </a:ext>
            </a:extLst>
          </p:cNvPr>
          <p:cNvGrpSpPr/>
          <p:nvPr userDrawn="1"/>
        </p:nvGrpSpPr>
        <p:grpSpPr>
          <a:xfrm flipH="1">
            <a:off x="6669529" y="4248344"/>
            <a:ext cx="166152" cy="166152"/>
            <a:chOff x="5214995" y="-1168400"/>
            <a:chExt cx="431800" cy="431800"/>
          </a:xfrm>
        </p:grpSpPr>
        <p:sp>
          <p:nvSpPr>
            <p:cNvPr id="157" name="Oval 156">
              <a:extLst>
                <a:ext uri="{FF2B5EF4-FFF2-40B4-BE49-F238E27FC236}">
                  <a16:creationId xmlns:a16="http://schemas.microsoft.com/office/drawing/2014/main" id="{2CC39567-C008-3C38-03DA-28EE0BE74832}"/>
                </a:ext>
              </a:extLst>
            </p:cNvPr>
            <p:cNvSpPr/>
            <p:nvPr/>
          </p:nvSpPr>
          <p:spPr bwMode="auto">
            <a:xfrm>
              <a:off x="5214995" y="-1168400"/>
              <a:ext cx="431800" cy="431800"/>
            </a:xfrm>
            <a:prstGeom prst="ellipse">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FFFFFF"/>
                </a:solidFill>
                <a:effectLst/>
                <a:uLnTx/>
                <a:uFillTx/>
                <a:latin typeface="Segoe UI"/>
                <a:ea typeface="+mn-ea"/>
                <a:cs typeface="Segoe UI" pitchFamily="34" charset="0"/>
              </a:endParaRPr>
            </a:p>
          </p:txBody>
        </p:sp>
        <p:sp>
          <p:nvSpPr>
            <p:cNvPr id="158" name="Rectangle 89">
              <a:extLst>
                <a:ext uri="{FF2B5EF4-FFF2-40B4-BE49-F238E27FC236}">
                  <a16:creationId xmlns:a16="http://schemas.microsoft.com/office/drawing/2014/main" id="{99B2574B-7594-72E2-E826-4D4DA471A11A}"/>
                </a:ext>
              </a:extLst>
            </p:cNvPr>
            <p:cNvSpPr/>
            <p:nvPr/>
          </p:nvSpPr>
          <p:spPr bwMode="auto">
            <a:xfrm rot="2700000">
              <a:off x="5303185" y="-1042110"/>
              <a:ext cx="179220" cy="179220"/>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15875" cap="rnd">
              <a:gradFill flip="none" rotWithShape="1">
                <a:gsLst>
                  <a:gs pos="0">
                    <a:srgbClr val="0078D4"/>
                  </a:gs>
                  <a:gs pos="100000">
                    <a:schemeClr val="accent3"/>
                  </a:gs>
                </a:gsLst>
                <a:lin ang="0" scaled="1"/>
                <a:tileRect/>
              </a:gra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Segoe UI"/>
                <a:ea typeface="+mn-ea"/>
                <a:cs typeface="Segoe UI" pitchFamily="34" charset="0"/>
              </a:endParaRPr>
            </a:p>
          </p:txBody>
        </p:sp>
      </p:grpSp>
      <p:grpSp>
        <p:nvGrpSpPr>
          <p:cNvPr id="177" name="Group 176">
            <a:extLst>
              <a:ext uri="{FF2B5EF4-FFF2-40B4-BE49-F238E27FC236}">
                <a16:creationId xmlns:a16="http://schemas.microsoft.com/office/drawing/2014/main" id="{E60DF7C5-E7F6-A90D-706C-6592ECDDB338}"/>
              </a:ext>
            </a:extLst>
          </p:cNvPr>
          <p:cNvGrpSpPr/>
          <p:nvPr userDrawn="1"/>
        </p:nvGrpSpPr>
        <p:grpSpPr>
          <a:xfrm rot="5400000">
            <a:off x="9928103" y="2233511"/>
            <a:ext cx="166152" cy="166152"/>
            <a:chOff x="5214995" y="-1168400"/>
            <a:chExt cx="431800" cy="431800"/>
          </a:xfrm>
        </p:grpSpPr>
        <p:sp>
          <p:nvSpPr>
            <p:cNvPr id="178" name="Oval 177">
              <a:extLst>
                <a:ext uri="{FF2B5EF4-FFF2-40B4-BE49-F238E27FC236}">
                  <a16:creationId xmlns:a16="http://schemas.microsoft.com/office/drawing/2014/main" id="{11A9EA57-349E-6453-094C-DB252913E583}"/>
                </a:ext>
              </a:extLst>
            </p:cNvPr>
            <p:cNvSpPr/>
            <p:nvPr/>
          </p:nvSpPr>
          <p:spPr bwMode="auto">
            <a:xfrm>
              <a:off x="5214995" y="-1168400"/>
              <a:ext cx="431800" cy="431800"/>
            </a:xfrm>
            <a:prstGeom prst="ellipse">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FFFFFF"/>
                </a:solidFill>
                <a:effectLst/>
                <a:uLnTx/>
                <a:uFillTx/>
                <a:latin typeface="Segoe UI"/>
                <a:ea typeface="+mn-ea"/>
                <a:cs typeface="Segoe UI" pitchFamily="34" charset="0"/>
              </a:endParaRPr>
            </a:p>
          </p:txBody>
        </p:sp>
        <p:sp>
          <p:nvSpPr>
            <p:cNvPr id="179" name="Rectangle 89">
              <a:extLst>
                <a:ext uri="{FF2B5EF4-FFF2-40B4-BE49-F238E27FC236}">
                  <a16:creationId xmlns:a16="http://schemas.microsoft.com/office/drawing/2014/main" id="{217C0C60-8F15-8390-C6A7-0DB9E99CA653}"/>
                </a:ext>
              </a:extLst>
            </p:cNvPr>
            <p:cNvSpPr/>
            <p:nvPr/>
          </p:nvSpPr>
          <p:spPr bwMode="auto">
            <a:xfrm rot="2700000">
              <a:off x="5303185" y="-1042110"/>
              <a:ext cx="179220" cy="179220"/>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15875" cap="rnd">
              <a:gradFill flip="none" rotWithShape="1">
                <a:gsLst>
                  <a:gs pos="0">
                    <a:srgbClr val="0078D4"/>
                  </a:gs>
                  <a:gs pos="100000">
                    <a:schemeClr val="accent3"/>
                  </a:gs>
                </a:gsLst>
                <a:lin ang="0" scaled="1"/>
                <a:tileRect/>
              </a:gra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Segoe UI"/>
                <a:ea typeface="+mn-ea"/>
                <a:cs typeface="Segoe UI" pitchFamily="34" charset="0"/>
              </a:endParaRPr>
            </a:p>
          </p:txBody>
        </p:sp>
      </p:grpSp>
      <p:grpSp>
        <p:nvGrpSpPr>
          <p:cNvPr id="180" name="Group 179">
            <a:extLst>
              <a:ext uri="{FF2B5EF4-FFF2-40B4-BE49-F238E27FC236}">
                <a16:creationId xmlns:a16="http://schemas.microsoft.com/office/drawing/2014/main" id="{3B572509-4831-8A48-B663-AE17D9FD8ED5}"/>
              </a:ext>
            </a:extLst>
          </p:cNvPr>
          <p:cNvGrpSpPr/>
          <p:nvPr userDrawn="1"/>
        </p:nvGrpSpPr>
        <p:grpSpPr>
          <a:xfrm rot="5400000">
            <a:off x="9928103" y="3954518"/>
            <a:ext cx="166152" cy="166152"/>
            <a:chOff x="5214995" y="-1168400"/>
            <a:chExt cx="431800" cy="431800"/>
          </a:xfrm>
        </p:grpSpPr>
        <p:sp>
          <p:nvSpPr>
            <p:cNvPr id="181" name="Oval 180">
              <a:extLst>
                <a:ext uri="{FF2B5EF4-FFF2-40B4-BE49-F238E27FC236}">
                  <a16:creationId xmlns:a16="http://schemas.microsoft.com/office/drawing/2014/main" id="{068A591D-A59C-D3D7-2C67-293B3727D0A2}"/>
                </a:ext>
              </a:extLst>
            </p:cNvPr>
            <p:cNvSpPr/>
            <p:nvPr/>
          </p:nvSpPr>
          <p:spPr bwMode="auto">
            <a:xfrm>
              <a:off x="5214995" y="-1168400"/>
              <a:ext cx="431800" cy="431800"/>
            </a:xfrm>
            <a:prstGeom prst="ellipse">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FFFFFF"/>
                </a:solidFill>
                <a:effectLst/>
                <a:uLnTx/>
                <a:uFillTx/>
                <a:latin typeface="Segoe UI"/>
                <a:ea typeface="+mn-ea"/>
                <a:cs typeface="Segoe UI" pitchFamily="34" charset="0"/>
              </a:endParaRPr>
            </a:p>
          </p:txBody>
        </p:sp>
        <p:sp>
          <p:nvSpPr>
            <p:cNvPr id="182" name="Rectangle 89">
              <a:extLst>
                <a:ext uri="{FF2B5EF4-FFF2-40B4-BE49-F238E27FC236}">
                  <a16:creationId xmlns:a16="http://schemas.microsoft.com/office/drawing/2014/main" id="{8B0AF6B1-C3AC-C476-AE16-287C61A1D75A}"/>
                </a:ext>
              </a:extLst>
            </p:cNvPr>
            <p:cNvSpPr/>
            <p:nvPr/>
          </p:nvSpPr>
          <p:spPr bwMode="auto">
            <a:xfrm rot="2700000">
              <a:off x="5303185" y="-1042110"/>
              <a:ext cx="179220" cy="179220"/>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15875" cap="rnd">
              <a:gradFill flip="none" rotWithShape="1">
                <a:gsLst>
                  <a:gs pos="0">
                    <a:srgbClr val="0078D4"/>
                  </a:gs>
                  <a:gs pos="100000">
                    <a:schemeClr val="accent3"/>
                  </a:gs>
                </a:gsLst>
                <a:lin ang="0" scaled="1"/>
                <a:tileRect/>
              </a:gra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Segoe UI"/>
                <a:ea typeface="+mn-ea"/>
                <a:cs typeface="Segoe UI" pitchFamily="34" charset="0"/>
              </a:endParaRPr>
            </a:p>
          </p:txBody>
        </p:sp>
      </p:grpSp>
      <p:sp>
        <p:nvSpPr>
          <p:cNvPr id="95" name="Step 1 TItle">
            <a:extLst>
              <a:ext uri="{FF2B5EF4-FFF2-40B4-BE49-F238E27FC236}">
                <a16:creationId xmlns:a16="http://schemas.microsoft.com/office/drawing/2014/main" id="{545F2FD2-44C5-DA9F-8E2B-13D6C03793D7}"/>
              </a:ext>
            </a:extLst>
          </p:cNvPr>
          <p:cNvSpPr>
            <a:spLocks noGrp="1"/>
          </p:cNvSpPr>
          <p:nvPr>
            <p:ph type="body" sz="quarter" idx="11" hasCustomPrompt="1"/>
          </p:nvPr>
        </p:nvSpPr>
        <p:spPr>
          <a:xfrm>
            <a:off x="584200" y="1690131"/>
            <a:ext cx="2808000" cy="345600"/>
          </a:xfrm>
          <a:prstGeom prst="roundRect">
            <a:avLst>
              <a:gd name="adj" fmla="val 50000"/>
            </a:avLst>
          </a:prstGeom>
          <a:gradFill flip="none" rotWithShape="1">
            <a:gsLst>
              <a:gs pos="35000">
                <a:srgbClr val="0078D4"/>
              </a:gs>
              <a:gs pos="0">
                <a:srgbClr val="C03BC4"/>
              </a:gs>
            </a:gsLst>
            <a:path path="circle">
              <a:fillToRect l="100000" t="100000"/>
            </a:path>
            <a:tileRect r="-100000" b="-100000"/>
          </a:gradFill>
          <a:effectLst>
            <a:outerShdw blurRad="63500" dist="63500" dir="2700000" algn="tl" rotWithShape="0">
              <a:srgbClr val="454142">
                <a:alpha val="20000"/>
              </a:srgbClr>
            </a:outerShdw>
          </a:effectLst>
        </p:spPr>
        <p:txBody>
          <a:bodyPr anchor="ctr" anchorCtr="0">
            <a:noAutofit/>
          </a:bodyPr>
          <a:lstStyle>
            <a:lvl1pPr marL="0" indent="0" algn="ctr">
              <a:buNone/>
              <a:defRPr sz="1200" b="1" i="0">
                <a:solidFill>
                  <a:srgbClr val="FFFFFF"/>
                </a:solidFill>
                <a:latin typeface="Segoe UI Semibold" panose="020B0502040204020203" pitchFamily="34" charset="0"/>
                <a:cs typeface="Segoe UI Semibold" panose="020B0502040204020203" pitchFamily="34" charset="0"/>
              </a:defRPr>
            </a:lvl1pPr>
          </a:lstStyle>
          <a:p>
            <a:pPr lvl="0"/>
            <a:r>
              <a:rPr lang="en-US"/>
              <a:t>00:00am</a:t>
            </a:r>
          </a:p>
        </p:txBody>
      </p:sp>
      <p:sp>
        <p:nvSpPr>
          <p:cNvPr id="106" name="Step 1 Top">
            <a:extLst>
              <a:ext uri="{FF2B5EF4-FFF2-40B4-BE49-F238E27FC236}">
                <a16:creationId xmlns:a16="http://schemas.microsoft.com/office/drawing/2014/main" id="{433B73A7-DB5C-AF5A-B12A-70E655D0C55D}"/>
              </a:ext>
            </a:extLst>
          </p:cNvPr>
          <p:cNvSpPr>
            <a:spLocks noGrp="1"/>
          </p:cNvSpPr>
          <p:nvPr>
            <p:ph type="body" sz="quarter" idx="18"/>
          </p:nvPr>
        </p:nvSpPr>
        <p:spPr>
          <a:xfrm>
            <a:off x="584200" y="2128438"/>
            <a:ext cx="2808000" cy="626701"/>
          </a:xfrm>
        </p:spPr>
        <p:txBody>
          <a:bodyPr lIns="0" tIns="0" rIns="0" bIns="0">
            <a:normAutofit/>
          </a:bodyPr>
          <a:lstStyle>
            <a:lvl1pPr marL="0" indent="0">
              <a:lnSpc>
                <a:spcPct val="100000"/>
              </a:lnSpc>
              <a:spcBef>
                <a:spcPts val="0"/>
              </a:spcBef>
              <a:buNone/>
              <a:defRPr sz="900"/>
            </a:lvl1pPr>
          </a:lstStyle>
          <a:p>
            <a:pPr lvl="0"/>
            <a:r>
              <a:rPr lang="en-US"/>
              <a:t>Click to edit Master text styles</a:t>
            </a:r>
          </a:p>
        </p:txBody>
      </p:sp>
      <p:sp>
        <p:nvSpPr>
          <p:cNvPr id="109" name="Step 1 Bottom">
            <a:extLst>
              <a:ext uri="{FF2B5EF4-FFF2-40B4-BE49-F238E27FC236}">
                <a16:creationId xmlns:a16="http://schemas.microsoft.com/office/drawing/2014/main" id="{C966B391-3BF4-A5FB-4F8A-8B4B54689661}"/>
              </a:ext>
            </a:extLst>
          </p:cNvPr>
          <p:cNvSpPr>
            <a:spLocks noGrp="1"/>
          </p:cNvSpPr>
          <p:nvPr>
            <p:ph type="body" sz="quarter" idx="21"/>
          </p:nvPr>
        </p:nvSpPr>
        <p:spPr>
          <a:xfrm>
            <a:off x="584199" y="3304510"/>
            <a:ext cx="2808000" cy="626701"/>
          </a:xfrm>
          <a:prstGeom prst="roundRect">
            <a:avLst>
              <a:gd name="adj" fmla="val 10035"/>
            </a:avLst>
          </a:prstGeom>
          <a:solidFill>
            <a:srgbClr val="FFFFFF">
              <a:alpha val="70046"/>
            </a:srgbClr>
          </a:solidFill>
          <a:ln w="12700">
            <a:solidFill>
              <a:schemeClr val="bg1"/>
            </a:solidFill>
          </a:ln>
        </p:spPr>
        <p:txBody>
          <a:bodyPr lIns="0" tIns="0" rIns="0" bIns="0" anchor="t" anchorCtr="0">
            <a:normAutofit/>
          </a:bodyPr>
          <a:lstStyle>
            <a:lvl1pPr marL="0" indent="0">
              <a:lnSpc>
                <a:spcPct val="100000"/>
              </a:lnSpc>
              <a:buFont typeface="Arial" panose="020B0604020202020204" pitchFamily="34" charset="0"/>
              <a:buNone/>
              <a:defRPr sz="900"/>
            </a:lvl1pPr>
            <a:lvl2pPr marL="0" indent="0">
              <a:lnSpc>
                <a:spcPct val="100000"/>
              </a:lnSpc>
              <a:spcBef>
                <a:spcPts val="0"/>
              </a:spcBef>
              <a:buNone/>
              <a:defRPr sz="900" b="1" i="0">
                <a:latin typeface="Segoe UI" panose="020B0502040204020203" pitchFamily="34" charset="0"/>
                <a:cs typeface="Segoe UI" panose="020B0502040204020203" pitchFamily="34" charset="0"/>
              </a:defRPr>
            </a:lvl2pPr>
          </a:lstStyle>
          <a:p>
            <a:pPr lvl="0"/>
            <a:r>
              <a:rPr lang="en-US"/>
              <a:t>Click to edit Master text styles</a:t>
            </a:r>
          </a:p>
          <a:p>
            <a:pPr lvl="1"/>
            <a:r>
              <a:rPr lang="en-US"/>
              <a:t>Level 2</a:t>
            </a:r>
          </a:p>
        </p:txBody>
      </p:sp>
      <p:sp>
        <p:nvSpPr>
          <p:cNvPr id="183" name="Step 2 Title">
            <a:extLst>
              <a:ext uri="{FF2B5EF4-FFF2-40B4-BE49-F238E27FC236}">
                <a16:creationId xmlns:a16="http://schemas.microsoft.com/office/drawing/2014/main" id="{DF1E6E41-3DB3-84EB-984F-CCB9167D5657}"/>
              </a:ext>
            </a:extLst>
          </p:cNvPr>
          <p:cNvSpPr>
            <a:spLocks noGrp="1"/>
          </p:cNvSpPr>
          <p:nvPr>
            <p:ph type="body" sz="quarter" idx="22" hasCustomPrompt="1"/>
          </p:nvPr>
        </p:nvSpPr>
        <p:spPr>
          <a:xfrm>
            <a:off x="3776898" y="1690131"/>
            <a:ext cx="2808000" cy="345600"/>
          </a:xfrm>
          <a:prstGeom prst="roundRect">
            <a:avLst>
              <a:gd name="adj" fmla="val 50000"/>
            </a:avLst>
          </a:prstGeom>
          <a:gradFill flip="none" rotWithShape="1">
            <a:gsLst>
              <a:gs pos="35000">
                <a:srgbClr val="0078D4"/>
              </a:gs>
              <a:gs pos="0">
                <a:srgbClr val="C03BC4"/>
              </a:gs>
            </a:gsLst>
            <a:path path="circle">
              <a:fillToRect l="100000" t="100000"/>
            </a:path>
            <a:tileRect r="-100000" b="-100000"/>
          </a:gradFill>
          <a:effectLst>
            <a:outerShdw blurRad="63500" dist="63500" dir="2700000" algn="tl" rotWithShape="0">
              <a:srgbClr val="454142">
                <a:alpha val="20000"/>
              </a:srgbClr>
            </a:outerShdw>
          </a:effectLst>
        </p:spPr>
        <p:txBody>
          <a:bodyPr anchor="ctr" anchorCtr="0">
            <a:noAutofit/>
          </a:bodyPr>
          <a:lstStyle>
            <a:lvl1pPr marL="0" indent="0" algn="ctr">
              <a:buNone/>
              <a:defRPr sz="1200" b="1" i="0">
                <a:solidFill>
                  <a:srgbClr val="FFFFFF"/>
                </a:solidFill>
                <a:latin typeface="Segoe UI Semibold" panose="020B0502040204020203" pitchFamily="34" charset="0"/>
                <a:cs typeface="Segoe UI Semibold" panose="020B0502040204020203" pitchFamily="34" charset="0"/>
              </a:defRPr>
            </a:lvl1pPr>
          </a:lstStyle>
          <a:p>
            <a:pPr lvl="0"/>
            <a:r>
              <a:rPr lang="en-US"/>
              <a:t>00:00am</a:t>
            </a:r>
          </a:p>
        </p:txBody>
      </p:sp>
      <p:sp>
        <p:nvSpPr>
          <p:cNvPr id="184" name="Step 2 Top">
            <a:extLst>
              <a:ext uri="{FF2B5EF4-FFF2-40B4-BE49-F238E27FC236}">
                <a16:creationId xmlns:a16="http://schemas.microsoft.com/office/drawing/2014/main" id="{6E6ACE10-8248-C360-0E35-7598E8EC8281}"/>
              </a:ext>
            </a:extLst>
          </p:cNvPr>
          <p:cNvSpPr>
            <a:spLocks noGrp="1"/>
          </p:cNvSpPr>
          <p:nvPr>
            <p:ph type="body" sz="quarter" idx="23"/>
          </p:nvPr>
        </p:nvSpPr>
        <p:spPr>
          <a:xfrm>
            <a:off x="3776898" y="2128438"/>
            <a:ext cx="2808000" cy="626701"/>
          </a:xfrm>
        </p:spPr>
        <p:txBody>
          <a:bodyPr lIns="0" tIns="0" rIns="0" bIns="0">
            <a:normAutofit/>
          </a:bodyPr>
          <a:lstStyle>
            <a:lvl1pPr marL="0" indent="0">
              <a:lnSpc>
                <a:spcPct val="100000"/>
              </a:lnSpc>
              <a:spcBef>
                <a:spcPts val="0"/>
              </a:spcBef>
              <a:buNone/>
              <a:defRPr sz="900"/>
            </a:lvl1pPr>
          </a:lstStyle>
          <a:p>
            <a:pPr lvl="0"/>
            <a:r>
              <a:rPr lang="en-US"/>
              <a:t>Click to edit Master text styles</a:t>
            </a:r>
          </a:p>
        </p:txBody>
      </p:sp>
      <p:sp>
        <p:nvSpPr>
          <p:cNvPr id="185" name="Step 2 Bottom">
            <a:extLst>
              <a:ext uri="{FF2B5EF4-FFF2-40B4-BE49-F238E27FC236}">
                <a16:creationId xmlns:a16="http://schemas.microsoft.com/office/drawing/2014/main" id="{55D154DF-71A5-D9D3-0756-AA7208899CFD}"/>
              </a:ext>
            </a:extLst>
          </p:cNvPr>
          <p:cNvSpPr>
            <a:spLocks noGrp="1"/>
          </p:cNvSpPr>
          <p:nvPr>
            <p:ph type="body" sz="quarter" idx="24"/>
          </p:nvPr>
        </p:nvSpPr>
        <p:spPr>
          <a:xfrm>
            <a:off x="3776897" y="3304510"/>
            <a:ext cx="2808000" cy="626701"/>
          </a:xfrm>
          <a:prstGeom prst="roundRect">
            <a:avLst>
              <a:gd name="adj" fmla="val 10035"/>
            </a:avLst>
          </a:prstGeom>
          <a:solidFill>
            <a:srgbClr val="FFFFFF">
              <a:alpha val="70046"/>
            </a:srgbClr>
          </a:solidFill>
          <a:ln w="12700">
            <a:solidFill>
              <a:schemeClr val="bg1"/>
            </a:solidFill>
          </a:ln>
        </p:spPr>
        <p:txBody>
          <a:bodyPr lIns="0" tIns="0" rIns="0" bIns="0" anchor="t" anchorCtr="0">
            <a:normAutofit/>
          </a:bodyPr>
          <a:lstStyle>
            <a:lvl1pPr marL="0" indent="0">
              <a:lnSpc>
                <a:spcPct val="100000"/>
              </a:lnSpc>
              <a:buFont typeface="Arial" panose="020B0604020202020204" pitchFamily="34" charset="0"/>
              <a:buNone/>
              <a:defRPr sz="900"/>
            </a:lvl1pPr>
            <a:lvl2pPr marL="0" indent="0">
              <a:lnSpc>
                <a:spcPct val="100000"/>
              </a:lnSpc>
              <a:spcBef>
                <a:spcPts val="0"/>
              </a:spcBef>
              <a:buNone/>
              <a:defRPr sz="900" b="1" i="0">
                <a:latin typeface="Segoe UI" panose="020B0502040204020203" pitchFamily="34" charset="0"/>
                <a:cs typeface="Segoe UI" panose="020B0502040204020203" pitchFamily="34" charset="0"/>
              </a:defRPr>
            </a:lvl2pPr>
          </a:lstStyle>
          <a:p>
            <a:pPr lvl="0"/>
            <a:r>
              <a:rPr lang="en-US"/>
              <a:t>Click to edit Master text styles</a:t>
            </a:r>
          </a:p>
          <a:p>
            <a:pPr lvl="1"/>
            <a:r>
              <a:rPr lang="en-US"/>
              <a:t>Level 2</a:t>
            </a:r>
          </a:p>
        </p:txBody>
      </p:sp>
      <p:sp>
        <p:nvSpPr>
          <p:cNvPr id="186" name="Step 3 Title">
            <a:extLst>
              <a:ext uri="{FF2B5EF4-FFF2-40B4-BE49-F238E27FC236}">
                <a16:creationId xmlns:a16="http://schemas.microsoft.com/office/drawing/2014/main" id="{3BF3353A-2534-A54C-BD30-4DA6ABBA06BA}"/>
              </a:ext>
            </a:extLst>
          </p:cNvPr>
          <p:cNvSpPr>
            <a:spLocks noGrp="1"/>
          </p:cNvSpPr>
          <p:nvPr>
            <p:ph type="body" sz="quarter" idx="25" hasCustomPrompt="1"/>
          </p:nvPr>
        </p:nvSpPr>
        <p:spPr>
          <a:xfrm>
            <a:off x="6969595" y="1690131"/>
            <a:ext cx="2808000" cy="345600"/>
          </a:xfrm>
          <a:prstGeom prst="roundRect">
            <a:avLst>
              <a:gd name="adj" fmla="val 50000"/>
            </a:avLst>
          </a:prstGeom>
          <a:gradFill flip="none" rotWithShape="1">
            <a:gsLst>
              <a:gs pos="35000">
                <a:srgbClr val="0078D4"/>
              </a:gs>
              <a:gs pos="0">
                <a:srgbClr val="C03BC4"/>
              </a:gs>
            </a:gsLst>
            <a:path path="circle">
              <a:fillToRect l="100000" t="100000"/>
            </a:path>
            <a:tileRect r="-100000" b="-100000"/>
          </a:gradFill>
          <a:effectLst>
            <a:outerShdw blurRad="63500" dist="63500" dir="2700000" algn="tl" rotWithShape="0">
              <a:srgbClr val="454142">
                <a:alpha val="20000"/>
              </a:srgbClr>
            </a:outerShdw>
          </a:effectLst>
        </p:spPr>
        <p:txBody>
          <a:bodyPr anchor="ctr" anchorCtr="0">
            <a:noAutofit/>
          </a:bodyPr>
          <a:lstStyle>
            <a:lvl1pPr marL="0" indent="0" algn="ctr">
              <a:buNone/>
              <a:defRPr sz="1200" b="1" i="0">
                <a:solidFill>
                  <a:srgbClr val="FFFFFF"/>
                </a:solidFill>
                <a:latin typeface="Segoe UI Semibold" panose="020B0502040204020203" pitchFamily="34" charset="0"/>
                <a:cs typeface="Segoe UI Semibold" panose="020B0502040204020203" pitchFamily="34" charset="0"/>
              </a:defRPr>
            </a:lvl1pPr>
          </a:lstStyle>
          <a:p>
            <a:pPr lvl="0"/>
            <a:r>
              <a:rPr lang="en-US"/>
              <a:t>00:00am</a:t>
            </a:r>
          </a:p>
        </p:txBody>
      </p:sp>
      <p:sp>
        <p:nvSpPr>
          <p:cNvPr id="187" name="Step 3 Top">
            <a:extLst>
              <a:ext uri="{FF2B5EF4-FFF2-40B4-BE49-F238E27FC236}">
                <a16:creationId xmlns:a16="http://schemas.microsoft.com/office/drawing/2014/main" id="{F8FA69C0-B798-B0EF-B064-997FF774E8E9}"/>
              </a:ext>
            </a:extLst>
          </p:cNvPr>
          <p:cNvSpPr>
            <a:spLocks noGrp="1"/>
          </p:cNvSpPr>
          <p:nvPr>
            <p:ph type="body" sz="quarter" idx="26"/>
          </p:nvPr>
        </p:nvSpPr>
        <p:spPr>
          <a:xfrm>
            <a:off x="6969595" y="2128438"/>
            <a:ext cx="2808000" cy="626701"/>
          </a:xfrm>
        </p:spPr>
        <p:txBody>
          <a:bodyPr lIns="0" tIns="0" rIns="0" bIns="0">
            <a:normAutofit/>
          </a:bodyPr>
          <a:lstStyle>
            <a:lvl1pPr marL="0" indent="0">
              <a:lnSpc>
                <a:spcPct val="100000"/>
              </a:lnSpc>
              <a:spcBef>
                <a:spcPts val="0"/>
              </a:spcBef>
              <a:buNone/>
              <a:defRPr lang="en-US" sz="900" kern="1200" spc="0" baseline="0" dirty="0">
                <a:solidFill>
                  <a:schemeClr val="tx1"/>
                </a:solidFill>
                <a:latin typeface="+mn-lt"/>
                <a:ea typeface="+mn-ea"/>
                <a:cs typeface="Segoe UI" panose="020B0502040204020203" pitchFamily="34" charset="0"/>
              </a:defRPr>
            </a:lvl1pPr>
          </a:lstStyle>
          <a:p>
            <a:pPr marL="0" marR="0" lvl="0" indent="0" algn="l" defTabSz="932742" rtl="0" eaLnBrk="1" fontAlgn="auto" latinLnBrk="0" hangingPunct="1">
              <a:lnSpc>
                <a:spcPct val="110000"/>
              </a:lnSpc>
              <a:spcBef>
                <a:spcPts val="0"/>
              </a:spcBef>
              <a:spcAft>
                <a:spcPts val="0"/>
              </a:spcAft>
              <a:buClrTx/>
              <a:buSzPct val="90000"/>
              <a:buFont typeface="Wingdings" panose="05000000000000000000" pitchFamily="2" charset="2"/>
              <a:buNone/>
              <a:tabLst/>
            </a:pPr>
            <a:r>
              <a:rPr lang="en-US"/>
              <a:t>Click to edit Master text styles</a:t>
            </a:r>
          </a:p>
        </p:txBody>
      </p:sp>
      <p:sp>
        <p:nvSpPr>
          <p:cNvPr id="188" name="Step 3 Bottom">
            <a:extLst>
              <a:ext uri="{FF2B5EF4-FFF2-40B4-BE49-F238E27FC236}">
                <a16:creationId xmlns:a16="http://schemas.microsoft.com/office/drawing/2014/main" id="{FFA3E6BA-ECB6-F78C-CF22-7B05706020E3}"/>
              </a:ext>
            </a:extLst>
          </p:cNvPr>
          <p:cNvSpPr>
            <a:spLocks noGrp="1"/>
          </p:cNvSpPr>
          <p:nvPr>
            <p:ph type="body" sz="quarter" idx="27"/>
          </p:nvPr>
        </p:nvSpPr>
        <p:spPr>
          <a:xfrm>
            <a:off x="6969595" y="3304510"/>
            <a:ext cx="2808000" cy="626701"/>
          </a:xfrm>
          <a:prstGeom prst="roundRect">
            <a:avLst>
              <a:gd name="adj" fmla="val 10035"/>
            </a:avLst>
          </a:prstGeom>
          <a:solidFill>
            <a:srgbClr val="FFFFFF">
              <a:alpha val="70046"/>
            </a:srgbClr>
          </a:solidFill>
          <a:ln w="12700">
            <a:solidFill>
              <a:schemeClr val="bg1"/>
            </a:solidFill>
          </a:ln>
        </p:spPr>
        <p:txBody>
          <a:bodyPr lIns="0" tIns="0" rIns="0" bIns="0" anchor="t" anchorCtr="0">
            <a:normAutofit/>
          </a:bodyPr>
          <a:lstStyle>
            <a:lvl1pPr marL="0" indent="0">
              <a:lnSpc>
                <a:spcPct val="100000"/>
              </a:lnSpc>
              <a:buFont typeface="Arial" panose="020B0604020202020204" pitchFamily="34" charset="0"/>
              <a:buNone/>
              <a:defRPr sz="900"/>
            </a:lvl1pPr>
            <a:lvl2pPr marL="0" indent="0">
              <a:lnSpc>
                <a:spcPct val="100000"/>
              </a:lnSpc>
              <a:spcBef>
                <a:spcPts val="0"/>
              </a:spcBef>
              <a:buNone/>
              <a:defRPr sz="900" b="1" i="0">
                <a:latin typeface="Segoe UI" panose="020B0502040204020203" pitchFamily="34" charset="0"/>
                <a:cs typeface="Segoe UI" panose="020B0502040204020203" pitchFamily="34" charset="0"/>
              </a:defRPr>
            </a:lvl2pPr>
          </a:lstStyle>
          <a:p>
            <a:pPr lvl="0"/>
            <a:r>
              <a:rPr lang="en-US"/>
              <a:t>Click to edit Master text styles</a:t>
            </a:r>
          </a:p>
          <a:p>
            <a:pPr lvl="1"/>
            <a:r>
              <a:rPr lang="en-US"/>
              <a:t>Level 2</a:t>
            </a:r>
          </a:p>
        </p:txBody>
      </p:sp>
      <p:sp>
        <p:nvSpPr>
          <p:cNvPr id="195" name="Step 4 Title">
            <a:extLst>
              <a:ext uri="{FF2B5EF4-FFF2-40B4-BE49-F238E27FC236}">
                <a16:creationId xmlns:a16="http://schemas.microsoft.com/office/drawing/2014/main" id="{4411A19D-5600-3582-7891-BEECA6B3C921}"/>
              </a:ext>
            </a:extLst>
          </p:cNvPr>
          <p:cNvSpPr>
            <a:spLocks noGrp="1"/>
          </p:cNvSpPr>
          <p:nvPr>
            <p:ph type="body" sz="quarter" idx="34" hasCustomPrompt="1"/>
          </p:nvPr>
        </p:nvSpPr>
        <p:spPr>
          <a:xfrm>
            <a:off x="6969595" y="4150071"/>
            <a:ext cx="2808000" cy="345600"/>
          </a:xfrm>
          <a:prstGeom prst="roundRect">
            <a:avLst>
              <a:gd name="adj" fmla="val 50000"/>
            </a:avLst>
          </a:prstGeom>
          <a:gradFill flip="none" rotWithShape="1">
            <a:gsLst>
              <a:gs pos="35000">
                <a:srgbClr val="0078D4"/>
              </a:gs>
              <a:gs pos="0">
                <a:srgbClr val="C03BC4"/>
              </a:gs>
            </a:gsLst>
            <a:path path="circle">
              <a:fillToRect l="100000" t="100000"/>
            </a:path>
            <a:tileRect r="-100000" b="-100000"/>
          </a:gradFill>
          <a:effectLst>
            <a:outerShdw blurRad="63500" dist="63500" dir="2700000" algn="tl" rotWithShape="0">
              <a:srgbClr val="454142">
                <a:alpha val="20000"/>
              </a:srgbClr>
            </a:outerShdw>
          </a:effectLst>
        </p:spPr>
        <p:txBody>
          <a:bodyPr anchor="ctr" anchorCtr="0">
            <a:noAutofit/>
          </a:bodyPr>
          <a:lstStyle>
            <a:lvl1pPr marL="0" indent="0" algn="ctr">
              <a:buNone/>
              <a:defRPr sz="1200" b="1" i="0">
                <a:solidFill>
                  <a:srgbClr val="FFFFFF"/>
                </a:solidFill>
                <a:latin typeface="Segoe UI Semibold" panose="020B0502040204020203" pitchFamily="34" charset="0"/>
                <a:cs typeface="Segoe UI Semibold" panose="020B0502040204020203" pitchFamily="34" charset="0"/>
              </a:defRPr>
            </a:lvl1pPr>
          </a:lstStyle>
          <a:p>
            <a:pPr lvl="0"/>
            <a:r>
              <a:rPr lang="en-US"/>
              <a:t>00:00am</a:t>
            </a:r>
          </a:p>
        </p:txBody>
      </p:sp>
      <p:sp>
        <p:nvSpPr>
          <p:cNvPr id="196" name="Step 4 Top">
            <a:extLst>
              <a:ext uri="{FF2B5EF4-FFF2-40B4-BE49-F238E27FC236}">
                <a16:creationId xmlns:a16="http://schemas.microsoft.com/office/drawing/2014/main" id="{E6756EC6-5C62-CCBD-6970-540F4E463C66}"/>
              </a:ext>
            </a:extLst>
          </p:cNvPr>
          <p:cNvSpPr>
            <a:spLocks noGrp="1"/>
          </p:cNvSpPr>
          <p:nvPr>
            <p:ph type="body" sz="quarter" idx="35"/>
          </p:nvPr>
        </p:nvSpPr>
        <p:spPr>
          <a:xfrm>
            <a:off x="6969595" y="4584616"/>
            <a:ext cx="2808000" cy="626701"/>
          </a:xfrm>
        </p:spPr>
        <p:txBody>
          <a:bodyPr lIns="0" tIns="0" rIns="0" bIns="0">
            <a:normAutofit/>
          </a:bodyPr>
          <a:lstStyle>
            <a:lvl1pPr marL="0" indent="0">
              <a:lnSpc>
                <a:spcPct val="100000"/>
              </a:lnSpc>
              <a:spcBef>
                <a:spcPts val="0"/>
              </a:spcBef>
              <a:buNone/>
              <a:defRPr sz="900"/>
            </a:lvl1pPr>
          </a:lstStyle>
          <a:p>
            <a:pPr lvl="0"/>
            <a:r>
              <a:rPr lang="en-US"/>
              <a:t>Click to edit Master text styles</a:t>
            </a:r>
          </a:p>
        </p:txBody>
      </p:sp>
      <p:sp>
        <p:nvSpPr>
          <p:cNvPr id="197" name="Step 4 Bottom">
            <a:extLst>
              <a:ext uri="{FF2B5EF4-FFF2-40B4-BE49-F238E27FC236}">
                <a16:creationId xmlns:a16="http://schemas.microsoft.com/office/drawing/2014/main" id="{56520A8E-9E5D-0840-1CB1-35762F47BF5D}"/>
              </a:ext>
            </a:extLst>
          </p:cNvPr>
          <p:cNvSpPr>
            <a:spLocks noGrp="1"/>
          </p:cNvSpPr>
          <p:nvPr>
            <p:ph type="body" sz="quarter" idx="36"/>
          </p:nvPr>
        </p:nvSpPr>
        <p:spPr>
          <a:xfrm>
            <a:off x="6969595" y="5696772"/>
            <a:ext cx="2808000" cy="626701"/>
          </a:xfrm>
          <a:prstGeom prst="roundRect">
            <a:avLst>
              <a:gd name="adj" fmla="val 10035"/>
            </a:avLst>
          </a:prstGeom>
          <a:solidFill>
            <a:srgbClr val="FFFFFF">
              <a:alpha val="70046"/>
            </a:srgbClr>
          </a:solidFill>
          <a:ln w="12700">
            <a:solidFill>
              <a:schemeClr val="bg1"/>
            </a:solidFill>
          </a:ln>
        </p:spPr>
        <p:txBody>
          <a:bodyPr lIns="0" tIns="0" rIns="0" bIns="0" anchor="t" anchorCtr="0">
            <a:normAutofit/>
          </a:bodyPr>
          <a:lstStyle>
            <a:lvl1pPr marL="0" indent="0">
              <a:lnSpc>
                <a:spcPct val="100000"/>
              </a:lnSpc>
              <a:buFont typeface="Arial" panose="020B0604020202020204" pitchFamily="34" charset="0"/>
              <a:buNone/>
              <a:defRPr sz="900"/>
            </a:lvl1pPr>
            <a:lvl2pPr marL="0" indent="0">
              <a:lnSpc>
                <a:spcPct val="100000"/>
              </a:lnSpc>
              <a:spcBef>
                <a:spcPts val="0"/>
              </a:spcBef>
              <a:buNone/>
              <a:defRPr sz="900" b="1" i="0">
                <a:latin typeface="Segoe UI" panose="020B0502040204020203" pitchFamily="34" charset="0"/>
                <a:cs typeface="Segoe UI" panose="020B0502040204020203" pitchFamily="34" charset="0"/>
              </a:defRPr>
            </a:lvl2pPr>
          </a:lstStyle>
          <a:p>
            <a:pPr lvl="0"/>
            <a:r>
              <a:rPr lang="en-US"/>
              <a:t>Click to edit Master text styles</a:t>
            </a:r>
          </a:p>
          <a:p>
            <a:pPr lvl="1"/>
            <a:r>
              <a:rPr lang="en-US"/>
              <a:t>Level 2</a:t>
            </a:r>
          </a:p>
        </p:txBody>
      </p:sp>
      <p:sp>
        <p:nvSpPr>
          <p:cNvPr id="192" name="Step 5 Title">
            <a:extLst>
              <a:ext uri="{FF2B5EF4-FFF2-40B4-BE49-F238E27FC236}">
                <a16:creationId xmlns:a16="http://schemas.microsoft.com/office/drawing/2014/main" id="{D8F51403-DA8F-C60A-932D-8B8817FDA751}"/>
              </a:ext>
            </a:extLst>
          </p:cNvPr>
          <p:cNvSpPr>
            <a:spLocks noGrp="1"/>
          </p:cNvSpPr>
          <p:nvPr>
            <p:ph type="body" sz="quarter" idx="31" hasCustomPrompt="1"/>
          </p:nvPr>
        </p:nvSpPr>
        <p:spPr>
          <a:xfrm>
            <a:off x="3776898" y="4150071"/>
            <a:ext cx="2808000" cy="345600"/>
          </a:xfrm>
          <a:prstGeom prst="roundRect">
            <a:avLst>
              <a:gd name="adj" fmla="val 50000"/>
            </a:avLst>
          </a:prstGeom>
          <a:gradFill flip="none" rotWithShape="1">
            <a:gsLst>
              <a:gs pos="35000">
                <a:srgbClr val="0078D4"/>
              </a:gs>
              <a:gs pos="0">
                <a:srgbClr val="C03BC4"/>
              </a:gs>
            </a:gsLst>
            <a:path path="circle">
              <a:fillToRect l="100000" t="100000"/>
            </a:path>
            <a:tileRect r="-100000" b="-100000"/>
          </a:gradFill>
          <a:effectLst>
            <a:outerShdw blurRad="63500" dist="63500" dir="2700000" algn="tl" rotWithShape="0">
              <a:srgbClr val="454142">
                <a:alpha val="20000"/>
              </a:srgbClr>
            </a:outerShdw>
          </a:effectLst>
        </p:spPr>
        <p:txBody>
          <a:bodyPr anchor="ctr" anchorCtr="0">
            <a:noAutofit/>
          </a:bodyPr>
          <a:lstStyle>
            <a:lvl1pPr marL="0" indent="0" algn="ctr">
              <a:buNone/>
              <a:defRPr sz="1200" b="1" i="0">
                <a:solidFill>
                  <a:srgbClr val="FFFFFF"/>
                </a:solidFill>
                <a:latin typeface="Segoe UI Semibold" panose="020B0502040204020203" pitchFamily="34" charset="0"/>
                <a:cs typeface="Segoe UI Semibold" panose="020B0502040204020203" pitchFamily="34" charset="0"/>
              </a:defRPr>
            </a:lvl1pPr>
          </a:lstStyle>
          <a:p>
            <a:pPr lvl="0"/>
            <a:r>
              <a:rPr lang="en-US"/>
              <a:t>00:00am</a:t>
            </a:r>
          </a:p>
        </p:txBody>
      </p:sp>
      <p:sp>
        <p:nvSpPr>
          <p:cNvPr id="193" name="Step 5 Top">
            <a:extLst>
              <a:ext uri="{FF2B5EF4-FFF2-40B4-BE49-F238E27FC236}">
                <a16:creationId xmlns:a16="http://schemas.microsoft.com/office/drawing/2014/main" id="{1D287AE8-D07F-849B-E6F1-1AC629E8FB32}"/>
              </a:ext>
            </a:extLst>
          </p:cNvPr>
          <p:cNvSpPr>
            <a:spLocks noGrp="1"/>
          </p:cNvSpPr>
          <p:nvPr>
            <p:ph type="body" sz="quarter" idx="32"/>
          </p:nvPr>
        </p:nvSpPr>
        <p:spPr>
          <a:xfrm>
            <a:off x="3776898" y="4584616"/>
            <a:ext cx="2808000" cy="626701"/>
          </a:xfrm>
        </p:spPr>
        <p:txBody>
          <a:bodyPr lIns="0" tIns="0" rIns="0" bIns="0">
            <a:normAutofit/>
          </a:bodyPr>
          <a:lstStyle>
            <a:lvl1pPr marL="0" indent="0">
              <a:lnSpc>
                <a:spcPct val="100000"/>
              </a:lnSpc>
              <a:spcBef>
                <a:spcPts val="0"/>
              </a:spcBef>
              <a:buNone/>
              <a:defRPr sz="900"/>
            </a:lvl1pPr>
          </a:lstStyle>
          <a:p>
            <a:pPr lvl="0"/>
            <a:r>
              <a:rPr lang="en-US"/>
              <a:t>Click to edit Master text styles</a:t>
            </a:r>
          </a:p>
        </p:txBody>
      </p:sp>
      <p:sp>
        <p:nvSpPr>
          <p:cNvPr id="194" name="Step 5 Bottom">
            <a:extLst>
              <a:ext uri="{FF2B5EF4-FFF2-40B4-BE49-F238E27FC236}">
                <a16:creationId xmlns:a16="http://schemas.microsoft.com/office/drawing/2014/main" id="{D79AB424-C959-FD9F-0942-4B657234F221}"/>
              </a:ext>
            </a:extLst>
          </p:cNvPr>
          <p:cNvSpPr>
            <a:spLocks noGrp="1"/>
          </p:cNvSpPr>
          <p:nvPr>
            <p:ph type="body" sz="quarter" idx="33"/>
          </p:nvPr>
        </p:nvSpPr>
        <p:spPr>
          <a:xfrm>
            <a:off x="3776897" y="5681038"/>
            <a:ext cx="2808000" cy="626701"/>
          </a:xfrm>
          <a:prstGeom prst="roundRect">
            <a:avLst>
              <a:gd name="adj" fmla="val 10035"/>
            </a:avLst>
          </a:prstGeom>
          <a:solidFill>
            <a:srgbClr val="FFFFFF">
              <a:alpha val="70046"/>
            </a:srgbClr>
          </a:solidFill>
          <a:ln w="12700">
            <a:solidFill>
              <a:schemeClr val="bg1"/>
            </a:solidFill>
          </a:ln>
        </p:spPr>
        <p:txBody>
          <a:bodyPr lIns="0" tIns="0" rIns="0" bIns="0" anchor="t" anchorCtr="0">
            <a:normAutofit/>
          </a:bodyPr>
          <a:lstStyle>
            <a:lvl1pPr marL="0" indent="0">
              <a:lnSpc>
                <a:spcPct val="100000"/>
              </a:lnSpc>
              <a:buFont typeface="Arial" panose="020B0604020202020204" pitchFamily="34" charset="0"/>
              <a:buNone/>
              <a:defRPr sz="900"/>
            </a:lvl1pPr>
            <a:lvl2pPr marL="0" indent="0">
              <a:lnSpc>
                <a:spcPct val="100000"/>
              </a:lnSpc>
              <a:spcBef>
                <a:spcPts val="0"/>
              </a:spcBef>
              <a:buNone/>
              <a:defRPr sz="900" b="1" i="0">
                <a:latin typeface="Segoe UI" panose="020B0502040204020203" pitchFamily="34" charset="0"/>
                <a:cs typeface="Segoe UI" panose="020B0502040204020203" pitchFamily="34" charset="0"/>
              </a:defRPr>
            </a:lvl2pPr>
          </a:lstStyle>
          <a:p>
            <a:pPr lvl="0"/>
            <a:r>
              <a:rPr lang="en-US"/>
              <a:t>Click to edit Master text styles</a:t>
            </a:r>
          </a:p>
          <a:p>
            <a:pPr lvl="1"/>
            <a:r>
              <a:rPr lang="en-US"/>
              <a:t>Level 2</a:t>
            </a:r>
          </a:p>
        </p:txBody>
      </p:sp>
      <p:sp>
        <p:nvSpPr>
          <p:cNvPr id="189" name="Step 6 Title">
            <a:extLst>
              <a:ext uri="{FF2B5EF4-FFF2-40B4-BE49-F238E27FC236}">
                <a16:creationId xmlns:a16="http://schemas.microsoft.com/office/drawing/2014/main" id="{E07EBCA7-C1BD-E0AD-6403-14224CB1B5C6}"/>
              </a:ext>
            </a:extLst>
          </p:cNvPr>
          <p:cNvSpPr>
            <a:spLocks noGrp="1"/>
          </p:cNvSpPr>
          <p:nvPr>
            <p:ph type="body" sz="quarter" idx="28" hasCustomPrompt="1"/>
          </p:nvPr>
        </p:nvSpPr>
        <p:spPr>
          <a:xfrm>
            <a:off x="584200" y="4150071"/>
            <a:ext cx="2808000" cy="345600"/>
          </a:xfrm>
          <a:prstGeom prst="roundRect">
            <a:avLst>
              <a:gd name="adj" fmla="val 50000"/>
            </a:avLst>
          </a:prstGeom>
          <a:gradFill flip="none" rotWithShape="1">
            <a:gsLst>
              <a:gs pos="35000">
                <a:srgbClr val="0078D4"/>
              </a:gs>
              <a:gs pos="0">
                <a:srgbClr val="C03BC4"/>
              </a:gs>
            </a:gsLst>
            <a:path path="circle">
              <a:fillToRect l="100000" t="100000"/>
            </a:path>
            <a:tileRect r="-100000" b="-100000"/>
          </a:gradFill>
          <a:effectLst>
            <a:outerShdw blurRad="63500" dist="63500" dir="2700000" algn="tl" rotWithShape="0">
              <a:srgbClr val="454142">
                <a:alpha val="20000"/>
              </a:srgbClr>
            </a:outerShdw>
          </a:effectLst>
        </p:spPr>
        <p:txBody>
          <a:bodyPr anchor="ctr" anchorCtr="0">
            <a:noAutofit/>
          </a:bodyPr>
          <a:lstStyle>
            <a:lvl1pPr marL="0" indent="0" algn="ctr">
              <a:buNone/>
              <a:defRPr sz="1200" b="1" i="0">
                <a:solidFill>
                  <a:srgbClr val="FFFFFF"/>
                </a:solidFill>
                <a:latin typeface="Segoe UI Semibold" panose="020B0502040204020203" pitchFamily="34" charset="0"/>
                <a:cs typeface="Segoe UI Semibold" panose="020B0502040204020203" pitchFamily="34" charset="0"/>
              </a:defRPr>
            </a:lvl1pPr>
          </a:lstStyle>
          <a:p>
            <a:pPr lvl="0"/>
            <a:r>
              <a:rPr lang="en-US"/>
              <a:t>00:00am</a:t>
            </a:r>
          </a:p>
        </p:txBody>
      </p:sp>
      <p:sp>
        <p:nvSpPr>
          <p:cNvPr id="190" name="Step 6 Top">
            <a:extLst>
              <a:ext uri="{FF2B5EF4-FFF2-40B4-BE49-F238E27FC236}">
                <a16:creationId xmlns:a16="http://schemas.microsoft.com/office/drawing/2014/main" id="{880DDDC9-1973-AB6B-84B0-8402F7E57DD6}"/>
              </a:ext>
            </a:extLst>
          </p:cNvPr>
          <p:cNvSpPr>
            <a:spLocks noGrp="1"/>
          </p:cNvSpPr>
          <p:nvPr>
            <p:ph type="body" sz="quarter" idx="29"/>
          </p:nvPr>
        </p:nvSpPr>
        <p:spPr>
          <a:xfrm>
            <a:off x="584200" y="4584616"/>
            <a:ext cx="2808000" cy="626701"/>
          </a:xfrm>
        </p:spPr>
        <p:txBody>
          <a:bodyPr lIns="0" tIns="0" rIns="0" bIns="0">
            <a:normAutofit/>
          </a:bodyPr>
          <a:lstStyle>
            <a:lvl1pPr marL="0" indent="0">
              <a:lnSpc>
                <a:spcPct val="100000"/>
              </a:lnSpc>
              <a:spcBef>
                <a:spcPts val="0"/>
              </a:spcBef>
              <a:buNone/>
              <a:defRPr sz="900"/>
            </a:lvl1pPr>
          </a:lstStyle>
          <a:p>
            <a:pPr lvl="0"/>
            <a:r>
              <a:rPr lang="en-US"/>
              <a:t>Click to edit Master text styles</a:t>
            </a:r>
          </a:p>
        </p:txBody>
      </p:sp>
      <p:sp>
        <p:nvSpPr>
          <p:cNvPr id="191" name="Step 6 Bottom">
            <a:extLst>
              <a:ext uri="{FF2B5EF4-FFF2-40B4-BE49-F238E27FC236}">
                <a16:creationId xmlns:a16="http://schemas.microsoft.com/office/drawing/2014/main" id="{779BA1D8-105C-B66F-63AF-84DC7F622456}"/>
              </a:ext>
            </a:extLst>
          </p:cNvPr>
          <p:cNvSpPr>
            <a:spLocks noGrp="1"/>
          </p:cNvSpPr>
          <p:nvPr>
            <p:ph type="body" sz="quarter" idx="30"/>
          </p:nvPr>
        </p:nvSpPr>
        <p:spPr>
          <a:xfrm>
            <a:off x="584200" y="5681038"/>
            <a:ext cx="2808000" cy="626701"/>
          </a:xfrm>
          <a:prstGeom prst="roundRect">
            <a:avLst>
              <a:gd name="adj" fmla="val 10035"/>
            </a:avLst>
          </a:prstGeom>
          <a:solidFill>
            <a:srgbClr val="FFFFFF">
              <a:alpha val="70046"/>
            </a:srgbClr>
          </a:solidFill>
          <a:ln w="12700">
            <a:solidFill>
              <a:schemeClr val="bg1"/>
            </a:solidFill>
          </a:ln>
        </p:spPr>
        <p:txBody>
          <a:bodyPr lIns="0" tIns="0" rIns="0" bIns="0" anchor="t" anchorCtr="0">
            <a:normAutofit/>
          </a:bodyPr>
          <a:lstStyle>
            <a:lvl1pPr marL="0" indent="0">
              <a:lnSpc>
                <a:spcPct val="100000"/>
              </a:lnSpc>
              <a:buFont typeface="Arial" panose="020B0604020202020204" pitchFamily="34" charset="0"/>
              <a:buNone/>
              <a:defRPr sz="900"/>
            </a:lvl1pPr>
            <a:lvl2pPr marL="0" indent="0">
              <a:lnSpc>
                <a:spcPct val="100000"/>
              </a:lnSpc>
              <a:spcBef>
                <a:spcPts val="0"/>
              </a:spcBef>
              <a:buNone/>
              <a:defRPr sz="900" b="1" i="0">
                <a:latin typeface="Segoe UI" panose="020B0502040204020203" pitchFamily="34" charset="0"/>
                <a:cs typeface="Segoe UI" panose="020B0502040204020203" pitchFamily="34" charset="0"/>
              </a:defRPr>
            </a:lvl2pPr>
          </a:lstStyle>
          <a:p>
            <a:pPr lvl="0"/>
            <a:r>
              <a:rPr lang="en-US"/>
              <a:t>Click to edit Master text styles</a:t>
            </a:r>
          </a:p>
          <a:p>
            <a:pPr lvl="1"/>
            <a:r>
              <a:rPr lang="en-US"/>
              <a:t>Level 2</a:t>
            </a:r>
          </a:p>
        </p:txBody>
      </p:sp>
      <p:sp>
        <p:nvSpPr>
          <p:cNvPr id="5" name="Footnote">
            <a:extLst>
              <a:ext uri="{FF2B5EF4-FFF2-40B4-BE49-F238E27FC236}">
                <a16:creationId xmlns:a16="http://schemas.microsoft.com/office/drawing/2014/main" id="{31EB8337-5CD4-C7D9-AFCA-89AFAC81CFF8}"/>
              </a:ext>
            </a:extLst>
          </p:cNvPr>
          <p:cNvSpPr txBox="1">
            <a:spLocks/>
          </p:cNvSpPr>
          <p:nvPr userDrawn="1"/>
        </p:nvSpPr>
        <p:spPr>
          <a:xfrm>
            <a:off x="653131" y="6406129"/>
            <a:ext cx="9597418" cy="430887"/>
          </a:xfrm>
          <a:prstGeom prst="rect">
            <a:avLst/>
          </a:prstGeom>
        </p:spPr>
        <p:txBody>
          <a:bodyPr vert="horz" wrap="square" lIns="0" tIns="0" rIns="0" bIns="0" rtlCol="0">
            <a:sp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7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baseline="30000" noProof="0" dirty="0"/>
              <a:t>1</a:t>
            </a:r>
            <a:r>
              <a:rPr lang="en-US" noProof="0" dirty="0"/>
              <a:t>Access M365 Copilot Chat at </a:t>
            </a:r>
            <a:r>
              <a:rPr lang="en-US" noProof="0" dirty="0">
                <a:hlinkClick r:id="rId2"/>
              </a:rPr>
              <a:t>m365copilot.com </a:t>
            </a:r>
            <a:r>
              <a:rPr lang="en-US" noProof="0" dirty="0"/>
              <a:t>or the Microsoft 365 Copilot Chat mobile app and set toggle to “Web”.</a:t>
            </a:r>
          </a:p>
          <a:p>
            <a:r>
              <a:rPr lang="en-US" baseline="30000" noProof="0" dirty="0"/>
              <a:t>2</a:t>
            </a:r>
            <a:r>
              <a:rPr lang="en-US" noProof="0" dirty="0"/>
              <a:t>Access M365 Copilot Chat at </a:t>
            </a:r>
            <a:r>
              <a:rPr lang="en-US" noProof="0" dirty="0">
                <a:hlinkClick r:id="rId2"/>
              </a:rPr>
              <a:t>m365copilot.com</a:t>
            </a:r>
            <a:r>
              <a:rPr lang="en-US" noProof="0" dirty="0"/>
              <a:t>, the Microsoft 365 Copilot Chat mobile app, or the M365 Copilot Chat app in Teams, and set toggle to “Work”.</a:t>
            </a:r>
          </a:p>
          <a:p>
            <a:r>
              <a:rPr lang="en-US" baseline="30000" noProof="0" dirty="0"/>
              <a:t>3</a:t>
            </a:r>
            <a:r>
              <a:rPr lang="en-US" noProof="0" dirty="0"/>
              <a:t>AI Agents allow Copilot to access your organization-specific apps. In the past this would have required an API call to get data from a system of record.</a:t>
            </a:r>
          </a:p>
          <a:p>
            <a:r>
              <a:rPr kumimoji="0" lang="en-US" sz="7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The content in this example scenario is for demonstration purposes only. You should evaluate how Copilot aligns with your organization’s business processes, regulatory requirements, and responsible AI principles.</a:t>
            </a:r>
          </a:p>
        </p:txBody>
      </p:sp>
    </p:spTree>
    <p:extLst>
      <p:ext uri="{BB962C8B-B14F-4D97-AF65-F5344CB8AC3E}">
        <p14:creationId xmlns:p14="http://schemas.microsoft.com/office/powerpoint/2010/main" val="369111822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sv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blackWhite">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pic>
        <p:nvPicPr>
          <p:cNvPr id="144" name="Graphic 143">
            <a:extLst>
              <a:ext uri="{FF2B5EF4-FFF2-40B4-BE49-F238E27FC236}">
                <a16:creationId xmlns:a16="http://schemas.microsoft.com/office/drawing/2014/main" id="{55FCE7D5-5796-0746-3173-EB75FBE85E45}"/>
              </a:ext>
            </a:extLst>
          </p:cNvPr>
          <p:cNvPicPr>
            <a:picLocks noChangeAspect="1"/>
          </p:cNvPicPr>
          <p:nvPr/>
        </p:nvPicPr>
        <p:blipFill>
          <a:blip>
            <a:extLst>
              <a:ext uri="{28A0092B-C50C-407E-A947-70E740481C1C}">
                <a14:useLocalDpi xmlns:a14="http://schemas.microsoft.com/office/drawing/2010/main"/>
              </a:ext>
              <a:ext uri="{96DAC541-7B7A-43D3-8B79-37D633B846F1}">
                <asvg:svgBlip xmlns:asvg="http://schemas.microsoft.com/office/drawing/2016/SVG/main" r:embed="rId12"/>
              </a:ext>
            </a:extLst>
          </a:blip>
          <a:srcRect/>
          <a:stretch/>
        </p:blipFill>
        <p:spPr>
          <a:xfrm rot="5400000">
            <a:off x="9509919" y="2743200"/>
            <a:ext cx="6858000" cy="1371600"/>
          </a:xfrm>
          <a:prstGeom prst="rect">
            <a:avLst/>
          </a:prstGeom>
        </p:spPr>
      </p:pic>
    </p:spTree>
    <p:extLst>
      <p:ext uri="{BB962C8B-B14F-4D97-AF65-F5344CB8AC3E}">
        <p14:creationId xmlns:p14="http://schemas.microsoft.com/office/powerpoint/2010/main" val="50379286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0">
          <p15:clr>
            <a:srgbClr val="C35EA4"/>
          </p15:clr>
        </p15:guide>
        <p15:guide id="17" pos="7320">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92">
          <p15:clr>
            <a:srgbClr val="A4A3A4"/>
          </p15:clr>
        </p15:guide>
        <p15:guide id="29" orient="horz" pos="4135">
          <p15:clr>
            <a:srgbClr val="A4A3A4"/>
          </p15:clr>
        </p15:guide>
        <p15:guide id="30" pos="7488">
          <p15:clr>
            <a:srgbClr val="A4A3A4"/>
          </p15:clr>
        </p15:guide>
        <p15:guide id="31" orient="horz" pos="4008">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8.png"/><Relationship Id="rId7" Type="http://schemas.openxmlformats.org/officeDocument/2006/relationships/image" Target="../media/image11.png"/><Relationship Id="rId2" Type="http://schemas.openxmlformats.org/officeDocument/2006/relationships/image" Target="../media/image7.sv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hyperlink" Target="https://aka.ms/prompts"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7" Type="http://schemas.microsoft.com/office/2007/relationships/hdphoto" Target="../media/hdphoto1.wdp"/><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png"/><Relationship Id="rId1" Type="http://schemas.openxmlformats.org/officeDocument/2006/relationships/slideLayout" Target="../slideLayouts/slideLayout5.xml"/><Relationship Id="rId4" Type="http://schemas.openxmlformats.org/officeDocument/2006/relationships/hyperlink" Target="https://www.youtube.com/embed/0sPGgLnwBv0?si=70YRrbBL2bdoImdn" TargetMode="External"/></Relationships>
</file>

<file path=ppt/slides/_rels/slide6.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slide" Target="slide13.xml"/><Relationship Id="rId13" Type="http://schemas.openxmlformats.org/officeDocument/2006/relationships/slide" Target="slide16.xml"/><Relationship Id="rId18" Type="http://schemas.openxmlformats.org/officeDocument/2006/relationships/slide" Target="slide21.xml"/><Relationship Id="rId26" Type="http://schemas.openxmlformats.org/officeDocument/2006/relationships/image" Target="../media/image20.jpeg"/><Relationship Id="rId3" Type="http://schemas.openxmlformats.org/officeDocument/2006/relationships/slide" Target="slide8.xml"/><Relationship Id="rId21" Type="http://schemas.openxmlformats.org/officeDocument/2006/relationships/slide" Target="slide19.xml"/><Relationship Id="rId7" Type="http://schemas.openxmlformats.org/officeDocument/2006/relationships/slide" Target="slide12.xml"/><Relationship Id="rId12" Type="http://schemas.openxmlformats.org/officeDocument/2006/relationships/slide" Target="slide28.xml"/><Relationship Id="rId17" Type="http://schemas.openxmlformats.org/officeDocument/2006/relationships/slide" Target="slide18.xml"/><Relationship Id="rId25" Type="http://schemas.openxmlformats.org/officeDocument/2006/relationships/hyperlink" Target="https://www.youtube.com/embed/0sPGgLnwBv0?si=70YRrbBL2bdoImdn" TargetMode="External"/><Relationship Id="rId2" Type="http://schemas.openxmlformats.org/officeDocument/2006/relationships/notesSlide" Target="../notesSlides/notesSlide4.xml"/><Relationship Id="rId16" Type="http://schemas.openxmlformats.org/officeDocument/2006/relationships/slide" Target="slide27.xml"/><Relationship Id="rId20" Type="http://schemas.openxmlformats.org/officeDocument/2006/relationships/slide" Target="slide24.xml"/><Relationship Id="rId29" Type="http://schemas.openxmlformats.org/officeDocument/2006/relationships/image" Target="../media/image22.jpeg"/><Relationship Id="rId1" Type="http://schemas.openxmlformats.org/officeDocument/2006/relationships/slideLayout" Target="../slideLayouts/slideLayout4.xml"/><Relationship Id="rId6" Type="http://schemas.openxmlformats.org/officeDocument/2006/relationships/slide" Target="slide11.xml"/><Relationship Id="rId11" Type="http://schemas.openxmlformats.org/officeDocument/2006/relationships/slide" Target="slide25.xml"/><Relationship Id="rId24" Type="http://schemas.openxmlformats.org/officeDocument/2006/relationships/slide" Target="slide14.xml"/><Relationship Id="rId32" Type="http://schemas.microsoft.com/office/2007/relationships/hdphoto" Target="../media/hdphoto3.wdp"/><Relationship Id="rId5" Type="http://schemas.openxmlformats.org/officeDocument/2006/relationships/slide" Target="slide10.xml"/><Relationship Id="rId15" Type="http://schemas.openxmlformats.org/officeDocument/2006/relationships/slide" Target="slide22.xml"/><Relationship Id="rId23" Type="http://schemas.openxmlformats.org/officeDocument/2006/relationships/slide" Target="slide15.xml"/><Relationship Id="rId28" Type="http://schemas.microsoft.com/office/2007/relationships/hdphoto" Target="../media/hdphoto2.wdp"/><Relationship Id="rId10" Type="http://schemas.openxmlformats.org/officeDocument/2006/relationships/slide" Target="slide29.xml"/><Relationship Id="rId19" Type="http://schemas.openxmlformats.org/officeDocument/2006/relationships/slide" Target="slide23.xml"/><Relationship Id="rId31" Type="http://schemas.openxmlformats.org/officeDocument/2006/relationships/image" Target="../media/image24.png"/><Relationship Id="rId4" Type="http://schemas.openxmlformats.org/officeDocument/2006/relationships/slide" Target="slide9.xml"/><Relationship Id="rId9" Type="http://schemas.openxmlformats.org/officeDocument/2006/relationships/slide" Target="slide17.xml"/><Relationship Id="rId14" Type="http://schemas.openxmlformats.org/officeDocument/2006/relationships/slide" Target="slide20.xml"/><Relationship Id="rId22" Type="http://schemas.openxmlformats.org/officeDocument/2006/relationships/slide" Target="slide26.xml"/><Relationship Id="rId27" Type="http://schemas.openxmlformats.org/officeDocument/2006/relationships/image" Target="../media/image21.png"/><Relationship Id="rId30" Type="http://schemas.openxmlformats.org/officeDocument/2006/relationships/image" Target="../media/image23.jpeg"/></Relationships>
</file>

<file path=ppt/slides/_rels/slide8.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25.png"/><Relationship Id="rId1" Type="http://schemas.openxmlformats.org/officeDocument/2006/relationships/slideLayout" Target="../slideLayouts/slideLayout2.xml"/><Relationship Id="rId4" Type="http://schemas.openxmlformats.org/officeDocument/2006/relationships/image" Target="../media/image26.jpeg"/></Relationships>
</file>

<file path=ppt/slides/_rels/slide9.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25.png"/><Relationship Id="rId1" Type="http://schemas.openxmlformats.org/officeDocument/2006/relationships/slideLayout" Target="../slideLayouts/slideLayout2.xml"/><Relationship Id="rId4" Type="http://schemas.openxmlformats.org/officeDocument/2006/relationships/image" Target="../media/image27.jpeg"/></Relationships>
</file>

<file path=ppt/slides/_rels/slide10.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25.png"/><Relationship Id="rId1" Type="http://schemas.openxmlformats.org/officeDocument/2006/relationships/slideLayout" Target="../slideLayouts/slideLayout2.xml"/><Relationship Id="rId4" Type="http://schemas.openxmlformats.org/officeDocument/2006/relationships/image" Target="../media/image28.jpeg"/></Relationships>
</file>

<file path=ppt/slides/_rels/slide11.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25.png"/><Relationship Id="rId1" Type="http://schemas.openxmlformats.org/officeDocument/2006/relationships/slideLayout" Target="../slideLayouts/slideLayout2.xml"/><Relationship Id="rId4" Type="http://schemas.openxmlformats.org/officeDocument/2006/relationships/image" Target="../media/image26.jpeg"/></Relationships>
</file>

<file path=ppt/slides/_rels/slide12.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25.png"/><Relationship Id="rId1" Type="http://schemas.openxmlformats.org/officeDocument/2006/relationships/slideLayout" Target="../slideLayouts/slideLayout2.xml"/><Relationship Id="rId4" Type="http://schemas.openxmlformats.org/officeDocument/2006/relationships/image" Target="../media/image29.jpeg"/></Relationships>
</file>

<file path=ppt/slides/_rels/slide13.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30.svg"/><Relationship Id="rId1" Type="http://schemas.openxmlformats.org/officeDocument/2006/relationships/slideLayout" Target="../slideLayouts/slideLayout7.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hyperlink" Target="https://support.microsoft.com/en-us/topic/overview-of-microsoft-365-chat-preview-5b00a52d-7296-48ee-b938-b95b7209f737" TargetMode="External"/></Relationships>
</file>

<file path=ppt/slides/_rels/slide14.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hyperlink" Target="https://www.youtube.com/embed/JlXpE2kbrOY?si=hOzRVxlFU8OQ_wwU" TargetMode="External"/><Relationship Id="rId7" Type="http://schemas.openxmlformats.org/officeDocument/2006/relationships/image" Target="../media/image35.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34.png"/><Relationship Id="rId5" Type="http://schemas.openxmlformats.org/officeDocument/2006/relationships/image" Target="../media/image31.svg"/><Relationship Id="rId4" Type="http://schemas.openxmlformats.org/officeDocument/2006/relationships/image" Target="../media/image30.svg"/></Relationships>
</file>

<file path=ppt/slides/_rels/slide15.xml.rels><?xml version="1.0" encoding="UTF-8" standalone="yes"?>
<Relationships xmlns="http://schemas.openxmlformats.org/package/2006/relationships"><Relationship Id="rId3" Type="http://schemas.openxmlformats.org/officeDocument/2006/relationships/image" Target="../media/image30.svg"/><Relationship Id="rId7" Type="http://schemas.openxmlformats.org/officeDocument/2006/relationships/image" Target="../media/image33.png"/><Relationship Id="rId2" Type="http://schemas.openxmlformats.org/officeDocument/2006/relationships/hyperlink" Target="https://support.microsoft.com/en-us/topic/get-started-with-word-excel-and-powerpoint-agents-in-microsoft-365-copilot-frontier-76691f5e-bb19-4029-a34d-33a00e0a0c4f" TargetMode="External"/><Relationship Id="rId1" Type="http://schemas.openxmlformats.org/officeDocument/2006/relationships/slideLayout" Target="../slideLayouts/slideLayout8.xml"/><Relationship Id="rId6" Type="http://schemas.openxmlformats.org/officeDocument/2006/relationships/image" Target="../media/image11.png"/><Relationship Id="rId5" Type="http://schemas.openxmlformats.org/officeDocument/2006/relationships/image" Target="../media/image36.png"/><Relationship Id="rId4" Type="http://schemas.openxmlformats.org/officeDocument/2006/relationships/image" Target="../media/image31.svg"/></Relationships>
</file>

<file path=ppt/slides/_rels/slide16.xml.rels><?xml version="1.0" encoding="UTF-8" standalone="yes"?>
<Relationships xmlns="http://schemas.openxmlformats.org/package/2006/relationships"><Relationship Id="rId3" Type="http://schemas.openxmlformats.org/officeDocument/2006/relationships/image" Target="../media/image30.svg"/><Relationship Id="rId7" Type="http://schemas.openxmlformats.org/officeDocument/2006/relationships/image" Target="../media/image36.png"/><Relationship Id="rId2" Type="http://schemas.openxmlformats.org/officeDocument/2006/relationships/hyperlink" Target="https://support.microsoft.com/topic/get-started-with-researcher-in-microsoft-365-copilot-e63ab760-f3de-4c47-ae87-dad601b0e9c4" TargetMode="External"/><Relationship Id="rId1" Type="http://schemas.openxmlformats.org/officeDocument/2006/relationships/slideLayout" Target="../slideLayouts/slideLayout7.xml"/><Relationship Id="rId6" Type="http://schemas.openxmlformats.org/officeDocument/2006/relationships/image" Target="../media/image37.png"/><Relationship Id="rId5" Type="http://schemas.openxmlformats.org/officeDocument/2006/relationships/image" Target="../media/image34.png"/><Relationship Id="rId4" Type="http://schemas.openxmlformats.org/officeDocument/2006/relationships/image" Target="../media/image31.svg"/></Relationships>
</file>

<file path=ppt/slides/_rels/slide17.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hyperlink" Target="https://support.microsoft.com/en-gb/topic/get-started-with-analyst-in-microsoft-365-copilot-ff505b9c-a06c-4be9-b855-69d89b1d25d2" TargetMode="External"/><Relationship Id="rId7" Type="http://schemas.openxmlformats.org/officeDocument/2006/relationships/image" Target="../media/image38.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hyperlink" Target="https://www.youtube.com/watch?v=zkyzrLwRwlo" TargetMode="External"/><Relationship Id="rId5" Type="http://schemas.openxmlformats.org/officeDocument/2006/relationships/image" Target="../media/image31.svg"/><Relationship Id="rId4" Type="http://schemas.openxmlformats.org/officeDocument/2006/relationships/image" Target="../media/image30.svg"/></Relationships>
</file>

<file path=ppt/slides/_rels/slide18.xml.rels><?xml version="1.0" encoding="UTF-8" standalone="yes"?>
<Relationships xmlns="http://schemas.openxmlformats.org/package/2006/relationships"><Relationship Id="rId8" Type="http://schemas.openxmlformats.org/officeDocument/2006/relationships/hyperlink" Target="https://medius.microsoft.com/Embed/video-nc/8d20b401-3b04-45cf-b248-37de70321fa6" TargetMode="External"/><Relationship Id="rId3" Type="http://schemas.openxmlformats.org/officeDocument/2006/relationships/image" Target="../media/image30.svg"/><Relationship Id="rId7" Type="http://schemas.openxmlformats.org/officeDocument/2006/relationships/image" Target="../media/image32.png"/><Relationship Id="rId2" Type="http://schemas.openxmlformats.org/officeDocument/2006/relationships/image" Target="../media/image34.png"/><Relationship Id="rId1" Type="http://schemas.openxmlformats.org/officeDocument/2006/relationships/slideLayout" Target="../slideLayouts/slideLayout7.xml"/><Relationship Id="rId6" Type="http://schemas.openxmlformats.org/officeDocument/2006/relationships/hyperlink" Target="https://support.microsoft.com/en-us/topic/overview-of-microsoft-365-chat-preview-5b00a52d-7296-48ee-b938-b95b7209f737" TargetMode="External"/><Relationship Id="rId5" Type="http://schemas.openxmlformats.org/officeDocument/2006/relationships/image" Target="../media/image39.png"/><Relationship Id="rId10" Type="http://schemas.openxmlformats.org/officeDocument/2006/relationships/image" Target="../media/image11.png"/><Relationship Id="rId4" Type="http://schemas.openxmlformats.org/officeDocument/2006/relationships/image" Target="../media/image31.svg"/><Relationship Id="rId9" Type="http://schemas.openxmlformats.org/officeDocument/2006/relationships/image" Target="../media/image40.png"/></Relationships>
</file>

<file path=ppt/slides/_rels/slide19.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hyperlink" Target="https://support.microsoft.com/en-us/topic/get-started-with-word-excel-and-powerpoint-agents-in-microsoft-365-copilot-frontier-76691f5e-bb19-4029-a34d-33a00e0a0c4f" TargetMode="External"/><Relationship Id="rId7" Type="http://schemas.openxmlformats.org/officeDocument/2006/relationships/image" Target="../media/image40.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34.png"/><Relationship Id="rId5" Type="http://schemas.openxmlformats.org/officeDocument/2006/relationships/image" Target="../media/image31.svg"/><Relationship Id="rId4" Type="http://schemas.openxmlformats.org/officeDocument/2006/relationships/image" Target="../media/image30.svg"/></Relationships>
</file>

<file path=ppt/slides/_rels/slide20.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30.svg"/><Relationship Id="rId7" Type="http://schemas.openxmlformats.org/officeDocument/2006/relationships/image" Target="../media/image40.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32.png"/><Relationship Id="rId5" Type="http://schemas.openxmlformats.org/officeDocument/2006/relationships/hyperlink" Target="https://support.microsoft.com/en-us/topic/overview-of-microsoft-365-chat-preview-5b00a52d-7296-48ee-b938-b95b7209f737" TargetMode="External"/><Relationship Id="rId4" Type="http://schemas.openxmlformats.org/officeDocument/2006/relationships/image" Target="../media/image31.svg"/></Relationships>
</file>

<file path=ppt/slides/_rels/slide21.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39.png"/><Relationship Id="rId7" Type="http://schemas.openxmlformats.org/officeDocument/2006/relationships/image" Target="../media/image32.png"/><Relationship Id="rId2" Type="http://schemas.openxmlformats.org/officeDocument/2006/relationships/hyperlink" Target="https://support.microsoft.com/en-us/topic/get-started-with-word-excel-and-powerpoint-agents-in-microsoft-365-copilot-frontier-76691f5e-bb19-4029-a34d-33a00e0a0c4f" TargetMode="External"/><Relationship Id="rId1" Type="http://schemas.openxmlformats.org/officeDocument/2006/relationships/slideLayout" Target="../slideLayouts/slideLayout7.xml"/><Relationship Id="rId6" Type="http://schemas.openxmlformats.org/officeDocument/2006/relationships/hyperlink" Target="https://support.microsoft.com/en-us/topic/overview-of-microsoft-365-chat-preview-5b00a52d-7296-48ee-b938-b95b7209f737" TargetMode="External"/><Relationship Id="rId5" Type="http://schemas.openxmlformats.org/officeDocument/2006/relationships/image" Target="../media/image31.svg"/><Relationship Id="rId10" Type="http://schemas.openxmlformats.org/officeDocument/2006/relationships/image" Target="../media/image33.png"/><Relationship Id="rId4" Type="http://schemas.openxmlformats.org/officeDocument/2006/relationships/image" Target="../media/image30.svg"/><Relationship Id="rId9" Type="http://schemas.openxmlformats.org/officeDocument/2006/relationships/image" Target="../media/image11.png"/></Relationships>
</file>

<file path=ppt/slides/_rels/slide22.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31.svg"/><Relationship Id="rId7" Type="http://schemas.openxmlformats.org/officeDocument/2006/relationships/image" Target="../media/image36.png"/><Relationship Id="rId2" Type="http://schemas.openxmlformats.org/officeDocument/2006/relationships/image" Target="../media/image30.svg"/><Relationship Id="rId1" Type="http://schemas.openxmlformats.org/officeDocument/2006/relationships/slideLayout" Target="../slideLayouts/slideLayout8.xml"/><Relationship Id="rId6" Type="http://schemas.openxmlformats.org/officeDocument/2006/relationships/image" Target="../media/image32.png"/><Relationship Id="rId5" Type="http://schemas.openxmlformats.org/officeDocument/2006/relationships/hyperlink" Target="https://support.microsoft.com/en-us/topic/overview-of-microsoft-365-chat-preview-5b00a52d-7296-48ee-b938-b95b7209f737" TargetMode="External"/><Relationship Id="rId4" Type="http://schemas.openxmlformats.org/officeDocument/2006/relationships/image" Target="../media/image34.png"/><Relationship Id="rId9" Type="http://schemas.openxmlformats.org/officeDocument/2006/relationships/image" Target="../media/image11.png"/></Relationships>
</file>

<file path=ppt/slides/_rels/slide23.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30.svg"/><Relationship Id="rId7" Type="http://schemas.openxmlformats.org/officeDocument/2006/relationships/image" Target="../media/image40.png"/><Relationship Id="rId2" Type="http://schemas.openxmlformats.org/officeDocument/2006/relationships/hyperlink" Target="https://support.microsoft.com/en-us/topic/get-started-with-word-excel-and-powerpoint-agents-in-microsoft-365-copilot-frontier-76691f5e-bb19-4029-a34d-33a00e0a0c4f" TargetMode="External"/><Relationship Id="rId1" Type="http://schemas.openxmlformats.org/officeDocument/2006/relationships/slideLayout" Target="../slideLayouts/slideLayout8.xml"/><Relationship Id="rId6" Type="http://schemas.openxmlformats.org/officeDocument/2006/relationships/image" Target="../media/image32.png"/><Relationship Id="rId5" Type="http://schemas.openxmlformats.org/officeDocument/2006/relationships/hyperlink" Target="https://support.microsoft.com/en-us/topic/overview-of-microsoft-365-chat-preview-5b00a52d-7296-48ee-b938-b95b7209f737" TargetMode="External"/><Relationship Id="rId4" Type="http://schemas.openxmlformats.org/officeDocument/2006/relationships/image" Target="../media/image31.svg"/><Relationship Id="rId9" Type="http://schemas.openxmlformats.org/officeDocument/2006/relationships/image" Target="../media/image33.png"/></Relationships>
</file>

<file path=ppt/slides/_rels/slide24.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30.svg"/><Relationship Id="rId7" Type="http://schemas.openxmlformats.org/officeDocument/2006/relationships/hyperlink" Target="https://support.microsoft.com/en-us/topic/overview-of-microsoft-365-chat-preview-5b00a52d-7296-48ee-b938-b95b7209f737" TargetMode="External"/><Relationship Id="rId2" Type="http://schemas.openxmlformats.org/officeDocument/2006/relationships/hyperlink" Target="https://support.microsoft.com/en-us/topic/get-started-with-word-excel-and-powerpoint-agents-in-microsoft-365-copilot-frontier-76691f5e-bb19-4029-a34d-33a00e0a0c4f" TargetMode="External"/><Relationship Id="rId1" Type="http://schemas.openxmlformats.org/officeDocument/2006/relationships/slideLayout" Target="../slideLayouts/slideLayout7.xml"/><Relationship Id="rId6" Type="http://schemas.openxmlformats.org/officeDocument/2006/relationships/image" Target="../media/image34.png"/><Relationship Id="rId11" Type="http://schemas.openxmlformats.org/officeDocument/2006/relationships/image" Target="../media/image33.png"/><Relationship Id="rId5" Type="http://schemas.openxmlformats.org/officeDocument/2006/relationships/image" Target="../media/image39.png"/><Relationship Id="rId10" Type="http://schemas.openxmlformats.org/officeDocument/2006/relationships/image" Target="../media/image11.png"/><Relationship Id="rId4" Type="http://schemas.openxmlformats.org/officeDocument/2006/relationships/image" Target="../media/image31.svg"/><Relationship Id="rId9" Type="http://schemas.openxmlformats.org/officeDocument/2006/relationships/image" Target="../media/image40.png"/></Relationships>
</file>

<file path=ppt/slides/_rels/slide25.xml.rels><?xml version="1.0" encoding="UTF-8" standalone="yes"?>
<Relationships xmlns="http://schemas.openxmlformats.org/package/2006/relationships"><Relationship Id="rId8" Type="http://schemas.openxmlformats.org/officeDocument/2006/relationships/image" Target="../media/image32.png"/><Relationship Id="rId13" Type="http://schemas.openxmlformats.org/officeDocument/2006/relationships/image" Target="../media/image33.png"/><Relationship Id="rId3" Type="http://schemas.openxmlformats.org/officeDocument/2006/relationships/hyperlink" Target="https://support.microsoft.com/en-gb/topic/get-started-with-analyst-in-microsoft-365-copilot-ff505b9c-a06c-4be9-b855-69d89b1d25d2" TargetMode="External"/><Relationship Id="rId7" Type="http://schemas.openxmlformats.org/officeDocument/2006/relationships/hyperlink" Target="https://support.microsoft.com/en-us/topic/overview-of-microsoft-365-chat-preview-5b00a52d-7296-48ee-b938-b95b7209f737" TargetMode="External"/><Relationship Id="rId12" Type="http://schemas.openxmlformats.org/officeDocument/2006/relationships/image" Target="../media/image40.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31.svg"/><Relationship Id="rId11" Type="http://schemas.openxmlformats.org/officeDocument/2006/relationships/image" Target="../media/image36.png"/><Relationship Id="rId5" Type="http://schemas.openxmlformats.org/officeDocument/2006/relationships/image" Target="../media/image30.svg"/><Relationship Id="rId10" Type="http://schemas.openxmlformats.org/officeDocument/2006/relationships/image" Target="../media/image38.png"/><Relationship Id="rId4" Type="http://schemas.openxmlformats.org/officeDocument/2006/relationships/hyperlink" Target="https://support.microsoft.com/en-us/topic/get-started-with-word-excel-and-powerpoint-agents-in-microsoft-365-copilot-frontier-76691f5e-bb19-4029-a34d-33a00e0a0c4f" TargetMode="External"/><Relationship Id="rId9" Type="http://schemas.openxmlformats.org/officeDocument/2006/relationships/image" Target="../media/image34.png"/></Relationships>
</file>

<file path=ppt/slides/_rels/slide26.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31.svg"/><Relationship Id="rId7" Type="http://schemas.openxmlformats.org/officeDocument/2006/relationships/image" Target="../media/image36.png"/><Relationship Id="rId2" Type="http://schemas.openxmlformats.org/officeDocument/2006/relationships/image" Target="../media/image30.svg"/><Relationship Id="rId1" Type="http://schemas.openxmlformats.org/officeDocument/2006/relationships/slideLayout" Target="../slideLayouts/slideLayout8.xml"/><Relationship Id="rId6" Type="http://schemas.openxmlformats.org/officeDocument/2006/relationships/image" Target="../media/image34.png"/><Relationship Id="rId5" Type="http://schemas.openxmlformats.org/officeDocument/2006/relationships/image" Target="../media/image32.png"/><Relationship Id="rId4" Type="http://schemas.openxmlformats.org/officeDocument/2006/relationships/hyperlink" Target="https://support.microsoft.com/en-us/topic/overview-of-microsoft-365-chat-preview-5b00a52d-7296-48ee-b938-b95b7209f737" TargetMode="External"/><Relationship Id="rId9" Type="http://schemas.openxmlformats.org/officeDocument/2006/relationships/image" Target="../media/image11.png"/></Relationships>
</file>

<file path=ppt/slides/_rels/slide27.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30.svg"/><Relationship Id="rId1" Type="http://schemas.openxmlformats.org/officeDocument/2006/relationships/slideLayout" Target="../slideLayouts/slideLayout7.xml"/><Relationship Id="rId6" Type="http://schemas.openxmlformats.org/officeDocument/2006/relationships/image" Target="../media/image35.png"/><Relationship Id="rId5" Type="http://schemas.openxmlformats.org/officeDocument/2006/relationships/image" Target="../media/image32.png"/><Relationship Id="rId4" Type="http://schemas.openxmlformats.org/officeDocument/2006/relationships/hyperlink" Target="https://support.microsoft.com/en-us/topic/overview-of-microsoft-365-chat-preview-5b00a52d-7296-48ee-b938-b95b7209f737" TargetMode="External"/></Relationships>
</file>

<file path=ppt/slides/_rels/slide28.xml.rels><?xml version="1.0" encoding="UTF-8" standalone="yes"?>
<Relationships xmlns="http://schemas.openxmlformats.org/package/2006/relationships"><Relationship Id="rId8" Type="http://schemas.openxmlformats.org/officeDocument/2006/relationships/image" Target="../media/image32.png"/><Relationship Id="rId13" Type="http://schemas.openxmlformats.org/officeDocument/2006/relationships/image" Target="../media/image36.png"/><Relationship Id="rId3" Type="http://schemas.openxmlformats.org/officeDocument/2006/relationships/oleObject" Target="../embeddings/oleObject1.bin"/><Relationship Id="rId7" Type="http://schemas.openxmlformats.org/officeDocument/2006/relationships/hyperlink" Target="https://support.microsoft.com/en-us/topic/overview-of-microsoft-365-chat-preview-5b00a52d-7296-48ee-b938-b95b7209f737" TargetMode="External"/><Relationship Id="rId12" Type="http://schemas.openxmlformats.org/officeDocument/2006/relationships/image" Target="../media/image35.png"/><Relationship Id="rId2" Type="http://schemas.openxmlformats.org/officeDocument/2006/relationships/slideLayout" Target="../slideLayouts/slideLayout7.xml"/><Relationship Id="rId1" Type="http://schemas.openxmlformats.org/officeDocument/2006/relationships/tags" Target="../tags/tag1.xml"/><Relationship Id="rId6" Type="http://schemas.openxmlformats.org/officeDocument/2006/relationships/image" Target="../media/image34.png"/><Relationship Id="rId11" Type="http://schemas.openxmlformats.org/officeDocument/2006/relationships/hyperlink" Target="https://medius.microsoft.com/Embed/video-nc/de8530eb-c44d-4fab-822f-421e37d3f363" TargetMode="External"/><Relationship Id="rId5" Type="http://schemas.openxmlformats.org/officeDocument/2006/relationships/hyperlink" Target="https://support.microsoft.com/en-us/topic/get-started-with-word-excel-and-powerpoint-agents-in-microsoft-365-copilot-frontier-76691f5e-bb19-4029-a34d-33a00e0a0c4f" TargetMode="External"/><Relationship Id="rId10" Type="http://schemas.openxmlformats.org/officeDocument/2006/relationships/image" Target="../media/image30.svg"/><Relationship Id="rId4" Type="http://schemas.openxmlformats.org/officeDocument/2006/relationships/image" Target="../media/image41.emf"/><Relationship Id="rId9" Type="http://schemas.openxmlformats.org/officeDocument/2006/relationships/image" Target="../media/image31.svg"/><Relationship Id="rId14" Type="http://schemas.openxmlformats.org/officeDocument/2006/relationships/image" Target="../media/image33.png"/></Relationships>
</file>

<file path=ppt/slides/_rels/slide29.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hyperlink" Target="https://support.microsoft.com/en-us/topic/get-started-with-word-excel-and-powerpoint-agents-in-microsoft-365-copilot-frontier-76691f5e-bb19-4029-a34d-33a00e0a0c4f" TargetMode="External"/><Relationship Id="rId7" Type="http://schemas.openxmlformats.org/officeDocument/2006/relationships/image" Target="../media/image32.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hyperlink" Target="https://support.microsoft.com/en-us/topic/overview-of-microsoft-365-chat-preview-5b00a52d-7296-48ee-b938-b95b7209f737" TargetMode="External"/><Relationship Id="rId5" Type="http://schemas.openxmlformats.org/officeDocument/2006/relationships/image" Target="../media/image31.svg"/><Relationship Id="rId10" Type="http://schemas.openxmlformats.org/officeDocument/2006/relationships/image" Target="../media/image33.png"/><Relationship Id="rId4" Type="http://schemas.openxmlformats.org/officeDocument/2006/relationships/image" Target="../media/image30.svg"/><Relationship Id="rId9" Type="http://schemas.openxmlformats.org/officeDocument/2006/relationships/image" Target="../media/image11.png"/></Relationships>
</file>

<file path=ppt/slides/_rels/slide30.xml.rels><?xml version="1.0" encoding="UTF-8" standalone="yes"?>
<Relationships xmlns="http://schemas.openxmlformats.org/package/2006/relationships"><Relationship Id="rId3" Type="http://schemas.openxmlformats.org/officeDocument/2006/relationships/hyperlink" Target="https://adoption.microsoft.com/files/copilot-scenario-library/Microsoft-AI-Agent-for-Finance_Finance-Q-and-A-Agent.pptx" TargetMode="External"/><Relationship Id="rId2" Type="http://schemas.openxmlformats.org/officeDocument/2006/relationships/notesSlide" Target="../notesSlides/notesSlide11.xml"/><Relationship Id="rId1" Type="http://schemas.openxmlformats.org/officeDocument/2006/relationships/slideLayout" Target="../slideLayouts/slideLayout9.xml"/><Relationship Id="rId6" Type="http://schemas.openxmlformats.org/officeDocument/2006/relationships/image" Target="../media/image35.png"/><Relationship Id="rId5" Type="http://schemas.openxmlformats.org/officeDocument/2006/relationships/image" Target="../media/image31.svg"/><Relationship Id="rId4" Type="http://schemas.openxmlformats.org/officeDocument/2006/relationships/image" Target="../media/image30.svg"/></Relationships>
</file>

<file path=ppt/slides/_rels/slide31.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43.svg"/><Relationship Id="rId7" Type="http://schemas.openxmlformats.org/officeDocument/2006/relationships/image" Target="../media/image46.png"/><Relationship Id="rId12" Type="http://schemas.openxmlformats.org/officeDocument/2006/relationships/image" Target="../media/image11.png"/><Relationship Id="rId2" Type="http://schemas.openxmlformats.org/officeDocument/2006/relationships/image" Target="../media/image42.png"/><Relationship Id="rId1" Type="http://schemas.openxmlformats.org/officeDocument/2006/relationships/slideLayout" Target="../slideLayouts/slideLayout10.xml"/><Relationship Id="rId6" Type="http://schemas.openxmlformats.org/officeDocument/2006/relationships/hyperlink" Target="https://support.microsoft.com/en-us/topic/overview-of-microsoft-365-chat-preview-5b00a52d-7296-48ee-b938-b95b7209f737" TargetMode="External"/><Relationship Id="rId11" Type="http://schemas.openxmlformats.org/officeDocument/2006/relationships/image" Target="../media/image36.png"/><Relationship Id="rId5" Type="http://schemas.openxmlformats.org/officeDocument/2006/relationships/image" Target="../media/image45.svg"/><Relationship Id="rId10" Type="http://schemas.openxmlformats.org/officeDocument/2006/relationships/image" Target="../media/image35.png"/><Relationship Id="rId4" Type="http://schemas.openxmlformats.org/officeDocument/2006/relationships/image" Target="../media/image44.svg"/><Relationship Id="rId9" Type="http://schemas.openxmlformats.org/officeDocument/2006/relationships/image" Target="../media/image48.svg"/></Relationships>
</file>

<file path=ppt/slides/_rels/slide32.xml.rels><?xml version="1.0" encoding="UTF-8" standalone="yes"?>
<Relationships xmlns="http://schemas.openxmlformats.org/package/2006/relationships"><Relationship Id="rId8" Type="http://schemas.openxmlformats.org/officeDocument/2006/relationships/image" Target="../media/image50.png"/><Relationship Id="rId13" Type="http://schemas.openxmlformats.org/officeDocument/2006/relationships/image" Target="../media/image11.png"/><Relationship Id="rId3" Type="http://schemas.openxmlformats.org/officeDocument/2006/relationships/image" Target="../media/image43.svg"/><Relationship Id="rId7" Type="http://schemas.openxmlformats.org/officeDocument/2006/relationships/image" Target="../media/image46.png"/><Relationship Id="rId12" Type="http://schemas.openxmlformats.org/officeDocument/2006/relationships/image" Target="../media/image40.png"/><Relationship Id="rId2" Type="http://schemas.openxmlformats.org/officeDocument/2006/relationships/image" Target="../media/image49.png"/><Relationship Id="rId1" Type="http://schemas.openxmlformats.org/officeDocument/2006/relationships/slideLayout" Target="../slideLayouts/slideLayout10.xml"/><Relationship Id="rId6" Type="http://schemas.openxmlformats.org/officeDocument/2006/relationships/hyperlink" Target="https://support.microsoft.com/en-us/topic/overview-of-microsoft-365-chat-preview-5b00a52d-7296-48ee-b938-b95b7209f737" TargetMode="External"/><Relationship Id="rId11" Type="http://schemas.openxmlformats.org/officeDocument/2006/relationships/image" Target="../media/image48.svg"/><Relationship Id="rId5" Type="http://schemas.openxmlformats.org/officeDocument/2006/relationships/image" Target="../media/image45.svg"/><Relationship Id="rId10" Type="http://schemas.openxmlformats.org/officeDocument/2006/relationships/image" Target="../media/image51.png"/><Relationship Id="rId4" Type="http://schemas.openxmlformats.org/officeDocument/2006/relationships/image" Target="../media/image44.svg"/><Relationship Id="rId9" Type="http://schemas.openxmlformats.org/officeDocument/2006/relationships/image" Target="../media/image47.png"/></Relationships>
</file>

<file path=ppt/slides/_rels/slide33.xml.rels><?xml version="1.0" encoding="UTF-8" standalone="yes"?>
<Relationships xmlns="http://schemas.openxmlformats.org/package/2006/relationships"><Relationship Id="rId8" Type="http://schemas.openxmlformats.org/officeDocument/2006/relationships/hyperlink" Target="https://support.microsoft.com/en-us/topic/overview-of-microsoft-365-chat-preview-5b00a52d-7296-48ee-b938-b95b7209f737" TargetMode="External"/><Relationship Id="rId13" Type="http://schemas.openxmlformats.org/officeDocument/2006/relationships/image" Target="../media/image33.png"/><Relationship Id="rId3" Type="http://schemas.openxmlformats.org/officeDocument/2006/relationships/hyperlink" Target="https://support.microsoft.com/en-us/topic/get-started-with-word-excel-and-powerpoint-agents-in-microsoft-365-copilot-frontier-76691f5e-bb19-4029-a34d-33a00e0a0c4f" TargetMode="External"/><Relationship Id="rId7" Type="http://schemas.openxmlformats.org/officeDocument/2006/relationships/image" Target="../media/image45.svg"/><Relationship Id="rId12" Type="http://schemas.openxmlformats.org/officeDocument/2006/relationships/image" Target="../media/image40.png"/><Relationship Id="rId2" Type="http://schemas.openxmlformats.org/officeDocument/2006/relationships/notesSlide" Target="../notesSlides/notesSlide12.xml"/><Relationship Id="rId1" Type="http://schemas.openxmlformats.org/officeDocument/2006/relationships/slideLayout" Target="../slideLayouts/slideLayout10.xml"/><Relationship Id="rId6" Type="http://schemas.openxmlformats.org/officeDocument/2006/relationships/image" Target="../media/image44.svg"/><Relationship Id="rId11" Type="http://schemas.openxmlformats.org/officeDocument/2006/relationships/image" Target="../media/image36.png"/><Relationship Id="rId5" Type="http://schemas.openxmlformats.org/officeDocument/2006/relationships/image" Target="../media/image43.svg"/><Relationship Id="rId10" Type="http://schemas.openxmlformats.org/officeDocument/2006/relationships/image" Target="../media/image48.svg"/><Relationship Id="rId4" Type="http://schemas.openxmlformats.org/officeDocument/2006/relationships/image" Target="../media/image52.png"/><Relationship Id="rId9" Type="http://schemas.openxmlformats.org/officeDocument/2006/relationships/image" Target="../media/image46.png"/><Relationship Id="rId14" Type="http://schemas.openxmlformats.org/officeDocument/2006/relationships/image" Target="../media/image10.png"/></Relationships>
</file>

<file path=ppt/slides/_rels/slide34.xml.rels><?xml version="1.0" encoding="UTF-8" standalone="yes"?>
<Relationships xmlns="http://schemas.openxmlformats.org/package/2006/relationships"><Relationship Id="rId8" Type="http://schemas.openxmlformats.org/officeDocument/2006/relationships/hyperlink" Target="https://support.microsoft.com/en-us/topic/overview-of-microsoft-365-chat-preview-5b00a52d-7296-48ee-b938-b95b7209f737" TargetMode="External"/><Relationship Id="rId13" Type="http://schemas.openxmlformats.org/officeDocument/2006/relationships/image" Target="../media/image10.png"/><Relationship Id="rId3" Type="http://schemas.openxmlformats.org/officeDocument/2006/relationships/hyperlink" Target="https://support.microsoft.com/en-us/topic/get-started-with-word-excel-and-powerpoint-agents-in-microsoft-365-copilot-frontier-76691f5e-bb19-4029-a34d-33a00e0a0c4f" TargetMode="External"/><Relationship Id="rId7" Type="http://schemas.openxmlformats.org/officeDocument/2006/relationships/image" Target="../media/image45.svg"/><Relationship Id="rId12" Type="http://schemas.openxmlformats.org/officeDocument/2006/relationships/image" Target="../media/image33.png"/><Relationship Id="rId2" Type="http://schemas.openxmlformats.org/officeDocument/2006/relationships/notesSlide" Target="../notesSlides/notesSlide13.xml"/><Relationship Id="rId1" Type="http://schemas.openxmlformats.org/officeDocument/2006/relationships/slideLayout" Target="../slideLayouts/slideLayout10.xml"/><Relationship Id="rId6" Type="http://schemas.openxmlformats.org/officeDocument/2006/relationships/image" Target="../media/image44.svg"/><Relationship Id="rId11" Type="http://schemas.openxmlformats.org/officeDocument/2006/relationships/image" Target="../media/image36.png"/><Relationship Id="rId5" Type="http://schemas.openxmlformats.org/officeDocument/2006/relationships/image" Target="../media/image43.svg"/><Relationship Id="rId10" Type="http://schemas.openxmlformats.org/officeDocument/2006/relationships/image" Target="../media/image48.svg"/><Relationship Id="rId4" Type="http://schemas.openxmlformats.org/officeDocument/2006/relationships/image" Target="../media/image53.png"/><Relationship Id="rId9" Type="http://schemas.openxmlformats.org/officeDocument/2006/relationships/image" Target="../media/image46.png"/></Relationships>
</file>

<file path=ppt/slides/_rels/slide35.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44.svg"/><Relationship Id="rId7" Type="http://schemas.openxmlformats.org/officeDocument/2006/relationships/image" Target="../media/image48.svg"/><Relationship Id="rId2" Type="http://schemas.openxmlformats.org/officeDocument/2006/relationships/image" Target="../media/image43.svg"/><Relationship Id="rId1" Type="http://schemas.openxmlformats.org/officeDocument/2006/relationships/slideLayout" Target="../slideLayouts/slideLayout10.xml"/><Relationship Id="rId6" Type="http://schemas.openxmlformats.org/officeDocument/2006/relationships/image" Target="../media/image55.png"/><Relationship Id="rId5" Type="http://schemas.openxmlformats.org/officeDocument/2006/relationships/image" Target="../media/image54.png"/><Relationship Id="rId10" Type="http://schemas.openxmlformats.org/officeDocument/2006/relationships/image" Target="../media/image33.png"/><Relationship Id="rId4" Type="http://schemas.openxmlformats.org/officeDocument/2006/relationships/image" Target="../media/image45.svg"/><Relationship Id="rId9" Type="http://schemas.openxmlformats.org/officeDocument/2006/relationships/image" Target="../media/image40.png"/></Relationships>
</file>

<file path=ppt/slides/_rels/slide36.xml.rels><?xml version="1.0" encoding="UTF-8" standalone="yes"?>
<Relationships xmlns="http://schemas.openxmlformats.org/package/2006/relationships"><Relationship Id="rId8" Type="http://schemas.openxmlformats.org/officeDocument/2006/relationships/image" Target="../media/image46.png"/><Relationship Id="rId13" Type="http://schemas.openxmlformats.org/officeDocument/2006/relationships/image" Target="../media/image10.png"/><Relationship Id="rId3" Type="http://schemas.microsoft.com/office/2007/relationships/hdphoto" Target="../media/hdphoto5.wdp"/><Relationship Id="rId7" Type="http://schemas.openxmlformats.org/officeDocument/2006/relationships/hyperlink" Target="https://support.microsoft.com/en-us/topic/overview-of-microsoft-365-chat-preview-5b00a52d-7296-48ee-b938-b95b7209f737" TargetMode="External"/><Relationship Id="rId12" Type="http://schemas.openxmlformats.org/officeDocument/2006/relationships/image" Target="../media/image33.png"/><Relationship Id="rId2" Type="http://schemas.openxmlformats.org/officeDocument/2006/relationships/image" Target="../media/image56.png"/><Relationship Id="rId1" Type="http://schemas.openxmlformats.org/officeDocument/2006/relationships/slideLayout" Target="../slideLayouts/slideLayout10.xml"/><Relationship Id="rId6" Type="http://schemas.openxmlformats.org/officeDocument/2006/relationships/image" Target="../media/image45.svg"/><Relationship Id="rId11" Type="http://schemas.openxmlformats.org/officeDocument/2006/relationships/image" Target="../media/image11.png"/><Relationship Id="rId5" Type="http://schemas.openxmlformats.org/officeDocument/2006/relationships/image" Target="../media/image44.svg"/><Relationship Id="rId10" Type="http://schemas.openxmlformats.org/officeDocument/2006/relationships/image" Target="../media/image36.png"/><Relationship Id="rId4" Type="http://schemas.openxmlformats.org/officeDocument/2006/relationships/image" Target="../media/image43.svg"/><Relationship Id="rId9" Type="http://schemas.openxmlformats.org/officeDocument/2006/relationships/image" Target="../media/image48.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889D0F5-AA0B-EC0F-9E3D-B696D4599A5F}"/>
              </a:ext>
            </a:extLst>
          </p:cNvPr>
          <p:cNvSpPr>
            <a:spLocks noGrp="1"/>
          </p:cNvSpPr>
          <p:nvPr>
            <p:ph type="title"/>
          </p:nvPr>
        </p:nvSpPr>
        <p:spPr>
          <a:xfrm>
            <a:off x="588263" y="2917984"/>
            <a:ext cx="4607851" cy="615553"/>
          </a:xfrm>
        </p:spPr>
        <p:txBody>
          <a:bodyPr/>
          <a:lstStyle/>
          <a:p>
            <a:r>
              <a:rPr lang="en-US" sz="4400" noProof="0" dirty="0">
                <a:gradFill>
                  <a:gsLst>
                    <a:gs pos="0">
                      <a:schemeClr val="tx1"/>
                    </a:gs>
                    <a:gs pos="100000">
                      <a:schemeClr val="tx1"/>
                    </a:gs>
                  </a:gsLst>
                  <a:lin ang="5400000" scaled="1"/>
                </a:gradFill>
                <a:cs typeface="Segoe UI"/>
              </a:rPr>
              <a:t>Microsoft Scenario Library</a:t>
            </a:r>
          </a:p>
        </p:txBody>
      </p:sp>
      <p:sp>
        <p:nvSpPr>
          <p:cNvPr id="5" name="Text Placeholder 4">
            <a:extLst>
              <a:ext uri="{FF2B5EF4-FFF2-40B4-BE49-F238E27FC236}">
                <a16:creationId xmlns:a16="http://schemas.microsoft.com/office/drawing/2014/main" id="{B5BC4E6E-DD38-ACDD-7EF4-A6DE1EAD6969}"/>
              </a:ext>
            </a:extLst>
          </p:cNvPr>
          <p:cNvSpPr>
            <a:spLocks noGrp="1"/>
          </p:cNvSpPr>
          <p:nvPr>
            <p:ph type="body" sz="quarter" idx="12"/>
          </p:nvPr>
        </p:nvSpPr>
        <p:spPr>
          <a:xfrm>
            <a:off x="582042" y="3962400"/>
            <a:ext cx="7752752" cy="307777"/>
          </a:xfrm>
        </p:spPr>
        <p:txBody>
          <a:bodyPr vert="horz" wrap="square" lIns="0" tIns="0" rIns="0" bIns="0" rtlCol="0" anchor="t">
            <a:spAutoFit/>
          </a:bodyPr>
          <a:lstStyle/>
          <a:p>
            <a:r>
              <a:rPr lang="en-US" sz="2000" noProof="0" dirty="0">
                <a:gradFill>
                  <a:gsLst>
                    <a:gs pos="0">
                      <a:schemeClr val="tx1"/>
                    </a:gs>
                    <a:gs pos="100000">
                      <a:schemeClr val="tx1"/>
                    </a:gs>
                  </a:gsLst>
                  <a:lin ang="5400000" scaled="1"/>
                </a:gradFill>
                <a:cs typeface="Segoe UI"/>
              </a:rPr>
              <a:t>Discover industry and role-based use cases</a:t>
            </a:r>
          </a:p>
        </p:txBody>
      </p:sp>
    </p:spTree>
    <p:extLst>
      <p:ext uri="{BB962C8B-B14F-4D97-AF65-F5344CB8AC3E}">
        <p14:creationId xmlns:p14="http://schemas.microsoft.com/office/powerpoint/2010/main" val="5090235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E4359E-C131-7F2E-307F-9F6563226CBA}"/>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16826654-6E3C-E14C-B936-7CECEC145278}"/>
              </a:ext>
            </a:extLst>
          </p:cNvPr>
          <p:cNvSpPr txBox="1">
            <a:spLocks noGrp="1"/>
          </p:cNvSpPr>
          <p:nvPr>
            <p:ph type="title" idx="4294967295"/>
          </p:nvPr>
        </p:nvSpPr>
        <p:spPr>
          <a:xfrm>
            <a:off x="372602" y="198407"/>
            <a:ext cx="11018520" cy="492443"/>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932742" rtl="0" eaLnBrk="1" latinLnBrk="0" hangingPunct="1">
              <a:lnSpc>
                <a:spcPct val="100000"/>
              </a:lnSpc>
              <a:spcBef>
                <a:spcPct val="0"/>
              </a:spcBef>
              <a:buNone/>
              <a:defRPr lang="en-US" sz="3200" b="0" kern="1200" cap="none" spc="-50" baseline="0">
                <a:ln w="3175">
                  <a:noFill/>
                </a:ln>
                <a:gradFill>
                  <a:gsLst>
                    <a:gs pos="50000">
                      <a:schemeClr val="accent5"/>
                    </a:gs>
                    <a:gs pos="0">
                      <a:schemeClr val="accent1"/>
                    </a:gs>
                    <a:gs pos="100000">
                      <a:srgbClr val="C73ECC"/>
                    </a:gs>
                  </a:gsLst>
                  <a:lin ang="2700000" scaled="1"/>
                </a:gradFill>
                <a:effectLst/>
                <a:latin typeface="+mj-lt"/>
                <a:ea typeface="+mn-ea"/>
                <a:cs typeface="Segoe UI" pitchFamily="34" charset="0"/>
              </a:defRPr>
            </a:lvl1pPr>
          </a:lstStyle>
          <a:p>
            <a:pPr>
              <a:defRPr/>
            </a:pPr>
            <a:r>
              <a:rPr lang="en-US" noProof="0" dirty="0">
                <a:gradFill>
                  <a:gsLst>
                    <a:gs pos="0">
                      <a:srgbClr val="C03BC4"/>
                    </a:gs>
                    <a:gs pos="35000">
                      <a:srgbClr val="0078D4"/>
                    </a:gs>
                  </a:gsLst>
                  <a:path path="circle">
                    <a:fillToRect l="100000" t="100000"/>
                  </a:path>
                </a:gradFill>
                <a:cs typeface="Segoe UI"/>
              </a:rPr>
              <a:t>Top 10 to "Try First"</a:t>
            </a:r>
            <a:endParaRPr lang="en-US" sz="3200" b="0" i="0" u="none" strike="noStrike" kern="1200" cap="none" spc="-50" normalizeH="0" baseline="0" noProof="0" dirty="0">
              <a:ln w="3175">
                <a:noFill/>
              </a:ln>
              <a:gradFill>
                <a:gsLst>
                  <a:gs pos="0">
                    <a:srgbClr val="C03BC4"/>
                  </a:gs>
                  <a:gs pos="35000">
                    <a:srgbClr val="0078D4"/>
                  </a:gs>
                </a:gsLst>
                <a:path path="circle">
                  <a:fillToRect l="100000" t="100000"/>
                </a:path>
              </a:gradFill>
              <a:effectLst/>
              <a:uLnTx/>
              <a:uFillTx/>
              <a:latin typeface="+mj-lt"/>
              <a:cs typeface="Segoe UI" pitchFamily="34" charset="0"/>
            </a:endParaRPr>
          </a:p>
        </p:txBody>
      </p:sp>
      <p:sp>
        <p:nvSpPr>
          <p:cNvPr id="2" name="Title 34">
            <a:extLst>
              <a:ext uri="{FF2B5EF4-FFF2-40B4-BE49-F238E27FC236}">
                <a16:creationId xmlns:a16="http://schemas.microsoft.com/office/drawing/2014/main" id="{B02DF53D-75C1-7267-E29F-5E666815830B}"/>
              </a:ext>
            </a:extLst>
          </p:cNvPr>
          <p:cNvSpPr>
            <a:spLocks noGrp="1"/>
          </p:cNvSpPr>
          <p:nvPr/>
        </p:nvSpPr>
        <p:spPr>
          <a:xfrm>
            <a:off x="367499" y="684381"/>
            <a:ext cx="10594360" cy="430212"/>
          </a:xfrm>
          <a:prstGeom prst="rect">
            <a:avLst/>
          </a:prstGeom>
        </p:spPr>
        <p:txBody>
          <a:bodyPr vert="horz" wrap="square" lIns="0" tIns="0" rIns="0" bIns="0" rtlCol="0" anchor="t">
            <a:no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50" normalizeH="0" baseline="0" noProof="0" dirty="0">
                <a:ln w="3175">
                  <a:noFill/>
                </a:ln>
                <a:solidFill>
                  <a:srgbClr val="000000"/>
                </a:solidFill>
                <a:effectLst/>
                <a:uLnTx/>
                <a:uFillTx/>
                <a:latin typeface="Segoe UI Semilight"/>
                <a:ea typeface="+mn-ea"/>
                <a:cs typeface="Segoe UI"/>
              </a:rPr>
              <a:t>with Microsoft 365 Copilot</a:t>
            </a:r>
            <a:br>
              <a:rPr kumimoji="0" lang="en-US" sz="2400" b="0" i="0" u="none" strike="noStrike" kern="1200" cap="none" spc="-50" normalizeH="0" baseline="0" noProof="0" dirty="0">
                <a:ln w="3175">
                  <a:noFill/>
                </a:ln>
                <a:solidFill>
                  <a:srgbClr val="000000"/>
                </a:solidFill>
                <a:effectLst/>
                <a:uLnTx/>
                <a:uFillTx/>
                <a:latin typeface="Segoe UI Semilight"/>
                <a:ea typeface="+mn-ea"/>
                <a:cs typeface="Segoe UI" pitchFamily="34" charset="0"/>
              </a:rPr>
            </a:br>
            <a:r>
              <a:rPr kumimoji="0" lang="en-US" sz="1600" b="0" i="0" u="none" strike="noStrike" kern="1200" cap="none" spc="-50" normalizeH="0" baseline="0" noProof="0" dirty="0">
                <a:ln w="3175">
                  <a:noFill/>
                </a:ln>
                <a:solidFill>
                  <a:srgbClr val="000000"/>
                </a:solidFill>
                <a:effectLst/>
                <a:uLnTx/>
                <a:uFillTx/>
                <a:latin typeface="Segoe UI Semilight"/>
                <a:ea typeface="+mn-ea"/>
                <a:cs typeface="Segoe UI"/>
              </a:rPr>
              <a:t>Foundational skills for new users</a:t>
            </a:r>
            <a:endParaRPr kumimoji="0" lang="en-US" sz="3600" b="0" i="0" u="none" strike="noStrike" kern="1200" cap="none" spc="-50" normalizeH="0" baseline="0" noProof="0" dirty="0">
              <a:ln w="3175">
                <a:noFill/>
              </a:ln>
              <a:solidFill>
                <a:srgbClr val="000000"/>
              </a:solidFill>
              <a:effectLst/>
              <a:uLnTx/>
              <a:uFillTx/>
              <a:latin typeface="Segoe UI Semilight"/>
              <a:ea typeface="+mn-ea"/>
              <a:cs typeface="Segoe UI" pitchFamily="34" charset="0"/>
            </a:endParaRPr>
          </a:p>
        </p:txBody>
      </p:sp>
      <p:grpSp>
        <p:nvGrpSpPr>
          <p:cNvPr id="3" name="Group 2">
            <a:extLst>
              <a:ext uri="{FF2B5EF4-FFF2-40B4-BE49-F238E27FC236}">
                <a16:creationId xmlns:a16="http://schemas.microsoft.com/office/drawing/2014/main" id="{ECD28763-B1AC-1368-353F-E3CB9EC79183}"/>
              </a:ext>
              <a:ext uri="{C183D7F6-B498-43B3-948B-1728B52AA6E4}">
                <adec:decorative xmlns:adec="http://schemas.microsoft.com/office/drawing/2017/decorative" val="1"/>
              </a:ext>
            </a:extLst>
          </p:cNvPr>
          <p:cNvGrpSpPr/>
          <p:nvPr/>
        </p:nvGrpSpPr>
        <p:grpSpPr>
          <a:xfrm>
            <a:off x="505272" y="1463713"/>
            <a:ext cx="2153223" cy="2221428"/>
            <a:chOff x="505272" y="1463713"/>
            <a:chExt cx="2153223" cy="2221428"/>
          </a:xfrm>
        </p:grpSpPr>
        <p:sp>
          <p:nvSpPr>
            <p:cNvPr id="111" name="Rounded Rectangle 1">
              <a:extLst>
                <a:ext uri="{FF2B5EF4-FFF2-40B4-BE49-F238E27FC236}">
                  <a16:creationId xmlns:a16="http://schemas.microsoft.com/office/drawing/2014/main" id="{467BA974-1497-4303-B382-E2DB38E2159A}"/>
                </a:ext>
                <a:ext uri="{C183D7F6-B498-43B3-948B-1728B52AA6E4}">
                  <adec:decorative xmlns:adec="http://schemas.microsoft.com/office/drawing/2017/decorative" val="1"/>
                </a:ext>
              </a:extLst>
            </p:cNvPr>
            <p:cNvSpPr/>
            <p:nvPr/>
          </p:nvSpPr>
          <p:spPr bwMode="auto">
            <a:xfrm>
              <a:off x="505272" y="1463713"/>
              <a:ext cx="2153223" cy="2221428"/>
            </a:xfrm>
            <a:prstGeom prst="roundRect">
              <a:avLst>
                <a:gd name="adj" fmla="val 2901"/>
              </a:avLst>
            </a:prstGeom>
            <a:solidFill>
              <a:schemeClr val="bg1"/>
            </a:solidFill>
            <a:ln>
              <a:noFill/>
              <a:headEnd type="none" w="med" len="med"/>
              <a:tailEnd type="none" w="med" len="med"/>
            </a:ln>
            <a:effectLst>
              <a:outerShdw blurRad="63500" dist="127000" dir="2700000" algn="tl"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Segoe UI"/>
                <a:ea typeface="+mn-ea"/>
                <a:cs typeface="Segoe UI" pitchFamily="34" charset="0"/>
              </a:endParaRPr>
            </a:p>
          </p:txBody>
        </p:sp>
        <p:sp>
          <p:nvSpPr>
            <p:cNvPr id="112" name="TextBox 19">
              <a:extLst>
                <a:ext uri="{FF2B5EF4-FFF2-40B4-BE49-F238E27FC236}">
                  <a16:creationId xmlns:a16="http://schemas.microsoft.com/office/drawing/2014/main" id="{CA0061FF-C03E-4519-E536-291D72ABBD39}"/>
                </a:ext>
              </a:extLst>
            </p:cNvPr>
            <p:cNvSpPr txBox="1"/>
            <p:nvPr/>
          </p:nvSpPr>
          <p:spPr>
            <a:xfrm>
              <a:off x="626192" y="1957766"/>
              <a:ext cx="1922209" cy="1138773"/>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200"/>
                </a:spcBef>
                <a:spcAft>
                  <a:spcPts val="200"/>
                </a:spcAft>
                <a:buClrTx/>
                <a:buSzTx/>
                <a:buFontTx/>
                <a:buNone/>
                <a:tabLst/>
                <a:defRPr/>
              </a:pPr>
              <a:r>
                <a:rPr kumimoji="0" lang="en-US" sz="1400" b="1" i="0" u="none" strike="noStrike" kern="1200" cap="none" spc="0" normalizeH="0" baseline="0" noProof="0" dirty="0">
                  <a:ln>
                    <a:noFill/>
                  </a:ln>
                  <a:solidFill>
                    <a:srgbClr val="8661C5"/>
                  </a:solidFill>
                  <a:effectLst/>
                  <a:uLnTx/>
                  <a:uFillTx/>
                  <a:latin typeface="Segoe UI Semibold" panose="020B0502040204020203" pitchFamily="34" charset="0"/>
                  <a:ea typeface="+mn-ea"/>
                  <a:cs typeface="Segoe UI Semibold" panose="020B0502040204020203" pitchFamily="34" charset="0"/>
                </a:rPr>
                <a:t>Recap a meeting</a:t>
              </a:r>
              <a:br>
                <a:rPr kumimoji="0" lang="en-US" sz="1400" b="1" i="0" u="none" strike="noStrike" kern="1200" cap="none" spc="0" normalizeH="0" baseline="0" noProof="0" dirty="0">
                  <a:ln>
                    <a:noFill/>
                  </a:ln>
                  <a:solidFill>
                    <a:srgbClr val="8661C5"/>
                  </a:solidFill>
                  <a:effectLst/>
                  <a:uLnTx/>
                  <a:uFillTx/>
                  <a:latin typeface="Segoe UI Semibold" panose="020B0502040204020203" pitchFamily="34" charset="0"/>
                  <a:ea typeface="+mn-ea"/>
                  <a:cs typeface="Segoe UI Semibold" panose="020B0502040204020203" pitchFamily="34" charset="0"/>
                </a:rPr>
              </a:br>
              <a:r>
                <a:rPr kumimoji="0" lang="en-US" sz="1400" b="1" i="0" u="none" strike="noStrike" kern="1200" cap="none" spc="0" normalizeH="0" baseline="0" noProof="0" dirty="0">
                  <a:ln>
                    <a:noFill/>
                  </a:ln>
                  <a:solidFill>
                    <a:srgbClr val="8661C5"/>
                  </a:solidFill>
                  <a:effectLst/>
                  <a:uLnTx/>
                  <a:uFillTx/>
                  <a:latin typeface="Segoe UI Semibold" panose="020B0502040204020203" pitchFamily="34" charset="0"/>
                  <a:ea typeface="+mn-ea"/>
                  <a:cs typeface="Segoe UI Semibold" panose="020B0502040204020203" pitchFamily="34" charset="0"/>
                </a:rPr>
                <a:t> </a:t>
              </a:r>
              <a:r>
                <a:rPr kumimoji="0" lang="en-US" sz="1000" b="0" i="0" u="none" strike="noStrike" kern="1200" cap="none" spc="0" normalizeH="0" baseline="0" noProof="0" dirty="0">
                  <a:ln>
                    <a:noFill/>
                  </a:ln>
                  <a:solidFill>
                    <a:prstClr val="black"/>
                  </a:solidFill>
                  <a:effectLst/>
                  <a:uLnTx/>
                  <a:uFillTx/>
                  <a:latin typeface="Segoe UI"/>
                  <a:ea typeface="+mn-ea"/>
                  <a:cs typeface="+mn-cs"/>
                </a:rPr>
                <a:t>– let Copilot keep track of key topics and action items so you can stay focused during the meeting and avoid listening to the recording after.</a:t>
              </a:r>
              <a:endParaRPr kumimoji="0" lang="en-US" sz="1200" b="0" i="0" u="none" strike="noStrike" kern="1200" cap="none" spc="0" normalizeH="0" baseline="0" noProof="0" dirty="0">
                <a:ln>
                  <a:noFill/>
                </a:ln>
                <a:solidFill>
                  <a:prstClr val="black"/>
                </a:solidFill>
                <a:effectLst/>
                <a:uLnTx/>
                <a:uFillTx/>
                <a:latin typeface="Segoe UI"/>
                <a:ea typeface="+mn-ea"/>
                <a:cs typeface="+mn-cs"/>
              </a:endParaRPr>
            </a:p>
          </p:txBody>
        </p:sp>
        <p:sp>
          <p:nvSpPr>
            <p:cNvPr id="113" name="TextBox 1">
              <a:extLst>
                <a:ext uri="{FF2B5EF4-FFF2-40B4-BE49-F238E27FC236}">
                  <a16:creationId xmlns:a16="http://schemas.microsoft.com/office/drawing/2014/main" id="{5B08E05C-BE0D-52CA-782B-380E390B8A4F}"/>
                </a:ext>
              </a:extLst>
            </p:cNvPr>
            <p:cNvSpPr txBox="1"/>
            <p:nvPr/>
          </p:nvSpPr>
          <p:spPr>
            <a:xfrm>
              <a:off x="2267041" y="1463713"/>
              <a:ext cx="391454" cy="523220"/>
            </a:xfrm>
            <a:prstGeom prst="rect">
              <a:avLst/>
            </a:prstGeom>
            <a:noFill/>
          </p:spPr>
          <p:txBody>
            <a:bodyPr wrap="non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00000"/>
                  </a:solidFill>
                  <a:effectLst/>
                  <a:uLnTx/>
                  <a:uFillTx/>
                  <a:latin typeface="Segoe UI"/>
                  <a:ea typeface="+mn-ea"/>
                  <a:cs typeface="Segoe UI"/>
                </a:rPr>
                <a:t>1</a:t>
              </a:r>
            </a:p>
          </p:txBody>
        </p:sp>
        <p:sp>
          <p:nvSpPr>
            <p:cNvPr id="115" name="TextBox 37">
              <a:extLst>
                <a:ext uri="{FF2B5EF4-FFF2-40B4-BE49-F238E27FC236}">
                  <a16:creationId xmlns:a16="http://schemas.microsoft.com/office/drawing/2014/main" id="{0EF18A96-1FFA-FA21-4986-DCF32877E958}"/>
                </a:ext>
              </a:extLst>
            </p:cNvPr>
            <p:cNvSpPr txBox="1"/>
            <p:nvPr/>
          </p:nvSpPr>
          <p:spPr>
            <a:xfrm>
              <a:off x="827732" y="3171742"/>
              <a:ext cx="1549719" cy="338554"/>
            </a:xfrm>
            <a:prstGeom prst="rect">
              <a:avLst/>
            </a:prstGeom>
            <a:noFill/>
          </p:spPr>
          <p:txBody>
            <a:bodyPr wrap="square" lIns="91440" tIns="45720" rIns="91440" bIns="4572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200"/>
                </a:spcBef>
                <a:spcAft>
                  <a:spcPts val="20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Segoe UI"/>
                  <a:ea typeface="+mn-ea"/>
                  <a:cs typeface="+mn-cs"/>
                </a:rPr>
                <a:t>Draft an email with notes and action items from</a:t>
              </a:r>
              <a:r>
                <a:rPr kumimoji="0" lang="en-US" sz="800" b="0" i="0" u="none" strike="noStrike" kern="1200" cap="none" spc="0" normalizeH="0" baseline="0" noProof="0" dirty="0">
                  <a:ln>
                    <a:noFill/>
                  </a:ln>
                  <a:solidFill>
                    <a:srgbClr val="463668"/>
                  </a:solidFill>
                  <a:effectLst/>
                  <a:uLnTx/>
                  <a:uFillTx/>
                  <a:latin typeface="Segoe UI"/>
                  <a:ea typeface="+mn-ea"/>
                  <a:cs typeface="+mn-cs"/>
                </a:rPr>
                <a:t> meeting</a:t>
              </a:r>
              <a:endParaRPr kumimoji="0" lang="en-US" sz="1050" b="0" i="0" u="none" strike="noStrike" kern="1200" cap="none" spc="0" normalizeH="0" baseline="0" noProof="0" dirty="0">
                <a:ln>
                  <a:noFill/>
                </a:ln>
                <a:solidFill>
                  <a:srgbClr val="463668"/>
                </a:solidFill>
                <a:effectLst/>
                <a:uLnTx/>
                <a:uFillTx/>
                <a:latin typeface="Segoe UI"/>
                <a:ea typeface="+mn-ea"/>
                <a:cs typeface="+mn-cs"/>
              </a:endParaRPr>
            </a:p>
          </p:txBody>
        </p:sp>
        <p:pic>
          <p:nvPicPr>
            <p:cNvPr id="116" name="Graphic 38">
              <a:extLst>
                <a:ext uri="{FF2B5EF4-FFF2-40B4-BE49-F238E27FC236}">
                  <a16:creationId xmlns:a16="http://schemas.microsoft.com/office/drawing/2014/main" id="{FA3A722B-15AA-8D84-D0C0-43885B7AD6C9}"/>
                </a:ext>
              </a:extLst>
            </p:cNvPr>
            <p:cNvPicPr>
              <a:picLocks noChangeAspect="1"/>
            </p:cNvPicPr>
            <p:nvPr/>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700506" y="3201363"/>
              <a:ext cx="163426" cy="163426"/>
            </a:xfrm>
            <a:prstGeom prst="rect">
              <a:avLst/>
            </a:prstGeom>
          </p:spPr>
        </p:pic>
      </p:grpSp>
      <p:grpSp>
        <p:nvGrpSpPr>
          <p:cNvPr id="46" name="Group 45">
            <a:extLst>
              <a:ext uri="{FF2B5EF4-FFF2-40B4-BE49-F238E27FC236}">
                <a16:creationId xmlns:a16="http://schemas.microsoft.com/office/drawing/2014/main" id="{1CE926CF-0683-E4DD-4CC9-0954FE4E5984}"/>
              </a:ext>
              <a:ext uri="{C183D7F6-B498-43B3-948B-1728B52AA6E4}">
                <adec:decorative xmlns:adec="http://schemas.microsoft.com/office/drawing/2017/decorative" val="1"/>
              </a:ext>
            </a:extLst>
          </p:cNvPr>
          <p:cNvGrpSpPr/>
          <p:nvPr/>
        </p:nvGrpSpPr>
        <p:grpSpPr>
          <a:xfrm>
            <a:off x="2766319" y="1463713"/>
            <a:ext cx="2153223" cy="2221428"/>
            <a:chOff x="2766319" y="1463713"/>
            <a:chExt cx="2153223" cy="2221428"/>
          </a:xfrm>
        </p:grpSpPr>
        <p:sp>
          <p:nvSpPr>
            <p:cNvPr id="105" name="Rounded Rectangle 1">
              <a:extLst>
                <a:ext uri="{FF2B5EF4-FFF2-40B4-BE49-F238E27FC236}">
                  <a16:creationId xmlns:a16="http://schemas.microsoft.com/office/drawing/2014/main" id="{F8C84E07-CECD-6B3A-D5AF-17A2F72EE594}"/>
                </a:ext>
                <a:ext uri="{C183D7F6-B498-43B3-948B-1728B52AA6E4}">
                  <adec:decorative xmlns:adec="http://schemas.microsoft.com/office/drawing/2017/decorative" val="1"/>
                </a:ext>
              </a:extLst>
            </p:cNvPr>
            <p:cNvSpPr/>
            <p:nvPr/>
          </p:nvSpPr>
          <p:spPr bwMode="auto">
            <a:xfrm>
              <a:off x="2766319" y="1463713"/>
              <a:ext cx="2153223" cy="2221428"/>
            </a:xfrm>
            <a:prstGeom prst="roundRect">
              <a:avLst>
                <a:gd name="adj" fmla="val 2901"/>
              </a:avLst>
            </a:prstGeom>
            <a:solidFill>
              <a:schemeClr val="bg1"/>
            </a:solidFill>
            <a:ln>
              <a:noFill/>
              <a:headEnd type="none" w="med" len="med"/>
              <a:tailEnd type="none" w="med" len="med"/>
            </a:ln>
            <a:effectLst>
              <a:outerShdw blurRad="63500" dist="127000" dir="2700000" algn="tl"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Segoe UI"/>
                <a:ea typeface="+mn-ea"/>
                <a:cs typeface="Segoe UI" pitchFamily="34" charset="0"/>
              </a:endParaRPr>
            </a:p>
          </p:txBody>
        </p:sp>
        <p:sp>
          <p:nvSpPr>
            <p:cNvPr id="106" name="TextBox 45">
              <a:extLst>
                <a:ext uri="{FF2B5EF4-FFF2-40B4-BE49-F238E27FC236}">
                  <a16:creationId xmlns:a16="http://schemas.microsoft.com/office/drawing/2014/main" id="{CE3B50AB-6AAB-4A97-1E5B-44F7543AEC55}"/>
                </a:ext>
              </a:extLst>
            </p:cNvPr>
            <p:cNvSpPr txBox="1"/>
            <p:nvPr/>
          </p:nvSpPr>
          <p:spPr>
            <a:xfrm>
              <a:off x="2887239" y="1957766"/>
              <a:ext cx="1859859" cy="882293"/>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200"/>
                </a:spcBef>
                <a:spcAft>
                  <a:spcPts val="200"/>
                </a:spcAft>
                <a:buClrTx/>
                <a:buSzTx/>
                <a:buFontTx/>
                <a:buNone/>
                <a:tabLst/>
                <a:defRPr/>
              </a:pPr>
              <a:r>
                <a:rPr kumimoji="0" lang="en-US" sz="1400" b="1" i="0" u="none" strike="noStrike" kern="1200" cap="none" spc="0" normalizeH="0" baseline="0" noProof="0" dirty="0">
                  <a:ln>
                    <a:noFill/>
                  </a:ln>
                  <a:solidFill>
                    <a:srgbClr val="8661C5"/>
                  </a:solidFill>
                  <a:effectLst/>
                  <a:uLnTx/>
                  <a:uFillTx/>
                  <a:latin typeface="Segoe UI Semibold" panose="020B0502040204020203" pitchFamily="34" charset="0"/>
                  <a:ea typeface="+mn-ea"/>
                  <a:cs typeface="Segoe UI Semibold" panose="020B0502040204020203" pitchFamily="34" charset="0"/>
                </a:rPr>
                <a:t>Summarize an </a:t>
              </a:r>
              <a:br>
                <a:rPr kumimoji="0" lang="en-US" sz="1400" b="1" i="0" u="none" strike="noStrike" kern="1200" cap="none" spc="0" normalizeH="0" baseline="0" noProof="0" dirty="0">
                  <a:ln>
                    <a:noFill/>
                  </a:ln>
                  <a:solidFill>
                    <a:srgbClr val="8661C5"/>
                  </a:solidFill>
                  <a:effectLst/>
                  <a:uLnTx/>
                  <a:uFillTx/>
                  <a:latin typeface="Segoe UI Semibold" panose="020B0502040204020203" pitchFamily="34" charset="0"/>
                  <a:ea typeface="+mn-ea"/>
                  <a:cs typeface="Segoe UI Semibold" panose="020B0502040204020203" pitchFamily="34" charset="0"/>
                </a:rPr>
              </a:br>
              <a:r>
                <a:rPr kumimoji="0" lang="en-US" sz="1400" b="1" i="0" u="none" strike="noStrike" kern="1200" cap="none" spc="0" normalizeH="0" baseline="0" noProof="0" dirty="0">
                  <a:ln>
                    <a:noFill/>
                  </a:ln>
                  <a:solidFill>
                    <a:srgbClr val="8661C5"/>
                  </a:solidFill>
                  <a:effectLst/>
                  <a:uLnTx/>
                  <a:uFillTx/>
                  <a:latin typeface="Segoe UI Semibold" panose="020B0502040204020203" pitchFamily="34" charset="0"/>
                  <a:ea typeface="+mn-ea"/>
                  <a:cs typeface="Segoe UI Semibold" panose="020B0502040204020203" pitchFamily="34" charset="0"/>
                </a:rPr>
                <a:t>email thread </a:t>
              </a:r>
              <a:endParaRPr kumimoji="0" lang="en-US" sz="1200" b="1" i="0" u="none" strike="noStrike" kern="1200" cap="none" spc="0" normalizeH="0" baseline="0" noProof="0" dirty="0">
                <a:ln>
                  <a:noFill/>
                </a:ln>
                <a:solidFill>
                  <a:srgbClr val="8661C5"/>
                </a:solidFill>
                <a:effectLst/>
                <a:uLnTx/>
                <a:uFillTx/>
                <a:latin typeface="Segoe UI Semibold" panose="020B0502040204020203" pitchFamily="34" charset="0"/>
                <a:ea typeface="+mn-ea"/>
                <a:cs typeface="Segoe UI Semibold" panose="020B0502040204020203" pitchFamily="34" charset="0"/>
              </a:endParaRPr>
            </a:p>
            <a:p>
              <a:pPr marL="0" marR="0" lvl="0" indent="0" algn="l" defTabSz="914400" rtl="0" eaLnBrk="1" fontAlgn="auto" latinLnBrk="0" hangingPunct="1">
                <a:lnSpc>
                  <a:spcPct val="100000"/>
                </a:lnSpc>
                <a:spcBef>
                  <a:spcPts val="200"/>
                </a:spcBef>
                <a:spcAft>
                  <a:spcPts val="20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Segoe UI"/>
                  <a:ea typeface="+mn-ea"/>
                  <a:cs typeface="+mn-cs"/>
                </a:rPr>
                <a:t>– get quickly caught up to a long, complex email thread.</a:t>
              </a:r>
            </a:p>
          </p:txBody>
        </p:sp>
        <p:sp>
          <p:nvSpPr>
            <p:cNvPr id="107" name="TextBox 2">
              <a:extLst>
                <a:ext uri="{FF2B5EF4-FFF2-40B4-BE49-F238E27FC236}">
                  <a16:creationId xmlns:a16="http://schemas.microsoft.com/office/drawing/2014/main" id="{B82971EB-8529-3233-5ECA-760441132984}"/>
                </a:ext>
              </a:extLst>
            </p:cNvPr>
            <p:cNvSpPr txBox="1"/>
            <p:nvPr/>
          </p:nvSpPr>
          <p:spPr>
            <a:xfrm>
              <a:off x="4528088" y="1463713"/>
              <a:ext cx="391454" cy="523220"/>
            </a:xfrm>
            <a:prstGeom prst="rect">
              <a:avLst/>
            </a:prstGeom>
            <a:noFill/>
          </p:spPr>
          <p:txBody>
            <a:bodyPr wrap="non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00000"/>
                  </a:solidFill>
                  <a:effectLst/>
                  <a:uLnTx/>
                  <a:uFillTx/>
                  <a:latin typeface="Segoe UI"/>
                  <a:ea typeface="+mn-ea"/>
                  <a:cs typeface="Segoe UI"/>
                </a:rPr>
                <a:t>2</a:t>
              </a:r>
            </a:p>
          </p:txBody>
        </p:sp>
        <p:sp>
          <p:nvSpPr>
            <p:cNvPr id="109" name="TextBox 39">
              <a:extLst>
                <a:ext uri="{FF2B5EF4-FFF2-40B4-BE49-F238E27FC236}">
                  <a16:creationId xmlns:a16="http://schemas.microsoft.com/office/drawing/2014/main" id="{1F1E9012-1D8E-AAEF-DD87-4FCA6DC1926D}"/>
                </a:ext>
              </a:extLst>
            </p:cNvPr>
            <p:cNvSpPr txBox="1"/>
            <p:nvPr/>
          </p:nvSpPr>
          <p:spPr>
            <a:xfrm>
              <a:off x="3085792" y="3171742"/>
              <a:ext cx="1549719" cy="215444"/>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200"/>
                </a:spcBef>
                <a:spcAft>
                  <a:spcPts val="20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Segoe UI"/>
                  <a:ea typeface="+mn-ea"/>
                  <a:cs typeface="+mn-cs"/>
                </a:rPr>
                <a:t>Click on the Summarize icon</a:t>
              </a:r>
              <a:endParaRPr kumimoji="0" lang="en-US" sz="1050" b="0" i="0" u="none" strike="noStrike" kern="1200" cap="none" spc="0" normalizeH="0" baseline="0" noProof="0" dirty="0">
                <a:ln>
                  <a:noFill/>
                </a:ln>
                <a:solidFill>
                  <a:prstClr val="black"/>
                </a:solidFill>
                <a:effectLst/>
                <a:uLnTx/>
                <a:uFillTx/>
                <a:latin typeface="Segoe UI"/>
                <a:ea typeface="+mn-ea"/>
                <a:cs typeface="+mn-cs"/>
              </a:endParaRPr>
            </a:p>
          </p:txBody>
        </p:sp>
        <p:pic>
          <p:nvPicPr>
            <p:cNvPr id="110" name="Graphic 40">
              <a:extLst>
                <a:ext uri="{FF2B5EF4-FFF2-40B4-BE49-F238E27FC236}">
                  <a16:creationId xmlns:a16="http://schemas.microsoft.com/office/drawing/2014/main" id="{40F1E4C5-D9BD-5F83-4A0A-7439D10DA436}"/>
                </a:ext>
              </a:extLst>
            </p:cNvPr>
            <p:cNvPicPr>
              <a:picLocks noChangeAspect="1"/>
            </p:cNvPicPr>
            <p:nvPr/>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2958566" y="3201363"/>
              <a:ext cx="163426" cy="163426"/>
            </a:xfrm>
            <a:prstGeom prst="rect">
              <a:avLst/>
            </a:prstGeom>
          </p:spPr>
        </p:pic>
      </p:grpSp>
      <p:grpSp>
        <p:nvGrpSpPr>
          <p:cNvPr id="47" name="Group 46">
            <a:extLst>
              <a:ext uri="{FF2B5EF4-FFF2-40B4-BE49-F238E27FC236}">
                <a16:creationId xmlns:a16="http://schemas.microsoft.com/office/drawing/2014/main" id="{65D5E571-10C1-98A8-45FE-DE1F7EE8578F}"/>
              </a:ext>
            </a:extLst>
          </p:cNvPr>
          <p:cNvGrpSpPr/>
          <p:nvPr/>
        </p:nvGrpSpPr>
        <p:grpSpPr>
          <a:xfrm>
            <a:off x="7288413" y="1463713"/>
            <a:ext cx="2153223" cy="2221428"/>
            <a:chOff x="7288413" y="1463713"/>
            <a:chExt cx="2153223" cy="2221428"/>
          </a:xfrm>
        </p:grpSpPr>
        <p:sp>
          <p:nvSpPr>
            <p:cNvPr id="99" name="Rounded Rectangle 1">
              <a:extLst>
                <a:ext uri="{FF2B5EF4-FFF2-40B4-BE49-F238E27FC236}">
                  <a16:creationId xmlns:a16="http://schemas.microsoft.com/office/drawing/2014/main" id="{FB3B6796-8A08-91A7-93CB-001FFD3AC372}"/>
                </a:ext>
                <a:ext uri="{C183D7F6-B498-43B3-948B-1728B52AA6E4}">
                  <adec:decorative xmlns:adec="http://schemas.microsoft.com/office/drawing/2017/decorative" val="1"/>
                </a:ext>
              </a:extLst>
            </p:cNvPr>
            <p:cNvSpPr/>
            <p:nvPr/>
          </p:nvSpPr>
          <p:spPr bwMode="auto">
            <a:xfrm>
              <a:off x="7288413" y="1463713"/>
              <a:ext cx="2153223" cy="2221428"/>
            </a:xfrm>
            <a:prstGeom prst="roundRect">
              <a:avLst>
                <a:gd name="adj" fmla="val 2901"/>
              </a:avLst>
            </a:prstGeom>
            <a:solidFill>
              <a:schemeClr val="bg1"/>
            </a:solidFill>
            <a:ln>
              <a:noFill/>
              <a:headEnd type="none" w="med" len="med"/>
              <a:tailEnd type="none" w="med" len="med"/>
            </a:ln>
            <a:effectLst>
              <a:outerShdw blurRad="63500" dist="127000" dir="2700000" algn="tl"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Segoe UI"/>
                <a:ea typeface="+mn-ea"/>
                <a:cs typeface="Segoe UI" pitchFamily="34" charset="0"/>
              </a:endParaRPr>
            </a:p>
          </p:txBody>
        </p:sp>
        <p:sp>
          <p:nvSpPr>
            <p:cNvPr id="100" name="TextBox 53">
              <a:extLst>
                <a:ext uri="{FF2B5EF4-FFF2-40B4-BE49-F238E27FC236}">
                  <a16:creationId xmlns:a16="http://schemas.microsoft.com/office/drawing/2014/main" id="{1B99357D-4275-210A-8C91-4AC829EC87FA}"/>
                </a:ext>
              </a:extLst>
            </p:cNvPr>
            <p:cNvSpPr txBox="1"/>
            <p:nvPr/>
          </p:nvSpPr>
          <p:spPr>
            <a:xfrm>
              <a:off x="7409333" y="1957766"/>
              <a:ext cx="1814387" cy="1190069"/>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200"/>
                </a:spcBef>
                <a:spcAft>
                  <a:spcPts val="200"/>
                </a:spcAft>
                <a:buClrTx/>
                <a:buSzTx/>
                <a:buFontTx/>
                <a:buNone/>
                <a:tabLst/>
                <a:defRPr/>
              </a:pPr>
              <a:r>
                <a:rPr kumimoji="0" lang="en-US" sz="1400" b="1" i="0" u="none" strike="noStrike" kern="1200" cap="none" spc="0" normalizeH="0" baseline="0" noProof="0" dirty="0">
                  <a:ln>
                    <a:noFill/>
                  </a:ln>
                  <a:solidFill>
                    <a:srgbClr val="8661C5"/>
                  </a:solidFill>
                  <a:effectLst/>
                  <a:uLnTx/>
                  <a:uFillTx/>
                  <a:latin typeface="Segoe UI Semibold" panose="020B0502040204020203" pitchFamily="34" charset="0"/>
                  <a:ea typeface="+mn-ea"/>
                  <a:cs typeface="Segoe UI Semibold" panose="020B0502040204020203" pitchFamily="34" charset="0"/>
                </a:rPr>
                <a:t>Summarize a document </a:t>
              </a:r>
              <a:endParaRPr kumimoji="0" lang="en-US" sz="1200" b="1" i="0" u="none" strike="noStrike" kern="1200" cap="none" spc="0" normalizeH="0" baseline="0" noProof="0" dirty="0">
                <a:ln>
                  <a:noFill/>
                </a:ln>
                <a:solidFill>
                  <a:srgbClr val="8661C5"/>
                </a:solidFill>
                <a:effectLst/>
                <a:uLnTx/>
                <a:uFillTx/>
                <a:latin typeface="Segoe UI Semibold" panose="020B0502040204020203" pitchFamily="34" charset="0"/>
                <a:ea typeface="+mn-ea"/>
                <a:cs typeface="Segoe UI Semibold" panose="020B0502040204020203" pitchFamily="34" charset="0"/>
              </a:endParaRPr>
            </a:p>
            <a:p>
              <a:pPr marL="0" marR="0" lvl="0" indent="0" algn="l" defTabSz="914400" rtl="0" eaLnBrk="1" fontAlgn="auto" latinLnBrk="0" hangingPunct="1">
                <a:lnSpc>
                  <a:spcPct val="100000"/>
                </a:lnSpc>
                <a:spcBef>
                  <a:spcPts val="200"/>
                </a:spcBef>
                <a:spcAft>
                  <a:spcPts val="20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Segoe UI"/>
                  <a:ea typeface="+mn-ea"/>
                  <a:cs typeface="+mn-cs"/>
                </a:rPr>
                <a:t>– get right down to business by summarizing long documents and focusing </a:t>
              </a:r>
              <a:br>
                <a:rPr kumimoji="0" lang="en-US" sz="1000" b="0" i="0" u="none" strike="noStrike" kern="1200" cap="none" spc="0" normalizeH="0" baseline="0" noProof="0" dirty="0">
                  <a:ln>
                    <a:noFill/>
                  </a:ln>
                  <a:solidFill>
                    <a:prstClr val="black"/>
                  </a:solidFill>
                  <a:effectLst/>
                  <a:uLnTx/>
                  <a:uFillTx/>
                  <a:latin typeface="Segoe UI"/>
                  <a:ea typeface="+mn-ea"/>
                  <a:cs typeface="+mn-cs"/>
                </a:rPr>
              </a:br>
              <a:r>
                <a:rPr kumimoji="0" lang="en-US" sz="1000" b="0" i="0" u="none" strike="noStrike" kern="1200" cap="none" spc="0" normalizeH="0" baseline="0" noProof="0" dirty="0">
                  <a:ln>
                    <a:noFill/>
                  </a:ln>
                  <a:solidFill>
                    <a:prstClr val="black"/>
                  </a:solidFill>
                  <a:effectLst/>
                  <a:uLnTx/>
                  <a:uFillTx/>
                  <a:latin typeface="Segoe UI"/>
                  <a:ea typeface="+mn-ea"/>
                  <a:cs typeface="+mn-cs"/>
                </a:rPr>
                <a:t>on the relevant sections.</a:t>
              </a:r>
            </a:p>
          </p:txBody>
        </p:sp>
        <p:sp>
          <p:nvSpPr>
            <p:cNvPr id="101" name="TextBox 5">
              <a:extLst>
                <a:ext uri="{FF2B5EF4-FFF2-40B4-BE49-F238E27FC236}">
                  <a16:creationId xmlns:a16="http://schemas.microsoft.com/office/drawing/2014/main" id="{F694DC2F-652A-66F8-1725-61FC41CD0477}"/>
                </a:ext>
              </a:extLst>
            </p:cNvPr>
            <p:cNvSpPr txBox="1"/>
            <p:nvPr/>
          </p:nvSpPr>
          <p:spPr>
            <a:xfrm>
              <a:off x="9050182" y="1463713"/>
              <a:ext cx="391454" cy="523220"/>
            </a:xfrm>
            <a:prstGeom prst="rect">
              <a:avLst/>
            </a:prstGeom>
            <a:noFill/>
          </p:spPr>
          <p:txBody>
            <a:bodyPr wrap="non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00000"/>
                  </a:solidFill>
                  <a:effectLst/>
                  <a:uLnTx/>
                  <a:uFillTx/>
                  <a:latin typeface="Segoe UI"/>
                  <a:ea typeface="+mn-ea"/>
                  <a:cs typeface="Segoe UI"/>
                </a:rPr>
                <a:t>4</a:t>
              </a:r>
            </a:p>
          </p:txBody>
        </p:sp>
        <p:pic>
          <p:nvPicPr>
            <p:cNvPr id="102" name="Picture 101">
              <a:extLst>
                <a:ext uri="{FF2B5EF4-FFF2-40B4-BE49-F238E27FC236}">
                  <a16:creationId xmlns:a16="http://schemas.microsoft.com/office/drawing/2014/main" id="{8318C110-12A8-4B29-AB5F-EE77B5E40CE4}"/>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7483196" y="1619990"/>
              <a:ext cx="318387" cy="280446"/>
            </a:xfrm>
            <a:prstGeom prst="rect">
              <a:avLst/>
            </a:prstGeom>
          </p:spPr>
        </p:pic>
        <p:sp>
          <p:nvSpPr>
            <p:cNvPr id="103" name="TextBox 44">
              <a:extLst>
                <a:ext uri="{FF2B5EF4-FFF2-40B4-BE49-F238E27FC236}">
                  <a16:creationId xmlns:a16="http://schemas.microsoft.com/office/drawing/2014/main" id="{4178A1EC-A451-9956-4A77-DF25EA6267BC}"/>
                </a:ext>
              </a:extLst>
            </p:cNvPr>
            <p:cNvSpPr txBox="1"/>
            <p:nvPr/>
          </p:nvSpPr>
          <p:spPr>
            <a:xfrm>
              <a:off x="7602300" y="3171742"/>
              <a:ext cx="1340058" cy="338554"/>
            </a:xfrm>
            <a:prstGeom prst="rect">
              <a:avLst/>
            </a:prstGeom>
            <a:noFill/>
          </p:spPr>
          <p:txBody>
            <a:bodyPr wrap="square" lIns="91440" tIns="45720" rIns="91440" bIns="4572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200"/>
                </a:spcBef>
                <a:spcAft>
                  <a:spcPts val="20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Segoe UI"/>
                  <a:ea typeface="+mn-ea"/>
                  <a:cs typeface="+mn-cs"/>
                </a:rPr>
                <a:t>Give me a bulleted list of key points from </a:t>
              </a:r>
              <a:r>
                <a:rPr kumimoji="0" lang="en-US" sz="800" b="0" i="0" u="none" strike="noStrike" kern="1200" cap="none" spc="0" normalizeH="0" baseline="0" noProof="0" dirty="0">
                  <a:ln>
                    <a:noFill/>
                  </a:ln>
                  <a:solidFill>
                    <a:srgbClr val="463668"/>
                  </a:solidFill>
                  <a:effectLst/>
                  <a:uLnTx/>
                  <a:uFillTx/>
                  <a:latin typeface="Segoe UI"/>
                  <a:ea typeface="+mn-ea"/>
                  <a:cs typeface="+mn-cs"/>
                </a:rPr>
                <a:t>file</a:t>
              </a:r>
            </a:p>
          </p:txBody>
        </p:sp>
        <p:pic>
          <p:nvPicPr>
            <p:cNvPr id="104" name="Graphic 46">
              <a:extLst>
                <a:ext uri="{FF2B5EF4-FFF2-40B4-BE49-F238E27FC236}">
                  <a16:creationId xmlns:a16="http://schemas.microsoft.com/office/drawing/2014/main" id="{3F6524EA-55FF-2AC7-CFDC-22EF757DFE58}"/>
                </a:ext>
              </a:extLst>
            </p:cNvPr>
            <p:cNvPicPr>
              <a:picLocks noChangeAspect="1"/>
            </p:cNvPicPr>
            <p:nvPr/>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7475073" y="3201363"/>
              <a:ext cx="163426" cy="163426"/>
            </a:xfrm>
            <a:prstGeom prst="rect">
              <a:avLst/>
            </a:prstGeom>
          </p:spPr>
        </p:pic>
      </p:grpSp>
      <p:grpSp>
        <p:nvGrpSpPr>
          <p:cNvPr id="48" name="Group 47">
            <a:extLst>
              <a:ext uri="{FF2B5EF4-FFF2-40B4-BE49-F238E27FC236}">
                <a16:creationId xmlns:a16="http://schemas.microsoft.com/office/drawing/2014/main" id="{238BFAA2-A197-FA09-2215-D6E2B1F27D0E}"/>
              </a:ext>
            </a:extLst>
          </p:cNvPr>
          <p:cNvGrpSpPr/>
          <p:nvPr/>
        </p:nvGrpSpPr>
        <p:grpSpPr>
          <a:xfrm>
            <a:off x="9549461" y="1463713"/>
            <a:ext cx="2261048" cy="2221428"/>
            <a:chOff x="9549461" y="1463713"/>
            <a:chExt cx="2261048" cy="2221428"/>
          </a:xfrm>
        </p:grpSpPr>
        <p:sp>
          <p:nvSpPr>
            <p:cNvPr id="93" name="Rounded Rectangle 1">
              <a:extLst>
                <a:ext uri="{FF2B5EF4-FFF2-40B4-BE49-F238E27FC236}">
                  <a16:creationId xmlns:a16="http://schemas.microsoft.com/office/drawing/2014/main" id="{59550B36-A5A6-502B-8676-F1D0E3B71FE4}"/>
                </a:ext>
                <a:ext uri="{C183D7F6-B498-43B3-948B-1728B52AA6E4}">
                  <adec:decorative xmlns:adec="http://schemas.microsoft.com/office/drawing/2017/decorative" val="1"/>
                </a:ext>
              </a:extLst>
            </p:cNvPr>
            <p:cNvSpPr/>
            <p:nvPr/>
          </p:nvSpPr>
          <p:spPr bwMode="auto">
            <a:xfrm>
              <a:off x="9549461" y="1463713"/>
              <a:ext cx="2153223" cy="2221428"/>
            </a:xfrm>
            <a:prstGeom prst="roundRect">
              <a:avLst>
                <a:gd name="adj" fmla="val 2901"/>
              </a:avLst>
            </a:prstGeom>
            <a:solidFill>
              <a:schemeClr val="bg1"/>
            </a:solidFill>
            <a:ln>
              <a:noFill/>
              <a:headEnd type="none" w="med" len="med"/>
              <a:tailEnd type="none" w="med" len="med"/>
            </a:ln>
            <a:effectLst>
              <a:outerShdw blurRad="63500" dist="127000" dir="2700000" algn="tl"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Segoe UI"/>
                <a:ea typeface="+mn-ea"/>
                <a:cs typeface="Segoe UI" pitchFamily="34" charset="0"/>
              </a:endParaRPr>
            </a:p>
          </p:txBody>
        </p:sp>
        <p:sp>
          <p:nvSpPr>
            <p:cNvPr id="94" name="TextBox 57">
              <a:extLst>
                <a:ext uri="{FF2B5EF4-FFF2-40B4-BE49-F238E27FC236}">
                  <a16:creationId xmlns:a16="http://schemas.microsoft.com/office/drawing/2014/main" id="{194B6E58-2795-6B2C-6957-567C5D02CB60}"/>
                </a:ext>
              </a:extLst>
            </p:cNvPr>
            <p:cNvSpPr txBox="1"/>
            <p:nvPr/>
          </p:nvSpPr>
          <p:spPr>
            <a:xfrm>
              <a:off x="9670382" y="1957766"/>
              <a:ext cx="1585640" cy="1190069"/>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200"/>
                </a:spcBef>
                <a:spcAft>
                  <a:spcPts val="200"/>
                </a:spcAft>
                <a:buClrTx/>
                <a:buSzTx/>
                <a:buFontTx/>
                <a:buNone/>
                <a:tabLst/>
                <a:defRPr/>
              </a:pPr>
              <a:r>
                <a:rPr kumimoji="0" lang="en-US" sz="1400" b="1" i="0" u="none" strike="noStrike" kern="1200" cap="none" spc="0" normalizeH="0" baseline="0" noProof="0" dirty="0">
                  <a:ln>
                    <a:noFill/>
                  </a:ln>
                  <a:solidFill>
                    <a:srgbClr val="8661C5"/>
                  </a:solidFill>
                  <a:effectLst/>
                  <a:uLnTx/>
                  <a:uFillTx/>
                  <a:latin typeface="Segoe UI Semibold" panose="020B0502040204020203" pitchFamily="34" charset="0"/>
                  <a:ea typeface="+mn-ea"/>
                  <a:cs typeface="Segoe UI Semibold" panose="020B0502040204020203" pitchFamily="34" charset="0"/>
                </a:rPr>
                <a:t>Tell me about a topic/project </a:t>
              </a:r>
              <a:endParaRPr kumimoji="0" lang="en-US" sz="1200" b="1" i="0" u="none" strike="noStrike" kern="1200" cap="none" spc="0" normalizeH="0" baseline="0" noProof="0" dirty="0">
                <a:ln>
                  <a:noFill/>
                </a:ln>
                <a:solidFill>
                  <a:srgbClr val="8661C5"/>
                </a:solidFill>
                <a:effectLst/>
                <a:uLnTx/>
                <a:uFillTx/>
                <a:latin typeface="Segoe UI Semibold" panose="020B0502040204020203" pitchFamily="34" charset="0"/>
                <a:ea typeface="+mn-ea"/>
                <a:cs typeface="Segoe UI Semibold" panose="020B0502040204020203" pitchFamily="34" charset="0"/>
              </a:endParaRPr>
            </a:p>
            <a:p>
              <a:pPr marL="0" marR="0" lvl="0" indent="0" algn="l" defTabSz="914400" rtl="0" eaLnBrk="1" fontAlgn="auto" latinLnBrk="0" hangingPunct="1">
                <a:lnSpc>
                  <a:spcPct val="100000"/>
                </a:lnSpc>
                <a:spcBef>
                  <a:spcPts val="200"/>
                </a:spcBef>
                <a:spcAft>
                  <a:spcPts val="20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Segoe UI"/>
                  <a:ea typeface="+mn-ea"/>
                  <a:cs typeface="+mn-cs"/>
                </a:rPr>
                <a:t>– provide insights and analysis from across multiple sources to get up to speed quickly.</a:t>
              </a:r>
            </a:p>
          </p:txBody>
        </p:sp>
        <p:sp>
          <p:nvSpPr>
            <p:cNvPr id="95" name="TextBox 6">
              <a:extLst>
                <a:ext uri="{FF2B5EF4-FFF2-40B4-BE49-F238E27FC236}">
                  <a16:creationId xmlns:a16="http://schemas.microsoft.com/office/drawing/2014/main" id="{20190CE8-7963-C6AE-2F5B-BBF136262A72}"/>
                </a:ext>
              </a:extLst>
            </p:cNvPr>
            <p:cNvSpPr txBox="1"/>
            <p:nvPr/>
          </p:nvSpPr>
          <p:spPr>
            <a:xfrm>
              <a:off x="11311230" y="1463713"/>
              <a:ext cx="391454" cy="523220"/>
            </a:xfrm>
            <a:prstGeom prst="rect">
              <a:avLst/>
            </a:prstGeom>
            <a:noFill/>
          </p:spPr>
          <p:txBody>
            <a:bodyPr wrap="non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00000"/>
                  </a:solidFill>
                  <a:effectLst/>
                  <a:uLnTx/>
                  <a:uFillTx/>
                  <a:latin typeface="Segoe UI"/>
                  <a:ea typeface="+mn-ea"/>
                  <a:cs typeface="Segoe UI"/>
                </a:rPr>
                <a:t>5</a:t>
              </a:r>
            </a:p>
          </p:txBody>
        </p:sp>
        <p:pic>
          <p:nvPicPr>
            <p:cNvPr id="96" name="Picture 95">
              <a:extLst>
                <a:ext uri="{FF2B5EF4-FFF2-40B4-BE49-F238E27FC236}">
                  <a16:creationId xmlns:a16="http://schemas.microsoft.com/office/drawing/2014/main" id="{2BF77F10-0F91-982A-CB4C-5224FF1627CB}"/>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9740013" y="1619990"/>
              <a:ext cx="318387" cy="280446"/>
            </a:xfrm>
            <a:prstGeom prst="rect">
              <a:avLst/>
            </a:prstGeom>
          </p:spPr>
        </p:pic>
        <p:sp>
          <p:nvSpPr>
            <p:cNvPr id="97" name="TextBox 48">
              <a:extLst>
                <a:ext uri="{FF2B5EF4-FFF2-40B4-BE49-F238E27FC236}">
                  <a16:creationId xmlns:a16="http://schemas.microsoft.com/office/drawing/2014/main" id="{023FB5F8-BAC0-CF3A-FE68-7D3F2BD4AFDC}"/>
                </a:ext>
              </a:extLst>
            </p:cNvPr>
            <p:cNvSpPr txBox="1"/>
            <p:nvPr/>
          </p:nvSpPr>
          <p:spPr>
            <a:xfrm>
              <a:off x="9866807" y="3171742"/>
              <a:ext cx="1943702" cy="338554"/>
            </a:xfrm>
            <a:prstGeom prst="rect">
              <a:avLst/>
            </a:prstGeom>
            <a:noFill/>
          </p:spPr>
          <p:txBody>
            <a:bodyPr wrap="square" lIns="91440" tIns="45720" rIns="91440" bIns="4572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200"/>
                </a:spcBef>
                <a:spcAft>
                  <a:spcPts val="20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Segoe UI"/>
                  <a:ea typeface="+mn-ea"/>
                  <a:cs typeface="+mn-cs"/>
                </a:rPr>
                <a:t>Tell me what's new about</a:t>
              </a:r>
              <a:r>
                <a:rPr kumimoji="0" lang="en-US" sz="800" b="0" i="0" u="none" strike="noStrike" kern="1200" cap="none" spc="0" normalizeH="0" baseline="0" noProof="0" dirty="0">
                  <a:ln>
                    <a:noFill/>
                  </a:ln>
                  <a:solidFill>
                    <a:srgbClr val="463668"/>
                  </a:solidFill>
                  <a:effectLst/>
                  <a:uLnTx/>
                  <a:uFillTx/>
                  <a:latin typeface="Segoe UI"/>
                  <a:ea typeface="+mn-ea"/>
                  <a:cs typeface="+mn-cs"/>
                </a:rPr>
                <a:t> topic</a:t>
              </a:r>
              <a:r>
                <a:rPr kumimoji="0" lang="en-US" sz="800" b="0" i="0" u="none" strike="noStrike" kern="1200" cap="none" spc="0" normalizeH="0" baseline="0" noProof="0" dirty="0">
                  <a:ln>
                    <a:noFill/>
                  </a:ln>
                  <a:solidFill>
                    <a:prstClr val="black"/>
                  </a:solidFill>
                  <a:effectLst/>
                  <a:uLnTx/>
                  <a:uFillTx/>
                  <a:latin typeface="Segoe UI"/>
                  <a:ea typeface="+mn-ea"/>
                  <a:cs typeface="+mn-cs"/>
                </a:rPr>
                <a:t> organized by emails, chats, and files?</a:t>
              </a:r>
              <a:endParaRPr kumimoji="0" lang="en-US" sz="1050" b="0" i="0" u="none" strike="noStrike" kern="1200" cap="none" spc="0" normalizeH="0" baseline="0" noProof="0" dirty="0">
                <a:ln>
                  <a:noFill/>
                </a:ln>
                <a:solidFill>
                  <a:prstClr val="black"/>
                </a:solidFill>
                <a:effectLst/>
                <a:uLnTx/>
                <a:uFillTx/>
                <a:latin typeface="Segoe UI"/>
                <a:ea typeface="+mn-ea"/>
                <a:cs typeface="+mn-cs"/>
              </a:endParaRPr>
            </a:p>
          </p:txBody>
        </p:sp>
        <p:pic>
          <p:nvPicPr>
            <p:cNvPr id="98" name="Graphic 50">
              <a:extLst>
                <a:ext uri="{FF2B5EF4-FFF2-40B4-BE49-F238E27FC236}">
                  <a16:creationId xmlns:a16="http://schemas.microsoft.com/office/drawing/2014/main" id="{4F88AF6B-8764-0722-06D7-07BF343AEE44}"/>
                </a:ext>
              </a:extLst>
            </p:cNvPr>
            <p:cNvPicPr>
              <a:picLocks noChangeAspect="1"/>
            </p:cNvPicPr>
            <p:nvPr/>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9739581" y="3201363"/>
              <a:ext cx="163426" cy="163426"/>
            </a:xfrm>
            <a:prstGeom prst="rect">
              <a:avLst/>
            </a:prstGeom>
          </p:spPr>
        </p:pic>
      </p:grpSp>
      <p:grpSp>
        <p:nvGrpSpPr>
          <p:cNvPr id="49" name="Group 48">
            <a:extLst>
              <a:ext uri="{FF2B5EF4-FFF2-40B4-BE49-F238E27FC236}">
                <a16:creationId xmlns:a16="http://schemas.microsoft.com/office/drawing/2014/main" id="{80040FE4-F8E4-82D9-470D-39D9BBF8F8C9}"/>
              </a:ext>
            </a:extLst>
          </p:cNvPr>
          <p:cNvGrpSpPr/>
          <p:nvPr/>
        </p:nvGrpSpPr>
        <p:grpSpPr>
          <a:xfrm>
            <a:off x="505272" y="3809424"/>
            <a:ext cx="2153223" cy="2221429"/>
            <a:chOff x="505272" y="3809424"/>
            <a:chExt cx="2153223" cy="2221429"/>
          </a:xfrm>
        </p:grpSpPr>
        <p:sp>
          <p:nvSpPr>
            <p:cNvPr id="87" name="Rounded Rectangle 1">
              <a:extLst>
                <a:ext uri="{FF2B5EF4-FFF2-40B4-BE49-F238E27FC236}">
                  <a16:creationId xmlns:a16="http://schemas.microsoft.com/office/drawing/2014/main" id="{BB679FF4-82BC-65AD-EA4D-7CEE70327781}"/>
                </a:ext>
                <a:ext uri="{C183D7F6-B498-43B3-948B-1728B52AA6E4}">
                  <adec:decorative xmlns:adec="http://schemas.microsoft.com/office/drawing/2017/decorative" val="1"/>
                </a:ext>
              </a:extLst>
            </p:cNvPr>
            <p:cNvSpPr/>
            <p:nvPr/>
          </p:nvSpPr>
          <p:spPr bwMode="auto">
            <a:xfrm>
              <a:off x="505272" y="3809425"/>
              <a:ext cx="2153223" cy="2221428"/>
            </a:xfrm>
            <a:prstGeom prst="roundRect">
              <a:avLst>
                <a:gd name="adj" fmla="val 2901"/>
              </a:avLst>
            </a:prstGeom>
            <a:solidFill>
              <a:schemeClr val="bg1"/>
            </a:solidFill>
            <a:ln>
              <a:noFill/>
              <a:headEnd type="none" w="med" len="med"/>
              <a:tailEnd type="none" w="med" len="med"/>
            </a:ln>
            <a:effectLst>
              <a:outerShdw blurRad="63500" dist="127000" dir="2700000" algn="tl"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Segoe UI"/>
                <a:ea typeface="+mn-ea"/>
                <a:cs typeface="Segoe UI" pitchFamily="34" charset="0"/>
              </a:endParaRPr>
            </a:p>
          </p:txBody>
        </p:sp>
        <p:sp>
          <p:nvSpPr>
            <p:cNvPr id="88" name="TextBox 61">
              <a:extLst>
                <a:ext uri="{FF2B5EF4-FFF2-40B4-BE49-F238E27FC236}">
                  <a16:creationId xmlns:a16="http://schemas.microsoft.com/office/drawing/2014/main" id="{CF2C10A1-0DD1-78D9-DC0C-BC6BF38A499C}"/>
                </a:ext>
              </a:extLst>
            </p:cNvPr>
            <p:cNvSpPr txBox="1"/>
            <p:nvPr/>
          </p:nvSpPr>
          <p:spPr>
            <a:xfrm>
              <a:off x="626192" y="4303478"/>
              <a:ext cx="1744774" cy="1190069"/>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200"/>
                </a:spcBef>
                <a:spcAft>
                  <a:spcPts val="200"/>
                </a:spcAft>
                <a:buClrTx/>
                <a:buSzTx/>
                <a:buFontTx/>
                <a:buNone/>
                <a:tabLst/>
                <a:defRPr/>
              </a:pPr>
              <a:r>
                <a:rPr kumimoji="0" lang="en-US" sz="1400" b="1" i="0" u="none" strike="noStrike" kern="1200" cap="none" spc="0" normalizeH="0" baseline="0" noProof="0" dirty="0">
                  <a:ln>
                    <a:noFill/>
                  </a:ln>
                  <a:solidFill>
                    <a:srgbClr val="8661C5"/>
                  </a:solidFill>
                  <a:effectLst/>
                  <a:uLnTx/>
                  <a:uFillTx/>
                  <a:latin typeface="Segoe UI Semibold" panose="020B0502040204020203" pitchFamily="34" charset="0"/>
                  <a:ea typeface="+mn-ea"/>
                  <a:cs typeface="Segoe UI Semibold" panose="020B0502040204020203" pitchFamily="34" charset="0"/>
                </a:rPr>
                <a:t>Give me some ideas for </a:t>
              </a:r>
              <a:r>
                <a:rPr kumimoji="0" lang="en-US" sz="1200" b="1" i="0" u="none" strike="noStrike" kern="1200" cap="none" spc="0" normalizeH="0" baseline="0" noProof="0" dirty="0">
                  <a:ln>
                    <a:noFill/>
                  </a:ln>
                  <a:solidFill>
                    <a:srgbClr val="8661C5"/>
                  </a:solidFill>
                  <a:effectLst/>
                  <a:uLnTx/>
                  <a:uFillTx/>
                  <a:latin typeface="Segoe UI Semibold" panose="020B0502040204020203" pitchFamily="34" charset="0"/>
                  <a:ea typeface="+mn-ea"/>
                  <a:cs typeface="Segoe UI Semibold" panose="020B0502040204020203" pitchFamily="34" charset="0"/>
                </a:rPr>
                <a:t>…</a:t>
              </a:r>
            </a:p>
            <a:p>
              <a:pPr marL="0" marR="0" lvl="0" indent="0" algn="l" defTabSz="914400" rtl="0" eaLnBrk="1" fontAlgn="auto" latinLnBrk="0" hangingPunct="1">
                <a:lnSpc>
                  <a:spcPct val="100000"/>
                </a:lnSpc>
                <a:spcBef>
                  <a:spcPts val="200"/>
                </a:spcBef>
                <a:spcAft>
                  <a:spcPts val="20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Segoe UI"/>
                  <a:ea typeface="+mn-ea"/>
                  <a:cs typeface="+mn-cs"/>
                </a:rPr>
                <a:t>– boost your creativity with ideas for your work such as agendas, product names, social media posts, etc.</a:t>
              </a:r>
            </a:p>
          </p:txBody>
        </p:sp>
        <p:sp>
          <p:nvSpPr>
            <p:cNvPr id="89" name="TextBox 7">
              <a:extLst>
                <a:ext uri="{FF2B5EF4-FFF2-40B4-BE49-F238E27FC236}">
                  <a16:creationId xmlns:a16="http://schemas.microsoft.com/office/drawing/2014/main" id="{F084CF4F-AB5A-F938-7EF7-C2502EFC5F94}"/>
                </a:ext>
              </a:extLst>
            </p:cNvPr>
            <p:cNvSpPr txBox="1"/>
            <p:nvPr/>
          </p:nvSpPr>
          <p:spPr>
            <a:xfrm>
              <a:off x="2267041" y="3809424"/>
              <a:ext cx="391454" cy="523220"/>
            </a:xfrm>
            <a:prstGeom prst="rect">
              <a:avLst/>
            </a:prstGeom>
            <a:noFill/>
          </p:spPr>
          <p:txBody>
            <a:bodyPr wrap="non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00000"/>
                  </a:solidFill>
                  <a:effectLst/>
                  <a:uLnTx/>
                  <a:uFillTx/>
                  <a:latin typeface="Segoe UI"/>
                  <a:ea typeface="+mn-ea"/>
                  <a:cs typeface="Segoe UI"/>
                </a:rPr>
                <a:t>6</a:t>
              </a:r>
            </a:p>
          </p:txBody>
        </p:sp>
        <p:pic>
          <p:nvPicPr>
            <p:cNvPr id="90" name="Picture 89">
              <a:extLst>
                <a:ext uri="{FF2B5EF4-FFF2-40B4-BE49-F238E27FC236}">
                  <a16:creationId xmlns:a16="http://schemas.microsoft.com/office/drawing/2014/main" id="{3C8BC9C7-E0A3-DE69-2484-93F4F979AC29}"/>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697685" y="3990229"/>
              <a:ext cx="318387" cy="280446"/>
            </a:xfrm>
            <a:prstGeom prst="rect">
              <a:avLst/>
            </a:prstGeom>
          </p:spPr>
        </p:pic>
        <p:sp>
          <p:nvSpPr>
            <p:cNvPr id="91" name="TextBox 52">
              <a:extLst>
                <a:ext uri="{FF2B5EF4-FFF2-40B4-BE49-F238E27FC236}">
                  <a16:creationId xmlns:a16="http://schemas.microsoft.com/office/drawing/2014/main" id="{77F6939C-AE0E-47F4-E792-DD7EB2CA3EBB}"/>
                </a:ext>
              </a:extLst>
            </p:cNvPr>
            <p:cNvSpPr txBox="1"/>
            <p:nvPr/>
          </p:nvSpPr>
          <p:spPr>
            <a:xfrm>
              <a:off x="827732" y="5531704"/>
              <a:ext cx="1549719" cy="338554"/>
            </a:xfrm>
            <a:prstGeom prst="rect">
              <a:avLst/>
            </a:prstGeom>
            <a:noFill/>
          </p:spPr>
          <p:txBody>
            <a:bodyPr wrap="square" lIns="91440" tIns="45720" rIns="91440" bIns="4572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200"/>
                </a:spcBef>
                <a:spcAft>
                  <a:spcPts val="20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Segoe UI"/>
                  <a:ea typeface="+mn-ea"/>
                  <a:cs typeface="+mn-cs"/>
                </a:rPr>
                <a:t>Suggest 10 compelling taglines based on </a:t>
              </a:r>
              <a:r>
                <a:rPr kumimoji="0" lang="en-US" sz="800" b="0" i="0" u="none" strike="noStrike" kern="1200" cap="none" spc="0" normalizeH="0" baseline="0" noProof="0" dirty="0">
                  <a:ln>
                    <a:noFill/>
                  </a:ln>
                  <a:solidFill>
                    <a:srgbClr val="463668"/>
                  </a:solidFill>
                  <a:effectLst/>
                  <a:uLnTx/>
                  <a:uFillTx/>
                  <a:latin typeface="Segoe UI"/>
                  <a:ea typeface="+mn-ea"/>
                  <a:cs typeface="+mn-cs"/>
                </a:rPr>
                <a:t>file </a:t>
              </a:r>
              <a:endParaRPr kumimoji="0" lang="en-US" sz="800" b="0" i="0" u="none" strike="noStrike" kern="1200" cap="none" spc="0" normalizeH="0" baseline="0" noProof="0" dirty="0">
                <a:ln>
                  <a:noFill/>
                </a:ln>
                <a:solidFill>
                  <a:prstClr val="black"/>
                </a:solidFill>
                <a:effectLst/>
                <a:uLnTx/>
                <a:uFillTx/>
                <a:latin typeface="Segoe UI"/>
                <a:ea typeface="+mn-ea"/>
                <a:cs typeface="+mn-cs"/>
              </a:endParaRPr>
            </a:p>
          </p:txBody>
        </p:sp>
        <p:pic>
          <p:nvPicPr>
            <p:cNvPr id="92" name="Graphic 54">
              <a:extLst>
                <a:ext uri="{FF2B5EF4-FFF2-40B4-BE49-F238E27FC236}">
                  <a16:creationId xmlns:a16="http://schemas.microsoft.com/office/drawing/2014/main" id="{65761076-6D3D-7556-10B2-97B635C633C8}"/>
                </a:ext>
              </a:extLst>
            </p:cNvPr>
            <p:cNvPicPr>
              <a:picLocks noChangeAspect="1"/>
            </p:cNvPicPr>
            <p:nvPr/>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700506" y="5561325"/>
              <a:ext cx="163426" cy="163426"/>
            </a:xfrm>
            <a:prstGeom prst="rect">
              <a:avLst/>
            </a:prstGeom>
          </p:spPr>
        </p:pic>
      </p:grpSp>
      <p:grpSp>
        <p:nvGrpSpPr>
          <p:cNvPr id="50" name="Group 49">
            <a:extLst>
              <a:ext uri="{FF2B5EF4-FFF2-40B4-BE49-F238E27FC236}">
                <a16:creationId xmlns:a16="http://schemas.microsoft.com/office/drawing/2014/main" id="{4C8CDEB3-72A7-6912-DCE1-144EC22275A7}"/>
              </a:ext>
            </a:extLst>
          </p:cNvPr>
          <p:cNvGrpSpPr/>
          <p:nvPr/>
        </p:nvGrpSpPr>
        <p:grpSpPr>
          <a:xfrm>
            <a:off x="5027366" y="3809424"/>
            <a:ext cx="2153223" cy="2221428"/>
            <a:chOff x="5027366" y="3809424"/>
            <a:chExt cx="2153223" cy="2221428"/>
          </a:xfrm>
        </p:grpSpPr>
        <p:sp>
          <p:nvSpPr>
            <p:cNvPr id="81" name="Rounded Rectangle 1">
              <a:extLst>
                <a:ext uri="{FF2B5EF4-FFF2-40B4-BE49-F238E27FC236}">
                  <a16:creationId xmlns:a16="http://schemas.microsoft.com/office/drawing/2014/main" id="{2FFB0952-0EFB-5087-4B0B-532FD1084B1A}"/>
                </a:ext>
                <a:ext uri="{C183D7F6-B498-43B3-948B-1728B52AA6E4}">
                  <adec:decorative xmlns:adec="http://schemas.microsoft.com/office/drawing/2017/decorative" val="1"/>
                </a:ext>
              </a:extLst>
            </p:cNvPr>
            <p:cNvSpPr/>
            <p:nvPr/>
          </p:nvSpPr>
          <p:spPr bwMode="auto">
            <a:xfrm>
              <a:off x="5027366" y="3809424"/>
              <a:ext cx="2153223" cy="2221428"/>
            </a:xfrm>
            <a:prstGeom prst="roundRect">
              <a:avLst>
                <a:gd name="adj" fmla="val 2901"/>
              </a:avLst>
            </a:prstGeom>
            <a:solidFill>
              <a:schemeClr val="bg1"/>
            </a:solidFill>
            <a:ln>
              <a:noFill/>
              <a:headEnd type="none" w="med" len="med"/>
              <a:tailEnd type="none" w="med" len="med"/>
            </a:ln>
            <a:effectLst>
              <a:outerShdw blurRad="63500" dist="127000" dir="2700000" algn="tl"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Segoe UI"/>
                <a:ea typeface="+mn-ea"/>
                <a:cs typeface="Segoe UI" pitchFamily="34" charset="0"/>
              </a:endParaRPr>
            </a:p>
          </p:txBody>
        </p:sp>
        <p:sp>
          <p:nvSpPr>
            <p:cNvPr id="82" name="TextBox 69">
              <a:extLst>
                <a:ext uri="{FF2B5EF4-FFF2-40B4-BE49-F238E27FC236}">
                  <a16:creationId xmlns:a16="http://schemas.microsoft.com/office/drawing/2014/main" id="{E52BAE3D-B4AF-4E1B-8FBC-6434A4F04572}"/>
                </a:ext>
              </a:extLst>
            </p:cNvPr>
            <p:cNvSpPr txBox="1"/>
            <p:nvPr/>
          </p:nvSpPr>
          <p:spPr>
            <a:xfrm>
              <a:off x="5148286" y="4303478"/>
              <a:ext cx="1932245" cy="820738"/>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200"/>
                </a:spcBef>
                <a:spcAft>
                  <a:spcPts val="200"/>
                </a:spcAft>
                <a:buClrTx/>
                <a:buSzTx/>
                <a:buFontTx/>
                <a:buNone/>
                <a:tabLst/>
                <a:defRPr/>
              </a:pPr>
              <a:r>
                <a:rPr kumimoji="0" lang="en-US" sz="1400" b="1" i="0" u="none" strike="noStrike" kern="1200" cap="none" spc="0" normalizeH="0" baseline="0" noProof="0" dirty="0">
                  <a:ln>
                    <a:noFill/>
                  </a:ln>
                  <a:solidFill>
                    <a:srgbClr val="8661C5"/>
                  </a:solidFill>
                  <a:effectLst/>
                  <a:uLnTx/>
                  <a:uFillTx/>
                  <a:latin typeface="Segoe UI Semibold" panose="020B0502040204020203" pitchFamily="34" charset="0"/>
                  <a:ea typeface="+mn-ea"/>
                  <a:cs typeface="Segoe UI Semibold" panose="020B0502040204020203" pitchFamily="34" charset="0"/>
                </a:rPr>
                <a:t>What did they say … </a:t>
              </a:r>
            </a:p>
            <a:p>
              <a:pPr marL="0" marR="0" lvl="0" indent="0" algn="l" defTabSz="914400" rtl="0" eaLnBrk="1" fontAlgn="auto" latinLnBrk="0" hangingPunct="1">
                <a:lnSpc>
                  <a:spcPct val="100000"/>
                </a:lnSpc>
                <a:spcBef>
                  <a:spcPts val="200"/>
                </a:spcBef>
                <a:spcAft>
                  <a:spcPts val="20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Segoe UI"/>
                  <a:ea typeface="+mn-ea"/>
                  <a:cs typeface="+mn-cs"/>
                </a:rPr>
                <a:t>– when you vaguely remember someone mentioning a topic, have Copilot do the research.</a:t>
              </a:r>
            </a:p>
          </p:txBody>
        </p:sp>
        <p:sp>
          <p:nvSpPr>
            <p:cNvPr id="83" name="TextBox 9">
              <a:extLst>
                <a:ext uri="{FF2B5EF4-FFF2-40B4-BE49-F238E27FC236}">
                  <a16:creationId xmlns:a16="http://schemas.microsoft.com/office/drawing/2014/main" id="{05EA08C6-2AF3-B118-625F-6FD3BBAFE6C1}"/>
                </a:ext>
              </a:extLst>
            </p:cNvPr>
            <p:cNvSpPr txBox="1"/>
            <p:nvPr/>
          </p:nvSpPr>
          <p:spPr>
            <a:xfrm>
              <a:off x="6789135" y="3809424"/>
              <a:ext cx="391454" cy="523220"/>
            </a:xfrm>
            <a:prstGeom prst="rect">
              <a:avLst/>
            </a:prstGeom>
            <a:noFill/>
          </p:spPr>
          <p:txBody>
            <a:bodyPr wrap="non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00000"/>
                  </a:solidFill>
                  <a:effectLst/>
                  <a:uLnTx/>
                  <a:uFillTx/>
                  <a:latin typeface="Segoe UI"/>
                  <a:ea typeface="+mn-ea"/>
                  <a:cs typeface="Segoe UI"/>
                </a:rPr>
                <a:t>8</a:t>
              </a:r>
            </a:p>
          </p:txBody>
        </p:sp>
        <p:pic>
          <p:nvPicPr>
            <p:cNvPr id="84" name="Picture 83">
              <a:extLst>
                <a:ext uri="{FF2B5EF4-FFF2-40B4-BE49-F238E27FC236}">
                  <a16:creationId xmlns:a16="http://schemas.microsoft.com/office/drawing/2014/main" id="{48486E2F-78CF-A749-ED75-BE7255B935E5}"/>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5204834" y="3990229"/>
              <a:ext cx="318387" cy="280446"/>
            </a:xfrm>
            <a:prstGeom prst="rect">
              <a:avLst/>
            </a:prstGeom>
          </p:spPr>
        </p:pic>
        <p:sp>
          <p:nvSpPr>
            <p:cNvPr id="85" name="TextBox 60">
              <a:extLst>
                <a:ext uri="{FF2B5EF4-FFF2-40B4-BE49-F238E27FC236}">
                  <a16:creationId xmlns:a16="http://schemas.microsoft.com/office/drawing/2014/main" id="{5490C1F1-BD9A-DDDF-DD09-B99848722ED8}"/>
                </a:ext>
              </a:extLst>
            </p:cNvPr>
            <p:cNvSpPr txBox="1"/>
            <p:nvPr/>
          </p:nvSpPr>
          <p:spPr>
            <a:xfrm>
              <a:off x="5338447" y="5531704"/>
              <a:ext cx="1062417" cy="338554"/>
            </a:xfrm>
            <a:prstGeom prst="rect">
              <a:avLst/>
            </a:prstGeom>
            <a:noFill/>
          </p:spPr>
          <p:txBody>
            <a:bodyPr wrap="square" lIns="91440" tIns="45720" rIns="91440" bIns="4572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200"/>
                </a:spcBef>
                <a:spcAft>
                  <a:spcPts val="20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Segoe UI"/>
                  <a:ea typeface="+mn-ea"/>
                  <a:cs typeface="+mn-cs"/>
                </a:rPr>
                <a:t>What did </a:t>
              </a:r>
              <a:r>
                <a:rPr kumimoji="0" lang="en-US" sz="800" b="0" i="0" u="none" strike="noStrike" kern="1200" cap="none" spc="0" normalizeH="0" baseline="0" noProof="0" dirty="0">
                  <a:ln>
                    <a:noFill/>
                  </a:ln>
                  <a:solidFill>
                    <a:srgbClr val="463668"/>
                  </a:solidFill>
                  <a:effectLst/>
                  <a:uLnTx/>
                  <a:uFillTx/>
                  <a:latin typeface="Segoe UI"/>
                  <a:ea typeface="+mn-ea"/>
                  <a:cs typeface="+mn-cs"/>
                </a:rPr>
                <a:t>person</a:t>
              </a:r>
              <a:r>
                <a:rPr kumimoji="0" lang="en-US" sz="800" b="0" i="0" u="none" strike="noStrike" kern="1200" cap="none" spc="0" normalizeH="0" baseline="0" noProof="0" dirty="0">
                  <a:ln>
                    <a:noFill/>
                  </a:ln>
                  <a:solidFill>
                    <a:prstClr val="black"/>
                  </a:solidFill>
                  <a:effectLst/>
                  <a:uLnTx/>
                  <a:uFillTx/>
                  <a:latin typeface="Segoe UI"/>
                  <a:ea typeface="+mn-ea"/>
                  <a:cs typeface="+mn-cs"/>
                </a:rPr>
                <a:t> say about </a:t>
              </a:r>
              <a:r>
                <a:rPr kumimoji="0" lang="en-US" sz="800" b="0" i="0" u="none" strike="noStrike" kern="1200" cap="none" spc="0" normalizeH="0" baseline="0" noProof="0" dirty="0">
                  <a:ln>
                    <a:noFill/>
                  </a:ln>
                  <a:solidFill>
                    <a:srgbClr val="463668"/>
                  </a:solidFill>
                  <a:effectLst/>
                  <a:uLnTx/>
                  <a:uFillTx/>
                  <a:latin typeface="Segoe UI"/>
                  <a:ea typeface="+mn-ea"/>
                  <a:cs typeface="+mn-cs"/>
                </a:rPr>
                <a:t>topic</a:t>
              </a:r>
            </a:p>
          </p:txBody>
        </p:sp>
        <p:pic>
          <p:nvPicPr>
            <p:cNvPr id="86" name="Graphic 62">
              <a:extLst>
                <a:ext uri="{FF2B5EF4-FFF2-40B4-BE49-F238E27FC236}">
                  <a16:creationId xmlns:a16="http://schemas.microsoft.com/office/drawing/2014/main" id="{3CFE66D8-7B77-EE15-8E3A-391C9C8DC3AE}"/>
                </a:ext>
              </a:extLst>
            </p:cNvPr>
            <p:cNvPicPr>
              <a:picLocks noChangeAspect="1"/>
            </p:cNvPicPr>
            <p:nvPr/>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5211221" y="5561325"/>
              <a:ext cx="163426" cy="163426"/>
            </a:xfrm>
            <a:prstGeom prst="rect">
              <a:avLst/>
            </a:prstGeom>
          </p:spPr>
        </p:pic>
      </p:grpSp>
      <p:grpSp>
        <p:nvGrpSpPr>
          <p:cNvPr id="51" name="Group 50">
            <a:extLst>
              <a:ext uri="{FF2B5EF4-FFF2-40B4-BE49-F238E27FC236}">
                <a16:creationId xmlns:a16="http://schemas.microsoft.com/office/drawing/2014/main" id="{1AA13A1F-3E81-D5C9-D38E-E1311C0BB222}"/>
              </a:ext>
            </a:extLst>
          </p:cNvPr>
          <p:cNvGrpSpPr/>
          <p:nvPr/>
        </p:nvGrpSpPr>
        <p:grpSpPr>
          <a:xfrm>
            <a:off x="9549461" y="3809424"/>
            <a:ext cx="2153223" cy="2221427"/>
            <a:chOff x="9549461" y="3809424"/>
            <a:chExt cx="2153223" cy="2221427"/>
          </a:xfrm>
        </p:grpSpPr>
        <p:sp>
          <p:nvSpPr>
            <p:cNvPr id="75" name="Rounded Rectangle 1">
              <a:extLst>
                <a:ext uri="{FF2B5EF4-FFF2-40B4-BE49-F238E27FC236}">
                  <a16:creationId xmlns:a16="http://schemas.microsoft.com/office/drawing/2014/main" id="{2CB8BC68-4A0F-DF73-9429-B5345E4A9D51}"/>
                </a:ext>
                <a:ext uri="{C183D7F6-B498-43B3-948B-1728B52AA6E4}">
                  <adec:decorative xmlns:adec="http://schemas.microsoft.com/office/drawing/2017/decorative" val="1"/>
                </a:ext>
              </a:extLst>
            </p:cNvPr>
            <p:cNvSpPr/>
            <p:nvPr/>
          </p:nvSpPr>
          <p:spPr bwMode="auto">
            <a:xfrm>
              <a:off x="9549461" y="3809424"/>
              <a:ext cx="2153223" cy="2221427"/>
            </a:xfrm>
            <a:prstGeom prst="roundRect">
              <a:avLst>
                <a:gd name="adj" fmla="val 2901"/>
              </a:avLst>
            </a:prstGeom>
            <a:solidFill>
              <a:schemeClr val="bg1"/>
            </a:solidFill>
            <a:ln>
              <a:noFill/>
              <a:headEnd type="none" w="med" len="med"/>
              <a:tailEnd type="none" w="med" len="med"/>
            </a:ln>
            <a:effectLst>
              <a:outerShdw blurRad="63500" dist="127000" dir="2700000" algn="tl"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Segoe UI"/>
                <a:ea typeface="+mn-ea"/>
                <a:cs typeface="Segoe UI" pitchFamily="34" charset="0"/>
              </a:endParaRPr>
            </a:p>
          </p:txBody>
        </p:sp>
        <p:sp>
          <p:nvSpPr>
            <p:cNvPr id="76" name="TextBox 77">
              <a:extLst>
                <a:ext uri="{FF2B5EF4-FFF2-40B4-BE49-F238E27FC236}">
                  <a16:creationId xmlns:a16="http://schemas.microsoft.com/office/drawing/2014/main" id="{1C7CBD6D-CEB8-F2AE-5C57-A793C4CD3CED}"/>
                </a:ext>
              </a:extLst>
            </p:cNvPr>
            <p:cNvSpPr txBox="1"/>
            <p:nvPr/>
          </p:nvSpPr>
          <p:spPr>
            <a:xfrm>
              <a:off x="9670381" y="4303478"/>
              <a:ext cx="1895427" cy="1128514"/>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200"/>
                </a:spcBef>
                <a:spcAft>
                  <a:spcPts val="200"/>
                </a:spcAft>
                <a:buClrTx/>
                <a:buSzTx/>
                <a:buFontTx/>
                <a:buNone/>
                <a:tabLst/>
                <a:defRPr/>
              </a:pPr>
              <a:r>
                <a:rPr kumimoji="0" lang="en-US" sz="1400" b="1" i="0" u="none" strike="noStrike" kern="1200" cap="none" spc="0" normalizeH="0" baseline="0" noProof="0" dirty="0">
                  <a:ln>
                    <a:noFill/>
                  </a:ln>
                  <a:solidFill>
                    <a:srgbClr val="8661C5"/>
                  </a:solidFill>
                  <a:effectLst/>
                  <a:uLnTx/>
                  <a:uFillTx/>
                  <a:latin typeface="Segoe UI Semibold" panose="020B0502040204020203" pitchFamily="34" charset="0"/>
                  <a:ea typeface="+mn-ea"/>
                  <a:cs typeface="Segoe UI Semibold" panose="020B0502040204020203" pitchFamily="34" charset="0"/>
                </a:rPr>
                <a:t>Translate a message </a:t>
              </a:r>
            </a:p>
            <a:p>
              <a:pPr marL="0" marR="0" lvl="0" indent="0" algn="l" defTabSz="914400" rtl="0" eaLnBrk="1" fontAlgn="auto" latinLnBrk="0" hangingPunct="1">
                <a:lnSpc>
                  <a:spcPct val="100000"/>
                </a:lnSpc>
                <a:spcBef>
                  <a:spcPts val="200"/>
                </a:spcBef>
                <a:spcAft>
                  <a:spcPts val="20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Segoe UI"/>
                  <a:ea typeface="+mn-ea"/>
                  <a:cs typeface="+mn-cs"/>
                </a:rPr>
                <a:t>– with business becoming increasingly international, it’s important to be able to read or write messages in other languages.</a:t>
              </a:r>
            </a:p>
          </p:txBody>
        </p:sp>
        <p:sp>
          <p:nvSpPr>
            <p:cNvPr id="77" name="TextBox 11">
              <a:extLst>
                <a:ext uri="{FF2B5EF4-FFF2-40B4-BE49-F238E27FC236}">
                  <a16:creationId xmlns:a16="http://schemas.microsoft.com/office/drawing/2014/main" id="{FF9CFBFA-5D67-8DB3-95F3-8E0483267F3A}"/>
                </a:ext>
              </a:extLst>
            </p:cNvPr>
            <p:cNvSpPr txBox="1"/>
            <p:nvPr/>
          </p:nvSpPr>
          <p:spPr>
            <a:xfrm>
              <a:off x="11104442" y="3809424"/>
              <a:ext cx="598242" cy="523220"/>
            </a:xfrm>
            <a:prstGeom prst="rect">
              <a:avLst/>
            </a:prstGeom>
            <a:noFill/>
          </p:spPr>
          <p:txBody>
            <a:bodyPr wrap="non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00000"/>
                  </a:solidFill>
                  <a:effectLst/>
                  <a:uLnTx/>
                  <a:uFillTx/>
                  <a:latin typeface="Segoe UI"/>
                  <a:ea typeface="+mn-ea"/>
                  <a:cs typeface="Segoe UI"/>
                </a:rPr>
                <a:t>10</a:t>
              </a:r>
            </a:p>
          </p:txBody>
        </p:sp>
        <p:pic>
          <p:nvPicPr>
            <p:cNvPr id="78" name="Picture 77">
              <a:extLst>
                <a:ext uri="{FF2B5EF4-FFF2-40B4-BE49-F238E27FC236}">
                  <a16:creationId xmlns:a16="http://schemas.microsoft.com/office/drawing/2014/main" id="{5C96A3F8-2E2F-D120-ECB1-56202343EC7A}"/>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9740013" y="3990229"/>
              <a:ext cx="318387" cy="280446"/>
            </a:xfrm>
            <a:prstGeom prst="rect">
              <a:avLst/>
            </a:prstGeom>
          </p:spPr>
        </p:pic>
        <p:sp>
          <p:nvSpPr>
            <p:cNvPr id="79" name="TextBox 68">
              <a:extLst>
                <a:ext uri="{FF2B5EF4-FFF2-40B4-BE49-F238E27FC236}">
                  <a16:creationId xmlns:a16="http://schemas.microsoft.com/office/drawing/2014/main" id="{40F39368-80B5-2D20-CB6E-EC40E0407BB9}"/>
                </a:ext>
              </a:extLst>
            </p:cNvPr>
            <p:cNvSpPr txBox="1"/>
            <p:nvPr/>
          </p:nvSpPr>
          <p:spPr>
            <a:xfrm>
              <a:off x="9866807" y="5531704"/>
              <a:ext cx="1237635" cy="338554"/>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200"/>
                </a:spcBef>
                <a:spcAft>
                  <a:spcPts val="20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Segoe UI"/>
                  <a:ea typeface="+mn-ea"/>
                  <a:cs typeface="+mn-cs"/>
                </a:rPr>
                <a:t>Translate the following text into French: </a:t>
              </a:r>
              <a:endParaRPr kumimoji="0" lang="en-US" sz="1050" b="0" i="0" u="none" strike="noStrike" kern="1200" cap="none" spc="0" normalizeH="0" baseline="0" noProof="0" dirty="0">
                <a:ln>
                  <a:noFill/>
                </a:ln>
                <a:solidFill>
                  <a:prstClr val="black"/>
                </a:solidFill>
                <a:effectLst/>
                <a:uLnTx/>
                <a:uFillTx/>
                <a:latin typeface="Segoe UI"/>
                <a:ea typeface="+mn-ea"/>
                <a:cs typeface="+mn-cs"/>
              </a:endParaRPr>
            </a:p>
          </p:txBody>
        </p:sp>
        <p:pic>
          <p:nvPicPr>
            <p:cNvPr id="80" name="Graphic 70">
              <a:extLst>
                <a:ext uri="{FF2B5EF4-FFF2-40B4-BE49-F238E27FC236}">
                  <a16:creationId xmlns:a16="http://schemas.microsoft.com/office/drawing/2014/main" id="{23B1E8BE-C7E2-9EE3-65B8-0B813CE0D5EB}"/>
                </a:ext>
              </a:extLst>
            </p:cNvPr>
            <p:cNvPicPr>
              <a:picLocks noChangeAspect="1"/>
            </p:cNvPicPr>
            <p:nvPr/>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9739581" y="5561325"/>
              <a:ext cx="163426" cy="163426"/>
            </a:xfrm>
            <a:prstGeom prst="rect">
              <a:avLst/>
            </a:prstGeom>
          </p:spPr>
        </p:pic>
      </p:grpSp>
      <p:grpSp>
        <p:nvGrpSpPr>
          <p:cNvPr id="52" name="Group 51">
            <a:extLst>
              <a:ext uri="{FF2B5EF4-FFF2-40B4-BE49-F238E27FC236}">
                <a16:creationId xmlns:a16="http://schemas.microsoft.com/office/drawing/2014/main" id="{4EC09701-7D54-23C5-EE17-469EC77CC48F}"/>
              </a:ext>
              <a:ext uri="{C183D7F6-B498-43B3-948B-1728B52AA6E4}">
                <adec:decorative xmlns:adec="http://schemas.microsoft.com/office/drawing/2017/decorative" val="1"/>
              </a:ext>
            </a:extLst>
          </p:cNvPr>
          <p:cNvGrpSpPr/>
          <p:nvPr/>
        </p:nvGrpSpPr>
        <p:grpSpPr>
          <a:xfrm>
            <a:off x="5027366" y="1463713"/>
            <a:ext cx="2153223" cy="2221428"/>
            <a:chOff x="5027366" y="1463713"/>
            <a:chExt cx="2153223" cy="2221428"/>
          </a:xfrm>
        </p:grpSpPr>
        <p:sp>
          <p:nvSpPr>
            <p:cNvPr id="69" name="Rounded Rectangle 1">
              <a:extLst>
                <a:ext uri="{FF2B5EF4-FFF2-40B4-BE49-F238E27FC236}">
                  <a16:creationId xmlns:a16="http://schemas.microsoft.com/office/drawing/2014/main" id="{A16D7BC9-CC42-6637-0619-9FC39BBBA2E5}"/>
                </a:ext>
                <a:ext uri="{C183D7F6-B498-43B3-948B-1728B52AA6E4}">
                  <adec:decorative xmlns:adec="http://schemas.microsoft.com/office/drawing/2017/decorative" val="1"/>
                </a:ext>
              </a:extLst>
            </p:cNvPr>
            <p:cNvSpPr/>
            <p:nvPr/>
          </p:nvSpPr>
          <p:spPr bwMode="auto">
            <a:xfrm>
              <a:off x="5027366" y="1463713"/>
              <a:ext cx="2153223" cy="2221428"/>
            </a:xfrm>
            <a:prstGeom prst="roundRect">
              <a:avLst>
                <a:gd name="adj" fmla="val 2901"/>
              </a:avLst>
            </a:prstGeom>
            <a:solidFill>
              <a:schemeClr val="bg1"/>
            </a:solidFill>
            <a:ln>
              <a:noFill/>
              <a:headEnd type="none" w="med" len="med"/>
              <a:tailEnd type="none" w="med" len="med"/>
            </a:ln>
            <a:effectLst>
              <a:outerShdw blurRad="63500" dist="127000" dir="2700000" algn="tl"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Segoe UI"/>
                <a:ea typeface="+mn-ea"/>
                <a:cs typeface="Segoe UI" pitchFamily="34" charset="0"/>
              </a:endParaRPr>
            </a:p>
          </p:txBody>
        </p:sp>
        <p:sp>
          <p:nvSpPr>
            <p:cNvPr id="70" name="TextBox 49">
              <a:extLst>
                <a:ext uri="{FF2B5EF4-FFF2-40B4-BE49-F238E27FC236}">
                  <a16:creationId xmlns:a16="http://schemas.microsoft.com/office/drawing/2014/main" id="{7AFBB748-579B-3C99-1D2B-06F6827E18F7}"/>
                </a:ext>
              </a:extLst>
            </p:cNvPr>
            <p:cNvSpPr txBox="1"/>
            <p:nvPr/>
          </p:nvSpPr>
          <p:spPr>
            <a:xfrm>
              <a:off x="5148286" y="1957766"/>
              <a:ext cx="1814385" cy="666849"/>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200"/>
                </a:spcBef>
                <a:spcAft>
                  <a:spcPts val="200"/>
                </a:spcAft>
                <a:buClrTx/>
                <a:buSzTx/>
                <a:buFontTx/>
                <a:buNone/>
                <a:tabLst/>
                <a:defRPr/>
              </a:pPr>
              <a:r>
                <a:rPr kumimoji="0" lang="en-US" sz="1400" b="1" i="0" u="none" strike="noStrike" kern="1200" cap="none" spc="0" normalizeH="0" baseline="0" noProof="0" dirty="0">
                  <a:ln>
                    <a:noFill/>
                  </a:ln>
                  <a:solidFill>
                    <a:srgbClr val="8661C5"/>
                  </a:solidFill>
                  <a:effectLst/>
                  <a:uLnTx/>
                  <a:uFillTx/>
                  <a:latin typeface="Segoe UI Semibold" panose="020B0502040204020203" pitchFamily="34" charset="0"/>
                  <a:ea typeface="+mn-ea"/>
                  <a:cs typeface="Segoe UI Semibold" panose="020B0502040204020203" pitchFamily="34" charset="0"/>
                </a:rPr>
                <a:t>Draft email </a:t>
              </a:r>
            </a:p>
            <a:p>
              <a:pPr marL="0" marR="0" lvl="0" indent="0" algn="l" defTabSz="914400" rtl="0" eaLnBrk="1" fontAlgn="auto" latinLnBrk="0" hangingPunct="1">
                <a:lnSpc>
                  <a:spcPct val="100000"/>
                </a:lnSpc>
                <a:spcBef>
                  <a:spcPts val="200"/>
                </a:spcBef>
                <a:spcAft>
                  <a:spcPts val="20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Segoe UI"/>
                  <a:ea typeface="+mn-ea"/>
                  <a:cs typeface="+mn-cs"/>
                </a:rPr>
                <a:t>– personalize the tone and length.</a:t>
              </a:r>
            </a:p>
          </p:txBody>
        </p:sp>
        <p:sp>
          <p:nvSpPr>
            <p:cNvPr id="71" name="TextBox 3">
              <a:extLst>
                <a:ext uri="{FF2B5EF4-FFF2-40B4-BE49-F238E27FC236}">
                  <a16:creationId xmlns:a16="http://schemas.microsoft.com/office/drawing/2014/main" id="{2ADAF7D3-1361-516B-4C57-0716A04B1728}"/>
                </a:ext>
              </a:extLst>
            </p:cNvPr>
            <p:cNvSpPr txBox="1"/>
            <p:nvPr/>
          </p:nvSpPr>
          <p:spPr>
            <a:xfrm>
              <a:off x="6789135" y="1463713"/>
              <a:ext cx="391454" cy="523220"/>
            </a:xfrm>
            <a:prstGeom prst="rect">
              <a:avLst/>
            </a:prstGeom>
            <a:noFill/>
          </p:spPr>
          <p:txBody>
            <a:bodyPr wrap="non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00000"/>
                  </a:solidFill>
                  <a:effectLst/>
                  <a:uLnTx/>
                  <a:uFillTx/>
                  <a:latin typeface="Segoe UI"/>
                  <a:ea typeface="+mn-ea"/>
                  <a:cs typeface="Segoe UI"/>
                </a:rPr>
                <a:t>3</a:t>
              </a:r>
            </a:p>
          </p:txBody>
        </p:sp>
        <p:sp>
          <p:nvSpPr>
            <p:cNvPr id="72" name="TextBox 41">
              <a:extLst>
                <a:ext uri="{FF2B5EF4-FFF2-40B4-BE49-F238E27FC236}">
                  <a16:creationId xmlns:a16="http://schemas.microsoft.com/office/drawing/2014/main" id="{B733B91A-E5FE-30D7-D4AF-32F7151B95BB}"/>
                </a:ext>
              </a:extLst>
            </p:cNvPr>
            <p:cNvSpPr txBox="1"/>
            <p:nvPr/>
          </p:nvSpPr>
          <p:spPr>
            <a:xfrm>
              <a:off x="5338447" y="2983690"/>
              <a:ext cx="1549719" cy="584775"/>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200"/>
                </a:spcBef>
                <a:spcAft>
                  <a:spcPts val="20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Segoe UI"/>
                  <a:ea typeface="+mn-ea"/>
                  <a:cs typeface="+mn-cs"/>
                </a:rPr>
                <a:t>Draft an email to [name] that informs them that Project X is delayed two weeks. Make it short and casual in tone. </a:t>
              </a:r>
              <a:endParaRPr kumimoji="0" lang="en-US" sz="1050" b="0" i="0" u="none" strike="noStrike" kern="1200" cap="none" spc="0" normalizeH="0" baseline="0" noProof="0" dirty="0">
                <a:ln>
                  <a:noFill/>
                </a:ln>
                <a:solidFill>
                  <a:prstClr val="black"/>
                </a:solidFill>
                <a:effectLst/>
                <a:uLnTx/>
                <a:uFillTx/>
                <a:latin typeface="Segoe UI"/>
                <a:ea typeface="+mn-ea"/>
                <a:cs typeface="+mn-cs"/>
              </a:endParaRPr>
            </a:p>
          </p:txBody>
        </p:sp>
        <p:pic>
          <p:nvPicPr>
            <p:cNvPr id="73" name="Graphic 42">
              <a:extLst>
                <a:ext uri="{FF2B5EF4-FFF2-40B4-BE49-F238E27FC236}">
                  <a16:creationId xmlns:a16="http://schemas.microsoft.com/office/drawing/2014/main" id="{17E96F4E-BD69-280D-2CB5-60538CD190B8}"/>
                </a:ext>
              </a:extLst>
            </p:cNvPr>
            <p:cNvPicPr>
              <a:picLocks noChangeAspect="1"/>
            </p:cNvPicPr>
            <p:nvPr/>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5211221" y="3013311"/>
              <a:ext cx="163426" cy="163426"/>
            </a:xfrm>
            <a:prstGeom prst="rect">
              <a:avLst/>
            </a:prstGeom>
          </p:spPr>
        </p:pic>
      </p:grpSp>
      <p:grpSp>
        <p:nvGrpSpPr>
          <p:cNvPr id="53" name="Group 52">
            <a:extLst>
              <a:ext uri="{FF2B5EF4-FFF2-40B4-BE49-F238E27FC236}">
                <a16:creationId xmlns:a16="http://schemas.microsoft.com/office/drawing/2014/main" id="{73B59520-EF5F-C37E-4313-0620F4FA27A4}"/>
              </a:ext>
            </a:extLst>
          </p:cNvPr>
          <p:cNvGrpSpPr/>
          <p:nvPr/>
        </p:nvGrpSpPr>
        <p:grpSpPr>
          <a:xfrm>
            <a:off x="7288413" y="3809424"/>
            <a:ext cx="2153223" cy="2221428"/>
            <a:chOff x="7288413" y="3809424"/>
            <a:chExt cx="2153223" cy="2221428"/>
          </a:xfrm>
        </p:grpSpPr>
        <p:sp>
          <p:nvSpPr>
            <p:cNvPr id="63" name="Rounded Rectangle 1">
              <a:extLst>
                <a:ext uri="{FF2B5EF4-FFF2-40B4-BE49-F238E27FC236}">
                  <a16:creationId xmlns:a16="http://schemas.microsoft.com/office/drawing/2014/main" id="{A6C2A085-1AC7-F7A7-E478-F9DA2B990470}"/>
                </a:ext>
                <a:ext uri="{C183D7F6-B498-43B3-948B-1728B52AA6E4}">
                  <adec:decorative xmlns:adec="http://schemas.microsoft.com/office/drawing/2017/decorative" val="1"/>
                </a:ext>
              </a:extLst>
            </p:cNvPr>
            <p:cNvSpPr/>
            <p:nvPr/>
          </p:nvSpPr>
          <p:spPr bwMode="auto">
            <a:xfrm>
              <a:off x="7288413" y="3809424"/>
              <a:ext cx="2153223" cy="2221428"/>
            </a:xfrm>
            <a:prstGeom prst="roundRect">
              <a:avLst>
                <a:gd name="adj" fmla="val 2901"/>
              </a:avLst>
            </a:prstGeom>
            <a:solidFill>
              <a:schemeClr val="bg1"/>
            </a:solidFill>
            <a:ln>
              <a:noFill/>
              <a:headEnd type="none" w="med" len="med"/>
              <a:tailEnd type="none" w="med" len="med"/>
            </a:ln>
            <a:effectLst>
              <a:outerShdw blurRad="63500" dist="127000" dir="2700000" algn="tl"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Segoe UI"/>
                <a:ea typeface="+mn-ea"/>
                <a:cs typeface="Segoe UI" pitchFamily="34" charset="0"/>
              </a:endParaRPr>
            </a:p>
          </p:txBody>
        </p:sp>
        <p:sp>
          <p:nvSpPr>
            <p:cNvPr id="64" name="TextBox 73">
              <a:extLst>
                <a:ext uri="{FF2B5EF4-FFF2-40B4-BE49-F238E27FC236}">
                  <a16:creationId xmlns:a16="http://schemas.microsoft.com/office/drawing/2014/main" id="{DC7859A8-E639-AE86-5C20-CD525CE847A3}"/>
                </a:ext>
              </a:extLst>
            </p:cNvPr>
            <p:cNvSpPr txBox="1"/>
            <p:nvPr/>
          </p:nvSpPr>
          <p:spPr>
            <a:xfrm>
              <a:off x="7409333" y="4303478"/>
              <a:ext cx="1742685" cy="666849"/>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200"/>
                </a:spcBef>
                <a:spcAft>
                  <a:spcPts val="200"/>
                </a:spcAft>
                <a:buClrTx/>
                <a:buSzTx/>
                <a:buFontTx/>
                <a:buNone/>
                <a:tabLst/>
                <a:defRPr/>
              </a:pPr>
              <a:r>
                <a:rPr kumimoji="0" lang="en-US" sz="1400" b="1" i="0" u="none" strike="noStrike" kern="1200" cap="none" spc="0" normalizeH="0" baseline="0" noProof="0" dirty="0">
                  <a:ln>
                    <a:noFill/>
                  </a:ln>
                  <a:solidFill>
                    <a:srgbClr val="8661C5"/>
                  </a:solidFill>
                  <a:effectLst/>
                  <a:uLnTx/>
                  <a:uFillTx/>
                  <a:latin typeface="Segoe UI Semibold" panose="020B0502040204020203" pitchFamily="34" charset="0"/>
                  <a:ea typeface="+mn-ea"/>
                  <a:cs typeface="Segoe UI Semibold" panose="020B0502040204020203" pitchFamily="34" charset="0"/>
                </a:rPr>
                <a:t>How do I …</a:t>
              </a:r>
            </a:p>
            <a:p>
              <a:pPr marL="0" marR="0" lvl="0" indent="0" algn="l" defTabSz="914400" rtl="0" eaLnBrk="1" fontAlgn="auto" latinLnBrk="0" hangingPunct="1">
                <a:lnSpc>
                  <a:spcPct val="100000"/>
                </a:lnSpc>
                <a:spcBef>
                  <a:spcPts val="200"/>
                </a:spcBef>
                <a:spcAft>
                  <a:spcPts val="20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Segoe UI"/>
                  <a:ea typeface="+mn-ea"/>
                  <a:cs typeface="+mn-cs"/>
                </a:rPr>
                <a:t>– </a:t>
              </a:r>
              <a:r>
                <a:rPr kumimoji="0" lang="en-US" sz="1000" b="0" i="0" u="none" strike="noStrike" kern="1200" cap="none" spc="0" normalizeH="0" baseline="0" noProof="0" dirty="0">
                  <a:ln>
                    <a:noFill/>
                  </a:ln>
                  <a:solidFill>
                    <a:srgbClr val="000000"/>
                  </a:solidFill>
                  <a:effectLst/>
                  <a:uLnTx/>
                  <a:uFillTx/>
                  <a:latin typeface="Segoe UI"/>
                  <a:ea typeface="+mn-ea"/>
                  <a:cs typeface="+mn-cs"/>
                </a:rPr>
                <a:t>let Copilot help you build or fix formulas in Excel</a:t>
              </a:r>
              <a:r>
                <a:rPr kumimoji="0" lang="en-US" sz="1000" b="0" i="0" u="none" strike="noStrike" kern="1200" cap="none" spc="0" normalizeH="0" baseline="0" noProof="0" dirty="0">
                  <a:ln>
                    <a:noFill/>
                  </a:ln>
                  <a:solidFill>
                    <a:prstClr val="black"/>
                  </a:solidFill>
                  <a:effectLst/>
                  <a:uLnTx/>
                  <a:uFillTx/>
                  <a:latin typeface="Segoe UI"/>
                  <a:ea typeface="+mn-ea"/>
                  <a:cs typeface="+mn-cs"/>
                </a:rPr>
                <a:t>.</a:t>
              </a:r>
            </a:p>
          </p:txBody>
        </p:sp>
        <p:sp>
          <p:nvSpPr>
            <p:cNvPr id="65" name="TextBox 10">
              <a:extLst>
                <a:ext uri="{FF2B5EF4-FFF2-40B4-BE49-F238E27FC236}">
                  <a16:creationId xmlns:a16="http://schemas.microsoft.com/office/drawing/2014/main" id="{C679F92A-A63B-8C92-5DE1-5CFA4E885555}"/>
                </a:ext>
              </a:extLst>
            </p:cNvPr>
            <p:cNvSpPr txBox="1"/>
            <p:nvPr/>
          </p:nvSpPr>
          <p:spPr>
            <a:xfrm>
              <a:off x="9050182" y="3809424"/>
              <a:ext cx="391454" cy="523220"/>
            </a:xfrm>
            <a:prstGeom prst="rect">
              <a:avLst/>
            </a:prstGeom>
            <a:noFill/>
          </p:spPr>
          <p:txBody>
            <a:bodyPr wrap="non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00000"/>
                  </a:solidFill>
                  <a:effectLst/>
                  <a:uLnTx/>
                  <a:uFillTx/>
                  <a:latin typeface="Segoe UI"/>
                  <a:ea typeface="+mn-ea"/>
                  <a:cs typeface="Segoe UI"/>
                </a:rPr>
                <a:t>9</a:t>
              </a:r>
            </a:p>
          </p:txBody>
        </p:sp>
        <p:sp>
          <p:nvSpPr>
            <p:cNvPr id="66" name="TextBox 64">
              <a:extLst>
                <a:ext uri="{FF2B5EF4-FFF2-40B4-BE49-F238E27FC236}">
                  <a16:creationId xmlns:a16="http://schemas.microsoft.com/office/drawing/2014/main" id="{64255297-57D1-7547-0902-3084582632E3}"/>
                </a:ext>
              </a:extLst>
            </p:cNvPr>
            <p:cNvSpPr txBox="1"/>
            <p:nvPr/>
          </p:nvSpPr>
          <p:spPr>
            <a:xfrm>
              <a:off x="7602299" y="5531704"/>
              <a:ext cx="1549719" cy="338554"/>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200"/>
                </a:spcBef>
                <a:spcAft>
                  <a:spcPts val="20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Segoe UI"/>
                  <a:ea typeface="+mn-ea"/>
                  <a:cs typeface="+mn-cs"/>
                </a:rPr>
                <a:t>How do I sum values that are greater than 0?</a:t>
              </a:r>
              <a:endParaRPr kumimoji="0" lang="en-US" sz="1050" b="0" i="0" u="none" strike="noStrike" kern="1200" cap="none" spc="0" normalizeH="0" baseline="0" noProof="0" dirty="0">
                <a:ln>
                  <a:noFill/>
                </a:ln>
                <a:solidFill>
                  <a:prstClr val="black"/>
                </a:solidFill>
                <a:effectLst/>
                <a:uLnTx/>
                <a:uFillTx/>
                <a:latin typeface="Segoe UI"/>
                <a:ea typeface="+mn-ea"/>
                <a:cs typeface="+mn-cs"/>
              </a:endParaRPr>
            </a:p>
          </p:txBody>
        </p:sp>
        <p:pic>
          <p:nvPicPr>
            <p:cNvPr id="67" name="Graphic 66">
              <a:extLst>
                <a:ext uri="{FF2B5EF4-FFF2-40B4-BE49-F238E27FC236}">
                  <a16:creationId xmlns:a16="http://schemas.microsoft.com/office/drawing/2014/main" id="{0FA4F0F9-65F6-3F0A-9FC6-62BD9D138C55}"/>
                </a:ext>
              </a:extLst>
            </p:cNvPr>
            <p:cNvPicPr>
              <a:picLocks noChangeAspect="1"/>
            </p:cNvPicPr>
            <p:nvPr/>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7475073" y="5561325"/>
              <a:ext cx="163426" cy="163426"/>
            </a:xfrm>
            <a:prstGeom prst="rect">
              <a:avLst/>
            </a:prstGeom>
          </p:spPr>
        </p:pic>
      </p:grpSp>
      <p:sp>
        <p:nvSpPr>
          <p:cNvPr id="54" name="TextBox 108">
            <a:extLst>
              <a:ext uri="{FF2B5EF4-FFF2-40B4-BE49-F238E27FC236}">
                <a16:creationId xmlns:a16="http://schemas.microsoft.com/office/drawing/2014/main" id="{C507FB5A-E697-FD95-BEA0-4F363564A701}"/>
              </a:ext>
            </a:extLst>
          </p:cNvPr>
          <p:cNvSpPr txBox="1"/>
          <p:nvPr/>
        </p:nvSpPr>
        <p:spPr>
          <a:xfrm>
            <a:off x="2148800" y="6254847"/>
            <a:ext cx="7894400" cy="366895"/>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800" b="1" i="0" u="none" strike="noStrike" kern="100" cap="none" spc="0" normalizeH="0" baseline="0" noProof="0" dirty="0">
                <a:ln>
                  <a:noFill/>
                </a:ln>
                <a:solidFill>
                  <a:srgbClr val="000000"/>
                </a:solidFill>
                <a:effectLst/>
                <a:uLnTx/>
                <a:uFillTx/>
                <a:latin typeface="Segoe UI Semibold" panose="020B0502040204020203" pitchFamily="34" charset="0"/>
                <a:ea typeface="Aptos" panose="020B0004020202020204" pitchFamily="34" charset="0"/>
                <a:cs typeface="Segoe UI Semibold" panose="020B0502040204020203" pitchFamily="34" charset="0"/>
              </a:rPr>
              <a:t> For more prompts, visit Prompt Gallery at: </a:t>
            </a:r>
            <a:r>
              <a:rPr kumimoji="0" lang="en-US" sz="1800" b="1" i="0" u="none" strike="noStrike" kern="100" cap="none" spc="0" normalizeH="0" baseline="0" noProof="0" dirty="0">
                <a:ln>
                  <a:noFill/>
                </a:ln>
                <a:solidFill>
                  <a:srgbClr val="8661C5"/>
                </a:solidFill>
                <a:effectLst/>
                <a:uLnTx/>
                <a:uFillTx/>
                <a:latin typeface="Segoe UI Semibold" panose="020B0502040204020203" pitchFamily="34" charset="0"/>
                <a:ea typeface="Aptos" panose="020B0004020202020204" pitchFamily="34" charset="0"/>
                <a:cs typeface="Segoe UI Semibold" panose="020B0502040204020203" pitchFamily="34" charset="0"/>
                <a:hlinkClick r:id="rId4"/>
              </a:rPr>
              <a:t>aka.ms/prompts</a:t>
            </a:r>
            <a:endParaRPr kumimoji="0" lang="en-US" sz="1800" b="1" i="0" u="none" strike="noStrike" kern="100" cap="none" spc="0" normalizeH="0" baseline="0" noProof="0" dirty="0">
              <a:ln>
                <a:noFill/>
              </a:ln>
              <a:solidFill>
                <a:srgbClr val="8661C5"/>
              </a:solidFill>
              <a:effectLst/>
              <a:uLnTx/>
              <a:uFillTx/>
              <a:latin typeface="Segoe UI Semibold" panose="020B0502040204020203" pitchFamily="34" charset="0"/>
              <a:ea typeface="Aptos" panose="020B0004020202020204" pitchFamily="34" charset="0"/>
              <a:cs typeface="Segoe UI Semibold" panose="020B0502040204020203" pitchFamily="34" charset="0"/>
            </a:endParaRPr>
          </a:p>
        </p:txBody>
      </p:sp>
      <p:grpSp>
        <p:nvGrpSpPr>
          <p:cNvPr id="56" name="Group 55">
            <a:extLst>
              <a:ext uri="{FF2B5EF4-FFF2-40B4-BE49-F238E27FC236}">
                <a16:creationId xmlns:a16="http://schemas.microsoft.com/office/drawing/2014/main" id="{9F0FAEB7-F0E8-2EA7-416F-5503AA31B3C1}"/>
              </a:ext>
            </a:extLst>
          </p:cNvPr>
          <p:cNvGrpSpPr/>
          <p:nvPr/>
        </p:nvGrpSpPr>
        <p:grpSpPr>
          <a:xfrm>
            <a:off x="2766319" y="3809424"/>
            <a:ext cx="2153223" cy="2221428"/>
            <a:chOff x="2766319" y="3809424"/>
            <a:chExt cx="2153223" cy="2221428"/>
          </a:xfrm>
        </p:grpSpPr>
        <p:sp>
          <p:nvSpPr>
            <p:cNvPr id="58" name="Rounded Rectangle 1">
              <a:extLst>
                <a:ext uri="{FF2B5EF4-FFF2-40B4-BE49-F238E27FC236}">
                  <a16:creationId xmlns:a16="http://schemas.microsoft.com/office/drawing/2014/main" id="{677A3F3F-3968-D627-AF99-67456FE7BF9F}"/>
                </a:ext>
                <a:ext uri="{C183D7F6-B498-43B3-948B-1728B52AA6E4}">
                  <adec:decorative xmlns:adec="http://schemas.microsoft.com/office/drawing/2017/decorative" val="1"/>
                </a:ext>
              </a:extLst>
            </p:cNvPr>
            <p:cNvSpPr/>
            <p:nvPr/>
          </p:nvSpPr>
          <p:spPr bwMode="auto">
            <a:xfrm>
              <a:off x="2766319" y="3809424"/>
              <a:ext cx="2153223" cy="2221428"/>
            </a:xfrm>
            <a:prstGeom prst="roundRect">
              <a:avLst>
                <a:gd name="adj" fmla="val 2901"/>
              </a:avLst>
            </a:prstGeom>
            <a:solidFill>
              <a:schemeClr val="bg1"/>
            </a:solidFill>
            <a:ln>
              <a:noFill/>
              <a:headEnd type="none" w="med" len="med"/>
              <a:tailEnd type="none" w="med" len="med"/>
            </a:ln>
            <a:effectLst>
              <a:outerShdw blurRad="63500" dist="127000" dir="2700000" algn="tl"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Segoe UI"/>
                <a:ea typeface="+mn-ea"/>
                <a:cs typeface="Segoe UI" pitchFamily="34" charset="0"/>
              </a:endParaRPr>
            </a:p>
          </p:txBody>
        </p:sp>
        <p:sp>
          <p:nvSpPr>
            <p:cNvPr id="59" name="TextBox 65">
              <a:extLst>
                <a:ext uri="{FF2B5EF4-FFF2-40B4-BE49-F238E27FC236}">
                  <a16:creationId xmlns:a16="http://schemas.microsoft.com/office/drawing/2014/main" id="{3B34582A-3E0F-43B3-D808-D1A043F9CF77}"/>
                </a:ext>
              </a:extLst>
            </p:cNvPr>
            <p:cNvSpPr txBox="1"/>
            <p:nvPr/>
          </p:nvSpPr>
          <p:spPr>
            <a:xfrm>
              <a:off x="2887238" y="4303478"/>
              <a:ext cx="1972597" cy="820738"/>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200"/>
                </a:spcBef>
                <a:spcAft>
                  <a:spcPts val="200"/>
                </a:spcAft>
                <a:buClrTx/>
                <a:buSzTx/>
                <a:buFontTx/>
                <a:buNone/>
                <a:tabLst/>
                <a:defRPr/>
              </a:pPr>
              <a:r>
                <a:rPr kumimoji="0" lang="en-US" sz="1400" b="1" i="0" u="none" strike="noStrike" kern="1200" cap="none" spc="0" normalizeH="0" baseline="0" noProof="0" dirty="0">
                  <a:ln>
                    <a:noFill/>
                  </a:ln>
                  <a:solidFill>
                    <a:srgbClr val="8661C5"/>
                  </a:solidFill>
                  <a:effectLst/>
                  <a:uLnTx/>
                  <a:uFillTx/>
                  <a:latin typeface="Segoe UI Semibold" panose="020B0502040204020203" pitchFamily="34" charset="0"/>
                  <a:ea typeface="+mn-ea"/>
                  <a:cs typeface="Segoe UI Semibold" panose="020B0502040204020203" pitchFamily="34" charset="0"/>
                </a:rPr>
                <a:t>Help me write … </a:t>
              </a:r>
            </a:p>
            <a:p>
              <a:pPr marL="0" marR="0" lvl="0" indent="0" algn="l" defTabSz="914400" rtl="0" eaLnBrk="1" fontAlgn="auto" latinLnBrk="0" hangingPunct="1">
                <a:lnSpc>
                  <a:spcPct val="100000"/>
                </a:lnSpc>
                <a:spcBef>
                  <a:spcPts val="200"/>
                </a:spcBef>
                <a:spcAft>
                  <a:spcPts val="20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Segoe UI"/>
                  <a:ea typeface="+mn-ea"/>
                  <a:cs typeface="+mn-cs"/>
                </a:rPr>
                <a:t>– jumpstart creativity and write and edit like a pro by getting a first draft in seconds.</a:t>
              </a:r>
            </a:p>
          </p:txBody>
        </p:sp>
        <p:sp>
          <p:nvSpPr>
            <p:cNvPr id="60" name="TextBox 8">
              <a:extLst>
                <a:ext uri="{FF2B5EF4-FFF2-40B4-BE49-F238E27FC236}">
                  <a16:creationId xmlns:a16="http://schemas.microsoft.com/office/drawing/2014/main" id="{AA0E9C18-63E2-F1DA-4A62-D99F2643D73B}"/>
                </a:ext>
              </a:extLst>
            </p:cNvPr>
            <p:cNvSpPr txBox="1"/>
            <p:nvPr/>
          </p:nvSpPr>
          <p:spPr>
            <a:xfrm>
              <a:off x="4528088" y="3809424"/>
              <a:ext cx="391454" cy="523220"/>
            </a:xfrm>
            <a:prstGeom prst="rect">
              <a:avLst/>
            </a:prstGeom>
            <a:noFill/>
          </p:spPr>
          <p:txBody>
            <a:bodyPr wrap="non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00000"/>
                  </a:solidFill>
                  <a:effectLst/>
                  <a:uLnTx/>
                  <a:uFillTx/>
                  <a:latin typeface="Segoe UI"/>
                  <a:ea typeface="+mn-ea"/>
                  <a:cs typeface="Segoe UI"/>
                </a:rPr>
                <a:t>7</a:t>
              </a:r>
            </a:p>
          </p:txBody>
        </p:sp>
        <p:sp>
          <p:nvSpPr>
            <p:cNvPr id="61" name="TextBox 56">
              <a:extLst>
                <a:ext uri="{FF2B5EF4-FFF2-40B4-BE49-F238E27FC236}">
                  <a16:creationId xmlns:a16="http://schemas.microsoft.com/office/drawing/2014/main" id="{3D2521F0-E585-E507-1023-BDD1C7235CE7}"/>
                </a:ext>
              </a:extLst>
            </p:cNvPr>
            <p:cNvSpPr txBox="1"/>
            <p:nvPr/>
          </p:nvSpPr>
          <p:spPr>
            <a:xfrm>
              <a:off x="3085792" y="5531704"/>
              <a:ext cx="1149873" cy="338554"/>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200"/>
                </a:spcBef>
                <a:spcAft>
                  <a:spcPts val="20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Segoe UI"/>
                  <a:ea typeface="+mn-ea"/>
                  <a:cs typeface="+mn-cs"/>
                </a:rPr>
                <a:t>Generate three ways to say [x] </a:t>
              </a:r>
              <a:endParaRPr kumimoji="0" lang="en-US" sz="1050" b="0" i="0" u="none" strike="noStrike" kern="1200" cap="none" spc="0" normalizeH="0" baseline="0" noProof="0" dirty="0">
                <a:ln>
                  <a:noFill/>
                </a:ln>
                <a:solidFill>
                  <a:prstClr val="black"/>
                </a:solidFill>
                <a:effectLst/>
                <a:uLnTx/>
                <a:uFillTx/>
                <a:latin typeface="Segoe UI"/>
                <a:ea typeface="+mn-ea"/>
                <a:cs typeface="+mn-cs"/>
              </a:endParaRPr>
            </a:p>
          </p:txBody>
        </p:sp>
        <p:pic>
          <p:nvPicPr>
            <p:cNvPr id="62" name="Graphic 58">
              <a:extLst>
                <a:ext uri="{FF2B5EF4-FFF2-40B4-BE49-F238E27FC236}">
                  <a16:creationId xmlns:a16="http://schemas.microsoft.com/office/drawing/2014/main" id="{497A663F-407A-B4F4-FCFE-D64D1DDD0BBD}"/>
                </a:ext>
              </a:extLst>
            </p:cNvPr>
            <p:cNvPicPr>
              <a:picLocks noChangeAspect="1"/>
            </p:cNvPicPr>
            <p:nvPr/>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2958566" y="5561325"/>
              <a:ext cx="163426" cy="163426"/>
            </a:xfrm>
            <a:prstGeom prst="rect">
              <a:avLst/>
            </a:prstGeom>
          </p:spPr>
        </p:pic>
      </p:grpSp>
      <p:pic>
        <p:nvPicPr>
          <p:cNvPr id="5" name="Picture 4" descr="Excel logo">
            <a:extLst>
              <a:ext uri="{FF2B5EF4-FFF2-40B4-BE49-F238E27FC236}">
                <a16:creationId xmlns:a16="http://schemas.microsoft.com/office/drawing/2014/main" id="{F4C5BB48-E08C-E2A0-3E6E-91682A899B4A}"/>
              </a:ext>
            </a:extLst>
          </p:cNvPr>
          <p:cNvPicPr>
            <a:picLocks noChangeAspect="1"/>
          </p:cNvPicPr>
          <p:nvPr/>
        </p:nvPicPr>
        <p:blipFill>
          <a:blip r:embed="rId5"/>
          <a:stretch>
            <a:fillRect/>
          </a:stretch>
        </p:blipFill>
        <p:spPr>
          <a:xfrm>
            <a:off x="7505911" y="3997864"/>
            <a:ext cx="292608" cy="292608"/>
          </a:xfrm>
          <a:prstGeom prst="rect">
            <a:avLst/>
          </a:prstGeom>
        </p:spPr>
      </p:pic>
      <p:pic>
        <p:nvPicPr>
          <p:cNvPr id="7" name="Picture 6" descr="Teams logo">
            <a:extLst>
              <a:ext uri="{FF2B5EF4-FFF2-40B4-BE49-F238E27FC236}">
                <a16:creationId xmlns:a16="http://schemas.microsoft.com/office/drawing/2014/main" id="{8A208D61-B0F0-9514-8BC8-E53B6018CFB9}"/>
              </a:ext>
            </a:extLst>
          </p:cNvPr>
          <p:cNvPicPr>
            <a:picLocks noChangeAspect="1"/>
          </p:cNvPicPr>
          <p:nvPr/>
        </p:nvPicPr>
        <p:blipFill>
          <a:blip r:embed="rId6"/>
          <a:stretch>
            <a:fillRect/>
          </a:stretch>
        </p:blipFill>
        <p:spPr>
          <a:xfrm>
            <a:off x="718468" y="1645289"/>
            <a:ext cx="292608" cy="292608"/>
          </a:xfrm>
          <a:prstGeom prst="rect">
            <a:avLst/>
          </a:prstGeom>
        </p:spPr>
      </p:pic>
      <p:pic>
        <p:nvPicPr>
          <p:cNvPr id="8" name="Picture 7" descr="Outlook logo">
            <a:extLst>
              <a:ext uri="{FF2B5EF4-FFF2-40B4-BE49-F238E27FC236}">
                <a16:creationId xmlns:a16="http://schemas.microsoft.com/office/drawing/2014/main" id="{666FBDFF-9697-C436-8A64-0BECEC28D729}"/>
              </a:ext>
            </a:extLst>
          </p:cNvPr>
          <p:cNvPicPr>
            <a:picLocks noChangeAspect="1"/>
          </p:cNvPicPr>
          <p:nvPr/>
        </p:nvPicPr>
        <p:blipFill>
          <a:blip r:embed="rId7"/>
          <a:stretch>
            <a:fillRect/>
          </a:stretch>
        </p:blipFill>
        <p:spPr>
          <a:xfrm>
            <a:off x="5230613" y="1607718"/>
            <a:ext cx="292608" cy="292608"/>
          </a:xfrm>
          <a:prstGeom prst="rect">
            <a:avLst/>
          </a:prstGeom>
        </p:spPr>
      </p:pic>
      <p:pic>
        <p:nvPicPr>
          <p:cNvPr id="9" name="Picture 8" descr="Outlook logo">
            <a:extLst>
              <a:ext uri="{FF2B5EF4-FFF2-40B4-BE49-F238E27FC236}">
                <a16:creationId xmlns:a16="http://schemas.microsoft.com/office/drawing/2014/main" id="{FC9BC053-D1D6-5F19-9684-29E757B00BB6}"/>
              </a:ext>
            </a:extLst>
          </p:cNvPr>
          <p:cNvPicPr>
            <a:picLocks noChangeAspect="1"/>
          </p:cNvPicPr>
          <p:nvPr/>
        </p:nvPicPr>
        <p:blipFill>
          <a:blip r:embed="rId7"/>
          <a:stretch>
            <a:fillRect/>
          </a:stretch>
        </p:blipFill>
        <p:spPr>
          <a:xfrm>
            <a:off x="2958566" y="1632424"/>
            <a:ext cx="292608" cy="292608"/>
          </a:xfrm>
          <a:prstGeom prst="rect">
            <a:avLst/>
          </a:prstGeom>
        </p:spPr>
      </p:pic>
      <p:pic>
        <p:nvPicPr>
          <p:cNvPr id="10" name="Picture 9" descr="Word logo">
            <a:extLst>
              <a:ext uri="{FF2B5EF4-FFF2-40B4-BE49-F238E27FC236}">
                <a16:creationId xmlns:a16="http://schemas.microsoft.com/office/drawing/2014/main" id="{6402C51E-352F-5624-EFB1-DAEFB843EC16}"/>
              </a:ext>
            </a:extLst>
          </p:cNvPr>
          <p:cNvPicPr>
            <a:picLocks noChangeAspect="1"/>
          </p:cNvPicPr>
          <p:nvPr/>
        </p:nvPicPr>
        <p:blipFill>
          <a:blip r:embed="rId8"/>
          <a:stretch>
            <a:fillRect/>
          </a:stretch>
        </p:blipFill>
        <p:spPr>
          <a:xfrm>
            <a:off x="2958566" y="3978067"/>
            <a:ext cx="292608" cy="292608"/>
          </a:xfrm>
          <a:prstGeom prst="rect">
            <a:avLst/>
          </a:prstGeom>
        </p:spPr>
      </p:pic>
    </p:spTree>
    <p:extLst>
      <p:ext uri="{BB962C8B-B14F-4D97-AF65-F5344CB8AC3E}">
        <p14:creationId xmlns:p14="http://schemas.microsoft.com/office/powerpoint/2010/main" val="2721261982"/>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73FBB30-15A0-B2E4-AB85-9B6B7435F3CB}"/>
              </a:ext>
            </a:extLst>
          </p:cNvPr>
          <p:cNvSpPr>
            <a:spLocks noGrp="1"/>
          </p:cNvSpPr>
          <p:nvPr>
            <p:ph type="title"/>
          </p:nvPr>
        </p:nvSpPr>
        <p:spPr>
          <a:xfrm>
            <a:off x="588263" y="457200"/>
            <a:ext cx="11018520" cy="553998"/>
          </a:xfrm>
        </p:spPr>
        <p:txBody>
          <a:bodyPr/>
          <a:lstStyle/>
          <a:p>
            <a:r>
              <a:rPr lang="en-US" noProof="0" dirty="0"/>
              <a:t>AI value journey</a:t>
            </a:r>
          </a:p>
        </p:txBody>
      </p:sp>
      <p:sp>
        <p:nvSpPr>
          <p:cNvPr id="38" name="Freeform: Shape 61">
            <a:extLst>
              <a:ext uri="{FF2B5EF4-FFF2-40B4-BE49-F238E27FC236}">
                <a16:creationId xmlns:a16="http://schemas.microsoft.com/office/drawing/2014/main" id="{E7305B75-9D42-0D47-9CA9-C37A49B65AAB}"/>
              </a:ext>
              <a:ext uri="{C183D7F6-B498-43B3-948B-1728B52AA6E4}">
                <adec:decorative xmlns:adec="http://schemas.microsoft.com/office/drawing/2017/decorative" val="1"/>
              </a:ext>
            </a:extLst>
          </p:cNvPr>
          <p:cNvSpPr/>
          <p:nvPr/>
        </p:nvSpPr>
        <p:spPr>
          <a:xfrm>
            <a:off x="2769691" y="2415352"/>
            <a:ext cx="3576379" cy="3496392"/>
          </a:xfrm>
          <a:custGeom>
            <a:avLst/>
            <a:gdLst>
              <a:gd name="connsiteX0" fmla="*/ 1631724 w 3263446"/>
              <a:gd name="connsiteY0" fmla="*/ 0 h 3190456"/>
              <a:gd name="connsiteX1" fmla="*/ 1736196 w 3263446"/>
              <a:gd name="connsiteY1" fmla="*/ 59492 h 3190456"/>
              <a:gd name="connsiteX2" fmla="*/ 1760976 w 3263446"/>
              <a:gd name="connsiteY2" fmla="*/ 109837 h 3190456"/>
              <a:gd name="connsiteX3" fmla="*/ 1763413 w 3263446"/>
              <a:gd name="connsiteY3" fmla="*/ 108594 h 3190456"/>
              <a:gd name="connsiteX4" fmla="*/ 2960089 w 3263446"/>
              <a:gd name="connsiteY4" fmla="*/ 2455421 h 3190456"/>
              <a:gd name="connsiteX5" fmla="*/ 2958569 w 3263446"/>
              <a:gd name="connsiteY5" fmla="*/ 2456196 h 3190456"/>
              <a:gd name="connsiteX6" fmla="*/ 3253343 w 3263446"/>
              <a:gd name="connsiteY6" fmla="*/ 3051800 h 3190456"/>
              <a:gd name="connsiteX7" fmla="*/ 3249136 w 3263446"/>
              <a:gd name="connsiteY7" fmla="*/ 3144978 h 3190456"/>
              <a:gd name="connsiteX8" fmla="*/ 3167818 w 3263446"/>
              <a:gd name="connsiteY8" fmla="*/ 3190456 h 3190456"/>
              <a:gd name="connsiteX9" fmla="*/ 95629 w 3263446"/>
              <a:gd name="connsiteY9" fmla="*/ 3190456 h 3190456"/>
              <a:gd name="connsiteX10" fmla="*/ 14311 w 3263446"/>
              <a:gd name="connsiteY10" fmla="*/ 3144978 h 3190456"/>
              <a:gd name="connsiteX11" fmla="*/ 10103 w 3263446"/>
              <a:gd name="connsiteY11" fmla="*/ 3051800 h 3190456"/>
              <a:gd name="connsiteX12" fmla="*/ 314988 w 3263446"/>
              <a:gd name="connsiteY12" fmla="*/ 2435767 h 3190456"/>
              <a:gd name="connsiteX13" fmla="*/ 314398 w 3263446"/>
              <a:gd name="connsiteY13" fmla="*/ 2435467 h 3190456"/>
              <a:gd name="connsiteX14" fmla="*/ 1500898 w 3263446"/>
              <a:gd name="connsiteY14" fmla="*/ 108595 h 3190456"/>
              <a:gd name="connsiteX15" fmla="*/ 1502644 w 3263446"/>
              <a:gd name="connsiteY15" fmla="*/ 109486 h 3190456"/>
              <a:gd name="connsiteX16" fmla="*/ 1527251 w 3263446"/>
              <a:gd name="connsiteY16" fmla="*/ 59492 h 3190456"/>
              <a:gd name="connsiteX17" fmla="*/ 1631724 w 3263446"/>
              <a:gd name="connsiteY17" fmla="*/ 0 h 3190456"/>
              <a:gd name="connsiteX0" fmla="*/ 1631724 w 3263446"/>
              <a:gd name="connsiteY0" fmla="*/ 0 h 3190456"/>
              <a:gd name="connsiteX1" fmla="*/ 1736196 w 3263446"/>
              <a:gd name="connsiteY1" fmla="*/ 59492 h 3190456"/>
              <a:gd name="connsiteX2" fmla="*/ 1760976 w 3263446"/>
              <a:gd name="connsiteY2" fmla="*/ 109837 h 3190456"/>
              <a:gd name="connsiteX3" fmla="*/ 2960089 w 3263446"/>
              <a:gd name="connsiteY3" fmla="*/ 2455421 h 3190456"/>
              <a:gd name="connsiteX4" fmla="*/ 2958569 w 3263446"/>
              <a:gd name="connsiteY4" fmla="*/ 2456196 h 3190456"/>
              <a:gd name="connsiteX5" fmla="*/ 3253343 w 3263446"/>
              <a:gd name="connsiteY5" fmla="*/ 3051800 h 3190456"/>
              <a:gd name="connsiteX6" fmla="*/ 3249136 w 3263446"/>
              <a:gd name="connsiteY6" fmla="*/ 3144978 h 3190456"/>
              <a:gd name="connsiteX7" fmla="*/ 3167818 w 3263446"/>
              <a:gd name="connsiteY7" fmla="*/ 3190456 h 3190456"/>
              <a:gd name="connsiteX8" fmla="*/ 95629 w 3263446"/>
              <a:gd name="connsiteY8" fmla="*/ 3190456 h 3190456"/>
              <a:gd name="connsiteX9" fmla="*/ 14311 w 3263446"/>
              <a:gd name="connsiteY9" fmla="*/ 3144978 h 3190456"/>
              <a:gd name="connsiteX10" fmla="*/ 10103 w 3263446"/>
              <a:gd name="connsiteY10" fmla="*/ 3051800 h 3190456"/>
              <a:gd name="connsiteX11" fmla="*/ 314988 w 3263446"/>
              <a:gd name="connsiteY11" fmla="*/ 2435767 h 3190456"/>
              <a:gd name="connsiteX12" fmla="*/ 314398 w 3263446"/>
              <a:gd name="connsiteY12" fmla="*/ 2435467 h 3190456"/>
              <a:gd name="connsiteX13" fmla="*/ 1500898 w 3263446"/>
              <a:gd name="connsiteY13" fmla="*/ 108595 h 3190456"/>
              <a:gd name="connsiteX14" fmla="*/ 1502644 w 3263446"/>
              <a:gd name="connsiteY14" fmla="*/ 109486 h 3190456"/>
              <a:gd name="connsiteX15" fmla="*/ 1527251 w 3263446"/>
              <a:gd name="connsiteY15" fmla="*/ 59492 h 3190456"/>
              <a:gd name="connsiteX16" fmla="*/ 1631724 w 3263446"/>
              <a:gd name="connsiteY16" fmla="*/ 0 h 3190456"/>
              <a:gd name="connsiteX0" fmla="*/ 1631724 w 3263446"/>
              <a:gd name="connsiteY0" fmla="*/ 0 h 3190456"/>
              <a:gd name="connsiteX1" fmla="*/ 1736196 w 3263446"/>
              <a:gd name="connsiteY1" fmla="*/ 59492 h 3190456"/>
              <a:gd name="connsiteX2" fmla="*/ 1760976 w 3263446"/>
              <a:gd name="connsiteY2" fmla="*/ 109837 h 3190456"/>
              <a:gd name="connsiteX3" fmla="*/ 2960089 w 3263446"/>
              <a:gd name="connsiteY3" fmla="*/ 2455421 h 3190456"/>
              <a:gd name="connsiteX4" fmla="*/ 2958569 w 3263446"/>
              <a:gd name="connsiteY4" fmla="*/ 2456196 h 3190456"/>
              <a:gd name="connsiteX5" fmla="*/ 3253343 w 3263446"/>
              <a:gd name="connsiteY5" fmla="*/ 3051800 h 3190456"/>
              <a:gd name="connsiteX6" fmla="*/ 3249136 w 3263446"/>
              <a:gd name="connsiteY6" fmla="*/ 3144978 h 3190456"/>
              <a:gd name="connsiteX7" fmla="*/ 3167818 w 3263446"/>
              <a:gd name="connsiteY7" fmla="*/ 3190456 h 3190456"/>
              <a:gd name="connsiteX8" fmla="*/ 95629 w 3263446"/>
              <a:gd name="connsiteY8" fmla="*/ 3190456 h 3190456"/>
              <a:gd name="connsiteX9" fmla="*/ 14311 w 3263446"/>
              <a:gd name="connsiteY9" fmla="*/ 3144978 h 3190456"/>
              <a:gd name="connsiteX10" fmla="*/ 10103 w 3263446"/>
              <a:gd name="connsiteY10" fmla="*/ 3051800 h 3190456"/>
              <a:gd name="connsiteX11" fmla="*/ 314988 w 3263446"/>
              <a:gd name="connsiteY11" fmla="*/ 2435767 h 3190456"/>
              <a:gd name="connsiteX12" fmla="*/ 314398 w 3263446"/>
              <a:gd name="connsiteY12" fmla="*/ 2435467 h 3190456"/>
              <a:gd name="connsiteX13" fmla="*/ 1500898 w 3263446"/>
              <a:gd name="connsiteY13" fmla="*/ 108595 h 3190456"/>
              <a:gd name="connsiteX14" fmla="*/ 1527251 w 3263446"/>
              <a:gd name="connsiteY14" fmla="*/ 59492 h 3190456"/>
              <a:gd name="connsiteX15" fmla="*/ 1631724 w 3263446"/>
              <a:gd name="connsiteY15" fmla="*/ 0 h 3190456"/>
              <a:gd name="connsiteX0" fmla="*/ 1631724 w 3263446"/>
              <a:gd name="connsiteY0" fmla="*/ 0 h 3190456"/>
              <a:gd name="connsiteX1" fmla="*/ 1736196 w 3263446"/>
              <a:gd name="connsiteY1" fmla="*/ 59492 h 3190456"/>
              <a:gd name="connsiteX2" fmla="*/ 1760976 w 3263446"/>
              <a:gd name="connsiteY2" fmla="*/ 109837 h 3190456"/>
              <a:gd name="connsiteX3" fmla="*/ 2960089 w 3263446"/>
              <a:gd name="connsiteY3" fmla="*/ 2455421 h 3190456"/>
              <a:gd name="connsiteX4" fmla="*/ 2958569 w 3263446"/>
              <a:gd name="connsiteY4" fmla="*/ 2456196 h 3190456"/>
              <a:gd name="connsiteX5" fmla="*/ 3253343 w 3263446"/>
              <a:gd name="connsiteY5" fmla="*/ 3051800 h 3190456"/>
              <a:gd name="connsiteX6" fmla="*/ 3249136 w 3263446"/>
              <a:gd name="connsiteY6" fmla="*/ 3144978 h 3190456"/>
              <a:gd name="connsiteX7" fmla="*/ 3167818 w 3263446"/>
              <a:gd name="connsiteY7" fmla="*/ 3190456 h 3190456"/>
              <a:gd name="connsiteX8" fmla="*/ 95629 w 3263446"/>
              <a:gd name="connsiteY8" fmla="*/ 3190456 h 3190456"/>
              <a:gd name="connsiteX9" fmla="*/ 14311 w 3263446"/>
              <a:gd name="connsiteY9" fmla="*/ 3144978 h 3190456"/>
              <a:gd name="connsiteX10" fmla="*/ 10103 w 3263446"/>
              <a:gd name="connsiteY10" fmla="*/ 3051800 h 3190456"/>
              <a:gd name="connsiteX11" fmla="*/ 314988 w 3263446"/>
              <a:gd name="connsiteY11" fmla="*/ 2435767 h 3190456"/>
              <a:gd name="connsiteX12" fmla="*/ 1500898 w 3263446"/>
              <a:gd name="connsiteY12" fmla="*/ 108595 h 3190456"/>
              <a:gd name="connsiteX13" fmla="*/ 1527251 w 3263446"/>
              <a:gd name="connsiteY13" fmla="*/ 59492 h 3190456"/>
              <a:gd name="connsiteX14" fmla="*/ 1631724 w 3263446"/>
              <a:gd name="connsiteY14" fmla="*/ 0 h 3190456"/>
              <a:gd name="connsiteX0" fmla="*/ 1631724 w 3263446"/>
              <a:gd name="connsiteY0" fmla="*/ 0 h 3190456"/>
              <a:gd name="connsiteX1" fmla="*/ 1736196 w 3263446"/>
              <a:gd name="connsiteY1" fmla="*/ 59492 h 3190456"/>
              <a:gd name="connsiteX2" fmla="*/ 1760976 w 3263446"/>
              <a:gd name="connsiteY2" fmla="*/ 109837 h 3190456"/>
              <a:gd name="connsiteX3" fmla="*/ 2960089 w 3263446"/>
              <a:gd name="connsiteY3" fmla="*/ 2455421 h 3190456"/>
              <a:gd name="connsiteX4" fmla="*/ 3253343 w 3263446"/>
              <a:gd name="connsiteY4" fmla="*/ 3051800 h 3190456"/>
              <a:gd name="connsiteX5" fmla="*/ 3249136 w 3263446"/>
              <a:gd name="connsiteY5" fmla="*/ 3144978 h 3190456"/>
              <a:gd name="connsiteX6" fmla="*/ 3167818 w 3263446"/>
              <a:gd name="connsiteY6" fmla="*/ 3190456 h 3190456"/>
              <a:gd name="connsiteX7" fmla="*/ 95629 w 3263446"/>
              <a:gd name="connsiteY7" fmla="*/ 3190456 h 3190456"/>
              <a:gd name="connsiteX8" fmla="*/ 14311 w 3263446"/>
              <a:gd name="connsiteY8" fmla="*/ 3144978 h 3190456"/>
              <a:gd name="connsiteX9" fmla="*/ 10103 w 3263446"/>
              <a:gd name="connsiteY9" fmla="*/ 3051800 h 3190456"/>
              <a:gd name="connsiteX10" fmla="*/ 314988 w 3263446"/>
              <a:gd name="connsiteY10" fmla="*/ 2435767 h 3190456"/>
              <a:gd name="connsiteX11" fmla="*/ 1500898 w 3263446"/>
              <a:gd name="connsiteY11" fmla="*/ 108595 h 3190456"/>
              <a:gd name="connsiteX12" fmla="*/ 1527251 w 3263446"/>
              <a:gd name="connsiteY12" fmla="*/ 59492 h 3190456"/>
              <a:gd name="connsiteX13" fmla="*/ 1631724 w 3263446"/>
              <a:gd name="connsiteY13" fmla="*/ 0 h 3190456"/>
              <a:gd name="connsiteX0" fmla="*/ 1631724 w 3263446"/>
              <a:gd name="connsiteY0" fmla="*/ 0 h 3190456"/>
              <a:gd name="connsiteX1" fmla="*/ 1736196 w 3263446"/>
              <a:gd name="connsiteY1" fmla="*/ 59492 h 3190456"/>
              <a:gd name="connsiteX2" fmla="*/ 1760976 w 3263446"/>
              <a:gd name="connsiteY2" fmla="*/ 109837 h 3190456"/>
              <a:gd name="connsiteX3" fmla="*/ 3253343 w 3263446"/>
              <a:gd name="connsiteY3" fmla="*/ 3051800 h 3190456"/>
              <a:gd name="connsiteX4" fmla="*/ 3249136 w 3263446"/>
              <a:gd name="connsiteY4" fmla="*/ 3144978 h 3190456"/>
              <a:gd name="connsiteX5" fmla="*/ 3167818 w 3263446"/>
              <a:gd name="connsiteY5" fmla="*/ 3190456 h 3190456"/>
              <a:gd name="connsiteX6" fmla="*/ 95629 w 3263446"/>
              <a:gd name="connsiteY6" fmla="*/ 3190456 h 3190456"/>
              <a:gd name="connsiteX7" fmla="*/ 14311 w 3263446"/>
              <a:gd name="connsiteY7" fmla="*/ 3144978 h 3190456"/>
              <a:gd name="connsiteX8" fmla="*/ 10103 w 3263446"/>
              <a:gd name="connsiteY8" fmla="*/ 3051800 h 3190456"/>
              <a:gd name="connsiteX9" fmla="*/ 314988 w 3263446"/>
              <a:gd name="connsiteY9" fmla="*/ 2435767 h 3190456"/>
              <a:gd name="connsiteX10" fmla="*/ 1500898 w 3263446"/>
              <a:gd name="connsiteY10" fmla="*/ 108595 h 3190456"/>
              <a:gd name="connsiteX11" fmla="*/ 1527251 w 3263446"/>
              <a:gd name="connsiteY11" fmla="*/ 59492 h 3190456"/>
              <a:gd name="connsiteX12" fmla="*/ 1631724 w 3263446"/>
              <a:gd name="connsiteY12" fmla="*/ 0 h 3190456"/>
              <a:gd name="connsiteX0" fmla="*/ 1631724 w 3263446"/>
              <a:gd name="connsiteY0" fmla="*/ 0 h 3190456"/>
              <a:gd name="connsiteX1" fmla="*/ 1736196 w 3263446"/>
              <a:gd name="connsiteY1" fmla="*/ 59492 h 3190456"/>
              <a:gd name="connsiteX2" fmla="*/ 1760976 w 3263446"/>
              <a:gd name="connsiteY2" fmla="*/ 109837 h 3190456"/>
              <a:gd name="connsiteX3" fmla="*/ 3253343 w 3263446"/>
              <a:gd name="connsiteY3" fmla="*/ 3051800 h 3190456"/>
              <a:gd name="connsiteX4" fmla="*/ 3249136 w 3263446"/>
              <a:gd name="connsiteY4" fmla="*/ 3144978 h 3190456"/>
              <a:gd name="connsiteX5" fmla="*/ 3167818 w 3263446"/>
              <a:gd name="connsiteY5" fmla="*/ 3190456 h 3190456"/>
              <a:gd name="connsiteX6" fmla="*/ 95629 w 3263446"/>
              <a:gd name="connsiteY6" fmla="*/ 3190456 h 3190456"/>
              <a:gd name="connsiteX7" fmla="*/ 14311 w 3263446"/>
              <a:gd name="connsiteY7" fmla="*/ 3144978 h 3190456"/>
              <a:gd name="connsiteX8" fmla="*/ 10103 w 3263446"/>
              <a:gd name="connsiteY8" fmla="*/ 3051800 h 3190456"/>
              <a:gd name="connsiteX9" fmla="*/ 1500898 w 3263446"/>
              <a:gd name="connsiteY9" fmla="*/ 108595 h 3190456"/>
              <a:gd name="connsiteX10" fmla="*/ 1527251 w 3263446"/>
              <a:gd name="connsiteY10" fmla="*/ 59492 h 3190456"/>
              <a:gd name="connsiteX11" fmla="*/ 1631724 w 3263446"/>
              <a:gd name="connsiteY11" fmla="*/ 0 h 3190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63446" h="3190456">
                <a:moveTo>
                  <a:pt x="1631724" y="0"/>
                </a:moveTo>
                <a:cubicBezTo>
                  <a:pt x="1674037" y="0"/>
                  <a:pt x="1716350" y="19831"/>
                  <a:pt x="1736196" y="59492"/>
                </a:cubicBezTo>
                <a:lnTo>
                  <a:pt x="1760976" y="109837"/>
                </a:lnTo>
                <a:lnTo>
                  <a:pt x="3253343" y="3051800"/>
                </a:lnTo>
                <a:cubicBezTo>
                  <a:pt x="3268182" y="3081465"/>
                  <a:pt x="3266588" y="3116737"/>
                  <a:pt x="3249136" y="3144978"/>
                </a:cubicBezTo>
                <a:cubicBezTo>
                  <a:pt x="3231684" y="3173244"/>
                  <a:pt x="3200956" y="3190456"/>
                  <a:pt x="3167818" y="3190456"/>
                </a:cubicBezTo>
                <a:lnTo>
                  <a:pt x="95629" y="3190456"/>
                </a:lnTo>
                <a:cubicBezTo>
                  <a:pt x="62489" y="3190456"/>
                  <a:pt x="31765" y="3173244"/>
                  <a:pt x="14311" y="3144978"/>
                </a:cubicBezTo>
                <a:cubicBezTo>
                  <a:pt x="-3143" y="3116737"/>
                  <a:pt x="-4736" y="3081465"/>
                  <a:pt x="10103" y="3051800"/>
                </a:cubicBezTo>
                <a:lnTo>
                  <a:pt x="1500898" y="108595"/>
                </a:lnTo>
                <a:lnTo>
                  <a:pt x="1527251" y="59492"/>
                </a:lnTo>
                <a:cubicBezTo>
                  <a:pt x="1547098" y="19831"/>
                  <a:pt x="1589411" y="0"/>
                  <a:pt x="1631724" y="0"/>
                </a:cubicBezTo>
                <a:close/>
              </a:path>
            </a:pathLst>
          </a:custGeom>
          <a:noFill/>
          <a:ln w="9525" cap="flat" cmpd="sng" algn="ctr">
            <a:noFill/>
            <a:prstDash val="solid"/>
            <a:headEnd type="none" w="med" len="med"/>
            <a:tailEnd type="none" w="med" len="med"/>
          </a:ln>
          <a:effectLst>
            <a:outerShdw blurRad="190500" algn="ctr" rotWithShape="0">
              <a:prstClr val="black">
                <a:alpha val="10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Segoe UI"/>
              <a:ea typeface="+mn-ea"/>
              <a:cs typeface="Segoe UI" pitchFamily="34" charset="0"/>
            </a:endParaRPr>
          </a:p>
        </p:txBody>
      </p:sp>
      <p:sp>
        <p:nvSpPr>
          <p:cNvPr id="39" name="Freeform: Shape 46">
            <a:extLst>
              <a:ext uri="{FF2B5EF4-FFF2-40B4-BE49-F238E27FC236}">
                <a16:creationId xmlns:a16="http://schemas.microsoft.com/office/drawing/2014/main" id="{0BF7F6AD-67CB-EC42-2334-D2F6B8EAE3A9}"/>
              </a:ext>
            </a:extLst>
          </p:cNvPr>
          <p:cNvSpPr/>
          <p:nvPr/>
        </p:nvSpPr>
        <p:spPr>
          <a:xfrm>
            <a:off x="4089794" y="2588710"/>
            <a:ext cx="936172" cy="944200"/>
          </a:xfrm>
          <a:custGeom>
            <a:avLst/>
            <a:gdLst>
              <a:gd name="connsiteX0" fmla="*/ 1710353 w 1900426"/>
              <a:gd name="connsiteY0" fmla="*/ 1916724 h 1916723"/>
              <a:gd name="connsiteX1" fmla="*/ 1871984 w 1900426"/>
              <a:gd name="connsiteY1" fmla="*/ 1826382 h 1916723"/>
              <a:gd name="connsiteX2" fmla="*/ 1880346 w 1900426"/>
              <a:gd name="connsiteY2" fmla="*/ 1641179 h 1916723"/>
              <a:gd name="connsiteX3" fmla="*/ 1120206 w 1900426"/>
              <a:gd name="connsiteY3" fmla="*/ 96803 h 1916723"/>
              <a:gd name="connsiteX4" fmla="*/ 780221 w 1900426"/>
              <a:gd name="connsiteY4" fmla="*/ 96803 h 1916723"/>
              <a:gd name="connsiteX5" fmla="*/ 20081 w 1900426"/>
              <a:gd name="connsiteY5" fmla="*/ 1641179 h 1916723"/>
              <a:gd name="connsiteX6" fmla="*/ 28443 w 1900426"/>
              <a:gd name="connsiteY6" fmla="*/ 1826382 h 1916723"/>
              <a:gd name="connsiteX7" fmla="*/ 190074 w 1900426"/>
              <a:gd name="connsiteY7" fmla="*/ 1916724 h 1916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00426" h="1916723">
                <a:moveTo>
                  <a:pt x="1710353" y="1916724"/>
                </a:moveTo>
                <a:cubicBezTo>
                  <a:pt x="1776219" y="1916724"/>
                  <a:pt x="1837296" y="1882514"/>
                  <a:pt x="1871984" y="1826382"/>
                </a:cubicBezTo>
                <a:cubicBezTo>
                  <a:pt x="1906672" y="1770199"/>
                  <a:pt x="1909839" y="1700142"/>
                  <a:pt x="1880346" y="1641179"/>
                </a:cubicBezTo>
                <a:lnTo>
                  <a:pt x="1120206" y="96803"/>
                </a:lnTo>
                <a:cubicBezTo>
                  <a:pt x="1055620" y="-32268"/>
                  <a:pt x="844807" y="-32268"/>
                  <a:pt x="780221" y="96803"/>
                </a:cubicBezTo>
                <a:lnTo>
                  <a:pt x="20081" y="1641179"/>
                </a:lnTo>
                <a:cubicBezTo>
                  <a:pt x="-9412" y="1700142"/>
                  <a:pt x="-6245" y="1770199"/>
                  <a:pt x="28443" y="1826382"/>
                </a:cubicBezTo>
                <a:cubicBezTo>
                  <a:pt x="63130" y="1882514"/>
                  <a:pt x="124208" y="1916724"/>
                  <a:pt x="190074" y="1916724"/>
                </a:cubicBezTo>
                <a:close/>
              </a:path>
            </a:pathLst>
          </a:custGeom>
          <a:gradFill flip="none" rotWithShape="1">
            <a:gsLst>
              <a:gs pos="35000">
                <a:srgbClr val="0078D4"/>
              </a:gs>
              <a:gs pos="0">
                <a:srgbClr val="C03BC4"/>
              </a:gs>
            </a:gsLst>
            <a:path path="circle">
              <a:fillToRect l="100000" t="100000"/>
            </a:path>
            <a:tileRect r="-100000" b="-100000"/>
          </a:gradFill>
          <a:ln>
            <a:noFill/>
            <a:headEnd type="none" w="med" len="med"/>
            <a:tailEnd type="none" w="med" len="med"/>
          </a:ln>
          <a:effectLst>
            <a:outerShdw blurRad="63500" dist="127000" dir="2700000" algn="tl"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91440" numCol="1" spcCol="0" rtlCol="0" fromWordArt="0" anchor="b" anchorCtr="0" forceAA="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w="3175">
                  <a:noFill/>
                </a:ln>
                <a:gradFill>
                  <a:gsLst>
                    <a:gs pos="76437">
                      <a:srgbClr val="FFFFFF"/>
                    </a:gs>
                    <a:gs pos="55747">
                      <a:srgbClr val="FFFFFF"/>
                    </a:gs>
                  </a:gsLst>
                  <a:path path="circle">
                    <a:fillToRect l="100000" b="100000"/>
                  </a:path>
                </a:gradFill>
                <a:effectLst/>
                <a:uLnTx/>
                <a:uFillTx/>
                <a:latin typeface="Segoe UI Semibold"/>
                <a:ea typeface="+mn-ea"/>
                <a:cs typeface="Segoe UI" pitchFamily="34" charset="0"/>
              </a:rPr>
              <a:t>Org </a:t>
            </a:r>
            <a:br>
              <a:rPr kumimoji="0" lang="en-US" sz="1600" b="1" i="0" u="none" strike="noStrike" kern="1200" cap="none" spc="0" normalizeH="0" baseline="0" noProof="0" dirty="0">
                <a:ln w="3175">
                  <a:noFill/>
                </a:ln>
                <a:gradFill>
                  <a:gsLst>
                    <a:gs pos="76437">
                      <a:srgbClr val="FFFFFF"/>
                    </a:gs>
                    <a:gs pos="55747">
                      <a:srgbClr val="FFFFFF"/>
                    </a:gs>
                  </a:gsLst>
                  <a:path path="circle">
                    <a:fillToRect l="100000" b="100000"/>
                  </a:path>
                </a:gradFill>
                <a:effectLst/>
                <a:uLnTx/>
                <a:uFillTx/>
                <a:latin typeface="Segoe UI Semibold"/>
                <a:ea typeface="+mn-ea"/>
                <a:cs typeface="Segoe UI" pitchFamily="34" charset="0"/>
              </a:rPr>
            </a:br>
            <a:r>
              <a:rPr kumimoji="0" lang="en-US" sz="1600" b="1" i="0" u="none" strike="noStrike" kern="1200" cap="none" spc="0" normalizeH="0" baseline="0" noProof="0" dirty="0">
                <a:ln w="3175">
                  <a:noFill/>
                </a:ln>
                <a:gradFill>
                  <a:gsLst>
                    <a:gs pos="76437">
                      <a:srgbClr val="FFFFFF"/>
                    </a:gs>
                    <a:gs pos="55747">
                      <a:srgbClr val="FFFFFF"/>
                    </a:gs>
                  </a:gsLst>
                  <a:path path="circle">
                    <a:fillToRect l="100000" b="100000"/>
                  </a:path>
                </a:gradFill>
                <a:effectLst/>
                <a:uLnTx/>
                <a:uFillTx/>
                <a:latin typeface="Segoe UI Semibold"/>
                <a:ea typeface="+mn-ea"/>
                <a:cs typeface="Segoe UI" pitchFamily="34" charset="0"/>
              </a:rPr>
              <a:t>Value</a:t>
            </a:r>
          </a:p>
        </p:txBody>
      </p:sp>
      <p:sp>
        <p:nvSpPr>
          <p:cNvPr id="40" name="Freeform: Shape 48">
            <a:extLst>
              <a:ext uri="{FF2B5EF4-FFF2-40B4-BE49-F238E27FC236}">
                <a16:creationId xmlns:a16="http://schemas.microsoft.com/office/drawing/2014/main" id="{69B8F5CA-1C2D-D859-92A7-8F626BB4CAD0}"/>
              </a:ext>
            </a:extLst>
          </p:cNvPr>
          <p:cNvSpPr/>
          <p:nvPr/>
        </p:nvSpPr>
        <p:spPr>
          <a:xfrm>
            <a:off x="3528123" y="3720503"/>
            <a:ext cx="2059514" cy="937941"/>
          </a:xfrm>
          <a:custGeom>
            <a:avLst/>
            <a:gdLst>
              <a:gd name="connsiteX0" fmla="*/ 780214 w 4180809"/>
              <a:gd name="connsiteY0" fmla="*/ 105219 h 1904017"/>
              <a:gd name="connsiteX1" fmla="*/ 20123 w 4180809"/>
              <a:gd name="connsiteY1" fmla="*/ 1628473 h 1904017"/>
              <a:gd name="connsiteX2" fmla="*/ 28438 w 4180809"/>
              <a:gd name="connsiteY2" fmla="*/ 1813676 h 1904017"/>
              <a:gd name="connsiteX3" fmla="*/ 190117 w 4180809"/>
              <a:gd name="connsiteY3" fmla="*/ 1904017 h 1904017"/>
              <a:gd name="connsiteX4" fmla="*/ 3990714 w 4180809"/>
              <a:gd name="connsiteY4" fmla="*/ 1904017 h 1904017"/>
              <a:gd name="connsiteX5" fmla="*/ 4152396 w 4180809"/>
              <a:gd name="connsiteY5" fmla="*/ 1813676 h 1904017"/>
              <a:gd name="connsiteX6" fmla="*/ 4160707 w 4180809"/>
              <a:gd name="connsiteY6" fmla="*/ 1628473 h 1904017"/>
              <a:gd name="connsiteX7" fmla="*/ 3400567 w 4180809"/>
              <a:gd name="connsiteY7" fmla="*/ 105219 h 1904017"/>
              <a:gd name="connsiteX8" fmla="*/ 3230625 w 4180809"/>
              <a:gd name="connsiteY8" fmla="*/ 0 h 1904017"/>
              <a:gd name="connsiteX9" fmla="*/ 950206 w 4180809"/>
              <a:gd name="connsiteY9" fmla="*/ 0 h 1904017"/>
              <a:gd name="connsiteX10" fmla="*/ 780214 w 4180809"/>
              <a:gd name="connsiteY10" fmla="*/ 105219 h 1904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180809" h="1904017">
                <a:moveTo>
                  <a:pt x="780214" y="105219"/>
                </a:moveTo>
                <a:lnTo>
                  <a:pt x="20123" y="1628473"/>
                </a:lnTo>
                <a:cubicBezTo>
                  <a:pt x="-9421" y="1687436"/>
                  <a:pt x="-6254" y="1757493"/>
                  <a:pt x="28438" y="1813676"/>
                </a:cubicBezTo>
                <a:cubicBezTo>
                  <a:pt x="63179" y="1869807"/>
                  <a:pt x="124200" y="1904017"/>
                  <a:pt x="190117" y="1904017"/>
                </a:cubicBezTo>
                <a:lnTo>
                  <a:pt x="3990714" y="1904017"/>
                </a:lnTo>
                <a:cubicBezTo>
                  <a:pt x="4056580" y="1904017"/>
                  <a:pt x="4117657" y="1869807"/>
                  <a:pt x="4152396" y="1813676"/>
                </a:cubicBezTo>
                <a:cubicBezTo>
                  <a:pt x="4187084" y="1757493"/>
                  <a:pt x="4190200" y="1687436"/>
                  <a:pt x="4160707" y="1628473"/>
                </a:cubicBezTo>
                <a:lnTo>
                  <a:pt x="3400567" y="105219"/>
                </a:lnTo>
                <a:cubicBezTo>
                  <a:pt x="3368299" y="40709"/>
                  <a:pt x="3302636" y="0"/>
                  <a:pt x="3230625" y="0"/>
                </a:cubicBezTo>
                <a:lnTo>
                  <a:pt x="950206" y="0"/>
                </a:lnTo>
                <a:cubicBezTo>
                  <a:pt x="878246" y="0"/>
                  <a:pt x="812532" y="40709"/>
                  <a:pt x="780214" y="105219"/>
                </a:cubicBezTo>
                <a:close/>
              </a:path>
            </a:pathLst>
          </a:custGeom>
          <a:gradFill flip="none" rotWithShape="1">
            <a:gsLst>
              <a:gs pos="35000">
                <a:srgbClr val="0078D4"/>
              </a:gs>
              <a:gs pos="0">
                <a:srgbClr val="C03BC4"/>
              </a:gs>
            </a:gsLst>
            <a:path path="circle">
              <a:fillToRect l="100000" t="100000"/>
            </a:path>
            <a:tileRect r="-100000" b="-100000"/>
          </a:gradFill>
          <a:ln>
            <a:noFill/>
            <a:headEnd type="none" w="med" len="med"/>
            <a:tailEnd type="none" w="med" len="med"/>
          </a:ln>
          <a:effectLst>
            <a:outerShdw blurRad="63500" dist="127000" dir="2700000" algn="tl"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w="3175">
                  <a:noFill/>
                </a:ln>
                <a:gradFill>
                  <a:gsLst>
                    <a:gs pos="76437">
                      <a:srgbClr val="FFFFFF"/>
                    </a:gs>
                    <a:gs pos="55747">
                      <a:srgbClr val="FFFFFF"/>
                    </a:gs>
                  </a:gsLst>
                  <a:path path="circle">
                    <a:fillToRect l="100000" b="100000"/>
                  </a:path>
                </a:gradFill>
                <a:effectLst/>
                <a:uLnTx/>
                <a:uFillTx/>
                <a:latin typeface="Segoe UI Semibold"/>
                <a:ea typeface="+mn-ea"/>
                <a:cs typeface="Segoe UI" pitchFamily="34" charset="0"/>
              </a:rPr>
              <a:t>Functional </a:t>
            </a:r>
            <a:br>
              <a:rPr kumimoji="0" lang="en-US" sz="1600" b="1" i="0" u="none" strike="noStrike" kern="1200" cap="none" spc="0" normalizeH="0" baseline="0" noProof="0" dirty="0">
                <a:ln w="3175">
                  <a:noFill/>
                </a:ln>
                <a:gradFill>
                  <a:gsLst>
                    <a:gs pos="76437">
                      <a:srgbClr val="FFFFFF"/>
                    </a:gs>
                    <a:gs pos="55747">
                      <a:srgbClr val="FFFFFF"/>
                    </a:gs>
                  </a:gsLst>
                  <a:path path="circle">
                    <a:fillToRect l="100000" b="100000"/>
                  </a:path>
                </a:gradFill>
                <a:effectLst/>
                <a:uLnTx/>
                <a:uFillTx/>
                <a:latin typeface="Segoe UI Semibold"/>
                <a:ea typeface="+mn-ea"/>
                <a:cs typeface="Segoe UI" pitchFamily="34" charset="0"/>
              </a:rPr>
            </a:br>
            <a:r>
              <a:rPr kumimoji="0" lang="en-US" sz="1600" b="1" i="0" u="none" strike="noStrike" kern="1200" cap="none" spc="0" normalizeH="0" baseline="0" noProof="0" dirty="0">
                <a:ln w="3175">
                  <a:noFill/>
                </a:ln>
                <a:gradFill>
                  <a:gsLst>
                    <a:gs pos="76437">
                      <a:srgbClr val="FFFFFF"/>
                    </a:gs>
                    <a:gs pos="55747">
                      <a:srgbClr val="FFFFFF"/>
                    </a:gs>
                  </a:gsLst>
                  <a:path path="circle">
                    <a:fillToRect l="100000" b="100000"/>
                  </a:path>
                </a:gradFill>
                <a:effectLst/>
                <a:uLnTx/>
                <a:uFillTx/>
                <a:latin typeface="Segoe UI Semibold"/>
                <a:ea typeface="+mn-ea"/>
                <a:cs typeface="Segoe UI" pitchFamily="34" charset="0"/>
              </a:rPr>
              <a:t>Value</a:t>
            </a:r>
          </a:p>
        </p:txBody>
      </p:sp>
      <p:sp>
        <p:nvSpPr>
          <p:cNvPr id="44" name="TextBox 43">
            <a:extLst>
              <a:ext uri="{FF2B5EF4-FFF2-40B4-BE49-F238E27FC236}">
                <a16:creationId xmlns:a16="http://schemas.microsoft.com/office/drawing/2014/main" id="{C9AF1F4F-0411-47FB-052A-93A96167E2C2}"/>
              </a:ext>
            </a:extLst>
          </p:cNvPr>
          <p:cNvSpPr txBox="1">
            <a:spLocks/>
          </p:cNvSpPr>
          <p:nvPr/>
        </p:nvSpPr>
        <p:spPr>
          <a:xfrm>
            <a:off x="6581650" y="2753033"/>
            <a:ext cx="5786812" cy="615553"/>
          </a:xfrm>
          <a:prstGeom prst="rect">
            <a:avLst/>
          </a:prstGeom>
          <a:noFill/>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Segoe UI"/>
                <a:ea typeface="+mn-ea"/>
                <a:cs typeface="+mn-cs"/>
              </a:rPr>
              <a:t>Autonomous agents</a:t>
            </a:r>
            <a:endParaRPr kumimoji="0" lang="en-US" sz="2000" b="0" i="0" u="none" strike="noStrike" kern="0" cap="none" spc="0" normalizeH="0" baseline="0" noProof="0" dirty="0">
              <a:ln>
                <a:noFill/>
              </a:ln>
              <a:solidFill>
                <a:srgbClr val="1A1A1A"/>
              </a:solidFill>
              <a:effectLst/>
              <a:uLnTx/>
              <a:uFillTx/>
              <a:latin typeface="Segoe U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rgbClr val="1A1A1A"/>
                </a:solidFill>
                <a:effectLst/>
                <a:uLnTx/>
                <a:uFillTx/>
                <a:latin typeface="Segoe UI"/>
                <a:ea typeface="+mn-ea"/>
                <a:cs typeface="+mn-cs"/>
              </a:rPr>
              <a:t>Industry use cases</a:t>
            </a:r>
          </a:p>
        </p:txBody>
      </p:sp>
      <p:sp>
        <p:nvSpPr>
          <p:cNvPr id="54" name="TextBox 53">
            <a:extLst>
              <a:ext uri="{FF2B5EF4-FFF2-40B4-BE49-F238E27FC236}">
                <a16:creationId xmlns:a16="http://schemas.microsoft.com/office/drawing/2014/main" id="{33B96745-28BD-B2E0-E246-0BB14256D55C}"/>
              </a:ext>
            </a:extLst>
          </p:cNvPr>
          <p:cNvSpPr txBox="1">
            <a:spLocks/>
          </p:cNvSpPr>
          <p:nvPr/>
        </p:nvSpPr>
        <p:spPr>
          <a:xfrm>
            <a:off x="6581650" y="3800179"/>
            <a:ext cx="5257423" cy="666849"/>
          </a:xfrm>
          <a:prstGeom prst="rect">
            <a:avLst/>
          </a:prstGeom>
          <a:noFill/>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2000" b="0" i="0" u="none" strike="noStrike" kern="0" cap="none" spc="0" normalizeH="0" baseline="0" noProof="0" dirty="0">
                <a:ln>
                  <a:noFill/>
                </a:ln>
                <a:solidFill>
                  <a:srgbClr val="1A1A1A"/>
                </a:solidFill>
                <a:effectLst/>
                <a:uLnTx/>
                <a:uFillTx/>
                <a:latin typeface="Segoe UI"/>
                <a:ea typeface="+mn-ea"/>
                <a:cs typeface="+mn-cs"/>
              </a:rPr>
              <a:t>Role-based agents</a:t>
            </a:r>
          </a:p>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2000" b="0" i="0" u="none" strike="noStrike" kern="0" cap="none" spc="0" normalizeH="0" baseline="0" noProof="0" dirty="0">
                <a:ln>
                  <a:noFill/>
                </a:ln>
                <a:solidFill>
                  <a:srgbClr val="1A1A1A"/>
                </a:solidFill>
                <a:effectLst/>
                <a:uLnTx/>
                <a:uFillTx/>
                <a:latin typeface="Segoe UI"/>
                <a:ea typeface="+mn-ea"/>
                <a:cs typeface="+mn-cs"/>
              </a:rPr>
              <a:t>Functional use cases</a:t>
            </a:r>
          </a:p>
        </p:txBody>
      </p:sp>
      <p:sp>
        <p:nvSpPr>
          <p:cNvPr id="58" name="Freeform: Shape 50">
            <a:extLst>
              <a:ext uri="{FF2B5EF4-FFF2-40B4-BE49-F238E27FC236}">
                <a16:creationId xmlns:a16="http://schemas.microsoft.com/office/drawing/2014/main" id="{C5A2B28E-5A64-4A9E-98FA-BB295EEFF429}"/>
              </a:ext>
            </a:extLst>
          </p:cNvPr>
          <p:cNvSpPr/>
          <p:nvPr/>
        </p:nvSpPr>
        <p:spPr>
          <a:xfrm>
            <a:off x="2960217" y="4846038"/>
            <a:ext cx="3195326" cy="944219"/>
          </a:xfrm>
          <a:custGeom>
            <a:avLst/>
            <a:gdLst>
              <a:gd name="connsiteX0" fmla="*/ 28446 w 6486503"/>
              <a:gd name="connsiteY0" fmla="*/ 1826369 h 1916761"/>
              <a:gd name="connsiteX1" fmla="*/ 190074 w 6486503"/>
              <a:gd name="connsiteY1" fmla="*/ 1916762 h 1916761"/>
              <a:gd name="connsiteX2" fmla="*/ 6296430 w 6486503"/>
              <a:gd name="connsiteY2" fmla="*/ 1916762 h 1916761"/>
              <a:gd name="connsiteX3" fmla="*/ 6458061 w 6486503"/>
              <a:gd name="connsiteY3" fmla="*/ 1826369 h 1916761"/>
              <a:gd name="connsiteX4" fmla="*/ 6466422 w 6486503"/>
              <a:gd name="connsiteY4" fmla="*/ 1641167 h 1916761"/>
              <a:gd name="connsiteX5" fmla="*/ 5706283 w 6486503"/>
              <a:gd name="connsiteY5" fmla="*/ 105270 h 1916761"/>
              <a:gd name="connsiteX6" fmla="*/ 5536290 w 6486503"/>
              <a:gd name="connsiteY6" fmla="*/ 0 h 1916761"/>
              <a:gd name="connsiteX7" fmla="*/ 950214 w 6486503"/>
              <a:gd name="connsiteY7" fmla="*/ 0 h 1916761"/>
              <a:gd name="connsiteX8" fmla="*/ 780221 w 6486503"/>
              <a:gd name="connsiteY8" fmla="*/ 105270 h 1916761"/>
              <a:gd name="connsiteX9" fmla="*/ 20082 w 6486503"/>
              <a:gd name="connsiteY9" fmla="*/ 1641167 h 1916761"/>
              <a:gd name="connsiteX10" fmla="*/ 28446 w 6486503"/>
              <a:gd name="connsiteY10" fmla="*/ 1826369 h 1916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486503" h="1916761">
                <a:moveTo>
                  <a:pt x="28446" y="1826369"/>
                </a:moveTo>
                <a:cubicBezTo>
                  <a:pt x="63137" y="1882552"/>
                  <a:pt x="124206" y="1916762"/>
                  <a:pt x="190074" y="1916762"/>
                </a:cubicBezTo>
                <a:lnTo>
                  <a:pt x="6296430" y="1916762"/>
                </a:lnTo>
                <a:cubicBezTo>
                  <a:pt x="6362296" y="1916762"/>
                  <a:pt x="6423373" y="1882552"/>
                  <a:pt x="6458061" y="1826369"/>
                </a:cubicBezTo>
                <a:cubicBezTo>
                  <a:pt x="6492748" y="1770237"/>
                  <a:pt x="6495916" y="1700130"/>
                  <a:pt x="6466422" y="1641167"/>
                </a:cubicBezTo>
                <a:lnTo>
                  <a:pt x="5706283" y="105270"/>
                </a:lnTo>
                <a:cubicBezTo>
                  <a:pt x="5674015" y="40709"/>
                  <a:pt x="5608300" y="0"/>
                  <a:pt x="5536290" y="0"/>
                </a:cubicBezTo>
                <a:lnTo>
                  <a:pt x="950214" y="0"/>
                </a:lnTo>
                <a:cubicBezTo>
                  <a:pt x="878208" y="0"/>
                  <a:pt x="812488" y="40709"/>
                  <a:pt x="780221" y="105270"/>
                </a:cubicBezTo>
                <a:lnTo>
                  <a:pt x="20082" y="1641167"/>
                </a:lnTo>
                <a:cubicBezTo>
                  <a:pt x="-9413" y="1700130"/>
                  <a:pt x="-6246" y="1770237"/>
                  <a:pt x="28446" y="1826369"/>
                </a:cubicBezTo>
                <a:close/>
              </a:path>
            </a:pathLst>
          </a:custGeom>
          <a:gradFill flip="none" rotWithShape="1">
            <a:gsLst>
              <a:gs pos="35000">
                <a:srgbClr val="0078D4"/>
              </a:gs>
              <a:gs pos="0">
                <a:srgbClr val="C03BC4"/>
              </a:gs>
            </a:gsLst>
            <a:path path="circle">
              <a:fillToRect l="100000" t="100000"/>
            </a:path>
            <a:tileRect r="-100000" b="-100000"/>
          </a:gradFill>
          <a:ln>
            <a:noFill/>
            <a:headEnd type="none" w="med" len="med"/>
            <a:tailEnd type="none" w="med" len="med"/>
          </a:ln>
          <a:effectLst>
            <a:outerShdw blurRad="63500" dist="127000" dir="2700000" algn="tl"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w="3175">
                  <a:noFill/>
                </a:ln>
                <a:gradFill>
                  <a:gsLst>
                    <a:gs pos="76437">
                      <a:srgbClr val="FFFFFF"/>
                    </a:gs>
                    <a:gs pos="55747">
                      <a:srgbClr val="FFFFFF"/>
                    </a:gs>
                  </a:gsLst>
                  <a:path path="circle">
                    <a:fillToRect l="100000" b="100000"/>
                  </a:path>
                </a:gradFill>
                <a:effectLst/>
                <a:uLnTx/>
                <a:uFillTx/>
                <a:latin typeface="Segoe UI Semibold"/>
                <a:ea typeface="+mn-ea"/>
                <a:cs typeface="Segoe UI" pitchFamily="34" charset="0"/>
              </a:rPr>
              <a:t>Individual </a:t>
            </a:r>
            <a:br>
              <a:rPr kumimoji="0" lang="en-US" sz="1600" b="1" i="0" u="none" strike="noStrike" kern="1200" cap="none" spc="0" normalizeH="0" baseline="0" noProof="0" dirty="0">
                <a:ln w="3175">
                  <a:noFill/>
                </a:ln>
                <a:gradFill>
                  <a:gsLst>
                    <a:gs pos="76437">
                      <a:srgbClr val="FFFFFF"/>
                    </a:gs>
                    <a:gs pos="55747">
                      <a:srgbClr val="FFFFFF"/>
                    </a:gs>
                  </a:gsLst>
                  <a:path path="circle">
                    <a:fillToRect l="100000" b="100000"/>
                  </a:path>
                </a:gradFill>
                <a:effectLst/>
                <a:uLnTx/>
                <a:uFillTx/>
                <a:latin typeface="Segoe UI Semibold"/>
                <a:ea typeface="+mn-ea"/>
                <a:cs typeface="Segoe UI" pitchFamily="34" charset="0"/>
              </a:rPr>
            </a:br>
            <a:r>
              <a:rPr kumimoji="0" lang="en-US" sz="1600" b="1" i="0" u="none" strike="noStrike" kern="1200" cap="none" spc="0" normalizeH="0" baseline="0" noProof="0" dirty="0">
                <a:ln w="3175">
                  <a:noFill/>
                </a:ln>
                <a:gradFill>
                  <a:gsLst>
                    <a:gs pos="76437">
                      <a:srgbClr val="FFFFFF"/>
                    </a:gs>
                    <a:gs pos="55747">
                      <a:srgbClr val="FFFFFF"/>
                    </a:gs>
                  </a:gsLst>
                  <a:path path="circle">
                    <a:fillToRect l="100000" b="100000"/>
                  </a:path>
                </a:gradFill>
                <a:effectLst/>
                <a:uLnTx/>
                <a:uFillTx/>
                <a:latin typeface="Segoe UI Semibold"/>
                <a:ea typeface="+mn-ea"/>
                <a:cs typeface="Segoe UI" pitchFamily="34" charset="0"/>
              </a:rPr>
              <a:t>Value</a:t>
            </a:r>
          </a:p>
        </p:txBody>
      </p:sp>
      <p:sp>
        <p:nvSpPr>
          <p:cNvPr id="65" name="TextBox 64">
            <a:extLst>
              <a:ext uri="{FF2B5EF4-FFF2-40B4-BE49-F238E27FC236}">
                <a16:creationId xmlns:a16="http://schemas.microsoft.com/office/drawing/2014/main" id="{32A67932-B4E3-7BA1-6370-57B1A46D622E}"/>
              </a:ext>
            </a:extLst>
          </p:cNvPr>
          <p:cNvSpPr txBox="1">
            <a:spLocks/>
          </p:cNvSpPr>
          <p:nvPr/>
        </p:nvSpPr>
        <p:spPr>
          <a:xfrm>
            <a:off x="6581650" y="4984722"/>
            <a:ext cx="5257423" cy="666849"/>
          </a:xfrm>
          <a:prstGeom prst="rect">
            <a:avLst/>
          </a:prstGeom>
          <a:noFill/>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2000" b="0" i="0" u="none" strike="noStrike" kern="0" cap="none" spc="0" normalizeH="0" baseline="0" noProof="0" dirty="0">
                <a:ln>
                  <a:noFill/>
                </a:ln>
                <a:solidFill>
                  <a:srgbClr val="1A1A1A"/>
                </a:solidFill>
                <a:effectLst/>
                <a:uLnTx/>
                <a:uFillTx/>
                <a:latin typeface="Segoe UI"/>
                <a:ea typeface="+mn-ea"/>
                <a:cs typeface="+mn-cs"/>
              </a:rPr>
              <a:t>Day in the Life use cases</a:t>
            </a:r>
          </a:p>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2000" b="0" i="0" u="none" strike="noStrike" kern="0" cap="none" spc="0" normalizeH="0" baseline="0" noProof="0" dirty="0">
                <a:ln>
                  <a:noFill/>
                </a:ln>
                <a:solidFill>
                  <a:srgbClr val="1A1A1A"/>
                </a:solidFill>
                <a:effectLst/>
                <a:uLnTx/>
                <a:uFillTx/>
                <a:latin typeface="Segoe UI"/>
                <a:ea typeface="+mn-ea"/>
                <a:cs typeface="+mn-cs"/>
              </a:rPr>
              <a:t>Prompt Gallery</a:t>
            </a:r>
          </a:p>
        </p:txBody>
      </p:sp>
      <p:sp>
        <p:nvSpPr>
          <p:cNvPr id="69" name="Rectangle 68">
            <a:extLst>
              <a:ext uri="{FF2B5EF4-FFF2-40B4-BE49-F238E27FC236}">
                <a16:creationId xmlns:a16="http://schemas.microsoft.com/office/drawing/2014/main" id="{EA46EEC3-5C6B-211E-01F9-F6790ABA582A}"/>
              </a:ext>
              <a:ext uri="{C183D7F6-B498-43B3-948B-1728B52AA6E4}">
                <adec:decorative xmlns:adec="http://schemas.microsoft.com/office/drawing/2017/decorative" val="0"/>
              </a:ext>
            </a:extLst>
          </p:cNvPr>
          <p:cNvSpPr>
            <a:spLocks/>
          </p:cNvSpPr>
          <p:nvPr/>
        </p:nvSpPr>
        <p:spPr bwMode="auto">
          <a:xfrm>
            <a:off x="1260476" y="1434017"/>
            <a:ext cx="9674224" cy="553998"/>
          </a:xfrm>
          <a:prstGeom prst="rect">
            <a:avLst/>
          </a:prstGeom>
          <a:noFill/>
          <a:ln w="9525" cap="flat" cmpd="sng" algn="ctr">
            <a:noFill/>
            <a:prstDash val="solid"/>
            <a:headEnd type="none" w="med" len="med"/>
            <a:tailEnd type="none" w="med" len="med"/>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300"/>
              </a:spcBef>
              <a:spcAft>
                <a:spcPts val="200"/>
              </a:spcAft>
              <a:buClrTx/>
              <a:buSzTx/>
              <a:buFontTx/>
              <a:buNone/>
              <a:tabLst/>
              <a:defRPr/>
            </a:pPr>
            <a:r>
              <a:rPr kumimoji="0" lang="en-US" sz="1800" b="0" i="0" u="none" strike="noStrike" kern="1200" cap="none" spc="0" normalizeH="0" baseline="0" noProof="0" dirty="0">
                <a:ln>
                  <a:noFill/>
                </a:ln>
                <a:gradFill>
                  <a:gsLst>
                    <a:gs pos="48000">
                      <a:srgbClr val="000000"/>
                    </a:gs>
                    <a:gs pos="100000">
                      <a:srgbClr val="000000"/>
                    </a:gs>
                  </a:gsLst>
                  <a:lin ang="10800000" scaled="1"/>
                </a:gradFill>
                <a:effectLst/>
                <a:uLnTx/>
                <a:uFillTx/>
                <a:latin typeface="Segoe UI Semibold"/>
                <a:ea typeface="+mn-ea"/>
                <a:cs typeface="+mn-cs"/>
              </a:rPr>
              <a:t>Grow value from a base of solid usage and individual productivity and then extend through agents to impact organizational KPIs.</a:t>
            </a:r>
          </a:p>
        </p:txBody>
      </p:sp>
    </p:spTree>
    <p:extLst>
      <p:ext uri="{BB962C8B-B14F-4D97-AF65-F5344CB8AC3E}">
        <p14:creationId xmlns:p14="http://schemas.microsoft.com/office/powerpoint/2010/main" val="2323810386"/>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Title 1">
            <a:extLst>
              <a:ext uri="{FF2B5EF4-FFF2-40B4-BE49-F238E27FC236}">
                <a16:creationId xmlns:a16="http://schemas.microsoft.com/office/drawing/2014/main" id="{98BFE39B-1528-621E-FB62-476136D03ABB}"/>
              </a:ext>
            </a:extLst>
          </p:cNvPr>
          <p:cNvSpPr>
            <a:spLocks noGrp="1"/>
          </p:cNvSpPr>
          <p:nvPr>
            <p:ph type="title"/>
          </p:nvPr>
        </p:nvSpPr>
        <p:spPr/>
        <p:txBody>
          <a:bodyPr>
            <a:noAutofit/>
          </a:bodyPr>
          <a:lstStyle/>
          <a:p>
            <a:r>
              <a:rPr lang="en-US" noProof="0" dirty="0"/>
              <a:t>”Effort” level for each scenario </a:t>
            </a:r>
            <a:br>
              <a:rPr lang="en-US" noProof="0" dirty="0"/>
            </a:br>
            <a:endParaRPr lang="en-US" sz="2000" noProof="0" dirty="0"/>
          </a:p>
        </p:txBody>
      </p:sp>
      <p:sp>
        <p:nvSpPr>
          <p:cNvPr id="3" name="Rectangle: Rounded Corners 34">
            <a:extLst>
              <a:ext uri="{FF2B5EF4-FFF2-40B4-BE49-F238E27FC236}">
                <a16:creationId xmlns:a16="http://schemas.microsoft.com/office/drawing/2014/main" id="{F80C1D04-3704-9FEA-363D-8F25042F93D0}"/>
              </a:ext>
              <a:ext uri="{C183D7F6-B498-43B3-948B-1728B52AA6E4}">
                <adec:decorative xmlns:adec="http://schemas.microsoft.com/office/drawing/2017/decorative" val="1"/>
              </a:ext>
            </a:extLst>
          </p:cNvPr>
          <p:cNvSpPr/>
          <p:nvPr/>
        </p:nvSpPr>
        <p:spPr bwMode="auto">
          <a:xfrm>
            <a:off x="609590" y="1842801"/>
            <a:ext cx="10972820" cy="4168324"/>
          </a:xfrm>
          <a:custGeom>
            <a:avLst/>
            <a:gdLst>
              <a:gd name="connsiteX0" fmla="*/ 0 w 4508748"/>
              <a:gd name="connsiteY0" fmla="*/ 58322 h 1647518"/>
              <a:gd name="connsiteX1" fmla="*/ 58322 w 4508748"/>
              <a:gd name="connsiteY1" fmla="*/ 0 h 1647518"/>
              <a:gd name="connsiteX2" fmla="*/ 4450426 w 4508748"/>
              <a:gd name="connsiteY2" fmla="*/ 0 h 1647518"/>
              <a:gd name="connsiteX3" fmla="*/ 4508748 w 4508748"/>
              <a:gd name="connsiteY3" fmla="*/ 58322 h 1647518"/>
              <a:gd name="connsiteX4" fmla="*/ 4508748 w 4508748"/>
              <a:gd name="connsiteY4" fmla="*/ 1589196 h 1647518"/>
              <a:gd name="connsiteX5" fmla="*/ 4450426 w 4508748"/>
              <a:gd name="connsiteY5" fmla="*/ 1647518 h 1647518"/>
              <a:gd name="connsiteX6" fmla="*/ 58322 w 4508748"/>
              <a:gd name="connsiteY6" fmla="*/ 1647518 h 1647518"/>
              <a:gd name="connsiteX7" fmla="*/ 0 w 4508748"/>
              <a:gd name="connsiteY7" fmla="*/ 1589196 h 1647518"/>
              <a:gd name="connsiteX8" fmla="*/ 0 w 4508748"/>
              <a:gd name="connsiteY8" fmla="*/ 58322 h 1647518"/>
              <a:gd name="connsiteX0" fmla="*/ 0 w 4508748"/>
              <a:gd name="connsiteY0" fmla="*/ 58666 h 1647862"/>
              <a:gd name="connsiteX1" fmla="*/ 58322 w 4508748"/>
              <a:gd name="connsiteY1" fmla="*/ 344 h 1647862"/>
              <a:gd name="connsiteX2" fmla="*/ 1333055 w 4508748"/>
              <a:gd name="connsiteY2" fmla="*/ 0 h 1647862"/>
              <a:gd name="connsiteX3" fmla="*/ 4450426 w 4508748"/>
              <a:gd name="connsiteY3" fmla="*/ 344 h 1647862"/>
              <a:gd name="connsiteX4" fmla="*/ 4508748 w 4508748"/>
              <a:gd name="connsiteY4" fmla="*/ 58666 h 1647862"/>
              <a:gd name="connsiteX5" fmla="*/ 4508748 w 4508748"/>
              <a:gd name="connsiteY5" fmla="*/ 1589540 h 1647862"/>
              <a:gd name="connsiteX6" fmla="*/ 4450426 w 4508748"/>
              <a:gd name="connsiteY6" fmla="*/ 1647862 h 1647862"/>
              <a:gd name="connsiteX7" fmla="*/ 58322 w 4508748"/>
              <a:gd name="connsiteY7" fmla="*/ 1647862 h 1647862"/>
              <a:gd name="connsiteX8" fmla="*/ 0 w 4508748"/>
              <a:gd name="connsiteY8" fmla="*/ 1589540 h 1647862"/>
              <a:gd name="connsiteX9" fmla="*/ 0 w 4508748"/>
              <a:gd name="connsiteY9" fmla="*/ 58666 h 1647862"/>
              <a:gd name="connsiteX0" fmla="*/ 0 w 4508748"/>
              <a:gd name="connsiteY0" fmla="*/ 60254 h 1649450"/>
              <a:gd name="connsiteX1" fmla="*/ 58322 w 4508748"/>
              <a:gd name="connsiteY1" fmla="*/ 1932 h 1649450"/>
              <a:gd name="connsiteX2" fmla="*/ 1333055 w 4508748"/>
              <a:gd name="connsiteY2" fmla="*/ 1588 h 1649450"/>
              <a:gd name="connsiteX3" fmla="*/ 3172967 w 4508748"/>
              <a:gd name="connsiteY3" fmla="*/ 0 h 1649450"/>
              <a:gd name="connsiteX4" fmla="*/ 4450426 w 4508748"/>
              <a:gd name="connsiteY4" fmla="*/ 1932 h 1649450"/>
              <a:gd name="connsiteX5" fmla="*/ 4508748 w 4508748"/>
              <a:gd name="connsiteY5" fmla="*/ 60254 h 1649450"/>
              <a:gd name="connsiteX6" fmla="*/ 4508748 w 4508748"/>
              <a:gd name="connsiteY6" fmla="*/ 1591128 h 1649450"/>
              <a:gd name="connsiteX7" fmla="*/ 4450426 w 4508748"/>
              <a:gd name="connsiteY7" fmla="*/ 1649450 h 1649450"/>
              <a:gd name="connsiteX8" fmla="*/ 58322 w 4508748"/>
              <a:gd name="connsiteY8" fmla="*/ 1649450 h 1649450"/>
              <a:gd name="connsiteX9" fmla="*/ 0 w 4508748"/>
              <a:gd name="connsiteY9" fmla="*/ 1591128 h 1649450"/>
              <a:gd name="connsiteX10" fmla="*/ 0 w 4508748"/>
              <a:gd name="connsiteY10" fmla="*/ 60254 h 1649450"/>
              <a:gd name="connsiteX0" fmla="*/ 3172967 w 4508748"/>
              <a:gd name="connsiteY0" fmla="*/ 0 h 1649450"/>
              <a:gd name="connsiteX1" fmla="*/ 4450426 w 4508748"/>
              <a:gd name="connsiteY1" fmla="*/ 1932 h 1649450"/>
              <a:gd name="connsiteX2" fmla="*/ 4508748 w 4508748"/>
              <a:gd name="connsiteY2" fmla="*/ 60254 h 1649450"/>
              <a:gd name="connsiteX3" fmla="*/ 4508748 w 4508748"/>
              <a:gd name="connsiteY3" fmla="*/ 1591128 h 1649450"/>
              <a:gd name="connsiteX4" fmla="*/ 4450426 w 4508748"/>
              <a:gd name="connsiteY4" fmla="*/ 1649450 h 1649450"/>
              <a:gd name="connsiteX5" fmla="*/ 58322 w 4508748"/>
              <a:gd name="connsiteY5" fmla="*/ 1649450 h 1649450"/>
              <a:gd name="connsiteX6" fmla="*/ 0 w 4508748"/>
              <a:gd name="connsiteY6" fmla="*/ 1591128 h 1649450"/>
              <a:gd name="connsiteX7" fmla="*/ 0 w 4508748"/>
              <a:gd name="connsiteY7" fmla="*/ 60254 h 1649450"/>
              <a:gd name="connsiteX8" fmla="*/ 58322 w 4508748"/>
              <a:gd name="connsiteY8" fmla="*/ 1932 h 1649450"/>
              <a:gd name="connsiteX9" fmla="*/ 1424495 w 4508748"/>
              <a:gd name="connsiteY9" fmla="*/ 93028 h 1649450"/>
              <a:gd name="connsiteX0" fmla="*/ 3172967 w 4508748"/>
              <a:gd name="connsiteY0" fmla="*/ 0 h 1649450"/>
              <a:gd name="connsiteX1" fmla="*/ 4450426 w 4508748"/>
              <a:gd name="connsiteY1" fmla="*/ 1932 h 1649450"/>
              <a:gd name="connsiteX2" fmla="*/ 4508748 w 4508748"/>
              <a:gd name="connsiteY2" fmla="*/ 60254 h 1649450"/>
              <a:gd name="connsiteX3" fmla="*/ 4508748 w 4508748"/>
              <a:gd name="connsiteY3" fmla="*/ 1591128 h 1649450"/>
              <a:gd name="connsiteX4" fmla="*/ 4450426 w 4508748"/>
              <a:gd name="connsiteY4" fmla="*/ 1649450 h 1649450"/>
              <a:gd name="connsiteX5" fmla="*/ 58322 w 4508748"/>
              <a:gd name="connsiteY5" fmla="*/ 1649450 h 1649450"/>
              <a:gd name="connsiteX6" fmla="*/ 0 w 4508748"/>
              <a:gd name="connsiteY6" fmla="*/ 1591128 h 1649450"/>
              <a:gd name="connsiteX7" fmla="*/ 0 w 4508748"/>
              <a:gd name="connsiteY7" fmla="*/ 60254 h 1649450"/>
              <a:gd name="connsiteX8" fmla="*/ 58322 w 4508748"/>
              <a:gd name="connsiteY8" fmla="*/ 1932 h 1649450"/>
              <a:gd name="connsiteX9" fmla="*/ 1399095 w 4508748"/>
              <a:gd name="connsiteY9" fmla="*/ 2541 h 1649450"/>
              <a:gd name="connsiteX0" fmla="*/ 3172967 w 4508748"/>
              <a:gd name="connsiteY0" fmla="*/ 634 h 1650084"/>
              <a:gd name="connsiteX1" fmla="*/ 4450426 w 4508748"/>
              <a:gd name="connsiteY1" fmla="*/ 2566 h 1650084"/>
              <a:gd name="connsiteX2" fmla="*/ 4508748 w 4508748"/>
              <a:gd name="connsiteY2" fmla="*/ 60888 h 1650084"/>
              <a:gd name="connsiteX3" fmla="*/ 4508748 w 4508748"/>
              <a:gd name="connsiteY3" fmla="*/ 1591762 h 1650084"/>
              <a:gd name="connsiteX4" fmla="*/ 4450426 w 4508748"/>
              <a:gd name="connsiteY4" fmla="*/ 1650084 h 1650084"/>
              <a:gd name="connsiteX5" fmla="*/ 58322 w 4508748"/>
              <a:gd name="connsiteY5" fmla="*/ 1650084 h 1650084"/>
              <a:gd name="connsiteX6" fmla="*/ 0 w 4508748"/>
              <a:gd name="connsiteY6" fmla="*/ 1591762 h 1650084"/>
              <a:gd name="connsiteX7" fmla="*/ 0 w 4508748"/>
              <a:gd name="connsiteY7" fmla="*/ 60888 h 1650084"/>
              <a:gd name="connsiteX8" fmla="*/ 58322 w 4508748"/>
              <a:gd name="connsiteY8" fmla="*/ 2566 h 1650084"/>
              <a:gd name="connsiteX9" fmla="*/ 1335595 w 4508748"/>
              <a:gd name="connsiteY9" fmla="*/ 0 h 1650084"/>
              <a:gd name="connsiteX0" fmla="*/ 3172967 w 4508748"/>
              <a:gd name="connsiteY0" fmla="*/ 634 h 1650084"/>
              <a:gd name="connsiteX1" fmla="*/ 4450426 w 4508748"/>
              <a:gd name="connsiteY1" fmla="*/ 2566 h 1650084"/>
              <a:gd name="connsiteX2" fmla="*/ 4508748 w 4508748"/>
              <a:gd name="connsiteY2" fmla="*/ 60888 h 1650084"/>
              <a:gd name="connsiteX3" fmla="*/ 4508748 w 4508748"/>
              <a:gd name="connsiteY3" fmla="*/ 1591762 h 1650084"/>
              <a:gd name="connsiteX4" fmla="*/ 4450426 w 4508748"/>
              <a:gd name="connsiteY4" fmla="*/ 1650084 h 1650084"/>
              <a:gd name="connsiteX5" fmla="*/ 58322 w 4508748"/>
              <a:gd name="connsiteY5" fmla="*/ 1650084 h 1650084"/>
              <a:gd name="connsiteX6" fmla="*/ 0 w 4508748"/>
              <a:gd name="connsiteY6" fmla="*/ 1591762 h 1650084"/>
              <a:gd name="connsiteX7" fmla="*/ 0 w 4508748"/>
              <a:gd name="connsiteY7" fmla="*/ 60888 h 1650084"/>
              <a:gd name="connsiteX8" fmla="*/ 58322 w 4508748"/>
              <a:gd name="connsiteY8" fmla="*/ 2566 h 1650084"/>
              <a:gd name="connsiteX9" fmla="*/ 1609776 w 4508748"/>
              <a:gd name="connsiteY9" fmla="*/ 0 h 1650084"/>
              <a:gd name="connsiteX0" fmla="*/ 2929251 w 4508748"/>
              <a:gd name="connsiteY0" fmla="*/ 634 h 1650084"/>
              <a:gd name="connsiteX1" fmla="*/ 4450426 w 4508748"/>
              <a:gd name="connsiteY1" fmla="*/ 2566 h 1650084"/>
              <a:gd name="connsiteX2" fmla="*/ 4508748 w 4508748"/>
              <a:gd name="connsiteY2" fmla="*/ 60888 h 1650084"/>
              <a:gd name="connsiteX3" fmla="*/ 4508748 w 4508748"/>
              <a:gd name="connsiteY3" fmla="*/ 1591762 h 1650084"/>
              <a:gd name="connsiteX4" fmla="*/ 4450426 w 4508748"/>
              <a:gd name="connsiteY4" fmla="*/ 1650084 h 1650084"/>
              <a:gd name="connsiteX5" fmla="*/ 58322 w 4508748"/>
              <a:gd name="connsiteY5" fmla="*/ 1650084 h 1650084"/>
              <a:gd name="connsiteX6" fmla="*/ 0 w 4508748"/>
              <a:gd name="connsiteY6" fmla="*/ 1591762 h 1650084"/>
              <a:gd name="connsiteX7" fmla="*/ 0 w 4508748"/>
              <a:gd name="connsiteY7" fmla="*/ 60888 h 1650084"/>
              <a:gd name="connsiteX8" fmla="*/ 58322 w 4508748"/>
              <a:gd name="connsiteY8" fmla="*/ 2566 h 1650084"/>
              <a:gd name="connsiteX9" fmla="*/ 1609776 w 4508748"/>
              <a:gd name="connsiteY9" fmla="*/ 0 h 1650084"/>
              <a:gd name="connsiteX0" fmla="*/ 2914019 w 4508748"/>
              <a:gd name="connsiteY0" fmla="*/ 634 h 1650084"/>
              <a:gd name="connsiteX1" fmla="*/ 4450426 w 4508748"/>
              <a:gd name="connsiteY1" fmla="*/ 2566 h 1650084"/>
              <a:gd name="connsiteX2" fmla="*/ 4508748 w 4508748"/>
              <a:gd name="connsiteY2" fmla="*/ 60888 h 1650084"/>
              <a:gd name="connsiteX3" fmla="*/ 4508748 w 4508748"/>
              <a:gd name="connsiteY3" fmla="*/ 1591762 h 1650084"/>
              <a:gd name="connsiteX4" fmla="*/ 4450426 w 4508748"/>
              <a:gd name="connsiteY4" fmla="*/ 1650084 h 1650084"/>
              <a:gd name="connsiteX5" fmla="*/ 58322 w 4508748"/>
              <a:gd name="connsiteY5" fmla="*/ 1650084 h 1650084"/>
              <a:gd name="connsiteX6" fmla="*/ 0 w 4508748"/>
              <a:gd name="connsiteY6" fmla="*/ 1591762 h 1650084"/>
              <a:gd name="connsiteX7" fmla="*/ 0 w 4508748"/>
              <a:gd name="connsiteY7" fmla="*/ 60888 h 1650084"/>
              <a:gd name="connsiteX8" fmla="*/ 58322 w 4508748"/>
              <a:gd name="connsiteY8" fmla="*/ 2566 h 1650084"/>
              <a:gd name="connsiteX9" fmla="*/ 1609776 w 4508748"/>
              <a:gd name="connsiteY9" fmla="*/ 0 h 1650084"/>
              <a:gd name="connsiteX0" fmla="*/ 2914019 w 4508748"/>
              <a:gd name="connsiteY0" fmla="*/ 634 h 1650084"/>
              <a:gd name="connsiteX1" fmla="*/ 4450426 w 4508748"/>
              <a:gd name="connsiteY1" fmla="*/ 2566 h 1650084"/>
              <a:gd name="connsiteX2" fmla="*/ 4508748 w 4508748"/>
              <a:gd name="connsiteY2" fmla="*/ 60888 h 1650084"/>
              <a:gd name="connsiteX3" fmla="*/ 4508748 w 4508748"/>
              <a:gd name="connsiteY3" fmla="*/ 1591762 h 1650084"/>
              <a:gd name="connsiteX4" fmla="*/ 4450426 w 4508748"/>
              <a:gd name="connsiteY4" fmla="*/ 1650084 h 1650084"/>
              <a:gd name="connsiteX5" fmla="*/ 58322 w 4508748"/>
              <a:gd name="connsiteY5" fmla="*/ 1650084 h 1650084"/>
              <a:gd name="connsiteX6" fmla="*/ 0 w 4508748"/>
              <a:gd name="connsiteY6" fmla="*/ 1591762 h 1650084"/>
              <a:gd name="connsiteX7" fmla="*/ 0 w 4508748"/>
              <a:gd name="connsiteY7" fmla="*/ 60888 h 1650084"/>
              <a:gd name="connsiteX8" fmla="*/ 58322 w 4508748"/>
              <a:gd name="connsiteY8" fmla="*/ 2566 h 1650084"/>
              <a:gd name="connsiteX9" fmla="*/ 1609776 w 4508748"/>
              <a:gd name="connsiteY9" fmla="*/ 0 h 1650084"/>
              <a:gd name="connsiteX0" fmla="*/ 2874035 w 4508748"/>
              <a:gd name="connsiteY0" fmla="*/ 634 h 1650084"/>
              <a:gd name="connsiteX1" fmla="*/ 4450426 w 4508748"/>
              <a:gd name="connsiteY1" fmla="*/ 2566 h 1650084"/>
              <a:gd name="connsiteX2" fmla="*/ 4508748 w 4508748"/>
              <a:gd name="connsiteY2" fmla="*/ 60888 h 1650084"/>
              <a:gd name="connsiteX3" fmla="*/ 4508748 w 4508748"/>
              <a:gd name="connsiteY3" fmla="*/ 1591762 h 1650084"/>
              <a:gd name="connsiteX4" fmla="*/ 4450426 w 4508748"/>
              <a:gd name="connsiteY4" fmla="*/ 1650084 h 1650084"/>
              <a:gd name="connsiteX5" fmla="*/ 58322 w 4508748"/>
              <a:gd name="connsiteY5" fmla="*/ 1650084 h 1650084"/>
              <a:gd name="connsiteX6" fmla="*/ 0 w 4508748"/>
              <a:gd name="connsiteY6" fmla="*/ 1591762 h 1650084"/>
              <a:gd name="connsiteX7" fmla="*/ 0 w 4508748"/>
              <a:gd name="connsiteY7" fmla="*/ 60888 h 1650084"/>
              <a:gd name="connsiteX8" fmla="*/ 58322 w 4508748"/>
              <a:gd name="connsiteY8" fmla="*/ 2566 h 1650084"/>
              <a:gd name="connsiteX9" fmla="*/ 1609776 w 4508748"/>
              <a:gd name="connsiteY9" fmla="*/ 0 h 1650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508748" h="1650084">
                <a:moveTo>
                  <a:pt x="2874035" y="634"/>
                </a:moveTo>
                <a:lnTo>
                  <a:pt x="4450426" y="2566"/>
                </a:lnTo>
                <a:cubicBezTo>
                  <a:pt x="4482636" y="2566"/>
                  <a:pt x="4508748" y="28678"/>
                  <a:pt x="4508748" y="60888"/>
                </a:cubicBezTo>
                <a:lnTo>
                  <a:pt x="4508748" y="1591762"/>
                </a:lnTo>
                <a:cubicBezTo>
                  <a:pt x="4508748" y="1623972"/>
                  <a:pt x="4482636" y="1650084"/>
                  <a:pt x="4450426" y="1650084"/>
                </a:cubicBezTo>
                <a:lnTo>
                  <a:pt x="58322" y="1650084"/>
                </a:lnTo>
                <a:cubicBezTo>
                  <a:pt x="26112" y="1650084"/>
                  <a:pt x="0" y="1623972"/>
                  <a:pt x="0" y="1591762"/>
                </a:cubicBezTo>
                <a:lnTo>
                  <a:pt x="0" y="60888"/>
                </a:lnTo>
                <a:cubicBezTo>
                  <a:pt x="0" y="28678"/>
                  <a:pt x="26112" y="2566"/>
                  <a:pt x="58322" y="2566"/>
                </a:cubicBezTo>
                <a:lnTo>
                  <a:pt x="1609776" y="0"/>
                </a:lnTo>
              </a:path>
            </a:pathLst>
          </a:custGeom>
          <a:solidFill>
            <a:schemeClr val="bg1"/>
          </a:solidFill>
          <a:ln w="9525" cap="flat" cmpd="sng" algn="ctr">
            <a:gradFill flip="none" rotWithShape="1">
              <a:gsLst>
                <a:gs pos="15000">
                  <a:srgbClr val="1264B1"/>
                </a:gs>
                <a:gs pos="100000">
                  <a:srgbClr val="944DCF"/>
                </a:gs>
              </a:gsLst>
              <a:lin ang="0" scaled="1"/>
              <a:tileRect/>
            </a:gradFill>
            <a:prstDash val="solid"/>
            <a:headEnd type="none" w="med" len="med"/>
            <a:tailEnd type="none" w="med" len="med"/>
          </a:ln>
          <a:effectLst/>
        </p:spPr>
        <p:txBody>
          <a:bodyPr rot="0" spcFirstLastPara="0"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3A4953"/>
              </a:solidFill>
              <a:effectLst/>
              <a:uLnTx/>
              <a:uFillTx/>
              <a:latin typeface="Segoe UI"/>
              <a:ea typeface="Segoe UI" pitchFamily="34" charset="0"/>
              <a:cs typeface="Segoe UI" pitchFamily="34" charset="0"/>
            </a:endParaRPr>
          </a:p>
        </p:txBody>
      </p:sp>
      <p:pic>
        <p:nvPicPr>
          <p:cNvPr id="10" name="Picture 9">
            <a:extLst>
              <a:ext uri="{FF2B5EF4-FFF2-40B4-BE49-F238E27FC236}">
                <a16:creationId xmlns:a16="http://schemas.microsoft.com/office/drawing/2014/main" id="{7D86F053-A9CF-1DAE-4AE2-E85100506213}"/>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3594253" y="2214878"/>
            <a:ext cx="2383661" cy="3591243"/>
          </a:xfrm>
          <a:prstGeom prst="roundRect">
            <a:avLst>
              <a:gd name="adj" fmla="val 3266"/>
            </a:avLst>
          </a:prstGeom>
          <a:solidFill>
            <a:srgbClr val="FFFFFF">
              <a:alpha val="85098"/>
            </a:srgbClr>
          </a:solidFill>
          <a:ln w="6350" cap="flat" cmpd="sng" algn="ctr">
            <a:solidFill>
              <a:schemeClr val="bg1">
                <a:lumMod val="95000"/>
              </a:schemeClr>
            </a:solidFill>
            <a:prstDash val="solid"/>
            <a:headEnd type="none" w="med" len="med"/>
            <a:tailEnd type="none" w="med" len="med"/>
          </a:ln>
          <a:effectLst>
            <a:outerShdw blurRad="127000" dist="127000" dir="2700000" algn="tl" rotWithShape="0">
              <a:prstClr val="black">
                <a:alpha val="20000"/>
              </a:prstClr>
            </a:outerShdw>
          </a:effectLst>
        </p:spPr>
      </p:pic>
      <p:sp>
        <p:nvSpPr>
          <p:cNvPr id="14" name="Rectangle 13">
            <a:extLst>
              <a:ext uri="{FF2B5EF4-FFF2-40B4-BE49-F238E27FC236}">
                <a16:creationId xmlns:a16="http://schemas.microsoft.com/office/drawing/2014/main" id="{E56782E7-AAE2-7A77-5B10-08DC175ECF5C}"/>
              </a:ext>
            </a:extLst>
          </p:cNvPr>
          <p:cNvSpPr/>
          <p:nvPr/>
        </p:nvSpPr>
        <p:spPr bwMode="auto">
          <a:xfrm>
            <a:off x="3594253" y="2370772"/>
            <a:ext cx="2383661" cy="462547"/>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ct val="20000"/>
              </a:spcBef>
              <a:spcAft>
                <a:spcPts val="0"/>
              </a:spcAft>
              <a:buClrTx/>
              <a:buSzPct val="90000"/>
              <a:buFontTx/>
              <a:buNone/>
              <a:tabLst/>
              <a:defRPr/>
            </a:pPr>
            <a:r>
              <a:rPr kumimoji="0" lang="en-US" sz="1800" b="0" i="0" u="none" strike="noStrike" kern="1200" cap="none" spc="0" normalizeH="0" baseline="0" noProof="0" dirty="0">
                <a:ln>
                  <a:noFill/>
                </a:ln>
                <a:gradFill>
                  <a:gsLst>
                    <a:gs pos="35000">
                      <a:srgbClr val="0078D4"/>
                    </a:gs>
                    <a:gs pos="0">
                      <a:srgbClr val="C03BC4"/>
                    </a:gs>
                  </a:gsLst>
                  <a:path path="circle">
                    <a:fillToRect l="100000" t="100000"/>
                  </a:path>
                </a:gradFill>
                <a:effectLst/>
                <a:uLnTx/>
                <a:uFillTx/>
                <a:latin typeface="Segoe UI Semibold"/>
                <a:ea typeface="+mn-ea"/>
                <a:cs typeface="Segoe UI Semibold" panose="020B0702040204020203" pitchFamily="34" charset="0"/>
              </a:rPr>
              <a:t>Buy</a:t>
            </a:r>
            <a:endParaRPr kumimoji="0" lang="en-US" sz="1400" b="0" i="0" u="none" strike="noStrike" kern="1200" cap="none" spc="0" normalizeH="0" baseline="0" noProof="0" dirty="0">
              <a:ln>
                <a:noFill/>
              </a:ln>
              <a:solidFill>
                <a:srgbClr val="000000"/>
              </a:solidFill>
              <a:effectLst/>
              <a:uLnTx/>
              <a:uFillTx/>
              <a:latin typeface="Segoe UI"/>
              <a:ea typeface="+mn-ea"/>
              <a:cs typeface="+mn-cs"/>
            </a:endParaRPr>
          </a:p>
        </p:txBody>
      </p:sp>
      <p:pic>
        <p:nvPicPr>
          <p:cNvPr id="15" name="!Copilot">
            <a:extLst>
              <a:ext uri="{FF2B5EF4-FFF2-40B4-BE49-F238E27FC236}">
                <a16:creationId xmlns:a16="http://schemas.microsoft.com/office/drawing/2014/main" id="{638B6E89-74D7-F9F8-E909-F1E0DDC9C748}"/>
              </a:ext>
              <a:ext uri="{C183D7F6-B498-43B3-948B-1728B52AA6E4}">
                <adec:decorative xmlns:adec="http://schemas.microsoft.com/office/drawing/2017/decorative" val="1"/>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4773508" y="1524416"/>
            <a:ext cx="636771" cy="636770"/>
          </a:xfrm>
          <a:prstGeom prst="rect">
            <a:avLst/>
          </a:prstGeom>
          <a:noFill/>
          <a:ln>
            <a:noFill/>
            <a:headEnd type="none" w="med" len="med"/>
            <a:tailEnd type="none" w="med" len="med"/>
          </a:ln>
          <a:effectLst>
            <a:outerShdw blurRad="50800" dist="38100" dir="2700000" sx="103000" sy="103000" algn="tl" rotWithShape="0">
              <a:prstClr val="black">
                <a:alpha val="40000"/>
              </a:prstClr>
            </a:outerShdw>
          </a:effectLst>
        </p:spPr>
      </p:pic>
      <p:sp>
        <p:nvSpPr>
          <p:cNvPr id="21" name="Rectangle 20">
            <a:extLst>
              <a:ext uri="{FF2B5EF4-FFF2-40B4-BE49-F238E27FC236}">
                <a16:creationId xmlns:a16="http://schemas.microsoft.com/office/drawing/2014/main" id="{6C8AF7A2-94ED-5EE9-0E85-66B6413660F9}"/>
              </a:ext>
            </a:extLst>
          </p:cNvPr>
          <p:cNvSpPr>
            <a:spLocks/>
          </p:cNvSpPr>
          <p:nvPr/>
        </p:nvSpPr>
        <p:spPr bwMode="auto">
          <a:xfrm>
            <a:off x="3594253" y="4636533"/>
            <a:ext cx="2383661" cy="1049892"/>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171450" marR="0" lvl="0" indent="-171450" algn="l" defTabSz="932472" rtl="0" eaLnBrk="1" fontAlgn="base" latinLnBrk="0" hangingPunct="1">
              <a:lnSpc>
                <a:spcPct val="100000"/>
              </a:lnSpc>
              <a:spcBef>
                <a:spcPts val="60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Segoe UI"/>
                <a:ea typeface="+mn-ea"/>
                <a:cs typeface="+mn-cs"/>
              </a:rPr>
              <a:t>Microsoft 365 Copilot</a:t>
            </a:r>
          </a:p>
          <a:p>
            <a:pPr marL="171450" marR="0" lvl="0" indent="-171450" algn="l" defTabSz="932472" rtl="0" eaLnBrk="1" fontAlgn="base" latinLnBrk="0" hangingPunct="1">
              <a:lnSpc>
                <a:spcPct val="100000"/>
              </a:lnSpc>
              <a:spcBef>
                <a:spcPts val="60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Segoe UI"/>
                <a:ea typeface="+mn-ea"/>
                <a:cs typeface="+mn-cs"/>
              </a:rPr>
              <a:t>Security Copilot</a:t>
            </a:r>
          </a:p>
          <a:p>
            <a:pPr marL="171450" marR="0" lvl="0" indent="-171450" algn="l" defTabSz="932472" rtl="0" eaLnBrk="1" fontAlgn="base" latinLnBrk="0" hangingPunct="1">
              <a:lnSpc>
                <a:spcPct val="100000"/>
              </a:lnSpc>
              <a:spcBef>
                <a:spcPts val="60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Segoe UI"/>
                <a:ea typeface="+mn-ea"/>
                <a:cs typeface="+mn-cs"/>
              </a:rPr>
              <a:t>Dynamics 365</a:t>
            </a:r>
          </a:p>
          <a:p>
            <a:pPr marL="171450" marR="0" lvl="0" indent="-171450" algn="l" defTabSz="932472" rtl="0" eaLnBrk="1" fontAlgn="base" latinLnBrk="0" hangingPunct="1">
              <a:lnSpc>
                <a:spcPct val="100000"/>
              </a:lnSpc>
              <a:spcBef>
                <a:spcPts val="600"/>
              </a:spcBef>
              <a:spcAft>
                <a:spcPts val="0"/>
              </a:spcAft>
              <a:buClrTx/>
              <a:buSzTx/>
              <a:buFont typeface="Arial" panose="020B0604020202020204" pitchFamily="34" charset="0"/>
              <a:buChar char="•"/>
              <a:tabLst/>
              <a:defRPr/>
            </a:pPr>
            <a:r>
              <a:rPr lang="en-US" sz="1100" dirty="0">
                <a:solidFill>
                  <a:srgbClr val="000000"/>
                </a:solidFill>
                <a:latin typeface="Segoe UI"/>
              </a:rPr>
              <a:t>Microsoft agents</a:t>
            </a:r>
            <a:endParaRPr kumimoji="0" lang="en-US" sz="11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23" name="TextBox 22">
            <a:extLst>
              <a:ext uri="{FF2B5EF4-FFF2-40B4-BE49-F238E27FC236}">
                <a16:creationId xmlns:a16="http://schemas.microsoft.com/office/drawing/2014/main" id="{CF00C3D3-B1E4-C188-849F-54568FD4C06A}"/>
              </a:ext>
            </a:extLst>
          </p:cNvPr>
          <p:cNvSpPr txBox="1"/>
          <p:nvPr/>
        </p:nvSpPr>
        <p:spPr>
          <a:xfrm>
            <a:off x="3594253" y="3975006"/>
            <a:ext cx="2383661" cy="507831"/>
          </a:xfrm>
          <a:prstGeom prst="rect">
            <a:avLst/>
          </a:prstGeom>
          <a:noFill/>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gradFill>
                  <a:gsLst>
                    <a:gs pos="52000">
                      <a:srgbClr val="593DA7"/>
                    </a:gs>
                    <a:gs pos="100000">
                      <a:srgbClr val="7030A0"/>
                    </a:gs>
                    <a:gs pos="0">
                      <a:srgbClr val="0070C0"/>
                    </a:gs>
                  </a:gsLst>
                  <a:lin ang="2700000" scaled="1"/>
                </a:gradFill>
                <a:effectLst/>
                <a:uLnTx/>
                <a:uFillTx/>
                <a:latin typeface="Segoe UI Semibold"/>
                <a:ea typeface="+mn-ea"/>
                <a:cs typeface="+mn-cs"/>
              </a:rPr>
              <a:t>Unlock productivity out of the box (Licensed AI products)</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gradFill>
                <a:gsLst>
                  <a:gs pos="52000">
                    <a:srgbClr val="593DA7"/>
                  </a:gs>
                  <a:gs pos="100000">
                    <a:srgbClr val="7030A0"/>
                  </a:gs>
                  <a:gs pos="0">
                    <a:srgbClr val="0070C0"/>
                  </a:gs>
                </a:gsLst>
                <a:lin ang="2700000" scaled="1"/>
              </a:gradFill>
              <a:effectLst/>
              <a:uLnTx/>
              <a:uFillTx/>
              <a:latin typeface="Segoe UI Semibold"/>
              <a:ea typeface="+mn-ea"/>
              <a:cs typeface="+mn-cs"/>
            </a:endParaRPr>
          </a:p>
        </p:txBody>
      </p:sp>
      <p:sp>
        <p:nvSpPr>
          <p:cNvPr id="26" name="TextBox 25">
            <a:extLst>
              <a:ext uri="{FF2B5EF4-FFF2-40B4-BE49-F238E27FC236}">
                <a16:creationId xmlns:a16="http://schemas.microsoft.com/office/drawing/2014/main" id="{E1578706-B029-DEF1-C008-D7020D177FC1}"/>
              </a:ext>
            </a:extLst>
          </p:cNvPr>
          <p:cNvSpPr txBox="1"/>
          <p:nvPr/>
        </p:nvSpPr>
        <p:spPr>
          <a:xfrm>
            <a:off x="4572723" y="3145657"/>
            <a:ext cx="426720"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Segoe UI"/>
                <a:ea typeface="+mn-ea"/>
                <a:cs typeface="+mn-cs"/>
              </a:rPr>
              <a:t>2</a:t>
            </a:r>
          </a:p>
        </p:txBody>
      </p:sp>
      <p:pic>
        <p:nvPicPr>
          <p:cNvPr id="28" name="Picture 27">
            <a:extLst>
              <a:ext uri="{FF2B5EF4-FFF2-40B4-BE49-F238E27FC236}">
                <a16:creationId xmlns:a16="http://schemas.microsoft.com/office/drawing/2014/main" id="{C175B5BC-E29B-076E-FA5F-F0F27F6E8C20}"/>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6224035" y="2225949"/>
            <a:ext cx="2383661" cy="3591243"/>
          </a:xfrm>
          <a:prstGeom prst="roundRect">
            <a:avLst>
              <a:gd name="adj" fmla="val 3266"/>
            </a:avLst>
          </a:prstGeom>
          <a:solidFill>
            <a:srgbClr val="FFFFFF">
              <a:alpha val="85098"/>
            </a:srgbClr>
          </a:solidFill>
          <a:ln w="6350" cap="flat" cmpd="sng" algn="ctr">
            <a:solidFill>
              <a:schemeClr val="bg1">
                <a:lumMod val="95000"/>
              </a:schemeClr>
            </a:solidFill>
            <a:prstDash val="solid"/>
            <a:headEnd type="none" w="med" len="med"/>
            <a:tailEnd type="none" w="med" len="med"/>
          </a:ln>
          <a:effectLst>
            <a:outerShdw blurRad="127000" dist="127000" dir="2700000" algn="tl" rotWithShape="0">
              <a:prstClr val="black">
                <a:alpha val="20000"/>
              </a:prstClr>
            </a:outerShdw>
          </a:effectLst>
        </p:spPr>
      </p:pic>
      <p:sp>
        <p:nvSpPr>
          <p:cNvPr id="33" name="Rectangle 32">
            <a:extLst>
              <a:ext uri="{FF2B5EF4-FFF2-40B4-BE49-F238E27FC236}">
                <a16:creationId xmlns:a16="http://schemas.microsoft.com/office/drawing/2014/main" id="{75BC062F-832E-722B-BF7D-121DE5649341}"/>
              </a:ext>
            </a:extLst>
          </p:cNvPr>
          <p:cNvSpPr/>
          <p:nvPr/>
        </p:nvSpPr>
        <p:spPr bwMode="auto">
          <a:xfrm>
            <a:off x="6224035" y="2370772"/>
            <a:ext cx="2383661" cy="462547"/>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ct val="20000"/>
              </a:spcBef>
              <a:spcAft>
                <a:spcPts val="0"/>
              </a:spcAft>
              <a:buClrTx/>
              <a:buSzPct val="90000"/>
              <a:buFontTx/>
              <a:buNone/>
              <a:tabLst/>
              <a:defRPr/>
            </a:pPr>
            <a:r>
              <a:rPr kumimoji="0" lang="en-US" sz="1800" b="0" i="0" u="none" strike="noStrike" kern="1200" cap="none" spc="0" normalizeH="0" baseline="0" noProof="0" dirty="0">
                <a:ln>
                  <a:noFill/>
                </a:ln>
                <a:gradFill>
                  <a:gsLst>
                    <a:gs pos="35000">
                      <a:srgbClr val="0078D4"/>
                    </a:gs>
                    <a:gs pos="0">
                      <a:srgbClr val="C03BC4"/>
                    </a:gs>
                  </a:gsLst>
                  <a:path path="circle">
                    <a:fillToRect l="100000" t="100000"/>
                  </a:path>
                </a:gradFill>
                <a:effectLst/>
                <a:uLnTx/>
                <a:uFillTx/>
                <a:latin typeface="Segoe UI Semibold"/>
                <a:ea typeface="+mn-ea"/>
                <a:cs typeface="Segoe UI Semibold" panose="020B0702040204020203" pitchFamily="34" charset="0"/>
              </a:rPr>
              <a:t>Extend</a:t>
            </a:r>
          </a:p>
        </p:txBody>
      </p:sp>
      <p:sp>
        <p:nvSpPr>
          <p:cNvPr id="34" name="Rectangle 33">
            <a:extLst>
              <a:ext uri="{FF2B5EF4-FFF2-40B4-BE49-F238E27FC236}">
                <a16:creationId xmlns:a16="http://schemas.microsoft.com/office/drawing/2014/main" id="{2817A4C0-E0D0-FAD3-FAFB-657E4EBC47D9}"/>
              </a:ext>
            </a:extLst>
          </p:cNvPr>
          <p:cNvSpPr>
            <a:spLocks/>
          </p:cNvSpPr>
          <p:nvPr/>
        </p:nvSpPr>
        <p:spPr bwMode="auto">
          <a:xfrm>
            <a:off x="6224035" y="4636533"/>
            <a:ext cx="2383661" cy="1049892"/>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Segoe UI"/>
                <a:ea typeface="+mn-ea"/>
                <a:cs typeface="+mn-cs"/>
              </a:rPr>
              <a:t>SharePoint agents</a:t>
            </a:r>
          </a:p>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Segoe UI"/>
                <a:ea typeface="+mn-ea"/>
                <a:cs typeface="+mn-cs"/>
              </a:rPr>
              <a:t>Copilot Studio</a:t>
            </a:r>
          </a:p>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en-US" sz="1100" dirty="0">
                <a:solidFill>
                  <a:srgbClr val="000000"/>
                </a:solidFill>
                <a:latin typeface="Segoe UI"/>
              </a:rPr>
              <a:t>Third-party agents</a:t>
            </a:r>
            <a:endParaRPr kumimoji="0" lang="en-US" sz="1100" b="0" i="0" u="none" strike="noStrike" kern="1200" cap="none" spc="0" normalizeH="0" baseline="0" noProof="0" dirty="0">
              <a:ln>
                <a:noFill/>
              </a:ln>
              <a:solidFill>
                <a:srgbClr val="000000"/>
              </a:solidFill>
              <a:effectLst/>
              <a:uLnTx/>
              <a:uFillTx/>
              <a:latin typeface="Segoe UI"/>
              <a:ea typeface="+mn-ea"/>
              <a:cs typeface="+mn-cs"/>
            </a:endParaRPr>
          </a:p>
          <a:p>
            <a:pPr marL="0" marR="0" lvl="0" indent="0" algn="ctr" defTabSz="914400" rtl="0" eaLnBrk="1" fontAlgn="auto" latinLnBrk="0" hangingPunct="1">
              <a:lnSpc>
                <a:spcPct val="100000"/>
              </a:lnSpc>
              <a:spcBef>
                <a:spcPts val="600"/>
              </a:spcBef>
              <a:spcAft>
                <a:spcPts val="0"/>
              </a:spcAft>
              <a:buClrTx/>
              <a:buSzTx/>
              <a:buFontTx/>
              <a:buNone/>
              <a:tabLst/>
              <a:defRPr/>
            </a:pPr>
            <a:endParaRPr kumimoji="0" lang="en-US" sz="1100" b="0" i="0" u="none" strike="noStrike" kern="1200" cap="none" spc="0" normalizeH="0" baseline="0" noProof="0" dirty="0">
              <a:ln>
                <a:noFill/>
              </a:ln>
              <a:solidFill>
                <a:srgbClr val="000000"/>
              </a:solidFill>
              <a:effectLst/>
              <a:uLnTx/>
              <a:uFillTx/>
              <a:latin typeface="Segoe UI Semibold"/>
              <a:ea typeface="+mn-ea"/>
              <a:cs typeface="+mn-cs"/>
            </a:endParaRPr>
          </a:p>
        </p:txBody>
      </p:sp>
      <p:sp>
        <p:nvSpPr>
          <p:cNvPr id="35" name="TextBox 34">
            <a:extLst>
              <a:ext uri="{FF2B5EF4-FFF2-40B4-BE49-F238E27FC236}">
                <a16:creationId xmlns:a16="http://schemas.microsoft.com/office/drawing/2014/main" id="{C8395AFA-C865-21DF-7A84-4ECE8494F3C4}"/>
              </a:ext>
            </a:extLst>
          </p:cNvPr>
          <p:cNvSpPr txBox="1"/>
          <p:nvPr/>
        </p:nvSpPr>
        <p:spPr>
          <a:xfrm>
            <a:off x="6224035" y="3890368"/>
            <a:ext cx="2383661" cy="677108"/>
          </a:xfrm>
          <a:prstGeom prst="rect">
            <a:avLst/>
          </a:prstGeom>
          <a:noFill/>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gradFill>
                  <a:gsLst>
                    <a:gs pos="52000">
                      <a:srgbClr val="593DA7"/>
                    </a:gs>
                    <a:gs pos="100000">
                      <a:srgbClr val="7030A0"/>
                    </a:gs>
                    <a:gs pos="0">
                      <a:srgbClr val="0070C0"/>
                    </a:gs>
                  </a:gsLst>
                  <a:lin ang="2700000" scaled="1"/>
                </a:gradFill>
                <a:effectLst/>
                <a:uLnTx/>
                <a:uFillTx/>
                <a:latin typeface="Segoe UI Semibold"/>
                <a:ea typeface="+mn-ea"/>
                <a:cs typeface="+mn-cs"/>
              </a:rPr>
              <a:t>Tailor your data, systems, and workflows via agents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gradFill>
                  <a:gsLst>
                    <a:gs pos="52000">
                      <a:srgbClr val="593DA7"/>
                    </a:gs>
                    <a:gs pos="100000">
                      <a:srgbClr val="7030A0"/>
                    </a:gs>
                    <a:gs pos="0">
                      <a:srgbClr val="0070C0"/>
                    </a:gs>
                  </a:gsLst>
                  <a:lin ang="2700000" scaled="1"/>
                </a:gradFill>
                <a:effectLst/>
                <a:uLnTx/>
                <a:uFillTx/>
                <a:latin typeface="Segoe UI Semibold"/>
                <a:ea typeface="+mn-ea"/>
                <a:cs typeface="+mn-cs"/>
              </a:rPr>
              <a:t>(Low-code agents or purchased AI apps and agents)</a:t>
            </a:r>
          </a:p>
        </p:txBody>
      </p:sp>
      <p:sp>
        <p:nvSpPr>
          <p:cNvPr id="36" name="TextBox 35">
            <a:extLst>
              <a:ext uri="{FF2B5EF4-FFF2-40B4-BE49-F238E27FC236}">
                <a16:creationId xmlns:a16="http://schemas.microsoft.com/office/drawing/2014/main" id="{74DA14D6-5779-A9FE-105D-339F0D79B923}"/>
              </a:ext>
            </a:extLst>
          </p:cNvPr>
          <p:cNvSpPr txBox="1"/>
          <p:nvPr/>
        </p:nvSpPr>
        <p:spPr>
          <a:xfrm>
            <a:off x="7202505" y="3145657"/>
            <a:ext cx="426720"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Segoe UI"/>
                <a:ea typeface="+mn-ea"/>
                <a:cs typeface="+mn-cs"/>
              </a:rPr>
              <a:t>3</a:t>
            </a:r>
          </a:p>
        </p:txBody>
      </p:sp>
      <p:pic>
        <p:nvPicPr>
          <p:cNvPr id="67" name="Picture 66">
            <a:extLst>
              <a:ext uri="{FF2B5EF4-FFF2-40B4-BE49-F238E27FC236}">
                <a16:creationId xmlns:a16="http://schemas.microsoft.com/office/drawing/2014/main" id="{B571EBC8-A462-D319-C57C-12F5E7CAC6CD}"/>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44249" y="2230868"/>
            <a:ext cx="2383661" cy="3591243"/>
          </a:xfrm>
          <a:prstGeom prst="roundRect">
            <a:avLst>
              <a:gd name="adj" fmla="val 3266"/>
            </a:avLst>
          </a:prstGeom>
          <a:solidFill>
            <a:srgbClr val="FFFFFF">
              <a:alpha val="85098"/>
            </a:srgbClr>
          </a:solidFill>
          <a:ln w="6350" cap="flat" cmpd="sng" algn="ctr">
            <a:solidFill>
              <a:schemeClr val="bg1">
                <a:lumMod val="95000"/>
              </a:schemeClr>
            </a:solidFill>
            <a:prstDash val="solid"/>
            <a:headEnd type="none" w="med" len="med"/>
            <a:tailEnd type="none" w="med" len="med"/>
          </a:ln>
          <a:effectLst>
            <a:outerShdw blurRad="127000" dist="127000" dir="2700000" algn="tl" rotWithShape="0">
              <a:prstClr val="black">
                <a:alpha val="20000"/>
              </a:prstClr>
            </a:outerShdw>
          </a:effectLst>
        </p:spPr>
      </p:pic>
      <p:sp>
        <p:nvSpPr>
          <p:cNvPr id="68" name="Rectangle 67">
            <a:extLst>
              <a:ext uri="{FF2B5EF4-FFF2-40B4-BE49-F238E27FC236}">
                <a16:creationId xmlns:a16="http://schemas.microsoft.com/office/drawing/2014/main" id="{E0F5EFAE-776F-44E9-5CDE-128AF8C9EDE8}"/>
              </a:ext>
            </a:extLst>
          </p:cNvPr>
          <p:cNvSpPr/>
          <p:nvPr/>
        </p:nvSpPr>
        <p:spPr bwMode="auto">
          <a:xfrm>
            <a:off x="1044249" y="2370772"/>
            <a:ext cx="2383661" cy="462547"/>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ct val="20000"/>
              </a:spcBef>
              <a:spcAft>
                <a:spcPts val="0"/>
              </a:spcAft>
              <a:buClrTx/>
              <a:buSzPct val="90000"/>
              <a:buFontTx/>
              <a:buNone/>
              <a:tabLst/>
              <a:defRPr/>
            </a:pPr>
            <a:r>
              <a:rPr kumimoji="0" lang="en-US" sz="1800" b="0" i="0" u="none" strike="noStrike" kern="1200" cap="none" spc="0" normalizeH="0" baseline="0" noProof="0" dirty="0">
                <a:ln>
                  <a:noFill/>
                </a:ln>
                <a:gradFill>
                  <a:gsLst>
                    <a:gs pos="35000">
                      <a:srgbClr val="0078D4"/>
                    </a:gs>
                    <a:gs pos="0">
                      <a:srgbClr val="C03BC4"/>
                    </a:gs>
                  </a:gsLst>
                  <a:path path="circle">
                    <a:fillToRect l="100000" t="100000"/>
                  </a:path>
                </a:gradFill>
                <a:effectLst/>
                <a:uLnTx/>
                <a:uFillTx/>
                <a:latin typeface="Segoe UI Semibold"/>
                <a:ea typeface="+mn-ea"/>
                <a:cs typeface="Segoe UI Semibold" panose="020B0702040204020203" pitchFamily="34" charset="0"/>
              </a:rPr>
              <a:t>Start</a:t>
            </a:r>
            <a:endParaRPr kumimoji="0" lang="en-US" sz="14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69" name="Rectangle 68">
            <a:extLst>
              <a:ext uri="{FF2B5EF4-FFF2-40B4-BE49-F238E27FC236}">
                <a16:creationId xmlns:a16="http://schemas.microsoft.com/office/drawing/2014/main" id="{0D21CDE8-32BC-BAD9-85ED-3A5A224F82B0}"/>
              </a:ext>
            </a:extLst>
          </p:cNvPr>
          <p:cNvSpPr>
            <a:spLocks/>
          </p:cNvSpPr>
          <p:nvPr/>
        </p:nvSpPr>
        <p:spPr bwMode="auto">
          <a:xfrm>
            <a:off x="1044249" y="4636533"/>
            <a:ext cx="2383661" cy="1049892"/>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171450" marR="0" lvl="0" indent="-171450" algn="l" defTabSz="932472" rtl="0" eaLnBrk="1" fontAlgn="base" latinLnBrk="0" hangingPunct="1">
              <a:lnSpc>
                <a:spcPct val="100000"/>
              </a:lnSpc>
              <a:spcBef>
                <a:spcPts val="60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Segoe UI"/>
                <a:ea typeface="+mn-ea"/>
                <a:cs typeface="+mn-cs"/>
              </a:rPr>
              <a:t>Microsoft 365 Copilot Chat</a:t>
            </a:r>
          </a:p>
          <a:p>
            <a:pPr marL="171450" marR="0" lvl="0" indent="-171450" algn="l" defTabSz="932472" rtl="0" eaLnBrk="1" fontAlgn="base" latinLnBrk="0" hangingPunct="1">
              <a:lnSpc>
                <a:spcPct val="100000"/>
              </a:lnSpc>
              <a:spcBef>
                <a:spcPts val="60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Segoe UI"/>
                <a:ea typeface="+mn-ea"/>
                <a:cs typeface="+mn-cs"/>
              </a:rPr>
              <a:t>Web-grounded agents</a:t>
            </a:r>
          </a:p>
        </p:txBody>
      </p:sp>
      <p:sp>
        <p:nvSpPr>
          <p:cNvPr id="70" name="TextBox 69">
            <a:extLst>
              <a:ext uri="{FF2B5EF4-FFF2-40B4-BE49-F238E27FC236}">
                <a16:creationId xmlns:a16="http://schemas.microsoft.com/office/drawing/2014/main" id="{54D29E12-4AF2-0B91-6B55-DFC4772E4D58}"/>
              </a:ext>
            </a:extLst>
          </p:cNvPr>
          <p:cNvSpPr txBox="1"/>
          <p:nvPr/>
        </p:nvSpPr>
        <p:spPr>
          <a:xfrm>
            <a:off x="1044249" y="3975006"/>
            <a:ext cx="2383661" cy="507831"/>
          </a:xfrm>
          <a:prstGeom prst="rect">
            <a:avLst/>
          </a:prstGeom>
          <a:noFill/>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gradFill>
                  <a:gsLst>
                    <a:gs pos="52000">
                      <a:srgbClr val="593DA7"/>
                    </a:gs>
                    <a:gs pos="100000">
                      <a:srgbClr val="7030A0"/>
                    </a:gs>
                    <a:gs pos="0">
                      <a:srgbClr val="0070C0"/>
                    </a:gs>
                  </a:gsLst>
                  <a:lin ang="2700000" scaled="1"/>
                </a:gradFill>
                <a:effectLst/>
                <a:uLnTx/>
                <a:uFillTx/>
                <a:latin typeface="Segoe UI Semibold"/>
                <a:ea typeface="+mn-ea"/>
                <a:cs typeface="+mn-cs"/>
              </a:rPr>
              <a:t>Your first step into generative AI (Included in Microsoft 365)</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gradFill>
                <a:gsLst>
                  <a:gs pos="52000">
                    <a:srgbClr val="593DA7"/>
                  </a:gs>
                  <a:gs pos="100000">
                    <a:srgbClr val="7030A0"/>
                  </a:gs>
                  <a:gs pos="0">
                    <a:srgbClr val="0070C0"/>
                  </a:gs>
                </a:gsLst>
                <a:lin ang="2700000" scaled="1"/>
              </a:gradFill>
              <a:effectLst/>
              <a:uLnTx/>
              <a:uFillTx/>
              <a:latin typeface="Segoe UI Semibold"/>
              <a:ea typeface="+mn-ea"/>
              <a:cs typeface="+mn-cs"/>
            </a:endParaRPr>
          </a:p>
        </p:txBody>
      </p:sp>
      <p:sp>
        <p:nvSpPr>
          <p:cNvPr id="71" name="Arc 70">
            <a:extLst>
              <a:ext uri="{FF2B5EF4-FFF2-40B4-BE49-F238E27FC236}">
                <a16:creationId xmlns:a16="http://schemas.microsoft.com/office/drawing/2014/main" id="{551E9954-DAA9-A9D8-1F25-28442EA091A3}"/>
              </a:ext>
              <a:ext uri="{C183D7F6-B498-43B3-948B-1728B52AA6E4}">
                <adec:decorative xmlns:adec="http://schemas.microsoft.com/office/drawing/2017/decorative" val="1"/>
              </a:ext>
            </a:extLst>
          </p:cNvPr>
          <p:cNvSpPr>
            <a:spLocks/>
          </p:cNvSpPr>
          <p:nvPr/>
        </p:nvSpPr>
        <p:spPr>
          <a:xfrm>
            <a:off x="1903571" y="3043981"/>
            <a:ext cx="665017" cy="665017"/>
          </a:xfrm>
          <a:prstGeom prst="arc">
            <a:avLst>
              <a:gd name="adj1" fmla="val 16262667"/>
              <a:gd name="adj2" fmla="val 85198"/>
            </a:avLst>
          </a:prstGeom>
          <a:noFill/>
          <a:ln w="19050" cap="rnd" cmpd="sng" algn="ctr">
            <a:solidFill>
              <a:srgbClr val="7030A0"/>
            </a:solidFill>
            <a:prstDash val="solid"/>
            <a:headEnd type="none" w="lg" len="med"/>
            <a:tailEnd type="none" w="lg" len="med"/>
          </a:ln>
          <a:effectLst/>
        </p:spPr>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dirty="0">
              <a:ln>
                <a:noFill/>
              </a:ln>
              <a:solidFill>
                <a:srgbClr val="000000"/>
              </a:solidFill>
              <a:effectLst/>
              <a:uLnTx/>
              <a:uFillTx/>
              <a:latin typeface="Segoe UI"/>
              <a:ea typeface="+mn-ea"/>
              <a:cs typeface="+mn-cs"/>
            </a:endParaRPr>
          </a:p>
        </p:txBody>
      </p:sp>
      <p:sp>
        <p:nvSpPr>
          <p:cNvPr id="75" name="TextBox 74">
            <a:extLst>
              <a:ext uri="{FF2B5EF4-FFF2-40B4-BE49-F238E27FC236}">
                <a16:creationId xmlns:a16="http://schemas.microsoft.com/office/drawing/2014/main" id="{60CFB97A-3BEC-0AC5-3269-6992F910B89C}"/>
              </a:ext>
            </a:extLst>
          </p:cNvPr>
          <p:cNvSpPr txBox="1"/>
          <p:nvPr/>
        </p:nvSpPr>
        <p:spPr>
          <a:xfrm>
            <a:off x="2022719" y="3145657"/>
            <a:ext cx="426720"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Segoe UI"/>
                <a:ea typeface="+mn-ea"/>
                <a:cs typeface="+mn-cs"/>
              </a:rPr>
              <a:t>1</a:t>
            </a:r>
          </a:p>
        </p:txBody>
      </p:sp>
      <p:sp>
        <p:nvSpPr>
          <p:cNvPr id="16" name="Arc 15">
            <a:extLst>
              <a:ext uri="{FF2B5EF4-FFF2-40B4-BE49-F238E27FC236}">
                <a16:creationId xmlns:a16="http://schemas.microsoft.com/office/drawing/2014/main" id="{BC536F31-1C17-A480-8866-B9F624BCFCB5}"/>
              </a:ext>
              <a:ext uri="{C183D7F6-B498-43B3-948B-1728B52AA6E4}">
                <adec:decorative xmlns:adec="http://schemas.microsoft.com/office/drawing/2017/decorative" val="1"/>
              </a:ext>
            </a:extLst>
          </p:cNvPr>
          <p:cNvSpPr>
            <a:spLocks/>
          </p:cNvSpPr>
          <p:nvPr/>
        </p:nvSpPr>
        <p:spPr>
          <a:xfrm>
            <a:off x="4453575" y="3043981"/>
            <a:ext cx="665017" cy="665017"/>
          </a:xfrm>
          <a:prstGeom prst="arc">
            <a:avLst>
              <a:gd name="adj1" fmla="val 16181814"/>
              <a:gd name="adj2" fmla="val 5375074"/>
            </a:avLst>
          </a:prstGeom>
          <a:noFill/>
          <a:ln w="19050" cap="rnd" cmpd="sng" algn="ctr">
            <a:solidFill>
              <a:srgbClr val="7030A0"/>
            </a:solidFill>
            <a:prstDash val="solid"/>
            <a:headEnd type="none" w="lg" len="med"/>
            <a:tailEnd type="none" w="lg" len="med"/>
          </a:ln>
          <a:effectLst/>
        </p:spPr>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dirty="0">
              <a:ln>
                <a:noFill/>
              </a:ln>
              <a:solidFill>
                <a:srgbClr val="000000"/>
              </a:solidFill>
              <a:effectLst/>
              <a:uLnTx/>
              <a:uFillTx/>
              <a:latin typeface="Segoe UI"/>
              <a:ea typeface="+mn-ea"/>
              <a:cs typeface="+mn-cs"/>
            </a:endParaRPr>
          </a:p>
        </p:txBody>
      </p:sp>
      <p:pic>
        <p:nvPicPr>
          <p:cNvPr id="2" name="Picture 1">
            <a:extLst>
              <a:ext uri="{FF2B5EF4-FFF2-40B4-BE49-F238E27FC236}">
                <a16:creationId xmlns:a16="http://schemas.microsoft.com/office/drawing/2014/main" id="{091E2289-6CF8-B55E-3E57-D240EDD39C91}"/>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985146" y="2225949"/>
            <a:ext cx="2383661" cy="3591243"/>
          </a:xfrm>
          <a:prstGeom prst="roundRect">
            <a:avLst>
              <a:gd name="adj" fmla="val 3266"/>
            </a:avLst>
          </a:prstGeom>
          <a:solidFill>
            <a:srgbClr val="FFFFFF">
              <a:alpha val="85098"/>
            </a:srgbClr>
          </a:solidFill>
          <a:ln w="6350" cap="flat" cmpd="sng" algn="ctr">
            <a:solidFill>
              <a:schemeClr val="bg1">
                <a:lumMod val="95000"/>
              </a:schemeClr>
            </a:solidFill>
            <a:prstDash val="solid"/>
            <a:headEnd type="none" w="med" len="med"/>
            <a:tailEnd type="none" w="med" len="med"/>
          </a:ln>
          <a:effectLst>
            <a:outerShdw blurRad="127000" dist="127000" dir="2700000" algn="tl" rotWithShape="0">
              <a:prstClr val="black">
                <a:alpha val="20000"/>
              </a:prstClr>
            </a:outerShdw>
          </a:effectLst>
        </p:spPr>
      </p:pic>
      <p:sp>
        <p:nvSpPr>
          <p:cNvPr id="7" name="Rectangle 6">
            <a:extLst>
              <a:ext uri="{FF2B5EF4-FFF2-40B4-BE49-F238E27FC236}">
                <a16:creationId xmlns:a16="http://schemas.microsoft.com/office/drawing/2014/main" id="{E090F020-7EDB-9E00-2FBB-9B9F96B9FC88}"/>
              </a:ext>
            </a:extLst>
          </p:cNvPr>
          <p:cNvSpPr/>
          <p:nvPr/>
        </p:nvSpPr>
        <p:spPr bwMode="auto">
          <a:xfrm>
            <a:off x="8985146" y="2370772"/>
            <a:ext cx="2383661" cy="462547"/>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ct val="20000"/>
              </a:spcBef>
              <a:spcAft>
                <a:spcPts val="0"/>
              </a:spcAft>
              <a:buClrTx/>
              <a:buSzPct val="90000"/>
              <a:buFontTx/>
              <a:buNone/>
              <a:tabLst/>
              <a:defRPr/>
            </a:pPr>
            <a:r>
              <a:rPr kumimoji="0" lang="en-US" sz="1800" b="0" i="0" u="none" strike="noStrike" kern="1200" cap="none" spc="0" normalizeH="0" baseline="0" noProof="0" dirty="0">
                <a:ln>
                  <a:noFill/>
                </a:ln>
                <a:gradFill>
                  <a:gsLst>
                    <a:gs pos="35000">
                      <a:srgbClr val="0078D4"/>
                    </a:gs>
                    <a:gs pos="0">
                      <a:srgbClr val="C03BC4"/>
                    </a:gs>
                  </a:gsLst>
                  <a:path path="circle">
                    <a:fillToRect l="100000" t="100000"/>
                  </a:path>
                </a:gradFill>
                <a:effectLst/>
                <a:uLnTx/>
                <a:uFillTx/>
                <a:latin typeface="Segoe UI Semibold"/>
                <a:ea typeface="+mn-ea"/>
                <a:cs typeface="Segoe UI Semibold" panose="020B0702040204020203" pitchFamily="34" charset="0"/>
              </a:rPr>
              <a:t>Build</a:t>
            </a:r>
          </a:p>
        </p:txBody>
      </p:sp>
      <p:sp>
        <p:nvSpPr>
          <p:cNvPr id="8" name="Rectangle 7">
            <a:extLst>
              <a:ext uri="{FF2B5EF4-FFF2-40B4-BE49-F238E27FC236}">
                <a16:creationId xmlns:a16="http://schemas.microsoft.com/office/drawing/2014/main" id="{B7D1CA22-331B-C0A6-9536-D8F04A9B22A5}"/>
              </a:ext>
            </a:extLst>
          </p:cNvPr>
          <p:cNvSpPr>
            <a:spLocks/>
          </p:cNvSpPr>
          <p:nvPr/>
        </p:nvSpPr>
        <p:spPr bwMode="auto">
          <a:xfrm>
            <a:off x="8985146" y="4636533"/>
            <a:ext cx="2383661" cy="1049892"/>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Segoe UI"/>
                <a:ea typeface="+mn-ea"/>
                <a:cs typeface="+mn-cs"/>
              </a:rPr>
              <a:t>Copilot Studio</a:t>
            </a:r>
          </a:p>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Segoe UI"/>
                <a:ea typeface="+mn-ea"/>
                <a:cs typeface="+mn-cs"/>
              </a:rPr>
              <a:t>Azure AI Foundry</a:t>
            </a:r>
          </a:p>
          <a:p>
            <a:pPr marL="0" marR="0" lvl="0" indent="0" algn="ctr" defTabSz="914400" rtl="0" eaLnBrk="1" fontAlgn="auto" latinLnBrk="0" hangingPunct="1">
              <a:lnSpc>
                <a:spcPct val="100000"/>
              </a:lnSpc>
              <a:spcBef>
                <a:spcPts val="600"/>
              </a:spcBef>
              <a:spcAft>
                <a:spcPts val="0"/>
              </a:spcAft>
              <a:buClrTx/>
              <a:buSzTx/>
              <a:buFontTx/>
              <a:buNone/>
              <a:tabLst/>
              <a:defRPr/>
            </a:pPr>
            <a:endParaRPr kumimoji="0" lang="en-US" sz="1100" b="0" i="0" u="none" strike="noStrike" kern="1200" cap="none" spc="0" normalizeH="0" baseline="0" noProof="0" dirty="0">
              <a:ln>
                <a:noFill/>
              </a:ln>
              <a:solidFill>
                <a:srgbClr val="000000"/>
              </a:solidFill>
              <a:effectLst/>
              <a:uLnTx/>
              <a:uFillTx/>
              <a:latin typeface="Segoe UI Semibold"/>
              <a:ea typeface="+mn-ea"/>
              <a:cs typeface="+mn-cs"/>
            </a:endParaRPr>
          </a:p>
        </p:txBody>
      </p:sp>
      <p:sp>
        <p:nvSpPr>
          <p:cNvPr id="9" name="TextBox 8">
            <a:extLst>
              <a:ext uri="{FF2B5EF4-FFF2-40B4-BE49-F238E27FC236}">
                <a16:creationId xmlns:a16="http://schemas.microsoft.com/office/drawing/2014/main" id="{A3C62E3F-75FE-AC1C-E5B1-FA90BD6F280B}"/>
              </a:ext>
            </a:extLst>
          </p:cNvPr>
          <p:cNvSpPr txBox="1"/>
          <p:nvPr/>
        </p:nvSpPr>
        <p:spPr>
          <a:xfrm>
            <a:off x="8985146" y="3975006"/>
            <a:ext cx="2383661" cy="338554"/>
          </a:xfrm>
          <a:prstGeom prst="rect">
            <a:avLst/>
          </a:prstGeom>
          <a:noFill/>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gradFill>
                  <a:gsLst>
                    <a:gs pos="52000">
                      <a:srgbClr val="593DA7"/>
                    </a:gs>
                    <a:gs pos="100000">
                      <a:srgbClr val="7030A0"/>
                    </a:gs>
                    <a:gs pos="0">
                      <a:srgbClr val="0070C0"/>
                    </a:gs>
                  </a:gsLst>
                  <a:lin ang="2700000" scaled="1"/>
                </a:gradFill>
                <a:effectLst/>
                <a:uLnTx/>
                <a:uFillTx/>
                <a:latin typeface="Segoe UI Semibold"/>
                <a:ea typeface="+mn-ea"/>
                <a:cs typeface="+mn-cs"/>
              </a:rPr>
              <a:t>Build AI-driven applications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gradFill>
                  <a:gsLst>
                    <a:gs pos="52000">
                      <a:srgbClr val="593DA7"/>
                    </a:gs>
                    <a:gs pos="100000">
                      <a:srgbClr val="7030A0"/>
                    </a:gs>
                    <a:gs pos="0">
                      <a:srgbClr val="0070C0"/>
                    </a:gs>
                  </a:gsLst>
                  <a:lin ang="2700000" scaled="1"/>
                </a:gradFill>
                <a:effectLst/>
                <a:uLnTx/>
                <a:uFillTx/>
                <a:latin typeface="Segoe UI Semibold"/>
                <a:ea typeface="+mn-ea"/>
                <a:cs typeface="+mn-cs"/>
              </a:rPr>
              <a:t>(Pro-code agents and apps)</a:t>
            </a:r>
          </a:p>
        </p:txBody>
      </p:sp>
      <p:sp>
        <p:nvSpPr>
          <p:cNvPr id="17" name="TextBox 16">
            <a:extLst>
              <a:ext uri="{FF2B5EF4-FFF2-40B4-BE49-F238E27FC236}">
                <a16:creationId xmlns:a16="http://schemas.microsoft.com/office/drawing/2014/main" id="{FE65CF3D-8C99-B066-0D4E-2AF8C9A660B3}"/>
              </a:ext>
            </a:extLst>
          </p:cNvPr>
          <p:cNvSpPr txBox="1"/>
          <p:nvPr/>
        </p:nvSpPr>
        <p:spPr>
          <a:xfrm>
            <a:off x="9963616" y="3145657"/>
            <a:ext cx="426720"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Segoe UI"/>
                <a:ea typeface="+mn-ea"/>
                <a:cs typeface="+mn-cs"/>
              </a:rPr>
              <a:t>4</a:t>
            </a:r>
          </a:p>
        </p:txBody>
      </p:sp>
      <p:sp>
        <p:nvSpPr>
          <p:cNvPr id="18" name="Oval 17">
            <a:extLst>
              <a:ext uri="{FF2B5EF4-FFF2-40B4-BE49-F238E27FC236}">
                <a16:creationId xmlns:a16="http://schemas.microsoft.com/office/drawing/2014/main" id="{7EF401AD-3A2B-34FA-2F6E-1641D26BB92B}"/>
              </a:ext>
              <a:ext uri="{C183D7F6-B498-43B3-948B-1728B52AA6E4}">
                <adec:decorative xmlns:adec="http://schemas.microsoft.com/office/drawing/2017/decorative" val="1"/>
              </a:ext>
            </a:extLst>
          </p:cNvPr>
          <p:cNvSpPr>
            <a:spLocks/>
          </p:cNvSpPr>
          <p:nvPr/>
        </p:nvSpPr>
        <p:spPr>
          <a:xfrm>
            <a:off x="9844468" y="3043981"/>
            <a:ext cx="665017" cy="665017"/>
          </a:xfrm>
          <a:prstGeom prst="ellipse">
            <a:avLst/>
          </a:prstGeom>
          <a:noFill/>
          <a:ln w="19050" cap="rnd" cmpd="sng" algn="ctr">
            <a:solidFill>
              <a:srgbClr val="7030A0"/>
            </a:solidFill>
            <a:prstDash val="solid"/>
            <a:headEnd type="none" w="lg" len="med"/>
            <a:tailEnd type="none" w="lg" len="med"/>
          </a:ln>
          <a:effectLst/>
        </p:spPr>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dirty="0">
              <a:ln>
                <a:noFill/>
              </a:ln>
              <a:solidFill>
                <a:srgbClr val="000000"/>
              </a:solidFill>
              <a:effectLst/>
              <a:uLnTx/>
              <a:uFillTx/>
              <a:latin typeface="Segoe UI"/>
              <a:ea typeface="+mn-ea"/>
              <a:cs typeface="+mn-cs"/>
            </a:endParaRPr>
          </a:p>
        </p:txBody>
      </p:sp>
      <p:pic>
        <p:nvPicPr>
          <p:cNvPr id="1028" name="Picture 4" descr="Azure AI Studio - Pricing | Microsoft Azure">
            <a:extLst>
              <a:ext uri="{FF2B5EF4-FFF2-40B4-BE49-F238E27FC236}">
                <a16:creationId xmlns:a16="http://schemas.microsoft.com/office/drawing/2014/main" id="{FFB7A2B8-43EE-0C2B-09A0-5E462B7C9E9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38011" y="1396006"/>
            <a:ext cx="1575489" cy="827132"/>
          </a:xfrm>
          <a:prstGeom prst="rect">
            <a:avLst/>
          </a:prstGeom>
          <a:noFill/>
          <a:extLst>
            <a:ext uri="{909E8E84-426E-40DD-AFC4-6F175D3DCCD1}">
              <a14:hiddenFill xmlns:a14="http://schemas.microsoft.com/office/drawing/2010/main">
                <a:solidFill>
                  <a:srgbClr val="FFFFFF"/>
                </a:solidFill>
              </a14:hiddenFill>
            </a:ext>
          </a:extLst>
        </p:spPr>
      </p:pic>
      <p:sp>
        <p:nvSpPr>
          <p:cNvPr id="25" name="Arc 24">
            <a:extLst>
              <a:ext uri="{FF2B5EF4-FFF2-40B4-BE49-F238E27FC236}">
                <a16:creationId xmlns:a16="http://schemas.microsoft.com/office/drawing/2014/main" id="{D9FC6D99-EFD4-CBE4-606C-1A1135A704E0}"/>
              </a:ext>
              <a:ext uri="{C183D7F6-B498-43B3-948B-1728B52AA6E4}">
                <adec:decorative xmlns:adec="http://schemas.microsoft.com/office/drawing/2017/decorative" val="1"/>
              </a:ext>
            </a:extLst>
          </p:cNvPr>
          <p:cNvSpPr>
            <a:spLocks/>
          </p:cNvSpPr>
          <p:nvPr/>
        </p:nvSpPr>
        <p:spPr>
          <a:xfrm>
            <a:off x="7083357" y="3043981"/>
            <a:ext cx="665017" cy="665017"/>
          </a:xfrm>
          <a:prstGeom prst="arc">
            <a:avLst>
              <a:gd name="adj1" fmla="val 16276073"/>
              <a:gd name="adj2" fmla="val 10891520"/>
            </a:avLst>
          </a:prstGeom>
          <a:noFill/>
          <a:ln w="19050" cap="rnd" cmpd="sng" algn="ctr">
            <a:solidFill>
              <a:srgbClr val="7030A0"/>
            </a:solidFill>
            <a:prstDash val="solid"/>
            <a:headEnd type="none" w="lg" len="med"/>
            <a:tailEnd type="none" w="lg" len="med"/>
          </a:ln>
          <a:effectLst/>
        </p:spPr>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dirty="0">
              <a:ln>
                <a:noFill/>
              </a:ln>
              <a:solidFill>
                <a:srgbClr val="000000"/>
              </a:solidFill>
              <a:effectLst/>
              <a:uLnTx/>
              <a:uFillTx/>
              <a:latin typeface="Segoe UI"/>
              <a:ea typeface="+mn-ea"/>
              <a:cs typeface="+mn-cs"/>
            </a:endParaRPr>
          </a:p>
        </p:txBody>
      </p:sp>
      <p:pic>
        <p:nvPicPr>
          <p:cNvPr id="5" name="Picture 4" descr="Microsoft Copilot Studio Pricing 2025: Is it Worth It?">
            <a:extLst>
              <a:ext uri="{FF2B5EF4-FFF2-40B4-BE49-F238E27FC236}">
                <a16:creationId xmlns:a16="http://schemas.microsoft.com/office/drawing/2014/main" id="{91234ABE-566A-7AB8-1915-4348147A9700}"/>
              </a:ext>
            </a:extLst>
          </p:cNvPr>
          <p:cNvPicPr>
            <a:picLocks noChangeAspect="1" noChangeArrowheads="1"/>
          </p:cNvPicPr>
          <p:nvPr/>
        </p:nvPicPr>
        <p:blipFill>
          <a:blip r:embed="rId6">
            <a:extLst>
              <a:ext uri="{BEBA8EAE-BF5A-486C-A8C5-ECC9F3942E4B}">
                <a14:imgProps xmlns:a14="http://schemas.microsoft.com/office/drawing/2010/main">
                  <a14:imgLayer r:embed="rId7">
                    <a14:imgEffect>
                      <a14:backgroundRemoval t="7778" b="92778" l="1111" r="97778">
                        <a14:foregroundMark x1="175" y1="50726" x2="1667" y2="71111"/>
                        <a14:foregroundMark x1="1667" y1="71111" x2="5000" y2="81111"/>
                        <a14:foregroundMark x1="5000" y1="81111" x2="14006" y2="83684"/>
                        <a14:foregroundMark x1="71924" y1="85379" x2="71111" y2="82778"/>
                        <a14:foregroundMark x1="71111" y1="82778" x2="21667" y2="46111"/>
                        <a14:foregroundMark x1="21667" y1="46111" x2="16169" y2="44737"/>
                        <a14:foregroundMark x1="27778" y1="10556" x2="62778" y2="7222"/>
                        <a14:foregroundMark x1="62778" y1="7222" x2="72778" y2="7778"/>
                        <a14:foregroundMark x1="72778" y1="7778" x2="40000" y2="13333"/>
                        <a14:foregroundMark x1="40000" y1="13333" x2="30000" y2="11667"/>
                        <a14:foregroundMark x1="30000" y1="11667" x2="28889" y2="10556"/>
                        <a14:foregroundMark x1="81976" y1="15943" x2="83333" y2="16667"/>
                        <a14:foregroundMark x1="81398" y1="15635" x2="81561" y2="15722"/>
                        <a14:foregroundMark x1="83333" y1="16667" x2="93333" y2="18333"/>
                        <a14:foregroundMark x1="93333" y1="18333" x2="99444" y2="21111"/>
                        <a14:foregroundMark x1="99444" y1="21111" x2="98333" y2="56667"/>
                        <a14:foregroundMark x1="91887" y1="57778" x2="82222" y2="59444"/>
                        <a14:foregroundMark x1="82222" y1="59444" x2="74444" y2="58333"/>
                        <a14:foregroundMark x1="74444" y1="58333" x2="63333" y2="31667"/>
                        <a14:foregroundMark x1="63333" y1="31667" x2="64444" y2="16667"/>
                        <a14:foregroundMark x1="64444" y1="16667" x2="69444" y2="11667"/>
                        <a14:foregroundMark x1="69444" y1="11667" x2="74977" y2="11667"/>
                        <a14:foregroundMark x1="685" y1="50604" x2="1111" y2="72778"/>
                        <a14:foregroundMark x1="1111" y1="72778" x2="3889" y2="81667"/>
                        <a14:foregroundMark x1="3889" y1="81667" x2="10556" y2="75000"/>
                        <a14:foregroundMark x1="10556" y1="75000" x2="10556" y2="51667"/>
                        <a14:foregroundMark x1="10556" y1="51667" x2="9830" y2="48945"/>
                        <a14:foregroundMark x1="531" y1="50641" x2="0" y2="76111"/>
                        <a14:foregroundMark x1="0" y1="76111" x2="5000" y2="50000"/>
                        <a14:foregroundMark x1="5000" y1="50000" x2="4924" y2="49791"/>
                        <a14:foregroundMark x1="25725" y1="92837" x2="26239" y2="93017"/>
                        <a14:foregroundMark x1="2684" y1="42942" x2="1667" y2="43333"/>
                        <a14:foregroundMark x1="1667" y1="43333" x2="2437" y2="43372"/>
                        <a14:foregroundMark x1="2262" y1="43677" x2="1111" y2="44444"/>
                        <a14:foregroundMark x1="65556" y1="91111" x2="71903" y2="89646"/>
                        <a14:foregroundMark x1="71870" y1="89609" x2="66667" y2="90556"/>
                        <a14:foregroundMark x1="73148" y1="88889" x2="73014" y2="89090"/>
                        <a14:backgroundMark x1="75556" y1="11111" x2="81111" y2="15000"/>
                        <a14:backgroundMark x1="81111" y1="15000" x2="76667" y2="11667"/>
                        <a14:backgroundMark x1="81667" y1="15556" x2="82222" y2="15556"/>
                        <a14:backgroundMark x1="98333" y1="56667" x2="98333" y2="57778"/>
                        <a14:backgroundMark x1="64854" y1="92372" x2="63889" y2="92778"/>
                        <a14:backgroundMark x1="63889" y1="92778" x2="28333" y2="96111"/>
                        <a14:backgroundMark x1="25556" y1="94444" x2="25556" y2="91667"/>
                        <a14:backgroundMark x1="24444" y1="90000" x2="17778" y2="85000"/>
                        <a14:backgroundMark x1="17778" y1="85000" x2="14444" y2="84444"/>
                        <a14:backgroundMark x1="74444" y1="87778" x2="74444" y2="88889"/>
                        <a14:backgroundMark x1="73333" y1="89444" x2="72222" y2="90000"/>
                        <a14:backgroundMark x1="556" y1="43889" x2="1667" y2="42778"/>
                        <a14:backgroundMark x1="2778" y1="42778" x2="18889" y2="40000"/>
                      </a14:backgroundRemoval>
                    </a14:imgEffect>
                  </a14:imgLayer>
                </a14:imgProps>
              </a:ext>
              <a:ext uri="{28A0092B-C50C-407E-A947-70E740481C1C}">
                <a14:useLocalDpi xmlns:a14="http://schemas.microsoft.com/office/drawing/2010/main" val="0"/>
              </a:ext>
            </a:extLst>
          </a:blip>
          <a:srcRect/>
          <a:stretch>
            <a:fillRect/>
          </a:stretch>
        </p:blipFill>
        <p:spPr bwMode="auto">
          <a:xfrm>
            <a:off x="5789396" y="1522381"/>
            <a:ext cx="648221" cy="6482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60731765"/>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0989251-49BF-143B-CC48-F95711E4A26C}"/>
              </a:ext>
            </a:extLst>
          </p:cNvPr>
          <p:cNvSpPr>
            <a:spLocks noGrp="1"/>
          </p:cNvSpPr>
          <p:nvPr>
            <p:ph type="title"/>
          </p:nvPr>
        </p:nvSpPr>
        <p:spPr>
          <a:xfrm>
            <a:off x="588264" y="3243302"/>
            <a:ext cx="4733036" cy="1107996"/>
          </a:xfrm>
        </p:spPr>
        <p:txBody>
          <a:bodyPr/>
          <a:lstStyle/>
          <a:p>
            <a:r>
              <a:rPr lang="en-US" noProof="0" dirty="0"/>
              <a:t>AI use cases for</a:t>
            </a:r>
            <a:br>
              <a:rPr lang="en-US" noProof="0" dirty="0"/>
            </a:br>
            <a:r>
              <a:rPr lang="en-US" noProof="0" dirty="0">
                <a:gradFill>
                  <a:gsLst>
                    <a:gs pos="35000">
                      <a:srgbClr val="0078D4"/>
                    </a:gs>
                    <a:gs pos="0">
                      <a:srgbClr val="C03BC4"/>
                    </a:gs>
                  </a:gsLst>
                  <a:path path="circle">
                    <a:fillToRect l="100000" t="100000"/>
                  </a:path>
                </a:gradFill>
              </a:rPr>
              <a:t>Finance</a:t>
            </a:r>
          </a:p>
        </p:txBody>
      </p:sp>
      <p:pic>
        <p:nvPicPr>
          <p:cNvPr id="6" name="Picture 5" descr="A rainbow colored logo on a black background&#10;&#10;Description automatically generated">
            <a:extLst>
              <a:ext uri="{FF2B5EF4-FFF2-40B4-BE49-F238E27FC236}">
                <a16:creationId xmlns:a16="http://schemas.microsoft.com/office/drawing/2014/main" id="{9993DC62-4060-2762-A3B2-8A5A3417E38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585165" y="1881533"/>
            <a:ext cx="1166467" cy="1166467"/>
          </a:xfrm>
          <a:prstGeom prst="rect">
            <a:avLst/>
          </a:prstGeom>
        </p:spPr>
      </p:pic>
      <p:pic>
        <p:nvPicPr>
          <p:cNvPr id="2" name="Picture 1">
            <a:extLst>
              <a:ext uri="{FF2B5EF4-FFF2-40B4-BE49-F238E27FC236}">
                <a16:creationId xmlns:a16="http://schemas.microsoft.com/office/drawing/2014/main" id="{014193A1-EB06-6E02-521D-0EA2CDA743C1}"/>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t="60" b="60"/>
          <a:stretch/>
        </p:blipFill>
        <p:spPr>
          <a:xfrm>
            <a:off x="6242050" y="895349"/>
            <a:ext cx="5086351" cy="5086351"/>
          </a:xfrm>
          <a:prstGeom prst="roundRect">
            <a:avLst>
              <a:gd name="adj" fmla="val 4674"/>
            </a:avLst>
          </a:prstGeom>
          <a:ln w="12700">
            <a:solidFill>
              <a:schemeClr val="bg1"/>
            </a:solidFill>
          </a:ln>
          <a:effectLst>
            <a:outerShdw blurRad="127000" dist="127000" dir="2700000" algn="tl" rotWithShape="0">
              <a:prstClr val="black">
                <a:alpha val="15000"/>
              </a:prstClr>
            </a:outerShdw>
          </a:effectLst>
        </p:spPr>
      </p:pic>
      <p:sp>
        <p:nvSpPr>
          <p:cNvPr id="3" name="Graphic 2">
            <a:hlinkClick r:id="rId4"/>
            <a:extLst>
              <a:ext uri="{FF2B5EF4-FFF2-40B4-BE49-F238E27FC236}">
                <a16:creationId xmlns:a16="http://schemas.microsoft.com/office/drawing/2014/main" id="{655647B1-CAB5-7101-7B25-86D3F882722F}"/>
              </a:ext>
            </a:extLst>
          </p:cNvPr>
          <p:cNvSpPr/>
          <p:nvPr/>
        </p:nvSpPr>
        <p:spPr>
          <a:xfrm>
            <a:off x="2726582" y="3991617"/>
            <a:ext cx="228200" cy="202844"/>
          </a:xfrm>
          <a:custGeom>
            <a:avLst/>
            <a:gdLst>
              <a:gd name="connsiteX0" fmla="*/ 41203 w 228200"/>
              <a:gd name="connsiteY0" fmla="*/ 0 h 202844"/>
              <a:gd name="connsiteX1" fmla="*/ 186997 w 228200"/>
              <a:gd name="connsiteY1" fmla="*/ 0 h 202844"/>
              <a:gd name="connsiteX2" fmla="*/ 228137 w 228200"/>
              <a:gd name="connsiteY2" fmla="*/ 38870 h 202844"/>
              <a:gd name="connsiteX3" fmla="*/ 228200 w 228200"/>
              <a:gd name="connsiteY3" fmla="*/ 41203 h 202844"/>
              <a:gd name="connsiteX4" fmla="*/ 228200 w 228200"/>
              <a:gd name="connsiteY4" fmla="*/ 161642 h 202844"/>
              <a:gd name="connsiteX5" fmla="*/ 189330 w 228200"/>
              <a:gd name="connsiteY5" fmla="*/ 202781 h 202844"/>
              <a:gd name="connsiteX6" fmla="*/ 186997 w 228200"/>
              <a:gd name="connsiteY6" fmla="*/ 202845 h 202844"/>
              <a:gd name="connsiteX7" fmla="*/ 41203 w 228200"/>
              <a:gd name="connsiteY7" fmla="*/ 202845 h 202844"/>
              <a:gd name="connsiteX8" fmla="*/ 63 w 228200"/>
              <a:gd name="connsiteY8" fmla="*/ 163975 h 202844"/>
              <a:gd name="connsiteX9" fmla="*/ 0 w 228200"/>
              <a:gd name="connsiteY9" fmla="*/ 161642 h 202844"/>
              <a:gd name="connsiteX10" fmla="*/ 0 w 228200"/>
              <a:gd name="connsiteY10" fmla="*/ 41203 h 202844"/>
              <a:gd name="connsiteX11" fmla="*/ 38870 w 228200"/>
              <a:gd name="connsiteY11" fmla="*/ 63 h 202844"/>
              <a:gd name="connsiteX12" fmla="*/ 41203 w 228200"/>
              <a:gd name="connsiteY12" fmla="*/ 0 h 202844"/>
              <a:gd name="connsiteX13" fmla="*/ 186997 w 228200"/>
              <a:gd name="connsiteY13" fmla="*/ 0 h 202844"/>
              <a:gd name="connsiteX14" fmla="*/ 41203 w 228200"/>
              <a:gd name="connsiteY14" fmla="*/ 0 h 202844"/>
              <a:gd name="connsiteX15" fmla="*/ 89416 w 228200"/>
              <a:gd name="connsiteY15" fmla="*/ 70805 h 202844"/>
              <a:gd name="connsiteX16" fmla="*/ 88745 w 228200"/>
              <a:gd name="connsiteY16" fmla="*/ 73658 h 202844"/>
              <a:gd name="connsiteX17" fmla="*/ 88745 w 228200"/>
              <a:gd name="connsiteY17" fmla="*/ 129212 h 202844"/>
              <a:gd name="connsiteX18" fmla="*/ 95083 w 228200"/>
              <a:gd name="connsiteY18" fmla="*/ 135551 h 202844"/>
              <a:gd name="connsiteX19" fmla="*/ 97923 w 228200"/>
              <a:gd name="connsiteY19" fmla="*/ 134879 h 202844"/>
              <a:gd name="connsiteX20" fmla="*/ 153477 w 228200"/>
              <a:gd name="connsiteY20" fmla="*/ 107115 h 202844"/>
              <a:gd name="connsiteX21" fmla="*/ 156324 w 228200"/>
              <a:gd name="connsiteY21" fmla="*/ 98614 h 202844"/>
              <a:gd name="connsiteX22" fmla="*/ 153477 w 228200"/>
              <a:gd name="connsiteY22" fmla="*/ 95768 h 202844"/>
              <a:gd name="connsiteX23" fmla="*/ 97923 w 228200"/>
              <a:gd name="connsiteY23" fmla="*/ 67991 h 202844"/>
              <a:gd name="connsiteX24" fmla="*/ 89416 w 228200"/>
              <a:gd name="connsiteY24" fmla="*/ 70818 h 202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28200" h="202844">
                <a:moveTo>
                  <a:pt x="41203" y="0"/>
                </a:moveTo>
                <a:lnTo>
                  <a:pt x="186997" y="0"/>
                </a:lnTo>
                <a:cubicBezTo>
                  <a:pt x="208848" y="-1"/>
                  <a:pt x="226900" y="17055"/>
                  <a:pt x="228137" y="38870"/>
                </a:cubicBezTo>
                <a:lnTo>
                  <a:pt x="228200" y="41203"/>
                </a:lnTo>
                <a:lnTo>
                  <a:pt x="228200" y="161642"/>
                </a:lnTo>
                <a:cubicBezTo>
                  <a:pt x="228202" y="183492"/>
                  <a:pt x="211146" y="201544"/>
                  <a:pt x="189330" y="202781"/>
                </a:cubicBezTo>
                <a:lnTo>
                  <a:pt x="186997" y="202845"/>
                </a:lnTo>
                <a:lnTo>
                  <a:pt x="41203" y="202845"/>
                </a:lnTo>
                <a:cubicBezTo>
                  <a:pt x="19352" y="202846"/>
                  <a:pt x="1300" y="185791"/>
                  <a:pt x="63" y="163975"/>
                </a:cubicBezTo>
                <a:lnTo>
                  <a:pt x="0" y="161642"/>
                </a:lnTo>
                <a:lnTo>
                  <a:pt x="0" y="41203"/>
                </a:lnTo>
                <a:cubicBezTo>
                  <a:pt x="-1" y="19352"/>
                  <a:pt x="17055" y="1300"/>
                  <a:pt x="38870" y="63"/>
                </a:cubicBezTo>
                <a:lnTo>
                  <a:pt x="41203" y="0"/>
                </a:lnTo>
                <a:lnTo>
                  <a:pt x="186997" y="0"/>
                </a:lnTo>
                <a:lnTo>
                  <a:pt x="41203" y="0"/>
                </a:lnTo>
                <a:close/>
                <a:moveTo>
                  <a:pt x="89416" y="70805"/>
                </a:moveTo>
                <a:cubicBezTo>
                  <a:pt x="88973" y="71691"/>
                  <a:pt x="88743" y="72668"/>
                  <a:pt x="88745" y="73658"/>
                </a:cubicBezTo>
                <a:lnTo>
                  <a:pt x="88745" y="129212"/>
                </a:lnTo>
                <a:cubicBezTo>
                  <a:pt x="88745" y="132712"/>
                  <a:pt x="91583" y="135551"/>
                  <a:pt x="95083" y="135551"/>
                </a:cubicBezTo>
                <a:cubicBezTo>
                  <a:pt x="96070" y="135551"/>
                  <a:pt x="97042" y="135320"/>
                  <a:pt x="97923" y="134879"/>
                </a:cubicBezTo>
                <a:lnTo>
                  <a:pt x="153477" y="107115"/>
                </a:lnTo>
                <a:cubicBezTo>
                  <a:pt x="156610" y="105553"/>
                  <a:pt x="157884" y="101747"/>
                  <a:pt x="156324" y="98614"/>
                </a:cubicBezTo>
                <a:cubicBezTo>
                  <a:pt x="155709" y="97381"/>
                  <a:pt x="154710" y="96383"/>
                  <a:pt x="153477" y="95768"/>
                </a:cubicBezTo>
                <a:lnTo>
                  <a:pt x="97923" y="67991"/>
                </a:lnTo>
                <a:cubicBezTo>
                  <a:pt x="94793" y="66423"/>
                  <a:pt x="90985" y="67689"/>
                  <a:pt x="89416" y="70818"/>
                </a:cubicBezTo>
                <a:close/>
              </a:path>
            </a:pathLst>
          </a:custGeom>
          <a:gradFill>
            <a:gsLst>
              <a:gs pos="73000">
                <a:srgbClr val="0078D4"/>
              </a:gs>
              <a:gs pos="12000">
                <a:srgbClr val="C03BC4"/>
              </a:gs>
            </a:gsLst>
            <a:path path="circle">
              <a:fillToRect l="100000" t="100000"/>
            </a:path>
          </a:gradFill>
          <a:ln w="12303" cap="flat">
            <a:noFill/>
            <a:prstDash val="solid"/>
            <a:miter/>
          </a:ln>
          <a:effectLst>
            <a:outerShdw blurRad="63500" dist="63500" dir="3000000" algn="tl" rotWithShape="0">
              <a:srgbClr val="454142">
                <a:alpha val="15000"/>
              </a:srgb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2609113321"/>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58AC0F-3C1F-A8DA-7980-567E2BE46A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7FE0D4-F9DD-2321-6AA8-C6F97E932EDF}"/>
              </a:ext>
            </a:extLst>
          </p:cNvPr>
          <p:cNvSpPr>
            <a:spLocks noGrp="1"/>
          </p:cNvSpPr>
          <p:nvPr>
            <p:ph type="title"/>
          </p:nvPr>
        </p:nvSpPr>
        <p:spPr>
          <a:xfrm>
            <a:off x="571501" y="472190"/>
            <a:ext cx="11049000" cy="553998"/>
          </a:xfrm>
        </p:spPr>
        <p:txBody>
          <a:bodyPr/>
          <a:lstStyle/>
          <a:p>
            <a:pPr algn="ctr"/>
            <a:r>
              <a:rPr lang="en-US" noProof="0" dirty="0"/>
              <a:t>AI </a:t>
            </a:r>
            <a:r>
              <a:rPr lang="en-US" noProof="0" dirty="0">
                <a:gradFill>
                  <a:gsLst>
                    <a:gs pos="44000">
                      <a:srgbClr val="0078D4"/>
                    </a:gs>
                    <a:gs pos="0">
                      <a:srgbClr val="C03BC4"/>
                    </a:gs>
                  </a:gsLst>
                  <a:path path="circle">
                    <a:fillToRect l="100000" t="100000"/>
                  </a:path>
                </a:gradFill>
              </a:rPr>
              <a:t>Finance </a:t>
            </a:r>
            <a:r>
              <a:rPr lang="en-US" noProof="0" dirty="0"/>
              <a:t>use cases</a:t>
            </a:r>
            <a:endParaRPr lang="en-US" noProof="0" dirty="0">
              <a:gradFill>
                <a:gsLst>
                  <a:gs pos="44000">
                    <a:srgbClr val="0078D4"/>
                  </a:gs>
                  <a:gs pos="0">
                    <a:srgbClr val="C03BC4"/>
                  </a:gs>
                </a:gsLst>
                <a:path path="circle">
                  <a:fillToRect l="100000" t="100000"/>
                </a:path>
              </a:gradFill>
            </a:endParaRPr>
          </a:p>
        </p:txBody>
      </p:sp>
      <p:pic>
        <p:nvPicPr>
          <p:cNvPr id="3" name="Picture 2">
            <a:extLst>
              <a:ext uri="{FF2B5EF4-FFF2-40B4-BE49-F238E27FC236}">
                <a16:creationId xmlns:a16="http://schemas.microsoft.com/office/drawing/2014/main" id="{B376A401-CB2E-05D3-95B8-D8686A52A2AD}"/>
              </a:ext>
            </a:extLst>
          </p:cNvPr>
          <p:cNvPicPr>
            <a:picLocks noChangeAspect="1"/>
          </p:cNvPicPr>
          <p:nvPr/>
        </p:nvPicPr>
        <p:blipFill rotWithShape="1">
          <a:blip r:embed="rId2">
            <a:extLst>
              <a:ext uri="{28A0092B-C50C-407E-A947-70E740481C1C}">
                <a14:useLocalDpi xmlns:a14="http://schemas.microsoft.com/office/drawing/2010/main"/>
              </a:ext>
            </a:extLst>
          </a:blip>
          <a:srcRect/>
          <a:stretch/>
        </p:blipFill>
        <p:spPr>
          <a:xfrm>
            <a:off x="739756" y="1795624"/>
            <a:ext cx="10712489" cy="4132218"/>
          </a:xfrm>
          <a:prstGeom prst="roundRect">
            <a:avLst>
              <a:gd name="adj" fmla="val 3194"/>
            </a:avLst>
          </a:prstGeom>
          <a:ln w="6350">
            <a:solidFill>
              <a:schemeClr val="bg1">
                <a:lumMod val="95000"/>
              </a:schemeClr>
            </a:solidFill>
          </a:ln>
          <a:effectLst>
            <a:outerShdw blurRad="127000" dist="127000" dir="2700000" algn="tl" rotWithShape="0">
              <a:prstClr val="black">
                <a:alpha val="20000"/>
              </a:prstClr>
            </a:outerShdw>
          </a:effectLst>
        </p:spPr>
      </p:pic>
      <p:sp>
        <p:nvSpPr>
          <p:cNvPr id="7" name="Rectangle: Rounded Corners 78">
            <a:extLst>
              <a:ext uri="{FF2B5EF4-FFF2-40B4-BE49-F238E27FC236}">
                <a16:creationId xmlns:a16="http://schemas.microsoft.com/office/drawing/2014/main" id="{00F9BBA2-47DE-A890-3B05-0BC754684F2D}"/>
              </a:ext>
              <a:ext uri="{C183D7F6-B498-43B3-948B-1728B52AA6E4}">
                <adec:decorative xmlns:adec="http://schemas.microsoft.com/office/drawing/2017/decorative" val="1"/>
              </a:ext>
            </a:extLst>
          </p:cNvPr>
          <p:cNvSpPr/>
          <p:nvPr/>
        </p:nvSpPr>
        <p:spPr bwMode="auto">
          <a:xfrm>
            <a:off x="986083" y="3716567"/>
            <a:ext cx="3200400" cy="1828800"/>
          </a:xfrm>
          <a:prstGeom prst="roundRect">
            <a:avLst>
              <a:gd name="adj" fmla="val 6796"/>
            </a:avLst>
          </a:prstGeom>
          <a:solidFill>
            <a:srgbClr val="FFFFFF">
              <a:alpha val="85098"/>
            </a:srgbClr>
          </a:solidFill>
          <a:ln w="6350" cap="flat" cmpd="sng" algn="ctr">
            <a:solidFill>
              <a:schemeClr val="bg1">
                <a:lumMod val="95000"/>
              </a:schemeClr>
            </a:solidFill>
            <a:prstDash val="solid"/>
            <a:headEnd type="none" w="med" len="med"/>
            <a:tailEnd type="none" w="med" len="med"/>
          </a:ln>
          <a:effectLst>
            <a:outerShdw blurRad="127000" dist="127000" dir="2700000" algn="tl" rotWithShape="0">
              <a:prstClr val="black">
                <a:alpha val="20000"/>
              </a:prstClr>
            </a:outerShdw>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1A1A1A"/>
              </a:solidFill>
              <a:effectLst/>
              <a:uLnTx/>
              <a:uFillTx/>
              <a:latin typeface="Segoe UI"/>
              <a:ea typeface="+mn-ea"/>
              <a:cs typeface="Segoe UI" pitchFamily="34" charset="0"/>
            </a:endParaRPr>
          </a:p>
        </p:txBody>
      </p:sp>
      <p:sp>
        <p:nvSpPr>
          <p:cNvPr id="9" name="Rectangle: Rounded Corners 81">
            <a:extLst>
              <a:ext uri="{FF2B5EF4-FFF2-40B4-BE49-F238E27FC236}">
                <a16:creationId xmlns:a16="http://schemas.microsoft.com/office/drawing/2014/main" id="{15CE6BFA-5CFF-3C02-DC6B-D2C5BF673221}"/>
              </a:ext>
              <a:ext uri="{C183D7F6-B498-43B3-948B-1728B52AA6E4}">
                <adec:decorative xmlns:adec="http://schemas.microsoft.com/office/drawing/2017/decorative" val="1"/>
              </a:ext>
            </a:extLst>
          </p:cNvPr>
          <p:cNvSpPr/>
          <p:nvPr/>
        </p:nvSpPr>
        <p:spPr bwMode="auto">
          <a:xfrm>
            <a:off x="4495800" y="3718108"/>
            <a:ext cx="3200400" cy="1828800"/>
          </a:xfrm>
          <a:prstGeom prst="roundRect">
            <a:avLst>
              <a:gd name="adj" fmla="val 6053"/>
            </a:avLst>
          </a:prstGeom>
          <a:solidFill>
            <a:srgbClr val="FFFFFF">
              <a:alpha val="85098"/>
            </a:srgbClr>
          </a:solidFill>
          <a:ln w="6350" cap="flat" cmpd="sng" algn="ctr">
            <a:solidFill>
              <a:schemeClr val="bg1">
                <a:lumMod val="95000"/>
              </a:schemeClr>
            </a:solidFill>
            <a:prstDash val="solid"/>
            <a:headEnd type="none" w="med" len="med"/>
            <a:tailEnd type="none" w="med" len="med"/>
          </a:ln>
          <a:effectLst>
            <a:outerShdw blurRad="127000" dist="127000" dir="2700000" algn="tl" rotWithShape="0">
              <a:prstClr val="black">
                <a:alpha val="20000"/>
              </a:prstClr>
            </a:outerShdw>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1A1A1A"/>
              </a:solidFill>
              <a:effectLst/>
              <a:uLnTx/>
              <a:uFillTx/>
              <a:latin typeface="Segoe UI"/>
              <a:ea typeface="+mn-ea"/>
              <a:cs typeface="Segoe UI" pitchFamily="34" charset="0"/>
            </a:endParaRPr>
          </a:p>
        </p:txBody>
      </p:sp>
      <p:sp>
        <p:nvSpPr>
          <p:cNvPr id="10" name="Rectangle: Rounded Corners 83">
            <a:extLst>
              <a:ext uri="{FF2B5EF4-FFF2-40B4-BE49-F238E27FC236}">
                <a16:creationId xmlns:a16="http://schemas.microsoft.com/office/drawing/2014/main" id="{BDF6B994-BDEC-2037-AAF2-3085D8CDAD22}"/>
              </a:ext>
              <a:ext uri="{C183D7F6-B498-43B3-948B-1728B52AA6E4}">
                <adec:decorative xmlns:adec="http://schemas.microsoft.com/office/drawing/2017/decorative" val="1"/>
              </a:ext>
            </a:extLst>
          </p:cNvPr>
          <p:cNvSpPr/>
          <p:nvPr/>
        </p:nvSpPr>
        <p:spPr bwMode="auto">
          <a:xfrm>
            <a:off x="8001000" y="3716567"/>
            <a:ext cx="3200400" cy="1828800"/>
          </a:xfrm>
          <a:prstGeom prst="roundRect">
            <a:avLst>
              <a:gd name="adj" fmla="val 5310"/>
            </a:avLst>
          </a:prstGeom>
          <a:solidFill>
            <a:srgbClr val="FFFFFF">
              <a:alpha val="85098"/>
            </a:srgbClr>
          </a:solidFill>
          <a:ln w="6350" cap="flat" cmpd="sng" algn="ctr">
            <a:solidFill>
              <a:schemeClr val="bg1">
                <a:lumMod val="95000"/>
              </a:schemeClr>
            </a:solidFill>
            <a:prstDash val="solid"/>
            <a:headEnd type="none" w="med" len="med"/>
            <a:tailEnd type="none" w="med" len="med"/>
          </a:ln>
          <a:effectLst>
            <a:outerShdw blurRad="127000" dist="127000" dir="2700000" algn="tl" rotWithShape="0">
              <a:prstClr val="black">
                <a:alpha val="20000"/>
              </a:prstClr>
            </a:outerShdw>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1A1A1A"/>
              </a:solidFill>
              <a:effectLst/>
              <a:uLnTx/>
              <a:uFillTx/>
              <a:latin typeface="Segoe UI"/>
              <a:ea typeface="+mn-ea"/>
              <a:cs typeface="Segoe UI" pitchFamily="34" charset="0"/>
            </a:endParaRPr>
          </a:p>
        </p:txBody>
      </p:sp>
      <p:sp>
        <p:nvSpPr>
          <p:cNvPr id="11" name="TextBox 22">
            <a:extLst>
              <a:ext uri="{FF2B5EF4-FFF2-40B4-BE49-F238E27FC236}">
                <a16:creationId xmlns:a16="http://schemas.microsoft.com/office/drawing/2014/main" id="{E8664ED7-CBB1-5D14-FF4C-2EC26ABCB214}"/>
              </a:ext>
            </a:extLst>
          </p:cNvPr>
          <p:cNvSpPr txBox="1"/>
          <p:nvPr/>
        </p:nvSpPr>
        <p:spPr>
          <a:xfrm>
            <a:off x="1444752" y="3886687"/>
            <a:ext cx="2283061" cy="276999"/>
          </a:xfrm>
          <a:prstGeom prst="rect">
            <a:avLst/>
          </a:prstGeom>
          <a:noFill/>
        </p:spPr>
        <p:txBody>
          <a:bodyPr wrap="square" lIns="0" tIns="0" rIns="0" bIns="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w="3175">
                  <a:noFill/>
                </a:ln>
                <a:gradFill>
                  <a:gsLst>
                    <a:gs pos="37000">
                      <a:srgbClr val="0078D4"/>
                    </a:gs>
                    <a:gs pos="0">
                      <a:srgbClr val="C03BC4"/>
                    </a:gs>
                  </a:gsLst>
                  <a:path path="circle">
                    <a:fillToRect l="100000" t="100000"/>
                  </a:path>
                </a:gradFill>
                <a:effectLst/>
                <a:uLnTx/>
                <a:uFillTx/>
                <a:latin typeface="Segoe UI Semibold"/>
                <a:ea typeface="+mn-ea"/>
                <a:cs typeface="Segoe UI" pitchFamily="34" charset="0"/>
              </a:rPr>
              <a:t>Overview and KPIs</a:t>
            </a:r>
          </a:p>
        </p:txBody>
      </p:sp>
      <p:sp>
        <p:nvSpPr>
          <p:cNvPr id="12" name="TextBox 23">
            <a:extLst>
              <a:ext uri="{FF2B5EF4-FFF2-40B4-BE49-F238E27FC236}">
                <a16:creationId xmlns:a16="http://schemas.microsoft.com/office/drawing/2014/main" id="{C6F5FA3E-2DEC-1989-4B5B-AC582FA8E881}"/>
              </a:ext>
            </a:extLst>
          </p:cNvPr>
          <p:cNvSpPr txBox="1"/>
          <p:nvPr/>
        </p:nvSpPr>
        <p:spPr>
          <a:xfrm>
            <a:off x="1183712" y="4234841"/>
            <a:ext cx="2805143" cy="1166345"/>
          </a:xfrm>
          <a:prstGeom prst="rect">
            <a:avLst/>
          </a:prstGeom>
          <a:noFill/>
        </p:spPr>
        <p:txBody>
          <a:bodyPr wrap="square" lIns="0" tIns="0" rIns="0" bIns="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67" rtl="0" eaLnBrk="1" fontAlgn="auto" latinLnBrk="0" hangingPunct="1">
              <a:lnSpc>
                <a:spcPct val="11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111111"/>
                </a:solidFill>
                <a:effectLst/>
                <a:uLnTx/>
                <a:uFillTx/>
                <a:latin typeface="Segoe UI "/>
                <a:ea typeface="Roboto"/>
                <a:cs typeface="Roboto"/>
              </a:rPr>
              <a:t>KPIs play a crucial role in organizations, providing a compass to navigate toward success. Let's dive into KPIs for Finance and how AI can assist.</a:t>
            </a:r>
            <a:endParaRPr kumimoji="0" lang="en-US" sz="1400" b="0" i="0" u="none" strike="noStrike" kern="1200" cap="none" spc="0" normalizeH="0" baseline="0" noProof="0" dirty="0">
              <a:ln>
                <a:noFill/>
              </a:ln>
              <a:solidFill>
                <a:srgbClr val="000000"/>
              </a:solidFill>
              <a:effectLst/>
              <a:uLnTx/>
              <a:uFillTx/>
              <a:latin typeface="Segoe UI "/>
              <a:ea typeface="+mn-ea"/>
              <a:cs typeface="+mn-cs"/>
            </a:endParaRPr>
          </a:p>
        </p:txBody>
      </p:sp>
      <p:sp>
        <p:nvSpPr>
          <p:cNvPr id="21" name="TextBox 25">
            <a:extLst>
              <a:ext uri="{FF2B5EF4-FFF2-40B4-BE49-F238E27FC236}">
                <a16:creationId xmlns:a16="http://schemas.microsoft.com/office/drawing/2014/main" id="{D03B9D5E-A340-C2A8-0255-8902FD701EAB}"/>
              </a:ext>
            </a:extLst>
          </p:cNvPr>
          <p:cNvSpPr txBox="1"/>
          <p:nvPr/>
        </p:nvSpPr>
        <p:spPr>
          <a:xfrm>
            <a:off x="4954469" y="3888228"/>
            <a:ext cx="2283061" cy="276999"/>
          </a:xfrm>
          <a:prstGeom prst="rect">
            <a:avLst/>
          </a:prstGeom>
          <a:noFill/>
        </p:spPr>
        <p:txBody>
          <a:bodyPr wrap="square" lIns="0" tIns="0" rIns="0" bIns="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w="3175">
                  <a:noFill/>
                </a:ln>
                <a:gradFill>
                  <a:gsLst>
                    <a:gs pos="37000">
                      <a:srgbClr val="0078D4"/>
                    </a:gs>
                    <a:gs pos="0">
                      <a:srgbClr val="C03BC4"/>
                    </a:gs>
                  </a:gsLst>
                  <a:path path="circle">
                    <a:fillToRect l="100000" t="100000"/>
                  </a:path>
                </a:gradFill>
                <a:effectLst/>
                <a:uLnTx/>
                <a:uFillTx/>
                <a:latin typeface="Segoe UI Semibold"/>
                <a:ea typeface="+mn-ea"/>
                <a:cs typeface="Segoe UI" pitchFamily="34" charset="0"/>
              </a:rPr>
              <a:t>Use case by role</a:t>
            </a:r>
          </a:p>
        </p:txBody>
      </p:sp>
      <p:sp>
        <p:nvSpPr>
          <p:cNvPr id="22" name="TextBox 26">
            <a:extLst>
              <a:ext uri="{FF2B5EF4-FFF2-40B4-BE49-F238E27FC236}">
                <a16:creationId xmlns:a16="http://schemas.microsoft.com/office/drawing/2014/main" id="{CC78C69F-21E0-8752-130E-8D7BDC192AC8}"/>
              </a:ext>
            </a:extLst>
          </p:cNvPr>
          <p:cNvSpPr txBox="1"/>
          <p:nvPr/>
        </p:nvSpPr>
        <p:spPr>
          <a:xfrm>
            <a:off x="4724400" y="4236382"/>
            <a:ext cx="2743200" cy="1166345"/>
          </a:xfrm>
          <a:prstGeom prst="rect">
            <a:avLst/>
          </a:prstGeom>
          <a:noFill/>
        </p:spPr>
        <p:txBody>
          <a:bodyPr wrap="square" lIns="0" tIns="0" rIns="0" bIns="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67" rtl="0" eaLnBrk="1" fontAlgn="auto" latinLnBrk="0" hangingPunct="1">
              <a:lnSpc>
                <a:spcPct val="11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Segoe UI"/>
                <a:ea typeface="+mn-ea"/>
                <a:cs typeface="+mn-cs"/>
              </a:rPr>
              <a:t>AI can simplify the tasks that Finance employees perform every day. Look at key use cases and how Copilot and agents can assist along the way.</a:t>
            </a:r>
          </a:p>
        </p:txBody>
      </p:sp>
      <p:sp>
        <p:nvSpPr>
          <p:cNvPr id="23" name="TextBox 28">
            <a:extLst>
              <a:ext uri="{FF2B5EF4-FFF2-40B4-BE49-F238E27FC236}">
                <a16:creationId xmlns:a16="http://schemas.microsoft.com/office/drawing/2014/main" id="{019560C5-D268-5131-6CA7-8319F4780E86}"/>
              </a:ext>
            </a:extLst>
          </p:cNvPr>
          <p:cNvSpPr txBox="1"/>
          <p:nvPr/>
        </p:nvSpPr>
        <p:spPr>
          <a:xfrm>
            <a:off x="8197423" y="3886687"/>
            <a:ext cx="2807554" cy="276999"/>
          </a:xfrm>
          <a:prstGeom prst="rect">
            <a:avLst/>
          </a:prstGeom>
          <a:noFill/>
        </p:spPr>
        <p:txBody>
          <a:bodyPr wrap="square" lIns="0" tIns="0" rIns="0" bIns="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w="3175">
                  <a:noFill/>
                </a:ln>
                <a:gradFill>
                  <a:gsLst>
                    <a:gs pos="37000">
                      <a:srgbClr val="0078D4"/>
                    </a:gs>
                    <a:gs pos="0">
                      <a:srgbClr val="C03BC4"/>
                    </a:gs>
                  </a:gsLst>
                  <a:path path="circle">
                    <a:fillToRect l="100000" t="100000"/>
                  </a:path>
                </a:gradFill>
                <a:effectLst/>
                <a:uLnTx/>
                <a:uFillTx/>
                <a:latin typeface="Segoe UI Semibold"/>
                <a:ea typeface="+mn-ea"/>
                <a:cs typeface="Segoe UI" pitchFamily="34" charset="0"/>
              </a:rPr>
              <a:t>Day in the life</a:t>
            </a:r>
          </a:p>
        </p:txBody>
      </p:sp>
      <p:sp>
        <p:nvSpPr>
          <p:cNvPr id="24" name="TextBox 29">
            <a:extLst>
              <a:ext uri="{FF2B5EF4-FFF2-40B4-BE49-F238E27FC236}">
                <a16:creationId xmlns:a16="http://schemas.microsoft.com/office/drawing/2014/main" id="{AE35EF6F-1A97-65F2-EC64-66A2E2F862EB}"/>
              </a:ext>
            </a:extLst>
          </p:cNvPr>
          <p:cNvSpPr txBox="1"/>
          <p:nvPr/>
        </p:nvSpPr>
        <p:spPr>
          <a:xfrm>
            <a:off x="8197423" y="4234841"/>
            <a:ext cx="2807554" cy="692369"/>
          </a:xfrm>
          <a:prstGeom prst="rect">
            <a:avLst/>
          </a:prstGeom>
          <a:noFill/>
        </p:spPr>
        <p:txBody>
          <a:bodyPr wrap="square" lIns="0" tIns="0" rIns="0" bIns="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67" rtl="0" eaLnBrk="1" fontAlgn="auto" latinLnBrk="0" hangingPunct="1">
              <a:lnSpc>
                <a:spcPct val="11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Segoe UI"/>
                <a:ea typeface="+mn-ea"/>
                <a:cs typeface="Segoe UI"/>
              </a:rPr>
              <a:t>See how real-life Finance employees are using AI in their day-to-day.</a:t>
            </a:r>
          </a:p>
        </p:txBody>
      </p:sp>
    </p:spTree>
    <p:extLst>
      <p:ext uri="{BB962C8B-B14F-4D97-AF65-F5344CB8AC3E}">
        <p14:creationId xmlns:p14="http://schemas.microsoft.com/office/powerpoint/2010/main" val="610804254"/>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3E61CC-2C95-EBD6-B1C3-F6285BECF173}"/>
            </a:ext>
          </a:extLst>
        </p:cNvPr>
        <p:cNvGrpSpPr/>
        <p:nvPr/>
      </p:nvGrpSpPr>
      <p:grpSpPr>
        <a:xfrm>
          <a:off x="0" y="0"/>
          <a:ext cx="0" cy="0"/>
          <a:chOff x="0" y="0"/>
          <a:chExt cx="0" cy="0"/>
        </a:xfrm>
      </p:grpSpPr>
      <p:sp>
        <p:nvSpPr>
          <p:cNvPr id="37" name="Rectangle: Rounded Corners 81">
            <a:extLst>
              <a:ext uri="{FF2B5EF4-FFF2-40B4-BE49-F238E27FC236}">
                <a16:creationId xmlns:a16="http://schemas.microsoft.com/office/drawing/2014/main" id="{0734DE8E-80C4-A829-0A50-2D7C23196BCA}"/>
              </a:ext>
              <a:ext uri="{C183D7F6-B498-43B3-948B-1728B52AA6E4}">
                <adec:decorative xmlns:adec="http://schemas.microsoft.com/office/drawing/2017/decorative" val="1"/>
              </a:ext>
            </a:extLst>
          </p:cNvPr>
          <p:cNvSpPr>
            <a:spLocks/>
          </p:cNvSpPr>
          <p:nvPr/>
        </p:nvSpPr>
        <p:spPr bwMode="auto">
          <a:xfrm>
            <a:off x="588263" y="4288608"/>
            <a:ext cx="11017250" cy="2407467"/>
          </a:xfrm>
          <a:prstGeom prst="roundRect">
            <a:avLst>
              <a:gd name="adj" fmla="val 5449"/>
            </a:avLst>
          </a:prstGeom>
          <a:solidFill>
            <a:srgbClr val="FFFFFF">
              <a:alpha val="85098"/>
            </a:srgbClr>
          </a:solidFill>
          <a:ln w="6350" cap="flat" cmpd="sng" algn="ctr">
            <a:solidFill>
              <a:schemeClr val="bg1">
                <a:lumMod val="95000"/>
              </a:schemeClr>
            </a:solidFill>
            <a:prstDash val="solid"/>
            <a:headEnd type="none" w="med" len="med"/>
            <a:tailEnd type="none" w="med" len="med"/>
          </a:ln>
          <a:effectLst>
            <a:outerShdw blurRad="127000" dist="127000" dir="2700000" algn="tl" rotWithShape="0">
              <a:prstClr val="black">
                <a:alpha val="20000"/>
              </a:prstClr>
            </a:outerShdw>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1A1A1A"/>
              </a:solidFill>
              <a:effectLst/>
              <a:uLnTx/>
              <a:uFillTx/>
              <a:latin typeface="Segoe UI"/>
              <a:ea typeface="+mn-ea"/>
              <a:cs typeface="Segoe UI" pitchFamily="34" charset="0"/>
            </a:endParaRPr>
          </a:p>
        </p:txBody>
      </p:sp>
      <p:sp>
        <p:nvSpPr>
          <p:cNvPr id="39" name="Rounded Rectangle 53">
            <a:extLst>
              <a:ext uri="{FF2B5EF4-FFF2-40B4-BE49-F238E27FC236}">
                <a16:creationId xmlns:a16="http://schemas.microsoft.com/office/drawing/2014/main" id="{842E941E-779A-D24E-E2F4-51B696662FE3}"/>
              </a:ext>
            </a:extLst>
          </p:cNvPr>
          <p:cNvSpPr>
            <a:spLocks/>
          </p:cNvSpPr>
          <p:nvPr/>
        </p:nvSpPr>
        <p:spPr bwMode="auto">
          <a:xfrm>
            <a:off x="3170731" y="4152210"/>
            <a:ext cx="8361632" cy="1927787"/>
          </a:xfrm>
          <a:prstGeom prst="roundRect">
            <a:avLst>
              <a:gd name="adj" fmla="val 4659"/>
            </a:avLst>
          </a:prstGeom>
          <a:solidFill>
            <a:srgbClr val="FFFFFF">
              <a:alpha val="85098"/>
            </a:srgbClr>
          </a:solidFill>
          <a:ln w="6350" cap="flat" cmpd="sng" algn="ctr">
            <a:noFill/>
            <a:prstDash val="solid"/>
            <a:headEnd type="none" w="med" len="med"/>
            <a:tailEnd type="none" w="med" len="med"/>
          </a:ln>
          <a:effectLst>
            <a:outerShdw blurRad="152400" sx="102000" sy="102000" algn="ctr" rotWithShape="0">
              <a:prstClr val="black">
                <a:alpha val="8000"/>
              </a:prstClr>
            </a:outerShdw>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1A1A1A"/>
              </a:solidFill>
              <a:effectLst/>
              <a:uLnTx/>
              <a:uFillTx/>
              <a:latin typeface="Segoe UI"/>
              <a:ea typeface="+mn-ea"/>
              <a:cs typeface="Segoe UI" pitchFamily="34" charset="0"/>
            </a:endParaRPr>
          </a:p>
        </p:txBody>
      </p:sp>
      <p:sp>
        <p:nvSpPr>
          <p:cNvPr id="54" name="Rounded Rectangle 53">
            <a:extLst>
              <a:ext uri="{FF2B5EF4-FFF2-40B4-BE49-F238E27FC236}">
                <a16:creationId xmlns:a16="http://schemas.microsoft.com/office/drawing/2014/main" id="{84BF659E-FA6B-DB87-FCD1-200BB5963F1B}"/>
              </a:ext>
            </a:extLst>
          </p:cNvPr>
          <p:cNvSpPr/>
          <p:nvPr/>
        </p:nvSpPr>
        <p:spPr bwMode="auto">
          <a:xfrm>
            <a:off x="588263" y="1225509"/>
            <a:ext cx="5310887" cy="1386124"/>
          </a:xfrm>
          <a:prstGeom prst="roundRect">
            <a:avLst>
              <a:gd name="adj" fmla="val 6635"/>
            </a:avLst>
          </a:prstGeom>
          <a:solidFill>
            <a:schemeClr val="bg1"/>
          </a:solidFill>
          <a:ln>
            <a:solidFill>
              <a:schemeClr val="bg2"/>
            </a:solidFill>
          </a:ln>
          <a:effectLst>
            <a:outerShdw blurRad="223661" dist="140295" dir="2700000" algn="tl" rotWithShape="0">
              <a:schemeClr val="accent1">
                <a:alpha val="15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Segoe UI"/>
              <a:ea typeface="+mn-ea"/>
              <a:cs typeface="Segoe UI" pitchFamily="34" charset="0"/>
            </a:endParaRPr>
          </a:p>
        </p:txBody>
      </p:sp>
      <p:sp>
        <p:nvSpPr>
          <p:cNvPr id="2" name="Title 1">
            <a:extLst>
              <a:ext uri="{FF2B5EF4-FFF2-40B4-BE49-F238E27FC236}">
                <a16:creationId xmlns:a16="http://schemas.microsoft.com/office/drawing/2014/main" id="{EE60EA2A-0590-A195-72D0-7D4255E9924E}"/>
              </a:ext>
            </a:extLst>
          </p:cNvPr>
          <p:cNvSpPr>
            <a:spLocks noGrp="1"/>
          </p:cNvSpPr>
          <p:nvPr>
            <p:ph type="title"/>
          </p:nvPr>
        </p:nvSpPr>
        <p:spPr>
          <a:xfrm>
            <a:off x="588263" y="457200"/>
            <a:ext cx="11018520" cy="553998"/>
          </a:xfrm>
        </p:spPr>
        <p:txBody>
          <a:bodyPr/>
          <a:lstStyle/>
          <a:p>
            <a:r>
              <a:rPr lang="en-US" noProof="0" dirty="0">
                <a:cs typeface="Segoe UI"/>
              </a:rPr>
              <a:t>AI use cases for </a:t>
            </a:r>
            <a:r>
              <a:rPr lang="en-US" noProof="0" dirty="0">
                <a:gradFill>
                  <a:gsLst>
                    <a:gs pos="26000">
                      <a:srgbClr val="0078D4"/>
                    </a:gs>
                    <a:gs pos="0">
                      <a:srgbClr val="C03BC4"/>
                    </a:gs>
                  </a:gsLst>
                  <a:path path="circle">
                    <a:fillToRect l="100000" t="100000"/>
                  </a:path>
                </a:gradFill>
              </a:rPr>
              <a:t>Finance</a:t>
            </a:r>
            <a:endParaRPr lang="en-US" noProof="0" dirty="0">
              <a:gradFill flip="none" rotWithShape="1">
                <a:gsLst>
                  <a:gs pos="50000">
                    <a:srgbClr val="0078D4"/>
                  </a:gs>
                  <a:gs pos="0">
                    <a:srgbClr val="C03BC4"/>
                  </a:gs>
                </a:gsLst>
                <a:lin ang="13500000" scaled="1"/>
                <a:tileRect/>
              </a:gradFill>
            </a:endParaRPr>
          </a:p>
        </p:txBody>
      </p:sp>
      <p:sp>
        <p:nvSpPr>
          <p:cNvPr id="5" name="TextBox 4">
            <a:extLst>
              <a:ext uri="{FF2B5EF4-FFF2-40B4-BE49-F238E27FC236}">
                <a16:creationId xmlns:a16="http://schemas.microsoft.com/office/drawing/2014/main" id="{A8C26C5D-7CF5-C30A-9B78-94C1C0A5819B}"/>
              </a:ext>
            </a:extLst>
          </p:cNvPr>
          <p:cNvSpPr txBox="1">
            <a:spLocks/>
          </p:cNvSpPr>
          <p:nvPr/>
        </p:nvSpPr>
        <p:spPr>
          <a:xfrm>
            <a:off x="739970" y="1841573"/>
            <a:ext cx="1092317" cy="430887"/>
          </a:xfrm>
          <a:prstGeom prst="rect">
            <a:avLst/>
          </a:prstGeom>
          <a:noFill/>
        </p:spPr>
        <p:txBody>
          <a:bodyPr wrap="square" lIns="0" tIns="0" rIns="0" bIns="0" anchor="ctr">
            <a:spAutoFit/>
          </a:bodyPr>
          <a:lstStyle/>
          <a:p>
            <a:pPr marL="0" marR="0" lvl="0" indent="0" algn="l" defTabSz="932472" rtl="0" eaLnBrk="1" fontAlgn="base" latinLnBrk="0" hangingPunct="1">
              <a:lnSpc>
                <a:spcPct val="100000"/>
              </a:lnSpc>
              <a:spcBef>
                <a:spcPct val="0"/>
              </a:spcBef>
              <a:spcAft>
                <a:spcPts val="1200"/>
              </a:spcAft>
              <a:buClrTx/>
              <a:buSzTx/>
              <a:buFontTx/>
              <a:buNone/>
              <a:tabLst/>
              <a:defRPr/>
            </a:pPr>
            <a:r>
              <a:rPr kumimoji="0" lang="en-US" sz="1400" b="0" i="0" u="none" strike="noStrike" kern="1200" cap="none" spc="0" normalizeH="0" baseline="0" noProof="0" dirty="0">
                <a:ln>
                  <a:noFill/>
                </a:ln>
                <a:gradFill flip="none" rotWithShape="1">
                  <a:gsLst>
                    <a:gs pos="55000">
                      <a:srgbClr val="0078D4"/>
                    </a:gs>
                    <a:gs pos="0">
                      <a:srgbClr val="C03BC4"/>
                    </a:gs>
                  </a:gsLst>
                  <a:lin ang="13500000" scaled="1"/>
                  <a:tileRect/>
                </a:gradFill>
                <a:effectLst/>
                <a:uLnTx/>
                <a:uFillTx/>
                <a:latin typeface="Segoe UI Semibold"/>
                <a:ea typeface="Segoe UI" pitchFamily="34" charset="0"/>
                <a:cs typeface="Segoe UI Semibold" panose="020B0702040204020203" pitchFamily="34" charset="0"/>
              </a:rPr>
              <a:t>Goals and challenges</a:t>
            </a:r>
          </a:p>
        </p:txBody>
      </p:sp>
      <p:sp>
        <p:nvSpPr>
          <p:cNvPr id="6" name="Text Placeholder 5">
            <a:extLst>
              <a:ext uri="{FF2B5EF4-FFF2-40B4-BE49-F238E27FC236}">
                <a16:creationId xmlns:a16="http://schemas.microsoft.com/office/drawing/2014/main" id="{BCE1D028-346F-2FF6-F72C-F7DCB78D751C}"/>
              </a:ext>
            </a:extLst>
          </p:cNvPr>
          <p:cNvSpPr txBox="1">
            <a:spLocks/>
          </p:cNvSpPr>
          <p:nvPr/>
        </p:nvSpPr>
        <p:spPr>
          <a:xfrm>
            <a:off x="2218000" y="1456906"/>
            <a:ext cx="3569133" cy="923330"/>
          </a:xfrm>
          <a:prstGeom prst="rect">
            <a:avLst/>
          </a:prstGeom>
        </p:spPr>
        <p:txBody>
          <a:bodyPr vert="horz" wrap="square" lIns="0" tIns="0" rIns="0" bIns="0" rtlCol="0" anchor="ctr">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582780" rtl="0" eaLnBrk="1" fontAlgn="auto" latinLnBrk="0" hangingPunct="1">
              <a:lnSpc>
                <a:spcPct val="100000"/>
              </a:lnSpc>
              <a:spcBef>
                <a:spcPct val="0"/>
              </a:spcBef>
              <a:spcAft>
                <a:spcPts val="400"/>
              </a:spcAft>
              <a:buClrTx/>
              <a:buSzTx/>
              <a:buFont typeface="Wingdings" panose="05000000000000000000" pitchFamily="2" charset="2"/>
              <a:buNone/>
              <a:tabLst/>
              <a:defRPr/>
            </a:pPr>
            <a:r>
              <a:rPr kumimoji="0" lang="en-US" sz="1000" b="0" i="0" u="none" strike="noStrike" kern="1200" cap="none" spc="0" normalizeH="0" baseline="0" noProof="0" dirty="0">
                <a:ln>
                  <a:noFill/>
                </a:ln>
                <a:solidFill>
                  <a:srgbClr val="000000"/>
                </a:solidFill>
                <a:effectLst/>
                <a:uLnTx/>
                <a:uFillTx/>
                <a:latin typeface="Segoe UI"/>
                <a:ea typeface="+mn-ea"/>
                <a:cs typeface="Segoe UI Semilight" panose="020B0402040204020203" pitchFamily="34" charset="0"/>
              </a:rPr>
              <a:t>AI is transforming crucial tasks in Finance such as budgeting, forecasting, financial analysis, and corporate performance management. AI guided experiences can provide the ability to analyze vast amounts of data, utilize process-based data models to uncover valuable insights, and enhance the accuracy of financial projections.</a:t>
            </a:r>
          </a:p>
        </p:txBody>
      </p:sp>
      <p:sp>
        <p:nvSpPr>
          <p:cNvPr id="8" name="Freeform 27">
            <a:extLst>
              <a:ext uri="{FF2B5EF4-FFF2-40B4-BE49-F238E27FC236}">
                <a16:creationId xmlns:a16="http://schemas.microsoft.com/office/drawing/2014/main" id="{409E17FE-75A7-93BB-16F5-0536A188FA6F}"/>
              </a:ext>
              <a:ext uri="{C183D7F6-B498-43B3-948B-1728B52AA6E4}">
                <adec:decorative xmlns:adec="http://schemas.microsoft.com/office/drawing/2017/decorative" val="1"/>
              </a:ext>
            </a:extLst>
          </p:cNvPr>
          <p:cNvSpPr/>
          <p:nvPr/>
        </p:nvSpPr>
        <p:spPr bwMode="auto">
          <a:xfrm rot="5400000">
            <a:off x="1423800" y="1904855"/>
            <a:ext cx="1231784" cy="27432"/>
          </a:xfrm>
          <a:prstGeom prst="roundRect">
            <a:avLst>
              <a:gd name="adj" fmla="val 50000"/>
            </a:avLst>
          </a:prstGeom>
          <a:gradFill flip="none" rotWithShape="1">
            <a:gsLst>
              <a:gs pos="35000">
                <a:srgbClr val="0078D4"/>
              </a:gs>
              <a:gs pos="0">
                <a:srgbClr val="C03BC4"/>
              </a:gs>
            </a:gsLst>
            <a:path path="circle">
              <a:fillToRect l="100000" t="100000"/>
            </a:path>
            <a:tileRect r="-100000" b="-10000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1" i="0" u="none" strike="noStrike" kern="1200" cap="none" spc="0" normalizeH="0" baseline="0" noProof="0" dirty="0">
              <a:ln w="3175">
                <a:noFill/>
              </a:ln>
              <a:gradFill>
                <a:gsLst>
                  <a:gs pos="76437">
                    <a:srgbClr val="FFFFFF"/>
                  </a:gs>
                  <a:gs pos="55747">
                    <a:srgbClr val="FFFFFF"/>
                  </a:gs>
                </a:gsLst>
                <a:path path="circle">
                  <a:fillToRect l="100000" b="100000"/>
                </a:path>
              </a:gradFill>
              <a:effectLst/>
              <a:uLnTx/>
              <a:uFillTx/>
              <a:latin typeface="Segoe UI Semibold"/>
              <a:ea typeface="+mn-ea"/>
              <a:cs typeface="Segoe UI" pitchFamily="34" charset="0"/>
            </a:endParaRPr>
          </a:p>
        </p:txBody>
      </p:sp>
      <p:sp>
        <p:nvSpPr>
          <p:cNvPr id="15" name="Graphic 120" descr="Icon of an arrow hitting the bullseye">
            <a:extLst>
              <a:ext uri="{FF2B5EF4-FFF2-40B4-BE49-F238E27FC236}">
                <a16:creationId xmlns:a16="http://schemas.microsoft.com/office/drawing/2014/main" id="{D8E679C4-6969-E2DF-D134-E05991CC84E4}"/>
              </a:ext>
            </a:extLst>
          </p:cNvPr>
          <p:cNvSpPr>
            <a:spLocks noChangeAspect="1"/>
          </p:cNvSpPr>
          <p:nvPr/>
        </p:nvSpPr>
        <p:spPr>
          <a:xfrm>
            <a:off x="739970" y="1430093"/>
            <a:ext cx="274320" cy="274320"/>
          </a:xfrm>
          <a:custGeom>
            <a:avLst/>
            <a:gdLst>
              <a:gd name="connsiteX0" fmla="*/ 95269 w 190538"/>
              <a:gd name="connsiteY0" fmla="*/ 0 h 190538"/>
              <a:gd name="connsiteX1" fmla="*/ 127911 w 190538"/>
              <a:gd name="connsiteY1" fmla="*/ 5734 h 190538"/>
              <a:gd name="connsiteX2" fmla="*/ 116529 w 190538"/>
              <a:gd name="connsiteY2" fmla="*/ 17107 h 190538"/>
              <a:gd name="connsiteX3" fmla="*/ 17136 w 190538"/>
              <a:gd name="connsiteY3" fmla="*/ 74002 h 190538"/>
              <a:gd name="connsiteX4" fmla="*/ 74031 w 190538"/>
              <a:gd name="connsiteY4" fmla="*/ 173395 h 190538"/>
              <a:gd name="connsiteX5" fmla="*/ 173425 w 190538"/>
              <a:gd name="connsiteY5" fmla="*/ 116500 h 190538"/>
              <a:gd name="connsiteX6" fmla="*/ 173431 w 190538"/>
              <a:gd name="connsiteY6" fmla="*/ 74028 h 190538"/>
              <a:gd name="connsiteX7" fmla="*/ 184804 w 190538"/>
              <a:gd name="connsiteY7" fmla="*/ 62655 h 190538"/>
              <a:gd name="connsiteX8" fmla="*/ 190538 w 190538"/>
              <a:gd name="connsiteY8" fmla="*/ 95269 h 190538"/>
              <a:gd name="connsiteX9" fmla="*/ 95269 w 190538"/>
              <a:gd name="connsiteY9" fmla="*/ 190538 h 190538"/>
              <a:gd name="connsiteX10" fmla="*/ 0 w 190538"/>
              <a:gd name="connsiteY10" fmla="*/ 95269 h 190538"/>
              <a:gd name="connsiteX11" fmla="*/ 95269 w 190538"/>
              <a:gd name="connsiteY11" fmla="*/ 0 h 190538"/>
              <a:gd name="connsiteX12" fmla="*/ 95269 w 190538"/>
              <a:gd name="connsiteY12" fmla="*/ 38119 h 190538"/>
              <a:gd name="connsiteX13" fmla="*/ 109576 w 190538"/>
              <a:gd name="connsiteY13" fmla="*/ 39929 h 190538"/>
              <a:gd name="connsiteX14" fmla="*/ 109576 w 190538"/>
              <a:gd name="connsiteY14" fmla="*/ 54854 h 190538"/>
              <a:gd name="connsiteX15" fmla="*/ 54872 w 190538"/>
              <a:gd name="connsiteY15" fmla="*/ 80967 h 190538"/>
              <a:gd name="connsiteX16" fmla="*/ 80983 w 190538"/>
              <a:gd name="connsiteY16" fmla="*/ 135671 h 190538"/>
              <a:gd name="connsiteX17" fmla="*/ 135688 w 190538"/>
              <a:gd name="connsiteY17" fmla="*/ 109558 h 190538"/>
              <a:gd name="connsiteX18" fmla="*/ 135693 w 190538"/>
              <a:gd name="connsiteY18" fmla="*/ 80982 h 190538"/>
              <a:gd name="connsiteX19" fmla="*/ 150619 w 190538"/>
              <a:gd name="connsiteY19" fmla="*/ 80982 h 190538"/>
              <a:gd name="connsiteX20" fmla="*/ 109571 w 190538"/>
              <a:gd name="connsiteY20" fmla="*/ 150605 h 190538"/>
              <a:gd name="connsiteX21" fmla="*/ 39948 w 190538"/>
              <a:gd name="connsiteY21" fmla="*/ 109557 h 190538"/>
              <a:gd name="connsiteX22" fmla="*/ 80996 w 190538"/>
              <a:gd name="connsiteY22" fmla="*/ 39934 h 190538"/>
              <a:gd name="connsiteX23" fmla="*/ 95288 w 190538"/>
              <a:gd name="connsiteY23" fmla="*/ 38119 h 190538"/>
              <a:gd name="connsiteX24" fmla="*/ 114319 w 190538"/>
              <a:gd name="connsiteY24" fmla="*/ 95269 h 190538"/>
              <a:gd name="connsiteX25" fmla="*/ 95263 w 190538"/>
              <a:gd name="connsiteY25" fmla="*/ 114313 h 190538"/>
              <a:gd name="connsiteX26" fmla="*/ 76219 w 190538"/>
              <a:gd name="connsiteY26" fmla="*/ 95257 h 190538"/>
              <a:gd name="connsiteX27" fmla="*/ 95275 w 190538"/>
              <a:gd name="connsiteY27" fmla="*/ 76213 h 190538"/>
              <a:gd name="connsiteX28" fmla="*/ 102727 w 190538"/>
              <a:gd name="connsiteY28" fmla="*/ 77734 h 190538"/>
              <a:gd name="connsiteX29" fmla="*/ 119110 w 190538"/>
              <a:gd name="connsiteY29" fmla="*/ 61351 h 190538"/>
              <a:gd name="connsiteX30" fmla="*/ 119101 w 190538"/>
              <a:gd name="connsiteY30" fmla="*/ 30975 h 190538"/>
              <a:gd name="connsiteX31" fmla="*/ 121196 w 190538"/>
              <a:gd name="connsiteY31" fmla="*/ 25927 h 190538"/>
              <a:gd name="connsiteX32" fmla="*/ 145009 w 190538"/>
              <a:gd name="connsiteY32" fmla="*/ 2115 h 190538"/>
              <a:gd name="connsiteX33" fmla="*/ 155112 w 190538"/>
              <a:gd name="connsiteY33" fmla="*/ 2121 h 190538"/>
              <a:gd name="connsiteX34" fmla="*/ 157201 w 190538"/>
              <a:gd name="connsiteY34" fmla="*/ 7163 h 190538"/>
              <a:gd name="connsiteX35" fmla="*/ 157201 w 190538"/>
              <a:gd name="connsiteY35" fmla="*/ 33357 h 190538"/>
              <a:gd name="connsiteX36" fmla="*/ 183394 w 190538"/>
              <a:gd name="connsiteY36" fmla="*/ 33357 h 190538"/>
              <a:gd name="connsiteX37" fmla="*/ 190531 w 190538"/>
              <a:gd name="connsiteY37" fmla="*/ 40507 h 190538"/>
              <a:gd name="connsiteX38" fmla="*/ 188443 w 190538"/>
              <a:gd name="connsiteY38" fmla="*/ 45549 h 190538"/>
              <a:gd name="connsiteX39" fmla="*/ 164630 w 190538"/>
              <a:gd name="connsiteY39" fmla="*/ 69361 h 190538"/>
              <a:gd name="connsiteX40" fmla="*/ 159582 w 190538"/>
              <a:gd name="connsiteY40" fmla="*/ 71457 h 190538"/>
              <a:gd name="connsiteX41" fmla="*/ 129197 w 190538"/>
              <a:gd name="connsiteY41" fmla="*/ 71457 h 190538"/>
              <a:gd name="connsiteX42" fmla="*/ 112814 w 190538"/>
              <a:gd name="connsiteY42" fmla="*/ 87840 h 190538"/>
              <a:gd name="connsiteX43" fmla="*/ 114319 w 190538"/>
              <a:gd name="connsiteY43" fmla="*/ 95269 h 190538"/>
              <a:gd name="connsiteX44" fmla="*/ 156620 w 190538"/>
              <a:gd name="connsiteY44" fmla="*/ 57169 h 190538"/>
              <a:gd name="connsiteX45" fmla="*/ 166145 w 190538"/>
              <a:gd name="connsiteY45" fmla="*/ 47644 h 190538"/>
              <a:gd name="connsiteX46" fmla="*/ 150047 w 190538"/>
              <a:gd name="connsiteY46" fmla="*/ 47644 h 190538"/>
              <a:gd name="connsiteX47" fmla="*/ 142904 w 190538"/>
              <a:gd name="connsiteY47" fmla="*/ 40500 h 190538"/>
              <a:gd name="connsiteX48" fmla="*/ 142904 w 190538"/>
              <a:gd name="connsiteY48" fmla="*/ 24403 h 190538"/>
              <a:gd name="connsiteX49" fmla="*/ 133388 w 190538"/>
              <a:gd name="connsiteY49" fmla="*/ 33928 h 190538"/>
              <a:gd name="connsiteX50" fmla="*/ 133388 w 190538"/>
              <a:gd name="connsiteY50" fmla="*/ 56607 h 190538"/>
              <a:gd name="connsiteX51" fmla="*/ 133960 w 190538"/>
              <a:gd name="connsiteY51" fmla="*/ 57169 h 190538"/>
              <a:gd name="connsiteX52" fmla="*/ 156629 w 190538"/>
              <a:gd name="connsiteY52" fmla="*/ 57169 h 190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190538" h="190538">
                <a:moveTo>
                  <a:pt x="95269" y="0"/>
                </a:moveTo>
                <a:cubicBezTo>
                  <a:pt x="106737" y="0"/>
                  <a:pt x="117729" y="2029"/>
                  <a:pt x="127911" y="5734"/>
                </a:cubicBezTo>
                <a:lnTo>
                  <a:pt x="116529" y="17107"/>
                </a:lnTo>
                <a:cubicBezTo>
                  <a:pt x="73371" y="5372"/>
                  <a:pt x="28871" y="30844"/>
                  <a:pt x="17136" y="74002"/>
                </a:cubicBezTo>
                <a:cubicBezTo>
                  <a:pt x="5400" y="117160"/>
                  <a:pt x="30873" y="161659"/>
                  <a:pt x="74031" y="173395"/>
                </a:cubicBezTo>
                <a:cubicBezTo>
                  <a:pt x="117189" y="185131"/>
                  <a:pt x="161689" y="159658"/>
                  <a:pt x="173425" y="116500"/>
                </a:cubicBezTo>
                <a:cubicBezTo>
                  <a:pt x="177205" y="102596"/>
                  <a:pt x="177208" y="87934"/>
                  <a:pt x="173431" y="74028"/>
                </a:cubicBezTo>
                <a:lnTo>
                  <a:pt x="184804" y="62655"/>
                </a:lnTo>
                <a:cubicBezTo>
                  <a:pt x="188608" y="73108"/>
                  <a:pt x="190549" y="84146"/>
                  <a:pt x="190538" y="95269"/>
                </a:cubicBezTo>
                <a:cubicBezTo>
                  <a:pt x="190538" y="147885"/>
                  <a:pt x="147885" y="190538"/>
                  <a:pt x="95269" y="190538"/>
                </a:cubicBezTo>
                <a:cubicBezTo>
                  <a:pt x="42653" y="190538"/>
                  <a:pt x="0" y="147885"/>
                  <a:pt x="0" y="95269"/>
                </a:cubicBezTo>
                <a:cubicBezTo>
                  <a:pt x="0" y="42653"/>
                  <a:pt x="42653" y="0"/>
                  <a:pt x="95269" y="0"/>
                </a:cubicBezTo>
                <a:close/>
                <a:moveTo>
                  <a:pt x="95269" y="38119"/>
                </a:moveTo>
                <a:cubicBezTo>
                  <a:pt x="100095" y="38117"/>
                  <a:pt x="104902" y="38725"/>
                  <a:pt x="109576" y="39929"/>
                </a:cubicBezTo>
                <a:lnTo>
                  <a:pt x="109576" y="54854"/>
                </a:lnTo>
                <a:cubicBezTo>
                  <a:pt x="87259" y="46959"/>
                  <a:pt x="62767" y="58650"/>
                  <a:pt x="54872" y="80967"/>
                </a:cubicBezTo>
                <a:cubicBezTo>
                  <a:pt x="46976" y="103283"/>
                  <a:pt x="58667" y="127775"/>
                  <a:pt x="80983" y="135671"/>
                </a:cubicBezTo>
                <a:cubicBezTo>
                  <a:pt x="103301" y="143567"/>
                  <a:pt x="127792" y="131876"/>
                  <a:pt x="135688" y="109558"/>
                </a:cubicBezTo>
                <a:cubicBezTo>
                  <a:pt x="138958" y="100313"/>
                  <a:pt x="138960" y="90227"/>
                  <a:pt x="135693" y="80982"/>
                </a:cubicBezTo>
                <a:lnTo>
                  <a:pt x="150619" y="80982"/>
                </a:lnTo>
                <a:cubicBezTo>
                  <a:pt x="158509" y="111543"/>
                  <a:pt x="140132" y="142713"/>
                  <a:pt x="109571" y="150605"/>
                </a:cubicBezTo>
                <a:cubicBezTo>
                  <a:pt x="79010" y="158495"/>
                  <a:pt x="47839" y="140118"/>
                  <a:pt x="39948" y="109557"/>
                </a:cubicBezTo>
                <a:cubicBezTo>
                  <a:pt x="32058" y="78996"/>
                  <a:pt x="50435" y="47825"/>
                  <a:pt x="80996" y="39934"/>
                </a:cubicBezTo>
                <a:cubicBezTo>
                  <a:pt x="85664" y="38728"/>
                  <a:pt x="90467" y="38119"/>
                  <a:pt x="95288" y="38119"/>
                </a:cubicBezTo>
                <a:close/>
                <a:moveTo>
                  <a:pt x="114319" y="95269"/>
                </a:moveTo>
                <a:cubicBezTo>
                  <a:pt x="114315" y="105790"/>
                  <a:pt x="105784" y="114316"/>
                  <a:pt x="95263" y="114313"/>
                </a:cubicBezTo>
                <a:cubicBezTo>
                  <a:pt x="84742" y="114310"/>
                  <a:pt x="76216" y="105778"/>
                  <a:pt x="76219" y="95257"/>
                </a:cubicBezTo>
                <a:cubicBezTo>
                  <a:pt x="76222" y="84735"/>
                  <a:pt x="84754" y="76210"/>
                  <a:pt x="95275" y="76213"/>
                </a:cubicBezTo>
                <a:cubicBezTo>
                  <a:pt x="97836" y="76214"/>
                  <a:pt x="100371" y="76731"/>
                  <a:pt x="102727" y="77734"/>
                </a:cubicBezTo>
                <a:lnTo>
                  <a:pt x="119110" y="61351"/>
                </a:lnTo>
                <a:lnTo>
                  <a:pt x="119101" y="30975"/>
                </a:lnTo>
                <a:cubicBezTo>
                  <a:pt x="119103" y="29081"/>
                  <a:pt x="119856" y="27266"/>
                  <a:pt x="121196" y="25927"/>
                </a:cubicBezTo>
                <a:lnTo>
                  <a:pt x="145009" y="2115"/>
                </a:lnTo>
                <a:cubicBezTo>
                  <a:pt x="147800" y="-674"/>
                  <a:pt x="152323" y="-671"/>
                  <a:pt x="155112" y="2121"/>
                </a:cubicBezTo>
                <a:cubicBezTo>
                  <a:pt x="156447" y="3459"/>
                  <a:pt x="157199" y="5272"/>
                  <a:pt x="157201" y="7163"/>
                </a:cubicBezTo>
                <a:lnTo>
                  <a:pt x="157201" y="33357"/>
                </a:lnTo>
                <a:lnTo>
                  <a:pt x="183394" y="33357"/>
                </a:lnTo>
                <a:cubicBezTo>
                  <a:pt x="187340" y="33360"/>
                  <a:pt x="190535" y="36561"/>
                  <a:pt x="190531" y="40507"/>
                </a:cubicBezTo>
                <a:cubicBezTo>
                  <a:pt x="190530" y="42397"/>
                  <a:pt x="189779" y="44211"/>
                  <a:pt x="188443" y="45549"/>
                </a:cubicBezTo>
                <a:lnTo>
                  <a:pt x="164630" y="69361"/>
                </a:lnTo>
                <a:cubicBezTo>
                  <a:pt x="163292" y="70701"/>
                  <a:pt x="161475" y="71455"/>
                  <a:pt x="159582" y="71457"/>
                </a:cubicBezTo>
                <a:lnTo>
                  <a:pt x="129197" y="71457"/>
                </a:lnTo>
                <a:lnTo>
                  <a:pt x="112814" y="87840"/>
                </a:lnTo>
                <a:cubicBezTo>
                  <a:pt x="113786" y="90126"/>
                  <a:pt x="114319" y="92631"/>
                  <a:pt x="114319" y="95269"/>
                </a:cubicBezTo>
                <a:close/>
                <a:moveTo>
                  <a:pt x="156620" y="57169"/>
                </a:moveTo>
                <a:lnTo>
                  <a:pt x="166145" y="47644"/>
                </a:lnTo>
                <a:lnTo>
                  <a:pt x="150047" y="47644"/>
                </a:lnTo>
                <a:cubicBezTo>
                  <a:pt x="146102" y="47644"/>
                  <a:pt x="142904" y="44446"/>
                  <a:pt x="142904" y="40500"/>
                </a:cubicBezTo>
                <a:lnTo>
                  <a:pt x="142904" y="24403"/>
                </a:lnTo>
                <a:lnTo>
                  <a:pt x="133388" y="33928"/>
                </a:lnTo>
                <a:lnTo>
                  <a:pt x="133388" y="56607"/>
                </a:lnTo>
                <a:cubicBezTo>
                  <a:pt x="133590" y="56783"/>
                  <a:pt x="133781" y="56970"/>
                  <a:pt x="133960" y="57169"/>
                </a:cubicBezTo>
                <a:lnTo>
                  <a:pt x="156629" y="57169"/>
                </a:lnTo>
                <a:close/>
              </a:path>
            </a:pathLst>
          </a:custGeom>
          <a:gradFill flip="none" rotWithShape="1">
            <a:gsLst>
              <a:gs pos="35000">
                <a:srgbClr val="0078D4"/>
              </a:gs>
              <a:gs pos="0">
                <a:srgbClr val="C03BC4"/>
              </a:gs>
            </a:gsLst>
            <a:path path="circle">
              <a:fillToRect l="100000" t="100000"/>
            </a:path>
            <a:tileRect r="-100000" b="-100000"/>
          </a:gradFill>
          <a:ln>
            <a:noFill/>
            <a:headEnd type="none" w="med" len="med"/>
            <a:tailEnd type="none" w="med" len="med"/>
          </a:ln>
          <a:effectLst>
            <a:outerShdw blurRad="63500" dist="127000" dir="2700000" algn="tl"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1" i="0" u="none" strike="noStrike" kern="1200" cap="none" spc="0" normalizeH="0" baseline="0" noProof="0" dirty="0">
              <a:ln w="3175">
                <a:noFill/>
              </a:ln>
              <a:gradFill>
                <a:gsLst>
                  <a:gs pos="76437">
                    <a:srgbClr val="FFFFFF"/>
                  </a:gs>
                  <a:gs pos="55747">
                    <a:srgbClr val="FFFFFF"/>
                  </a:gs>
                </a:gsLst>
                <a:path path="circle">
                  <a:fillToRect l="100000" b="100000"/>
                </a:path>
              </a:gradFill>
              <a:effectLst/>
              <a:uLnTx/>
              <a:uFillTx/>
              <a:latin typeface="Segoe UI Semibold"/>
              <a:ea typeface="+mn-ea"/>
              <a:cs typeface="Segoe UI" pitchFamily="34" charset="0"/>
            </a:endParaRPr>
          </a:p>
        </p:txBody>
      </p:sp>
      <p:sp>
        <p:nvSpPr>
          <p:cNvPr id="57" name="Rounded Rectangle 56">
            <a:extLst>
              <a:ext uri="{FF2B5EF4-FFF2-40B4-BE49-F238E27FC236}">
                <a16:creationId xmlns:a16="http://schemas.microsoft.com/office/drawing/2014/main" id="{EF663F63-7161-0E22-B109-112ABBE060CE}"/>
              </a:ext>
            </a:extLst>
          </p:cNvPr>
          <p:cNvSpPr>
            <a:spLocks/>
          </p:cNvSpPr>
          <p:nvPr/>
        </p:nvSpPr>
        <p:spPr bwMode="auto">
          <a:xfrm>
            <a:off x="6036310" y="1225509"/>
            <a:ext cx="5584190" cy="2925642"/>
          </a:xfrm>
          <a:prstGeom prst="roundRect">
            <a:avLst>
              <a:gd name="adj" fmla="val 2760"/>
            </a:avLst>
          </a:prstGeom>
          <a:solidFill>
            <a:schemeClr val="bg1"/>
          </a:solidFill>
          <a:ln>
            <a:solidFill>
              <a:schemeClr val="bg2"/>
            </a:solidFill>
          </a:ln>
          <a:effectLst>
            <a:outerShdw blurRad="223661" dist="140295" dir="2700000" algn="tl" rotWithShape="0">
              <a:schemeClr val="accent1">
                <a:alpha val="15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Segoe UI"/>
              <a:ea typeface="+mn-ea"/>
              <a:cs typeface="Segoe UI" pitchFamily="34" charset="0"/>
            </a:endParaRPr>
          </a:p>
        </p:txBody>
      </p:sp>
      <p:sp>
        <p:nvSpPr>
          <p:cNvPr id="88" name="TextBox 87">
            <a:extLst>
              <a:ext uri="{FF2B5EF4-FFF2-40B4-BE49-F238E27FC236}">
                <a16:creationId xmlns:a16="http://schemas.microsoft.com/office/drawing/2014/main" id="{26788858-E179-2BE3-1CE2-49AF1E79E14D}"/>
              </a:ext>
            </a:extLst>
          </p:cNvPr>
          <p:cNvSpPr txBox="1"/>
          <p:nvPr/>
        </p:nvSpPr>
        <p:spPr>
          <a:xfrm>
            <a:off x="739970" y="4913228"/>
            <a:ext cx="2109910" cy="215444"/>
          </a:xfrm>
          <a:prstGeom prst="rect">
            <a:avLst/>
          </a:prstGeom>
          <a:noFill/>
        </p:spPr>
        <p:txBody>
          <a:bodyPr wrap="square" lIns="0" tIns="0" rIns="0" bIns="0" anchor="ctr">
            <a:spAutoFit/>
          </a:bodyPr>
          <a:lstStyle>
            <a:defPPr>
              <a:defRPr lang="en-US"/>
            </a:defPPr>
            <a:lvl1pPr marR="0" lvl="0" indent="0" defTabSz="932472" fontAlgn="base">
              <a:spcBef>
                <a:spcPct val="0"/>
              </a:spcBef>
              <a:spcAft>
                <a:spcPts val="1200"/>
              </a:spcAft>
              <a:buClrTx/>
              <a:buSzTx/>
              <a:buFontTx/>
              <a:buNone/>
              <a:tabLst/>
              <a:defRPr kumimoji="0" sz="1400" b="0" i="0" u="none" strike="noStrike" cap="none" spc="0" normalizeH="0" baseline="0">
                <a:ln>
                  <a:noFill/>
                </a:ln>
                <a:gradFill>
                  <a:gsLst>
                    <a:gs pos="35000">
                      <a:srgbClr val="0078D4"/>
                    </a:gs>
                    <a:gs pos="0">
                      <a:srgbClr val="C03BC4"/>
                    </a:gs>
                  </a:gsLst>
                  <a:path path="circle">
                    <a:fillToRect l="100000" t="100000"/>
                  </a:path>
                </a:gradFill>
                <a:effectLst/>
                <a:uLnTx/>
                <a:uFillTx/>
                <a:latin typeface="+mj-lt"/>
                <a:ea typeface="Segoe UI" pitchFamily="34" charset="0"/>
                <a:cs typeface="Segoe UI Semibold" panose="020B0702040204020203" pitchFamily="34" charset="0"/>
              </a:defRPr>
            </a:lvl1pPr>
          </a:lstStyle>
          <a:p>
            <a:pPr marL="0" marR="0" lvl="0" indent="0" algn="l" defTabSz="932472" rtl="0" eaLnBrk="1" fontAlgn="base" latinLnBrk="0" hangingPunct="1">
              <a:lnSpc>
                <a:spcPct val="100000"/>
              </a:lnSpc>
              <a:spcBef>
                <a:spcPct val="0"/>
              </a:spcBef>
              <a:spcAft>
                <a:spcPts val="1200"/>
              </a:spcAft>
              <a:buClrTx/>
              <a:buSzTx/>
              <a:buFontTx/>
              <a:buNone/>
              <a:tabLst/>
              <a:defRPr/>
            </a:pPr>
            <a:r>
              <a:rPr kumimoji="0" lang="en-US" sz="1400" b="0" i="0" u="none" strike="noStrike" kern="1200" cap="none" spc="0" normalizeH="0" baseline="0" noProof="0" dirty="0">
                <a:ln>
                  <a:noFill/>
                </a:ln>
                <a:gradFill flip="none" rotWithShape="1">
                  <a:gsLst>
                    <a:gs pos="55000">
                      <a:srgbClr val="0078D4"/>
                    </a:gs>
                    <a:gs pos="0">
                      <a:srgbClr val="C03BC4"/>
                    </a:gs>
                  </a:gsLst>
                  <a:lin ang="13500000" scaled="1"/>
                  <a:tileRect/>
                </a:gradFill>
                <a:effectLst/>
                <a:uLnTx/>
                <a:uFillTx/>
                <a:latin typeface="Segoe UI Semibold"/>
                <a:cs typeface="Segoe UI Semibold"/>
              </a:rPr>
              <a:t>AI can assist with...</a:t>
            </a:r>
            <a:endParaRPr kumimoji="0" lang="en-US" sz="1400" b="0" i="0" u="none" strike="noStrike" kern="1200" cap="none" spc="0" normalizeH="0" baseline="0" noProof="0" dirty="0">
              <a:ln>
                <a:noFill/>
              </a:ln>
              <a:gradFill flip="none" rotWithShape="1">
                <a:gsLst>
                  <a:gs pos="55000">
                    <a:srgbClr val="0078D4"/>
                  </a:gs>
                  <a:gs pos="0">
                    <a:srgbClr val="C03BC4"/>
                  </a:gs>
                </a:gsLst>
                <a:lin ang="13500000" scaled="1"/>
                <a:tileRect/>
              </a:gradFill>
              <a:effectLst/>
              <a:uLnTx/>
              <a:uFillTx/>
              <a:latin typeface="Segoe UI Semibold"/>
              <a:cs typeface="Segoe UI Semibold" panose="020B0702040204020203" pitchFamily="34" charset="0"/>
            </a:endParaRPr>
          </a:p>
        </p:txBody>
      </p:sp>
      <p:sp>
        <p:nvSpPr>
          <p:cNvPr id="89" name="Graphic 60">
            <a:extLst>
              <a:ext uri="{FF2B5EF4-FFF2-40B4-BE49-F238E27FC236}">
                <a16:creationId xmlns:a16="http://schemas.microsoft.com/office/drawing/2014/main" id="{1BAE4459-1D4F-1538-D10A-833425CFC4C8}"/>
              </a:ext>
              <a:ext uri="{C183D7F6-B498-43B3-948B-1728B52AA6E4}">
                <adec:decorative xmlns:adec="http://schemas.microsoft.com/office/drawing/2017/decorative" val="1"/>
              </a:ext>
            </a:extLst>
          </p:cNvPr>
          <p:cNvSpPr>
            <a:spLocks/>
          </p:cNvSpPr>
          <p:nvPr/>
        </p:nvSpPr>
        <p:spPr>
          <a:xfrm>
            <a:off x="739970" y="4475436"/>
            <a:ext cx="304800" cy="304800"/>
          </a:xfrm>
          <a:custGeom>
            <a:avLst/>
            <a:gdLst>
              <a:gd name="connsiteX0" fmla="*/ 152400 w 304800"/>
              <a:gd name="connsiteY0" fmla="*/ 0 h 304800"/>
              <a:gd name="connsiteX1" fmla="*/ 304800 w 304800"/>
              <a:gd name="connsiteY1" fmla="*/ 152400 h 304800"/>
              <a:gd name="connsiteX2" fmla="*/ 152400 w 304800"/>
              <a:gd name="connsiteY2" fmla="*/ 304800 h 304800"/>
              <a:gd name="connsiteX3" fmla="*/ 0 w 304800"/>
              <a:gd name="connsiteY3" fmla="*/ 152400 h 304800"/>
              <a:gd name="connsiteX4" fmla="*/ 152400 w 304800"/>
              <a:gd name="connsiteY4" fmla="*/ 0 h 304800"/>
              <a:gd name="connsiteX5" fmla="*/ 152400 w 304800"/>
              <a:gd name="connsiteY5" fmla="*/ 25405 h 304800"/>
              <a:gd name="connsiteX6" fmla="*/ 25405 w 304800"/>
              <a:gd name="connsiteY6" fmla="*/ 152400 h 304800"/>
              <a:gd name="connsiteX7" fmla="*/ 152400 w 304800"/>
              <a:gd name="connsiteY7" fmla="*/ 279395 h 304800"/>
              <a:gd name="connsiteX8" fmla="*/ 279395 w 304800"/>
              <a:gd name="connsiteY8" fmla="*/ 152400 h 304800"/>
              <a:gd name="connsiteX9" fmla="*/ 152400 w 304800"/>
              <a:gd name="connsiteY9" fmla="*/ 25405 h 304800"/>
              <a:gd name="connsiteX10" fmla="*/ 152400 w 304800"/>
              <a:gd name="connsiteY10" fmla="*/ 205740 h 304800"/>
              <a:gd name="connsiteX11" fmla="*/ 167640 w 304800"/>
              <a:gd name="connsiteY11" fmla="*/ 220980 h 304800"/>
              <a:gd name="connsiteX12" fmla="*/ 152400 w 304800"/>
              <a:gd name="connsiteY12" fmla="*/ 236220 h 304800"/>
              <a:gd name="connsiteX13" fmla="*/ 137160 w 304800"/>
              <a:gd name="connsiteY13" fmla="*/ 220980 h 304800"/>
              <a:gd name="connsiteX14" fmla="*/ 152400 w 304800"/>
              <a:gd name="connsiteY14" fmla="*/ 205740 h 304800"/>
              <a:gd name="connsiteX15" fmla="*/ 152400 w 304800"/>
              <a:gd name="connsiteY15" fmla="*/ 72390 h 304800"/>
              <a:gd name="connsiteX16" fmla="*/ 194310 w 304800"/>
              <a:gd name="connsiteY16" fmla="*/ 114300 h 304800"/>
              <a:gd name="connsiteX17" fmla="*/ 178293 w 304800"/>
              <a:gd name="connsiteY17" fmla="*/ 150251 h 304800"/>
              <a:gd name="connsiteX18" fmla="*/ 175717 w 304800"/>
              <a:gd name="connsiteY18" fmla="*/ 152857 h 304800"/>
              <a:gd name="connsiteX19" fmla="*/ 163830 w 304800"/>
              <a:gd name="connsiteY19" fmla="*/ 175260 h 304800"/>
              <a:gd name="connsiteX20" fmla="*/ 152400 w 304800"/>
              <a:gd name="connsiteY20" fmla="*/ 186690 h 304800"/>
              <a:gd name="connsiteX21" fmla="*/ 140970 w 304800"/>
              <a:gd name="connsiteY21" fmla="*/ 175260 h 304800"/>
              <a:gd name="connsiteX22" fmla="*/ 156987 w 304800"/>
              <a:gd name="connsiteY22" fmla="*/ 139309 h 304800"/>
              <a:gd name="connsiteX23" fmla="*/ 159563 w 304800"/>
              <a:gd name="connsiteY23" fmla="*/ 136703 h 304800"/>
              <a:gd name="connsiteX24" fmla="*/ 171450 w 304800"/>
              <a:gd name="connsiteY24" fmla="*/ 114300 h 304800"/>
              <a:gd name="connsiteX25" fmla="*/ 152339 w 304800"/>
              <a:gd name="connsiteY25" fmla="*/ 95312 h 304800"/>
              <a:gd name="connsiteX26" fmla="*/ 133457 w 304800"/>
              <a:gd name="connsiteY26" fmla="*/ 112349 h 304800"/>
              <a:gd name="connsiteX27" fmla="*/ 133350 w 304800"/>
              <a:gd name="connsiteY27" fmla="*/ 114300 h 304800"/>
              <a:gd name="connsiteX28" fmla="*/ 121920 w 304800"/>
              <a:gd name="connsiteY28" fmla="*/ 125730 h 304800"/>
              <a:gd name="connsiteX29" fmla="*/ 110490 w 304800"/>
              <a:gd name="connsiteY29" fmla="*/ 114300 h 304800"/>
              <a:gd name="connsiteX30" fmla="*/ 152400 w 304800"/>
              <a:gd name="connsiteY30" fmla="*/ 72390 h 30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304800" h="304800">
                <a:moveTo>
                  <a:pt x="152400" y="0"/>
                </a:moveTo>
                <a:cubicBezTo>
                  <a:pt x="236571" y="0"/>
                  <a:pt x="304800" y="68245"/>
                  <a:pt x="304800" y="152400"/>
                </a:cubicBezTo>
                <a:cubicBezTo>
                  <a:pt x="304800" y="236555"/>
                  <a:pt x="236571" y="304800"/>
                  <a:pt x="152400" y="304800"/>
                </a:cubicBezTo>
                <a:cubicBezTo>
                  <a:pt x="68229" y="304800"/>
                  <a:pt x="0" y="236555"/>
                  <a:pt x="0" y="152400"/>
                </a:cubicBezTo>
                <a:cubicBezTo>
                  <a:pt x="0" y="68245"/>
                  <a:pt x="68229" y="0"/>
                  <a:pt x="152400" y="0"/>
                </a:cubicBezTo>
                <a:close/>
                <a:moveTo>
                  <a:pt x="152400" y="25405"/>
                </a:moveTo>
                <a:cubicBezTo>
                  <a:pt x="82372" y="25405"/>
                  <a:pt x="25405" y="82372"/>
                  <a:pt x="25405" y="152400"/>
                </a:cubicBezTo>
                <a:cubicBezTo>
                  <a:pt x="25405" y="222428"/>
                  <a:pt x="82372" y="279395"/>
                  <a:pt x="152400" y="279395"/>
                </a:cubicBezTo>
                <a:cubicBezTo>
                  <a:pt x="222428" y="279395"/>
                  <a:pt x="279395" y="222428"/>
                  <a:pt x="279395" y="152400"/>
                </a:cubicBezTo>
                <a:cubicBezTo>
                  <a:pt x="279395" y="82372"/>
                  <a:pt x="222428" y="25405"/>
                  <a:pt x="152400" y="25405"/>
                </a:cubicBezTo>
                <a:close/>
                <a:moveTo>
                  <a:pt x="152400" y="205740"/>
                </a:moveTo>
                <a:cubicBezTo>
                  <a:pt x="160817" y="205740"/>
                  <a:pt x="167640" y="212563"/>
                  <a:pt x="167640" y="220980"/>
                </a:cubicBezTo>
                <a:cubicBezTo>
                  <a:pt x="167640" y="229397"/>
                  <a:pt x="160817" y="236220"/>
                  <a:pt x="152400" y="236220"/>
                </a:cubicBezTo>
                <a:cubicBezTo>
                  <a:pt x="143983" y="236220"/>
                  <a:pt x="137160" y="229397"/>
                  <a:pt x="137160" y="220980"/>
                </a:cubicBezTo>
                <a:cubicBezTo>
                  <a:pt x="137160" y="212563"/>
                  <a:pt x="143983" y="205740"/>
                  <a:pt x="152400" y="205740"/>
                </a:cubicBezTo>
                <a:close/>
                <a:moveTo>
                  <a:pt x="152400" y="72390"/>
                </a:moveTo>
                <a:cubicBezTo>
                  <a:pt x="175547" y="72390"/>
                  <a:pt x="194310" y="91154"/>
                  <a:pt x="194310" y="114300"/>
                </a:cubicBezTo>
                <a:cubicBezTo>
                  <a:pt x="194310" y="129692"/>
                  <a:pt x="189784" y="138288"/>
                  <a:pt x="178293" y="150251"/>
                </a:cubicBezTo>
                <a:lnTo>
                  <a:pt x="175717" y="152857"/>
                </a:lnTo>
                <a:cubicBezTo>
                  <a:pt x="166238" y="162336"/>
                  <a:pt x="163830" y="166360"/>
                  <a:pt x="163830" y="175260"/>
                </a:cubicBezTo>
                <a:cubicBezTo>
                  <a:pt x="163830" y="181572"/>
                  <a:pt x="158712" y="186690"/>
                  <a:pt x="152400" y="186690"/>
                </a:cubicBezTo>
                <a:cubicBezTo>
                  <a:pt x="146088" y="186690"/>
                  <a:pt x="140970" y="181572"/>
                  <a:pt x="140970" y="175260"/>
                </a:cubicBezTo>
                <a:cubicBezTo>
                  <a:pt x="140970" y="159868"/>
                  <a:pt x="145496" y="151272"/>
                  <a:pt x="156987" y="139309"/>
                </a:cubicBezTo>
                <a:lnTo>
                  <a:pt x="159563" y="136703"/>
                </a:lnTo>
                <a:cubicBezTo>
                  <a:pt x="169042" y="127224"/>
                  <a:pt x="171450" y="123200"/>
                  <a:pt x="171450" y="114300"/>
                </a:cubicBezTo>
                <a:cubicBezTo>
                  <a:pt x="171416" y="103779"/>
                  <a:pt x="162859" y="95278"/>
                  <a:pt x="152339" y="95312"/>
                </a:cubicBezTo>
                <a:cubicBezTo>
                  <a:pt x="142621" y="95343"/>
                  <a:pt x="134484" y="102685"/>
                  <a:pt x="133457" y="112349"/>
                </a:cubicBezTo>
                <a:lnTo>
                  <a:pt x="133350" y="114300"/>
                </a:lnTo>
                <a:cubicBezTo>
                  <a:pt x="133350" y="120613"/>
                  <a:pt x="128232" y="125730"/>
                  <a:pt x="121920" y="125730"/>
                </a:cubicBezTo>
                <a:cubicBezTo>
                  <a:pt x="115607" y="125730"/>
                  <a:pt x="110490" y="120613"/>
                  <a:pt x="110490" y="114300"/>
                </a:cubicBezTo>
                <a:cubicBezTo>
                  <a:pt x="110490" y="91154"/>
                  <a:pt x="129253" y="72390"/>
                  <a:pt x="152400" y="72390"/>
                </a:cubicBezTo>
                <a:close/>
              </a:path>
            </a:pathLst>
          </a:custGeom>
          <a:gradFill flip="none" rotWithShape="1">
            <a:gsLst>
              <a:gs pos="35000">
                <a:srgbClr val="0078D4"/>
              </a:gs>
              <a:gs pos="0">
                <a:srgbClr val="C03BC4"/>
              </a:gs>
            </a:gsLst>
            <a:path path="circle">
              <a:fillToRect l="100000" t="100000"/>
            </a:path>
            <a:tileRect r="-100000" b="-100000"/>
          </a:gradFill>
          <a:ln>
            <a:noFill/>
            <a:headEnd type="none" w="med" len="med"/>
            <a:tailEnd type="none" w="med" len="med"/>
          </a:ln>
          <a:effectLst>
            <a:outerShdw blurRad="63500" dist="127000" dir="2700000" algn="tl"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1" i="0" u="none" strike="noStrike" kern="1200" cap="none" spc="0" normalizeH="0" baseline="0" noProof="0" dirty="0">
              <a:ln w="3175">
                <a:noFill/>
              </a:ln>
              <a:gradFill>
                <a:gsLst>
                  <a:gs pos="76437">
                    <a:srgbClr val="FFFFFF"/>
                  </a:gs>
                  <a:gs pos="55747">
                    <a:srgbClr val="FFFFFF"/>
                  </a:gs>
                </a:gsLst>
                <a:path path="circle">
                  <a:fillToRect l="100000" b="100000"/>
                </a:path>
              </a:gradFill>
              <a:effectLst/>
              <a:uLnTx/>
              <a:uFillTx/>
              <a:latin typeface="Segoe UI Semibold"/>
              <a:ea typeface="+mn-ea"/>
              <a:cs typeface="Segoe UI" pitchFamily="34" charset="0"/>
            </a:endParaRPr>
          </a:p>
        </p:txBody>
      </p:sp>
      <p:sp>
        <p:nvSpPr>
          <p:cNvPr id="108" name="Text Placeholder 4">
            <a:extLst>
              <a:ext uri="{FF2B5EF4-FFF2-40B4-BE49-F238E27FC236}">
                <a16:creationId xmlns:a16="http://schemas.microsoft.com/office/drawing/2014/main" id="{728E08DC-9043-4716-A594-743EC7A23519}"/>
              </a:ext>
            </a:extLst>
          </p:cNvPr>
          <p:cNvSpPr txBox="1">
            <a:spLocks/>
          </p:cNvSpPr>
          <p:nvPr/>
        </p:nvSpPr>
        <p:spPr>
          <a:xfrm>
            <a:off x="739969" y="5445672"/>
            <a:ext cx="2357611" cy="543995"/>
          </a:xfrm>
          <a:prstGeom prst="rect">
            <a:avLst/>
          </a:prstGeom>
        </p:spPr>
        <p:txBody>
          <a:bodyPr vert="horz" wrap="square" lIns="0" tIns="0" rIns="0" bIns="0" rtlCol="0" anchor="ctr">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582780" rtl="0" eaLnBrk="1" fontAlgn="auto" latinLnBrk="0" hangingPunct="1">
              <a:lnSpc>
                <a:spcPct val="110000"/>
              </a:lnSpc>
              <a:spcBef>
                <a:spcPct val="0"/>
              </a:spcBef>
              <a:spcAft>
                <a:spcPts val="300"/>
              </a:spcAft>
              <a:buClrTx/>
              <a:buSzTx/>
              <a:buFont typeface="Wingdings" panose="05000000000000000000" pitchFamily="2" charset="2"/>
              <a:buNone/>
              <a:tabLst/>
              <a:defRPr/>
            </a:pPr>
            <a:r>
              <a:rPr kumimoji="0" lang="en-US" sz="1100" b="0" i="0" u="none" strike="noStrike" kern="1200" cap="none" spc="0" normalizeH="0" baseline="0" noProof="0" dirty="0">
                <a:ln>
                  <a:noFill/>
                </a:ln>
                <a:solidFill>
                  <a:srgbClr val="000000"/>
                </a:solidFill>
                <a:effectLst/>
                <a:uLnTx/>
                <a:uFillTx/>
                <a:latin typeface="Segoe UI"/>
                <a:ea typeface="+mn-ea"/>
                <a:cs typeface="Segoe UI Semilight" panose="020B0402040204020203" pitchFamily="34" charset="0"/>
              </a:rPr>
              <a:t>AI helps Finance teams improve financial processes, risk management,  and access to information. </a:t>
            </a:r>
          </a:p>
        </p:txBody>
      </p:sp>
      <p:sp>
        <p:nvSpPr>
          <p:cNvPr id="12" name="Rounded Rectangle 55">
            <a:extLst>
              <a:ext uri="{FF2B5EF4-FFF2-40B4-BE49-F238E27FC236}">
                <a16:creationId xmlns:a16="http://schemas.microsoft.com/office/drawing/2014/main" id="{6BA6E264-08DF-42B8-EE0D-55F99DB2F861}"/>
              </a:ext>
            </a:extLst>
          </p:cNvPr>
          <p:cNvSpPr/>
          <p:nvPr/>
        </p:nvSpPr>
        <p:spPr bwMode="auto">
          <a:xfrm>
            <a:off x="588263" y="2765325"/>
            <a:ext cx="5310887" cy="1386124"/>
          </a:xfrm>
          <a:prstGeom prst="roundRect">
            <a:avLst>
              <a:gd name="adj" fmla="val 6635"/>
            </a:avLst>
          </a:prstGeom>
          <a:solidFill>
            <a:schemeClr val="bg1"/>
          </a:solidFill>
          <a:ln>
            <a:solidFill>
              <a:schemeClr val="bg2"/>
            </a:solidFill>
          </a:ln>
          <a:effectLst>
            <a:outerShdw blurRad="223661" dist="140295" dir="2700000" algn="tl" rotWithShape="0">
              <a:schemeClr val="accent1">
                <a:alpha val="15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Segoe UI"/>
              <a:ea typeface="+mn-ea"/>
              <a:cs typeface="Segoe UI" pitchFamily="34" charset="0"/>
            </a:endParaRPr>
          </a:p>
        </p:txBody>
      </p:sp>
      <p:graphicFrame>
        <p:nvGraphicFramePr>
          <p:cNvPr id="16" name="Table 15">
            <a:extLst>
              <a:ext uri="{FF2B5EF4-FFF2-40B4-BE49-F238E27FC236}">
                <a16:creationId xmlns:a16="http://schemas.microsoft.com/office/drawing/2014/main" id="{189DD4D4-3E1C-35CF-A735-24B503742E26}"/>
              </a:ext>
            </a:extLst>
          </p:cNvPr>
          <p:cNvGraphicFramePr>
            <a:graphicFrameLocks noGrp="1"/>
          </p:cNvGraphicFramePr>
          <p:nvPr/>
        </p:nvGraphicFramePr>
        <p:xfrm>
          <a:off x="6036310" y="1225509"/>
          <a:ext cx="5496053" cy="2853542"/>
        </p:xfrm>
        <a:graphic>
          <a:graphicData uri="http://schemas.openxmlformats.org/drawingml/2006/table">
            <a:tbl>
              <a:tblPr firstRow="1" bandRow="1">
                <a:tableStyleId>{5C22544A-7EE6-4342-B048-85BDC9FD1C3A}</a:tableStyleId>
              </a:tblPr>
              <a:tblGrid>
                <a:gridCol w="1070154">
                  <a:extLst>
                    <a:ext uri="{9D8B030D-6E8A-4147-A177-3AD203B41FA5}">
                      <a16:colId xmlns:a16="http://schemas.microsoft.com/office/drawing/2014/main" val="1464606022"/>
                    </a:ext>
                  </a:extLst>
                </a:gridCol>
                <a:gridCol w="4425899">
                  <a:extLst>
                    <a:ext uri="{9D8B030D-6E8A-4147-A177-3AD203B41FA5}">
                      <a16:colId xmlns:a16="http://schemas.microsoft.com/office/drawing/2014/main" val="2911697903"/>
                    </a:ext>
                  </a:extLst>
                </a:gridCol>
              </a:tblGrid>
              <a:tr h="288221">
                <a:tc gridSpan="2">
                  <a:txBody>
                    <a:bodyPr/>
                    <a:lstStyle/>
                    <a:p>
                      <a:pPr marL="0" marR="0" lvl="0" indent="0" algn="l" defTabSz="932472" rtl="0" eaLnBrk="1" fontAlgn="base" latinLnBrk="0" hangingPunct="1">
                        <a:lnSpc>
                          <a:spcPct val="100000"/>
                        </a:lnSpc>
                        <a:spcBef>
                          <a:spcPct val="0"/>
                        </a:spcBef>
                        <a:spcAft>
                          <a:spcPts val="1200"/>
                        </a:spcAft>
                        <a:buClrTx/>
                        <a:buSzTx/>
                        <a:buFontTx/>
                        <a:buNone/>
                        <a:tabLst/>
                        <a:defRPr/>
                      </a:pPr>
                      <a:r>
                        <a:rPr kumimoji="0" lang="en-US" sz="1200" b="0" i="0" u="none" strike="noStrike" kern="1200" cap="none" spc="0" normalizeH="0" baseline="0" noProof="0" dirty="0">
                          <a:ln>
                            <a:noFill/>
                          </a:ln>
                          <a:gradFill flip="none" rotWithShape="1">
                            <a:gsLst>
                              <a:gs pos="55000">
                                <a:srgbClr val="0078D4"/>
                              </a:gs>
                              <a:gs pos="0">
                                <a:srgbClr val="C03BC4"/>
                              </a:gs>
                            </a:gsLst>
                            <a:lin ang="13500000" scaled="1"/>
                            <a:tileRect/>
                          </a:gradFill>
                          <a:effectLst/>
                          <a:uLnTx/>
                          <a:uFillTx/>
                          <a:latin typeface="+mj-lt"/>
                          <a:ea typeface="+mn-ea"/>
                          <a:cs typeface="Segoe UI Semibold" panose="020B0702040204020203" pitchFamily="34" charset="0"/>
                        </a:rPr>
                        <a:t>Opportunity to impact Finance KPIs</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hMerge="1">
                  <a:txBody>
                    <a:bodyPr/>
                    <a:lstStyle/>
                    <a:p>
                      <a:endParaRPr lang="en-IN"/>
                    </a:p>
                  </a:txBody>
                  <a:tcP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4146526871"/>
                  </a:ext>
                </a:extLst>
              </a:tr>
              <a:tr h="480368">
                <a:tc>
                  <a:txBody>
                    <a:bodyPr/>
                    <a:lstStyle/>
                    <a:p>
                      <a:pPr marL="0" marR="0" lvl="0" indent="0" algn="l" defTabSz="914225"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8661C5"/>
                          </a:solidFill>
                          <a:effectLst/>
                          <a:uLnTx/>
                          <a:uFillTx/>
                          <a:latin typeface="+mj-lt"/>
                          <a:ea typeface="+mn-ea"/>
                          <a:cs typeface="Segoe UI Semibold" panose="020B0702040204020203" pitchFamily="34" charset="0"/>
                          <a:hlinkClick r:id="rId3" action="ppaction://hlinksldjump">
                            <a:extLst>
                              <a:ext uri="{A12FA001-AC4F-418D-AE19-62706E023703}">
                                <ahyp:hlinkClr xmlns:ahyp="http://schemas.microsoft.com/office/drawing/2018/hyperlinkcolor" val="tx"/>
                              </a:ext>
                            </a:extLst>
                          </a:hlinkClick>
                        </a:rPr>
                        <a:t>Outsourcing spend</a:t>
                      </a:r>
                      <a:endParaRPr kumimoji="0" lang="en-US" sz="1000" b="0" i="0" u="none" strike="noStrike" kern="1200" cap="none" spc="0" normalizeH="0" baseline="0" noProof="0" dirty="0">
                        <a:ln>
                          <a:noFill/>
                        </a:ln>
                        <a:solidFill>
                          <a:srgbClr val="8661C5"/>
                        </a:solidFill>
                        <a:effectLst/>
                        <a:uLnTx/>
                        <a:uFillTx/>
                        <a:latin typeface="+mj-lt"/>
                        <a:ea typeface="+mn-ea"/>
                        <a:cs typeface="Segoe UI Semibold" panose="020B0702040204020203" pitchFamily="34" charset="0"/>
                      </a:endParaRPr>
                    </a:p>
                  </a:txBody>
                  <a:tcPr marL="54864" marR="54864" marT="27432" marB="27432" anchor="ctr">
                    <a:lnL w="6350" cap="flat" cmpd="sng" algn="ctr">
                      <a:no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l" defTabSz="914225" rtl="0" eaLnBrk="1" fontAlgn="auto" latinLnBrk="0" hangingPunct="1">
                        <a:lnSpc>
                          <a:spcPct val="110000"/>
                        </a:lnSpc>
                        <a:spcBef>
                          <a:spcPts val="0"/>
                        </a:spcBef>
                        <a:spcAft>
                          <a:spcPts val="60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mn-lt"/>
                          <a:ea typeface="+mn-ea"/>
                          <a:cs typeface="Segoe UI" panose="020B0502040204020203" pitchFamily="34" charset="0"/>
                        </a:rPr>
                        <a:t>By assisting with everyday tasks, Copilot can help increase time for additional analysis, proactive audits, collections processes, and financial reporting.</a:t>
                      </a:r>
                    </a:p>
                  </a:txBody>
                  <a:tcPr marL="54864" marR="54864" marT="27432" marB="27432" anchor="ctr">
                    <a:lnL w="6350" cap="flat" cmpd="sng" algn="ctr">
                      <a:solidFill>
                        <a:schemeClr val="bg1">
                          <a:lumMod val="8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642407484"/>
                  </a:ext>
                </a:extLst>
              </a:tr>
              <a:tr h="507790">
                <a:tc>
                  <a:txBody>
                    <a:bodyPr/>
                    <a:lstStyle/>
                    <a:p>
                      <a:pPr marL="0" marR="0" lvl="0" indent="0" algn="l" defTabSz="914225"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8661C5"/>
                          </a:solidFill>
                          <a:effectLst/>
                          <a:uLnTx/>
                          <a:uFillTx/>
                          <a:latin typeface="+mj-lt"/>
                          <a:ea typeface="+mn-ea"/>
                          <a:cs typeface="Segoe UI Semibold" panose="020B0702040204020203" pitchFamily="34" charset="0"/>
                          <a:hlinkClick r:id="rId4" action="ppaction://hlinksldjump">
                            <a:extLst>
                              <a:ext uri="{A12FA001-AC4F-418D-AE19-62706E023703}">
                                <ahyp:hlinkClr xmlns:ahyp="http://schemas.microsoft.com/office/drawing/2018/hyperlinkcolor" val="tx"/>
                              </a:ext>
                            </a:extLst>
                          </a:hlinkClick>
                        </a:rPr>
                        <a:t>Cost per analysis request</a:t>
                      </a:r>
                      <a:endParaRPr kumimoji="0" lang="en-US" sz="1000" b="0" i="0" u="none" strike="noStrike" kern="1200" cap="none" spc="0" normalizeH="0" baseline="0" noProof="0" dirty="0">
                        <a:ln>
                          <a:noFill/>
                        </a:ln>
                        <a:solidFill>
                          <a:srgbClr val="8661C5"/>
                        </a:solidFill>
                        <a:effectLst/>
                        <a:uLnTx/>
                        <a:uFillTx/>
                        <a:latin typeface="+mj-lt"/>
                        <a:ea typeface="+mn-ea"/>
                        <a:cs typeface="Segoe UI Semibold" panose="020B0702040204020203" pitchFamily="34" charset="0"/>
                      </a:endParaRPr>
                    </a:p>
                  </a:txBody>
                  <a:tcPr marL="54864" marR="54864" marT="27432" marB="27432" anchor="ctr">
                    <a:lnL w="6350" cap="flat" cmpd="sng" algn="ctr">
                      <a:no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defTabSz="932597" fontAlgn="auto">
                        <a:lnSpc>
                          <a:spcPct val="100000"/>
                        </a:lnSpc>
                        <a:spcBef>
                          <a:spcPts val="0"/>
                        </a:spcBef>
                        <a:spcAft>
                          <a:spcPts val="600"/>
                        </a:spcAft>
                        <a:buClrTx/>
                        <a:buSzTx/>
                        <a:buNone/>
                        <a:tabLst/>
                        <a:defRPr/>
                      </a:pPr>
                      <a:r>
                        <a:rPr lang="en-US" sz="900" noProof="0" dirty="0">
                          <a:solidFill>
                            <a:srgbClr val="000000"/>
                          </a:solidFill>
                          <a:latin typeface="+mn-lt"/>
                          <a:cs typeface="Segoe UI" panose="020B0502040204020203" pitchFamily="34" charset="0"/>
                        </a:rPr>
                        <a:t>Copilot can help with lowering resolution times which in turn leads to increased analyst productivity and higher customer satisfaction rates.</a:t>
                      </a:r>
                    </a:p>
                  </a:txBody>
                  <a:tcPr marL="54864" marR="54864" marT="27432" marB="27432" anchor="ctr">
                    <a:lnL w="6350" cap="flat" cmpd="sng" algn="ctr">
                      <a:solidFill>
                        <a:schemeClr val="bg1">
                          <a:lumMod val="8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173384838"/>
                  </a:ext>
                </a:extLst>
              </a:tr>
              <a:tr h="528405">
                <a:tc>
                  <a:txBody>
                    <a:bodyPr/>
                    <a:lstStyle/>
                    <a:p>
                      <a:pPr marL="0" marR="0" lvl="0" indent="0" algn="l" defTabSz="914225"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8661C5"/>
                          </a:solidFill>
                          <a:effectLst/>
                          <a:uLnTx/>
                          <a:uFillTx/>
                          <a:latin typeface="+mj-lt"/>
                          <a:ea typeface="+mn-ea"/>
                          <a:cs typeface="Segoe UI Semibold" panose="020B0702040204020203" pitchFamily="34" charset="0"/>
                          <a:hlinkClick r:id="rId5" action="ppaction://hlinksldjump">
                            <a:extLst>
                              <a:ext uri="{A12FA001-AC4F-418D-AE19-62706E023703}">
                                <ahyp:hlinkClr xmlns:ahyp="http://schemas.microsoft.com/office/drawing/2018/hyperlinkcolor" val="tx"/>
                              </a:ext>
                            </a:extLst>
                          </a:hlinkClick>
                        </a:rPr>
                        <a:t>Days sales outstanding</a:t>
                      </a:r>
                      <a:endParaRPr kumimoji="0" lang="en-US" sz="1000" b="0" i="0" u="none" strike="noStrike" kern="1200" cap="none" spc="0" normalizeH="0" baseline="0" noProof="0" dirty="0">
                        <a:ln>
                          <a:noFill/>
                        </a:ln>
                        <a:solidFill>
                          <a:srgbClr val="8661C5"/>
                        </a:solidFill>
                        <a:effectLst/>
                        <a:uLnTx/>
                        <a:uFillTx/>
                        <a:latin typeface="+mj-lt"/>
                        <a:ea typeface="+mn-ea"/>
                        <a:cs typeface="Segoe UI Semibold" panose="020B0702040204020203" pitchFamily="34" charset="0"/>
                      </a:endParaRPr>
                    </a:p>
                  </a:txBody>
                  <a:tcPr marL="54864" marR="54864" marT="27432" marB="27432" anchor="ctr">
                    <a:lnL w="6350" cap="flat" cmpd="sng" algn="ctr">
                      <a:no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l" defTabSz="914225" rtl="0" eaLnBrk="1" fontAlgn="auto" latinLnBrk="0" hangingPunct="1">
                        <a:lnSpc>
                          <a:spcPct val="110000"/>
                        </a:lnSpc>
                        <a:spcBef>
                          <a:spcPts val="0"/>
                        </a:spcBef>
                        <a:spcAft>
                          <a:spcPts val="60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mn-lt"/>
                          <a:ea typeface="+mn-ea"/>
                          <a:cs typeface="Segoe UI" panose="020B0502040204020203" pitchFamily="34" charset="0"/>
                        </a:rPr>
                        <a:t>Improve billing and collections processes by enhancing communications with customers and vendors.</a:t>
                      </a:r>
                    </a:p>
                  </a:txBody>
                  <a:tcPr marL="54864" marR="54864" marT="27432" marB="27432" anchor="ctr">
                    <a:lnL w="6350" cap="flat" cmpd="sng" algn="ctr">
                      <a:solidFill>
                        <a:schemeClr val="bg1">
                          <a:lumMod val="8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4010844117"/>
                  </a:ext>
                </a:extLst>
              </a:tr>
              <a:tr h="384294">
                <a:tc>
                  <a:txBody>
                    <a:bodyPr/>
                    <a:lstStyle/>
                    <a:p>
                      <a:pPr marL="0" marR="0" lvl="0" indent="0" algn="l" defTabSz="914225"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8661C5"/>
                          </a:solidFill>
                          <a:effectLst/>
                          <a:uLnTx/>
                          <a:uFillTx/>
                          <a:latin typeface="+mj-lt"/>
                          <a:ea typeface="+mn-ea"/>
                          <a:cs typeface="Segoe UI Semibold" panose="020B0702040204020203" pitchFamily="34" charset="0"/>
                          <a:hlinkClick r:id="rId6" action="ppaction://hlinksldjump">
                            <a:extLst>
                              <a:ext uri="{A12FA001-AC4F-418D-AE19-62706E023703}">
                                <ahyp:hlinkClr xmlns:ahyp="http://schemas.microsoft.com/office/drawing/2018/hyperlinkcolor" val="tx"/>
                              </a:ext>
                            </a:extLst>
                          </a:hlinkClick>
                        </a:rPr>
                        <a:t>Risk management</a:t>
                      </a:r>
                      <a:endParaRPr kumimoji="0" lang="en-US" sz="1000" b="0" i="0" u="none" strike="noStrike" kern="1200" cap="none" spc="0" normalizeH="0" baseline="0" noProof="0" dirty="0">
                        <a:ln>
                          <a:noFill/>
                        </a:ln>
                        <a:solidFill>
                          <a:srgbClr val="8661C5"/>
                        </a:solidFill>
                        <a:effectLst/>
                        <a:uLnTx/>
                        <a:uFillTx/>
                        <a:latin typeface="+mj-lt"/>
                        <a:ea typeface="+mn-ea"/>
                        <a:cs typeface="Segoe UI Semibold" panose="020B0702040204020203" pitchFamily="34" charset="0"/>
                      </a:endParaRPr>
                    </a:p>
                  </a:txBody>
                  <a:tcPr marL="54864" marR="54864" marT="27432" marB="27432" anchor="ctr">
                    <a:lnL w="6350" cap="flat" cmpd="sng" algn="ctr">
                      <a:no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l" defTabSz="914225" rtl="0" eaLnBrk="1" fontAlgn="auto" latinLnBrk="0" hangingPunct="1">
                        <a:lnSpc>
                          <a:spcPct val="110000"/>
                        </a:lnSpc>
                        <a:spcBef>
                          <a:spcPts val="0"/>
                        </a:spcBef>
                        <a:spcAft>
                          <a:spcPts val="60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mn-lt"/>
                          <a:ea typeface="+mn-ea"/>
                          <a:cs typeface="Segoe UI" panose="020B0502040204020203" pitchFamily="34" charset="0"/>
                        </a:rPr>
                        <a:t>Copilot frees up time for critical decisions, streamlining audits, simplifying collections, and accelerating financial reporting.</a:t>
                      </a:r>
                    </a:p>
                  </a:txBody>
                  <a:tcPr marL="54864" marR="54864" marT="27432" marB="27432" anchor="ctr">
                    <a:lnL w="6350" cap="flat" cmpd="sng" algn="ctr">
                      <a:solidFill>
                        <a:schemeClr val="bg1">
                          <a:lumMod val="8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918171760"/>
                  </a:ext>
                </a:extLst>
              </a:tr>
              <a:tr h="384294">
                <a:tc>
                  <a:txBody>
                    <a:bodyPr/>
                    <a:lstStyle/>
                    <a:p>
                      <a:pPr marL="0" marR="0" lvl="0" indent="0" algn="l" defTabSz="914225"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8661C5"/>
                          </a:solidFill>
                          <a:effectLst/>
                          <a:uLnTx/>
                          <a:uFillTx/>
                          <a:latin typeface="+mj-lt"/>
                          <a:ea typeface="+mn-ea"/>
                          <a:cs typeface="Segoe UI Semibold" panose="020B0702040204020203" pitchFamily="34" charset="0"/>
                          <a:hlinkClick r:id="rId7" action="ppaction://hlinksldjump">
                            <a:extLst>
                              <a:ext uri="{A12FA001-AC4F-418D-AE19-62706E023703}">
                                <ahyp:hlinkClr xmlns:ahyp="http://schemas.microsoft.com/office/drawing/2018/hyperlinkcolor" val="tx"/>
                              </a:ext>
                            </a:extLst>
                          </a:hlinkClick>
                        </a:rPr>
                        <a:t>Spend on financial systems and tooling</a:t>
                      </a:r>
                      <a:endParaRPr kumimoji="0" lang="en-US" sz="1000" b="0" i="0" u="none" strike="noStrike" kern="1200" cap="none" spc="0" normalizeH="0" baseline="0" noProof="0" dirty="0">
                        <a:ln>
                          <a:noFill/>
                        </a:ln>
                        <a:solidFill>
                          <a:srgbClr val="8661C5"/>
                        </a:solidFill>
                        <a:effectLst/>
                        <a:uLnTx/>
                        <a:uFillTx/>
                        <a:latin typeface="+mj-lt"/>
                        <a:ea typeface="+mn-ea"/>
                        <a:cs typeface="Segoe UI Semibold" panose="020B0702040204020203" pitchFamily="34" charset="0"/>
                      </a:endParaRPr>
                    </a:p>
                  </a:txBody>
                  <a:tcPr marL="54864" marR="54864" marT="27432" marB="27432" anchor="ctr">
                    <a:lnL w="6350" cap="flat" cmpd="sng" algn="ctr">
                      <a:no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l" defTabSz="914225" rtl="0" eaLnBrk="1" fontAlgn="auto" latinLnBrk="0" hangingPunct="1">
                        <a:lnSpc>
                          <a:spcPct val="110000"/>
                        </a:lnSpc>
                        <a:spcBef>
                          <a:spcPts val="0"/>
                        </a:spcBef>
                        <a:spcAft>
                          <a:spcPts val="60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mn-lt"/>
                          <a:ea typeface="+mn-ea"/>
                          <a:cs typeface="Segoe UI" panose="020B0502040204020203" pitchFamily="34" charset="0"/>
                        </a:rPr>
                        <a:t>Copilot can be extended into ERP systems and other processes to bring data together and speed decision-making without performing expensive updates to financial systems.</a:t>
                      </a:r>
                    </a:p>
                  </a:txBody>
                  <a:tcPr marL="54864" marR="54864" marT="27432" marB="27432" anchor="ctr">
                    <a:lnL w="6350" cap="flat" cmpd="sng" algn="ctr">
                      <a:solidFill>
                        <a:schemeClr val="bg1">
                          <a:lumMod val="8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37769542"/>
                  </a:ext>
                </a:extLst>
              </a:tr>
            </a:tbl>
          </a:graphicData>
        </a:graphic>
      </p:graphicFrame>
      <p:sp>
        <p:nvSpPr>
          <p:cNvPr id="30" name="Freeform 27">
            <a:extLst>
              <a:ext uri="{FF2B5EF4-FFF2-40B4-BE49-F238E27FC236}">
                <a16:creationId xmlns:a16="http://schemas.microsoft.com/office/drawing/2014/main" id="{307B3E42-2467-37F9-4696-2AEE6049EA4A}"/>
              </a:ext>
              <a:ext uri="{C183D7F6-B498-43B3-948B-1728B52AA6E4}">
                <adec:decorative xmlns:adec="http://schemas.microsoft.com/office/drawing/2017/decorative" val="1"/>
              </a:ext>
            </a:extLst>
          </p:cNvPr>
          <p:cNvSpPr/>
          <p:nvPr/>
        </p:nvSpPr>
        <p:spPr bwMode="auto">
          <a:xfrm rot="5400000">
            <a:off x="1423800" y="3444671"/>
            <a:ext cx="1231784" cy="27432"/>
          </a:xfrm>
          <a:prstGeom prst="roundRect">
            <a:avLst>
              <a:gd name="adj" fmla="val 50000"/>
            </a:avLst>
          </a:prstGeom>
          <a:gradFill flip="none" rotWithShape="1">
            <a:gsLst>
              <a:gs pos="35000">
                <a:srgbClr val="0078D4"/>
              </a:gs>
              <a:gs pos="0">
                <a:srgbClr val="C03BC4"/>
              </a:gs>
            </a:gsLst>
            <a:path path="circle">
              <a:fillToRect l="100000" t="100000"/>
            </a:path>
            <a:tileRect r="-100000" b="-10000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1" i="0" u="none" strike="noStrike" kern="1200" cap="none" spc="0" normalizeH="0" baseline="0" noProof="0" dirty="0">
              <a:ln w="3175">
                <a:noFill/>
              </a:ln>
              <a:gradFill>
                <a:gsLst>
                  <a:gs pos="76437">
                    <a:srgbClr val="FFFFFF"/>
                  </a:gs>
                  <a:gs pos="55747">
                    <a:srgbClr val="FFFFFF"/>
                  </a:gs>
                </a:gsLst>
                <a:path path="circle">
                  <a:fillToRect l="100000" b="100000"/>
                </a:path>
              </a:gradFill>
              <a:effectLst/>
              <a:uLnTx/>
              <a:uFillTx/>
              <a:latin typeface="Segoe UI Semibold"/>
              <a:ea typeface="+mn-ea"/>
              <a:cs typeface="Segoe UI" pitchFamily="34" charset="0"/>
            </a:endParaRPr>
          </a:p>
        </p:txBody>
      </p:sp>
      <p:sp>
        <p:nvSpPr>
          <p:cNvPr id="19" name="TextBox 18">
            <a:extLst>
              <a:ext uri="{FF2B5EF4-FFF2-40B4-BE49-F238E27FC236}">
                <a16:creationId xmlns:a16="http://schemas.microsoft.com/office/drawing/2014/main" id="{E7B65993-44ED-BE96-9964-3A9F7940E028}"/>
              </a:ext>
            </a:extLst>
          </p:cNvPr>
          <p:cNvSpPr txBox="1">
            <a:spLocks/>
          </p:cNvSpPr>
          <p:nvPr/>
        </p:nvSpPr>
        <p:spPr>
          <a:xfrm>
            <a:off x="739970" y="3464093"/>
            <a:ext cx="1213415" cy="430887"/>
          </a:xfrm>
          <a:prstGeom prst="rect">
            <a:avLst/>
          </a:prstGeom>
          <a:noFill/>
        </p:spPr>
        <p:txBody>
          <a:bodyPr wrap="square" lIns="0" tIns="0" rIns="0" bIns="0" anchor="ctr">
            <a:spAutoFit/>
          </a:bodyPr>
          <a:lstStyle>
            <a:defPPr>
              <a:defRPr lang="en-US"/>
            </a:defPPr>
            <a:lvl1pPr marR="0" lvl="0" indent="0" defTabSz="932472" fontAlgn="base">
              <a:spcBef>
                <a:spcPct val="0"/>
              </a:spcBef>
              <a:spcAft>
                <a:spcPts val="1200"/>
              </a:spcAft>
              <a:buClrTx/>
              <a:buSzTx/>
              <a:buFontTx/>
              <a:buNone/>
              <a:tabLst/>
              <a:defRPr kumimoji="0" sz="1400" b="0" i="0" u="none" strike="noStrike" cap="none" spc="0" normalizeH="0" baseline="0">
                <a:ln>
                  <a:noFill/>
                </a:ln>
                <a:gradFill>
                  <a:gsLst>
                    <a:gs pos="35000">
                      <a:srgbClr val="0078D4"/>
                    </a:gs>
                    <a:gs pos="0">
                      <a:srgbClr val="C03BC4"/>
                    </a:gs>
                  </a:gsLst>
                  <a:path path="circle">
                    <a:fillToRect l="100000" t="100000"/>
                  </a:path>
                </a:gradFill>
                <a:effectLst/>
                <a:uLnTx/>
                <a:uFillTx/>
                <a:latin typeface="+mj-lt"/>
                <a:ea typeface="Segoe UI" pitchFamily="34" charset="0"/>
                <a:cs typeface="Segoe UI Semibold" panose="020B0702040204020203" pitchFamily="34" charset="0"/>
              </a:defRPr>
            </a:lvl1pPr>
          </a:lstStyle>
          <a:p>
            <a:pPr marL="0" marR="0" lvl="0" indent="0" algn="l" defTabSz="932472" rtl="0" eaLnBrk="1" fontAlgn="base" latinLnBrk="0" hangingPunct="1">
              <a:lnSpc>
                <a:spcPct val="100000"/>
              </a:lnSpc>
              <a:spcBef>
                <a:spcPct val="0"/>
              </a:spcBef>
              <a:spcAft>
                <a:spcPts val="1200"/>
              </a:spcAft>
              <a:buClrTx/>
              <a:buSzTx/>
              <a:buFontTx/>
              <a:buNone/>
              <a:tabLst/>
              <a:defRPr/>
            </a:pPr>
            <a:r>
              <a:rPr kumimoji="0" lang="en-US" sz="1400" b="0" i="0" u="none" strike="noStrike" kern="1200" cap="none" spc="0" normalizeH="0" baseline="0" noProof="0" dirty="0">
                <a:ln>
                  <a:noFill/>
                </a:ln>
                <a:gradFill>
                  <a:gsLst>
                    <a:gs pos="26000">
                      <a:srgbClr val="0078D4"/>
                    </a:gs>
                    <a:gs pos="0">
                      <a:srgbClr val="C03BC4"/>
                    </a:gs>
                  </a:gsLst>
                  <a:path path="circle">
                    <a:fillToRect l="100000" t="100000"/>
                  </a:path>
                </a:gradFill>
                <a:effectLst/>
                <a:uLnTx/>
                <a:uFillTx/>
                <a:latin typeface="Segoe UI Semibold"/>
                <a:cs typeface="Segoe UI Semibold" panose="020B0702040204020203" pitchFamily="34" charset="0"/>
              </a:rPr>
              <a:t>Finance </a:t>
            </a:r>
            <a:r>
              <a:rPr kumimoji="0" lang="en-US" sz="1400" b="0" i="0" u="none" strike="noStrike" kern="1200" cap="none" spc="0" normalizeH="0" baseline="0" noProof="0" dirty="0">
                <a:ln>
                  <a:noFill/>
                </a:ln>
                <a:gradFill flip="none" rotWithShape="1">
                  <a:gsLst>
                    <a:gs pos="55000">
                      <a:srgbClr val="0078D4"/>
                    </a:gs>
                    <a:gs pos="0">
                      <a:srgbClr val="C03BC4"/>
                    </a:gs>
                  </a:gsLst>
                  <a:lin ang="13500000" scaled="1"/>
                  <a:tileRect/>
                </a:gradFill>
                <a:effectLst/>
                <a:uLnTx/>
                <a:uFillTx/>
                <a:latin typeface="Segoe UI Semibold"/>
                <a:cs typeface="Segoe UI Semibold" panose="020B0702040204020203" pitchFamily="34" charset="0"/>
              </a:rPr>
              <a:t>roles using AI</a:t>
            </a:r>
          </a:p>
        </p:txBody>
      </p:sp>
      <p:sp>
        <p:nvSpPr>
          <p:cNvPr id="48" name="Graphic 74" descr="Icon of a person with a checkmark">
            <a:extLst>
              <a:ext uri="{FF2B5EF4-FFF2-40B4-BE49-F238E27FC236}">
                <a16:creationId xmlns:a16="http://schemas.microsoft.com/office/drawing/2014/main" id="{AB2A54D1-AF1B-2F0F-9B62-A0F18FCE1737}"/>
              </a:ext>
            </a:extLst>
          </p:cNvPr>
          <p:cNvSpPr/>
          <p:nvPr/>
        </p:nvSpPr>
        <p:spPr>
          <a:xfrm>
            <a:off x="739970" y="3021793"/>
            <a:ext cx="305140" cy="305140"/>
          </a:xfrm>
          <a:custGeom>
            <a:avLst/>
            <a:gdLst>
              <a:gd name="connsiteX0" fmla="*/ 147599 w 199986"/>
              <a:gd name="connsiteY0" fmla="*/ 95212 h 199986"/>
              <a:gd name="connsiteX1" fmla="*/ 199987 w 199986"/>
              <a:gd name="connsiteY1" fmla="*/ 147599 h 199986"/>
              <a:gd name="connsiteX2" fmla="*/ 147599 w 199986"/>
              <a:gd name="connsiteY2" fmla="*/ 199987 h 199986"/>
              <a:gd name="connsiteX3" fmla="*/ 95212 w 199986"/>
              <a:gd name="connsiteY3" fmla="*/ 147599 h 199986"/>
              <a:gd name="connsiteX4" fmla="*/ 147599 w 199986"/>
              <a:gd name="connsiteY4" fmla="*/ 95212 h 199986"/>
              <a:gd name="connsiteX5" fmla="*/ 122396 w 199986"/>
              <a:gd name="connsiteY5" fmla="*/ 144228 h 199986"/>
              <a:gd name="connsiteX6" fmla="*/ 115662 w 199986"/>
              <a:gd name="connsiteY6" fmla="*/ 144345 h 199986"/>
              <a:gd name="connsiteX7" fmla="*/ 115662 w 199986"/>
              <a:gd name="connsiteY7" fmla="*/ 150962 h 199986"/>
              <a:gd name="connsiteX8" fmla="*/ 134712 w 199986"/>
              <a:gd name="connsiteY8" fmla="*/ 170012 h 199986"/>
              <a:gd name="connsiteX9" fmla="*/ 141446 w 199986"/>
              <a:gd name="connsiteY9" fmla="*/ 170012 h 199986"/>
              <a:gd name="connsiteX10" fmla="*/ 179546 w 199986"/>
              <a:gd name="connsiteY10" fmla="*/ 131912 h 199986"/>
              <a:gd name="connsiteX11" fmla="*/ 179429 w 199986"/>
              <a:gd name="connsiteY11" fmla="*/ 125178 h 199986"/>
              <a:gd name="connsiteX12" fmla="*/ 172812 w 199986"/>
              <a:gd name="connsiteY12" fmla="*/ 125178 h 199986"/>
              <a:gd name="connsiteX13" fmla="*/ 138074 w 199986"/>
              <a:gd name="connsiteY13" fmla="*/ 159915 h 199986"/>
              <a:gd name="connsiteX14" fmla="*/ 122396 w 199986"/>
              <a:gd name="connsiteY14" fmla="*/ 144228 h 199986"/>
              <a:gd name="connsiteX15" fmla="*/ 95421 w 199986"/>
              <a:gd name="connsiteY15" fmla="*/ 114262 h 199986"/>
              <a:gd name="connsiteX16" fmla="*/ 88678 w 199986"/>
              <a:gd name="connsiteY16" fmla="*/ 128549 h 199986"/>
              <a:gd name="connsiteX17" fmla="*/ 21422 w 199986"/>
              <a:gd name="connsiteY17" fmla="*/ 128549 h 199986"/>
              <a:gd name="connsiteX18" fmla="*/ 14278 w 199986"/>
              <a:gd name="connsiteY18" fmla="*/ 135674 h 199986"/>
              <a:gd name="connsiteX19" fmla="*/ 14278 w 199986"/>
              <a:gd name="connsiteY19" fmla="*/ 135693 h 199986"/>
              <a:gd name="connsiteX20" fmla="*/ 14278 w 199986"/>
              <a:gd name="connsiteY20" fmla="*/ 141189 h 199986"/>
              <a:gd name="connsiteX21" fmla="*/ 19421 w 199986"/>
              <a:gd name="connsiteY21" fmla="*/ 155105 h 199986"/>
              <a:gd name="connsiteX22" fmla="*/ 76162 w 199986"/>
              <a:gd name="connsiteY22" fmla="*/ 176193 h 199986"/>
              <a:gd name="connsiteX23" fmla="*/ 92164 w 199986"/>
              <a:gd name="connsiteY23" fmla="*/ 175184 h 199986"/>
              <a:gd name="connsiteX24" fmla="*/ 100851 w 199986"/>
              <a:gd name="connsiteY24" fmla="*/ 188195 h 199986"/>
              <a:gd name="connsiteX25" fmla="*/ 76162 w 199986"/>
              <a:gd name="connsiteY25" fmla="*/ 190481 h 199986"/>
              <a:gd name="connsiteX26" fmla="*/ 8553 w 199986"/>
              <a:gd name="connsiteY26" fmla="*/ 164382 h 199986"/>
              <a:gd name="connsiteX27" fmla="*/ 0 w 199986"/>
              <a:gd name="connsiteY27" fmla="*/ 141189 h 199986"/>
              <a:gd name="connsiteX28" fmla="*/ 0 w 199986"/>
              <a:gd name="connsiteY28" fmla="*/ 135693 h 199986"/>
              <a:gd name="connsiteX29" fmla="*/ 21412 w 199986"/>
              <a:gd name="connsiteY29" fmla="*/ 114262 h 199986"/>
              <a:gd name="connsiteX30" fmla="*/ 21422 w 199986"/>
              <a:gd name="connsiteY30" fmla="*/ 114262 h 199986"/>
              <a:gd name="connsiteX31" fmla="*/ 95431 w 199986"/>
              <a:gd name="connsiteY31" fmla="*/ 114262 h 199986"/>
              <a:gd name="connsiteX32" fmla="*/ 76162 w 199986"/>
              <a:gd name="connsiteY32" fmla="*/ 0 h 199986"/>
              <a:gd name="connsiteX33" fmla="*/ 123787 w 199986"/>
              <a:gd name="connsiteY33" fmla="*/ 47625 h 199986"/>
              <a:gd name="connsiteX34" fmla="*/ 76162 w 199986"/>
              <a:gd name="connsiteY34" fmla="*/ 95250 h 199986"/>
              <a:gd name="connsiteX35" fmla="*/ 28537 w 199986"/>
              <a:gd name="connsiteY35" fmla="*/ 47625 h 199986"/>
              <a:gd name="connsiteX36" fmla="*/ 76162 w 199986"/>
              <a:gd name="connsiteY36" fmla="*/ 0 h 199986"/>
              <a:gd name="connsiteX37" fmla="*/ 76162 w 199986"/>
              <a:gd name="connsiteY37" fmla="*/ 14288 h 199986"/>
              <a:gd name="connsiteX38" fmla="*/ 42824 w 199986"/>
              <a:gd name="connsiteY38" fmla="*/ 47625 h 199986"/>
              <a:gd name="connsiteX39" fmla="*/ 76162 w 199986"/>
              <a:gd name="connsiteY39" fmla="*/ 80963 h 199986"/>
              <a:gd name="connsiteX40" fmla="*/ 109499 w 199986"/>
              <a:gd name="connsiteY40" fmla="*/ 47625 h 199986"/>
              <a:gd name="connsiteX41" fmla="*/ 76162 w 199986"/>
              <a:gd name="connsiteY41" fmla="*/ 14288 h 1999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199986" h="199986">
                <a:moveTo>
                  <a:pt x="147599" y="95212"/>
                </a:moveTo>
                <a:cubicBezTo>
                  <a:pt x="176533" y="95212"/>
                  <a:pt x="199987" y="118666"/>
                  <a:pt x="199987" y="147599"/>
                </a:cubicBezTo>
                <a:cubicBezTo>
                  <a:pt x="199987" y="176533"/>
                  <a:pt x="176533" y="199987"/>
                  <a:pt x="147599" y="199987"/>
                </a:cubicBezTo>
                <a:cubicBezTo>
                  <a:pt x="118666" y="199987"/>
                  <a:pt x="95212" y="176533"/>
                  <a:pt x="95212" y="147599"/>
                </a:cubicBezTo>
                <a:cubicBezTo>
                  <a:pt x="95212" y="118666"/>
                  <a:pt x="118666" y="95212"/>
                  <a:pt x="147599" y="95212"/>
                </a:cubicBezTo>
                <a:close/>
                <a:moveTo>
                  <a:pt x="122396" y="144228"/>
                </a:moveTo>
                <a:cubicBezTo>
                  <a:pt x="120505" y="142401"/>
                  <a:pt x="117489" y="142453"/>
                  <a:pt x="115662" y="144345"/>
                </a:cubicBezTo>
                <a:cubicBezTo>
                  <a:pt x="113880" y="146191"/>
                  <a:pt x="113880" y="149116"/>
                  <a:pt x="115662" y="150962"/>
                </a:cubicBezTo>
                <a:lnTo>
                  <a:pt x="134712" y="170012"/>
                </a:lnTo>
                <a:cubicBezTo>
                  <a:pt x="136571" y="171871"/>
                  <a:pt x="139586" y="171871"/>
                  <a:pt x="141446" y="170012"/>
                </a:cubicBezTo>
                <a:lnTo>
                  <a:pt x="179546" y="131912"/>
                </a:lnTo>
                <a:cubicBezTo>
                  <a:pt x="181373" y="130020"/>
                  <a:pt x="181321" y="127004"/>
                  <a:pt x="179429" y="125178"/>
                </a:cubicBezTo>
                <a:cubicBezTo>
                  <a:pt x="177583" y="123395"/>
                  <a:pt x="174658" y="123395"/>
                  <a:pt x="172812" y="125178"/>
                </a:cubicBezTo>
                <a:lnTo>
                  <a:pt x="138074" y="159915"/>
                </a:lnTo>
                <a:lnTo>
                  <a:pt x="122396" y="144228"/>
                </a:lnTo>
                <a:close/>
                <a:moveTo>
                  <a:pt x="95421" y="114262"/>
                </a:moveTo>
                <a:cubicBezTo>
                  <a:pt x="92571" y="118716"/>
                  <a:pt x="90304" y="123517"/>
                  <a:pt x="88678" y="128549"/>
                </a:cubicBezTo>
                <a:lnTo>
                  <a:pt x="21422" y="128549"/>
                </a:lnTo>
                <a:cubicBezTo>
                  <a:pt x="17482" y="128544"/>
                  <a:pt x="14283" y="131734"/>
                  <a:pt x="14278" y="135674"/>
                </a:cubicBezTo>
                <a:cubicBezTo>
                  <a:pt x="14278" y="135681"/>
                  <a:pt x="14278" y="135686"/>
                  <a:pt x="14278" y="135693"/>
                </a:cubicBezTo>
                <a:lnTo>
                  <a:pt x="14278" y="141189"/>
                </a:lnTo>
                <a:cubicBezTo>
                  <a:pt x="14278" y="146294"/>
                  <a:pt x="16107" y="151228"/>
                  <a:pt x="19421" y="155105"/>
                </a:cubicBezTo>
                <a:cubicBezTo>
                  <a:pt x="31356" y="169088"/>
                  <a:pt x="50082" y="176193"/>
                  <a:pt x="76162" y="176193"/>
                </a:cubicBezTo>
                <a:cubicBezTo>
                  <a:pt x="81848" y="176193"/>
                  <a:pt x="87173" y="175851"/>
                  <a:pt x="92164" y="175184"/>
                </a:cubicBezTo>
                <a:cubicBezTo>
                  <a:pt x="94498" y="179899"/>
                  <a:pt x="97431" y="184261"/>
                  <a:pt x="100851" y="188195"/>
                </a:cubicBezTo>
                <a:cubicBezTo>
                  <a:pt x="93269" y="189719"/>
                  <a:pt x="85039" y="190481"/>
                  <a:pt x="76162" y="190481"/>
                </a:cubicBezTo>
                <a:cubicBezTo>
                  <a:pt x="46196" y="190481"/>
                  <a:pt x="23470" y="181861"/>
                  <a:pt x="8553" y="164382"/>
                </a:cubicBezTo>
                <a:cubicBezTo>
                  <a:pt x="3033" y="157916"/>
                  <a:pt x="0" y="149692"/>
                  <a:pt x="0" y="141189"/>
                </a:cubicBezTo>
                <a:lnTo>
                  <a:pt x="0" y="135693"/>
                </a:lnTo>
                <a:cubicBezTo>
                  <a:pt x="-5" y="123862"/>
                  <a:pt x="9581" y="114268"/>
                  <a:pt x="21412" y="114262"/>
                </a:cubicBezTo>
                <a:cubicBezTo>
                  <a:pt x="21415" y="114262"/>
                  <a:pt x="21419" y="114262"/>
                  <a:pt x="21422" y="114262"/>
                </a:cubicBezTo>
                <a:lnTo>
                  <a:pt x="95431" y="114262"/>
                </a:lnTo>
                <a:close/>
                <a:moveTo>
                  <a:pt x="76162" y="0"/>
                </a:moveTo>
                <a:cubicBezTo>
                  <a:pt x="102464" y="0"/>
                  <a:pt x="123787" y="21322"/>
                  <a:pt x="123787" y="47625"/>
                </a:cubicBezTo>
                <a:cubicBezTo>
                  <a:pt x="123787" y="73928"/>
                  <a:pt x="102464" y="95250"/>
                  <a:pt x="76162" y="95250"/>
                </a:cubicBezTo>
                <a:cubicBezTo>
                  <a:pt x="49859" y="95250"/>
                  <a:pt x="28537" y="73928"/>
                  <a:pt x="28537" y="47625"/>
                </a:cubicBezTo>
                <a:cubicBezTo>
                  <a:pt x="28537" y="21322"/>
                  <a:pt x="49859" y="0"/>
                  <a:pt x="76162" y="0"/>
                </a:cubicBezTo>
                <a:close/>
                <a:moveTo>
                  <a:pt x="76162" y="14288"/>
                </a:moveTo>
                <a:cubicBezTo>
                  <a:pt x="57750" y="14288"/>
                  <a:pt x="42824" y="29213"/>
                  <a:pt x="42824" y="47625"/>
                </a:cubicBezTo>
                <a:cubicBezTo>
                  <a:pt x="42824" y="66037"/>
                  <a:pt x="57750" y="80963"/>
                  <a:pt x="76162" y="80963"/>
                </a:cubicBezTo>
                <a:cubicBezTo>
                  <a:pt x="94574" y="80963"/>
                  <a:pt x="109499" y="66037"/>
                  <a:pt x="109499" y="47625"/>
                </a:cubicBezTo>
                <a:cubicBezTo>
                  <a:pt x="109499" y="29213"/>
                  <a:pt x="94574" y="14288"/>
                  <a:pt x="76162" y="14288"/>
                </a:cubicBezTo>
                <a:close/>
              </a:path>
            </a:pathLst>
          </a:custGeom>
          <a:gradFill flip="none" rotWithShape="1">
            <a:gsLst>
              <a:gs pos="35000">
                <a:srgbClr val="0078D4"/>
              </a:gs>
              <a:gs pos="0">
                <a:srgbClr val="C03BC4"/>
              </a:gs>
            </a:gsLst>
            <a:path path="circle">
              <a:fillToRect l="100000" t="100000"/>
            </a:path>
            <a:tileRect r="-100000" b="-100000"/>
          </a:gradFill>
          <a:ln>
            <a:noFill/>
            <a:headEnd type="none" w="med" len="med"/>
            <a:tailEnd type="none" w="med" len="med"/>
          </a:ln>
          <a:effectLst>
            <a:outerShdw blurRad="63500" dist="127000" dir="2700000" algn="tl"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1" i="0" u="none" strike="noStrike" kern="1200" cap="none" spc="0" normalizeH="0" baseline="0" noProof="0" dirty="0">
              <a:ln w="3175">
                <a:noFill/>
              </a:ln>
              <a:gradFill>
                <a:gsLst>
                  <a:gs pos="76437">
                    <a:srgbClr val="FFFFFF"/>
                  </a:gs>
                  <a:gs pos="55747">
                    <a:srgbClr val="FFFFFF"/>
                  </a:gs>
                </a:gsLst>
                <a:path path="circle">
                  <a:fillToRect l="100000" b="100000"/>
                </a:path>
              </a:gradFill>
              <a:effectLst/>
              <a:uLnTx/>
              <a:uFillTx/>
              <a:latin typeface="Segoe UI Semibold"/>
              <a:ea typeface="+mn-ea"/>
              <a:cs typeface="Segoe UI" pitchFamily="34" charset="0"/>
            </a:endParaRPr>
          </a:p>
        </p:txBody>
      </p:sp>
      <p:sp>
        <p:nvSpPr>
          <p:cNvPr id="51" name="Rectangle: Top Corners Rounded 50">
            <a:extLst>
              <a:ext uri="{FF2B5EF4-FFF2-40B4-BE49-F238E27FC236}">
                <a16:creationId xmlns:a16="http://schemas.microsoft.com/office/drawing/2014/main" id="{63075169-91CA-ABAA-156A-7C87F7785A0F}"/>
              </a:ext>
            </a:extLst>
          </p:cNvPr>
          <p:cNvSpPr/>
          <p:nvPr/>
        </p:nvSpPr>
        <p:spPr bwMode="auto">
          <a:xfrm flipH="1">
            <a:off x="3170731" y="4152210"/>
            <a:ext cx="8361632" cy="210312"/>
          </a:xfrm>
          <a:prstGeom prst="round2SameRect">
            <a:avLst>
              <a:gd name="adj1" fmla="val 27828"/>
              <a:gd name="adj2" fmla="val 0"/>
            </a:avLst>
          </a:prstGeom>
          <a:gradFill flip="none" rotWithShape="1">
            <a:gsLst>
              <a:gs pos="35000">
                <a:srgbClr val="0078D4"/>
              </a:gs>
              <a:gs pos="100000">
                <a:srgbClr val="C03BC4"/>
              </a:gs>
            </a:gsLst>
            <a:path path="circle">
              <a:fillToRect l="100000" t="100000"/>
            </a:path>
            <a:tileRect r="-100000" b="-100000"/>
          </a:gradFill>
          <a:effectLst/>
        </p:spPr>
        <p:txBody>
          <a:bodyPr vert="horz" wrap="square" lIns="0" tIns="0" rIns="0" bIns="0" rtlCol="0" anchor="ctr" anchorCtr="0">
            <a:normAutofit/>
          </a:bodyPr>
          <a:lstStyle/>
          <a:p>
            <a:pPr marL="0" marR="0" lvl="0" indent="0" algn="ctr" defTabSz="932742" rtl="0" eaLnBrk="1" fontAlgn="auto" latinLnBrk="0" hangingPunct="1">
              <a:lnSpc>
                <a:spcPct val="100000"/>
              </a:lnSpc>
              <a:spcBef>
                <a:spcPct val="20000"/>
              </a:spcBef>
              <a:spcAft>
                <a:spcPts val="0"/>
              </a:spcAft>
              <a:buClrTx/>
              <a:buSzPct val="90000"/>
              <a:buFontTx/>
              <a:buNone/>
              <a:tabLst/>
              <a:defRPr/>
            </a:pPr>
            <a:endParaRPr kumimoji="0" lang="en-US" sz="1200" b="1" i="0" u="none" strike="noStrike" kern="1200" cap="none" spc="0" normalizeH="0" baseline="0" noProof="0" dirty="0">
              <a:ln>
                <a:noFill/>
              </a:ln>
              <a:solidFill>
                <a:srgbClr val="FFFFFF"/>
              </a:solidFill>
              <a:effectLst/>
              <a:uLnTx/>
              <a:uFillTx/>
              <a:latin typeface="Segoe UI Semibold" panose="020B0502040204020203" pitchFamily="34" charset="0"/>
              <a:ea typeface="+mn-ea"/>
              <a:cs typeface="Segoe UI Semibold" panose="020B0502040204020203" pitchFamily="34" charset="0"/>
            </a:endParaRPr>
          </a:p>
        </p:txBody>
      </p:sp>
      <p:graphicFrame>
        <p:nvGraphicFramePr>
          <p:cNvPr id="3" name="Table 2">
            <a:extLst>
              <a:ext uri="{FF2B5EF4-FFF2-40B4-BE49-F238E27FC236}">
                <a16:creationId xmlns:a16="http://schemas.microsoft.com/office/drawing/2014/main" id="{00AF9306-1DE9-7796-7645-AC453706D405}"/>
              </a:ext>
            </a:extLst>
          </p:cNvPr>
          <p:cNvGraphicFramePr>
            <a:graphicFrameLocks noGrp="1"/>
          </p:cNvGraphicFramePr>
          <p:nvPr>
            <p:extLst>
              <p:ext uri="{D42A27DB-BD31-4B8C-83A1-F6EECF244321}">
                <p14:modId xmlns:p14="http://schemas.microsoft.com/office/powerpoint/2010/main" val="3280860014"/>
              </p:ext>
            </p:extLst>
          </p:nvPr>
        </p:nvGraphicFramePr>
        <p:xfrm>
          <a:off x="3170731" y="4152210"/>
          <a:ext cx="8361632" cy="2600834"/>
        </p:xfrm>
        <a:graphic>
          <a:graphicData uri="http://schemas.openxmlformats.org/drawingml/2006/table">
            <a:tbl>
              <a:tblPr firstRow="1" bandRow="1">
                <a:tableStyleId>{5C22544A-7EE6-4342-B048-85BDC9FD1C3A}</a:tableStyleId>
              </a:tblPr>
              <a:tblGrid>
                <a:gridCol w="1081229">
                  <a:extLst>
                    <a:ext uri="{9D8B030D-6E8A-4147-A177-3AD203B41FA5}">
                      <a16:colId xmlns:a16="http://schemas.microsoft.com/office/drawing/2014/main" val="1464606022"/>
                    </a:ext>
                  </a:extLst>
                </a:gridCol>
                <a:gridCol w="1280160">
                  <a:extLst>
                    <a:ext uri="{9D8B030D-6E8A-4147-A177-3AD203B41FA5}">
                      <a16:colId xmlns:a16="http://schemas.microsoft.com/office/drawing/2014/main" val="2911697903"/>
                    </a:ext>
                  </a:extLst>
                </a:gridCol>
                <a:gridCol w="1836420">
                  <a:extLst>
                    <a:ext uri="{9D8B030D-6E8A-4147-A177-3AD203B41FA5}">
                      <a16:colId xmlns:a16="http://schemas.microsoft.com/office/drawing/2014/main" val="246450982"/>
                    </a:ext>
                  </a:extLst>
                </a:gridCol>
                <a:gridCol w="2042160">
                  <a:extLst>
                    <a:ext uri="{9D8B030D-6E8A-4147-A177-3AD203B41FA5}">
                      <a16:colId xmlns:a16="http://schemas.microsoft.com/office/drawing/2014/main" val="386935525"/>
                    </a:ext>
                  </a:extLst>
                </a:gridCol>
                <a:gridCol w="2121663">
                  <a:extLst>
                    <a:ext uri="{9D8B030D-6E8A-4147-A177-3AD203B41FA5}">
                      <a16:colId xmlns:a16="http://schemas.microsoft.com/office/drawing/2014/main" val="4269272687"/>
                    </a:ext>
                  </a:extLst>
                </a:gridCol>
              </a:tblGrid>
              <a:tr h="113085">
                <a:tc>
                  <a:txBody>
                    <a:bodyPr/>
                    <a:lstStyle/>
                    <a:p>
                      <a:pPr marL="0" algn="l" defTabSz="932742" rtl="0" eaLnBrk="1" latinLnBrk="0" hangingPunct="1"/>
                      <a:r>
                        <a:rPr lang="en-US" sz="900" b="0" kern="1200" noProof="0" dirty="0">
                          <a:solidFill>
                            <a:schemeClr val="bg1"/>
                          </a:solidFill>
                          <a:latin typeface="+mj-lt"/>
                          <a:ea typeface="+mn-ea"/>
                          <a:cs typeface="+mn-cs"/>
                        </a:rPr>
                        <a:t>Process</a:t>
                      </a:r>
                    </a:p>
                  </a:txBody>
                  <a:tcPr marT="36576" marB="36576" anchor="ctr">
                    <a:lnL w="6350" cap="flat" cmpd="sng" algn="ctr">
                      <a:no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r>
                        <a:rPr lang="en-US" sz="900" b="0" noProof="0" dirty="0">
                          <a:solidFill>
                            <a:schemeClr val="bg1"/>
                          </a:solidFill>
                          <a:latin typeface="+mj-lt"/>
                        </a:rPr>
                        <a:t>Start</a:t>
                      </a:r>
                    </a:p>
                  </a:txBody>
                  <a:tcPr marT="36576" marB="36576"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r>
                        <a:rPr lang="en-US" sz="900" b="0" noProof="0" dirty="0">
                          <a:solidFill>
                            <a:schemeClr val="bg1"/>
                          </a:solidFill>
                          <a:latin typeface="+mj-lt"/>
                        </a:rPr>
                        <a:t>Buy</a:t>
                      </a:r>
                    </a:p>
                  </a:txBody>
                  <a:tcPr marT="36576" marB="36576"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r>
                        <a:rPr lang="en-US" sz="900" b="0" noProof="0" dirty="0">
                          <a:solidFill>
                            <a:schemeClr val="bg1"/>
                          </a:solidFill>
                          <a:latin typeface="+mj-lt"/>
                        </a:rPr>
                        <a:t>Extend</a:t>
                      </a:r>
                    </a:p>
                  </a:txBody>
                  <a:tcPr marT="36576" marB="36576"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r>
                        <a:rPr lang="en-US" sz="900" b="0" noProof="0" dirty="0">
                          <a:solidFill>
                            <a:schemeClr val="bg1"/>
                          </a:solidFill>
                          <a:latin typeface="+mj-lt"/>
                        </a:rPr>
                        <a:t>Build</a:t>
                      </a:r>
                    </a:p>
                  </a:txBody>
                  <a:tcPr marT="36576" marB="36576" anchor="ctr">
                    <a:lnL w="6350" cap="flat" cmpd="sng" algn="ctr">
                      <a:solidFill>
                        <a:schemeClr val="bg1">
                          <a:lumMod val="8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4146526871"/>
                  </a:ext>
                </a:extLst>
              </a:tr>
              <a:tr h="143259">
                <a:tc>
                  <a:txBody>
                    <a:bodyPr/>
                    <a:lstStyle/>
                    <a:p>
                      <a:pPr algn="l">
                        <a:lnSpc>
                          <a:spcPct val="100000"/>
                        </a:lnSpc>
                        <a:spcBef>
                          <a:spcPts val="0"/>
                        </a:spcBef>
                        <a:spcAft>
                          <a:spcPts val="300"/>
                        </a:spcAft>
                      </a:pPr>
                      <a:r>
                        <a:rPr lang="en-US" sz="1000" dirty="0">
                          <a:solidFill>
                            <a:schemeClr val="tx1"/>
                          </a:solidFill>
                          <a:latin typeface="+mn-lt"/>
                        </a:rPr>
                        <a:t>Planning &amp; analysis</a:t>
                      </a:r>
                    </a:p>
                  </a:txBody>
                  <a:tcPr marT="27432" marB="27432">
                    <a:lnL w="6350" cap="flat" cmpd="sng" algn="ctr">
                      <a:no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112713" marR="0" lvl="0" indent="-112713" algn="l" defTabSz="932742" rtl="0" eaLnBrk="1" fontAlgn="auto" latinLnBrk="0" hangingPunct="1">
                        <a:lnSpc>
                          <a:spcPct val="100000"/>
                        </a:lnSpc>
                        <a:spcBef>
                          <a:spcPts val="0"/>
                        </a:spcBef>
                        <a:spcAft>
                          <a:spcPts val="200"/>
                        </a:spcAft>
                        <a:buClr>
                          <a:schemeClr val="tx1"/>
                        </a:buClr>
                        <a:buSzTx/>
                        <a:buFont typeface="Arial" panose="020B0604020202020204" pitchFamily="34" charset="0"/>
                        <a:buChar char="•"/>
                        <a:tabLst/>
                        <a:defRPr/>
                      </a:pPr>
                      <a:r>
                        <a:rPr kumimoji="0" lang="en-US" sz="800" b="0" i="0" u="none" strike="noStrike" kern="1200" cap="none" spc="0" normalizeH="0" baseline="0" noProof="0" dirty="0">
                          <a:ln>
                            <a:noFill/>
                          </a:ln>
                          <a:solidFill>
                            <a:srgbClr val="8661C5"/>
                          </a:solidFill>
                          <a:effectLst/>
                          <a:uLnTx/>
                          <a:uFillTx/>
                          <a:latin typeface="Segoe UI Semibold"/>
                          <a:ea typeface="+mn-ea"/>
                          <a:cs typeface="+mn-cs"/>
                          <a:hlinkClick r:id="rId8" action="ppaction://hlinksldjump">
                            <a:extLst>
                              <a:ext uri="{A12FA001-AC4F-418D-AE19-62706E023703}">
                                <ahyp:hlinkClr xmlns:ahyp="http://schemas.microsoft.com/office/drawing/2018/hyperlinkcolor" val="tx"/>
                              </a:ext>
                            </a:extLst>
                          </a:hlinkClick>
                        </a:rPr>
                        <a:t>Optimize your financial operations</a:t>
                      </a:r>
                      <a:endParaRPr kumimoji="0" lang="en-US" sz="800" b="0" i="0" u="none" strike="noStrike" kern="1200" cap="none" spc="0" normalizeH="0" baseline="0" noProof="0" dirty="0">
                        <a:ln>
                          <a:noFill/>
                        </a:ln>
                        <a:solidFill>
                          <a:srgbClr val="8661C5"/>
                        </a:solidFill>
                        <a:effectLst/>
                        <a:uLnTx/>
                        <a:uFillTx/>
                        <a:latin typeface="Segoe UI Semibold"/>
                        <a:ea typeface="+mn-ea"/>
                        <a:cs typeface="+mn-cs"/>
                      </a:endParaRPr>
                    </a:p>
                  </a:txBody>
                  <a:tcPr marT="36576" marB="36576"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114300" marR="0" lvl="0" indent="-114300" algn="l" defTabSz="582780" rtl="0" eaLnBrk="1" fontAlgn="auto" latinLnBrk="0" hangingPunct="1">
                        <a:lnSpc>
                          <a:spcPct val="110000"/>
                        </a:lnSpc>
                        <a:spcBef>
                          <a:spcPct val="0"/>
                        </a:spcBef>
                        <a:spcAft>
                          <a:spcPts val="300"/>
                        </a:spcAft>
                        <a:buClr>
                          <a:srgbClr val="000000"/>
                        </a:buClr>
                        <a:buSzTx/>
                        <a:buFont typeface="Arial" panose="020B0604020202020204" pitchFamily="34" charset="0"/>
                        <a:buChar char="•"/>
                        <a:tabLst/>
                        <a:defRPr/>
                      </a:pPr>
                      <a:r>
                        <a:rPr kumimoji="0" lang="en-US" sz="800" b="0" i="0" u="none" strike="noStrike" kern="1200" cap="none" spc="0" normalizeH="0" baseline="0" noProof="0" dirty="0">
                          <a:ln>
                            <a:noFill/>
                          </a:ln>
                          <a:solidFill>
                            <a:srgbClr val="8661C5"/>
                          </a:solidFill>
                          <a:effectLst/>
                          <a:uLnTx/>
                          <a:uFillTx/>
                          <a:latin typeface="Segoe UI Semibold"/>
                          <a:ea typeface="+mn-ea"/>
                          <a:cs typeface="+mn-cs"/>
                          <a:hlinkClick r:id="rId9" action="ppaction://hlinksldjump">
                            <a:extLst>
                              <a:ext uri="{A12FA001-AC4F-418D-AE19-62706E023703}">
                                <ahyp:hlinkClr xmlns:ahyp="http://schemas.microsoft.com/office/drawing/2018/hyperlinkcolor" val="tx"/>
                              </a:ext>
                            </a:extLst>
                          </a:hlinkClick>
                        </a:rPr>
                        <a:t>Intelligent sales forecasting</a:t>
                      </a:r>
                      <a:endParaRPr kumimoji="0" lang="en-US" sz="800" b="0" i="0" u="none" strike="noStrike" kern="1200" cap="none" spc="0" normalizeH="0" baseline="0" noProof="0" dirty="0">
                        <a:ln>
                          <a:noFill/>
                        </a:ln>
                        <a:solidFill>
                          <a:srgbClr val="8661C5"/>
                        </a:solidFill>
                        <a:effectLst/>
                        <a:uLnTx/>
                        <a:uFillTx/>
                        <a:latin typeface="Segoe UI Semibold"/>
                        <a:ea typeface="+mn-ea"/>
                        <a:cs typeface="+mn-cs"/>
                      </a:endParaRPr>
                    </a:p>
                    <a:p>
                      <a:pPr marL="114300" marR="0" lvl="0" indent="-114300" algn="l" defTabSz="582780" rtl="0" eaLnBrk="1" fontAlgn="auto" latinLnBrk="0" hangingPunct="1">
                        <a:lnSpc>
                          <a:spcPct val="110000"/>
                        </a:lnSpc>
                        <a:spcBef>
                          <a:spcPct val="0"/>
                        </a:spcBef>
                        <a:spcAft>
                          <a:spcPts val="300"/>
                        </a:spcAft>
                        <a:buClr>
                          <a:srgbClr val="000000"/>
                        </a:buClr>
                        <a:buSzTx/>
                        <a:buFont typeface="Arial" panose="020B0604020202020204" pitchFamily="34" charset="0"/>
                        <a:buChar char="•"/>
                        <a:tabLst/>
                        <a:defRPr/>
                      </a:pPr>
                      <a:r>
                        <a:rPr kumimoji="0" lang="en-US" sz="800" b="0" i="0" u="none" strike="noStrike" kern="1200" cap="none" spc="0" normalizeH="0" baseline="0" noProof="0" dirty="0">
                          <a:ln>
                            <a:noFill/>
                          </a:ln>
                          <a:solidFill>
                            <a:srgbClr val="8661C5"/>
                          </a:solidFill>
                          <a:effectLst/>
                          <a:uLnTx/>
                          <a:uFillTx/>
                          <a:latin typeface="Segoe UI Semibold"/>
                          <a:ea typeface="+mn-ea"/>
                          <a:cs typeface="+mn-cs"/>
                          <a:hlinkClick r:id="rId10" action="ppaction://hlinksldjump">
                            <a:extLst>
                              <a:ext uri="{A12FA001-AC4F-418D-AE19-62706E023703}">
                                <ahyp:hlinkClr xmlns:ahyp="http://schemas.microsoft.com/office/drawing/2018/hyperlinkcolor" val="tx"/>
                              </a:ext>
                            </a:extLst>
                          </a:hlinkClick>
                        </a:rPr>
                        <a:t>Launch a new Accounting app</a:t>
                      </a:r>
                    </a:p>
                    <a:p>
                      <a:pPr marL="114300" marR="0" lvl="0" indent="-114300" algn="l" defTabSz="582780" rtl="0" eaLnBrk="1" fontAlgn="auto" latinLnBrk="0" hangingPunct="1">
                        <a:lnSpc>
                          <a:spcPct val="110000"/>
                        </a:lnSpc>
                        <a:spcBef>
                          <a:spcPct val="0"/>
                        </a:spcBef>
                        <a:spcAft>
                          <a:spcPts val="300"/>
                        </a:spcAft>
                        <a:buClr>
                          <a:srgbClr val="000000"/>
                        </a:buClr>
                        <a:buSzTx/>
                        <a:buFont typeface="Arial" panose="020B0604020202020204" pitchFamily="34" charset="0"/>
                        <a:buChar char="•"/>
                        <a:tabLst/>
                        <a:defRPr/>
                      </a:pPr>
                      <a:r>
                        <a:rPr kumimoji="0" lang="en-US" sz="800" b="0" i="0" u="none" strike="noStrike" kern="1200" cap="none" spc="0" normalizeH="0" baseline="0" noProof="0" dirty="0">
                          <a:ln>
                            <a:noFill/>
                          </a:ln>
                          <a:solidFill>
                            <a:srgbClr val="8661C5"/>
                          </a:solidFill>
                          <a:effectLst/>
                          <a:uLnTx/>
                          <a:uFillTx/>
                          <a:latin typeface="Segoe UI Semibold"/>
                          <a:ea typeface="+mn-ea"/>
                          <a:cs typeface="+mn-cs"/>
                          <a:hlinkClick r:id="rId11" action="ppaction://hlinksldjump">
                            <a:extLst>
                              <a:ext uri="{A12FA001-AC4F-418D-AE19-62706E023703}">
                                <ahyp:hlinkClr xmlns:ahyp="http://schemas.microsoft.com/office/drawing/2018/hyperlinkcolor" val="tx"/>
                              </a:ext>
                            </a:extLst>
                          </a:hlinkClick>
                        </a:rPr>
                        <a:t>Financial insights</a:t>
                      </a:r>
                      <a:endParaRPr kumimoji="0" lang="en-US" sz="800" b="0" i="0" u="none" strike="noStrike" kern="1200" cap="none" spc="0" normalizeH="0" baseline="0" noProof="0" dirty="0">
                        <a:ln>
                          <a:noFill/>
                        </a:ln>
                        <a:solidFill>
                          <a:srgbClr val="8661C5"/>
                        </a:solidFill>
                        <a:effectLst/>
                        <a:uLnTx/>
                        <a:uFillTx/>
                        <a:latin typeface="Segoe UI Semibold"/>
                        <a:ea typeface="+mn-ea"/>
                        <a:cs typeface="+mn-cs"/>
                        <a:hlinkClick r:id="rId10" action="ppaction://hlinksldjump">
                          <a:extLst>
                            <a:ext uri="{A12FA001-AC4F-418D-AE19-62706E023703}">
                              <ahyp:hlinkClr xmlns:ahyp="http://schemas.microsoft.com/office/drawing/2018/hyperlinkcolor" val="tx"/>
                            </a:ext>
                          </a:extLst>
                        </a:hlinkClick>
                      </a:endParaRPr>
                    </a:p>
                    <a:p>
                      <a:pPr marL="0" marR="0" lvl="0" indent="0" algn="l" defTabSz="582780" rtl="0" eaLnBrk="1" fontAlgn="auto" latinLnBrk="0" hangingPunct="1">
                        <a:lnSpc>
                          <a:spcPct val="110000"/>
                        </a:lnSpc>
                        <a:spcBef>
                          <a:spcPct val="0"/>
                        </a:spcBef>
                        <a:spcAft>
                          <a:spcPts val="300"/>
                        </a:spcAft>
                        <a:buClr>
                          <a:srgbClr val="000000"/>
                        </a:buClr>
                        <a:buSzTx/>
                        <a:buFont typeface="Arial" panose="020B0604020202020204" pitchFamily="34" charset="0"/>
                        <a:buNone/>
                        <a:tabLst/>
                        <a:defRPr/>
                      </a:pPr>
                      <a:endParaRPr kumimoji="0" lang="en-US" sz="800" b="0" i="0" u="none" strike="noStrike" kern="1200" cap="none" spc="0" normalizeH="0" baseline="0" noProof="0" dirty="0">
                        <a:ln>
                          <a:noFill/>
                        </a:ln>
                        <a:solidFill>
                          <a:srgbClr val="8661C5"/>
                        </a:solidFill>
                        <a:effectLst/>
                        <a:uLnTx/>
                        <a:uFillTx/>
                        <a:latin typeface="Segoe UI Semibold"/>
                        <a:ea typeface="+mn-ea"/>
                        <a:cs typeface="+mn-cs"/>
                      </a:endParaRPr>
                    </a:p>
                  </a:txBody>
                  <a:tcPr marT="36576" marB="36576"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114300" marR="0" lvl="0" indent="-114300" algn="l" defTabSz="582780" rtl="0" eaLnBrk="1" fontAlgn="auto" latinLnBrk="0" hangingPunct="1">
                        <a:lnSpc>
                          <a:spcPct val="110000"/>
                        </a:lnSpc>
                        <a:spcBef>
                          <a:spcPct val="0"/>
                        </a:spcBef>
                        <a:spcAft>
                          <a:spcPts val="300"/>
                        </a:spcAft>
                        <a:buClr>
                          <a:srgbClr val="000000"/>
                        </a:buClr>
                        <a:buSzTx/>
                        <a:buFont typeface="Arial" panose="020B0604020202020204" pitchFamily="34" charset="0"/>
                        <a:buChar char="•"/>
                        <a:tabLst/>
                        <a:defRPr/>
                      </a:pPr>
                      <a:r>
                        <a:rPr kumimoji="0" lang="en-US" sz="800" b="0" i="0" u="none" strike="noStrike" kern="1200" cap="none" spc="0" normalizeH="0" baseline="0" noProof="0" dirty="0">
                          <a:ln>
                            <a:noFill/>
                          </a:ln>
                          <a:solidFill>
                            <a:srgbClr val="8661C5"/>
                          </a:solidFill>
                          <a:effectLst/>
                          <a:uLnTx/>
                          <a:uFillTx/>
                          <a:latin typeface="Segoe UI Semibold"/>
                          <a:ea typeface="+mn-ea"/>
                          <a:cs typeface="+mn-cs"/>
                          <a:hlinkClick r:id="rId12" action="ppaction://hlinksldjump">
                            <a:extLst>
                              <a:ext uri="{A12FA001-AC4F-418D-AE19-62706E023703}">
                                <ahyp:hlinkClr xmlns:ahyp="http://schemas.microsoft.com/office/drawing/2018/hyperlinkcolor" val="tx"/>
                              </a:ext>
                            </a:extLst>
                          </a:hlinkClick>
                        </a:rPr>
                        <a:t>Build a business case</a:t>
                      </a:r>
                      <a:endParaRPr kumimoji="0" lang="en-US" sz="800" b="0" i="0" u="none" strike="noStrike" kern="1200" cap="none" spc="0" normalizeH="0" baseline="0" noProof="0" dirty="0">
                        <a:ln>
                          <a:noFill/>
                        </a:ln>
                        <a:solidFill>
                          <a:srgbClr val="8661C5"/>
                        </a:solidFill>
                        <a:effectLst/>
                        <a:uLnTx/>
                        <a:uFillTx/>
                        <a:latin typeface="Segoe UI Semibold"/>
                        <a:ea typeface="+mn-ea"/>
                        <a:cs typeface="+mn-cs"/>
                      </a:endParaRPr>
                    </a:p>
                    <a:p>
                      <a:pPr marL="114300" marR="0" lvl="0" indent="-114300" algn="l" defTabSz="582780" rtl="0" eaLnBrk="1" fontAlgn="auto" latinLnBrk="0" hangingPunct="1">
                        <a:lnSpc>
                          <a:spcPct val="110000"/>
                        </a:lnSpc>
                        <a:spcBef>
                          <a:spcPct val="0"/>
                        </a:spcBef>
                        <a:spcAft>
                          <a:spcPts val="300"/>
                        </a:spcAft>
                        <a:buClr>
                          <a:srgbClr val="000000"/>
                        </a:buClr>
                        <a:buSzTx/>
                        <a:buFont typeface="Arial" panose="020B0604020202020204" pitchFamily="34" charset="0"/>
                        <a:buChar char="•"/>
                        <a:tabLst/>
                        <a:defRPr/>
                      </a:pPr>
                      <a:r>
                        <a:rPr kumimoji="0" lang="en-US" sz="800" b="0" i="0" u="none" strike="noStrike" kern="1200" cap="none" spc="0" normalizeH="0" baseline="0" noProof="0" dirty="0">
                          <a:ln>
                            <a:noFill/>
                          </a:ln>
                          <a:solidFill>
                            <a:srgbClr val="8661C5"/>
                          </a:solidFill>
                          <a:effectLst/>
                          <a:uLnTx/>
                          <a:uFillTx/>
                          <a:latin typeface="Segoe UI Semibold"/>
                          <a:ea typeface="+mn-ea"/>
                          <a:cs typeface="+mn-cs"/>
                          <a:hlinkClick r:id="rId13" action="ppaction://hlinksldjump">
                            <a:extLst>
                              <a:ext uri="{A12FA001-AC4F-418D-AE19-62706E023703}">
                                <ahyp:hlinkClr xmlns:ahyp="http://schemas.microsoft.com/office/drawing/2018/hyperlinkcolor" val="tx"/>
                              </a:ext>
                            </a:extLst>
                          </a:hlinkClick>
                        </a:rPr>
                        <a:t>Analyze cashflow variances</a:t>
                      </a:r>
                      <a:endParaRPr kumimoji="0" lang="en-US" sz="800" b="0" i="0" u="none" strike="noStrike" kern="1200" cap="none" spc="0" normalizeH="0" baseline="0" noProof="0" dirty="0">
                        <a:ln>
                          <a:noFill/>
                        </a:ln>
                        <a:solidFill>
                          <a:srgbClr val="8661C5"/>
                        </a:solidFill>
                        <a:effectLst/>
                        <a:uLnTx/>
                        <a:uFillTx/>
                        <a:latin typeface="Segoe UI Semibold"/>
                        <a:ea typeface="+mn-ea"/>
                        <a:cs typeface="+mn-cs"/>
                      </a:endParaRPr>
                    </a:p>
                  </a:txBody>
                  <a:tcPr marT="36576" marB="36576"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l" defTabSz="582780" rtl="0" eaLnBrk="1" fontAlgn="auto" latinLnBrk="0" hangingPunct="1">
                        <a:lnSpc>
                          <a:spcPct val="110000"/>
                        </a:lnSpc>
                        <a:spcBef>
                          <a:spcPct val="0"/>
                        </a:spcBef>
                        <a:spcAft>
                          <a:spcPts val="200"/>
                        </a:spcAft>
                        <a:buClr>
                          <a:srgbClr val="000000"/>
                        </a:buClr>
                        <a:buSzTx/>
                        <a:buFont typeface="Arial" panose="020B0604020202020204" pitchFamily="34" charset="0"/>
                        <a:buNone/>
                        <a:tabLst/>
                        <a:defRPr/>
                      </a:pPr>
                      <a:endParaRPr kumimoji="0" lang="en-US" sz="800" b="0" i="0" u="none" strike="noStrike" kern="1200" cap="none" spc="0" normalizeH="0" baseline="0" noProof="0" dirty="0">
                        <a:ln>
                          <a:noFill/>
                        </a:ln>
                        <a:solidFill>
                          <a:srgbClr val="8661C5"/>
                        </a:solidFill>
                        <a:effectLst/>
                        <a:uLnTx/>
                        <a:uFillTx/>
                        <a:latin typeface="Segoe UI Semibold"/>
                        <a:ea typeface="+mn-ea"/>
                        <a:cs typeface="+mn-cs"/>
                      </a:endParaRPr>
                    </a:p>
                    <a:p>
                      <a:pPr marL="0" marR="0" lvl="0" indent="0" algn="l" defTabSz="932742" rtl="0" eaLnBrk="1" fontAlgn="auto" latinLnBrk="0" hangingPunct="1">
                        <a:lnSpc>
                          <a:spcPct val="100000"/>
                        </a:lnSpc>
                        <a:spcBef>
                          <a:spcPts val="0"/>
                        </a:spcBef>
                        <a:spcAft>
                          <a:spcPts val="200"/>
                        </a:spcAft>
                        <a:buClr>
                          <a:schemeClr val="tx1"/>
                        </a:buClr>
                        <a:buSzTx/>
                        <a:buFont typeface="Arial" panose="020B0604020202020204" pitchFamily="34" charset="0"/>
                        <a:buNone/>
                        <a:tabLst/>
                        <a:defRPr/>
                      </a:pPr>
                      <a:endParaRPr kumimoji="0" lang="en-US" sz="800" b="0" i="0" u="none" strike="noStrike" kern="1200" cap="none" spc="0" normalizeH="0" baseline="0" noProof="0" dirty="0">
                        <a:ln>
                          <a:noFill/>
                        </a:ln>
                        <a:solidFill>
                          <a:srgbClr val="8661C5"/>
                        </a:solidFill>
                        <a:effectLst/>
                        <a:uLnTx/>
                        <a:uFillTx/>
                        <a:latin typeface="+mn-lt"/>
                        <a:ea typeface="+mn-ea"/>
                        <a:cs typeface="Segoe UI" panose="020B0502040204020203" pitchFamily="34" charset="0"/>
                      </a:endParaRPr>
                    </a:p>
                  </a:txBody>
                  <a:tcPr marT="36576" marB="36576" anchor="ctr">
                    <a:lnL w="6350" cap="flat" cmpd="sng" algn="ctr">
                      <a:solidFill>
                        <a:schemeClr val="bg1">
                          <a:lumMod val="8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642407484"/>
                  </a:ext>
                </a:extLst>
              </a:tr>
              <a:tr h="184105">
                <a:tc>
                  <a:txBody>
                    <a:bodyPr/>
                    <a:lstStyle/>
                    <a:p>
                      <a:pPr algn="l">
                        <a:lnSpc>
                          <a:spcPct val="100000"/>
                        </a:lnSpc>
                        <a:spcBef>
                          <a:spcPts val="0"/>
                        </a:spcBef>
                        <a:spcAft>
                          <a:spcPts val="300"/>
                        </a:spcAft>
                      </a:pPr>
                      <a:r>
                        <a:rPr lang="en-US" sz="1000" dirty="0">
                          <a:solidFill>
                            <a:schemeClr val="tx1"/>
                          </a:solidFill>
                          <a:latin typeface="+mn-lt"/>
                        </a:rPr>
                        <a:t>Risk management &amp; compliance</a:t>
                      </a:r>
                    </a:p>
                  </a:txBody>
                  <a:tcPr marT="27432" marB="27432">
                    <a:lnL w="6350" cap="flat" cmpd="sng" algn="ctr">
                      <a:no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112713" marR="0" lvl="0" indent="-112713" algn="l" defTabSz="932742" rtl="0" eaLnBrk="1" fontAlgn="auto" latinLnBrk="0" hangingPunct="1">
                        <a:lnSpc>
                          <a:spcPct val="100000"/>
                        </a:lnSpc>
                        <a:spcBef>
                          <a:spcPts val="0"/>
                        </a:spcBef>
                        <a:spcAft>
                          <a:spcPts val="200"/>
                        </a:spcAft>
                        <a:buClr>
                          <a:schemeClr val="tx1"/>
                        </a:buClr>
                        <a:buSzTx/>
                        <a:buFont typeface="Arial" panose="020B0604020202020204" pitchFamily="34" charset="0"/>
                        <a:buChar char="•"/>
                        <a:tabLst/>
                        <a:defRPr/>
                      </a:pPr>
                      <a:endParaRPr kumimoji="0" lang="en-US" sz="800" b="0" i="0" u="sng" strike="noStrike" kern="1200" cap="none" spc="0" normalizeH="0" baseline="0" noProof="0" dirty="0">
                        <a:ln>
                          <a:noFill/>
                        </a:ln>
                        <a:solidFill>
                          <a:srgbClr val="8661C5"/>
                        </a:solidFill>
                        <a:effectLst/>
                        <a:uLnTx/>
                        <a:uFillTx/>
                        <a:latin typeface="Segoe UI Semibold"/>
                        <a:ea typeface="+mn-ea"/>
                        <a:cs typeface="Segoe UI Semilight"/>
                      </a:endParaRPr>
                    </a:p>
                  </a:txBody>
                  <a:tcPr marT="36576" marB="36576"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114300" marR="0" lvl="0" indent="-114300" algn="l" defTabSz="582780" rtl="0" eaLnBrk="1" fontAlgn="auto" latinLnBrk="0" hangingPunct="1">
                        <a:lnSpc>
                          <a:spcPct val="110000"/>
                        </a:lnSpc>
                        <a:spcBef>
                          <a:spcPct val="0"/>
                        </a:spcBef>
                        <a:spcAft>
                          <a:spcPts val="300"/>
                        </a:spcAft>
                        <a:buClr>
                          <a:srgbClr val="000000"/>
                        </a:buClr>
                        <a:buSzTx/>
                        <a:buFont typeface="Arial" panose="020B0604020202020204" pitchFamily="34" charset="0"/>
                        <a:buChar char="•"/>
                        <a:tabLst/>
                        <a:defRPr/>
                      </a:pPr>
                      <a:r>
                        <a:rPr kumimoji="0" lang="en-US" sz="800" b="0" i="0" u="none" strike="noStrike" kern="1200" cap="none" spc="0" normalizeH="0" baseline="0" noProof="0" dirty="0">
                          <a:ln>
                            <a:noFill/>
                          </a:ln>
                          <a:solidFill>
                            <a:srgbClr val="8661C5"/>
                          </a:solidFill>
                          <a:effectLst/>
                          <a:uLnTx/>
                          <a:uFillTx/>
                          <a:latin typeface="Segoe UI Semibold"/>
                          <a:ea typeface="+mn-ea"/>
                          <a:cs typeface="+mn-cs"/>
                          <a:hlinkClick r:id="rId14" action="ppaction://hlinksldjump">
                            <a:extLst>
                              <a:ext uri="{A12FA001-AC4F-418D-AE19-62706E023703}">
                                <ahyp:hlinkClr xmlns:ahyp="http://schemas.microsoft.com/office/drawing/2018/hyperlinkcolor" val="tx"/>
                              </a:ext>
                            </a:extLst>
                          </a:hlinkClick>
                        </a:rPr>
                        <a:t>Accounting document evaluation</a:t>
                      </a:r>
                      <a:endParaRPr kumimoji="0" lang="en-US" sz="800" b="0" i="0" u="none" strike="noStrike" kern="1200" cap="none" spc="0" normalizeH="0" baseline="0" noProof="0" dirty="0">
                        <a:ln>
                          <a:noFill/>
                        </a:ln>
                        <a:solidFill>
                          <a:srgbClr val="8661C5"/>
                        </a:solidFill>
                        <a:effectLst/>
                        <a:uLnTx/>
                        <a:uFillTx/>
                        <a:latin typeface="Segoe UI Semibold"/>
                        <a:ea typeface="+mn-ea"/>
                        <a:cs typeface="+mn-cs"/>
                      </a:endParaRPr>
                    </a:p>
                    <a:p>
                      <a:pPr marL="114300" marR="0" lvl="0" indent="-114300" algn="l" defTabSz="582780" rtl="0" eaLnBrk="1" fontAlgn="auto" latinLnBrk="0" hangingPunct="1">
                        <a:lnSpc>
                          <a:spcPct val="110000"/>
                        </a:lnSpc>
                        <a:spcBef>
                          <a:spcPct val="0"/>
                        </a:spcBef>
                        <a:spcAft>
                          <a:spcPts val="300"/>
                        </a:spcAft>
                        <a:buClr>
                          <a:srgbClr val="000000"/>
                        </a:buClr>
                        <a:buSzTx/>
                        <a:buFont typeface="Arial" panose="020B0604020202020204" pitchFamily="34" charset="0"/>
                        <a:buChar char="•"/>
                        <a:tabLst/>
                        <a:defRPr/>
                      </a:pPr>
                      <a:r>
                        <a:rPr kumimoji="0" lang="en-US" sz="800" b="0" i="0" u="none" strike="noStrike" kern="1200" cap="none" spc="0" normalizeH="0" baseline="0" noProof="0" dirty="0">
                          <a:ln>
                            <a:noFill/>
                          </a:ln>
                          <a:solidFill>
                            <a:srgbClr val="8661C5"/>
                          </a:solidFill>
                          <a:effectLst/>
                          <a:uLnTx/>
                          <a:uFillTx/>
                          <a:latin typeface="Segoe UI Semibold"/>
                          <a:ea typeface="+mn-ea"/>
                          <a:cs typeface="+mn-cs"/>
                          <a:hlinkClick r:id="rId15" action="ppaction://hlinksldjump">
                            <a:extLst>
                              <a:ext uri="{A12FA001-AC4F-418D-AE19-62706E023703}">
                                <ahyp:hlinkClr xmlns:ahyp="http://schemas.microsoft.com/office/drawing/2018/hyperlinkcolor" val="tx"/>
                              </a:ext>
                            </a:extLst>
                          </a:hlinkClick>
                        </a:rPr>
                        <a:t>Update a guidance document </a:t>
                      </a:r>
                      <a:endParaRPr kumimoji="0" lang="en-US" sz="800" b="0" i="0" u="none" strike="noStrike" kern="1200" cap="none" spc="0" normalizeH="0" baseline="0" noProof="0" dirty="0">
                        <a:ln>
                          <a:noFill/>
                        </a:ln>
                        <a:solidFill>
                          <a:srgbClr val="8661C5"/>
                        </a:solidFill>
                        <a:effectLst/>
                        <a:uLnTx/>
                        <a:uFillTx/>
                        <a:latin typeface="Segoe UI Semibold"/>
                        <a:ea typeface="+mn-ea"/>
                        <a:cs typeface="+mn-cs"/>
                      </a:endParaRPr>
                    </a:p>
                  </a:txBody>
                  <a:tcPr marT="36576" marB="36576"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114300" marR="0" lvl="0" indent="-114300" algn="l" defTabSz="932742" rtl="0" eaLnBrk="1" fontAlgn="auto" latinLnBrk="0" hangingPunct="1">
                        <a:lnSpc>
                          <a:spcPct val="100000"/>
                        </a:lnSpc>
                        <a:spcBef>
                          <a:spcPts val="0"/>
                        </a:spcBef>
                        <a:spcAft>
                          <a:spcPts val="200"/>
                        </a:spcAft>
                        <a:buClr>
                          <a:schemeClr val="tx1"/>
                        </a:buClr>
                        <a:buSzTx/>
                        <a:buFont typeface="Arial" panose="020B0604020202020204" pitchFamily="34" charset="0"/>
                        <a:buChar char="•"/>
                        <a:tabLst/>
                        <a:defRPr/>
                      </a:pPr>
                      <a:r>
                        <a:rPr kumimoji="0" lang="en-US" sz="800" b="0" i="0" u="none" strike="noStrike" kern="1200" cap="none" spc="0" normalizeH="0" baseline="0" noProof="0" dirty="0">
                          <a:ln>
                            <a:noFill/>
                          </a:ln>
                          <a:solidFill>
                            <a:srgbClr val="8661C5"/>
                          </a:solidFill>
                          <a:effectLst/>
                          <a:uLnTx/>
                          <a:uFillTx/>
                          <a:latin typeface="Segoe UI Semibold"/>
                          <a:ea typeface="+mn-ea"/>
                          <a:cs typeface="+mn-cs"/>
                          <a:hlinkClick r:id="rId16" action="ppaction://hlinksldjump">
                            <a:extLst>
                              <a:ext uri="{A12FA001-AC4F-418D-AE19-62706E023703}">
                                <ahyp:hlinkClr xmlns:ahyp="http://schemas.microsoft.com/office/drawing/2018/hyperlinkcolor" val="tx"/>
                              </a:ext>
                            </a:extLst>
                          </a:hlinkClick>
                        </a:rPr>
                        <a:t>Automate financial query management</a:t>
                      </a:r>
                      <a:endParaRPr kumimoji="0" lang="en-US" sz="800" b="0" i="0" u="none" strike="noStrike" kern="1200" cap="none" spc="0" normalizeH="0" baseline="0" noProof="0" dirty="0">
                        <a:ln>
                          <a:noFill/>
                        </a:ln>
                        <a:solidFill>
                          <a:srgbClr val="8661C5"/>
                        </a:solidFill>
                        <a:effectLst/>
                        <a:uLnTx/>
                        <a:uFillTx/>
                        <a:latin typeface="Segoe UI Semibold"/>
                        <a:ea typeface="+mn-ea"/>
                        <a:cs typeface="+mn-cs"/>
                      </a:endParaRPr>
                    </a:p>
                  </a:txBody>
                  <a:tcPr marT="36576" marB="36576"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l" defTabSz="932742" rtl="0" eaLnBrk="1" fontAlgn="auto" latinLnBrk="0" hangingPunct="1">
                        <a:lnSpc>
                          <a:spcPct val="100000"/>
                        </a:lnSpc>
                        <a:spcBef>
                          <a:spcPts val="0"/>
                        </a:spcBef>
                        <a:spcAft>
                          <a:spcPts val="200"/>
                        </a:spcAft>
                        <a:buClr>
                          <a:schemeClr val="tx1"/>
                        </a:buClr>
                        <a:buSzTx/>
                        <a:buFont typeface="Arial" panose="020B0604020202020204" pitchFamily="34" charset="0"/>
                        <a:buNone/>
                        <a:tabLst/>
                        <a:defRPr/>
                      </a:pPr>
                      <a:endParaRPr kumimoji="0" lang="en-US" sz="800" b="0" i="0" u="none" strike="noStrike" kern="1200" cap="none" spc="0" normalizeH="0" baseline="0" noProof="0" dirty="0">
                        <a:ln>
                          <a:noFill/>
                        </a:ln>
                        <a:solidFill>
                          <a:srgbClr val="8661C5"/>
                        </a:solidFill>
                        <a:effectLst/>
                        <a:uLnTx/>
                        <a:uFillTx/>
                        <a:latin typeface="+mn-lt"/>
                        <a:ea typeface="+mn-ea"/>
                        <a:cs typeface="Segoe UI" panose="020B0502040204020203" pitchFamily="34" charset="0"/>
                      </a:endParaRPr>
                    </a:p>
                  </a:txBody>
                  <a:tcPr marT="36576" marB="36576" anchor="ctr">
                    <a:lnL w="6350" cap="flat" cmpd="sng" algn="ctr">
                      <a:solidFill>
                        <a:schemeClr val="bg1">
                          <a:lumMod val="8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68780974"/>
                  </a:ext>
                </a:extLst>
              </a:tr>
              <a:tr h="113607">
                <a:tc>
                  <a:txBody>
                    <a:bodyPr/>
                    <a:lstStyle/>
                    <a:p>
                      <a:pPr algn="l">
                        <a:lnSpc>
                          <a:spcPct val="100000"/>
                        </a:lnSpc>
                        <a:spcBef>
                          <a:spcPts val="0"/>
                        </a:spcBef>
                        <a:spcAft>
                          <a:spcPts val="300"/>
                        </a:spcAft>
                      </a:pPr>
                      <a:r>
                        <a:rPr lang="en-US" sz="1000" dirty="0">
                          <a:solidFill>
                            <a:schemeClr val="tx1"/>
                          </a:solidFill>
                          <a:latin typeface="+mn-lt"/>
                        </a:rPr>
                        <a:t>Procure to pay</a:t>
                      </a:r>
                    </a:p>
                  </a:txBody>
                  <a:tcPr marT="27432" marB="27432">
                    <a:lnL w="6350" cap="flat" cmpd="sng" algn="ctr">
                      <a:no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112713" marR="0" lvl="0" indent="-112713" algn="l" defTabSz="932742" rtl="0" eaLnBrk="1" fontAlgn="auto" latinLnBrk="0" hangingPunct="1">
                        <a:lnSpc>
                          <a:spcPct val="100000"/>
                        </a:lnSpc>
                        <a:spcBef>
                          <a:spcPts val="0"/>
                        </a:spcBef>
                        <a:spcAft>
                          <a:spcPts val="200"/>
                        </a:spcAft>
                        <a:buClr>
                          <a:schemeClr val="tx1"/>
                        </a:buClr>
                        <a:buSzTx/>
                        <a:buFont typeface="Arial" panose="020B0604020202020204" pitchFamily="34" charset="0"/>
                        <a:buChar char="•"/>
                        <a:tabLst/>
                        <a:defRPr/>
                      </a:pPr>
                      <a:endParaRPr kumimoji="0" lang="en-US" sz="800" b="0" i="0" u="none" strike="noStrike" kern="1200" cap="none" spc="0" normalizeH="0" baseline="0" noProof="0" dirty="0">
                        <a:ln>
                          <a:noFill/>
                        </a:ln>
                        <a:solidFill>
                          <a:srgbClr val="8661C5"/>
                        </a:solidFill>
                        <a:effectLst/>
                        <a:uLnTx/>
                        <a:uFillTx/>
                        <a:latin typeface="Segoe UI Semibold"/>
                        <a:ea typeface="+mn-ea"/>
                        <a:cs typeface="+mn-cs"/>
                      </a:endParaRPr>
                    </a:p>
                  </a:txBody>
                  <a:tcPr marT="36576" marB="36576"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114300" marR="0" lvl="0" indent="-114300" algn="l" defTabSz="582780" rtl="0" eaLnBrk="1" fontAlgn="auto" latinLnBrk="0" hangingPunct="1">
                        <a:lnSpc>
                          <a:spcPct val="110000"/>
                        </a:lnSpc>
                        <a:spcBef>
                          <a:spcPct val="0"/>
                        </a:spcBef>
                        <a:spcAft>
                          <a:spcPts val="300"/>
                        </a:spcAft>
                        <a:buClr>
                          <a:srgbClr val="000000"/>
                        </a:buClr>
                        <a:buSzTx/>
                        <a:buFont typeface="Arial" panose="020B0604020202020204" pitchFamily="34" charset="0"/>
                        <a:buChar char="•"/>
                        <a:tabLst/>
                        <a:defRPr/>
                      </a:pPr>
                      <a:r>
                        <a:rPr kumimoji="0" lang="en-US" sz="800" b="0" i="0" u="none" strike="noStrike" kern="1200" cap="none" spc="0" normalizeH="0" baseline="0" noProof="0" dirty="0">
                          <a:ln>
                            <a:noFill/>
                          </a:ln>
                          <a:solidFill>
                            <a:srgbClr val="8661C5"/>
                          </a:solidFill>
                          <a:effectLst/>
                          <a:uLnTx/>
                          <a:uFillTx/>
                          <a:latin typeface="Segoe UI Semibold"/>
                          <a:ea typeface="+mn-ea"/>
                          <a:cs typeface="+mn-cs"/>
                          <a:hlinkClick r:id="rId17" action="ppaction://hlinksldjump">
                            <a:extLst>
                              <a:ext uri="{A12FA001-AC4F-418D-AE19-62706E023703}">
                                <ahyp:hlinkClr xmlns:ahyp="http://schemas.microsoft.com/office/drawing/2018/hyperlinkcolor" val="tx"/>
                              </a:ext>
                            </a:extLst>
                          </a:hlinkClick>
                        </a:rPr>
                        <a:t>Contract review </a:t>
                      </a:r>
                      <a:endParaRPr kumimoji="0" lang="en-US" sz="800" b="0" i="0" u="none" strike="noStrike" kern="1200" cap="none" spc="0" normalizeH="0" baseline="0" noProof="0" dirty="0">
                        <a:ln>
                          <a:noFill/>
                        </a:ln>
                        <a:solidFill>
                          <a:srgbClr val="8661C5"/>
                        </a:solidFill>
                        <a:effectLst/>
                        <a:uLnTx/>
                        <a:uFillTx/>
                        <a:latin typeface="Segoe UI Semibold"/>
                        <a:ea typeface="+mn-ea"/>
                        <a:cs typeface="+mn-cs"/>
                      </a:endParaRPr>
                    </a:p>
                    <a:p>
                      <a:pPr marL="114300" marR="0" lvl="0" indent="-114300" algn="l" defTabSz="582780" rtl="0" eaLnBrk="1" fontAlgn="auto" latinLnBrk="0" hangingPunct="1">
                        <a:lnSpc>
                          <a:spcPct val="110000"/>
                        </a:lnSpc>
                        <a:spcBef>
                          <a:spcPct val="0"/>
                        </a:spcBef>
                        <a:spcAft>
                          <a:spcPts val="300"/>
                        </a:spcAft>
                        <a:buClr>
                          <a:srgbClr val="000000"/>
                        </a:buClr>
                        <a:buSzTx/>
                        <a:buFont typeface="Arial" panose="020B0604020202020204" pitchFamily="34" charset="0"/>
                        <a:buChar char="•"/>
                        <a:tabLst/>
                        <a:defRPr/>
                      </a:pPr>
                      <a:r>
                        <a:rPr kumimoji="0" lang="en-US" sz="800" b="0" i="0" u="none" strike="noStrike" kern="1200" cap="none" spc="0" normalizeH="0" baseline="0" noProof="0" dirty="0">
                          <a:ln>
                            <a:noFill/>
                          </a:ln>
                          <a:solidFill>
                            <a:srgbClr val="8661C5"/>
                          </a:solidFill>
                          <a:effectLst/>
                          <a:uLnTx/>
                          <a:uFillTx/>
                          <a:latin typeface="Segoe UI Semibold"/>
                          <a:ea typeface="+mn-ea"/>
                          <a:cs typeface="+mn-cs"/>
                          <a:hlinkClick r:id="rId18" action="ppaction://hlinksldjump">
                            <a:extLst>
                              <a:ext uri="{A12FA001-AC4F-418D-AE19-62706E023703}">
                                <ahyp:hlinkClr xmlns:ahyp="http://schemas.microsoft.com/office/drawing/2018/hyperlinkcolor" val="tx"/>
                              </a:ext>
                            </a:extLst>
                          </a:hlinkClick>
                        </a:rPr>
                        <a:t>Contract accounting guidance </a:t>
                      </a:r>
                      <a:endParaRPr kumimoji="0" lang="en-US" sz="800" b="0" i="0" u="none" strike="noStrike" kern="1200" cap="none" spc="0" normalizeH="0" baseline="0" noProof="0" dirty="0">
                        <a:ln>
                          <a:noFill/>
                        </a:ln>
                        <a:solidFill>
                          <a:srgbClr val="8661C5"/>
                        </a:solidFill>
                        <a:effectLst/>
                        <a:uLnTx/>
                        <a:uFillTx/>
                        <a:latin typeface="Segoe UI Semibold"/>
                        <a:ea typeface="+mn-ea"/>
                        <a:cs typeface="+mn-cs"/>
                      </a:endParaRPr>
                    </a:p>
                    <a:p>
                      <a:pPr marL="114300" marR="0" lvl="0" indent="-114300" algn="l" defTabSz="582780" rtl="0" eaLnBrk="1" fontAlgn="auto" latinLnBrk="0" hangingPunct="1">
                        <a:lnSpc>
                          <a:spcPct val="110000"/>
                        </a:lnSpc>
                        <a:spcBef>
                          <a:spcPct val="0"/>
                        </a:spcBef>
                        <a:spcAft>
                          <a:spcPts val="200"/>
                        </a:spcAft>
                        <a:buClr>
                          <a:srgbClr val="000000"/>
                        </a:buClr>
                        <a:buSzTx/>
                        <a:buFont typeface="Arial" panose="020B0604020202020204" pitchFamily="34" charset="0"/>
                        <a:buChar char="•"/>
                        <a:tabLst/>
                        <a:defRPr/>
                      </a:pPr>
                      <a:r>
                        <a:rPr kumimoji="0" lang="en-US" sz="800" b="0" i="0" u="none" strike="noStrike" kern="1200" cap="none" spc="0" normalizeH="0" baseline="0" noProof="0" dirty="0">
                          <a:ln>
                            <a:noFill/>
                          </a:ln>
                          <a:solidFill>
                            <a:srgbClr val="8661C5"/>
                          </a:solidFill>
                          <a:effectLst/>
                          <a:uLnTx/>
                          <a:uFillTx/>
                          <a:latin typeface="Segoe UI Semibold"/>
                          <a:ea typeface="+mn-ea"/>
                          <a:cs typeface="+mn-cs"/>
                          <a:hlinkClick r:id="rId19" action="ppaction://hlinksldjump">
                            <a:extLst>
                              <a:ext uri="{A12FA001-AC4F-418D-AE19-62706E023703}">
                                <ahyp:hlinkClr xmlns:ahyp="http://schemas.microsoft.com/office/drawing/2018/hyperlinkcolor" val="tx"/>
                              </a:ext>
                            </a:extLst>
                          </a:hlinkClick>
                        </a:rPr>
                        <a:t>Amendment comparisons</a:t>
                      </a:r>
                      <a:endParaRPr kumimoji="0" lang="en-US" sz="800" b="0" i="0" u="none" strike="noStrike" kern="1200" cap="none" spc="0" normalizeH="0" baseline="0" noProof="0" dirty="0">
                        <a:ln>
                          <a:noFill/>
                        </a:ln>
                        <a:solidFill>
                          <a:srgbClr val="8661C5"/>
                        </a:solidFill>
                        <a:effectLst/>
                        <a:uLnTx/>
                        <a:uFillTx/>
                        <a:latin typeface="Segoe UI Semibold"/>
                        <a:ea typeface="+mn-ea"/>
                        <a:cs typeface="+mn-cs"/>
                      </a:endParaRPr>
                    </a:p>
                    <a:p>
                      <a:pPr marL="114300" marR="0" lvl="0" indent="-114300" algn="l" defTabSz="582780" rtl="0" eaLnBrk="1" fontAlgn="auto" latinLnBrk="0" hangingPunct="1">
                        <a:lnSpc>
                          <a:spcPct val="110000"/>
                        </a:lnSpc>
                        <a:spcBef>
                          <a:spcPct val="0"/>
                        </a:spcBef>
                        <a:spcAft>
                          <a:spcPts val="200"/>
                        </a:spcAft>
                        <a:buClr>
                          <a:srgbClr val="000000"/>
                        </a:buClr>
                        <a:buSzTx/>
                        <a:buFont typeface="Arial" panose="020B0604020202020204" pitchFamily="34" charset="0"/>
                        <a:buChar char="•"/>
                        <a:tabLst/>
                        <a:defRPr/>
                      </a:pPr>
                      <a:r>
                        <a:rPr kumimoji="0" lang="en-US" sz="800" b="0" i="0" u="none" strike="noStrike" kern="1200" cap="none" spc="0" normalizeH="0" baseline="0" noProof="0" dirty="0">
                          <a:ln>
                            <a:noFill/>
                          </a:ln>
                          <a:solidFill>
                            <a:srgbClr val="8661C5"/>
                          </a:solidFill>
                          <a:effectLst/>
                          <a:uLnTx/>
                          <a:uFillTx/>
                          <a:latin typeface="Segoe UI Semibold"/>
                          <a:ea typeface="+mn-ea"/>
                          <a:cs typeface="+mn-cs"/>
                          <a:hlinkClick r:id="rId20" action="ppaction://hlinksldjump">
                            <a:extLst>
                              <a:ext uri="{A12FA001-AC4F-418D-AE19-62706E023703}">
                                <ahyp:hlinkClr xmlns:ahyp="http://schemas.microsoft.com/office/drawing/2018/hyperlinkcolor" val="tx"/>
                              </a:ext>
                            </a:extLst>
                          </a:hlinkClick>
                        </a:rPr>
                        <a:t>Contract management </a:t>
                      </a:r>
                      <a:endParaRPr kumimoji="0" lang="en-US" sz="800" b="0" i="0" u="none" strike="noStrike" kern="1200" cap="none" spc="0" normalizeH="0" baseline="0" noProof="0" dirty="0">
                        <a:ln>
                          <a:noFill/>
                        </a:ln>
                        <a:solidFill>
                          <a:srgbClr val="8661C5"/>
                        </a:solidFill>
                        <a:effectLst/>
                        <a:uLnTx/>
                        <a:uFillTx/>
                        <a:latin typeface="Segoe UI Semibold"/>
                        <a:ea typeface="+mn-ea"/>
                        <a:cs typeface="+mn-cs"/>
                      </a:endParaRPr>
                    </a:p>
                  </a:txBody>
                  <a:tcPr marT="36576" marB="36576"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114300" marR="0" lvl="0" indent="-114300" algn="l" defTabSz="932742" rtl="0" eaLnBrk="1" fontAlgn="auto" latinLnBrk="0" hangingPunct="1">
                        <a:lnSpc>
                          <a:spcPct val="100000"/>
                        </a:lnSpc>
                        <a:spcBef>
                          <a:spcPts val="0"/>
                        </a:spcBef>
                        <a:spcAft>
                          <a:spcPts val="200"/>
                        </a:spcAft>
                        <a:buClr>
                          <a:schemeClr val="tx1"/>
                        </a:buClr>
                        <a:buSzTx/>
                        <a:buFont typeface="Arial" panose="020B0604020202020204" pitchFamily="34" charset="0"/>
                        <a:buChar char="•"/>
                        <a:tabLst/>
                        <a:defRPr/>
                      </a:pPr>
                      <a:r>
                        <a:rPr kumimoji="0" lang="en-US" sz="800" b="0" i="0" u="none" strike="noStrike" kern="1200" cap="none" spc="0" normalizeH="0" baseline="0" noProof="0" dirty="0">
                          <a:ln>
                            <a:noFill/>
                          </a:ln>
                          <a:solidFill>
                            <a:srgbClr val="8661C5"/>
                          </a:solidFill>
                          <a:effectLst/>
                          <a:uLnTx/>
                          <a:uFillTx/>
                          <a:latin typeface="Segoe UI Semibold"/>
                          <a:ea typeface="+mn-ea"/>
                          <a:cs typeface="+mn-cs"/>
                          <a:hlinkClick r:id="rId21" action="ppaction://hlinksldjump">
                            <a:extLst>
                              <a:ext uri="{A12FA001-AC4F-418D-AE19-62706E023703}">
                                <ahyp:hlinkClr xmlns:ahyp="http://schemas.microsoft.com/office/drawing/2018/hyperlinkcolor" val="tx"/>
                              </a:ext>
                            </a:extLst>
                          </a:hlinkClick>
                        </a:rPr>
                        <a:t>Collections coordination</a:t>
                      </a:r>
                      <a:endParaRPr kumimoji="0" lang="en-US" sz="800" b="0" i="0" u="none" strike="noStrike" kern="1200" cap="none" spc="0" normalizeH="0" baseline="0" noProof="0" dirty="0">
                        <a:ln>
                          <a:noFill/>
                        </a:ln>
                        <a:solidFill>
                          <a:srgbClr val="8661C5"/>
                        </a:solidFill>
                        <a:effectLst/>
                        <a:uLnTx/>
                        <a:uFillTx/>
                        <a:latin typeface="Segoe UI Semibold"/>
                        <a:ea typeface="+mn-ea"/>
                        <a:cs typeface="+mn-cs"/>
                      </a:endParaRPr>
                    </a:p>
                    <a:p>
                      <a:pPr marL="114300" marR="0" lvl="0" indent="-114300" algn="l" defTabSz="932742" rtl="0" eaLnBrk="1" fontAlgn="auto" latinLnBrk="0" hangingPunct="1">
                        <a:lnSpc>
                          <a:spcPct val="100000"/>
                        </a:lnSpc>
                        <a:spcBef>
                          <a:spcPts val="0"/>
                        </a:spcBef>
                        <a:spcAft>
                          <a:spcPts val="200"/>
                        </a:spcAft>
                        <a:buClr>
                          <a:schemeClr val="tx1"/>
                        </a:buClr>
                        <a:buSzTx/>
                        <a:buFont typeface="Arial" panose="020B0604020202020204" pitchFamily="34" charset="0"/>
                        <a:buChar char="•"/>
                        <a:tabLst/>
                        <a:defRPr/>
                      </a:pPr>
                      <a:r>
                        <a:rPr kumimoji="0" lang="en-US" sz="800" b="0" i="0" u="none" strike="noStrike" kern="1200" cap="none" spc="0" normalizeH="0" baseline="0" noProof="0" dirty="0">
                          <a:ln>
                            <a:noFill/>
                          </a:ln>
                          <a:solidFill>
                            <a:srgbClr val="8661C5"/>
                          </a:solidFill>
                          <a:effectLst/>
                          <a:uLnTx/>
                          <a:uFillTx/>
                          <a:latin typeface="Segoe UI Semibold"/>
                          <a:ea typeface="+mn-ea"/>
                          <a:cs typeface="+mn-cs"/>
                          <a:hlinkClick r:id="rId22" action="ppaction://hlinksldjump">
                            <a:extLst>
                              <a:ext uri="{A12FA001-AC4F-418D-AE19-62706E023703}">
                                <ahyp:hlinkClr xmlns:ahyp="http://schemas.microsoft.com/office/drawing/2018/hyperlinkcolor" val="tx"/>
                              </a:ext>
                            </a:extLst>
                          </a:hlinkClick>
                        </a:rPr>
                        <a:t>Procurement insight acceleration</a:t>
                      </a:r>
                      <a:endParaRPr kumimoji="0" lang="en-US" sz="800" b="0" i="0" u="none" strike="noStrike" kern="1200" cap="none" spc="0" normalizeH="0" baseline="0" noProof="0" dirty="0">
                        <a:ln>
                          <a:noFill/>
                        </a:ln>
                        <a:solidFill>
                          <a:srgbClr val="8661C5"/>
                        </a:solidFill>
                        <a:effectLst/>
                        <a:uLnTx/>
                        <a:uFillTx/>
                        <a:latin typeface="Segoe UI Semibold"/>
                        <a:ea typeface="+mn-ea"/>
                        <a:cs typeface="+mn-cs"/>
                      </a:endParaRPr>
                    </a:p>
                  </a:txBody>
                  <a:tcPr marT="36576" marB="36576"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114300" marR="0" lvl="0" indent="-114300" algn="l" defTabSz="932742" rtl="0" eaLnBrk="1" fontAlgn="auto" latinLnBrk="0" hangingPunct="1">
                        <a:lnSpc>
                          <a:spcPct val="100000"/>
                        </a:lnSpc>
                        <a:spcBef>
                          <a:spcPts val="0"/>
                        </a:spcBef>
                        <a:spcAft>
                          <a:spcPts val="200"/>
                        </a:spcAft>
                        <a:buClr>
                          <a:schemeClr val="tx1"/>
                        </a:buClr>
                        <a:buSzTx/>
                        <a:buFont typeface="Arial" panose="020B0604020202020204" pitchFamily="34" charset="0"/>
                        <a:buChar char="•"/>
                        <a:tabLst/>
                        <a:defRPr/>
                      </a:pPr>
                      <a:endParaRPr lang="en-US" sz="800" b="0" noProof="0" dirty="0">
                        <a:solidFill>
                          <a:srgbClr val="8661C5"/>
                        </a:solidFill>
                        <a:latin typeface="+mn-lt"/>
                      </a:endParaRPr>
                    </a:p>
                  </a:txBody>
                  <a:tcPr marT="36576" marB="36576" anchor="ctr">
                    <a:lnL w="6350" cap="flat" cmpd="sng" algn="ctr">
                      <a:solidFill>
                        <a:schemeClr val="bg1">
                          <a:lumMod val="8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173384838"/>
                  </a:ext>
                </a:extLst>
              </a:tr>
              <a:tr h="113607">
                <a:tc>
                  <a:txBody>
                    <a:bodyPr/>
                    <a:lstStyle/>
                    <a:p>
                      <a:pPr algn="l">
                        <a:lnSpc>
                          <a:spcPct val="100000"/>
                        </a:lnSpc>
                        <a:spcBef>
                          <a:spcPts val="0"/>
                        </a:spcBef>
                        <a:spcAft>
                          <a:spcPts val="300"/>
                        </a:spcAft>
                      </a:pPr>
                      <a:r>
                        <a:rPr lang="en-US" sz="1000" dirty="0">
                          <a:solidFill>
                            <a:schemeClr val="tx1"/>
                          </a:solidFill>
                          <a:latin typeface="+mn-lt"/>
                        </a:rPr>
                        <a:t>Record to report</a:t>
                      </a:r>
                    </a:p>
                  </a:txBody>
                  <a:tcPr marT="27432" marB="27432">
                    <a:lnL w="6350" cap="flat" cmpd="sng" algn="ctr">
                      <a:no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112713" marR="0" lvl="0" indent="-112713" algn="l" defTabSz="932742" rtl="0" eaLnBrk="1" fontAlgn="auto" latinLnBrk="0" hangingPunct="1">
                        <a:lnSpc>
                          <a:spcPct val="100000"/>
                        </a:lnSpc>
                        <a:spcBef>
                          <a:spcPts val="0"/>
                        </a:spcBef>
                        <a:spcAft>
                          <a:spcPts val="200"/>
                        </a:spcAft>
                        <a:buClr>
                          <a:schemeClr val="tx1"/>
                        </a:buClr>
                        <a:buSzTx/>
                        <a:buFont typeface="Arial" panose="020B0604020202020204" pitchFamily="34" charset="0"/>
                        <a:buChar char="•"/>
                        <a:tabLst/>
                        <a:defRPr/>
                      </a:pPr>
                      <a:endParaRPr kumimoji="0" lang="en-US" sz="800" b="0" i="0" u="none" strike="noStrike" kern="1200" cap="none" spc="0" normalizeH="0" baseline="0" noProof="0" dirty="0">
                        <a:ln>
                          <a:noFill/>
                        </a:ln>
                        <a:solidFill>
                          <a:srgbClr val="8661C5"/>
                        </a:solidFill>
                        <a:effectLst/>
                        <a:uLnTx/>
                        <a:uFillTx/>
                        <a:latin typeface="Segoe UI Semibold"/>
                        <a:ea typeface="+mn-ea"/>
                        <a:cs typeface="+mn-cs"/>
                      </a:endParaRPr>
                    </a:p>
                  </a:txBody>
                  <a:tcPr marT="36576" marB="36576"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114300" marR="0" lvl="0" indent="-114300" algn="l" defTabSz="582780" rtl="0" eaLnBrk="1" fontAlgn="auto" latinLnBrk="0" hangingPunct="1">
                        <a:lnSpc>
                          <a:spcPct val="110000"/>
                        </a:lnSpc>
                        <a:spcBef>
                          <a:spcPct val="0"/>
                        </a:spcBef>
                        <a:spcAft>
                          <a:spcPts val="300"/>
                        </a:spcAft>
                        <a:buClr>
                          <a:srgbClr val="000000"/>
                        </a:buClr>
                        <a:buSzTx/>
                        <a:buFont typeface="Arial" panose="020B0604020202020204" pitchFamily="34" charset="0"/>
                        <a:buChar char="•"/>
                        <a:tabLst/>
                        <a:defRPr/>
                      </a:pPr>
                      <a:endParaRPr kumimoji="0" lang="en-US" sz="800" b="0" i="0" u="sng" strike="noStrike" kern="1200" cap="none" spc="0" normalizeH="0" baseline="0" noProof="0" dirty="0">
                        <a:ln>
                          <a:noFill/>
                        </a:ln>
                        <a:solidFill>
                          <a:srgbClr val="8661C5"/>
                        </a:solidFill>
                        <a:effectLst/>
                        <a:uLnTx/>
                        <a:uFillTx/>
                        <a:latin typeface="Segoe UI Semibold"/>
                        <a:ea typeface="+mn-ea"/>
                        <a:cs typeface="Segoe UI Semilight"/>
                      </a:endParaRPr>
                    </a:p>
                  </a:txBody>
                  <a:tcPr marT="36576" marB="36576"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114300" marR="0" lvl="0" indent="-114300" algn="l" defTabSz="932742" rtl="0" eaLnBrk="1" fontAlgn="auto" latinLnBrk="0" hangingPunct="1">
                        <a:lnSpc>
                          <a:spcPct val="100000"/>
                        </a:lnSpc>
                        <a:spcBef>
                          <a:spcPts val="0"/>
                        </a:spcBef>
                        <a:spcAft>
                          <a:spcPts val="200"/>
                        </a:spcAft>
                        <a:buClr>
                          <a:schemeClr val="tx1"/>
                        </a:buClr>
                        <a:buSzTx/>
                        <a:buFont typeface="Arial" panose="020B0604020202020204" pitchFamily="34" charset="0"/>
                        <a:buChar char="•"/>
                        <a:tabLst/>
                        <a:defRPr/>
                      </a:pPr>
                      <a:r>
                        <a:rPr kumimoji="0" lang="en-US" sz="800" b="0" i="0" u="none" strike="noStrike" kern="1200" cap="none" spc="0" normalizeH="0" baseline="0" noProof="0" dirty="0">
                          <a:ln>
                            <a:noFill/>
                          </a:ln>
                          <a:solidFill>
                            <a:srgbClr val="8661C5"/>
                          </a:solidFill>
                          <a:effectLst/>
                          <a:uLnTx/>
                          <a:uFillTx/>
                          <a:latin typeface="Segoe UI Semibold"/>
                          <a:ea typeface="+mn-ea"/>
                          <a:cs typeface="+mn-cs"/>
                          <a:hlinkClick r:id="rId23" action="ppaction://hlinksldjump">
                            <a:extLst>
                              <a:ext uri="{A12FA001-AC4F-418D-AE19-62706E023703}">
                                <ahyp:hlinkClr xmlns:ahyp="http://schemas.microsoft.com/office/drawing/2018/hyperlinkcolor" val="tx"/>
                              </a:ext>
                            </a:extLst>
                          </a:hlinkClick>
                        </a:rPr>
                        <a:t>Analyze business performance </a:t>
                      </a:r>
                      <a:endParaRPr kumimoji="0" lang="en-US" sz="800" b="0" i="0" u="none" strike="noStrike" kern="1200" cap="none" spc="0" normalizeH="0" baseline="0" noProof="0" dirty="0">
                        <a:ln>
                          <a:noFill/>
                        </a:ln>
                        <a:solidFill>
                          <a:srgbClr val="8661C5"/>
                        </a:solidFill>
                        <a:effectLst/>
                        <a:uLnTx/>
                        <a:uFillTx/>
                        <a:latin typeface="Segoe UI Semibold"/>
                        <a:ea typeface="+mn-ea"/>
                        <a:cs typeface="+mn-cs"/>
                      </a:endParaRPr>
                    </a:p>
                    <a:p>
                      <a:pPr marL="114300" marR="0" lvl="0" indent="-114300" algn="l" defTabSz="932742" rtl="0" eaLnBrk="1" fontAlgn="auto" latinLnBrk="0" hangingPunct="1">
                        <a:lnSpc>
                          <a:spcPct val="100000"/>
                        </a:lnSpc>
                        <a:spcBef>
                          <a:spcPts val="0"/>
                        </a:spcBef>
                        <a:spcAft>
                          <a:spcPts val="200"/>
                        </a:spcAft>
                        <a:buClr>
                          <a:schemeClr val="tx1"/>
                        </a:buClr>
                        <a:buSzTx/>
                        <a:buFont typeface="Arial" panose="020B0604020202020204" pitchFamily="34" charset="0"/>
                        <a:buChar char="•"/>
                        <a:tabLst/>
                        <a:defRPr/>
                      </a:pPr>
                      <a:r>
                        <a:rPr kumimoji="0" lang="en-US" sz="800" b="0" i="0" u="none" strike="noStrike" kern="1200" cap="none" spc="0" normalizeH="0" baseline="0" noProof="0" dirty="0">
                          <a:ln>
                            <a:noFill/>
                          </a:ln>
                          <a:solidFill>
                            <a:srgbClr val="8661C5"/>
                          </a:solidFill>
                          <a:effectLst/>
                          <a:uLnTx/>
                          <a:uFillTx/>
                          <a:latin typeface="Segoe UI Semibold"/>
                          <a:ea typeface="+mn-ea"/>
                          <a:cs typeface="+mn-cs"/>
                          <a:hlinkClick r:id="rId24" action="ppaction://hlinksldjump">
                            <a:extLst>
                              <a:ext uri="{A12FA001-AC4F-418D-AE19-62706E023703}">
                                <ahyp:hlinkClr xmlns:ahyp="http://schemas.microsoft.com/office/drawing/2018/hyperlinkcolor" val="tx"/>
                              </a:ext>
                            </a:extLst>
                          </a:hlinkClick>
                        </a:rPr>
                        <a:t>Reconcile financial data to accelerate period closing​</a:t>
                      </a:r>
                      <a:endParaRPr kumimoji="0" lang="en-US" sz="800" b="0" i="0" u="none" strike="noStrike" kern="1200" cap="none" spc="0" normalizeH="0" baseline="0" noProof="0" dirty="0">
                        <a:ln>
                          <a:noFill/>
                        </a:ln>
                        <a:solidFill>
                          <a:srgbClr val="8661C5"/>
                        </a:solidFill>
                        <a:effectLst/>
                        <a:uLnTx/>
                        <a:uFillTx/>
                        <a:latin typeface="Segoe UI Semibold"/>
                        <a:ea typeface="+mn-ea"/>
                        <a:cs typeface="+mn-cs"/>
                      </a:endParaRPr>
                    </a:p>
                  </a:txBody>
                  <a:tcPr marT="36576" marB="36576"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114300" marR="0" lvl="0" indent="-114300" algn="l" defTabSz="932742" rtl="0" eaLnBrk="1" fontAlgn="auto" latinLnBrk="0" hangingPunct="1">
                        <a:lnSpc>
                          <a:spcPct val="100000"/>
                        </a:lnSpc>
                        <a:spcBef>
                          <a:spcPts val="0"/>
                        </a:spcBef>
                        <a:spcAft>
                          <a:spcPts val="200"/>
                        </a:spcAft>
                        <a:buClr>
                          <a:schemeClr val="tx1"/>
                        </a:buClr>
                        <a:buSzTx/>
                        <a:buFont typeface="Arial" panose="020B0604020202020204" pitchFamily="34" charset="0"/>
                        <a:buChar char="•"/>
                        <a:tabLst/>
                        <a:defRPr/>
                      </a:pPr>
                      <a:endParaRPr lang="en-US" sz="800" b="0" noProof="0" dirty="0">
                        <a:solidFill>
                          <a:srgbClr val="8661C5"/>
                        </a:solidFill>
                        <a:latin typeface="+mn-lt"/>
                      </a:endParaRPr>
                    </a:p>
                  </a:txBody>
                  <a:tcPr marT="36576" marB="36576" anchor="ctr">
                    <a:lnL w="6350" cap="flat" cmpd="sng" algn="ctr">
                      <a:solidFill>
                        <a:schemeClr val="bg1">
                          <a:lumMod val="8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026094614"/>
                  </a:ext>
                </a:extLst>
              </a:tr>
            </a:tbl>
          </a:graphicData>
        </a:graphic>
      </p:graphicFrame>
      <p:sp>
        <p:nvSpPr>
          <p:cNvPr id="4" name="Graphic 2">
            <a:hlinkClick r:id="rId25"/>
            <a:extLst>
              <a:ext uri="{FF2B5EF4-FFF2-40B4-BE49-F238E27FC236}">
                <a16:creationId xmlns:a16="http://schemas.microsoft.com/office/drawing/2014/main" id="{D4F1C78F-9FF7-442A-9959-2E95948D98B9}"/>
              </a:ext>
            </a:extLst>
          </p:cNvPr>
          <p:cNvSpPr/>
          <p:nvPr/>
        </p:nvSpPr>
        <p:spPr>
          <a:xfrm>
            <a:off x="5693483" y="632777"/>
            <a:ext cx="228200" cy="202844"/>
          </a:xfrm>
          <a:custGeom>
            <a:avLst/>
            <a:gdLst>
              <a:gd name="connsiteX0" fmla="*/ 41203 w 228200"/>
              <a:gd name="connsiteY0" fmla="*/ 0 h 202844"/>
              <a:gd name="connsiteX1" fmla="*/ 186997 w 228200"/>
              <a:gd name="connsiteY1" fmla="*/ 0 h 202844"/>
              <a:gd name="connsiteX2" fmla="*/ 228137 w 228200"/>
              <a:gd name="connsiteY2" fmla="*/ 38870 h 202844"/>
              <a:gd name="connsiteX3" fmla="*/ 228200 w 228200"/>
              <a:gd name="connsiteY3" fmla="*/ 41203 h 202844"/>
              <a:gd name="connsiteX4" fmla="*/ 228200 w 228200"/>
              <a:gd name="connsiteY4" fmla="*/ 161642 h 202844"/>
              <a:gd name="connsiteX5" fmla="*/ 189330 w 228200"/>
              <a:gd name="connsiteY5" fmla="*/ 202781 h 202844"/>
              <a:gd name="connsiteX6" fmla="*/ 186997 w 228200"/>
              <a:gd name="connsiteY6" fmla="*/ 202845 h 202844"/>
              <a:gd name="connsiteX7" fmla="*/ 41203 w 228200"/>
              <a:gd name="connsiteY7" fmla="*/ 202845 h 202844"/>
              <a:gd name="connsiteX8" fmla="*/ 63 w 228200"/>
              <a:gd name="connsiteY8" fmla="*/ 163975 h 202844"/>
              <a:gd name="connsiteX9" fmla="*/ 0 w 228200"/>
              <a:gd name="connsiteY9" fmla="*/ 161642 h 202844"/>
              <a:gd name="connsiteX10" fmla="*/ 0 w 228200"/>
              <a:gd name="connsiteY10" fmla="*/ 41203 h 202844"/>
              <a:gd name="connsiteX11" fmla="*/ 38870 w 228200"/>
              <a:gd name="connsiteY11" fmla="*/ 63 h 202844"/>
              <a:gd name="connsiteX12" fmla="*/ 41203 w 228200"/>
              <a:gd name="connsiteY12" fmla="*/ 0 h 202844"/>
              <a:gd name="connsiteX13" fmla="*/ 186997 w 228200"/>
              <a:gd name="connsiteY13" fmla="*/ 0 h 202844"/>
              <a:gd name="connsiteX14" fmla="*/ 41203 w 228200"/>
              <a:gd name="connsiteY14" fmla="*/ 0 h 202844"/>
              <a:gd name="connsiteX15" fmla="*/ 89416 w 228200"/>
              <a:gd name="connsiteY15" fmla="*/ 70805 h 202844"/>
              <a:gd name="connsiteX16" fmla="*/ 88745 w 228200"/>
              <a:gd name="connsiteY16" fmla="*/ 73658 h 202844"/>
              <a:gd name="connsiteX17" fmla="*/ 88745 w 228200"/>
              <a:gd name="connsiteY17" fmla="*/ 129212 h 202844"/>
              <a:gd name="connsiteX18" fmla="*/ 95083 w 228200"/>
              <a:gd name="connsiteY18" fmla="*/ 135551 h 202844"/>
              <a:gd name="connsiteX19" fmla="*/ 97923 w 228200"/>
              <a:gd name="connsiteY19" fmla="*/ 134879 h 202844"/>
              <a:gd name="connsiteX20" fmla="*/ 153477 w 228200"/>
              <a:gd name="connsiteY20" fmla="*/ 107115 h 202844"/>
              <a:gd name="connsiteX21" fmla="*/ 156324 w 228200"/>
              <a:gd name="connsiteY21" fmla="*/ 98614 h 202844"/>
              <a:gd name="connsiteX22" fmla="*/ 153477 w 228200"/>
              <a:gd name="connsiteY22" fmla="*/ 95768 h 202844"/>
              <a:gd name="connsiteX23" fmla="*/ 97923 w 228200"/>
              <a:gd name="connsiteY23" fmla="*/ 67991 h 202844"/>
              <a:gd name="connsiteX24" fmla="*/ 89416 w 228200"/>
              <a:gd name="connsiteY24" fmla="*/ 70818 h 202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28200" h="202844">
                <a:moveTo>
                  <a:pt x="41203" y="0"/>
                </a:moveTo>
                <a:lnTo>
                  <a:pt x="186997" y="0"/>
                </a:lnTo>
                <a:cubicBezTo>
                  <a:pt x="208848" y="-1"/>
                  <a:pt x="226900" y="17055"/>
                  <a:pt x="228137" y="38870"/>
                </a:cubicBezTo>
                <a:lnTo>
                  <a:pt x="228200" y="41203"/>
                </a:lnTo>
                <a:lnTo>
                  <a:pt x="228200" y="161642"/>
                </a:lnTo>
                <a:cubicBezTo>
                  <a:pt x="228202" y="183492"/>
                  <a:pt x="211146" y="201544"/>
                  <a:pt x="189330" y="202781"/>
                </a:cubicBezTo>
                <a:lnTo>
                  <a:pt x="186997" y="202845"/>
                </a:lnTo>
                <a:lnTo>
                  <a:pt x="41203" y="202845"/>
                </a:lnTo>
                <a:cubicBezTo>
                  <a:pt x="19352" y="202846"/>
                  <a:pt x="1300" y="185791"/>
                  <a:pt x="63" y="163975"/>
                </a:cubicBezTo>
                <a:lnTo>
                  <a:pt x="0" y="161642"/>
                </a:lnTo>
                <a:lnTo>
                  <a:pt x="0" y="41203"/>
                </a:lnTo>
                <a:cubicBezTo>
                  <a:pt x="-1" y="19352"/>
                  <a:pt x="17055" y="1300"/>
                  <a:pt x="38870" y="63"/>
                </a:cubicBezTo>
                <a:lnTo>
                  <a:pt x="41203" y="0"/>
                </a:lnTo>
                <a:lnTo>
                  <a:pt x="186997" y="0"/>
                </a:lnTo>
                <a:lnTo>
                  <a:pt x="41203" y="0"/>
                </a:lnTo>
                <a:close/>
                <a:moveTo>
                  <a:pt x="89416" y="70805"/>
                </a:moveTo>
                <a:cubicBezTo>
                  <a:pt x="88973" y="71691"/>
                  <a:pt x="88743" y="72668"/>
                  <a:pt x="88745" y="73658"/>
                </a:cubicBezTo>
                <a:lnTo>
                  <a:pt x="88745" y="129212"/>
                </a:lnTo>
                <a:cubicBezTo>
                  <a:pt x="88745" y="132712"/>
                  <a:pt x="91583" y="135551"/>
                  <a:pt x="95083" y="135551"/>
                </a:cubicBezTo>
                <a:cubicBezTo>
                  <a:pt x="96070" y="135551"/>
                  <a:pt x="97042" y="135320"/>
                  <a:pt x="97923" y="134879"/>
                </a:cubicBezTo>
                <a:lnTo>
                  <a:pt x="153477" y="107115"/>
                </a:lnTo>
                <a:cubicBezTo>
                  <a:pt x="156610" y="105553"/>
                  <a:pt x="157884" y="101747"/>
                  <a:pt x="156324" y="98614"/>
                </a:cubicBezTo>
                <a:cubicBezTo>
                  <a:pt x="155709" y="97381"/>
                  <a:pt x="154710" y="96383"/>
                  <a:pt x="153477" y="95768"/>
                </a:cubicBezTo>
                <a:lnTo>
                  <a:pt x="97923" y="67991"/>
                </a:lnTo>
                <a:cubicBezTo>
                  <a:pt x="94793" y="66423"/>
                  <a:pt x="90985" y="67689"/>
                  <a:pt x="89416" y="70818"/>
                </a:cubicBezTo>
                <a:close/>
              </a:path>
            </a:pathLst>
          </a:custGeom>
          <a:gradFill>
            <a:gsLst>
              <a:gs pos="73000">
                <a:srgbClr val="0078D4"/>
              </a:gs>
              <a:gs pos="12000">
                <a:srgbClr val="C03BC4"/>
              </a:gs>
            </a:gsLst>
            <a:path path="circle">
              <a:fillToRect l="100000" t="100000"/>
            </a:path>
          </a:gradFill>
          <a:ln w="12303" cap="flat">
            <a:noFill/>
            <a:prstDash val="solid"/>
            <a:miter/>
          </a:ln>
          <a:effectLst>
            <a:outerShdw blurRad="63500" dist="63500" dir="3000000" algn="tl" rotWithShape="0">
              <a:srgbClr val="454142">
                <a:alpha val="15000"/>
              </a:srgb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7" name="Text Placeholder 10">
            <a:extLst>
              <a:ext uri="{FF2B5EF4-FFF2-40B4-BE49-F238E27FC236}">
                <a16:creationId xmlns:a16="http://schemas.microsoft.com/office/drawing/2014/main" id="{F7FE0056-D29E-E18C-3552-CC939BD6D168}"/>
              </a:ext>
            </a:extLst>
          </p:cNvPr>
          <p:cNvSpPr txBox="1">
            <a:spLocks/>
          </p:cNvSpPr>
          <p:nvPr/>
        </p:nvSpPr>
        <p:spPr>
          <a:xfrm>
            <a:off x="1978893" y="3712956"/>
            <a:ext cx="846758" cy="153888"/>
          </a:xfrm>
          <a:prstGeom prst="rect">
            <a:avLst/>
          </a:prstGeom>
        </p:spPr>
        <p:txBody>
          <a:bodyPr vert="horz" wrap="square" lIns="0" tIns="0" rIns="0" bIns="0" rtlCol="0">
            <a:spAutoFit/>
          </a:bodyPr>
          <a:lstStyle>
            <a:defPPr>
              <a:defRPr lang="en-US"/>
            </a:defPPr>
            <a:lvl1pPr marR="0" indent="0" defTabSz="582780" fontAlgn="auto">
              <a:lnSpc>
                <a:spcPct val="100000"/>
              </a:lnSpc>
              <a:spcBef>
                <a:spcPct val="0"/>
              </a:spcBef>
              <a:spcAft>
                <a:spcPts val="0"/>
              </a:spcAft>
              <a:buClrTx/>
              <a:buSzTx/>
              <a:buFont typeface="Wingdings" panose="05000000000000000000" pitchFamily="2" charset="2"/>
              <a:buNone/>
              <a:tabLst/>
              <a:defRPr sz="1000" spc="0" baseline="0">
                <a:solidFill>
                  <a:srgbClr val="000000"/>
                </a:solidFill>
                <a:latin typeface="+mj-lt"/>
                <a:cs typeface="Segoe UI Semilight" panose="020B0402040204020203" pitchFamily="34" charset="0"/>
              </a:defRPr>
            </a:lvl1pPr>
            <a:lvl2pPr marR="0" indent="-228600" defTabSz="932742" fontAlgn="auto">
              <a:lnSpc>
                <a:spcPct val="100000"/>
              </a:lnSpc>
              <a:spcBef>
                <a:spcPct val="20000"/>
              </a:spcBef>
              <a:spcAft>
                <a:spcPts val="0"/>
              </a:spcAft>
              <a:buClrTx/>
              <a:buSzPct val="90000"/>
              <a:buFont typeface="Wingdings" panose="05000000000000000000" pitchFamily="2" charset="2"/>
              <a:buChar char=""/>
              <a:tabLst/>
              <a:defRPr sz="1600" spc="0" baseline="0">
                <a:solidFill>
                  <a:srgbClr val="000000"/>
                </a:solidFill>
              </a:defRPr>
            </a:lvl2pPr>
            <a:lvl3pPr marL="657225" marR="0" indent="-200025" defTabSz="932742" fontAlgn="auto">
              <a:lnSpc>
                <a:spcPct val="100000"/>
              </a:lnSpc>
              <a:spcBef>
                <a:spcPct val="20000"/>
              </a:spcBef>
              <a:spcAft>
                <a:spcPts val="0"/>
              </a:spcAft>
              <a:buClrTx/>
              <a:buSzPct val="90000"/>
              <a:buFont typeface="Wingdings" panose="05000000000000000000" pitchFamily="2" charset="2"/>
              <a:buChar char=""/>
              <a:tabLst/>
              <a:defRPr sz="1400" spc="0" baseline="0">
                <a:solidFill>
                  <a:srgbClr val="000000"/>
                </a:solidFill>
              </a:defRPr>
            </a:lvl3pPr>
            <a:lvl4pPr marL="842963" marR="0" indent="-180975" defTabSz="932742" fontAlgn="auto">
              <a:lnSpc>
                <a:spcPct val="100000"/>
              </a:lnSpc>
              <a:spcBef>
                <a:spcPct val="20000"/>
              </a:spcBef>
              <a:spcAft>
                <a:spcPts val="0"/>
              </a:spcAft>
              <a:buClrTx/>
              <a:buSzPct val="90000"/>
              <a:buFont typeface="Wingdings" panose="05000000000000000000" pitchFamily="2" charset="2"/>
              <a:buChar char=""/>
              <a:tabLst/>
              <a:defRPr sz="1200" spc="0" baseline="0">
                <a:solidFill>
                  <a:srgbClr val="000000"/>
                </a:solidFill>
              </a:defRPr>
            </a:lvl4pPr>
            <a:lvl5pPr marL="1023938" marR="0" indent="-168275" defTabSz="932742" fontAlgn="auto">
              <a:lnSpc>
                <a:spcPct val="100000"/>
              </a:lnSpc>
              <a:spcBef>
                <a:spcPct val="20000"/>
              </a:spcBef>
              <a:spcAft>
                <a:spcPts val="0"/>
              </a:spcAft>
              <a:buClrTx/>
              <a:buSzPct val="90000"/>
              <a:buFont typeface="Wingdings" panose="05000000000000000000" pitchFamily="2" charset="2"/>
              <a:buChar char=""/>
              <a:tabLst/>
              <a:defRPr sz="1000" spc="0" baseline="0">
                <a:solidFill>
                  <a:srgbClr val="000000"/>
                </a:solidFill>
              </a:defRPr>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pPr marL="0" marR="0" lvl="0" indent="0" algn="ctr" defTabSz="582780" rtl="0" eaLnBrk="1" fontAlgn="auto" latinLnBrk="0" hangingPunct="1">
              <a:lnSpc>
                <a:spcPct val="100000"/>
              </a:lnSpc>
              <a:spcBef>
                <a:spcPct val="0"/>
              </a:spcBef>
              <a:spcAft>
                <a:spcPts val="0"/>
              </a:spcAft>
              <a:buClrTx/>
              <a:buSzTx/>
              <a:buFont typeface="Wingdings" panose="05000000000000000000" pitchFamily="2" charset="2"/>
              <a:buNone/>
              <a:tabLst/>
              <a:defRPr/>
            </a:pPr>
            <a:r>
              <a:rPr kumimoji="0" lang="en-US" sz="1000" b="0" i="0" u="none" strike="noStrike" kern="1200" cap="none" spc="0" normalizeH="0" baseline="0" noProof="0" dirty="0">
                <a:ln>
                  <a:noFill/>
                </a:ln>
                <a:gradFill>
                  <a:gsLst>
                    <a:gs pos="47000">
                      <a:srgbClr val="0078D4"/>
                    </a:gs>
                    <a:gs pos="0">
                      <a:srgbClr val="C03BC4"/>
                    </a:gs>
                  </a:gsLst>
                  <a:path path="circle">
                    <a:fillToRect l="100000" t="100000"/>
                  </a:path>
                </a:gradFill>
                <a:effectLst/>
                <a:uLnTx/>
                <a:uFillTx/>
                <a:latin typeface="Segoe UI Semibold"/>
                <a:ea typeface="+mn-ea"/>
                <a:cs typeface="Segoe UI Semilight" panose="020B0402040204020203" pitchFamily="34" charset="0"/>
              </a:rPr>
              <a:t>Accountant</a:t>
            </a:r>
          </a:p>
        </p:txBody>
      </p:sp>
      <p:sp>
        <p:nvSpPr>
          <p:cNvPr id="9" name="Text Placeholder 10">
            <a:extLst>
              <a:ext uri="{FF2B5EF4-FFF2-40B4-BE49-F238E27FC236}">
                <a16:creationId xmlns:a16="http://schemas.microsoft.com/office/drawing/2014/main" id="{5650E553-4781-A391-EEDB-66F41090414A}"/>
              </a:ext>
            </a:extLst>
          </p:cNvPr>
          <p:cNvSpPr txBox="1">
            <a:spLocks/>
          </p:cNvSpPr>
          <p:nvPr/>
        </p:nvSpPr>
        <p:spPr>
          <a:xfrm>
            <a:off x="3713203" y="3712956"/>
            <a:ext cx="516021" cy="153888"/>
          </a:xfrm>
          <a:prstGeom prst="rect">
            <a:avLst/>
          </a:prstGeom>
        </p:spPr>
        <p:txBody>
          <a:bodyPr vert="horz" wrap="square" lIns="0" tIns="0" rIns="0" bIns="0" rtlCol="0">
            <a:spAutoFit/>
          </a:bodyPr>
          <a:lstStyle>
            <a:defPPr>
              <a:defRPr lang="en-US"/>
            </a:defPPr>
            <a:lvl1pPr marR="0" indent="0" defTabSz="582780" fontAlgn="auto">
              <a:lnSpc>
                <a:spcPct val="100000"/>
              </a:lnSpc>
              <a:spcBef>
                <a:spcPct val="0"/>
              </a:spcBef>
              <a:spcAft>
                <a:spcPts val="0"/>
              </a:spcAft>
              <a:buClrTx/>
              <a:buSzTx/>
              <a:buFont typeface="Wingdings" panose="05000000000000000000" pitchFamily="2" charset="2"/>
              <a:buNone/>
              <a:tabLst/>
              <a:defRPr sz="1000" spc="0" baseline="0">
                <a:solidFill>
                  <a:srgbClr val="000000"/>
                </a:solidFill>
                <a:latin typeface="+mj-lt"/>
                <a:cs typeface="Segoe UI Semilight" panose="020B0402040204020203" pitchFamily="34" charset="0"/>
              </a:defRPr>
            </a:lvl1pPr>
            <a:lvl2pPr marR="0" indent="-228600" defTabSz="932742" fontAlgn="auto">
              <a:lnSpc>
                <a:spcPct val="100000"/>
              </a:lnSpc>
              <a:spcBef>
                <a:spcPct val="20000"/>
              </a:spcBef>
              <a:spcAft>
                <a:spcPts val="0"/>
              </a:spcAft>
              <a:buClrTx/>
              <a:buSzPct val="90000"/>
              <a:buFont typeface="Wingdings" panose="05000000000000000000" pitchFamily="2" charset="2"/>
              <a:buChar char=""/>
              <a:tabLst/>
              <a:defRPr sz="1600" spc="0" baseline="0">
                <a:solidFill>
                  <a:srgbClr val="000000"/>
                </a:solidFill>
              </a:defRPr>
            </a:lvl2pPr>
            <a:lvl3pPr marL="657225" marR="0" indent="-200025" defTabSz="932742" fontAlgn="auto">
              <a:lnSpc>
                <a:spcPct val="100000"/>
              </a:lnSpc>
              <a:spcBef>
                <a:spcPct val="20000"/>
              </a:spcBef>
              <a:spcAft>
                <a:spcPts val="0"/>
              </a:spcAft>
              <a:buClrTx/>
              <a:buSzPct val="90000"/>
              <a:buFont typeface="Wingdings" panose="05000000000000000000" pitchFamily="2" charset="2"/>
              <a:buChar char=""/>
              <a:tabLst/>
              <a:defRPr sz="1400" spc="0" baseline="0">
                <a:solidFill>
                  <a:srgbClr val="000000"/>
                </a:solidFill>
              </a:defRPr>
            </a:lvl3pPr>
            <a:lvl4pPr marL="842963" marR="0" indent="-180975" defTabSz="932742" fontAlgn="auto">
              <a:lnSpc>
                <a:spcPct val="100000"/>
              </a:lnSpc>
              <a:spcBef>
                <a:spcPct val="20000"/>
              </a:spcBef>
              <a:spcAft>
                <a:spcPts val="0"/>
              </a:spcAft>
              <a:buClrTx/>
              <a:buSzPct val="90000"/>
              <a:buFont typeface="Wingdings" panose="05000000000000000000" pitchFamily="2" charset="2"/>
              <a:buChar char=""/>
              <a:tabLst/>
              <a:defRPr sz="1200" spc="0" baseline="0">
                <a:solidFill>
                  <a:srgbClr val="000000"/>
                </a:solidFill>
              </a:defRPr>
            </a:lvl4pPr>
            <a:lvl5pPr marL="1023938" marR="0" indent="-168275" defTabSz="932742" fontAlgn="auto">
              <a:lnSpc>
                <a:spcPct val="100000"/>
              </a:lnSpc>
              <a:spcBef>
                <a:spcPct val="20000"/>
              </a:spcBef>
              <a:spcAft>
                <a:spcPts val="0"/>
              </a:spcAft>
              <a:buClrTx/>
              <a:buSzPct val="90000"/>
              <a:buFont typeface="Wingdings" panose="05000000000000000000" pitchFamily="2" charset="2"/>
              <a:buChar char=""/>
              <a:tabLst/>
              <a:defRPr sz="1000" spc="0" baseline="0">
                <a:solidFill>
                  <a:srgbClr val="000000"/>
                </a:solidFill>
              </a:defRPr>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pPr marL="0" marR="0" lvl="0" indent="0" algn="ctr" defTabSz="582780" rtl="0" eaLnBrk="1" fontAlgn="auto" latinLnBrk="0" hangingPunct="1">
              <a:lnSpc>
                <a:spcPct val="100000"/>
              </a:lnSpc>
              <a:spcBef>
                <a:spcPct val="0"/>
              </a:spcBef>
              <a:spcAft>
                <a:spcPts val="0"/>
              </a:spcAft>
              <a:buClrTx/>
              <a:buSzTx/>
              <a:buFont typeface="Wingdings" panose="05000000000000000000" pitchFamily="2" charset="2"/>
              <a:buNone/>
              <a:tabLst/>
              <a:defRPr/>
            </a:pPr>
            <a:r>
              <a:rPr kumimoji="0" lang="en-US" sz="1000" b="0" i="0" u="none" strike="noStrike" kern="1200" cap="none" spc="0" normalizeH="0" baseline="0" noProof="0" dirty="0">
                <a:ln>
                  <a:noFill/>
                </a:ln>
                <a:gradFill>
                  <a:gsLst>
                    <a:gs pos="47000">
                      <a:srgbClr val="0078D4"/>
                    </a:gs>
                    <a:gs pos="0">
                      <a:srgbClr val="C03BC4"/>
                    </a:gs>
                  </a:gsLst>
                  <a:path path="circle">
                    <a:fillToRect l="100000" t="100000"/>
                  </a:path>
                </a:gradFill>
                <a:effectLst/>
                <a:uLnTx/>
                <a:uFillTx/>
                <a:latin typeface="Segoe UI Semibold"/>
                <a:ea typeface="+mn-ea"/>
                <a:cs typeface="Segoe UI Semilight" panose="020B0402040204020203" pitchFamily="34" charset="0"/>
              </a:rPr>
              <a:t>Auditor</a:t>
            </a:r>
          </a:p>
        </p:txBody>
      </p:sp>
      <p:sp>
        <p:nvSpPr>
          <p:cNvPr id="10" name="Text Placeholder 10">
            <a:extLst>
              <a:ext uri="{FF2B5EF4-FFF2-40B4-BE49-F238E27FC236}">
                <a16:creationId xmlns:a16="http://schemas.microsoft.com/office/drawing/2014/main" id="{10F67331-7390-8DB8-C499-509367AB59AD}"/>
              </a:ext>
            </a:extLst>
          </p:cNvPr>
          <p:cNvSpPr txBox="1">
            <a:spLocks/>
          </p:cNvSpPr>
          <p:nvPr/>
        </p:nvSpPr>
        <p:spPr>
          <a:xfrm>
            <a:off x="2836491" y="3712956"/>
            <a:ext cx="698818" cy="153888"/>
          </a:xfrm>
          <a:prstGeom prst="rect">
            <a:avLst/>
          </a:prstGeom>
        </p:spPr>
        <p:txBody>
          <a:bodyPr vert="horz" wrap="square" lIns="0" tIns="0" rIns="0" bIns="0" rtlCol="0">
            <a:spAutoFit/>
          </a:bodyPr>
          <a:lstStyle>
            <a:defPPr>
              <a:defRPr lang="en-US"/>
            </a:defPPr>
            <a:lvl1pPr marR="0" indent="0" defTabSz="582780" fontAlgn="auto">
              <a:lnSpc>
                <a:spcPct val="100000"/>
              </a:lnSpc>
              <a:spcBef>
                <a:spcPct val="0"/>
              </a:spcBef>
              <a:spcAft>
                <a:spcPts val="0"/>
              </a:spcAft>
              <a:buClrTx/>
              <a:buSzTx/>
              <a:buFont typeface="Wingdings" panose="05000000000000000000" pitchFamily="2" charset="2"/>
              <a:buNone/>
              <a:tabLst/>
              <a:defRPr sz="1000" spc="0" baseline="0">
                <a:solidFill>
                  <a:srgbClr val="000000"/>
                </a:solidFill>
                <a:latin typeface="+mj-lt"/>
                <a:cs typeface="Segoe UI Semilight" panose="020B0402040204020203" pitchFamily="34" charset="0"/>
              </a:defRPr>
            </a:lvl1pPr>
            <a:lvl2pPr marR="0" indent="-228600" defTabSz="932742" fontAlgn="auto">
              <a:lnSpc>
                <a:spcPct val="100000"/>
              </a:lnSpc>
              <a:spcBef>
                <a:spcPct val="20000"/>
              </a:spcBef>
              <a:spcAft>
                <a:spcPts val="0"/>
              </a:spcAft>
              <a:buClrTx/>
              <a:buSzPct val="90000"/>
              <a:buFont typeface="Wingdings" panose="05000000000000000000" pitchFamily="2" charset="2"/>
              <a:buChar char=""/>
              <a:tabLst/>
              <a:defRPr sz="1600" spc="0" baseline="0">
                <a:solidFill>
                  <a:srgbClr val="000000"/>
                </a:solidFill>
              </a:defRPr>
            </a:lvl2pPr>
            <a:lvl3pPr marL="657225" marR="0" indent="-200025" defTabSz="932742" fontAlgn="auto">
              <a:lnSpc>
                <a:spcPct val="100000"/>
              </a:lnSpc>
              <a:spcBef>
                <a:spcPct val="20000"/>
              </a:spcBef>
              <a:spcAft>
                <a:spcPts val="0"/>
              </a:spcAft>
              <a:buClrTx/>
              <a:buSzPct val="90000"/>
              <a:buFont typeface="Wingdings" panose="05000000000000000000" pitchFamily="2" charset="2"/>
              <a:buChar char=""/>
              <a:tabLst/>
              <a:defRPr sz="1400" spc="0" baseline="0">
                <a:solidFill>
                  <a:srgbClr val="000000"/>
                </a:solidFill>
              </a:defRPr>
            </a:lvl3pPr>
            <a:lvl4pPr marL="842963" marR="0" indent="-180975" defTabSz="932742" fontAlgn="auto">
              <a:lnSpc>
                <a:spcPct val="100000"/>
              </a:lnSpc>
              <a:spcBef>
                <a:spcPct val="20000"/>
              </a:spcBef>
              <a:spcAft>
                <a:spcPts val="0"/>
              </a:spcAft>
              <a:buClrTx/>
              <a:buSzPct val="90000"/>
              <a:buFont typeface="Wingdings" panose="05000000000000000000" pitchFamily="2" charset="2"/>
              <a:buChar char=""/>
              <a:tabLst/>
              <a:defRPr sz="1200" spc="0" baseline="0">
                <a:solidFill>
                  <a:srgbClr val="000000"/>
                </a:solidFill>
              </a:defRPr>
            </a:lvl4pPr>
            <a:lvl5pPr marL="1023938" marR="0" indent="-168275" defTabSz="932742" fontAlgn="auto">
              <a:lnSpc>
                <a:spcPct val="100000"/>
              </a:lnSpc>
              <a:spcBef>
                <a:spcPct val="20000"/>
              </a:spcBef>
              <a:spcAft>
                <a:spcPts val="0"/>
              </a:spcAft>
              <a:buClrTx/>
              <a:buSzPct val="90000"/>
              <a:buFont typeface="Wingdings" panose="05000000000000000000" pitchFamily="2" charset="2"/>
              <a:buChar char=""/>
              <a:tabLst/>
              <a:defRPr sz="1000" spc="0" baseline="0">
                <a:solidFill>
                  <a:srgbClr val="000000"/>
                </a:solidFill>
              </a:defRPr>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pPr marL="0" marR="0" lvl="0" indent="0" algn="ctr" defTabSz="582780" rtl="0" eaLnBrk="1" fontAlgn="auto" latinLnBrk="0" hangingPunct="1">
              <a:lnSpc>
                <a:spcPct val="100000"/>
              </a:lnSpc>
              <a:spcBef>
                <a:spcPct val="0"/>
              </a:spcBef>
              <a:spcAft>
                <a:spcPts val="0"/>
              </a:spcAft>
              <a:buClrTx/>
              <a:buSzTx/>
              <a:buFont typeface="Wingdings" panose="05000000000000000000" pitchFamily="2" charset="2"/>
              <a:buNone/>
              <a:tabLst/>
              <a:defRPr/>
            </a:pPr>
            <a:r>
              <a:rPr kumimoji="0" lang="en-US" sz="1000" b="0" i="0" u="none" strike="noStrike" kern="1200" cap="none" spc="0" normalizeH="0" baseline="0" noProof="0" dirty="0">
                <a:ln>
                  <a:noFill/>
                </a:ln>
                <a:gradFill>
                  <a:gsLst>
                    <a:gs pos="47000">
                      <a:srgbClr val="0078D4"/>
                    </a:gs>
                    <a:gs pos="0">
                      <a:srgbClr val="C03BC4"/>
                    </a:gs>
                  </a:gsLst>
                  <a:path path="circle">
                    <a:fillToRect l="100000" t="100000"/>
                  </a:path>
                </a:gradFill>
                <a:effectLst/>
                <a:uLnTx/>
                <a:uFillTx/>
                <a:latin typeface="Segoe UI Semibold"/>
                <a:ea typeface="+mn-ea"/>
                <a:cs typeface="Segoe UI Semilight" panose="020B0402040204020203" pitchFamily="34" charset="0"/>
              </a:rPr>
              <a:t>Analyst</a:t>
            </a:r>
          </a:p>
        </p:txBody>
      </p:sp>
      <p:sp>
        <p:nvSpPr>
          <p:cNvPr id="11" name="Text Placeholder 10">
            <a:extLst>
              <a:ext uri="{FF2B5EF4-FFF2-40B4-BE49-F238E27FC236}">
                <a16:creationId xmlns:a16="http://schemas.microsoft.com/office/drawing/2014/main" id="{F5271A93-A195-251D-11BA-615588AC2CE0}"/>
              </a:ext>
            </a:extLst>
          </p:cNvPr>
          <p:cNvSpPr txBox="1">
            <a:spLocks/>
          </p:cNvSpPr>
          <p:nvPr/>
        </p:nvSpPr>
        <p:spPr>
          <a:xfrm>
            <a:off x="4382500" y="3712956"/>
            <a:ext cx="746369" cy="153888"/>
          </a:xfrm>
          <a:prstGeom prst="rect">
            <a:avLst/>
          </a:prstGeom>
        </p:spPr>
        <p:txBody>
          <a:bodyPr vert="horz" wrap="square" lIns="0" tIns="0" rIns="0" bIns="0" rtlCol="0">
            <a:spAutoFit/>
          </a:bodyPr>
          <a:lstStyle>
            <a:defPPr>
              <a:defRPr lang="en-US"/>
            </a:defPPr>
            <a:lvl1pPr marR="0" indent="0" defTabSz="582780" fontAlgn="auto">
              <a:lnSpc>
                <a:spcPct val="100000"/>
              </a:lnSpc>
              <a:spcBef>
                <a:spcPct val="0"/>
              </a:spcBef>
              <a:spcAft>
                <a:spcPts val="0"/>
              </a:spcAft>
              <a:buClrTx/>
              <a:buSzTx/>
              <a:buFont typeface="Wingdings" panose="05000000000000000000" pitchFamily="2" charset="2"/>
              <a:buNone/>
              <a:tabLst/>
              <a:defRPr sz="1000" spc="0" baseline="0">
                <a:solidFill>
                  <a:srgbClr val="000000"/>
                </a:solidFill>
                <a:latin typeface="+mj-lt"/>
                <a:cs typeface="Segoe UI Semilight" panose="020B0402040204020203" pitchFamily="34" charset="0"/>
              </a:defRPr>
            </a:lvl1pPr>
            <a:lvl2pPr marR="0" indent="-228600" defTabSz="932742" fontAlgn="auto">
              <a:lnSpc>
                <a:spcPct val="100000"/>
              </a:lnSpc>
              <a:spcBef>
                <a:spcPct val="20000"/>
              </a:spcBef>
              <a:spcAft>
                <a:spcPts val="0"/>
              </a:spcAft>
              <a:buClrTx/>
              <a:buSzPct val="90000"/>
              <a:buFont typeface="Wingdings" panose="05000000000000000000" pitchFamily="2" charset="2"/>
              <a:buChar char=""/>
              <a:tabLst/>
              <a:defRPr sz="1600" spc="0" baseline="0">
                <a:solidFill>
                  <a:srgbClr val="000000"/>
                </a:solidFill>
              </a:defRPr>
            </a:lvl2pPr>
            <a:lvl3pPr marL="657225" marR="0" indent="-200025" defTabSz="932742" fontAlgn="auto">
              <a:lnSpc>
                <a:spcPct val="100000"/>
              </a:lnSpc>
              <a:spcBef>
                <a:spcPct val="20000"/>
              </a:spcBef>
              <a:spcAft>
                <a:spcPts val="0"/>
              </a:spcAft>
              <a:buClrTx/>
              <a:buSzPct val="90000"/>
              <a:buFont typeface="Wingdings" panose="05000000000000000000" pitchFamily="2" charset="2"/>
              <a:buChar char=""/>
              <a:tabLst/>
              <a:defRPr sz="1400" spc="0" baseline="0">
                <a:solidFill>
                  <a:srgbClr val="000000"/>
                </a:solidFill>
              </a:defRPr>
            </a:lvl3pPr>
            <a:lvl4pPr marL="842963" marR="0" indent="-180975" defTabSz="932742" fontAlgn="auto">
              <a:lnSpc>
                <a:spcPct val="100000"/>
              </a:lnSpc>
              <a:spcBef>
                <a:spcPct val="20000"/>
              </a:spcBef>
              <a:spcAft>
                <a:spcPts val="0"/>
              </a:spcAft>
              <a:buClrTx/>
              <a:buSzPct val="90000"/>
              <a:buFont typeface="Wingdings" panose="05000000000000000000" pitchFamily="2" charset="2"/>
              <a:buChar char=""/>
              <a:tabLst/>
              <a:defRPr sz="1200" spc="0" baseline="0">
                <a:solidFill>
                  <a:srgbClr val="000000"/>
                </a:solidFill>
              </a:defRPr>
            </a:lvl4pPr>
            <a:lvl5pPr marL="1023938" marR="0" indent="-168275" defTabSz="932742" fontAlgn="auto">
              <a:lnSpc>
                <a:spcPct val="100000"/>
              </a:lnSpc>
              <a:spcBef>
                <a:spcPct val="20000"/>
              </a:spcBef>
              <a:spcAft>
                <a:spcPts val="0"/>
              </a:spcAft>
              <a:buClrTx/>
              <a:buSzPct val="90000"/>
              <a:buFont typeface="Wingdings" panose="05000000000000000000" pitchFamily="2" charset="2"/>
              <a:buChar char=""/>
              <a:tabLst/>
              <a:defRPr sz="1000" spc="0" baseline="0">
                <a:solidFill>
                  <a:srgbClr val="000000"/>
                </a:solidFill>
              </a:defRPr>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pPr marL="0" marR="0" lvl="0" indent="0" algn="ctr" defTabSz="582780" rtl="0" eaLnBrk="1" fontAlgn="auto" latinLnBrk="0" hangingPunct="1">
              <a:lnSpc>
                <a:spcPct val="100000"/>
              </a:lnSpc>
              <a:spcBef>
                <a:spcPct val="0"/>
              </a:spcBef>
              <a:spcAft>
                <a:spcPts val="0"/>
              </a:spcAft>
              <a:buClrTx/>
              <a:buSzTx/>
              <a:buFont typeface="Wingdings" panose="05000000000000000000" pitchFamily="2" charset="2"/>
              <a:buNone/>
              <a:tabLst/>
              <a:defRPr/>
            </a:pPr>
            <a:r>
              <a:rPr kumimoji="0" lang="en-US" sz="1000" b="0" i="0" u="none" strike="noStrike" kern="1200" cap="none" spc="0" normalizeH="0" baseline="0" noProof="0" dirty="0">
                <a:ln>
                  <a:noFill/>
                </a:ln>
                <a:gradFill>
                  <a:gsLst>
                    <a:gs pos="47000">
                      <a:srgbClr val="0078D4"/>
                    </a:gs>
                    <a:gs pos="0">
                      <a:srgbClr val="C03BC4"/>
                    </a:gs>
                  </a:gsLst>
                  <a:path path="circle">
                    <a:fillToRect l="100000" t="100000"/>
                  </a:path>
                </a:gradFill>
                <a:effectLst/>
                <a:uLnTx/>
                <a:uFillTx/>
                <a:latin typeface="Segoe UI Semibold"/>
                <a:ea typeface="+mn-ea"/>
                <a:cs typeface="Segoe UI Semilight" panose="020B0402040204020203" pitchFamily="34" charset="0"/>
              </a:rPr>
              <a:t>Operations</a:t>
            </a:r>
          </a:p>
        </p:txBody>
      </p:sp>
      <p:sp>
        <p:nvSpPr>
          <p:cNvPr id="13" name="Text Placeholder 10">
            <a:extLst>
              <a:ext uri="{FF2B5EF4-FFF2-40B4-BE49-F238E27FC236}">
                <a16:creationId xmlns:a16="http://schemas.microsoft.com/office/drawing/2014/main" id="{667A565C-FB64-A583-58D2-EF2B24B9A531}"/>
              </a:ext>
            </a:extLst>
          </p:cNvPr>
          <p:cNvSpPr txBox="1">
            <a:spLocks/>
          </p:cNvSpPr>
          <p:nvPr/>
        </p:nvSpPr>
        <p:spPr>
          <a:xfrm>
            <a:off x="5085249" y="3712956"/>
            <a:ext cx="909813" cy="153888"/>
          </a:xfrm>
          <a:prstGeom prst="rect">
            <a:avLst/>
          </a:prstGeom>
        </p:spPr>
        <p:txBody>
          <a:bodyPr vert="horz" wrap="square" lIns="0" tIns="0" rIns="0" bIns="0" rtlCol="0">
            <a:spAutoFit/>
          </a:bodyPr>
          <a:lstStyle>
            <a:defPPr>
              <a:defRPr lang="en-US"/>
            </a:defPPr>
            <a:lvl1pPr marR="0" indent="0" defTabSz="582780" fontAlgn="auto">
              <a:lnSpc>
                <a:spcPct val="100000"/>
              </a:lnSpc>
              <a:spcBef>
                <a:spcPct val="0"/>
              </a:spcBef>
              <a:spcAft>
                <a:spcPts val="0"/>
              </a:spcAft>
              <a:buClrTx/>
              <a:buSzTx/>
              <a:buFont typeface="Wingdings" panose="05000000000000000000" pitchFamily="2" charset="2"/>
              <a:buNone/>
              <a:tabLst/>
              <a:defRPr sz="1000" spc="0" baseline="0">
                <a:solidFill>
                  <a:srgbClr val="000000"/>
                </a:solidFill>
                <a:latin typeface="+mj-lt"/>
                <a:cs typeface="Segoe UI Semilight" panose="020B0402040204020203" pitchFamily="34" charset="0"/>
              </a:defRPr>
            </a:lvl1pPr>
            <a:lvl2pPr marR="0" indent="-228600" defTabSz="932742" fontAlgn="auto">
              <a:lnSpc>
                <a:spcPct val="100000"/>
              </a:lnSpc>
              <a:spcBef>
                <a:spcPct val="20000"/>
              </a:spcBef>
              <a:spcAft>
                <a:spcPts val="0"/>
              </a:spcAft>
              <a:buClrTx/>
              <a:buSzPct val="90000"/>
              <a:buFont typeface="Wingdings" panose="05000000000000000000" pitchFamily="2" charset="2"/>
              <a:buChar char=""/>
              <a:tabLst/>
              <a:defRPr sz="1600" spc="0" baseline="0">
                <a:solidFill>
                  <a:srgbClr val="000000"/>
                </a:solidFill>
              </a:defRPr>
            </a:lvl2pPr>
            <a:lvl3pPr marL="657225" marR="0" indent="-200025" defTabSz="932742" fontAlgn="auto">
              <a:lnSpc>
                <a:spcPct val="100000"/>
              </a:lnSpc>
              <a:spcBef>
                <a:spcPct val="20000"/>
              </a:spcBef>
              <a:spcAft>
                <a:spcPts val="0"/>
              </a:spcAft>
              <a:buClrTx/>
              <a:buSzPct val="90000"/>
              <a:buFont typeface="Wingdings" panose="05000000000000000000" pitchFamily="2" charset="2"/>
              <a:buChar char=""/>
              <a:tabLst/>
              <a:defRPr sz="1400" spc="0" baseline="0">
                <a:solidFill>
                  <a:srgbClr val="000000"/>
                </a:solidFill>
              </a:defRPr>
            </a:lvl3pPr>
            <a:lvl4pPr marL="842963" marR="0" indent="-180975" defTabSz="932742" fontAlgn="auto">
              <a:lnSpc>
                <a:spcPct val="100000"/>
              </a:lnSpc>
              <a:spcBef>
                <a:spcPct val="20000"/>
              </a:spcBef>
              <a:spcAft>
                <a:spcPts val="0"/>
              </a:spcAft>
              <a:buClrTx/>
              <a:buSzPct val="90000"/>
              <a:buFont typeface="Wingdings" panose="05000000000000000000" pitchFamily="2" charset="2"/>
              <a:buChar char=""/>
              <a:tabLst/>
              <a:defRPr sz="1200" spc="0" baseline="0">
                <a:solidFill>
                  <a:srgbClr val="000000"/>
                </a:solidFill>
              </a:defRPr>
            </a:lvl4pPr>
            <a:lvl5pPr marL="1023938" marR="0" indent="-168275" defTabSz="932742" fontAlgn="auto">
              <a:lnSpc>
                <a:spcPct val="100000"/>
              </a:lnSpc>
              <a:spcBef>
                <a:spcPct val="20000"/>
              </a:spcBef>
              <a:spcAft>
                <a:spcPts val="0"/>
              </a:spcAft>
              <a:buClrTx/>
              <a:buSzPct val="90000"/>
              <a:buFont typeface="Wingdings" panose="05000000000000000000" pitchFamily="2" charset="2"/>
              <a:buChar char=""/>
              <a:tabLst/>
              <a:defRPr sz="1000" spc="0" baseline="0">
                <a:solidFill>
                  <a:srgbClr val="000000"/>
                </a:solidFill>
              </a:defRPr>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pPr marL="0" marR="0" lvl="0" indent="0" algn="ctr" defTabSz="582780" rtl="0" eaLnBrk="1" fontAlgn="auto" latinLnBrk="0" hangingPunct="1">
              <a:lnSpc>
                <a:spcPct val="100000"/>
              </a:lnSpc>
              <a:spcBef>
                <a:spcPct val="0"/>
              </a:spcBef>
              <a:spcAft>
                <a:spcPts val="0"/>
              </a:spcAft>
              <a:buClrTx/>
              <a:buSzTx/>
              <a:buFont typeface="Wingdings" panose="05000000000000000000" pitchFamily="2" charset="2"/>
              <a:buNone/>
              <a:tabLst/>
              <a:defRPr/>
            </a:pPr>
            <a:r>
              <a:rPr kumimoji="0" lang="en-US" sz="1000" b="0" i="0" u="none" strike="noStrike" kern="1200" cap="none" spc="0" normalizeH="0" baseline="0" noProof="0" dirty="0">
                <a:ln>
                  <a:noFill/>
                </a:ln>
                <a:gradFill>
                  <a:gsLst>
                    <a:gs pos="47000">
                      <a:srgbClr val="0078D4"/>
                    </a:gs>
                    <a:gs pos="0">
                      <a:srgbClr val="C03BC4"/>
                    </a:gs>
                  </a:gsLst>
                  <a:path path="circle">
                    <a:fillToRect l="100000" t="100000"/>
                  </a:path>
                </a:gradFill>
                <a:effectLst/>
                <a:uLnTx/>
                <a:uFillTx/>
                <a:latin typeface="Segoe UI Semibold"/>
                <a:ea typeface="+mn-ea"/>
                <a:cs typeface="Segoe UI Semilight" panose="020B0402040204020203" pitchFamily="34" charset="0"/>
              </a:rPr>
              <a:t>Procurement</a:t>
            </a:r>
          </a:p>
        </p:txBody>
      </p:sp>
      <p:pic>
        <p:nvPicPr>
          <p:cNvPr id="14" name="Picture 13">
            <a:extLst>
              <a:ext uri="{FF2B5EF4-FFF2-40B4-BE49-F238E27FC236}">
                <a16:creationId xmlns:a16="http://schemas.microsoft.com/office/drawing/2014/main" id="{46DDFDAE-6902-1A36-0626-34C265692A52}"/>
              </a:ext>
            </a:extLst>
          </p:cNvPr>
          <p:cNvPicPr>
            <a:picLocks noChangeAspect="1"/>
          </p:cNvPicPr>
          <p:nvPr/>
        </p:nvPicPr>
        <p:blipFill rotWithShape="1">
          <a:blip r:embed="rId26" cstate="screen">
            <a:extLst>
              <a:ext uri="{28A0092B-C50C-407E-A947-70E740481C1C}">
                <a14:useLocalDpi xmlns:a14="http://schemas.microsoft.com/office/drawing/2010/main"/>
              </a:ext>
            </a:extLst>
          </a:blip>
          <a:srcRect/>
          <a:stretch/>
        </p:blipFill>
        <p:spPr>
          <a:xfrm>
            <a:off x="2105092" y="3066095"/>
            <a:ext cx="594360" cy="594360"/>
          </a:xfrm>
          <a:prstGeom prst="roundRect">
            <a:avLst/>
          </a:prstGeom>
          <a:ln w="6350">
            <a:solidFill>
              <a:schemeClr val="bg1">
                <a:lumMod val="95000"/>
              </a:schemeClr>
            </a:solidFill>
          </a:ln>
          <a:effectLst>
            <a:outerShdw blurRad="127000" dist="127000" dir="2700000" algn="tl" rotWithShape="0">
              <a:prstClr val="black">
                <a:alpha val="20000"/>
              </a:prstClr>
            </a:outerShdw>
          </a:effectLst>
        </p:spPr>
      </p:pic>
      <p:pic>
        <p:nvPicPr>
          <p:cNvPr id="17" name="Picture 16">
            <a:extLst>
              <a:ext uri="{FF2B5EF4-FFF2-40B4-BE49-F238E27FC236}">
                <a16:creationId xmlns:a16="http://schemas.microsoft.com/office/drawing/2014/main" id="{2B9B43AD-487E-994C-8E4B-0327D92F137E}"/>
              </a:ext>
            </a:extLst>
          </p:cNvPr>
          <p:cNvPicPr>
            <a:picLocks noChangeAspect="1"/>
          </p:cNvPicPr>
          <p:nvPr/>
        </p:nvPicPr>
        <p:blipFill rotWithShape="1">
          <a:blip r:embed="rId27" cstate="screen">
            <a:extLst>
              <a:ext uri="{BEBA8EAE-BF5A-486C-A8C5-ECC9F3942E4B}">
                <a14:imgProps xmlns:a14="http://schemas.microsoft.com/office/drawing/2010/main">
                  <a14:imgLayer r:embed="rId28">
                    <a14:imgEffect>
                      <a14:brightnessContrast bright="20000"/>
                    </a14:imgEffect>
                  </a14:imgLayer>
                </a14:imgProps>
              </a:ext>
              <a:ext uri="{28A0092B-C50C-407E-A947-70E740481C1C}">
                <a14:useLocalDpi xmlns:a14="http://schemas.microsoft.com/office/drawing/2010/main"/>
              </a:ext>
            </a:extLst>
          </a:blip>
          <a:srcRect/>
          <a:stretch/>
        </p:blipFill>
        <p:spPr>
          <a:xfrm>
            <a:off x="2889563" y="3066095"/>
            <a:ext cx="594360" cy="594360"/>
          </a:xfrm>
          <a:prstGeom prst="roundRect">
            <a:avLst/>
          </a:prstGeom>
          <a:ln w="6350">
            <a:solidFill>
              <a:schemeClr val="bg1">
                <a:lumMod val="95000"/>
              </a:schemeClr>
            </a:solidFill>
          </a:ln>
          <a:effectLst>
            <a:outerShdw blurRad="127000" dist="127000" dir="2700000" algn="tl" rotWithShape="0">
              <a:prstClr val="black">
                <a:alpha val="20000"/>
              </a:prstClr>
            </a:outerShdw>
          </a:effectLst>
        </p:spPr>
      </p:pic>
      <p:pic>
        <p:nvPicPr>
          <p:cNvPr id="26" name="Picture 25">
            <a:extLst>
              <a:ext uri="{FF2B5EF4-FFF2-40B4-BE49-F238E27FC236}">
                <a16:creationId xmlns:a16="http://schemas.microsoft.com/office/drawing/2014/main" id="{666AC009-E063-4221-3490-D9310E548AE4}"/>
              </a:ext>
            </a:extLst>
          </p:cNvPr>
          <p:cNvPicPr>
            <a:picLocks noChangeAspect="1"/>
          </p:cNvPicPr>
          <p:nvPr/>
        </p:nvPicPr>
        <p:blipFill rotWithShape="1">
          <a:blip r:embed="rId29" cstate="screen">
            <a:extLst>
              <a:ext uri="{28A0092B-C50C-407E-A947-70E740481C1C}">
                <a14:useLocalDpi xmlns:a14="http://schemas.microsoft.com/office/drawing/2010/main"/>
              </a:ext>
            </a:extLst>
          </a:blip>
          <a:srcRect/>
          <a:stretch/>
        </p:blipFill>
        <p:spPr>
          <a:xfrm>
            <a:off x="3674034" y="3066095"/>
            <a:ext cx="594360" cy="594360"/>
          </a:xfrm>
          <a:prstGeom prst="roundRect">
            <a:avLst/>
          </a:prstGeom>
          <a:ln w="6350">
            <a:solidFill>
              <a:schemeClr val="bg1">
                <a:lumMod val="95000"/>
              </a:schemeClr>
            </a:solidFill>
          </a:ln>
          <a:effectLst>
            <a:outerShdw blurRad="127000" dist="127000" dir="2700000" algn="tl" rotWithShape="0">
              <a:prstClr val="black">
                <a:alpha val="20000"/>
              </a:prstClr>
            </a:outerShdw>
          </a:effectLst>
        </p:spPr>
      </p:pic>
      <p:pic>
        <p:nvPicPr>
          <p:cNvPr id="29" name="Picture 28">
            <a:extLst>
              <a:ext uri="{FF2B5EF4-FFF2-40B4-BE49-F238E27FC236}">
                <a16:creationId xmlns:a16="http://schemas.microsoft.com/office/drawing/2014/main" id="{5369CE8F-91DB-DC0C-724F-DA8471EB6EC8}"/>
              </a:ext>
            </a:extLst>
          </p:cNvPr>
          <p:cNvPicPr>
            <a:picLocks noChangeAspect="1"/>
          </p:cNvPicPr>
          <p:nvPr/>
        </p:nvPicPr>
        <p:blipFill rotWithShape="1">
          <a:blip r:embed="rId30" cstate="screen">
            <a:extLst>
              <a:ext uri="{28A0092B-C50C-407E-A947-70E740481C1C}">
                <a14:useLocalDpi xmlns:a14="http://schemas.microsoft.com/office/drawing/2010/main"/>
              </a:ext>
            </a:extLst>
          </a:blip>
          <a:srcRect/>
          <a:stretch/>
        </p:blipFill>
        <p:spPr>
          <a:xfrm>
            <a:off x="5242976" y="3066095"/>
            <a:ext cx="594360" cy="594360"/>
          </a:xfrm>
          <a:prstGeom prst="roundRect">
            <a:avLst/>
          </a:prstGeom>
          <a:ln w="6350">
            <a:solidFill>
              <a:schemeClr val="bg1">
                <a:lumMod val="95000"/>
              </a:schemeClr>
            </a:solidFill>
          </a:ln>
          <a:effectLst>
            <a:outerShdw blurRad="127000" dist="127000" dir="2700000" algn="tl" rotWithShape="0">
              <a:prstClr val="black">
                <a:alpha val="20000"/>
              </a:prstClr>
            </a:outerShdw>
          </a:effectLst>
        </p:spPr>
      </p:pic>
      <p:pic>
        <p:nvPicPr>
          <p:cNvPr id="31" name="Picture 30">
            <a:extLst>
              <a:ext uri="{FF2B5EF4-FFF2-40B4-BE49-F238E27FC236}">
                <a16:creationId xmlns:a16="http://schemas.microsoft.com/office/drawing/2014/main" id="{FC6CDEA5-B36E-8016-B28D-4DA8E508FB3B}"/>
              </a:ext>
            </a:extLst>
          </p:cNvPr>
          <p:cNvPicPr>
            <a:picLocks noChangeAspect="1"/>
          </p:cNvPicPr>
          <p:nvPr/>
        </p:nvPicPr>
        <p:blipFill rotWithShape="1">
          <a:blip r:embed="rId31" cstate="screen">
            <a:extLst>
              <a:ext uri="{BEBA8EAE-BF5A-486C-A8C5-ECC9F3942E4B}">
                <a14:imgProps xmlns:a14="http://schemas.microsoft.com/office/drawing/2010/main">
                  <a14:imgLayer r:embed="rId32">
                    <a14:imgEffect>
                      <a14:brightnessContrast bright="20000"/>
                    </a14:imgEffect>
                  </a14:imgLayer>
                </a14:imgProps>
              </a:ext>
              <a:ext uri="{28A0092B-C50C-407E-A947-70E740481C1C}">
                <a14:useLocalDpi xmlns:a14="http://schemas.microsoft.com/office/drawing/2010/main"/>
              </a:ext>
            </a:extLst>
          </a:blip>
          <a:srcRect/>
          <a:stretch/>
        </p:blipFill>
        <p:spPr>
          <a:xfrm>
            <a:off x="4458505" y="3066095"/>
            <a:ext cx="594360" cy="594360"/>
          </a:xfrm>
          <a:prstGeom prst="roundRect">
            <a:avLst/>
          </a:prstGeom>
          <a:ln w="6350">
            <a:solidFill>
              <a:schemeClr val="bg1">
                <a:lumMod val="95000"/>
              </a:schemeClr>
            </a:solidFill>
          </a:ln>
          <a:effectLst>
            <a:outerShdw blurRad="127000" dist="127000" dir="2700000" algn="tl" rotWithShape="0">
              <a:prstClr val="black">
                <a:alpha val="20000"/>
              </a:prstClr>
            </a:outerShdw>
          </a:effectLst>
        </p:spPr>
      </p:pic>
    </p:spTree>
    <p:extLst>
      <p:ext uri="{BB962C8B-B14F-4D97-AF65-F5344CB8AC3E}">
        <p14:creationId xmlns:p14="http://schemas.microsoft.com/office/powerpoint/2010/main" val="1785595332"/>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EFFFB5-7077-89A4-73AE-3E6CCD4FD4E4}"/>
              </a:ext>
            </a:extLst>
          </p:cNvPr>
          <p:cNvSpPr>
            <a:spLocks noGrp="1"/>
          </p:cNvSpPr>
          <p:nvPr>
            <p:ph type="title"/>
          </p:nvPr>
        </p:nvSpPr>
        <p:spPr>
          <a:xfrm>
            <a:off x="585215" y="457200"/>
            <a:ext cx="11206981" cy="553998"/>
          </a:xfrm>
        </p:spPr>
        <p:txBody>
          <a:bodyPr/>
          <a:lstStyle/>
          <a:p>
            <a:r>
              <a:rPr lang="en-US" sz="3600" noProof="0" dirty="0">
                <a:latin typeface="Segoe UI Semibold" panose="020B0702040204020203" pitchFamily="34" charset="0"/>
                <a:cs typeface="Segoe UI Semibold" panose="020B0702040204020203" pitchFamily="34" charset="0"/>
              </a:rPr>
              <a:t>KPI – </a:t>
            </a:r>
            <a:r>
              <a:rPr lang="en-US" noProof="0" dirty="0">
                <a:gradFill>
                  <a:gsLst>
                    <a:gs pos="38000">
                      <a:srgbClr val="0078D4"/>
                    </a:gs>
                    <a:gs pos="0">
                      <a:srgbClr val="C03BC4"/>
                    </a:gs>
                  </a:gsLst>
                  <a:path path="circle">
                    <a:fillToRect l="100000" t="100000"/>
                  </a:path>
                </a:gradFill>
                <a:latin typeface="Segoe UI Semibold" panose="020B0702040204020203" pitchFamily="34" charset="0"/>
                <a:cs typeface="Segoe UI Semibold" panose="020B0702040204020203" pitchFamily="34" charset="0"/>
              </a:rPr>
              <a:t>Outsourcing spend</a:t>
            </a:r>
          </a:p>
        </p:txBody>
      </p:sp>
      <p:pic>
        <p:nvPicPr>
          <p:cNvPr id="3" name="Picture 2">
            <a:extLst>
              <a:ext uri="{FF2B5EF4-FFF2-40B4-BE49-F238E27FC236}">
                <a16:creationId xmlns:a16="http://schemas.microsoft.com/office/drawing/2014/main" id="{FED7435C-732F-28C6-A281-3B1FA8A6A5A3}"/>
              </a:ext>
              <a:ext uri="{C183D7F6-B498-43B3-948B-1728B52AA6E4}">
                <adec:decorative xmlns:adec="http://schemas.microsoft.com/office/drawing/2017/decorative" val="1"/>
              </a:ext>
            </a:extLst>
          </p:cNvPr>
          <p:cNvPicPr>
            <a:picLocks noChangeAspect="1"/>
          </p:cNvPicPr>
          <p:nvPr/>
        </p:nvPicPr>
        <p:blipFill rotWithShape="1">
          <a:blip r:embed="rId2" cstate="screen">
            <a:alphaModFix amt="50000"/>
            <a:extLst>
              <a:ext uri="{BEBA8EAE-BF5A-486C-A8C5-ECC9F3942E4B}">
                <a14:imgProps xmlns:a14="http://schemas.microsoft.com/office/drawing/2010/main">
                  <a14:imgLayer r:embed="rId3">
                    <a14:imgEffect>
                      <a14:sharpenSoften amount="-100000"/>
                    </a14:imgEffect>
                  </a14:imgLayer>
                </a14:imgProps>
              </a:ext>
              <a:ext uri="{28A0092B-C50C-407E-A947-70E740481C1C}">
                <a14:useLocalDpi xmlns:a14="http://schemas.microsoft.com/office/drawing/2010/main"/>
              </a:ext>
            </a:extLst>
          </a:blip>
          <a:srcRect/>
          <a:stretch/>
        </p:blipFill>
        <p:spPr>
          <a:xfrm>
            <a:off x="589069" y="1448904"/>
            <a:ext cx="11013862" cy="4882759"/>
          </a:xfrm>
          <a:prstGeom prst="roundRect">
            <a:avLst>
              <a:gd name="adj" fmla="val 2585"/>
            </a:avLst>
          </a:prstGeom>
          <a:solidFill>
            <a:schemeClr val="bg1"/>
          </a:solidFill>
          <a:ln>
            <a:solidFill>
              <a:schemeClr val="bg1"/>
            </a:solidFill>
          </a:ln>
          <a:effectLst>
            <a:outerShdw blurRad="223661" dist="140295" dir="2700000" algn="tl" rotWithShape="0">
              <a:schemeClr val="accent1">
                <a:alpha val="15000"/>
              </a:schemeClr>
            </a:outerShdw>
          </a:effectLst>
        </p:spPr>
      </p:pic>
      <p:sp>
        <p:nvSpPr>
          <p:cNvPr id="5" name="Text Placeholder 33">
            <a:extLst>
              <a:ext uri="{FF2B5EF4-FFF2-40B4-BE49-F238E27FC236}">
                <a16:creationId xmlns:a16="http://schemas.microsoft.com/office/drawing/2014/main" id="{1B9D6020-AF30-E9F8-17B0-AD87458D0E88}"/>
              </a:ext>
            </a:extLst>
          </p:cNvPr>
          <p:cNvSpPr txBox="1">
            <a:spLocks/>
          </p:cNvSpPr>
          <p:nvPr/>
        </p:nvSpPr>
        <p:spPr>
          <a:xfrm>
            <a:off x="862107" y="3389989"/>
            <a:ext cx="6469683" cy="685765"/>
          </a:xfrm>
          <a:prstGeom prst="rect">
            <a:avLst/>
          </a:prstGeom>
        </p:spPr>
        <p:txBody>
          <a:bodyPr wrap="square" lIns="0" tIns="45720" rIns="91440" bIns="4572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32597" rtl="0" eaLnBrk="1" fontAlgn="auto" latinLnBrk="0" hangingPunct="1">
              <a:lnSpc>
                <a:spcPct val="110000"/>
              </a:lnSpc>
              <a:spcBef>
                <a:spcPts val="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Segoe UI"/>
              </a:rPr>
              <a:t>As a cost center, Finance teams face the challenge of constantly achieving more with fewer resources. By assisting with everyday tasks, Copilot can help increase time for additional analysis, proactive audits, collections processes, and financial reporting. </a:t>
            </a:r>
          </a:p>
        </p:txBody>
      </p:sp>
      <p:cxnSp>
        <p:nvCxnSpPr>
          <p:cNvPr id="28" name="Straight Connector 27">
            <a:extLst>
              <a:ext uri="{FF2B5EF4-FFF2-40B4-BE49-F238E27FC236}">
                <a16:creationId xmlns:a16="http://schemas.microsoft.com/office/drawing/2014/main" id="{51B84402-A636-A285-4E06-1EFCA8FA31FB}"/>
              </a:ext>
              <a:ext uri="{C183D7F6-B498-43B3-948B-1728B52AA6E4}">
                <adec:decorative xmlns:adec="http://schemas.microsoft.com/office/drawing/2017/decorative" val="1"/>
              </a:ext>
            </a:extLst>
          </p:cNvPr>
          <p:cNvCxnSpPr>
            <a:cxnSpLocks/>
          </p:cNvCxnSpPr>
          <p:nvPr/>
        </p:nvCxnSpPr>
        <p:spPr>
          <a:xfrm>
            <a:off x="862106" y="4201355"/>
            <a:ext cx="6757416" cy="0"/>
          </a:xfrm>
          <a:prstGeom prst="line">
            <a:avLst/>
          </a:prstGeom>
          <a:ln>
            <a:solidFill>
              <a:schemeClr val="tx2">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reeform: Shape 32">
            <a:extLst>
              <a:ext uri="{FF2B5EF4-FFF2-40B4-BE49-F238E27FC236}">
                <a16:creationId xmlns:a16="http://schemas.microsoft.com/office/drawing/2014/main" id="{31922DE7-1793-6984-01E6-8C850F09BD37}"/>
              </a:ext>
              <a:ext uri="{C183D7F6-B498-43B3-948B-1728B52AA6E4}">
                <adec:decorative xmlns:adec="http://schemas.microsoft.com/office/drawing/2017/decorative" val="1"/>
              </a:ext>
            </a:extLst>
          </p:cNvPr>
          <p:cNvSpPr>
            <a:spLocks/>
          </p:cNvSpPr>
          <p:nvPr/>
        </p:nvSpPr>
        <p:spPr bwMode="auto">
          <a:xfrm>
            <a:off x="7697337" y="1596603"/>
            <a:ext cx="3727901" cy="2082249"/>
          </a:xfrm>
          <a:prstGeom prst="roundRect">
            <a:avLst>
              <a:gd name="adj" fmla="val 4762"/>
            </a:avLst>
          </a:prstGeom>
          <a:solidFill>
            <a:schemeClr val="bg1">
              <a:alpha val="70000"/>
            </a:schemeClr>
          </a:solidFill>
          <a:ln>
            <a:solidFill>
              <a:schemeClr val="bg1"/>
            </a:solidFill>
          </a:ln>
          <a:effectLst>
            <a:outerShdw blurRad="223661" dist="140295" dir="2700000" algn="tl" rotWithShape="0">
              <a:schemeClr val="accent1">
                <a:alpha val="15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Segoe UI"/>
              <a:ea typeface="+mn-ea"/>
              <a:cs typeface="Segoe UI" pitchFamily="34" charset="0"/>
            </a:endParaRPr>
          </a:p>
        </p:txBody>
      </p:sp>
      <p:sp>
        <p:nvSpPr>
          <p:cNvPr id="8" name="Rectangle: Rounded Corners 26">
            <a:extLst>
              <a:ext uri="{FF2B5EF4-FFF2-40B4-BE49-F238E27FC236}">
                <a16:creationId xmlns:a16="http://schemas.microsoft.com/office/drawing/2014/main" id="{D1253126-8205-D179-7879-B34F7D90496A}"/>
              </a:ext>
            </a:extLst>
          </p:cNvPr>
          <p:cNvSpPr/>
          <p:nvPr/>
        </p:nvSpPr>
        <p:spPr bwMode="auto">
          <a:xfrm>
            <a:off x="8438481" y="1781312"/>
            <a:ext cx="1258802" cy="365760"/>
          </a:xfrm>
          <a:prstGeom prst="roundRect">
            <a:avLst>
              <a:gd name="adj" fmla="val 19935"/>
            </a:avLst>
          </a:prstGeom>
          <a:noFill/>
          <a:ln>
            <a:noFill/>
            <a:headEnd type="none" w="med" len="med"/>
            <a:tailEnd type="none" w="med" len="med"/>
          </a:ln>
          <a:effectLst>
            <a:outerShdw blurRad="1905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gradFill>
                  <a:gsLst>
                    <a:gs pos="50000">
                      <a:srgbClr val="8661C5"/>
                    </a:gs>
                    <a:gs pos="0">
                      <a:srgbClr val="0078D4"/>
                    </a:gs>
                    <a:gs pos="100000">
                      <a:srgbClr val="C73ECC"/>
                    </a:gs>
                  </a:gsLst>
                  <a:lin ang="2700000" scaled="1"/>
                </a:gradFill>
                <a:effectLst/>
                <a:uLnTx/>
                <a:uFillTx/>
                <a:latin typeface="Segoe UI Semibold"/>
                <a:ea typeface="+mn-ea"/>
                <a:cs typeface="+mn-cs"/>
              </a:rPr>
              <a:t>Roles</a:t>
            </a:r>
          </a:p>
        </p:txBody>
      </p:sp>
      <p:sp>
        <p:nvSpPr>
          <p:cNvPr id="10" name="Freeform: Shape 2">
            <a:extLst>
              <a:ext uri="{FF2B5EF4-FFF2-40B4-BE49-F238E27FC236}">
                <a16:creationId xmlns:a16="http://schemas.microsoft.com/office/drawing/2014/main" id="{A157A653-FB0B-716C-9568-59F46B9E1C43}"/>
              </a:ext>
              <a:ext uri="{C183D7F6-B498-43B3-948B-1728B52AA6E4}">
                <adec:decorative xmlns:adec="http://schemas.microsoft.com/office/drawing/2017/decorative" val="1"/>
              </a:ext>
            </a:extLst>
          </p:cNvPr>
          <p:cNvSpPr/>
          <p:nvPr/>
        </p:nvSpPr>
        <p:spPr>
          <a:xfrm>
            <a:off x="7930135" y="1803503"/>
            <a:ext cx="321377" cy="321377"/>
          </a:xfrm>
          <a:custGeom>
            <a:avLst/>
            <a:gdLst>
              <a:gd name="connsiteX0" fmla="*/ 68580 w 266700"/>
              <a:gd name="connsiteY0" fmla="*/ 137160 h 266700"/>
              <a:gd name="connsiteX1" fmla="*/ 64770 w 266700"/>
              <a:gd name="connsiteY1" fmla="*/ 140970 h 266700"/>
              <a:gd name="connsiteX2" fmla="*/ 64770 w 266700"/>
              <a:gd name="connsiteY2" fmla="*/ 148590 h 266700"/>
              <a:gd name="connsiteX3" fmla="*/ 66736 w 266700"/>
              <a:gd name="connsiteY3" fmla="*/ 154869 h 266700"/>
              <a:gd name="connsiteX4" fmla="*/ 68047 w 266700"/>
              <a:gd name="connsiteY4" fmla="*/ 156698 h 266700"/>
              <a:gd name="connsiteX5" fmla="*/ 77572 w 266700"/>
              <a:gd name="connsiteY5" fmla="*/ 164851 h 266700"/>
              <a:gd name="connsiteX6" fmla="*/ 114300 w 266700"/>
              <a:gd name="connsiteY6" fmla="*/ 171450 h 266700"/>
              <a:gd name="connsiteX7" fmla="*/ 153741 w 266700"/>
              <a:gd name="connsiteY7" fmla="*/ 164943 h 266700"/>
              <a:gd name="connsiteX8" fmla="*/ 161407 w 266700"/>
              <a:gd name="connsiteY8" fmla="*/ 157079 h 266700"/>
              <a:gd name="connsiteX9" fmla="*/ 162276 w 266700"/>
              <a:gd name="connsiteY9" fmla="*/ 155448 h 266700"/>
              <a:gd name="connsiteX10" fmla="*/ 163830 w 266700"/>
              <a:gd name="connsiteY10" fmla="*/ 148590 h 266700"/>
              <a:gd name="connsiteX11" fmla="*/ 163830 w 266700"/>
              <a:gd name="connsiteY11" fmla="*/ 140970 h 266700"/>
              <a:gd name="connsiteX12" fmla="*/ 160020 w 266700"/>
              <a:gd name="connsiteY12" fmla="*/ 137160 h 266700"/>
              <a:gd name="connsiteX13" fmla="*/ 68580 w 266700"/>
              <a:gd name="connsiteY13" fmla="*/ 114300 h 266700"/>
              <a:gd name="connsiteX14" fmla="*/ 160020 w 266700"/>
              <a:gd name="connsiteY14" fmla="*/ 114300 h 266700"/>
              <a:gd name="connsiteX15" fmla="*/ 186690 w 266700"/>
              <a:gd name="connsiteY15" fmla="*/ 140970 h 266700"/>
              <a:gd name="connsiteX16" fmla="*/ 186690 w 266700"/>
              <a:gd name="connsiteY16" fmla="*/ 148590 h 266700"/>
              <a:gd name="connsiteX17" fmla="*/ 168707 w 266700"/>
              <a:gd name="connsiteY17" fmla="*/ 182042 h 266700"/>
              <a:gd name="connsiteX18" fmla="*/ 114300 w 266700"/>
              <a:gd name="connsiteY18" fmla="*/ 194310 h 266700"/>
              <a:gd name="connsiteX19" fmla="*/ 62880 w 266700"/>
              <a:gd name="connsiteY19" fmla="*/ 182118 h 266700"/>
              <a:gd name="connsiteX20" fmla="*/ 41910 w 266700"/>
              <a:gd name="connsiteY20" fmla="*/ 148590 h 266700"/>
              <a:gd name="connsiteX21" fmla="*/ 41910 w 266700"/>
              <a:gd name="connsiteY21" fmla="*/ 140970 h 266700"/>
              <a:gd name="connsiteX22" fmla="*/ 68580 w 266700"/>
              <a:gd name="connsiteY22" fmla="*/ 114300 h 266700"/>
              <a:gd name="connsiteX23" fmla="*/ 114300 w 266700"/>
              <a:gd name="connsiteY23" fmla="*/ 53340 h 266700"/>
              <a:gd name="connsiteX24" fmla="*/ 99060 w 266700"/>
              <a:gd name="connsiteY24" fmla="*/ 68580 h 266700"/>
              <a:gd name="connsiteX25" fmla="*/ 114300 w 266700"/>
              <a:gd name="connsiteY25" fmla="*/ 83820 h 266700"/>
              <a:gd name="connsiteX26" fmla="*/ 129540 w 266700"/>
              <a:gd name="connsiteY26" fmla="*/ 68580 h 266700"/>
              <a:gd name="connsiteX27" fmla="*/ 114300 w 266700"/>
              <a:gd name="connsiteY27" fmla="*/ 53340 h 266700"/>
              <a:gd name="connsiteX28" fmla="*/ 243840 w 266700"/>
              <a:gd name="connsiteY28" fmla="*/ 45872 h 266700"/>
              <a:gd name="connsiteX29" fmla="*/ 266700 w 266700"/>
              <a:gd name="connsiteY29" fmla="*/ 87630 h 266700"/>
              <a:gd name="connsiteX30" fmla="*/ 266700 w 266700"/>
              <a:gd name="connsiteY30" fmla="*/ 186690 h 266700"/>
              <a:gd name="connsiteX31" fmla="*/ 186690 w 266700"/>
              <a:gd name="connsiteY31" fmla="*/ 266700 h 266700"/>
              <a:gd name="connsiteX32" fmla="*/ 87630 w 266700"/>
              <a:gd name="connsiteY32" fmla="*/ 266700 h 266700"/>
              <a:gd name="connsiteX33" fmla="*/ 45872 w 266700"/>
              <a:gd name="connsiteY33" fmla="*/ 243840 h 266700"/>
              <a:gd name="connsiteX34" fmla="*/ 186690 w 266700"/>
              <a:gd name="connsiteY34" fmla="*/ 243840 h 266700"/>
              <a:gd name="connsiteX35" fmla="*/ 243840 w 266700"/>
              <a:gd name="connsiteY35" fmla="*/ 186690 h 266700"/>
              <a:gd name="connsiteX36" fmla="*/ 114300 w 266700"/>
              <a:gd name="connsiteY36" fmla="*/ 30480 h 266700"/>
              <a:gd name="connsiteX37" fmla="*/ 152400 w 266700"/>
              <a:gd name="connsiteY37" fmla="*/ 68580 h 266700"/>
              <a:gd name="connsiteX38" fmla="*/ 114300 w 266700"/>
              <a:gd name="connsiteY38" fmla="*/ 106680 h 266700"/>
              <a:gd name="connsiteX39" fmla="*/ 76200 w 266700"/>
              <a:gd name="connsiteY39" fmla="*/ 68580 h 266700"/>
              <a:gd name="connsiteX40" fmla="*/ 114300 w 266700"/>
              <a:gd name="connsiteY40" fmla="*/ 30480 h 266700"/>
              <a:gd name="connsiteX41" fmla="*/ 49530 w 266700"/>
              <a:gd name="connsiteY41" fmla="*/ 22860 h 266700"/>
              <a:gd name="connsiteX42" fmla="*/ 22860 w 266700"/>
              <a:gd name="connsiteY42" fmla="*/ 49530 h 266700"/>
              <a:gd name="connsiteX43" fmla="*/ 22860 w 266700"/>
              <a:gd name="connsiteY43" fmla="*/ 179070 h 266700"/>
              <a:gd name="connsiteX44" fmla="*/ 49530 w 266700"/>
              <a:gd name="connsiteY44" fmla="*/ 205740 h 266700"/>
              <a:gd name="connsiteX45" fmla="*/ 179070 w 266700"/>
              <a:gd name="connsiteY45" fmla="*/ 205740 h 266700"/>
              <a:gd name="connsiteX46" fmla="*/ 205740 w 266700"/>
              <a:gd name="connsiteY46" fmla="*/ 179070 h 266700"/>
              <a:gd name="connsiteX47" fmla="*/ 205740 w 266700"/>
              <a:gd name="connsiteY47" fmla="*/ 49530 h 266700"/>
              <a:gd name="connsiteX48" fmla="*/ 179070 w 266700"/>
              <a:gd name="connsiteY48" fmla="*/ 22860 h 266700"/>
              <a:gd name="connsiteX49" fmla="*/ 49530 w 266700"/>
              <a:gd name="connsiteY49" fmla="*/ 0 h 266700"/>
              <a:gd name="connsiteX50" fmla="*/ 179070 w 266700"/>
              <a:gd name="connsiteY50" fmla="*/ 0 h 266700"/>
              <a:gd name="connsiteX51" fmla="*/ 228600 w 266700"/>
              <a:gd name="connsiteY51" fmla="*/ 49530 h 266700"/>
              <a:gd name="connsiteX52" fmla="*/ 228600 w 266700"/>
              <a:gd name="connsiteY52" fmla="*/ 179070 h 266700"/>
              <a:gd name="connsiteX53" fmla="*/ 179070 w 266700"/>
              <a:gd name="connsiteY53" fmla="*/ 228600 h 266700"/>
              <a:gd name="connsiteX54" fmla="*/ 49530 w 266700"/>
              <a:gd name="connsiteY54" fmla="*/ 228600 h 266700"/>
              <a:gd name="connsiteX55" fmla="*/ 0 w 266700"/>
              <a:gd name="connsiteY55" fmla="*/ 179070 h 266700"/>
              <a:gd name="connsiteX56" fmla="*/ 0 w 266700"/>
              <a:gd name="connsiteY56" fmla="*/ 49530 h 266700"/>
              <a:gd name="connsiteX57" fmla="*/ 49530 w 266700"/>
              <a:gd name="connsiteY57" fmla="*/ 0 h 266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266700" h="266700">
                <a:moveTo>
                  <a:pt x="68580" y="137160"/>
                </a:moveTo>
                <a:cubicBezTo>
                  <a:pt x="66476" y="137160"/>
                  <a:pt x="64770" y="138865"/>
                  <a:pt x="64770" y="140970"/>
                </a:cubicBezTo>
                <a:lnTo>
                  <a:pt x="64770" y="148590"/>
                </a:lnTo>
                <a:cubicBezTo>
                  <a:pt x="64770" y="152278"/>
                  <a:pt x="65471" y="153192"/>
                  <a:pt x="66736" y="154869"/>
                </a:cubicBezTo>
                <a:cubicBezTo>
                  <a:pt x="67195" y="155462"/>
                  <a:pt x="67633" y="156071"/>
                  <a:pt x="68047" y="156698"/>
                </a:cubicBezTo>
                <a:cubicBezTo>
                  <a:pt x="70460" y="160195"/>
                  <a:pt x="73743" y="163006"/>
                  <a:pt x="77572" y="164851"/>
                </a:cubicBezTo>
                <a:cubicBezTo>
                  <a:pt x="86167" y="169316"/>
                  <a:pt x="98770" y="171450"/>
                  <a:pt x="114300" y="171450"/>
                </a:cubicBezTo>
                <a:cubicBezTo>
                  <a:pt x="133792" y="171450"/>
                  <a:pt x="146228" y="169271"/>
                  <a:pt x="153741" y="164943"/>
                </a:cubicBezTo>
                <a:cubicBezTo>
                  <a:pt x="157031" y="163155"/>
                  <a:pt x="159705" y="160413"/>
                  <a:pt x="161407" y="157079"/>
                </a:cubicBezTo>
                <a:cubicBezTo>
                  <a:pt x="161727" y="156439"/>
                  <a:pt x="162016" y="155905"/>
                  <a:pt x="162276" y="155448"/>
                </a:cubicBezTo>
                <a:cubicBezTo>
                  <a:pt x="163297" y="153604"/>
                  <a:pt x="163830" y="152644"/>
                  <a:pt x="163830" y="148590"/>
                </a:cubicBezTo>
                <a:lnTo>
                  <a:pt x="163830" y="140970"/>
                </a:lnTo>
                <a:cubicBezTo>
                  <a:pt x="163830" y="138865"/>
                  <a:pt x="162125" y="137160"/>
                  <a:pt x="160020" y="137160"/>
                </a:cubicBezTo>
                <a:close/>
                <a:moveTo>
                  <a:pt x="68580" y="114300"/>
                </a:moveTo>
                <a:lnTo>
                  <a:pt x="160020" y="114300"/>
                </a:lnTo>
                <a:cubicBezTo>
                  <a:pt x="174749" y="114300"/>
                  <a:pt x="186690" y="126241"/>
                  <a:pt x="186690" y="140970"/>
                </a:cubicBezTo>
                <a:lnTo>
                  <a:pt x="186690" y="148590"/>
                </a:lnTo>
                <a:cubicBezTo>
                  <a:pt x="186690" y="164607"/>
                  <a:pt x="181082" y="173523"/>
                  <a:pt x="168707" y="182042"/>
                </a:cubicBezTo>
                <a:cubicBezTo>
                  <a:pt x="156591" y="190378"/>
                  <a:pt x="138516" y="194310"/>
                  <a:pt x="114300" y="194310"/>
                </a:cubicBezTo>
                <a:cubicBezTo>
                  <a:pt x="93772" y="194310"/>
                  <a:pt x="75834" y="190317"/>
                  <a:pt x="62880" y="182118"/>
                </a:cubicBezTo>
                <a:cubicBezTo>
                  <a:pt x="49759" y="173812"/>
                  <a:pt x="41910" y="165034"/>
                  <a:pt x="41910" y="148590"/>
                </a:cubicBezTo>
                <a:lnTo>
                  <a:pt x="41910" y="140970"/>
                </a:lnTo>
                <a:cubicBezTo>
                  <a:pt x="41910" y="126241"/>
                  <a:pt x="53851" y="114300"/>
                  <a:pt x="68580" y="114300"/>
                </a:cubicBezTo>
                <a:close/>
                <a:moveTo>
                  <a:pt x="114300" y="53340"/>
                </a:moveTo>
                <a:cubicBezTo>
                  <a:pt x="105883" y="53340"/>
                  <a:pt x="99060" y="60163"/>
                  <a:pt x="99060" y="68580"/>
                </a:cubicBezTo>
                <a:cubicBezTo>
                  <a:pt x="99060" y="76997"/>
                  <a:pt x="105883" y="83820"/>
                  <a:pt x="114300" y="83820"/>
                </a:cubicBezTo>
                <a:cubicBezTo>
                  <a:pt x="122717" y="83820"/>
                  <a:pt x="129540" y="76997"/>
                  <a:pt x="129540" y="68580"/>
                </a:cubicBezTo>
                <a:cubicBezTo>
                  <a:pt x="129540" y="60163"/>
                  <a:pt x="122717" y="53340"/>
                  <a:pt x="114300" y="53340"/>
                </a:cubicBezTo>
                <a:close/>
                <a:moveTo>
                  <a:pt x="243840" y="45872"/>
                </a:moveTo>
                <a:cubicBezTo>
                  <a:pt x="258094" y="54971"/>
                  <a:pt x="266715" y="70719"/>
                  <a:pt x="266700" y="87630"/>
                </a:cubicBezTo>
                <a:lnTo>
                  <a:pt x="266700" y="186690"/>
                </a:lnTo>
                <a:cubicBezTo>
                  <a:pt x="266700" y="230886"/>
                  <a:pt x="230886" y="266700"/>
                  <a:pt x="186690" y="266700"/>
                </a:cubicBezTo>
                <a:lnTo>
                  <a:pt x="87630" y="266700"/>
                </a:lnTo>
                <a:cubicBezTo>
                  <a:pt x="70719" y="266712"/>
                  <a:pt x="54973" y="258092"/>
                  <a:pt x="45872" y="243840"/>
                </a:cubicBezTo>
                <a:lnTo>
                  <a:pt x="186690" y="243840"/>
                </a:lnTo>
                <a:cubicBezTo>
                  <a:pt x="218253" y="243840"/>
                  <a:pt x="243840" y="218253"/>
                  <a:pt x="243840" y="186690"/>
                </a:cubicBezTo>
                <a:close/>
                <a:moveTo>
                  <a:pt x="114300" y="30480"/>
                </a:moveTo>
                <a:cubicBezTo>
                  <a:pt x="135342" y="30480"/>
                  <a:pt x="152400" y="47538"/>
                  <a:pt x="152400" y="68580"/>
                </a:cubicBezTo>
                <a:cubicBezTo>
                  <a:pt x="152400" y="89622"/>
                  <a:pt x="135342" y="106680"/>
                  <a:pt x="114300" y="106680"/>
                </a:cubicBezTo>
                <a:cubicBezTo>
                  <a:pt x="93258" y="106680"/>
                  <a:pt x="76200" y="89622"/>
                  <a:pt x="76200" y="68580"/>
                </a:cubicBezTo>
                <a:cubicBezTo>
                  <a:pt x="76200" y="47538"/>
                  <a:pt x="93258" y="30480"/>
                  <a:pt x="114300" y="30480"/>
                </a:cubicBezTo>
                <a:close/>
                <a:moveTo>
                  <a:pt x="49530" y="22860"/>
                </a:moveTo>
                <a:cubicBezTo>
                  <a:pt x="34801" y="22860"/>
                  <a:pt x="22860" y="34801"/>
                  <a:pt x="22860" y="49530"/>
                </a:cubicBezTo>
                <a:lnTo>
                  <a:pt x="22860" y="179070"/>
                </a:lnTo>
                <a:cubicBezTo>
                  <a:pt x="22860" y="193792"/>
                  <a:pt x="34808" y="205740"/>
                  <a:pt x="49530" y="205740"/>
                </a:cubicBezTo>
                <a:lnTo>
                  <a:pt x="179070" y="205740"/>
                </a:lnTo>
                <a:cubicBezTo>
                  <a:pt x="193799" y="205740"/>
                  <a:pt x="205740" y="193799"/>
                  <a:pt x="205740" y="179070"/>
                </a:cubicBezTo>
                <a:lnTo>
                  <a:pt x="205740" y="49530"/>
                </a:lnTo>
                <a:cubicBezTo>
                  <a:pt x="205740" y="34801"/>
                  <a:pt x="193799" y="22860"/>
                  <a:pt x="179070" y="22860"/>
                </a:cubicBezTo>
                <a:close/>
                <a:moveTo>
                  <a:pt x="49530" y="0"/>
                </a:moveTo>
                <a:lnTo>
                  <a:pt x="179070" y="0"/>
                </a:lnTo>
                <a:cubicBezTo>
                  <a:pt x="206424" y="0"/>
                  <a:pt x="228600" y="22175"/>
                  <a:pt x="228600" y="49530"/>
                </a:cubicBezTo>
                <a:lnTo>
                  <a:pt x="228600" y="179070"/>
                </a:lnTo>
                <a:cubicBezTo>
                  <a:pt x="228600" y="206424"/>
                  <a:pt x="206424" y="228600"/>
                  <a:pt x="179070" y="228600"/>
                </a:cubicBezTo>
                <a:lnTo>
                  <a:pt x="49530" y="228600"/>
                </a:lnTo>
                <a:cubicBezTo>
                  <a:pt x="22175" y="228600"/>
                  <a:pt x="0" y="206424"/>
                  <a:pt x="0" y="179070"/>
                </a:cubicBezTo>
                <a:lnTo>
                  <a:pt x="0" y="49530"/>
                </a:lnTo>
                <a:cubicBezTo>
                  <a:pt x="0" y="22175"/>
                  <a:pt x="22175" y="0"/>
                  <a:pt x="49530" y="0"/>
                </a:cubicBezTo>
                <a:close/>
              </a:path>
            </a:pathLst>
          </a:custGeom>
          <a:gradFill flip="none" rotWithShape="1">
            <a:gsLst>
              <a:gs pos="35000">
                <a:srgbClr val="0078D4"/>
              </a:gs>
              <a:gs pos="0">
                <a:srgbClr val="C03BC4"/>
              </a:gs>
            </a:gsLst>
            <a:path path="circle">
              <a:fillToRect l="100000" t="100000"/>
            </a:path>
            <a:tileRect r="-100000" b="-100000"/>
          </a:gradFill>
          <a:ln>
            <a:noFill/>
            <a:headEnd type="none" w="med" len="med"/>
            <a:tailEnd type="none" w="med" len="med"/>
          </a:ln>
          <a:effectLst>
            <a:outerShdw blurRad="63500" dist="101600" dir="2700000" algn="tl" rotWithShape="0">
              <a:srgbClr val="454142">
                <a:alpha val="25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91440" numCol="1" spcCol="0" rtlCol="0" fromWordArt="0" anchor="b" anchorCtr="0" forceAA="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1" i="0" u="none" strike="noStrike" kern="1200" cap="none" spc="0" normalizeH="0" baseline="0" noProof="0" dirty="0">
              <a:ln w="3175">
                <a:noFill/>
              </a:ln>
              <a:gradFill>
                <a:gsLst>
                  <a:gs pos="76437">
                    <a:srgbClr val="FFFFFF"/>
                  </a:gs>
                  <a:gs pos="55747">
                    <a:srgbClr val="FFFFFF"/>
                  </a:gs>
                </a:gsLst>
                <a:path path="circle">
                  <a:fillToRect l="100000" b="100000"/>
                </a:path>
              </a:gradFill>
              <a:effectLst/>
              <a:uLnTx/>
              <a:uFillTx/>
              <a:latin typeface="Segoe UI Semibold"/>
              <a:ea typeface="+mn-ea"/>
              <a:cs typeface="Segoe UI" pitchFamily="34" charset="0"/>
            </a:endParaRPr>
          </a:p>
        </p:txBody>
      </p:sp>
      <p:sp>
        <p:nvSpPr>
          <p:cNvPr id="30" name="Freeform: Shape 32">
            <a:extLst>
              <a:ext uri="{FF2B5EF4-FFF2-40B4-BE49-F238E27FC236}">
                <a16:creationId xmlns:a16="http://schemas.microsoft.com/office/drawing/2014/main" id="{DB057A49-CBAF-BC14-1094-C71B675EFB04}"/>
              </a:ext>
              <a:ext uri="{C183D7F6-B498-43B3-948B-1728B52AA6E4}">
                <adec:decorative xmlns:adec="http://schemas.microsoft.com/office/drawing/2017/decorative" val="1"/>
              </a:ext>
            </a:extLst>
          </p:cNvPr>
          <p:cNvSpPr>
            <a:spLocks/>
          </p:cNvSpPr>
          <p:nvPr/>
        </p:nvSpPr>
        <p:spPr bwMode="auto">
          <a:xfrm>
            <a:off x="7697337" y="3872623"/>
            <a:ext cx="3727901" cy="2287546"/>
          </a:xfrm>
          <a:prstGeom prst="roundRect">
            <a:avLst>
              <a:gd name="adj" fmla="val 4762"/>
            </a:avLst>
          </a:prstGeom>
          <a:solidFill>
            <a:schemeClr val="bg1">
              <a:alpha val="70000"/>
            </a:schemeClr>
          </a:solidFill>
          <a:ln>
            <a:solidFill>
              <a:schemeClr val="bg1"/>
            </a:solidFill>
          </a:ln>
          <a:effectLst>
            <a:outerShdw blurRad="223661" dist="140295" dir="2700000" algn="tl" rotWithShape="0">
              <a:schemeClr val="accent1">
                <a:alpha val="15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Segoe UI"/>
              <a:ea typeface="+mn-ea"/>
              <a:cs typeface="Segoe UI" pitchFamily="34" charset="0"/>
            </a:endParaRPr>
          </a:p>
        </p:txBody>
      </p:sp>
      <p:sp>
        <p:nvSpPr>
          <p:cNvPr id="21" name="Text Placeholder 5">
            <a:extLst>
              <a:ext uri="{FF2B5EF4-FFF2-40B4-BE49-F238E27FC236}">
                <a16:creationId xmlns:a16="http://schemas.microsoft.com/office/drawing/2014/main" id="{382100B4-F48F-AAB9-CF62-2BA0D918036D}"/>
              </a:ext>
            </a:extLst>
          </p:cNvPr>
          <p:cNvSpPr txBox="1">
            <a:spLocks/>
          </p:cNvSpPr>
          <p:nvPr/>
        </p:nvSpPr>
        <p:spPr>
          <a:xfrm>
            <a:off x="7980026" y="4826288"/>
            <a:ext cx="3186884" cy="446276"/>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597" rtl="0" eaLnBrk="1" fontAlgn="auto" latinLnBrk="0" hangingPunct="1">
              <a:lnSpc>
                <a:spcPct val="100000"/>
              </a:lnSpc>
              <a:spcBef>
                <a:spcPts val="0"/>
              </a:spcBef>
              <a:spcAft>
                <a:spcPts val="600"/>
              </a:spcAft>
              <a:buClrTx/>
              <a:buSzTx/>
              <a:buFont typeface="Wingdings" panose="05000000000000000000" pitchFamily="2" charset="2"/>
              <a:buNone/>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Microsoft 365 Copilot</a:t>
            </a:r>
          </a:p>
          <a:p>
            <a:pPr marL="0" marR="0" lvl="0" indent="0" algn="l" defTabSz="932597" rtl="0" eaLnBrk="1" fontAlgn="auto" latinLnBrk="0" hangingPunct="1">
              <a:lnSpc>
                <a:spcPct val="100000"/>
              </a:lnSpc>
              <a:spcBef>
                <a:spcPts val="0"/>
              </a:spcBef>
              <a:spcAft>
                <a:spcPts val="600"/>
              </a:spcAft>
              <a:buClrTx/>
              <a:buSzTx/>
              <a:buFont typeface="Wingdings" panose="05000000000000000000" pitchFamily="2" charset="2"/>
              <a:buNone/>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Microsoft 365 Copilot for Finance</a:t>
            </a:r>
          </a:p>
        </p:txBody>
      </p:sp>
      <p:sp>
        <p:nvSpPr>
          <p:cNvPr id="31" name="Rectangle: Rounded Corners 26">
            <a:extLst>
              <a:ext uri="{FF2B5EF4-FFF2-40B4-BE49-F238E27FC236}">
                <a16:creationId xmlns:a16="http://schemas.microsoft.com/office/drawing/2014/main" id="{141CFC38-7A95-9B39-1123-CED249505C53}"/>
              </a:ext>
            </a:extLst>
          </p:cNvPr>
          <p:cNvSpPr/>
          <p:nvPr/>
        </p:nvSpPr>
        <p:spPr bwMode="auto">
          <a:xfrm>
            <a:off x="8438481" y="4078346"/>
            <a:ext cx="2940928" cy="365760"/>
          </a:xfrm>
          <a:prstGeom prst="roundRect">
            <a:avLst>
              <a:gd name="adj" fmla="val 19935"/>
            </a:avLst>
          </a:prstGeom>
          <a:noFill/>
          <a:ln>
            <a:noFill/>
            <a:headEnd type="none" w="med" len="med"/>
            <a:tailEnd type="none" w="med" len="med"/>
          </a:ln>
          <a:effectLst>
            <a:outerShdw blurRad="1905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gradFill>
                  <a:gsLst>
                    <a:gs pos="50000">
                      <a:srgbClr val="8661C5"/>
                    </a:gs>
                    <a:gs pos="0">
                      <a:srgbClr val="0078D4"/>
                    </a:gs>
                    <a:gs pos="100000">
                      <a:srgbClr val="C73ECC"/>
                    </a:gs>
                  </a:gsLst>
                  <a:lin ang="2700000" scaled="1"/>
                </a:gradFill>
                <a:effectLst/>
                <a:uLnTx/>
                <a:uFillTx/>
                <a:latin typeface="Segoe UI Semibold"/>
                <a:ea typeface="+mn-ea"/>
                <a:cs typeface="+mn-cs"/>
              </a:rPr>
              <a:t>Microsoft AI solutions</a:t>
            </a:r>
          </a:p>
        </p:txBody>
      </p:sp>
      <p:sp>
        <p:nvSpPr>
          <p:cNvPr id="34" name="Graphic 32">
            <a:extLst>
              <a:ext uri="{FF2B5EF4-FFF2-40B4-BE49-F238E27FC236}">
                <a16:creationId xmlns:a16="http://schemas.microsoft.com/office/drawing/2014/main" id="{5F00FDD4-AD2C-14BC-0878-8728C10A43A2}"/>
              </a:ext>
              <a:ext uri="{C183D7F6-B498-43B3-948B-1728B52AA6E4}">
                <adec:decorative xmlns:adec="http://schemas.microsoft.com/office/drawing/2017/decorative" val="1"/>
              </a:ext>
            </a:extLst>
          </p:cNvPr>
          <p:cNvSpPr/>
          <p:nvPr/>
        </p:nvSpPr>
        <p:spPr>
          <a:xfrm>
            <a:off x="7920860" y="4091303"/>
            <a:ext cx="339928" cy="339845"/>
          </a:xfrm>
          <a:custGeom>
            <a:avLst/>
            <a:gdLst>
              <a:gd name="connsiteX0" fmla="*/ 128988 w 409676"/>
              <a:gd name="connsiteY0" fmla="*/ 289825 h 409576"/>
              <a:gd name="connsiteX1" fmla="*/ 148010 w 409676"/>
              <a:gd name="connsiteY1" fmla="*/ 295832 h 409576"/>
              <a:gd name="connsiteX2" fmla="*/ 148010 w 409676"/>
              <a:gd name="connsiteY2" fmla="*/ 295741 h 409576"/>
              <a:gd name="connsiteX3" fmla="*/ 178205 w 409676"/>
              <a:gd name="connsiteY3" fmla="*/ 275900 h 409576"/>
              <a:gd name="connsiteX4" fmla="*/ 192153 w 409676"/>
              <a:gd name="connsiteY4" fmla="*/ 233486 h 409576"/>
              <a:gd name="connsiteX5" fmla="*/ 233497 w 409676"/>
              <a:gd name="connsiteY5" fmla="*/ 192255 h 409576"/>
              <a:gd name="connsiteX6" fmla="*/ 273954 w 409676"/>
              <a:gd name="connsiteY6" fmla="*/ 179104 h 409576"/>
              <a:gd name="connsiteX7" fmla="*/ 294049 w 409676"/>
              <a:gd name="connsiteY7" fmla="*/ 137242 h 409576"/>
              <a:gd name="connsiteX8" fmla="*/ 272771 w 409676"/>
              <a:gd name="connsiteY8" fmla="*/ 116757 h 409576"/>
              <a:gd name="connsiteX9" fmla="*/ 232838 w 409676"/>
              <a:gd name="connsiteY9" fmla="*/ 103787 h 409576"/>
              <a:gd name="connsiteX10" fmla="*/ 191380 w 409676"/>
              <a:gd name="connsiteY10" fmla="*/ 62306 h 409576"/>
              <a:gd name="connsiteX11" fmla="*/ 178228 w 409676"/>
              <a:gd name="connsiteY11" fmla="*/ 21872 h 409576"/>
              <a:gd name="connsiteX12" fmla="*/ 136193 w 409676"/>
              <a:gd name="connsiteY12" fmla="*/ 1916 h 409576"/>
              <a:gd name="connsiteX13" fmla="*/ 116063 w 409676"/>
              <a:gd name="connsiteY13" fmla="*/ 22373 h 409576"/>
              <a:gd name="connsiteX14" fmla="*/ 102798 w 409676"/>
              <a:gd name="connsiteY14" fmla="*/ 63148 h 409576"/>
              <a:gd name="connsiteX15" fmla="*/ 62523 w 409676"/>
              <a:gd name="connsiteY15" fmla="*/ 103787 h 409576"/>
              <a:gd name="connsiteX16" fmla="*/ 22089 w 409676"/>
              <a:gd name="connsiteY16" fmla="*/ 116780 h 409576"/>
              <a:gd name="connsiteX17" fmla="*/ 1827 w 409676"/>
              <a:gd name="connsiteY17" fmla="*/ 158597 h 409576"/>
              <a:gd name="connsiteX18" fmla="*/ 22475 w 409676"/>
              <a:gd name="connsiteY18" fmla="*/ 178990 h 409576"/>
              <a:gd name="connsiteX19" fmla="*/ 62386 w 409676"/>
              <a:gd name="connsiteY19" fmla="*/ 191937 h 409576"/>
              <a:gd name="connsiteX20" fmla="*/ 103844 w 409676"/>
              <a:gd name="connsiteY20" fmla="*/ 233486 h 409576"/>
              <a:gd name="connsiteX21" fmla="*/ 116996 w 409676"/>
              <a:gd name="connsiteY21" fmla="*/ 273875 h 409576"/>
              <a:gd name="connsiteX22" fmla="*/ 128988 w 409676"/>
              <a:gd name="connsiteY22" fmla="*/ 289803 h 409576"/>
              <a:gd name="connsiteX23" fmla="*/ 120478 w 409676"/>
              <a:gd name="connsiteY23" fmla="*/ 193120 h 409576"/>
              <a:gd name="connsiteX24" fmla="*/ 112218 w 409676"/>
              <a:gd name="connsiteY24" fmla="*/ 183723 h 409576"/>
              <a:gd name="connsiteX25" fmla="*/ 112286 w 409676"/>
              <a:gd name="connsiteY25" fmla="*/ 183723 h 409576"/>
              <a:gd name="connsiteX26" fmla="*/ 73149 w 409676"/>
              <a:gd name="connsiteY26" fmla="*/ 159535 h 409576"/>
              <a:gd name="connsiteX27" fmla="*/ 36742 w 409676"/>
              <a:gd name="connsiteY27" fmla="*/ 147976 h 409576"/>
              <a:gd name="connsiteX28" fmla="*/ 73399 w 409676"/>
              <a:gd name="connsiteY28" fmla="*/ 136053 h 409576"/>
              <a:gd name="connsiteX29" fmla="*/ 111854 w 409676"/>
              <a:gd name="connsiteY29" fmla="*/ 111819 h 409576"/>
              <a:gd name="connsiteX30" fmla="*/ 135541 w 409676"/>
              <a:gd name="connsiteY30" fmla="*/ 72955 h 409576"/>
              <a:gd name="connsiteX31" fmla="*/ 147259 w 409676"/>
              <a:gd name="connsiteY31" fmla="*/ 36958 h 409576"/>
              <a:gd name="connsiteX32" fmla="*/ 159000 w 409676"/>
              <a:gd name="connsiteY32" fmla="*/ 73069 h 409576"/>
              <a:gd name="connsiteX33" fmla="*/ 222280 w 409676"/>
              <a:gd name="connsiteY33" fmla="*/ 136166 h 409576"/>
              <a:gd name="connsiteX34" fmla="*/ 259141 w 409676"/>
              <a:gd name="connsiteY34" fmla="*/ 148044 h 409576"/>
              <a:gd name="connsiteX35" fmla="*/ 222962 w 409676"/>
              <a:gd name="connsiteY35" fmla="*/ 159762 h 409576"/>
              <a:gd name="connsiteX36" fmla="*/ 159842 w 409676"/>
              <a:gd name="connsiteY36" fmla="*/ 222905 h 409576"/>
              <a:gd name="connsiteX37" fmla="*/ 148124 w 409676"/>
              <a:gd name="connsiteY37" fmla="*/ 258902 h 409576"/>
              <a:gd name="connsiteX38" fmla="*/ 136405 w 409676"/>
              <a:gd name="connsiteY38" fmla="*/ 222837 h 409576"/>
              <a:gd name="connsiteX39" fmla="*/ 120478 w 409676"/>
              <a:gd name="connsiteY39" fmla="*/ 193120 h 409576"/>
              <a:gd name="connsiteX40" fmla="*/ 303444 w 409676"/>
              <a:gd name="connsiteY40" fmla="*/ 404666 h 409576"/>
              <a:gd name="connsiteX41" fmla="*/ 294115 w 409676"/>
              <a:gd name="connsiteY41" fmla="*/ 392174 h 409576"/>
              <a:gd name="connsiteX42" fmla="*/ 286651 w 409676"/>
              <a:gd name="connsiteY42" fmla="*/ 369260 h 409576"/>
              <a:gd name="connsiteX43" fmla="*/ 267970 w 409676"/>
              <a:gd name="connsiteY43" fmla="*/ 350533 h 409576"/>
              <a:gd name="connsiteX44" fmla="*/ 245421 w 409676"/>
              <a:gd name="connsiteY44" fmla="*/ 343184 h 409576"/>
              <a:gd name="connsiteX45" fmla="*/ 227650 w 409676"/>
              <a:gd name="connsiteY45" fmla="*/ 318541 h 409576"/>
              <a:gd name="connsiteX46" fmla="*/ 245193 w 409676"/>
              <a:gd name="connsiteY46" fmla="*/ 293967 h 409576"/>
              <a:gd name="connsiteX47" fmla="*/ 268084 w 409676"/>
              <a:gd name="connsiteY47" fmla="*/ 286549 h 409576"/>
              <a:gd name="connsiteX48" fmla="*/ 286287 w 409676"/>
              <a:gd name="connsiteY48" fmla="*/ 267913 h 409576"/>
              <a:gd name="connsiteX49" fmla="*/ 293659 w 409676"/>
              <a:gd name="connsiteY49" fmla="*/ 245341 h 409576"/>
              <a:gd name="connsiteX50" fmla="*/ 326655 w 409676"/>
              <a:gd name="connsiteY50" fmla="*/ 229088 h 409576"/>
              <a:gd name="connsiteX51" fmla="*/ 342740 w 409676"/>
              <a:gd name="connsiteY51" fmla="*/ 244863 h 409576"/>
              <a:gd name="connsiteX52" fmla="*/ 350226 w 409676"/>
              <a:gd name="connsiteY52" fmla="*/ 267936 h 409576"/>
              <a:gd name="connsiteX53" fmla="*/ 368885 w 409676"/>
              <a:gd name="connsiteY53" fmla="*/ 286503 h 409576"/>
              <a:gd name="connsiteX54" fmla="*/ 391457 w 409676"/>
              <a:gd name="connsiteY54" fmla="*/ 293853 h 409576"/>
              <a:gd name="connsiteX55" fmla="*/ 408486 w 409676"/>
              <a:gd name="connsiteY55" fmla="*/ 326382 h 409576"/>
              <a:gd name="connsiteX56" fmla="*/ 392344 w 409676"/>
              <a:gd name="connsiteY56" fmla="*/ 343116 h 409576"/>
              <a:gd name="connsiteX57" fmla="*/ 369272 w 409676"/>
              <a:gd name="connsiteY57" fmla="*/ 350602 h 409576"/>
              <a:gd name="connsiteX58" fmla="*/ 350659 w 409676"/>
              <a:gd name="connsiteY58" fmla="*/ 369306 h 409576"/>
              <a:gd name="connsiteX59" fmla="*/ 343332 w 409676"/>
              <a:gd name="connsiteY59" fmla="*/ 391809 h 409576"/>
              <a:gd name="connsiteX60" fmla="*/ 333661 w 409676"/>
              <a:gd name="connsiteY60" fmla="*/ 404779 h 409576"/>
              <a:gd name="connsiteX61" fmla="*/ 303444 w 409676"/>
              <a:gd name="connsiteY61" fmla="*/ 404666 h 409576"/>
              <a:gd name="connsiteX62" fmla="*/ 280007 w 409676"/>
              <a:gd name="connsiteY62" fmla="*/ 318587 h 409576"/>
              <a:gd name="connsiteX63" fmla="*/ 318666 w 409676"/>
              <a:gd name="connsiteY63" fmla="*/ 357473 h 409576"/>
              <a:gd name="connsiteX64" fmla="*/ 357348 w 409676"/>
              <a:gd name="connsiteY64" fmla="*/ 318791 h 409576"/>
              <a:gd name="connsiteX65" fmla="*/ 318257 w 409676"/>
              <a:gd name="connsiteY65" fmla="*/ 279927 h 409576"/>
              <a:gd name="connsiteX66" fmla="*/ 279984 w 409676"/>
              <a:gd name="connsiteY66" fmla="*/ 318609 h 409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409676" h="409576">
                <a:moveTo>
                  <a:pt x="128988" y="289825"/>
                </a:moveTo>
                <a:cubicBezTo>
                  <a:pt x="134562" y="293762"/>
                  <a:pt x="141207" y="295855"/>
                  <a:pt x="148010" y="295832"/>
                </a:cubicBezTo>
                <a:lnTo>
                  <a:pt x="148010" y="295741"/>
                </a:lnTo>
                <a:cubicBezTo>
                  <a:pt x="161137" y="295764"/>
                  <a:pt x="173015" y="287959"/>
                  <a:pt x="178205" y="275900"/>
                </a:cubicBezTo>
                <a:lnTo>
                  <a:pt x="192153" y="233486"/>
                </a:lnTo>
                <a:cubicBezTo>
                  <a:pt x="198688" y="214008"/>
                  <a:pt x="214002" y="198736"/>
                  <a:pt x="233497" y="192255"/>
                </a:cubicBezTo>
                <a:lnTo>
                  <a:pt x="273954" y="179104"/>
                </a:lnTo>
                <a:cubicBezTo>
                  <a:pt x="291063" y="173092"/>
                  <a:pt x="300060" y="154350"/>
                  <a:pt x="294049" y="137242"/>
                </a:cubicBezTo>
                <a:cubicBezTo>
                  <a:pt x="290601" y="127429"/>
                  <a:pt x="282708" y="119830"/>
                  <a:pt x="272771" y="116757"/>
                </a:cubicBezTo>
                <a:lnTo>
                  <a:pt x="232838" y="103787"/>
                </a:lnTo>
                <a:cubicBezTo>
                  <a:pt x="213249" y="97273"/>
                  <a:pt x="197883" y="81898"/>
                  <a:pt x="191380" y="62306"/>
                </a:cubicBezTo>
                <a:lnTo>
                  <a:pt x="178228" y="21872"/>
                </a:lnTo>
                <a:cubicBezTo>
                  <a:pt x="172132" y="4754"/>
                  <a:pt x="153311" y="-4181"/>
                  <a:pt x="136193" y="1916"/>
                </a:cubicBezTo>
                <a:cubicBezTo>
                  <a:pt x="126706" y="5295"/>
                  <a:pt x="119289" y="12833"/>
                  <a:pt x="116063" y="22373"/>
                </a:cubicBezTo>
                <a:lnTo>
                  <a:pt x="102798" y="63148"/>
                </a:lnTo>
                <a:cubicBezTo>
                  <a:pt x="96316" y="82155"/>
                  <a:pt x="81470" y="97135"/>
                  <a:pt x="62523" y="103787"/>
                </a:cubicBezTo>
                <a:lnTo>
                  <a:pt x="22089" y="116780"/>
                </a:lnTo>
                <a:cubicBezTo>
                  <a:pt x="4946" y="122732"/>
                  <a:pt x="-4125" y="141454"/>
                  <a:pt x="1827" y="158597"/>
                </a:cubicBezTo>
                <a:cubicBezTo>
                  <a:pt x="5172" y="168229"/>
                  <a:pt x="12801" y="175765"/>
                  <a:pt x="22475" y="178990"/>
                </a:cubicBezTo>
                <a:lnTo>
                  <a:pt x="62386" y="191937"/>
                </a:lnTo>
                <a:cubicBezTo>
                  <a:pt x="81969" y="198499"/>
                  <a:pt x="97324" y="213890"/>
                  <a:pt x="103844" y="233486"/>
                </a:cubicBezTo>
                <a:lnTo>
                  <a:pt x="116996" y="273875"/>
                </a:lnTo>
                <a:cubicBezTo>
                  <a:pt x="119249" y="280314"/>
                  <a:pt x="123436" y="285889"/>
                  <a:pt x="128988" y="289803"/>
                </a:cubicBezTo>
                <a:close/>
                <a:moveTo>
                  <a:pt x="120478" y="193120"/>
                </a:moveTo>
                <a:cubicBezTo>
                  <a:pt x="117940" y="189805"/>
                  <a:pt x="115181" y="186665"/>
                  <a:pt x="112218" y="183723"/>
                </a:cubicBezTo>
                <a:lnTo>
                  <a:pt x="112286" y="183723"/>
                </a:lnTo>
                <a:cubicBezTo>
                  <a:pt x="101298" y="172728"/>
                  <a:pt x="87897" y="164445"/>
                  <a:pt x="73149" y="159535"/>
                </a:cubicBezTo>
                <a:lnTo>
                  <a:pt x="36742" y="147976"/>
                </a:lnTo>
                <a:lnTo>
                  <a:pt x="73399" y="136053"/>
                </a:lnTo>
                <a:cubicBezTo>
                  <a:pt x="87906" y="131030"/>
                  <a:pt x="101063" y="122738"/>
                  <a:pt x="111854" y="111819"/>
                </a:cubicBezTo>
                <a:cubicBezTo>
                  <a:pt x="122598" y="100831"/>
                  <a:pt x="130698" y="87540"/>
                  <a:pt x="135541" y="72955"/>
                </a:cubicBezTo>
                <a:lnTo>
                  <a:pt x="147259" y="36958"/>
                </a:lnTo>
                <a:lnTo>
                  <a:pt x="159000" y="73069"/>
                </a:lnTo>
                <a:cubicBezTo>
                  <a:pt x="168935" y="102921"/>
                  <a:pt x="192399" y="126318"/>
                  <a:pt x="222280" y="136166"/>
                </a:cubicBezTo>
                <a:lnTo>
                  <a:pt x="259141" y="148044"/>
                </a:lnTo>
                <a:lnTo>
                  <a:pt x="222962" y="159762"/>
                </a:lnTo>
                <a:cubicBezTo>
                  <a:pt x="193143" y="169679"/>
                  <a:pt x="169747" y="193081"/>
                  <a:pt x="159842" y="222905"/>
                </a:cubicBezTo>
                <a:lnTo>
                  <a:pt x="148124" y="258902"/>
                </a:lnTo>
                <a:lnTo>
                  <a:pt x="136405" y="222837"/>
                </a:lnTo>
                <a:cubicBezTo>
                  <a:pt x="132827" y="212097"/>
                  <a:pt x="127441" y="202047"/>
                  <a:pt x="120478" y="193120"/>
                </a:cubicBezTo>
                <a:close/>
                <a:moveTo>
                  <a:pt x="303444" y="404666"/>
                </a:moveTo>
                <a:cubicBezTo>
                  <a:pt x="299109" y="401576"/>
                  <a:pt x="295846" y="397207"/>
                  <a:pt x="294115" y="392174"/>
                </a:cubicBezTo>
                <a:lnTo>
                  <a:pt x="286651" y="369260"/>
                </a:lnTo>
                <a:cubicBezTo>
                  <a:pt x="283739" y="360413"/>
                  <a:pt x="276810" y="353466"/>
                  <a:pt x="267970" y="350533"/>
                </a:cubicBezTo>
                <a:lnTo>
                  <a:pt x="245421" y="343184"/>
                </a:lnTo>
                <a:cubicBezTo>
                  <a:pt x="234838" y="339614"/>
                  <a:pt x="227695" y="329709"/>
                  <a:pt x="227650" y="318541"/>
                </a:cubicBezTo>
                <a:cubicBezTo>
                  <a:pt x="227656" y="307446"/>
                  <a:pt x="234701" y="297578"/>
                  <a:pt x="245193" y="293967"/>
                </a:cubicBezTo>
                <a:lnTo>
                  <a:pt x="268084" y="286549"/>
                </a:lnTo>
                <a:cubicBezTo>
                  <a:pt x="276708" y="283486"/>
                  <a:pt x="283429" y="276605"/>
                  <a:pt x="286287" y="267913"/>
                </a:cubicBezTo>
                <a:lnTo>
                  <a:pt x="293659" y="245341"/>
                </a:lnTo>
                <a:cubicBezTo>
                  <a:pt x="298283" y="231741"/>
                  <a:pt x="313055" y="224464"/>
                  <a:pt x="326655" y="229088"/>
                </a:cubicBezTo>
                <a:cubicBezTo>
                  <a:pt x="334135" y="231629"/>
                  <a:pt x="340053" y="237434"/>
                  <a:pt x="342740" y="244863"/>
                </a:cubicBezTo>
                <a:lnTo>
                  <a:pt x="350226" y="267936"/>
                </a:lnTo>
                <a:cubicBezTo>
                  <a:pt x="353198" y="276703"/>
                  <a:pt x="360102" y="283575"/>
                  <a:pt x="368885" y="286503"/>
                </a:cubicBezTo>
                <a:lnTo>
                  <a:pt x="391457" y="293853"/>
                </a:lnTo>
                <a:cubicBezTo>
                  <a:pt x="405141" y="298133"/>
                  <a:pt x="412766" y="312696"/>
                  <a:pt x="408486" y="326382"/>
                </a:cubicBezTo>
                <a:cubicBezTo>
                  <a:pt x="406045" y="334191"/>
                  <a:pt x="400063" y="340394"/>
                  <a:pt x="392344" y="343116"/>
                </a:cubicBezTo>
                <a:lnTo>
                  <a:pt x="369272" y="350602"/>
                </a:lnTo>
                <a:cubicBezTo>
                  <a:pt x="360477" y="353571"/>
                  <a:pt x="353585" y="360495"/>
                  <a:pt x="350659" y="369306"/>
                </a:cubicBezTo>
                <a:lnTo>
                  <a:pt x="343332" y="391809"/>
                </a:lnTo>
                <a:cubicBezTo>
                  <a:pt x="341557" y="397043"/>
                  <a:pt x="338189" y="401594"/>
                  <a:pt x="333661" y="404779"/>
                </a:cubicBezTo>
                <a:cubicBezTo>
                  <a:pt x="324605" y="411219"/>
                  <a:pt x="312452" y="411171"/>
                  <a:pt x="303444" y="404666"/>
                </a:cubicBezTo>
                <a:close/>
                <a:moveTo>
                  <a:pt x="280007" y="318587"/>
                </a:moveTo>
                <a:cubicBezTo>
                  <a:pt x="298117" y="325026"/>
                  <a:pt x="312334" y="339325"/>
                  <a:pt x="318666" y="357473"/>
                </a:cubicBezTo>
                <a:cubicBezTo>
                  <a:pt x="325069" y="339407"/>
                  <a:pt x="339282" y="325194"/>
                  <a:pt x="357348" y="318791"/>
                </a:cubicBezTo>
                <a:cubicBezTo>
                  <a:pt x="339122" y="312400"/>
                  <a:pt x="324755" y="298117"/>
                  <a:pt x="318257" y="279927"/>
                </a:cubicBezTo>
                <a:cubicBezTo>
                  <a:pt x="311908" y="297885"/>
                  <a:pt x="297874" y="312070"/>
                  <a:pt x="279984" y="318609"/>
                </a:cubicBezTo>
                <a:close/>
              </a:path>
            </a:pathLst>
          </a:custGeom>
          <a:gradFill flip="none" rotWithShape="1">
            <a:gsLst>
              <a:gs pos="35000">
                <a:srgbClr val="0078D4"/>
              </a:gs>
              <a:gs pos="0">
                <a:srgbClr val="C03BC4"/>
              </a:gs>
            </a:gsLst>
            <a:path path="circle">
              <a:fillToRect l="100000" t="100000"/>
            </a:path>
            <a:tileRect r="-100000" b="-100000"/>
          </a:gradFill>
          <a:ln>
            <a:noFill/>
            <a:headEnd type="none" w="med" len="med"/>
            <a:tailEnd type="none" w="med" len="med"/>
          </a:ln>
          <a:effectLst>
            <a:outerShdw blurRad="63500" dist="101600" dir="2700000" algn="tl" rotWithShape="0">
              <a:srgbClr val="454142">
                <a:alpha val="25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91440" numCol="1" spcCol="0" rtlCol="0" fromWordArt="0" anchor="b" anchorCtr="0" forceAA="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1" i="0" u="none" strike="noStrike" kern="1200" cap="none" spc="0" normalizeH="0" baseline="0" noProof="0" dirty="0">
              <a:ln w="3175">
                <a:noFill/>
              </a:ln>
              <a:gradFill>
                <a:gsLst>
                  <a:gs pos="76437">
                    <a:srgbClr val="FFFFFF"/>
                  </a:gs>
                  <a:gs pos="55747">
                    <a:srgbClr val="FFFFFF"/>
                  </a:gs>
                </a:gsLst>
                <a:path path="circle">
                  <a:fillToRect l="100000" b="100000"/>
                </a:path>
              </a:gradFill>
              <a:effectLst/>
              <a:uLnTx/>
              <a:uFillTx/>
              <a:latin typeface="Segoe UI Semibold"/>
              <a:ea typeface="+mn-ea"/>
              <a:cs typeface="Segoe UI" pitchFamily="34" charset="0"/>
            </a:endParaRPr>
          </a:p>
        </p:txBody>
      </p:sp>
      <p:sp>
        <p:nvSpPr>
          <p:cNvPr id="36" name="Rectangle: Rounded Corners 26">
            <a:extLst>
              <a:ext uri="{FF2B5EF4-FFF2-40B4-BE49-F238E27FC236}">
                <a16:creationId xmlns:a16="http://schemas.microsoft.com/office/drawing/2014/main" id="{EF2C3AB6-C695-5E18-A7FD-61B802B8D9D2}"/>
              </a:ext>
            </a:extLst>
          </p:cNvPr>
          <p:cNvSpPr/>
          <p:nvPr/>
        </p:nvSpPr>
        <p:spPr bwMode="auto">
          <a:xfrm>
            <a:off x="862105" y="4280007"/>
            <a:ext cx="6563696" cy="302281"/>
          </a:xfrm>
          <a:prstGeom prst="roundRect">
            <a:avLst>
              <a:gd name="adj" fmla="val 0"/>
            </a:avLst>
          </a:prstGeom>
          <a:noFill/>
          <a:ln>
            <a:noFill/>
            <a:headEnd type="none" w="med" len="med"/>
            <a:tailEnd type="none" w="med" len="med"/>
          </a:ln>
          <a:effectLst>
            <a:outerShdw blurRad="1905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91440" rIns="91440" bIns="91440"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gradFill flip="none" rotWithShape="1">
                  <a:gsLst>
                    <a:gs pos="37000">
                      <a:srgbClr val="0078D4"/>
                    </a:gs>
                    <a:gs pos="100000">
                      <a:srgbClr val="C03BC4"/>
                    </a:gs>
                  </a:gsLst>
                  <a:path path="circle">
                    <a:fillToRect r="100000" b="100000"/>
                  </a:path>
                  <a:tileRect l="-100000" t="-100000"/>
                </a:gradFill>
                <a:effectLst/>
                <a:uLnTx/>
                <a:uFillTx/>
                <a:latin typeface="Segoe UI Semibold"/>
                <a:ea typeface="+mn-ea"/>
                <a:cs typeface="+mn-cs"/>
              </a:rPr>
              <a:t>How Copilot can reduce finance department spending</a:t>
            </a:r>
          </a:p>
        </p:txBody>
      </p:sp>
      <p:cxnSp>
        <p:nvCxnSpPr>
          <p:cNvPr id="12" name="Straight Connector 11">
            <a:extLst>
              <a:ext uri="{FF2B5EF4-FFF2-40B4-BE49-F238E27FC236}">
                <a16:creationId xmlns:a16="http://schemas.microsoft.com/office/drawing/2014/main" id="{BA8FEF6C-A57E-AD4C-597D-4AC3D38BE310}"/>
              </a:ext>
              <a:ext uri="{C183D7F6-B498-43B3-948B-1728B52AA6E4}">
                <adec:decorative xmlns:adec="http://schemas.microsoft.com/office/drawing/2017/decorative" val="1"/>
              </a:ext>
            </a:extLst>
          </p:cNvPr>
          <p:cNvCxnSpPr>
            <a:cxnSpLocks/>
          </p:cNvCxnSpPr>
          <p:nvPr/>
        </p:nvCxnSpPr>
        <p:spPr>
          <a:xfrm>
            <a:off x="7955666" y="2340178"/>
            <a:ext cx="3211243" cy="0"/>
          </a:xfrm>
          <a:prstGeom prst="line">
            <a:avLst/>
          </a:prstGeom>
          <a:ln>
            <a:solidFill>
              <a:schemeClr val="tx2">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B65F7C4E-5DC3-7B30-6013-1936BCD0307C}"/>
              </a:ext>
              <a:ext uri="{C183D7F6-B498-43B3-948B-1728B52AA6E4}">
                <adec:decorative xmlns:adec="http://schemas.microsoft.com/office/drawing/2017/decorative" val="1"/>
              </a:ext>
            </a:extLst>
          </p:cNvPr>
          <p:cNvCxnSpPr>
            <a:cxnSpLocks/>
          </p:cNvCxnSpPr>
          <p:nvPr/>
        </p:nvCxnSpPr>
        <p:spPr>
          <a:xfrm>
            <a:off x="7955666" y="4609272"/>
            <a:ext cx="3211243" cy="0"/>
          </a:xfrm>
          <a:prstGeom prst="line">
            <a:avLst/>
          </a:prstGeom>
          <a:ln>
            <a:solidFill>
              <a:schemeClr val="tx2">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16DFE7C5-E99D-460F-DD99-91963B262FC9}"/>
              </a:ext>
              <a:ext uri="{C183D7F6-B498-43B3-948B-1728B52AA6E4}">
                <adec:decorative xmlns:adec="http://schemas.microsoft.com/office/drawing/2017/decorative" val="1"/>
              </a:ext>
            </a:extLst>
          </p:cNvPr>
          <p:cNvPicPr>
            <a:picLocks/>
          </p:cNvPicPr>
          <p:nvPr/>
        </p:nvPicPr>
        <p:blipFill rotWithShape="1">
          <a:blip r:embed="rId4" cstate="screen">
            <a:extLst>
              <a:ext uri="{28A0092B-C50C-407E-A947-70E740481C1C}">
                <a14:useLocalDpi xmlns:a14="http://schemas.microsoft.com/office/drawing/2010/main"/>
              </a:ext>
            </a:extLst>
          </a:blip>
          <a:srcRect/>
          <a:stretch/>
        </p:blipFill>
        <p:spPr>
          <a:xfrm>
            <a:off x="715083" y="1579849"/>
            <a:ext cx="6831467" cy="1668730"/>
          </a:xfrm>
          <a:prstGeom prst="roundRect">
            <a:avLst>
              <a:gd name="adj" fmla="val 3554"/>
            </a:avLst>
          </a:prstGeom>
          <a:solidFill>
            <a:schemeClr val="bg1">
              <a:alpha val="70000"/>
            </a:schemeClr>
          </a:solidFill>
          <a:ln>
            <a:solidFill>
              <a:schemeClr val="bg1"/>
            </a:solidFill>
          </a:ln>
          <a:effectLst>
            <a:outerShdw blurRad="223661" dist="140295" dir="2700000" algn="tl" rotWithShape="0">
              <a:schemeClr val="accent1">
                <a:alpha val="15000"/>
              </a:schemeClr>
            </a:outerShdw>
          </a:effectLst>
        </p:spPr>
      </p:pic>
      <p:sp>
        <p:nvSpPr>
          <p:cNvPr id="19" name="Text Placeholder 4">
            <a:extLst>
              <a:ext uri="{FF2B5EF4-FFF2-40B4-BE49-F238E27FC236}">
                <a16:creationId xmlns:a16="http://schemas.microsoft.com/office/drawing/2014/main" id="{0CAC081F-C493-3E45-5408-A627FC8FFDF3}"/>
              </a:ext>
              <a:ext uri="{C183D7F6-B498-43B3-948B-1728B52AA6E4}">
                <adec:decorative xmlns:adec="http://schemas.microsoft.com/office/drawing/2017/decorative" val="1"/>
              </a:ext>
            </a:extLst>
          </p:cNvPr>
          <p:cNvSpPr txBox="1">
            <a:spLocks/>
          </p:cNvSpPr>
          <p:nvPr/>
        </p:nvSpPr>
        <p:spPr>
          <a:xfrm>
            <a:off x="863598" y="4614664"/>
            <a:ext cx="2241721" cy="1526572"/>
          </a:xfrm>
          <a:prstGeom prst="rect">
            <a:avLst/>
          </a:prstGeom>
        </p:spPr>
        <p:txBody>
          <a:bodyPr vert="horz" wrap="square" lIns="0" tIns="0" rIns="0" bIns="0" numCol="1" rtlCol="0">
            <a:spAutoFit/>
          </a:bodyPr>
          <a:lstStyle>
            <a:defPPr>
              <a:defRPr lang="en-US"/>
            </a:defPPr>
            <a:lvl1pPr marR="0" indent="0" defTabSz="582780" fontAlgn="auto">
              <a:lnSpc>
                <a:spcPct val="110000"/>
              </a:lnSpc>
              <a:spcBef>
                <a:spcPct val="0"/>
              </a:spcBef>
              <a:spcAft>
                <a:spcPts val="300"/>
              </a:spcAft>
              <a:buClrTx/>
              <a:buSzTx/>
              <a:buFont typeface="Wingdings" panose="05000000000000000000" pitchFamily="2" charset="2"/>
              <a:buNone/>
              <a:tabLst/>
              <a:defRPr sz="1000" b="0" i="0" spc="0" baseline="0">
                <a:effectLst/>
                <a:cs typeface="Segoe UI Semilight" panose="020B0402040204020203" pitchFamily="34" charset="0"/>
              </a:defRPr>
            </a:lvl1pPr>
            <a:lvl2pPr marR="0" indent="-228600" defTabSz="932742" fontAlgn="auto">
              <a:lnSpc>
                <a:spcPct val="100000"/>
              </a:lnSpc>
              <a:spcBef>
                <a:spcPct val="20000"/>
              </a:spcBef>
              <a:spcAft>
                <a:spcPts val="0"/>
              </a:spcAft>
              <a:buClrTx/>
              <a:buSzPct val="90000"/>
              <a:buFont typeface="Wingdings" panose="05000000000000000000" pitchFamily="2" charset="2"/>
              <a:buChar char=""/>
              <a:tabLst/>
              <a:defRPr sz="1600" spc="0" baseline="0">
                <a:solidFill>
                  <a:srgbClr val="000000"/>
                </a:solidFill>
              </a:defRPr>
            </a:lvl2pPr>
            <a:lvl3pPr marL="657225" marR="0" indent="-200025" defTabSz="932742" fontAlgn="auto">
              <a:lnSpc>
                <a:spcPct val="100000"/>
              </a:lnSpc>
              <a:spcBef>
                <a:spcPct val="20000"/>
              </a:spcBef>
              <a:spcAft>
                <a:spcPts val="0"/>
              </a:spcAft>
              <a:buClrTx/>
              <a:buSzPct val="90000"/>
              <a:buFont typeface="Wingdings" panose="05000000000000000000" pitchFamily="2" charset="2"/>
              <a:buChar char=""/>
              <a:tabLst/>
              <a:defRPr sz="1400" spc="0" baseline="0">
                <a:solidFill>
                  <a:srgbClr val="000000"/>
                </a:solidFill>
              </a:defRPr>
            </a:lvl3pPr>
            <a:lvl4pPr marL="842963" marR="0" indent="-180975" defTabSz="932742" fontAlgn="auto">
              <a:lnSpc>
                <a:spcPct val="100000"/>
              </a:lnSpc>
              <a:spcBef>
                <a:spcPct val="20000"/>
              </a:spcBef>
              <a:spcAft>
                <a:spcPts val="0"/>
              </a:spcAft>
              <a:buClrTx/>
              <a:buSzPct val="90000"/>
              <a:buFont typeface="Wingdings" panose="05000000000000000000" pitchFamily="2" charset="2"/>
              <a:buChar char=""/>
              <a:tabLst/>
              <a:defRPr sz="1200" spc="0" baseline="0">
                <a:solidFill>
                  <a:srgbClr val="000000"/>
                </a:solidFill>
              </a:defRPr>
            </a:lvl4pPr>
            <a:lvl5pPr marL="1023938" marR="0" indent="-168275" defTabSz="932742" fontAlgn="auto">
              <a:lnSpc>
                <a:spcPct val="100000"/>
              </a:lnSpc>
              <a:spcBef>
                <a:spcPct val="20000"/>
              </a:spcBef>
              <a:spcAft>
                <a:spcPts val="0"/>
              </a:spcAft>
              <a:buClrTx/>
              <a:buSzPct val="90000"/>
              <a:buFont typeface="Wingdings" panose="05000000000000000000" pitchFamily="2" charset="2"/>
              <a:buChar char=""/>
              <a:tabLst/>
              <a:defRPr sz="1000" spc="0" baseline="0">
                <a:solidFill>
                  <a:srgbClr val="000000"/>
                </a:solidFill>
              </a:defRPr>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pPr marL="0" marR="0" lvl="0" indent="0" algn="l" defTabSz="932597" rtl="0" eaLnBrk="1" fontAlgn="auto" latinLnBrk="0" hangingPunct="1">
              <a:lnSpc>
                <a:spcPct val="100000"/>
              </a:lnSpc>
              <a:spcBef>
                <a:spcPts val="0"/>
              </a:spcBef>
              <a:spcAft>
                <a:spcPts val="600"/>
              </a:spcAft>
              <a:buClrTx/>
              <a:buSzTx/>
              <a:buFont typeface="Wingdings" panose="05000000000000000000" pitchFamily="2" charset="2"/>
              <a:buNone/>
              <a:tabLst/>
              <a:defRPr/>
            </a:pPr>
            <a:r>
              <a:rPr kumimoji="0" lang="en-US" sz="1200" b="1" i="0" u="none" strike="noStrike" kern="1200" cap="none" spc="0" normalizeH="0" baseline="0" noProof="0" dirty="0">
                <a:ln>
                  <a:noFill/>
                </a:ln>
                <a:solidFill>
                  <a:srgbClr val="C5B4E3">
                    <a:lumMod val="50000"/>
                  </a:srgbClr>
                </a:solidFill>
                <a:effectLst/>
                <a:uLnTx/>
                <a:uFillTx/>
                <a:latin typeface="Segoe UI Semibold"/>
                <a:ea typeface="+mn-ea"/>
                <a:cs typeface="Segoe UI Semilight" panose="020B0402040204020203" pitchFamily="34" charset="0"/>
              </a:rPr>
              <a:t>Keep communication lines open</a:t>
            </a:r>
          </a:p>
          <a:p>
            <a:pPr marL="142875" marR="0" lvl="0" indent="-142875" algn="l" defTabSz="93259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Draft communications such as approval requests, status emails, </a:t>
            </a:r>
            <a:br>
              <a:rPr kumimoji="0" lang="en-US" sz="105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br>
            <a:r>
              <a:rPr kumimoji="0" lang="en-US" sz="105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and supplier communications</a:t>
            </a:r>
          </a:p>
          <a:p>
            <a:pPr marL="142875" marR="0" lvl="0" indent="-142875" algn="l" defTabSz="93259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Summarize stakeholder </a:t>
            </a:r>
            <a:br>
              <a:rPr kumimoji="0" lang="en-US" sz="105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br>
            <a:r>
              <a:rPr kumimoji="0" lang="en-US" sz="105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meetings around budget </a:t>
            </a:r>
            <a:br>
              <a:rPr kumimoji="0" lang="en-US" sz="105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br>
            <a:r>
              <a:rPr kumimoji="0" lang="en-US" sz="105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status and approvals</a:t>
            </a:r>
          </a:p>
          <a:p>
            <a:pPr marL="142875" marR="0" lvl="0" indent="-142875" algn="l" defTabSz="93259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Create sourcing strategy decks </a:t>
            </a:r>
          </a:p>
        </p:txBody>
      </p:sp>
      <p:sp>
        <p:nvSpPr>
          <p:cNvPr id="22" name="Text Placeholder 4">
            <a:extLst>
              <a:ext uri="{FF2B5EF4-FFF2-40B4-BE49-F238E27FC236}">
                <a16:creationId xmlns:a16="http://schemas.microsoft.com/office/drawing/2014/main" id="{4C2ABEEB-E058-77DF-2A2C-974CCCA3E329}"/>
              </a:ext>
              <a:ext uri="{C183D7F6-B498-43B3-948B-1728B52AA6E4}">
                <adec:decorative xmlns:adec="http://schemas.microsoft.com/office/drawing/2017/decorative" val="1"/>
              </a:ext>
            </a:extLst>
          </p:cNvPr>
          <p:cNvSpPr txBox="1">
            <a:spLocks/>
          </p:cNvSpPr>
          <p:nvPr/>
        </p:nvSpPr>
        <p:spPr>
          <a:xfrm>
            <a:off x="3363648" y="4614664"/>
            <a:ext cx="4595793" cy="423193"/>
          </a:xfrm>
          <a:prstGeom prst="rect">
            <a:avLst/>
          </a:prstGeom>
        </p:spPr>
        <p:txBody>
          <a:bodyPr vert="horz" wrap="square" lIns="0" tIns="0" rIns="0" bIns="0" numCol="1" rtlCol="0">
            <a:spAutoFit/>
          </a:bodyPr>
          <a:lstStyle>
            <a:defPPr>
              <a:defRPr lang="en-US"/>
            </a:defPPr>
            <a:lvl1pPr marR="0" indent="0" defTabSz="582780" fontAlgn="auto">
              <a:lnSpc>
                <a:spcPct val="110000"/>
              </a:lnSpc>
              <a:spcBef>
                <a:spcPct val="0"/>
              </a:spcBef>
              <a:spcAft>
                <a:spcPts val="300"/>
              </a:spcAft>
              <a:buClrTx/>
              <a:buSzTx/>
              <a:buFont typeface="Wingdings" panose="05000000000000000000" pitchFamily="2" charset="2"/>
              <a:buNone/>
              <a:tabLst/>
              <a:defRPr sz="1000" b="0" i="0" spc="0" baseline="0">
                <a:effectLst/>
                <a:cs typeface="Segoe UI Semilight" panose="020B0402040204020203" pitchFamily="34" charset="0"/>
              </a:defRPr>
            </a:lvl1pPr>
            <a:lvl2pPr marR="0" indent="-228600" defTabSz="932742" fontAlgn="auto">
              <a:lnSpc>
                <a:spcPct val="100000"/>
              </a:lnSpc>
              <a:spcBef>
                <a:spcPct val="20000"/>
              </a:spcBef>
              <a:spcAft>
                <a:spcPts val="0"/>
              </a:spcAft>
              <a:buClrTx/>
              <a:buSzPct val="90000"/>
              <a:buFont typeface="Wingdings" panose="05000000000000000000" pitchFamily="2" charset="2"/>
              <a:buChar char=""/>
              <a:tabLst/>
              <a:defRPr sz="1600" spc="0" baseline="0">
                <a:solidFill>
                  <a:srgbClr val="000000"/>
                </a:solidFill>
              </a:defRPr>
            </a:lvl2pPr>
            <a:lvl3pPr marL="657225" marR="0" indent="-200025" defTabSz="932742" fontAlgn="auto">
              <a:lnSpc>
                <a:spcPct val="100000"/>
              </a:lnSpc>
              <a:spcBef>
                <a:spcPct val="20000"/>
              </a:spcBef>
              <a:spcAft>
                <a:spcPts val="0"/>
              </a:spcAft>
              <a:buClrTx/>
              <a:buSzPct val="90000"/>
              <a:buFont typeface="Wingdings" panose="05000000000000000000" pitchFamily="2" charset="2"/>
              <a:buChar char=""/>
              <a:tabLst/>
              <a:defRPr sz="1400" spc="0" baseline="0">
                <a:solidFill>
                  <a:srgbClr val="000000"/>
                </a:solidFill>
              </a:defRPr>
            </a:lvl3pPr>
            <a:lvl4pPr marL="842963" marR="0" indent="-180975" defTabSz="932742" fontAlgn="auto">
              <a:lnSpc>
                <a:spcPct val="100000"/>
              </a:lnSpc>
              <a:spcBef>
                <a:spcPct val="20000"/>
              </a:spcBef>
              <a:spcAft>
                <a:spcPts val="0"/>
              </a:spcAft>
              <a:buClrTx/>
              <a:buSzPct val="90000"/>
              <a:buFont typeface="Wingdings" panose="05000000000000000000" pitchFamily="2" charset="2"/>
              <a:buChar char=""/>
              <a:tabLst/>
              <a:defRPr sz="1200" spc="0" baseline="0">
                <a:solidFill>
                  <a:srgbClr val="000000"/>
                </a:solidFill>
              </a:defRPr>
            </a:lvl4pPr>
            <a:lvl5pPr marL="1023938" marR="0" indent="-168275" defTabSz="932742" fontAlgn="auto">
              <a:lnSpc>
                <a:spcPct val="100000"/>
              </a:lnSpc>
              <a:spcBef>
                <a:spcPct val="20000"/>
              </a:spcBef>
              <a:spcAft>
                <a:spcPts val="0"/>
              </a:spcAft>
              <a:buClrTx/>
              <a:buSzPct val="90000"/>
              <a:buFont typeface="Wingdings" panose="05000000000000000000" pitchFamily="2" charset="2"/>
              <a:buChar char=""/>
              <a:tabLst/>
              <a:defRPr sz="1000" spc="0" baseline="0">
                <a:solidFill>
                  <a:srgbClr val="000000"/>
                </a:solidFill>
              </a:defRPr>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pPr marL="0" marR="0" lvl="0" indent="0" algn="l" defTabSz="932597" rtl="0" eaLnBrk="1" fontAlgn="auto" latinLnBrk="0" hangingPunct="1">
              <a:lnSpc>
                <a:spcPct val="100000"/>
              </a:lnSpc>
              <a:spcBef>
                <a:spcPts val="0"/>
              </a:spcBef>
              <a:spcAft>
                <a:spcPts val="600"/>
              </a:spcAft>
              <a:buClrTx/>
              <a:buSzTx/>
              <a:buFont typeface="Wingdings" panose="05000000000000000000" pitchFamily="2" charset="2"/>
              <a:buNone/>
              <a:tabLst/>
              <a:defRPr/>
            </a:pPr>
            <a:r>
              <a:rPr kumimoji="0" lang="en-US" sz="1200" b="1" i="0" u="none" strike="noStrike" kern="1200" cap="none" spc="0" normalizeH="0" baseline="0" noProof="0" dirty="0">
                <a:ln>
                  <a:noFill/>
                </a:ln>
                <a:solidFill>
                  <a:srgbClr val="C5B4E3">
                    <a:lumMod val="50000"/>
                  </a:srgbClr>
                </a:solidFill>
                <a:effectLst/>
                <a:uLnTx/>
                <a:uFillTx/>
                <a:latin typeface="Segoe UI Semibold"/>
                <a:ea typeface="+mn-ea"/>
                <a:cs typeface="Segoe UI Semilight" panose="020B0402040204020203" pitchFamily="34" charset="0"/>
              </a:rPr>
              <a:t>Reduce outsourcing requirements</a:t>
            </a:r>
          </a:p>
          <a:p>
            <a:pPr marL="141288" marR="0" lvl="1" indent="-141288" algn="l" defTabSz="93259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Assist with manual tasks allowing processes to be done internally</a:t>
            </a:r>
          </a:p>
        </p:txBody>
      </p:sp>
      <p:sp>
        <p:nvSpPr>
          <p:cNvPr id="23" name="Text Placeholder 4">
            <a:extLst>
              <a:ext uri="{FF2B5EF4-FFF2-40B4-BE49-F238E27FC236}">
                <a16:creationId xmlns:a16="http://schemas.microsoft.com/office/drawing/2014/main" id="{FB9FCAE3-E205-5FAE-949E-77C641605E8F}"/>
              </a:ext>
              <a:ext uri="{C183D7F6-B498-43B3-948B-1728B52AA6E4}">
                <adec:decorative xmlns:adec="http://schemas.microsoft.com/office/drawing/2017/decorative" val="1"/>
              </a:ext>
            </a:extLst>
          </p:cNvPr>
          <p:cNvSpPr txBox="1">
            <a:spLocks/>
          </p:cNvSpPr>
          <p:nvPr/>
        </p:nvSpPr>
        <p:spPr>
          <a:xfrm>
            <a:off x="3363648" y="5191333"/>
            <a:ext cx="3132817" cy="946413"/>
          </a:xfrm>
          <a:prstGeom prst="rect">
            <a:avLst/>
          </a:prstGeom>
        </p:spPr>
        <p:txBody>
          <a:bodyPr vert="horz" wrap="square" lIns="0" tIns="0" rIns="0" bIns="0" numCol="1" rtlCol="0">
            <a:spAutoFit/>
          </a:bodyPr>
          <a:lstStyle>
            <a:defPPr>
              <a:defRPr lang="en-US"/>
            </a:defPPr>
            <a:lvl1pPr marR="0" indent="0" defTabSz="582780" fontAlgn="auto">
              <a:lnSpc>
                <a:spcPct val="110000"/>
              </a:lnSpc>
              <a:spcBef>
                <a:spcPct val="0"/>
              </a:spcBef>
              <a:spcAft>
                <a:spcPts val="300"/>
              </a:spcAft>
              <a:buClrTx/>
              <a:buSzTx/>
              <a:buFont typeface="Wingdings" panose="05000000000000000000" pitchFamily="2" charset="2"/>
              <a:buNone/>
              <a:tabLst/>
              <a:defRPr sz="1000" b="0" i="0" spc="0" baseline="0">
                <a:effectLst/>
                <a:cs typeface="Segoe UI Semilight" panose="020B0402040204020203" pitchFamily="34" charset="0"/>
              </a:defRPr>
            </a:lvl1pPr>
            <a:lvl2pPr marR="0" indent="-228600" defTabSz="932742" fontAlgn="auto">
              <a:lnSpc>
                <a:spcPct val="100000"/>
              </a:lnSpc>
              <a:spcBef>
                <a:spcPct val="20000"/>
              </a:spcBef>
              <a:spcAft>
                <a:spcPts val="0"/>
              </a:spcAft>
              <a:buClrTx/>
              <a:buSzPct val="90000"/>
              <a:buFont typeface="Wingdings" panose="05000000000000000000" pitchFamily="2" charset="2"/>
              <a:buChar char=""/>
              <a:tabLst/>
              <a:defRPr sz="1600" spc="0" baseline="0">
                <a:solidFill>
                  <a:srgbClr val="000000"/>
                </a:solidFill>
              </a:defRPr>
            </a:lvl2pPr>
            <a:lvl3pPr marL="657225" marR="0" indent="-200025" defTabSz="932742" fontAlgn="auto">
              <a:lnSpc>
                <a:spcPct val="100000"/>
              </a:lnSpc>
              <a:spcBef>
                <a:spcPct val="20000"/>
              </a:spcBef>
              <a:spcAft>
                <a:spcPts val="0"/>
              </a:spcAft>
              <a:buClrTx/>
              <a:buSzPct val="90000"/>
              <a:buFont typeface="Wingdings" panose="05000000000000000000" pitchFamily="2" charset="2"/>
              <a:buChar char=""/>
              <a:tabLst/>
              <a:defRPr sz="1400" spc="0" baseline="0">
                <a:solidFill>
                  <a:srgbClr val="000000"/>
                </a:solidFill>
              </a:defRPr>
            </a:lvl3pPr>
            <a:lvl4pPr marL="842963" marR="0" indent="-180975" defTabSz="932742" fontAlgn="auto">
              <a:lnSpc>
                <a:spcPct val="100000"/>
              </a:lnSpc>
              <a:spcBef>
                <a:spcPct val="20000"/>
              </a:spcBef>
              <a:spcAft>
                <a:spcPts val="0"/>
              </a:spcAft>
              <a:buClrTx/>
              <a:buSzPct val="90000"/>
              <a:buFont typeface="Wingdings" panose="05000000000000000000" pitchFamily="2" charset="2"/>
              <a:buChar char=""/>
              <a:tabLst/>
              <a:defRPr sz="1200" spc="0" baseline="0">
                <a:solidFill>
                  <a:srgbClr val="000000"/>
                </a:solidFill>
              </a:defRPr>
            </a:lvl4pPr>
            <a:lvl5pPr marL="1023938" marR="0" indent="-168275" defTabSz="932742" fontAlgn="auto">
              <a:lnSpc>
                <a:spcPct val="100000"/>
              </a:lnSpc>
              <a:spcBef>
                <a:spcPct val="20000"/>
              </a:spcBef>
              <a:spcAft>
                <a:spcPts val="0"/>
              </a:spcAft>
              <a:buClrTx/>
              <a:buSzPct val="90000"/>
              <a:buFont typeface="Wingdings" panose="05000000000000000000" pitchFamily="2" charset="2"/>
              <a:buChar char=""/>
              <a:tabLst/>
              <a:defRPr sz="1000" spc="0" baseline="0">
                <a:solidFill>
                  <a:srgbClr val="000000"/>
                </a:solidFill>
              </a:defRPr>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pPr marL="0" marR="0" lvl="0" indent="0" algn="l" defTabSz="932597" rtl="0" eaLnBrk="1" fontAlgn="auto" latinLnBrk="0" hangingPunct="1">
              <a:lnSpc>
                <a:spcPct val="100000"/>
              </a:lnSpc>
              <a:spcBef>
                <a:spcPts val="0"/>
              </a:spcBef>
              <a:spcAft>
                <a:spcPts val="600"/>
              </a:spcAft>
              <a:buClrTx/>
              <a:buSzTx/>
              <a:buFont typeface="Wingdings" panose="05000000000000000000" pitchFamily="2" charset="2"/>
              <a:buNone/>
              <a:tabLst/>
              <a:defRPr/>
            </a:pPr>
            <a:r>
              <a:rPr kumimoji="0" lang="en-US" sz="1200" b="1" i="0" u="none" strike="noStrike" kern="1200" cap="none" spc="0" normalizeH="0" baseline="0" noProof="0" dirty="0">
                <a:ln>
                  <a:noFill/>
                </a:ln>
                <a:solidFill>
                  <a:srgbClr val="C5B4E3">
                    <a:lumMod val="50000"/>
                  </a:srgbClr>
                </a:solidFill>
                <a:effectLst/>
                <a:uLnTx/>
                <a:uFillTx/>
                <a:latin typeface="Segoe UI Semibold"/>
                <a:ea typeface="+mn-ea"/>
                <a:cs typeface="Segoe UI Semilight" panose="020B0402040204020203" pitchFamily="34" charset="0"/>
              </a:rPr>
              <a:t>Avoid spend on finance system updates</a:t>
            </a:r>
          </a:p>
          <a:p>
            <a:pPr marL="141288" marR="0" lvl="0" indent="-141288" algn="l" defTabSz="93259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Extend financial systems with Copilot</a:t>
            </a:r>
          </a:p>
          <a:p>
            <a:pPr marL="141288" marR="0" lvl="0" indent="-141288" algn="l" defTabSz="93259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Extrapolate the risk and degree of impact by accessing customer data and distribution records to identify patterns for corrective change</a:t>
            </a:r>
          </a:p>
        </p:txBody>
      </p:sp>
      <p:sp>
        <p:nvSpPr>
          <p:cNvPr id="24" name="Text Placeholder 72">
            <a:extLst>
              <a:ext uri="{FF2B5EF4-FFF2-40B4-BE49-F238E27FC236}">
                <a16:creationId xmlns:a16="http://schemas.microsoft.com/office/drawing/2014/main" id="{1956DFF8-E8D4-92C8-DADB-082968B2465B}"/>
              </a:ext>
            </a:extLst>
          </p:cNvPr>
          <p:cNvSpPr txBox="1">
            <a:spLocks/>
          </p:cNvSpPr>
          <p:nvPr/>
        </p:nvSpPr>
        <p:spPr>
          <a:xfrm>
            <a:off x="7980025" y="2515581"/>
            <a:ext cx="3347617" cy="978986"/>
          </a:xfrm>
          <a:prstGeom prst="rect">
            <a:avLst/>
          </a:prstGeom>
        </p:spPr>
        <p:txBody>
          <a:bodyPr wrap="square" lIns="0" tIns="0" rIns="0" bIns="0" numCol="2">
            <a:spAutoFit/>
          </a:bodyPr>
          <a:lstStyle>
            <a:lvl1pPr marL="0" indent="0" algn="l" defTabSz="914400" rtl="0" eaLnBrk="1" latinLnBrk="0" hangingPunct="1">
              <a:lnSpc>
                <a:spcPct val="90000"/>
              </a:lnSpc>
              <a:spcBef>
                <a:spcPts val="1000"/>
              </a:spcBef>
              <a:buFont typeface="Arial" panose="020B0604020202020204" pitchFamily="34" charset="0"/>
              <a:buNone/>
              <a:defRPr lang="en-US" sz="600" b="0" i="0" kern="1200" dirty="0">
                <a:solidFill>
                  <a:srgbClr val="000000"/>
                </a:solidFill>
                <a:effectLst/>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32597"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Budget Analyst</a:t>
            </a:r>
          </a:p>
          <a:p>
            <a:pPr marL="0" marR="0" lvl="0" indent="0" algn="l" defTabSz="932597"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Financial Planner</a:t>
            </a:r>
          </a:p>
          <a:p>
            <a:pPr marL="0" marR="0" lvl="0" indent="0" algn="l" defTabSz="932597"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Treasury Manager </a:t>
            </a:r>
          </a:p>
          <a:p>
            <a:pPr marL="0" marR="0" lvl="0" indent="0" algn="l" defTabSz="932597"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Risk Manager</a:t>
            </a:r>
          </a:p>
          <a:p>
            <a:pPr marL="0" marR="0" lvl="0" indent="0" algn="l" defTabSz="932597"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Controller</a:t>
            </a:r>
          </a:p>
          <a:p>
            <a:pPr marL="0" marR="0" lvl="0" indent="0" algn="l" defTabSz="932597"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Data Manager</a:t>
            </a:r>
          </a:p>
          <a:p>
            <a:pPr marL="0" marR="0" lvl="0" indent="0" algn="l" defTabSz="932597"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Strategic Planner </a:t>
            </a:r>
          </a:p>
        </p:txBody>
      </p:sp>
    </p:spTree>
    <p:extLst>
      <p:ext uri="{BB962C8B-B14F-4D97-AF65-F5344CB8AC3E}">
        <p14:creationId xmlns:p14="http://schemas.microsoft.com/office/powerpoint/2010/main" val="2890287430"/>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
            <a:extLst>
              <a:ext uri="{FF2B5EF4-FFF2-40B4-BE49-F238E27FC236}">
                <a16:creationId xmlns:a16="http://schemas.microsoft.com/office/drawing/2014/main" id="{1D33E72A-3F5E-538A-8A11-67244058B20D}"/>
              </a:ext>
            </a:extLst>
          </p:cNvPr>
          <p:cNvSpPr>
            <a:spLocks noGrp="1"/>
          </p:cNvSpPr>
          <p:nvPr>
            <p:ph type="title"/>
          </p:nvPr>
        </p:nvSpPr>
        <p:spPr>
          <a:xfrm>
            <a:off x="585216" y="457200"/>
            <a:ext cx="11967002" cy="553998"/>
          </a:xfrm>
        </p:spPr>
        <p:txBody>
          <a:bodyPr/>
          <a:lstStyle/>
          <a:p>
            <a:r>
              <a:rPr lang="en-US" sz="3600" noProof="0" dirty="0">
                <a:latin typeface="Segoe UI Semibold" panose="020B0702040204020203" pitchFamily="34" charset="0"/>
                <a:cs typeface="Segoe UI Semibold" panose="020B0702040204020203" pitchFamily="34" charset="0"/>
              </a:rPr>
              <a:t>KPI – </a:t>
            </a:r>
            <a:r>
              <a:rPr lang="en-US" noProof="0" dirty="0">
                <a:gradFill>
                  <a:gsLst>
                    <a:gs pos="38000">
                      <a:srgbClr val="0078D4"/>
                    </a:gs>
                    <a:gs pos="0">
                      <a:srgbClr val="C03BC4"/>
                    </a:gs>
                  </a:gsLst>
                  <a:path path="circle">
                    <a:fillToRect l="100000" t="100000"/>
                  </a:path>
                </a:gradFill>
                <a:latin typeface="Segoe UI Semibold" panose="020B0702040204020203" pitchFamily="34" charset="0"/>
                <a:cs typeface="Segoe UI Semibold" panose="020B0702040204020203" pitchFamily="34" charset="0"/>
              </a:rPr>
              <a:t>Cost per analysis request</a:t>
            </a:r>
            <a:endParaRPr lang="en-US" sz="3200" noProof="0" dirty="0">
              <a:gradFill>
                <a:gsLst>
                  <a:gs pos="38000">
                    <a:srgbClr val="0078D4"/>
                  </a:gs>
                  <a:gs pos="0">
                    <a:srgbClr val="C03BC4"/>
                  </a:gs>
                </a:gsLst>
                <a:path path="circle">
                  <a:fillToRect l="100000" t="100000"/>
                </a:path>
              </a:gradFill>
              <a:latin typeface="Segoe UI Semibold" panose="020B0702040204020203" pitchFamily="34" charset="0"/>
              <a:cs typeface="Segoe UI Semibold" panose="020B0702040204020203" pitchFamily="34" charset="0"/>
            </a:endParaRPr>
          </a:p>
        </p:txBody>
      </p:sp>
      <p:pic>
        <p:nvPicPr>
          <p:cNvPr id="2" name="Picture 1">
            <a:extLst>
              <a:ext uri="{FF2B5EF4-FFF2-40B4-BE49-F238E27FC236}">
                <a16:creationId xmlns:a16="http://schemas.microsoft.com/office/drawing/2014/main" id="{15005DEA-F7E7-808A-B5A5-C65018AA59D8}"/>
              </a:ext>
              <a:ext uri="{C183D7F6-B498-43B3-948B-1728B52AA6E4}">
                <adec:decorative xmlns:adec="http://schemas.microsoft.com/office/drawing/2017/decorative" val="1"/>
              </a:ext>
            </a:extLst>
          </p:cNvPr>
          <p:cNvPicPr>
            <a:picLocks noChangeAspect="1"/>
          </p:cNvPicPr>
          <p:nvPr/>
        </p:nvPicPr>
        <p:blipFill rotWithShape="1">
          <a:blip r:embed="rId2" cstate="screen">
            <a:alphaModFix amt="50000"/>
            <a:extLst>
              <a:ext uri="{BEBA8EAE-BF5A-486C-A8C5-ECC9F3942E4B}">
                <a14:imgProps xmlns:a14="http://schemas.microsoft.com/office/drawing/2010/main">
                  <a14:imgLayer r:embed="rId3">
                    <a14:imgEffect>
                      <a14:sharpenSoften amount="-100000"/>
                    </a14:imgEffect>
                  </a14:imgLayer>
                </a14:imgProps>
              </a:ext>
              <a:ext uri="{28A0092B-C50C-407E-A947-70E740481C1C}">
                <a14:useLocalDpi xmlns:a14="http://schemas.microsoft.com/office/drawing/2010/main"/>
              </a:ext>
            </a:extLst>
          </a:blip>
          <a:srcRect/>
          <a:stretch/>
        </p:blipFill>
        <p:spPr>
          <a:xfrm>
            <a:off x="589069" y="1448904"/>
            <a:ext cx="11013862" cy="4882759"/>
          </a:xfrm>
          <a:prstGeom prst="roundRect">
            <a:avLst>
              <a:gd name="adj" fmla="val 2585"/>
            </a:avLst>
          </a:prstGeom>
          <a:solidFill>
            <a:schemeClr val="bg1"/>
          </a:solidFill>
          <a:ln>
            <a:solidFill>
              <a:schemeClr val="bg1"/>
            </a:solidFill>
          </a:ln>
          <a:effectLst>
            <a:outerShdw blurRad="223661" dist="140295" dir="2700000" algn="tl" rotWithShape="0">
              <a:schemeClr val="accent1">
                <a:alpha val="15000"/>
              </a:schemeClr>
            </a:outerShdw>
          </a:effectLst>
        </p:spPr>
      </p:pic>
      <p:sp>
        <p:nvSpPr>
          <p:cNvPr id="3" name="Text Placeholder 33">
            <a:extLst>
              <a:ext uri="{FF2B5EF4-FFF2-40B4-BE49-F238E27FC236}">
                <a16:creationId xmlns:a16="http://schemas.microsoft.com/office/drawing/2014/main" id="{2698D38B-0333-C7F3-C1AB-4A2C8ADF1EF3}"/>
              </a:ext>
            </a:extLst>
          </p:cNvPr>
          <p:cNvSpPr txBox="1">
            <a:spLocks/>
          </p:cNvSpPr>
          <p:nvPr/>
        </p:nvSpPr>
        <p:spPr>
          <a:xfrm>
            <a:off x="862107" y="3389989"/>
            <a:ext cx="6469683" cy="482633"/>
          </a:xfrm>
          <a:prstGeom prst="rect">
            <a:avLst/>
          </a:prstGeom>
        </p:spPr>
        <p:txBody>
          <a:bodyPr wrap="square" lIns="0" tIns="45720" rIns="91440" bIns="4572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32597" rtl="0" eaLnBrk="1" fontAlgn="auto" latinLnBrk="0" hangingPunct="1">
              <a:lnSpc>
                <a:spcPct val="110000"/>
              </a:lnSpc>
              <a:spcBef>
                <a:spcPts val="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Segoe UI"/>
              </a:rPr>
              <a:t>Copilot can help with lowering resolution times which in turn leads to increased analyst productivity and higher customer satisfaction rates.</a:t>
            </a:r>
          </a:p>
        </p:txBody>
      </p:sp>
      <p:cxnSp>
        <p:nvCxnSpPr>
          <p:cNvPr id="5" name="Straight Connector 4">
            <a:extLst>
              <a:ext uri="{FF2B5EF4-FFF2-40B4-BE49-F238E27FC236}">
                <a16:creationId xmlns:a16="http://schemas.microsoft.com/office/drawing/2014/main" id="{4EDF9D77-21A1-8460-8AA3-B36CAB3B0E18}"/>
              </a:ext>
              <a:ext uri="{C183D7F6-B498-43B3-948B-1728B52AA6E4}">
                <adec:decorative xmlns:adec="http://schemas.microsoft.com/office/drawing/2017/decorative" val="1"/>
              </a:ext>
            </a:extLst>
          </p:cNvPr>
          <p:cNvCxnSpPr>
            <a:cxnSpLocks/>
          </p:cNvCxnSpPr>
          <p:nvPr/>
        </p:nvCxnSpPr>
        <p:spPr>
          <a:xfrm>
            <a:off x="862106" y="3999694"/>
            <a:ext cx="6757416" cy="0"/>
          </a:xfrm>
          <a:prstGeom prst="line">
            <a:avLst/>
          </a:prstGeom>
          <a:ln>
            <a:solidFill>
              <a:schemeClr val="tx2">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reeform: Shape 32">
            <a:extLst>
              <a:ext uri="{FF2B5EF4-FFF2-40B4-BE49-F238E27FC236}">
                <a16:creationId xmlns:a16="http://schemas.microsoft.com/office/drawing/2014/main" id="{A7A560C6-A90E-9C1B-2190-6A14E8E7EC9F}"/>
              </a:ext>
              <a:ext uri="{C183D7F6-B498-43B3-948B-1728B52AA6E4}">
                <adec:decorative xmlns:adec="http://schemas.microsoft.com/office/drawing/2017/decorative" val="1"/>
              </a:ext>
            </a:extLst>
          </p:cNvPr>
          <p:cNvSpPr>
            <a:spLocks/>
          </p:cNvSpPr>
          <p:nvPr/>
        </p:nvSpPr>
        <p:spPr bwMode="auto">
          <a:xfrm>
            <a:off x="7697337" y="1596603"/>
            <a:ext cx="3727901" cy="2082249"/>
          </a:xfrm>
          <a:prstGeom prst="roundRect">
            <a:avLst>
              <a:gd name="adj" fmla="val 4762"/>
            </a:avLst>
          </a:prstGeom>
          <a:solidFill>
            <a:schemeClr val="bg1">
              <a:alpha val="70000"/>
            </a:schemeClr>
          </a:solidFill>
          <a:ln>
            <a:solidFill>
              <a:schemeClr val="bg1"/>
            </a:solidFill>
          </a:ln>
          <a:effectLst>
            <a:outerShdw blurRad="223661" dist="140295" dir="2700000" algn="tl" rotWithShape="0">
              <a:schemeClr val="accent1">
                <a:alpha val="15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Segoe UI"/>
              <a:ea typeface="+mn-ea"/>
              <a:cs typeface="Segoe UI" pitchFamily="34" charset="0"/>
            </a:endParaRPr>
          </a:p>
        </p:txBody>
      </p:sp>
      <p:sp>
        <p:nvSpPr>
          <p:cNvPr id="7" name="Rectangle: Rounded Corners 26">
            <a:extLst>
              <a:ext uri="{FF2B5EF4-FFF2-40B4-BE49-F238E27FC236}">
                <a16:creationId xmlns:a16="http://schemas.microsoft.com/office/drawing/2014/main" id="{81F2AFCF-3659-00CD-EEF4-644B1B1DA886}"/>
              </a:ext>
            </a:extLst>
          </p:cNvPr>
          <p:cNvSpPr/>
          <p:nvPr/>
        </p:nvSpPr>
        <p:spPr bwMode="auto">
          <a:xfrm>
            <a:off x="8438481" y="1781312"/>
            <a:ext cx="1258802" cy="365760"/>
          </a:xfrm>
          <a:prstGeom prst="roundRect">
            <a:avLst>
              <a:gd name="adj" fmla="val 19935"/>
            </a:avLst>
          </a:prstGeom>
          <a:noFill/>
          <a:ln>
            <a:noFill/>
            <a:headEnd type="none" w="med" len="med"/>
            <a:tailEnd type="none" w="med" len="med"/>
          </a:ln>
          <a:effectLst>
            <a:outerShdw blurRad="1905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gradFill>
                  <a:gsLst>
                    <a:gs pos="50000">
                      <a:srgbClr val="8661C5"/>
                    </a:gs>
                    <a:gs pos="0">
                      <a:srgbClr val="0078D4"/>
                    </a:gs>
                    <a:gs pos="100000">
                      <a:srgbClr val="C73ECC"/>
                    </a:gs>
                  </a:gsLst>
                  <a:lin ang="2700000" scaled="1"/>
                </a:gradFill>
                <a:effectLst/>
                <a:uLnTx/>
                <a:uFillTx/>
                <a:latin typeface="Segoe UI Semibold"/>
                <a:ea typeface="+mn-ea"/>
                <a:cs typeface="+mn-cs"/>
              </a:rPr>
              <a:t>Roles</a:t>
            </a:r>
          </a:p>
        </p:txBody>
      </p:sp>
      <p:sp>
        <p:nvSpPr>
          <p:cNvPr id="8" name="Freeform: Shape 2">
            <a:extLst>
              <a:ext uri="{FF2B5EF4-FFF2-40B4-BE49-F238E27FC236}">
                <a16:creationId xmlns:a16="http://schemas.microsoft.com/office/drawing/2014/main" id="{9AC86160-582D-63FA-8921-FCA8F65F3C14}"/>
              </a:ext>
              <a:ext uri="{C183D7F6-B498-43B3-948B-1728B52AA6E4}">
                <adec:decorative xmlns:adec="http://schemas.microsoft.com/office/drawing/2017/decorative" val="1"/>
              </a:ext>
            </a:extLst>
          </p:cNvPr>
          <p:cNvSpPr/>
          <p:nvPr/>
        </p:nvSpPr>
        <p:spPr>
          <a:xfrm>
            <a:off x="7930135" y="1803503"/>
            <a:ext cx="321377" cy="321377"/>
          </a:xfrm>
          <a:custGeom>
            <a:avLst/>
            <a:gdLst>
              <a:gd name="connsiteX0" fmla="*/ 68580 w 266700"/>
              <a:gd name="connsiteY0" fmla="*/ 137160 h 266700"/>
              <a:gd name="connsiteX1" fmla="*/ 64770 w 266700"/>
              <a:gd name="connsiteY1" fmla="*/ 140970 h 266700"/>
              <a:gd name="connsiteX2" fmla="*/ 64770 w 266700"/>
              <a:gd name="connsiteY2" fmla="*/ 148590 h 266700"/>
              <a:gd name="connsiteX3" fmla="*/ 66736 w 266700"/>
              <a:gd name="connsiteY3" fmla="*/ 154869 h 266700"/>
              <a:gd name="connsiteX4" fmla="*/ 68047 w 266700"/>
              <a:gd name="connsiteY4" fmla="*/ 156698 h 266700"/>
              <a:gd name="connsiteX5" fmla="*/ 77572 w 266700"/>
              <a:gd name="connsiteY5" fmla="*/ 164851 h 266700"/>
              <a:gd name="connsiteX6" fmla="*/ 114300 w 266700"/>
              <a:gd name="connsiteY6" fmla="*/ 171450 h 266700"/>
              <a:gd name="connsiteX7" fmla="*/ 153741 w 266700"/>
              <a:gd name="connsiteY7" fmla="*/ 164943 h 266700"/>
              <a:gd name="connsiteX8" fmla="*/ 161407 w 266700"/>
              <a:gd name="connsiteY8" fmla="*/ 157079 h 266700"/>
              <a:gd name="connsiteX9" fmla="*/ 162276 w 266700"/>
              <a:gd name="connsiteY9" fmla="*/ 155448 h 266700"/>
              <a:gd name="connsiteX10" fmla="*/ 163830 w 266700"/>
              <a:gd name="connsiteY10" fmla="*/ 148590 h 266700"/>
              <a:gd name="connsiteX11" fmla="*/ 163830 w 266700"/>
              <a:gd name="connsiteY11" fmla="*/ 140970 h 266700"/>
              <a:gd name="connsiteX12" fmla="*/ 160020 w 266700"/>
              <a:gd name="connsiteY12" fmla="*/ 137160 h 266700"/>
              <a:gd name="connsiteX13" fmla="*/ 68580 w 266700"/>
              <a:gd name="connsiteY13" fmla="*/ 114300 h 266700"/>
              <a:gd name="connsiteX14" fmla="*/ 160020 w 266700"/>
              <a:gd name="connsiteY14" fmla="*/ 114300 h 266700"/>
              <a:gd name="connsiteX15" fmla="*/ 186690 w 266700"/>
              <a:gd name="connsiteY15" fmla="*/ 140970 h 266700"/>
              <a:gd name="connsiteX16" fmla="*/ 186690 w 266700"/>
              <a:gd name="connsiteY16" fmla="*/ 148590 h 266700"/>
              <a:gd name="connsiteX17" fmla="*/ 168707 w 266700"/>
              <a:gd name="connsiteY17" fmla="*/ 182042 h 266700"/>
              <a:gd name="connsiteX18" fmla="*/ 114300 w 266700"/>
              <a:gd name="connsiteY18" fmla="*/ 194310 h 266700"/>
              <a:gd name="connsiteX19" fmla="*/ 62880 w 266700"/>
              <a:gd name="connsiteY19" fmla="*/ 182118 h 266700"/>
              <a:gd name="connsiteX20" fmla="*/ 41910 w 266700"/>
              <a:gd name="connsiteY20" fmla="*/ 148590 h 266700"/>
              <a:gd name="connsiteX21" fmla="*/ 41910 w 266700"/>
              <a:gd name="connsiteY21" fmla="*/ 140970 h 266700"/>
              <a:gd name="connsiteX22" fmla="*/ 68580 w 266700"/>
              <a:gd name="connsiteY22" fmla="*/ 114300 h 266700"/>
              <a:gd name="connsiteX23" fmla="*/ 114300 w 266700"/>
              <a:gd name="connsiteY23" fmla="*/ 53340 h 266700"/>
              <a:gd name="connsiteX24" fmla="*/ 99060 w 266700"/>
              <a:gd name="connsiteY24" fmla="*/ 68580 h 266700"/>
              <a:gd name="connsiteX25" fmla="*/ 114300 w 266700"/>
              <a:gd name="connsiteY25" fmla="*/ 83820 h 266700"/>
              <a:gd name="connsiteX26" fmla="*/ 129540 w 266700"/>
              <a:gd name="connsiteY26" fmla="*/ 68580 h 266700"/>
              <a:gd name="connsiteX27" fmla="*/ 114300 w 266700"/>
              <a:gd name="connsiteY27" fmla="*/ 53340 h 266700"/>
              <a:gd name="connsiteX28" fmla="*/ 243840 w 266700"/>
              <a:gd name="connsiteY28" fmla="*/ 45872 h 266700"/>
              <a:gd name="connsiteX29" fmla="*/ 266700 w 266700"/>
              <a:gd name="connsiteY29" fmla="*/ 87630 h 266700"/>
              <a:gd name="connsiteX30" fmla="*/ 266700 w 266700"/>
              <a:gd name="connsiteY30" fmla="*/ 186690 h 266700"/>
              <a:gd name="connsiteX31" fmla="*/ 186690 w 266700"/>
              <a:gd name="connsiteY31" fmla="*/ 266700 h 266700"/>
              <a:gd name="connsiteX32" fmla="*/ 87630 w 266700"/>
              <a:gd name="connsiteY32" fmla="*/ 266700 h 266700"/>
              <a:gd name="connsiteX33" fmla="*/ 45872 w 266700"/>
              <a:gd name="connsiteY33" fmla="*/ 243840 h 266700"/>
              <a:gd name="connsiteX34" fmla="*/ 186690 w 266700"/>
              <a:gd name="connsiteY34" fmla="*/ 243840 h 266700"/>
              <a:gd name="connsiteX35" fmla="*/ 243840 w 266700"/>
              <a:gd name="connsiteY35" fmla="*/ 186690 h 266700"/>
              <a:gd name="connsiteX36" fmla="*/ 114300 w 266700"/>
              <a:gd name="connsiteY36" fmla="*/ 30480 h 266700"/>
              <a:gd name="connsiteX37" fmla="*/ 152400 w 266700"/>
              <a:gd name="connsiteY37" fmla="*/ 68580 h 266700"/>
              <a:gd name="connsiteX38" fmla="*/ 114300 w 266700"/>
              <a:gd name="connsiteY38" fmla="*/ 106680 h 266700"/>
              <a:gd name="connsiteX39" fmla="*/ 76200 w 266700"/>
              <a:gd name="connsiteY39" fmla="*/ 68580 h 266700"/>
              <a:gd name="connsiteX40" fmla="*/ 114300 w 266700"/>
              <a:gd name="connsiteY40" fmla="*/ 30480 h 266700"/>
              <a:gd name="connsiteX41" fmla="*/ 49530 w 266700"/>
              <a:gd name="connsiteY41" fmla="*/ 22860 h 266700"/>
              <a:gd name="connsiteX42" fmla="*/ 22860 w 266700"/>
              <a:gd name="connsiteY42" fmla="*/ 49530 h 266700"/>
              <a:gd name="connsiteX43" fmla="*/ 22860 w 266700"/>
              <a:gd name="connsiteY43" fmla="*/ 179070 h 266700"/>
              <a:gd name="connsiteX44" fmla="*/ 49530 w 266700"/>
              <a:gd name="connsiteY44" fmla="*/ 205740 h 266700"/>
              <a:gd name="connsiteX45" fmla="*/ 179070 w 266700"/>
              <a:gd name="connsiteY45" fmla="*/ 205740 h 266700"/>
              <a:gd name="connsiteX46" fmla="*/ 205740 w 266700"/>
              <a:gd name="connsiteY46" fmla="*/ 179070 h 266700"/>
              <a:gd name="connsiteX47" fmla="*/ 205740 w 266700"/>
              <a:gd name="connsiteY47" fmla="*/ 49530 h 266700"/>
              <a:gd name="connsiteX48" fmla="*/ 179070 w 266700"/>
              <a:gd name="connsiteY48" fmla="*/ 22860 h 266700"/>
              <a:gd name="connsiteX49" fmla="*/ 49530 w 266700"/>
              <a:gd name="connsiteY49" fmla="*/ 0 h 266700"/>
              <a:gd name="connsiteX50" fmla="*/ 179070 w 266700"/>
              <a:gd name="connsiteY50" fmla="*/ 0 h 266700"/>
              <a:gd name="connsiteX51" fmla="*/ 228600 w 266700"/>
              <a:gd name="connsiteY51" fmla="*/ 49530 h 266700"/>
              <a:gd name="connsiteX52" fmla="*/ 228600 w 266700"/>
              <a:gd name="connsiteY52" fmla="*/ 179070 h 266700"/>
              <a:gd name="connsiteX53" fmla="*/ 179070 w 266700"/>
              <a:gd name="connsiteY53" fmla="*/ 228600 h 266700"/>
              <a:gd name="connsiteX54" fmla="*/ 49530 w 266700"/>
              <a:gd name="connsiteY54" fmla="*/ 228600 h 266700"/>
              <a:gd name="connsiteX55" fmla="*/ 0 w 266700"/>
              <a:gd name="connsiteY55" fmla="*/ 179070 h 266700"/>
              <a:gd name="connsiteX56" fmla="*/ 0 w 266700"/>
              <a:gd name="connsiteY56" fmla="*/ 49530 h 266700"/>
              <a:gd name="connsiteX57" fmla="*/ 49530 w 266700"/>
              <a:gd name="connsiteY57" fmla="*/ 0 h 266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266700" h="266700">
                <a:moveTo>
                  <a:pt x="68580" y="137160"/>
                </a:moveTo>
                <a:cubicBezTo>
                  <a:pt x="66476" y="137160"/>
                  <a:pt x="64770" y="138865"/>
                  <a:pt x="64770" y="140970"/>
                </a:cubicBezTo>
                <a:lnTo>
                  <a:pt x="64770" y="148590"/>
                </a:lnTo>
                <a:cubicBezTo>
                  <a:pt x="64770" y="152278"/>
                  <a:pt x="65471" y="153192"/>
                  <a:pt x="66736" y="154869"/>
                </a:cubicBezTo>
                <a:cubicBezTo>
                  <a:pt x="67195" y="155462"/>
                  <a:pt x="67633" y="156071"/>
                  <a:pt x="68047" y="156698"/>
                </a:cubicBezTo>
                <a:cubicBezTo>
                  <a:pt x="70460" y="160195"/>
                  <a:pt x="73743" y="163006"/>
                  <a:pt x="77572" y="164851"/>
                </a:cubicBezTo>
                <a:cubicBezTo>
                  <a:pt x="86167" y="169316"/>
                  <a:pt x="98770" y="171450"/>
                  <a:pt x="114300" y="171450"/>
                </a:cubicBezTo>
                <a:cubicBezTo>
                  <a:pt x="133792" y="171450"/>
                  <a:pt x="146228" y="169271"/>
                  <a:pt x="153741" y="164943"/>
                </a:cubicBezTo>
                <a:cubicBezTo>
                  <a:pt x="157031" y="163155"/>
                  <a:pt x="159705" y="160413"/>
                  <a:pt x="161407" y="157079"/>
                </a:cubicBezTo>
                <a:cubicBezTo>
                  <a:pt x="161727" y="156439"/>
                  <a:pt x="162016" y="155905"/>
                  <a:pt x="162276" y="155448"/>
                </a:cubicBezTo>
                <a:cubicBezTo>
                  <a:pt x="163297" y="153604"/>
                  <a:pt x="163830" y="152644"/>
                  <a:pt x="163830" y="148590"/>
                </a:cubicBezTo>
                <a:lnTo>
                  <a:pt x="163830" y="140970"/>
                </a:lnTo>
                <a:cubicBezTo>
                  <a:pt x="163830" y="138865"/>
                  <a:pt x="162125" y="137160"/>
                  <a:pt x="160020" y="137160"/>
                </a:cubicBezTo>
                <a:close/>
                <a:moveTo>
                  <a:pt x="68580" y="114300"/>
                </a:moveTo>
                <a:lnTo>
                  <a:pt x="160020" y="114300"/>
                </a:lnTo>
                <a:cubicBezTo>
                  <a:pt x="174749" y="114300"/>
                  <a:pt x="186690" y="126241"/>
                  <a:pt x="186690" y="140970"/>
                </a:cubicBezTo>
                <a:lnTo>
                  <a:pt x="186690" y="148590"/>
                </a:lnTo>
                <a:cubicBezTo>
                  <a:pt x="186690" y="164607"/>
                  <a:pt x="181082" y="173523"/>
                  <a:pt x="168707" y="182042"/>
                </a:cubicBezTo>
                <a:cubicBezTo>
                  <a:pt x="156591" y="190378"/>
                  <a:pt x="138516" y="194310"/>
                  <a:pt x="114300" y="194310"/>
                </a:cubicBezTo>
                <a:cubicBezTo>
                  <a:pt x="93772" y="194310"/>
                  <a:pt x="75834" y="190317"/>
                  <a:pt x="62880" y="182118"/>
                </a:cubicBezTo>
                <a:cubicBezTo>
                  <a:pt x="49759" y="173812"/>
                  <a:pt x="41910" y="165034"/>
                  <a:pt x="41910" y="148590"/>
                </a:cubicBezTo>
                <a:lnTo>
                  <a:pt x="41910" y="140970"/>
                </a:lnTo>
                <a:cubicBezTo>
                  <a:pt x="41910" y="126241"/>
                  <a:pt x="53851" y="114300"/>
                  <a:pt x="68580" y="114300"/>
                </a:cubicBezTo>
                <a:close/>
                <a:moveTo>
                  <a:pt x="114300" y="53340"/>
                </a:moveTo>
                <a:cubicBezTo>
                  <a:pt x="105883" y="53340"/>
                  <a:pt x="99060" y="60163"/>
                  <a:pt x="99060" y="68580"/>
                </a:cubicBezTo>
                <a:cubicBezTo>
                  <a:pt x="99060" y="76997"/>
                  <a:pt x="105883" y="83820"/>
                  <a:pt x="114300" y="83820"/>
                </a:cubicBezTo>
                <a:cubicBezTo>
                  <a:pt x="122717" y="83820"/>
                  <a:pt x="129540" y="76997"/>
                  <a:pt x="129540" y="68580"/>
                </a:cubicBezTo>
                <a:cubicBezTo>
                  <a:pt x="129540" y="60163"/>
                  <a:pt x="122717" y="53340"/>
                  <a:pt x="114300" y="53340"/>
                </a:cubicBezTo>
                <a:close/>
                <a:moveTo>
                  <a:pt x="243840" y="45872"/>
                </a:moveTo>
                <a:cubicBezTo>
                  <a:pt x="258094" y="54971"/>
                  <a:pt x="266715" y="70719"/>
                  <a:pt x="266700" y="87630"/>
                </a:cubicBezTo>
                <a:lnTo>
                  <a:pt x="266700" y="186690"/>
                </a:lnTo>
                <a:cubicBezTo>
                  <a:pt x="266700" y="230886"/>
                  <a:pt x="230886" y="266700"/>
                  <a:pt x="186690" y="266700"/>
                </a:cubicBezTo>
                <a:lnTo>
                  <a:pt x="87630" y="266700"/>
                </a:lnTo>
                <a:cubicBezTo>
                  <a:pt x="70719" y="266712"/>
                  <a:pt x="54973" y="258092"/>
                  <a:pt x="45872" y="243840"/>
                </a:cubicBezTo>
                <a:lnTo>
                  <a:pt x="186690" y="243840"/>
                </a:lnTo>
                <a:cubicBezTo>
                  <a:pt x="218253" y="243840"/>
                  <a:pt x="243840" y="218253"/>
                  <a:pt x="243840" y="186690"/>
                </a:cubicBezTo>
                <a:close/>
                <a:moveTo>
                  <a:pt x="114300" y="30480"/>
                </a:moveTo>
                <a:cubicBezTo>
                  <a:pt x="135342" y="30480"/>
                  <a:pt x="152400" y="47538"/>
                  <a:pt x="152400" y="68580"/>
                </a:cubicBezTo>
                <a:cubicBezTo>
                  <a:pt x="152400" y="89622"/>
                  <a:pt x="135342" y="106680"/>
                  <a:pt x="114300" y="106680"/>
                </a:cubicBezTo>
                <a:cubicBezTo>
                  <a:pt x="93258" y="106680"/>
                  <a:pt x="76200" y="89622"/>
                  <a:pt x="76200" y="68580"/>
                </a:cubicBezTo>
                <a:cubicBezTo>
                  <a:pt x="76200" y="47538"/>
                  <a:pt x="93258" y="30480"/>
                  <a:pt x="114300" y="30480"/>
                </a:cubicBezTo>
                <a:close/>
                <a:moveTo>
                  <a:pt x="49530" y="22860"/>
                </a:moveTo>
                <a:cubicBezTo>
                  <a:pt x="34801" y="22860"/>
                  <a:pt x="22860" y="34801"/>
                  <a:pt x="22860" y="49530"/>
                </a:cubicBezTo>
                <a:lnTo>
                  <a:pt x="22860" y="179070"/>
                </a:lnTo>
                <a:cubicBezTo>
                  <a:pt x="22860" y="193792"/>
                  <a:pt x="34808" y="205740"/>
                  <a:pt x="49530" y="205740"/>
                </a:cubicBezTo>
                <a:lnTo>
                  <a:pt x="179070" y="205740"/>
                </a:lnTo>
                <a:cubicBezTo>
                  <a:pt x="193799" y="205740"/>
                  <a:pt x="205740" y="193799"/>
                  <a:pt x="205740" y="179070"/>
                </a:cubicBezTo>
                <a:lnTo>
                  <a:pt x="205740" y="49530"/>
                </a:lnTo>
                <a:cubicBezTo>
                  <a:pt x="205740" y="34801"/>
                  <a:pt x="193799" y="22860"/>
                  <a:pt x="179070" y="22860"/>
                </a:cubicBezTo>
                <a:close/>
                <a:moveTo>
                  <a:pt x="49530" y="0"/>
                </a:moveTo>
                <a:lnTo>
                  <a:pt x="179070" y="0"/>
                </a:lnTo>
                <a:cubicBezTo>
                  <a:pt x="206424" y="0"/>
                  <a:pt x="228600" y="22175"/>
                  <a:pt x="228600" y="49530"/>
                </a:cubicBezTo>
                <a:lnTo>
                  <a:pt x="228600" y="179070"/>
                </a:lnTo>
                <a:cubicBezTo>
                  <a:pt x="228600" y="206424"/>
                  <a:pt x="206424" y="228600"/>
                  <a:pt x="179070" y="228600"/>
                </a:cubicBezTo>
                <a:lnTo>
                  <a:pt x="49530" y="228600"/>
                </a:lnTo>
                <a:cubicBezTo>
                  <a:pt x="22175" y="228600"/>
                  <a:pt x="0" y="206424"/>
                  <a:pt x="0" y="179070"/>
                </a:cubicBezTo>
                <a:lnTo>
                  <a:pt x="0" y="49530"/>
                </a:lnTo>
                <a:cubicBezTo>
                  <a:pt x="0" y="22175"/>
                  <a:pt x="22175" y="0"/>
                  <a:pt x="49530" y="0"/>
                </a:cubicBezTo>
                <a:close/>
              </a:path>
            </a:pathLst>
          </a:custGeom>
          <a:gradFill flip="none" rotWithShape="1">
            <a:gsLst>
              <a:gs pos="35000">
                <a:srgbClr val="0078D4"/>
              </a:gs>
              <a:gs pos="0">
                <a:srgbClr val="C03BC4"/>
              </a:gs>
            </a:gsLst>
            <a:path path="circle">
              <a:fillToRect l="100000" t="100000"/>
            </a:path>
            <a:tileRect r="-100000" b="-100000"/>
          </a:gradFill>
          <a:ln>
            <a:noFill/>
            <a:headEnd type="none" w="med" len="med"/>
            <a:tailEnd type="none" w="med" len="med"/>
          </a:ln>
          <a:effectLst>
            <a:outerShdw blurRad="63500" dist="101600" dir="2700000" algn="tl" rotWithShape="0">
              <a:srgbClr val="454142">
                <a:alpha val="25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91440" numCol="1" spcCol="0" rtlCol="0" fromWordArt="0" anchor="b" anchorCtr="0" forceAA="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1" i="0" u="none" strike="noStrike" kern="1200" cap="none" spc="0" normalizeH="0" baseline="0" noProof="0" dirty="0">
              <a:ln w="3175">
                <a:noFill/>
              </a:ln>
              <a:gradFill>
                <a:gsLst>
                  <a:gs pos="76437">
                    <a:srgbClr val="FFFFFF"/>
                  </a:gs>
                  <a:gs pos="55747">
                    <a:srgbClr val="FFFFFF"/>
                  </a:gs>
                </a:gsLst>
                <a:path path="circle">
                  <a:fillToRect l="100000" b="100000"/>
                </a:path>
              </a:gradFill>
              <a:effectLst/>
              <a:uLnTx/>
              <a:uFillTx/>
              <a:latin typeface="Segoe UI Semibold"/>
              <a:ea typeface="+mn-ea"/>
              <a:cs typeface="Segoe UI" pitchFamily="34" charset="0"/>
            </a:endParaRPr>
          </a:p>
        </p:txBody>
      </p:sp>
      <p:sp>
        <p:nvSpPr>
          <p:cNvPr id="10" name="Freeform: Shape 32">
            <a:extLst>
              <a:ext uri="{FF2B5EF4-FFF2-40B4-BE49-F238E27FC236}">
                <a16:creationId xmlns:a16="http://schemas.microsoft.com/office/drawing/2014/main" id="{0F219DB9-1791-6A77-5757-6E658A21DB48}"/>
              </a:ext>
              <a:ext uri="{C183D7F6-B498-43B3-948B-1728B52AA6E4}">
                <adec:decorative xmlns:adec="http://schemas.microsoft.com/office/drawing/2017/decorative" val="1"/>
              </a:ext>
            </a:extLst>
          </p:cNvPr>
          <p:cNvSpPr>
            <a:spLocks/>
          </p:cNvSpPr>
          <p:nvPr/>
        </p:nvSpPr>
        <p:spPr bwMode="auto">
          <a:xfrm>
            <a:off x="7697337" y="3872623"/>
            <a:ext cx="3727901" cy="2287546"/>
          </a:xfrm>
          <a:prstGeom prst="roundRect">
            <a:avLst>
              <a:gd name="adj" fmla="val 4762"/>
            </a:avLst>
          </a:prstGeom>
          <a:solidFill>
            <a:schemeClr val="bg1">
              <a:alpha val="70000"/>
            </a:schemeClr>
          </a:solidFill>
          <a:ln>
            <a:solidFill>
              <a:schemeClr val="bg1"/>
            </a:solidFill>
          </a:ln>
          <a:effectLst>
            <a:outerShdw blurRad="223661" dist="140295" dir="2700000" algn="tl" rotWithShape="0">
              <a:schemeClr val="accent1">
                <a:alpha val="15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Segoe UI"/>
              <a:ea typeface="+mn-ea"/>
              <a:cs typeface="Segoe UI" pitchFamily="34" charset="0"/>
            </a:endParaRPr>
          </a:p>
        </p:txBody>
      </p:sp>
      <p:sp>
        <p:nvSpPr>
          <p:cNvPr id="11" name="Text Placeholder 5">
            <a:extLst>
              <a:ext uri="{FF2B5EF4-FFF2-40B4-BE49-F238E27FC236}">
                <a16:creationId xmlns:a16="http://schemas.microsoft.com/office/drawing/2014/main" id="{17195FA8-7432-0188-F9A2-99E8F97BC650}"/>
              </a:ext>
            </a:extLst>
          </p:cNvPr>
          <p:cNvSpPr txBox="1">
            <a:spLocks/>
          </p:cNvSpPr>
          <p:nvPr/>
        </p:nvSpPr>
        <p:spPr>
          <a:xfrm>
            <a:off x="7980026" y="4826288"/>
            <a:ext cx="3186884" cy="446276"/>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597" rtl="0" eaLnBrk="1" fontAlgn="auto" latinLnBrk="0" hangingPunct="1">
              <a:lnSpc>
                <a:spcPct val="100000"/>
              </a:lnSpc>
              <a:spcBef>
                <a:spcPts val="0"/>
              </a:spcBef>
              <a:spcAft>
                <a:spcPts val="600"/>
              </a:spcAft>
              <a:buClrTx/>
              <a:buSzTx/>
              <a:buFont typeface="Wingdings" panose="05000000000000000000" pitchFamily="2" charset="2"/>
              <a:buNone/>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Microsoft 365 Copilot</a:t>
            </a:r>
          </a:p>
          <a:p>
            <a:pPr marL="0" marR="0" lvl="0" indent="0" algn="l" defTabSz="932597" rtl="0" eaLnBrk="1" fontAlgn="auto" latinLnBrk="0" hangingPunct="1">
              <a:lnSpc>
                <a:spcPct val="100000"/>
              </a:lnSpc>
              <a:spcBef>
                <a:spcPts val="0"/>
              </a:spcBef>
              <a:spcAft>
                <a:spcPts val="600"/>
              </a:spcAft>
              <a:buClrTx/>
              <a:buSzTx/>
              <a:buFont typeface="Wingdings" panose="05000000000000000000" pitchFamily="2" charset="2"/>
              <a:buNone/>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Microsoft 365 Copilot for Finance</a:t>
            </a:r>
          </a:p>
        </p:txBody>
      </p:sp>
      <p:sp>
        <p:nvSpPr>
          <p:cNvPr id="12" name="Rectangle: Rounded Corners 26">
            <a:extLst>
              <a:ext uri="{FF2B5EF4-FFF2-40B4-BE49-F238E27FC236}">
                <a16:creationId xmlns:a16="http://schemas.microsoft.com/office/drawing/2014/main" id="{1EB938BF-0A95-A06C-A35A-3F94F5632E64}"/>
              </a:ext>
            </a:extLst>
          </p:cNvPr>
          <p:cNvSpPr/>
          <p:nvPr/>
        </p:nvSpPr>
        <p:spPr bwMode="auto">
          <a:xfrm>
            <a:off x="8438481" y="4078346"/>
            <a:ext cx="2940928" cy="365760"/>
          </a:xfrm>
          <a:prstGeom prst="roundRect">
            <a:avLst>
              <a:gd name="adj" fmla="val 19935"/>
            </a:avLst>
          </a:prstGeom>
          <a:noFill/>
          <a:ln>
            <a:noFill/>
            <a:headEnd type="none" w="med" len="med"/>
            <a:tailEnd type="none" w="med" len="med"/>
          </a:ln>
          <a:effectLst>
            <a:outerShdw blurRad="1905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gradFill>
                  <a:gsLst>
                    <a:gs pos="50000">
                      <a:srgbClr val="8661C5"/>
                    </a:gs>
                    <a:gs pos="0">
                      <a:srgbClr val="0078D4"/>
                    </a:gs>
                    <a:gs pos="100000">
                      <a:srgbClr val="C73ECC"/>
                    </a:gs>
                  </a:gsLst>
                  <a:lin ang="2700000" scaled="1"/>
                </a:gradFill>
                <a:effectLst/>
                <a:uLnTx/>
                <a:uFillTx/>
                <a:latin typeface="Segoe UI Semibold"/>
                <a:ea typeface="+mn-ea"/>
                <a:cs typeface="+mn-cs"/>
              </a:rPr>
              <a:t>Microsoft AI solutions</a:t>
            </a:r>
          </a:p>
        </p:txBody>
      </p:sp>
      <p:sp>
        <p:nvSpPr>
          <p:cNvPr id="13" name="Graphic 32">
            <a:extLst>
              <a:ext uri="{FF2B5EF4-FFF2-40B4-BE49-F238E27FC236}">
                <a16:creationId xmlns:a16="http://schemas.microsoft.com/office/drawing/2014/main" id="{E1614CD1-81D5-82C5-C396-4889236ED8A1}"/>
              </a:ext>
              <a:ext uri="{C183D7F6-B498-43B3-948B-1728B52AA6E4}">
                <adec:decorative xmlns:adec="http://schemas.microsoft.com/office/drawing/2017/decorative" val="1"/>
              </a:ext>
            </a:extLst>
          </p:cNvPr>
          <p:cNvSpPr/>
          <p:nvPr/>
        </p:nvSpPr>
        <p:spPr>
          <a:xfrm>
            <a:off x="7920860" y="4091303"/>
            <a:ext cx="339928" cy="339845"/>
          </a:xfrm>
          <a:custGeom>
            <a:avLst/>
            <a:gdLst>
              <a:gd name="connsiteX0" fmla="*/ 128988 w 409676"/>
              <a:gd name="connsiteY0" fmla="*/ 289825 h 409576"/>
              <a:gd name="connsiteX1" fmla="*/ 148010 w 409676"/>
              <a:gd name="connsiteY1" fmla="*/ 295832 h 409576"/>
              <a:gd name="connsiteX2" fmla="*/ 148010 w 409676"/>
              <a:gd name="connsiteY2" fmla="*/ 295741 h 409576"/>
              <a:gd name="connsiteX3" fmla="*/ 178205 w 409676"/>
              <a:gd name="connsiteY3" fmla="*/ 275900 h 409576"/>
              <a:gd name="connsiteX4" fmla="*/ 192153 w 409676"/>
              <a:gd name="connsiteY4" fmla="*/ 233486 h 409576"/>
              <a:gd name="connsiteX5" fmla="*/ 233497 w 409676"/>
              <a:gd name="connsiteY5" fmla="*/ 192255 h 409576"/>
              <a:gd name="connsiteX6" fmla="*/ 273954 w 409676"/>
              <a:gd name="connsiteY6" fmla="*/ 179104 h 409576"/>
              <a:gd name="connsiteX7" fmla="*/ 294049 w 409676"/>
              <a:gd name="connsiteY7" fmla="*/ 137242 h 409576"/>
              <a:gd name="connsiteX8" fmla="*/ 272771 w 409676"/>
              <a:gd name="connsiteY8" fmla="*/ 116757 h 409576"/>
              <a:gd name="connsiteX9" fmla="*/ 232838 w 409676"/>
              <a:gd name="connsiteY9" fmla="*/ 103787 h 409576"/>
              <a:gd name="connsiteX10" fmla="*/ 191380 w 409676"/>
              <a:gd name="connsiteY10" fmla="*/ 62306 h 409576"/>
              <a:gd name="connsiteX11" fmla="*/ 178228 w 409676"/>
              <a:gd name="connsiteY11" fmla="*/ 21872 h 409576"/>
              <a:gd name="connsiteX12" fmla="*/ 136193 w 409676"/>
              <a:gd name="connsiteY12" fmla="*/ 1916 h 409576"/>
              <a:gd name="connsiteX13" fmla="*/ 116063 w 409676"/>
              <a:gd name="connsiteY13" fmla="*/ 22373 h 409576"/>
              <a:gd name="connsiteX14" fmla="*/ 102798 w 409676"/>
              <a:gd name="connsiteY14" fmla="*/ 63148 h 409576"/>
              <a:gd name="connsiteX15" fmla="*/ 62523 w 409676"/>
              <a:gd name="connsiteY15" fmla="*/ 103787 h 409576"/>
              <a:gd name="connsiteX16" fmla="*/ 22089 w 409676"/>
              <a:gd name="connsiteY16" fmla="*/ 116780 h 409576"/>
              <a:gd name="connsiteX17" fmla="*/ 1827 w 409676"/>
              <a:gd name="connsiteY17" fmla="*/ 158597 h 409576"/>
              <a:gd name="connsiteX18" fmla="*/ 22475 w 409676"/>
              <a:gd name="connsiteY18" fmla="*/ 178990 h 409576"/>
              <a:gd name="connsiteX19" fmla="*/ 62386 w 409676"/>
              <a:gd name="connsiteY19" fmla="*/ 191937 h 409576"/>
              <a:gd name="connsiteX20" fmla="*/ 103844 w 409676"/>
              <a:gd name="connsiteY20" fmla="*/ 233486 h 409576"/>
              <a:gd name="connsiteX21" fmla="*/ 116996 w 409676"/>
              <a:gd name="connsiteY21" fmla="*/ 273875 h 409576"/>
              <a:gd name="connsiteX22" fmla="*/ 128988 w 409676"/>
              <a:gd name="connsiteY22" fmla="*/ 289803 h 409576"/>
              <a:gd name="connsiteX23" fmla="*/ 120478 w 409676"/>
              <a:gd name="connsiteY23" fmla="*/ 193120 h 409576"/>
              <a:gd name="connsiteX24" fmla="*/ 112218 w 409676"/>
              <a:gd name="connsiteY24" fmla="*/ 183723 h 409576"/>
              <a:gd name="connsiteX25" fmla="*/ 112286 w 409676"/>
              <a:gd name="connsiteY25" fmla="*/ 183723 h 409576"/>
              <a:gd name="connsiteX26" fmla="*/ 73149 w 409676"/>
              <a:gd name="connsiteY26" fmla="*/ 159535 h 409576"/>
              <a:gd name="connsiteX27" fmla="*/ 36742 w 409676"/>
              <a:gd name="connsiteY27" fmla="*/ 147976 h 409576"/>
              <a:gd name="connsiteX28" fmla="*/ 73399 w 409676"/>
              <a:gd name="connsiteY28" fmla="*/ 136053 h 409576"/>
              <a:gd name="connsiteX29" fmla="*/ 111854 w 409676"/>
              <a:gd name="connsiteY29" fmla="*/ 111819 h 409576"/>
              <a:gd name="connsiteX30" fmla="*/ 135541 w 409676"/>
              <a:gd name="connsiteY30" fmla="*/ 72955 h 409576"/>
              <a:gd name="connsiteX31" fmla="*/ 147259 w 409676"/>
              <a:gd name="connsiteY31" fmla="*/ 36958 h 409576"/>
              <a:gd name="connsiteX32" fmla="*/ 159000 w 409676"/>
              <a:gd name="connsiteY32" fmla="*/ 73069 h 409576"/>
              <a:gd name="connsiteX33" fmla="*/ 222280 w 409676"/>
              <a:gd name="connsiteY33" fmla="*/ 136166 h 409576"/>
              <a:gd name="connsiteX34" fmla="*/ 259141 w 409676"/>
              <a:gd name="connsiteY34" fmla="*/ 148044 h 409576"/>
              <a:gd name="connsiteX35" fmla="*/ 222962 w 409676"/>
              <a:gd name="connsiteY35" fmla="*/ 159762 h 409576"/>
              <a:gd name="connsiteX36" fmla="*/ 159842 w 409676"/>
              <a:gd name="connsiteY36" fmla="*/ 222905 h 409576"/>
              <a:gd name="connsiteX37" fmla="*/ 148124 w 409676"/>
              <a:gd name="connsiteY37" fmla="*/ 258902 h 409576"/>
              <a:gd name="connsiteX38" fmla="*/ 136405 w 409676"/>
              <a:gd name="connsiteY38" fmla="*/ 222837 h 409576"/>
              <a:gd name="connsiteX39" fmla="*/ 120478 w 409676"/>
              <a:gd name="connsiteY39" fmla="*/ 193120 h 409576"/>
              <a:gd name="connsiteX40" fmla="*/ 303444 w 409676"/>
              <a:gd name="connsiteY40" fmla="*/ 404666 h 409576"/>
              <a:gd name="connsiteX41" fmla="*/ 294115 w 409676"/>
              <a:gd name="connsiteY41" fmla="*/ 392174 h 409576"/>
              <a:gd name="connsiteX42" fmla="*/ 286651 w 409676"/>
              <a:gd name="connsiteY42" fmla="*/ 369260 h 409576"/>
              <a:gd name="connsiteX43" fmla="*/ 267970 w 409676"/>
              <a:gd name="connsiteY43" fmla="*/ 350533 h 409576"/>
              <a:gd name="connsiteX44" fmla="*/ 245421 w 409676"/>
              <a:gd name="connsiteY44" fmla="*/ 343184 h 409576"/>
              <a:gd name="connsiteX45" fmla="*/ 227650 w 409676"/>
              <a:gd name="connsiteY45" fmla="*/ 318541 h 409576"/>
              <a:gd name="connsiteX46" fmla="*/ 245193 w 409676"/>
              <a:gd name="connsiteY46" fmla="*/ 293967 h 409576"/>
              <a:gd name="connsiteX47" fmla="*/ 268084 w 409676"/>
              <a:gd name="connsiteY47" fmla="*/ 286549 h 409576"/>
              <a:gd name="connsiteX48" fmla="*/ 286287 w 409676"/>
              <a:gd name="connsiteY48" fmla="*/ 267913 h 409576"/>
              <a:gd name="connsiteX49" fmla="*/ 293659 w 409676"/>
              <a:gd name="connsiteY49" fmla="*/ 245341 h 409576"/>
              <a:gd name="connsiteX50" fmla="*/ 326655 w 409676"/>
              <a:gd name="connsiteY50" fmla="*/ 229088 h 409576"/>
              <a:gd name="connsiteX51" fmla="*/ 342740 w 409676"/>
              <a:gd name="connsiteY51" fmla="*/ 244863 h 409576"/>
              <a:gd name="connsiteX52" fmla="*/ 350226 w 409676"/>
              <a:gd name="connsiteY52" fmla="*/ 267936 h 409576"/>
              <a:gd name="connsiteX53" fmla="*/ 368885 w 409676"/>
              <a:gd name="connsiteY53" fmla="*/ 286503 h 409576"/>
              <a:gd name="connsiteX54" fmla="*/ 391457 w 409676"/>
              <a:gd name="connsiteY54" fmla="*/ 293853 h 409576"/>
              <a:gd name="connsiteX55" fmla="*/ 408486 w 409676"/>
              <a:gd name="connsiteY55" fmla="*/ 326382 h 409576"/>
              <a:gd name="connsiteX56" fmla="*/ 392344 w 409676"/>
              <a:gd name="connsiteY56" fmla="*/ 343116 h 409576"/>
              <a:gd name="connsiteX57" fmla="*/ 369272 w 409676"/>
              <a:gd name="connsiteY57" fmla="*/ 350602 h 409576"/>
              <a:gd name="connsiteX58" fmla="*/ 350659 w 409676"/>
              <a:gd name="connsiteY58" fmla="*/ 369306 h 409576"/>
              <a:gd name="connsiteX59" fmla="*/ 343332 w 409676"/>
              <a:gd name="connsiteY59" fmla="*/ 391809 h 409576"/>
              <a:gd name="connsiteX60" fmla="*/ 333661 w 409676"/>
              <a:gd name="connsiteY60" fmla="*/ 404779 h 409576"/>
              <a:gd name="connsiteX61" fmla="*/ 303444 w 409676"/>
              <a:gd name="connsiteY61" fmla="*/ 404666 h 409576"/>
              <a:gd name="connsiteX62" fmla="*/ 280007 w 409676"/>
              <a:gd name="connsiteY62" fmla="*/ 318587 h 409576"/>
              <a:gd name="connsiteX63" fmla="*/ 318666 w 409676"/>
              <a:gd name="connsiteY63" fmla="*/ 357473 h 409576"/>
              <a:gd name="connsiteX64" fmla="*/ 357348 w 409676"/>
              <a:gd name="connsiteY64" fmla="*/ 318791 h 409576"/>
              <a:gd name="connsiteX65" fmla="*/ 318257 w 409676"/>
              <a:gd name="connsiteY65" fmla="*/ 279927 h 409576"/>
              <a:gd name="connsiteX66" fmla="*/ 279984 w 409676"/>
              <a:gd name="connsiteY66" fmla="*/ 318609 h 409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409676" h="409576">
                <a:moveTo>
                  <a:pt x="128988" y="289825"/>
                </a:moveTo>
                <a:cubicBezTo>
                  <a:pt x="134562" y="293762"/>
                  <a:pt x="141207" y="295855"/>
                  <a:pt x="148010" y="295832"/>
                </a:cubicBezTo>
                <a:lnTo>
                  <a:pt x="148010" y="295741"/>
                </a:lnTo>
                <a:cubicBezTo>
                  <a:pt x="161137" y="295764"/>
                  <a:pt x="173015" y="287959"/>
                  <a:pt x="178205" y="275900"/>
                </a:cubicBezTo>
                <a:lnTo>
                  <a:pt x="192153" y="233486"/>
                </a:lnTo>
                <a:cubicBezTo>
                  <a:pt x="198688" y="214008"/>
                  <a:pt x="214002" y="198736"/>
                  <a:pt x="233497" y="192255"/>
                </a:cubicBezTo>
                <a:lnTo>
                  <a:pt x="273954" y="179104"/>
                </a:lnTo>
                <a:cubicBezTo>
                  <a:pt x="291063" y="173092"/>
                  <a:pt x="300060" y="154350"/>
                  <a:pt x="294049" y="137242"/>
                </a:cubicBezTo>
                <a:cubicBezTo>
                  <a:pt x="290601" y="127429"/>
                  <a:pt x="282708" y="119830"/>
                  <a:pt x="272771" y="116757"/>
                </a:cubicBezTo>
                <a:lnTo>
                  <a:pt x="232838" y="103787"/>
                </a:lnTo>
                <a:cubicBezTo>
                  <a:pt x="213249" y="97273"/>
                  <a:pt x="197883" y="81898"/>
                  <a:pt x="191380" y="62306"/>
                </a:cubicBezTo>
                <a:lnTo>
                  <a:pt x="178228" y="21872"/>
                </a:lnTo>
                <a:cubicBezTo>
                  <a:pt x="172132" y="4754"/>
                  <a:pt x="153311" y="-4181"/>
                  <a:pt x="136193" y="1916"/>
                </a:cubicBezTo>
                <a:cubicBezTo>
                  <a:pt x="126706" y="5295"/>
                  <a:pt x="119289" y="12833"/>
                  <a:pt x="116063" y="22373"/>
                </a:cubicBezTo>
                <a:lnTo>
                  <a:pt x="102798" y="63148"/>
                </a:lnTo>
                <a:cubicBezTo>
                  <a:pt x="96316" y="82155"/>
                  <a:pt x="81470" y="97135"/>
                  <a:pt x="62523" y="103787"/>
                </a:cubicBezTo>
                <a:lnTo>
                  <a:pt x="22089" y="116780"/>
                </a:lnTo>
                <a:cubicBezTo>
                  <a:pt x="4946" y="122732"/>
                  <a:pt x="-4125" y="141454"/>
                  <a:pt x="1827" y="158597"/>
                </a:cubicBezTo>
                <a:cubicBezTo>
                  <a:pt x="5172" y="168229"/>
                  <a:pt x="12801" y="175765"/>
                  <a:pt x="22475" y="178990"/>
                </a:cubicBezTo>
                <a:lnTo>
                  <a:pt x="62386" y="191937"/>
                </a:lnTo>
                <a:cubicBezTo>
                  <a:pt x="81969" y="198499"/>
                  <a:pt x="97324" y="213890"/>
                  <a:pt x="103844" y="233486"/>
                </a:cubicBezTo>
                <a:lnTo>
                  <a:pt x="116996" y="273875"/>
                </a:lnTo>
                <a:cubicBezTo>
                  <a:pt x="119249" y="280314"/>
                  <a:pt x="123436" y="285889"/>
                  <a:pt x="128988" y="289803"/>
                </a:cubicBezTo>
                <a:close/>
                <a:moveTo>
                  <a:pt x="120478" y="193120"/>
                </a:moveTo>
                <a:cubicBezTo>
                  <a:pt x="117940" y="189805"/>
                  <a:pt x="115181" y="186665"/>
                  <a:pt x="112218" y="183723"/>
                </a:cubicBezTo>
                <a:lnTo>
                  <a:pt x="112286" y="183723"/>
                </a:lnTo>
                <a:cubicBezTo>
                  <a:pt x="101298" y="172728"/>
                  <a:pt x="87897" y="164445"/>
                  <a:pt x="73149" y="159535"/>
                </a:cubicBezTo>
                <a:lnTo>
                  <a:pt x="36742" y="147976"/>
                </a:lnTo>
                <a:lnTo>
                  <a:pt x="73399" y="136053"/>
                </a:lnTo>
                <a:cubicBezTo>
                  <a:pt x="87906" y="131030"/>
                  <a:pt x="101063" y="122738"/>
                  <a:pt x="111854" y="111819"/>
                </a:cubicBezTo>
                <a:cubicBezTo>
                  <a:pt x="122598" y="100831"/>
                  <a:pt x="130698" y="87540"/>
                  <a:pt x="135541" y="72955"/>
                </a:cubicBezTo>
                <a:lnTo>
                  <a:pt x="147259" y="36958"/>
                </a:lnTo>
                <a:lnTo>
                  <a:pt x="159000" y="73069"/>
                </a:lnTo>
                <a:cubicBezTo>
                  <a:pt x="168935" y="102921"/>
                  <a:pt x="192399" y="126318"/>
                  <a:pt x="222280" y="136166"/>
                </a:cubicBezTo>
                <a:lnTo>
                  <a:pt x="259141" y="148044"/>
                </a:lnTo>
                <a:lnTo>
                  <a:pt x="222962" y="159762"/>
                </a:lnTo>
                <a:cubicBezTo>
                  <a:pt x="193143" y="169679"/>
                  <a:pt x="169747" y="193081"/>
                  <a:pt x="159842" y="222905"/>
                </a:cubicBezTo>
                <a:lnTo>
                  <a:pt x="148124" y="258902"/>
                </a:lnTo>
                <a:lnTo>
                  <a:pt x="136405" y="222837"/>
                </a:lnTo>
                <a:cubicBezTo>
                  <a:pt x="132827" y="212097"/>
                  <a:pt x="127441" y="202047"/>
                  <a:pt x="120478" y="193120"/>
                </a:cubicBezTo>
                <a:close/>
                <a:moveTo>
                  <a:pt x="303444" y="404666"/>
                </a:moveTo>
                <a:cubicBezTo>
                  <a:pt x="299109" y="401576"/>
                  <a:pt x="295846" y="397207"/>
                  <a:pt x="294115" y="392174"/>
                </a:cubicBezTo>
                <a:lnTo>
                  <a:pt x="286651" y="369260"/>
                </a:lnTo>
                <a:cubicBezTo>
                  <a:pt x="283739" y="360413"/>
                  <a:pt x="276810" y="353466"/>
                  <a:pt x="267970" y="350533"/>
                </a:cubicBezTo>
                <a:lnTo>
                  <a:pt x="245421" y="343184"/>
                </a:lnTo>
                <a:cubicBezTo>
                  <a:pt x="234838" y="339614"/>
                  <a:pt x="227695" y="329709"/>
                  <a:pt x="227650" y="318541"/>
                </a:cubicBezTo>
                <a:cubicBezTo>
                  <a:pt x="227656" y="307446"/>
                  <a:pt x="234701" y="297578"/>
                  <a:pt x="245193" y="293967"/>
                </a:cubicBezTo>
                <a:lnTo>
                  <a:pt x="268084" y="286549"/>
                </a:lnTo>
                <a:cubicBezTo>
                  <a:pt x="276708" y="283486"/>
                  <a:pt x="283429" y="276605"/>
                  <a:pt x="286287" y="267913"/>
                </a:cubicBezTo>
                <a:lnTo>
                  <a:pt x="293659" y="245341"/>
                </a:lnTo>
                <a:cubicBezTo>
                  <a:pt x="298283" y="231741"/>
                  <a:pt x="313055" y="224464"/>
                  <a:pt x="326655" y="229088"/>
                </a:cubicBezTo>
                <a:cubicBezTo>
                  <a:pt x="334135" y="231629"/>
                  <a:pt x="340053" y="237434"/>
                  <a:pt x="342740" y="244863"/>
                </a:cubicBezTo>
                <a:lnTo>
                  <a:pt x="350226" y="267936"/>
                </a:lnTo>
                <a:cubicBezTo>
                  <a:pt x="353198" y="276703"/>
                  <a:pt x="360102" y="283575"/>
                  <a:pt x="368885" y="286503"/>
                </a:cubicBezTo>
                <a:lnTo>
                  <a:pt x="391457" y="293853"/>
                </a:lnTo>
                <a:cubicBezTo>
                  <a:pt x="405141" y="298133"/>
                  <a:pt x="412766" y="312696"/>
                  <a:pt x="408486" y="326382"/>
                </a:cubicBezTo>
                <a:cubicBezTo>
                  <a:pt x="406045" y="334191"/>
                  <a:pt x="400063" y="340394"/>
                  <a:pt x="392344" y="343116"/>
                </a:cubicBezTo>
                <a:lnTo>
                  <a:pt x="369272" y="350602"/>
                </a:lnTo>
                <a:cubicBezTo>
                  <a:pt x="360477" y="353571"/>
                  <a:pt x="353585" y="360495"/>
                  <a:pt x="350659" y="369306"/>
                </a:cubicBezTo>
                <a:lnTo>
                  <a:pt x="343332" y="391809"/>
                </a:lnTo>
                <a:cubicBezTo>
                  <a:pt x="341557" y="397043"/>
                  <a:pt x="338189" y="401594"/>
                  <a:pt x="333661" y="404779"/>
                </a:cubicBezTo>
                <a:cubicBezTo>
                  <a:pt x="324605" y="411219"/>
                  <a:pt x="312452" y="411171"/>
                  <a:pt x="303444" y="404666"/>
                </a:cubicBezTo>
                <a:close/>
                <a:moveTo>
                  <a:pt x="280007" y="318587"/>
                </a:moveTo>
                <a:cubicBezTo>
                  <a:pt x="298117" y="325026"/>
                  <a:pt x="312334" y="339325"/>
                  <a:pt x="318666" y="357473"/>
                </a:cubicBezTo>
                <a:cubicBezTo>
                  <a:pt x="325069" y="339407"/>
                  <a:pt x="339282" y="325194"/>
                  <a:pt x="357348" y="318791"/>
                </a:cubicBezTo>
                <a:cubicBezTo>
                  <a:pt x="339122" y="312400"/>
                  <a:pt x="324755" y="298117"/>
                  <a:pt x="318257" y="279927"/>
                </a:cubicBezTo>
                <a:cubicBezTo>
                  <a:pt x="311908" y="297885"/>
                  <a:pt x="297874" y="312070"/>
                  <a:pt x="279984" y="318609"/>
                </a:cubicBezTo>
                <a:close/>
              </a:path>
            </a:pathLst>
          </a:custGeom>
          <a:gradFill flip="none" rotWithShape="1">
            <a:gsLst>
              <a:gs pos="35000">
                <a:srgbClr val="0078D4"/>
              </a:gs>
              <a:gs pos="0">
                <a:srgbClr val="C03BC4"/>
              </a:gs>
            </a:gsLst>
            <a:path path="circle">
              <a:fillToRect l="100000" t="100000"/>
            </a:path>
            <a:tileRect r="-100000" b="-100000"/>
          </a:gradFill>
          <a:ln>
            <a:noFill/>
            <a:headEnd type="none" w="med" len="med"/>
            <a:tailEnd type="none" w="med" len="med"/>
          </a:ln>
          <a:effectLst>
            <a:outerShdw blurRad="63500" dist="101600" dir="2700000" algn="tl" rotWithShape="0">
              <a:srgbClr val="454142">
                <a:alpha val="25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91440" numCol="1" spcCol="0" rtlCol="0" fromWordArt="0" anchor="b" anchorCtr="0" forceAA="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1" i="0" u="none" strike="noStrike" kern="1200" cap="none" spc="0" normalizeH="0" baseline="0" noProof="0" dirty="0">
              <a:ln w="3175">
                <a:noFill/>
              </a:ln>
              <a:gradFill>
                <a:gsLst>
                  <a:gs pos="76437">
                    <a:srgbClr val="FFFFFF"/>
                  </a:gs>
                  <a:gs pos="55747">
                    <a:srgbClr val="FFFFFF"/>
                  </a:gs>
                </a:gsLst>
                <a:path path="circle">
                  <a:fillToRect l="100000" b="100000"/>
                </a:path>
              </a:gradFill>
              <a:effectLst/>
              <a:uLnTx/>
              <a:uFillTx/>
              <a:latin typeface="Segoe UI Semibold"/>
              <a:ea typeface="+mn-ea"/>
              <a:cs typeface="Segoe UI" pitchFamily="34" charset="0"/>
            </a:endParaRPr>
          </a:p>
        </p:txBody>
      </p:sp>
      <p:sp>
        <p:nvSpPr>
          <p:cNvPr id="14" name="Rectangle: Rounded Corners 26">
            <a:extLst>
              <a:ext uri="{FF2B5EF4-FFF2-40B4-BE49-F238E27FC236}">
                <a16:creationId xmlns:a16="http://schemas.microsoft.com/office/drawing/2014/main" id="{779D08D7-0FE2-CCEF-3B99-4EAE98FEBF98}"/>
              </a:ext>
            </a:extLst>
          </p:cNvPr>
          <p:cNvSpPr/>
          <p:nvPr/>
        </p:nvSpPr>
        <p:spPr bwMode="auto">
          <a:xfrm>
            <a:off x="862105" y="4078346"/>
            <a:ext cx="6563696" cy="302281"/>
          </a:xfrm>
          <a:prstGeom prst="roundRect">
            <a:avLst>
              <a:gd name="adj" fmla="val 0"/>
            </a:avLst>
          </a:prstGeom>
          <a:noFill/>
          <a:ln>
            <a:noFill/>
            <a:headEnd type="none" w="med" len="med"/>
            <a:tailEnd type="none" w="med" len="med"/>
          </a:ln>
          <a:effectLst>
            <a:outerShdw blurRad="1905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91440" rIns="91440" bIns="91440"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gradFill flip="none" rotWithShape="1">
                  <a:gsLst>
                    <a:gs pos="37000">
                      <a:srgbClr val="0078D4"/>
                    </a:gs>
                    <a:gs pos="100000">
                      <a:srgbClr val="C03BC4"/>
                    </a:gs>
                  </a:gsLst>
                  <a:path path="circle">
                    <a:fillToRect r="100000" b="100000"/>
                  </a:path>
                  <a:tileRect l="-100000" t="-100000"/>
                </a:gradFill>
                <a:effectLst/>
                <a:uLnTx/>
                <a:uFillTx/>
                <a:latin typeface="Segoe UI Semibold"/>
                <a:ea typeface="+mn-ea"/>
                <a:cs typeface="+mn-cs"/>
              </a:rPr>
              <a:t>How AI can help average request times</a:t>
            </a:r>
          </a:p>
        </p:txBody>
      </p:sp>
      <p:cxnSp>
        <p:nvCxnSpPr>
          <p:cNvPr id="15" name="Straight Connector 14">
            <a:extLst>
              <a:ext uri="{FF2B5EF4-FFF2-40B4-BE49-F238E27FC236}">
                <a16:creationId xmlns:a16="http://schemas.microsoft.com/office/drawing/2014/main" id="{56E96423-FF01-2C5E-9D66-3917FB72B2E4}"/>
              </a:ext>
              <a:ext uri="{C183D7F6-B498-43B3-948B-1728B52AA6E4}">
                <adec:decorative xmlns:adec="http://schemas.microsoft.com/office/drawing/2017/decorative" val="1"/>
              </a:ext>
            </a:extLst>
          </p:cNvPr>
          <p:cNvCxnSpPr>
            <a:cxnSpLocks/>
          </p:cNvCxnSpPr>
          <p:nvPr/>
        </p:nvCxnSpPr>
        <p:spPr>
          <a:xfrm>
            <a:off x="7955666" y="2340178"/>
            <a:ext cx="3211243" cy="0"/>
          </a:xfrm>
          <a:prstGeom prst="line">
            <a:avLst/>
          </a:prstGeom>
          <a:ln>
            <a:solidFill>
              <a:schemeClr val="tx2">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1444B05C-5C69-C81D-13A7-C609F0D6424B}"/>
              </a:ext>
              <a:ext uri="{C183D7F6-B498-43B3-948B-1728B52AA6E4}">
                <adec:decorative xmlns:adec="http://schemas.microsoft.com/office/drawing/2017/decorative" val="1"/>
              </a:ext>
            </a:extLst>
          </p:cNvPr>
          <p:cNvCxnSpPr>
            <a:cxnSpLocks/>
          </p:cNvCxnSpPr>
          <p:nvPr/>
        </p:nvCxnSpPr>
        <p:spPr>
          <a:xfrm>
            <a:off x="7955666" y="4609272"/>
            <a:ext cx="3211243" cy="0"/>
          </a:xfrm>
          <a:prstGeom prst="line">
            <a:avLst/>
          </a:prstGeom>
          <a:ln>
            <a:solidFill>
              <a:schemeClr val="tx2">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42" name="Picture 41">
            <a:extLst>
              <a:ext uri="{FF2B5EF4-FFF2-40B4-BE49-F238E27FC236}">
                <a16:creationId xmlns:a16="http://schemas.microsoft.com/office/drawing/2014/main" id="{5442E2AA-884A-8B6F-AC17-552FD96314FD}"/>
              </a:ext>
            </a:extLst>
          </p:cNvPr>
          <p:cNvPicPr>
            <a:picLocks/>
          </p:cNvPicPr>
          <p:nvPr/>
        </p:nvPicPr>
        <p:blipFill rotWithShape="1">
          <a:blip r:embed="rId4" cstate="screen">
            <a:extLst>
              <a:ext uri="{28A0092B-C50C-407E-A947-70E740481C1C}">
                <a14:useLocalDpi xmlns:a14="http://schemas.microsoft.com/office/drawing/2010/main"/>
              </a:ext>
            </a:extLst>
          </a:blip>
          <a:srcRect/>
          <a:stretch/>
        </p:blipFill>
        <p:spPr>
          <a:xfrm>
            <a:off x="715083" y="1579848"/>
            <a:ext cx="6831467" cy="1668730"/>
          </a:xfrm>
          <a:prstGeom prst="roundRect">
            <a:avLst>
              <a:gd name="adj" fmla="val 3863"/>
            </a:avLst>
          </a:prstGeom>
          <a:solidFill>
            <a:schemeClr val="bg1">
              <a:alpha val="70000"/>
            </a:schemeClr>
          </a:solidFill>
          <a:ln w="6350">
            <a:solidFill>
              <a:schemeClr val="bg1">
                <a:lumMod val="95000"/>
              </a:schemeClr>
            </a:solidFill>
          </a:ln>
          <a:effectLst>
            <a:outerShdw blurRad="223661" dist="140295" dir="2700000" algn="tl" rotWithShape="0">
              <a:schemeClr val="accent1">
                <a:alpha val="15000"/>
              </a:schemeClr>
            </a:outerShdw>
          </a:effectLst>
        </p:spPr>
      </p:pic>
      <p:sp>
        <p:nvSpPr>
          <p:cNvPr id="27" name="Text Placeholder 5">
            <a:extLst>
              <a:ext uri="{FF2B5EF4-FFF2-40B4-BE49-F238E27FC236}">
                <a16:creationId xmlns:a16="http://schemas.microsoft.com/office/drawing/2014/main" id="{6F5F6409-965F-775A-9E08-81438DDDD7A8}"/>
              </a:ext>
            </a:extLst>
          </p:cNvPr>
          <p:cNvSpPr txBox="1">
            <a:spLocks/>
          </p:cNvSpPr>
          <p:nvPr/>
        </p:nvSpPr>
        <p:spPr>
          <a:xfrm>
            <a:off x="7980025" y="2515581"/>
            <a:ext cx="1876494" cy="390300"/>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597" rtl="0" eaLnBrk="1" fontAlgn="auto" latinLnBrk="0" hangingPunct="1">
              <a:lnSpc>
                <a:spcPct val="110000"/>
              </a:lnSpc>
              <a:spcBef>
                <a:spcPts val="300"/>
              </a:spcBef>
              <a:spcAft>
                <a:spcPts val="300"/>
              </a:spcAft>
              <a:buClrTx/>
              <a:buSzTx/>
              <a:buFont typeface="Wingdings" panose="05000000000000000000" pitchFamily="2" charset="2"/>
              <a:buNone/>
              <a:tabLst/>
              <a:defRPr/>
            </a:pPr>
            <a:r>
              <a:rPr kumimoji="0" lang="en-US" sz="1200" b="1" i="0" u="none" strike="noStrike" kern="1200" cap="none" spc="0" normalizeH="0" baseline="0" noProof="0" dirty="0">
                <a:ln>
                  <a:noFill/>
                </a:ln>
                <a:solidFill>
                  <a:srgbClr val="C5B4E3">
                    <a:lumMod val="50000"/>
                  </a:srgbClr>
                </a:solidFill>
                <a:effectLst/>
                <a:uLnTx/>
                <a:uFillTx/>
                <a:latin typeface="Segoe UI Semibold"/>
                <a:ea typeface="+mn-ea"/>
                <a:cs typeface="Segoe UI Semilight" panose="020B0402040204020203" pitchFamily="34" charset="0"/>
              </a:rPr>
              <a:t>Average resolution time can require input from: </a:t>
            </a:r>
          </a:p>
        </p:txBody>
      </p:sp>
      <p:sp>
        <p:nvSpPr>
          <p:cNvPr id="43" name="Text Placeholder 72">
            <a:extLst>
              <a:ext uri="{FF2B5EF4-FFF2-40B4-BE49-F238E27FC236}">
                <a16:creationId xmlns:a16="http://schemas.microsoft.com/office/drawing/2014/main" id="{6F6D686C-9B69-2C28-A5E7-40647965ED8C}"/>
              </a:ext>
            </a:extLst>
          </p:cNvPr>
          <p:cNvSpPr txBox="1">
            <a:spLocks/>
          </p:cNvSpPr>
          <p:nvPr/>
        </p:nvSpPr>
        <p:spPr>
          <a:xfrm>
            <a:off x="7980026" y="3049000"/>
            <a:ext cx="3052152" cy="261610"/>
          </a:xfrm>
          <a:prstGeom prst="rect">
            <a:avLst/>
          </a:prstGeom>
        </p:spPr>
        <p:txBody>
          <a:bodyPr wrap="square" lIns="0" tIns="0" rIns="0" bIns="0" numCol="2">
            <a:spAutoFit/>
          </a:bodyPr>
          <a:lstStyle>
            <a:lvl1pPr marL="0" indent="0" algn="l" defTabSz="914400" rtl="0" eaLnBrk="1" latinLnBrk="0" hangingPunct="1">
              <a:lnSpc>
                <a:spcPct val="90000"/>
              </a:lnSpc>
              <a:spcBef>
                <a:spcPts val="1000"/>
              </a:spcBef>
              <a:buFont typeface="Arial" panose="020B0604020202020204" pitchFamily="34" charset="0"/>
              <a:buNone/>
              <a:defRPr lang="en-US" sz="600" b="0" i="0" kern="1200" dirty="0">
                <a:solidFill>
                  <a:srgbClr val="000000"/>
                </a:solidFill>
                <a:effectLst/>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32597"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Analyst</a:t>
            </a:r>
          </a:p>
        </p:txBody>
      </p:sp>
      <p:sp>
        <p:nvSpPr>
          <p:cNvPr id="45" name="Text Placeholder 4">
            <a:extLst>
              <a:ext uri="{FF2B5EF4-FFF2-40B4-BE49-F238E27FC236}">
                <a16:creationId xmlns:a16="http://schemas.microsoft.com/office/drawing/2014/main" id="{608E9ED0-3FA8-14B9-99BB-1D6D68FF9DD6}"/>
              </a:ext>
              <a:ext uri="{C183D7F6-B498-43B3-948B-1728B52AA6E4}">
                <adec:decorative xmlns:adec="http://schemas.microsoft.com/office/drawing/2017/decorative" val="1"/>
              </a:ext>
            </a:extLst>
          </p:cNvPr>
          <p:cNvSpPr txBox="1">
            <a:spLocks/>
          </p:cNvSpPr>
          <p:nvPr/>
        </p:nvSpPr>
        <p:spPr>
          <a:xfrm>
            <a:off x="862105" y="4483499"/>
            <a:ext cx="2526333" cy="1061829"/>
          </a:xfrm>
          <a:prstGeom prst="rect">
            <a:avLst/>
          </a:prstGeom>
        </p:spPr>
        <p:txBody>
          <a:bodyPr vert="horz" wrap="none" lIns="0" tIns="0" rIns="0" bIns="0" numCol="1" rtlCol="0">
            <a:spAutoFit/>
          </a:bodyPr>
          <a:lstStyle>
            <a:defPPr>
              <a:defRPr lang="en-US"/>
            </a:defPPr>
            <a:lvl1pPr marR="0" indent="0" defTabSz="582780" fontAlgn="auto">
              <a:lnSpc>
                <a:spcPct val="110000"/>
              </a:lnSpc>
              <a:spcBef>
                <a:spcPct val="0"/>
              </a:spcBef>
              <a:spcAft>
                <a:spcPts val="300"/>
              </a:spcAft>
              <a:buClrTx/>
              <a:buSzTx/>
              <a:buFont typeface="Wingdings" panose="05000000000000000000" pitchFamily="2" charset="2"/>
              <a:buNone/>
              <a:tabLst/>
              <a:defRPr sz="1000" b="0" i="0" spc="0" baseline="0">
                <a:effectLst/>
                <a:cs typeface="Segoe UI Semilight" panose="020B0402040204020203" pitchFamily="34" charset="0"/>
              </a:defRPr>
            </a:lvl1pPr>
            <a:lvl2pPr marR="0" indent="-228600" defTabSz="932742" fontAlgn="auto">
              <a:lnSpc>
                <a:spcPct val="100000"/>
              </a:lnSpc>
              <a:spcBef>
                <a:spcPct val="20000"/>
              </a:spcBef>
              <a:spcAft>
                <a:spcPts val="0"/>
              </a:spcAft>
              <a:buClrTx/>
              <a:buSzPct val="90000"/>
              <a:buFont typeface="Wingdings" panose="05000000000000000000" pitchFamily="2" charset="2"/>
              <a:buChar char=""/>
              <a:tabLst/>
              <a:defRPr sz="1600" spc="0" baseline="0">
                <a:solidFill>
                  <a:srgbClr val="000000"/>
                </a:solidFill>
              </a:defRPr>
            </a:lvl2pPr>
            <a:lvl3pPr marL="657225" marR="0" indent="-200025" defTabSz="932742" fontAlgn="auto">
              <a:lnSpc>
                <a:spcPct val="100000"/>
              </a:lnSpc>
              <a:spcBef>
                <a:spcPct val="20000"/>
              </a:spcBef>
              <a:spcAft>
                <a:spcPts val="0"/>
              </a:spcAft>
              <a:buClrTx/>
              <a:buSzPct val="90000"/>
              <a:buFont typeface="Wingdings" panose="05000000000000000000" pitchFamily="2" charset="2"/>
              <a:buChar char=""/>
              <a:tabLst/>
              <a:defRPr sz="1400" spc="0" baseline="0">
                <a:solidFill>
                  <a:srgbClr val="000000"/>
                </a:solidFill>
              </a:defRPr>
            </a:lvl3pPr>
            <a:lvl4pPr marL="842963" marR="0" indent="-180975" defTabSz="932742" fontAlgn="auto">
              <a:lnSpc>
                <a:spcPct val="100000"/>
              </a:lnSpc>
              <a:spcBef>
                <a:spcPct val="20000"/>
              </a:spcBef>
              <a:spcAft>
                <a:spcPts val="0"/>
              </a:spcAft>
              <a:buClrTx/>
              <a:buSzPct val="90000"/>
              <a:buFont typeface="Wingdings" panose="05000000000000000000" pitchFamily="2" charset="2"/>
              <a:buChar char=""/>
              <a:tabLst/>
              <a:defRPr sz="1200" spc="0" baseline="0">
                <a:solidFill>
                  <a:srgbClr val="000000"/>
                </a:solidFill>
              </a:defRPr>
            </a:lvl4pPr>
            <a:lvl5pPr marL="1023938" marR="0" indent="-168275" defTabSz="932742" fontAlgn="auto">
              <a:lnSpc>
                <a:spcPct val="100000"/>
              </a:lnSpc>
              <a:spcBef>
                <a:spcPct val="20000"/>
              </a:spcBef>
              <a:spcAft>
                <a:spcPts val="0"/>
              </a:spcAft>
              <a:buClrTx/>
              <a:buSzPct val="90000"/>
              <a:buFont typeface="Wingdings" panose="05000000000000000000" pitchFamily="2" charset="2"/>
              <a:buChar char=""/>
              <a:tabLst/>
              <a:defRPr sz="1000" spc="0" baseline="0">
                <a:solidFill>
                  <a:srgbClr val="000000"/>
                </a:solidFill>
              </a:defRPr>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pPr marL="0" marR="0" lvl="0" indent="0" algn="l" defTabSz="932597" rtl="0" eaLnBrk="1" fontAlgn="auto" latinLnBrk="0" hangingPunct="1">
              <a:lnSpc>
                <a:spcPct val="100000"/>
              </a:lnSpc>
              <a:spcBef>
                <a:spcPts val="0"/>
              </a:spcBef>
              <a:spcAft>
                <a:spcPts val="900"/>
              </a:spcAft>
              <a:buClrTx/>
              <a:buSzTx/>
              <a:buFont typeface="Wingdings" panose="05000000000000000000" pitchFamily="2" charset="2"/>
              <a:buNone/>
              <a:tabLst/>
              <a:defRPr/>
            </a:pPr>
            <a:r>
              <a:rPr kumimoji="0" lang="en-US" sz="1200" b="1" i="0" u="none" strike="noStrike" kern="1200" cap="none" spc="0" normalizeH="0" baseline="0" noProof="0" dirty="0">
                <a:ln>
                  <a:noFill/>
                </a:ln>
                <a:solidFill>
                  <a:srgbClr val="C5B4E3">
                    <a:lumMod val="50000"/>
                  </a:srgbClr>
                </a:solidFill>
                <a:effectLst/>
                <a:uLnTx/>
                <a:uFillTx/>
                <a:latin typeface="Segoe UI Semibold"/>
                <a:ea typeface="+mn-ea"/>
                <a:cs typeface="Segoe UI Semilight" panose="020B0402040204020203" pitchFamily="34" charset="0"/>
              </a:rPr>
              <a:t>Boost productivity</a:t>
            </a:r>
          </a:p>
          <a:p>
            <a:pPr marL="142875" marR="0" lvl="0" indent="-142875" algn="l" defTabSz="93259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Rapidly find information</a:t>
            </a:r>
          </a:p>
          <a:p>
            <a:pPr marL="142875" marR="0" lvl="0" indent="-142875" algn="l" defTabSz="93259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Diagnose problems faster</a:t>
            </a:r>
          </a:p>
          <a:p>
            <a:pPr marL="142875" marR="0" lvl="0" indent="-142875" algn="l" defTabSz="93259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Check for similar issues and resolutions</a:t>
            </a:r>
          </a:p>
          <a:p>
            <a:pPr marL="142875" marR="0" lvl="0" indent="-142875" algn="l" defTabSz="93259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Quickly send follow-up communications</a:t>
            </a:r>
          </a:p>
        </p:txBody>
      </p:sp>
      <p:sp>
        <p:nvSpPr>
          <p:cNvPr id="4" name="Text Placeholder 4">
            <a:extLst>
              <a:ext uri="{FF2B5EF4-FFF2-40B4-BE49-F238E27FC236}">
                <a16:creationId xmlns:a16="http://schemas.microsoft.com/office/drawing/2014/main" id="{74FBDA55-4227-5B8F-C542-20D0E327ABB4}"/>
              </a:ext>
            </a:extLst>
          </p:cNvPr>
          <p:cNvSpPr txBox="1">
            <a:spLocks/>
          </p:cNvSpPr>
          <p:nvPr/>
        </p:nvSpPr>
        <p:spPr>
          <a:xfrm>
            <a:off x="4132278" y="4483499"/>
            <a:ext cx="2375522" cy="861774"/>
          </a:xfrm>
          <a:prstGeom prst="rect">
            <a:avLst/>
          </a:prstGeom>
        </p:spPr>
        <p:txBody>
          <a:bodyPr vert="horz" wrap="none" lIns="0" tIns="0" rIns="0" bIns="0" numCol="1" rtlCol="0" anchor="t">
            <a:spAutoFit/>
          </a:bodyPr>
          <a:lstStyle>
            <a:defPPr>
              <a:defRPr lang="en-US"/>
            </a:defPPr>
            <a:lvl1pPr marR="0" indent="0" defTabSz="582780" fontAlgn="auto">
              <a:lnSpc>
                <a:spcPct val="110000"/>
              </a:lnSpc>
              <a:spcBef>
                <a:spcPct val="0"/>
              </a:spcBef>
              <a:spcAft>
                <a:spcPts val="300"/>
              </a:spcAft>
              <a:buClrTx/>
              <a:buSzTx/>
              <a:buFont typeface="Wingdings" panose="05000000000000000000" pitchFamily="2" charset="2"/>
              <a:buNone/>
              <a:tabLst/>
              <a:defRPr sz="1000" b="0" i="0" spc="0" baseline="0">
                <a:effectLst/>
                <a:cs typeface="Segoe UI Semilight" panose="020B0402040204020203" pitchFamily="34" charset="0"/>
              </a:defRPr>
            </a:lvl1pPr>
            <a:lvl2pPr marR="0" indent="-228600" defTabSz="932742" fontAlgn="auto">
              <a:lnSpc>
                <a:spcPct val="100000"/>
              </a:lnSpc>
              <a:spcBef>
                <a:spcPct val="20000"/>
              </a:spcBef>
              <a:spcAft>
                <a:spcPts val="0"/>
              </a:spcAft>
              <a:buClrTx/>
              <a:buSzPct val="90000"/>
              <a:buFont typeface="Wingdings" panose="05000000000000000000" pitchFamily="2" charset="2"/>
              <a:buChar char=""/>
              <a:tabLst/>
              <a:defRPr sz="1600" spc="0" baseline="0">
                <a:solidFill>
                  <a:srgbClr val="000000"/>
                </a:solidFill>
              </a:defRPr>
            </a:lvl2pPr>
            <a:lvl3pPr marL="657225" marR="0" indent="-200025" defTabSz="932742" fontAlgn="auto">
              <a:lnSpc>
                <a:spcPct val="100000"/>
              </a:lnSpc>
              <a:spcBef>
                <a:spcPct val="20000"/>
              </a:spcBef>
              <a:spcAft>
                <a:spcPts val="0"/>
              </a:spcAft>
              <a:buClrTx/>
              <a:buSzPct val="90000"/>
              <a:buFont typeface="Wingdings" panose="05000000000000000000" pitchFamily="2" charset="2"/>
              <a:buChar char=""/>
              <a:tabLst/>
              <a:defRPr sz="1400" spc="0" baseline="0">
                <a:solidFill>
                  <a:srgbClr val="000000"/>
                </a:solidFill>
              </a:defRPr>
            </a:lvl3pPr>
            <a:lvl4pPr marL="842963" marR="0" indent="-180975" defTabSz="932742" fontAlgn="auto">
              <a:lnSpc>
                <a:spcPct val="100000"/>
              </a:lnSpc>
              <a:spcBef>
                <a:spcPct val="20000"/>
              </a:spcBef>
              <a:spcAft>
                <a:spcPts val="0"/>
              </a:spcAft>
              <a:buClrTx/>
              <a:buSzPct val="90000"/>
              <a:buFont typeface="Wingdings" panose="05000000000000000000" pitchFamily="2" charset="2"/>
              <a:buChar char=""/>
              <a:tabLst/>
              <a:defRPr sz="1200" spc="0" baseline="0">
                <a:solidFill>
                  <a:srgbClr val="000000"/>
                </a:solidFill>
              </a:defRPr>
            </a:lvl4pPr>
            <a:lvl5pPr marL="1023938" marR="0" indent="-168275" defTabSz="932742" fontAlgn="auto">
              <a:lnSpc>
                <a:spcPct val="100000"/>
              </a:lnSpc>
              <a:spcBef>
                <a:spcPct val="20000"/>
              </a:spcBef>
              <a:spcAft>
                <a:spcPts val="0"/>
              </a:spcAft>
              <a:buClrTx/>
              <a:buSzPct val="90000"/>
              <a:buFont typeface="Wingdings" panose="05000000000000000000" pitchFamily="2" charset="2"/>
              <a:buChar char=""/>
              <a:tabLst/>
              <a:defRPr sz="1000" spc="0" baseline="0">
                <a:solidFill>
                  <a:srgbClr val="000000"/>
                </a:solidFill>
              </a:defRPr>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pPr marL="0" marR="0" lvl="0" indent="0" algn="l" defTabSz="932597" rtl="0" eaLnBrk="1" fontAlgn="auto" latinLnBrk="0" hangingPunct="1">
              <a:lnSpc>
                <a:spcPct val="100000"/>
              </a:lnSpc>
              <a:spcBef>
                <a:spcPts val="0"/>
              </a:spcBef>
              <a:spcAft>
                <a:spcPts val="900"/>
              </a:spcAft>
              <a:buClrTx/>
              <a:buSzTx/>
              <a:buFont typeface="Wingdings" panose="05000000000000000000" pitchFamily="2" charset="2"/>
              <a:buNone/>
              <a:tabLst/>
              <a:defRPr/>
            </a:pPr>
            <a:r>
              <a:rPr kumimoji="0" lang="en-US" sz="1200" b="1" i="0" u="none" strike="noStrike" kern="1200" cap="none" spc="0" normalizeH="0" baseline="0" noProof="0" dirty="0">
                <a:ln>
                  <a:noFill/>
                </a:ln>
                <a:solidFill>
                  <a:srgbClr val="C5B4E3">
                    <a:lumMod val="50000"/>
                  </a:srgbClr>
                </a:solidFill>
                <a:effectLst/>
                <a:uLnTx/>
                <a:uFillTx/>
                <a:latin typeface="Segoe UI Semibold"/>
                <a:ea typeface="+mn-ea"/>
                <a:cs typeface="Segoe UI Semilight" panose="020B0402040204020203" pitchFamily="34" charset="0"/>
              </a:rPr>
              <a:t>Speed data analysis and reporting</a:t>
            </a:r>
          </a:p>
          <a:p>
            <a:pPr marL="142875" marR="0" lvl="0" indent="-142875" algn="l" defTabSz="93259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Quickly analyze trends</a:t>
            </a:r>
          </a:p>
          <a:p>
            <a:pPr marL="142875" marR="0" lvl="0" indent="-142875" algn="l" defTabSz="93259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Generate informative charts</a:t>
            </a:r>
          </a:p>
          <a:p>
            <a:pPr marL="142875" marR="0" lvl="0" indent="-142875" algn="l" defTabSz="93259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Create strategy presentations </a:t>
            </a:r>
          </a:p>
        </p:txBody>
      </p:sp>
    </p:spTree>
    <p:extLst>
      <p:ext uri="{BB962C8B-B14F-4D97-AF65-F5344CB8AC3E}">
        <p14:creationId xmlns:p14="http://schemas.microsoft.com/office/powerpoint/2010/main" val="990327701"/>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ED7435C-732F-28C6-A281-3B1FA8A6A5A3}"/>
              </a:ext>
              <a:ext uri="{C183D7F6-B498-43B3-948B-1728B52AA6E4}">
                <adec:decorative xmlns:adec="http://schemas.microsoft.com/office/drawing/2017/decorative" val="1"/>
              </a:ext>
            </a:extLst>
          </p:cNvPr>
          <p:cNvPicPr>
            <a:picLocks noChangeAspect="1"/>
          </p:cNvPicPr>
          <p:nvPr/>
        </p:nvPicPr>
        <p:blipFill rotWithShape="1">
          <a:blip r:embed="rId2" cstate="screen">
            <a:alphaModFix amt="50000"/>
            <a:extLst>
              <a:ext uri="{BEBA8EAE-BF5A-486C-A8C5-ECC9F3942E4B}">
                <a14:imgProps xmlns:a14="http://schemas.microsoft.com/office/drawing/2010/main">
                  <a14:imgLayer r:embed="rId3">
                    <a14:imgEffect>
                      <a14:sharpenSoften amount="-100000"/>
                    </a14:imgEffect>
                  </a14:imgLayer>
                </a14:imgProps>
              </a:ext>
              <a:ext uri="{28A0092B-C50C-407E-A947-70E740481C1C}">
                <a14:useLocalDpi xmlns:a14="http://schemas.microsoft.com/office/drawing/2010/main"/>
              </a:ext>
            </a:extLst>
          </a:blip>
          <a:srcRect/>
          <a:stretch/>
        </p:blipFill>
        <p:spPr>
          <a:xfrm>
            <a:off x="589069" y="1448904"/>
            <a:ext cx="11013862" cy="4882759"/>
          </a:xfrm>
          <a:prstGeom prst="roundRect">
            <a:avLst>
              <a:gd name="adj" fmla="val 2585"/>
            </a:avLst>
          </a:prstGeom>
          <a:solidFill>
            <a:schemeClr val="bg1"/>
          </a:solidFill>
          <a:ln>
            <a:solidFill>
              <a:schemeClr val="bg1"/>
            </a:solidFill>
          </a:ln>
          <a:effectLst>
            <a:outerShdw blurRad="223661" dist="140295" dir="2700000" algn="tl" rotWithShape="0">
              <a:schemeClr val="accent1">
                <a:alpha val="15000"/>
              </a:schemeClr>
            </a:outerShdw>
          </a:effectLst>
        </p:spPr>
      </p:pic>
      <p:sp>
        <p:nvSpPr>
          <p:cNvPr id="7" name="Freeform: Shape 32">
            <a:extLst>
              <a:ext uri="{FF2B5EF4-FFF2-40B4-BE49-F238E27FC236}">
                <a16:creationId xmlns:a16="http://schemas.microsoft.com/office/drawing/2014/main" id="{718DB672-AEAC-5E17-7149-FEBC753319FA}"/>
              </a:ext>
              <a:ext uri="{C183D7F6-B498-43B3-948B-1728B52AA6E4}">
                <adec:decorative xmlns:adec="http://schemas.microsoft.com/office/drawing/2017/decorative" val="1"/>
              </a:ext>
            </a:extLst>
          </p:cNvPr>
          <p:cNvSpPr>
            <a:spLocks/>
          </p:cNvSpPr>
          <p:nvPr/>
        </p:nvSpPr>
        <p:spPr bwMode="auto">
          <a:xfrm>
            <a:off x="7697337" y="1596603"/>
            <a:ext cx="3727901" cy="2082249"/>
          </a:xfrm>
          <a:prstGeom prst="roundRect">
            <a:avLst>
              <a:gd name="adj" fmla="val 4762"/>
            </a:avLst>
          </a:prstGeom>
          <a:solidFill>
            <a:schemeClr val="bg1">
              <a:alpha val="70000"/>
            </a:schemeClr>
          </a:solidFill>
          <a:ln>
            <a:solidFill>
              <a:schemeClr val="bg1"/>
            </a:solidFill>
          </a:ln>
          <a:effectLst>
            <a:outerShdw blurRad="223661" dist="140295" dir="2700000" algn="tl" rotWithShape="0">
              <a:schemeClr val="accent1">
                <a:alpha val="15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Segoe UI"/>
              <a:ea typeface="+mn-ea"/>
              <a:cs typeface="Segoe UI" pitchFamily="34" charset="0"/>
            </a:endParaRPr>
          </a:p>
        </p:txBody>
      </p:sp>
      <p:sp>
        <p:nvSpPr>
          <p:cNvPr id="16" name="Freeform: Shape 32">
            <a:extLst>
              <a:ext uri="{FF2B5EF4-FFF2-40B4-BE49-F238E27FC236}">
                <a16:creationId xmlns:a16="http://schemas.microsoft.com/office/drawing/2014/main" id="{BE4261E5-0C50-56C4-AA8D-2D8599375A4E}"/>
              </a:ext>
              <a:ext uri="{C183D7F6-B498-43B3-948B-1728B52AA6E4}">
                <adec:decorative xmlns:adec="http://schemas.microsoft.com/office/drawing/2017/decorative" val="1"/>
              </a:ext>
            </a:extLst>
          </p:cNvPr>
          <p:cNvSpPr>
            <a:spLocks/>
          </p:cNvSpPr>
          <p:nvPr/>
        </p:nvSpPr>
        <p:spPr bwMode="auto">
          <a:xfrm>
            <a:off x="7697337" y="3872623"/>
            <a:ext cx="3727901" cy="2287546"/>
          </a:xfrm>
          <a:prstGeom prst="roundRect">
            <a:avLst>
              <a:gd name="adj" fmla="val 4762"/>
            </a:avLst>
          </a:prstGeom>
          <a:solidFill>
            <a:schemeClr val="bg1">
              <a:alpha val="70000"/>
            </a:schemeClr>
          </a:solidFill>
          <a:ln>
            <a:solidFill>
              <a:schemeClr val="bg1"/>
            </a:solidFill>
          </a:ln>
          <a:effectLst>
            <a:outerShdw blurRad="223661" dist="140295" dir="2700000" algn="tl" rotWithShape="0">
              <a:schemeClr val="accent1">
                <a:alpha val="15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Segoe UI"/>
              <a:ea typeface="+mn-ea"/>
              <a:cs typeface="Segoe UI" pitchFamily="34" charset="0"/>
            </a:endParaRPr>
          </a:p>
        </p:txBody>
      </p:sp>
      <p:sp>
        <p:nvSpPr>
          <p:cNvPr id="2" name="Title 1">
            <a:extLst>
              <a:ext uri="{FF2B5EF4-FFF2-40B4-BE49-F238E27FC236}">
                <a16:creationId xmlns:a16="http://schemas.microsoft.com/office/drawing/2014/main" id="{B9EFFFB5-7077-89A4-73AE-3E6CCD4FD4E4}"/>
              </a:ext>
            </a:extLst>
          </p:cNvPr>
          <p:cNvSpPr>
            <a:spLocks noGrp="1"/>
          </p:cNvSpPr>
          <p:nvPr>
            <p:ph type="title"/>
          </p:nvPr>
        </p:nvSpPr>
        <p:spPr>
          <a:xfrm>
            <a:off x="585216" y="457200"/>
            <a:ext cx="10515600" cy="553998"/>
          </a:xfrm>
        </p:spPr>
        <p:txBody>
          <a:bodyPr/>
          <a:lstStyle/>
          <a:p>
            <a:r>
              <a:rPr lang="en-US" sz="3600" noProof="0" dirty="0">
                <a:latin typeface="Segoe UI Semibold" panose="020B0702040204020203" pitchFamily="34" charset="0"/>
                <a:cs typeface="Segoe UI Semibold" panose="020B0702040204020203" pitchFamily="34" charset="0"/>
              </a:rPr>
              <a:t>KPI – </a:t>
            </a:r>
            <a:r>
              <a:rPr lang="en-US" noProof="0" dirty="0">
                <a:gradFill>
                  <a:gsLst>
                    <a:gs pos="38000">
                      <a:srgbClr val="0078D4"/>
                    </a:gs>
                    <a:gs pos="0">
                      <a:srgbClr val="C03BC4"/>
                    </a:gs>
                  </a:gsLst>
                  <a:path path="circle">
                    <a:fillToRect l="100000" t="100000"/>
                  </a:path>
                </a:gradFill>
                <a:latin typeface="Segoe UI Semibold" panose="020B0702040204020203" pitchFamily="34" charset="0"/>
                <a:cs typeface="Segoe UI Semibold" panose="020B0702040204020203" pitchFamily="34" charset="0"/>
              </a:rPr>
              <a:t>Days sales outstanding</a:t>
            </a:r>
          </a:p>
        </p:txBody>
      </p:sp>
      <p:sp>
        <p:nvSpPr>
          <p:cNvPr id="5" name="Text Placeholder 33">
            <a:extLst>
              <a:ext uri="{FF2B5EF4-FFF2-40B4-BE49-F238E27FC236}">
                <a16:creationId xmlns:a16="http://schemas.microsoft.com/office/drawing/2014/main" id="{1B9D6020-AF30-E9F8-17B0-AD87458D0E88}"/>
              </a:ext>
            </a:extLst>
          </p:cNvPr>
          <p:cNvSpPr txBox="1">
            <a:spLocks/>
          </p:cNvSpPr>
          <p:nvPr/>
        </p:nvSpPr>
        <p:spPr>
          <a:xfrm>
            <a:off x="862108" y="3389989"/>
            <a:ext cx="5233892" cy="482633"/>
          </a:xfrm>
          <a:prstGeom prst="rect">
            <a:avLst/>
          </a:prstGeom>
        </p:spPr>
        <p:txBody>
          <a:bodyPr wrap="square" lIns="0" tIns="45720" rIns="91440" bIns="4572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32597" rtl="0" eaLnBrk="1" fontAlgn="auto" latinLnBrk="0" hangingPunct="1">
              <a:lnSpc>
                <a:spcPct val="110000"/>
              </a:lnSpc>
              <a:spcBef>
                <a:spcPts val="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Segoe UI"/>
              </a:rPr>
              <a:t>Collections play a crucial role in any business. Timely and efficient collections help ensure healthy cash flow, liquidity, and operational efficiency. </a:t>
            </a:r>
          </a:p>
        </p:txBody>
      </p:sp>
      <p:cxnSp>
        <p:nvCxnSpPr>
          <p:cNvPr id="28" name="Straight Connector 27">
            <a:extLst>
              <a:ext uri="{FF2B5EF4-FFF2-40B4-BE49-F238E27FC236}">
                <a16:creationId xmlns:a16="http://schemas.microsoft.com/office/drawing/2014/main" id="{51B84402-A636-A285-4E06-1EFCA8FA31FB}"/>
              </a:ext>
              <a:ext uri="{C183D7F6-B498-43B3-948B-1728B52AA6E4}">
                <adec:decorative xmlns:adec="http://schemas.microsoft.com/office/drawing/2017/decorative" val="1"/>
              </a:ext>
            </a:extLst>
          </p:cNvPr>
          <p:cNvCxnSpPr>
            <a:cxnSpLocks/>
          </p:cNvCxnSpPr>
          <p:nvPr/>
        </p:nvCxnSpPr>
        <p:spPr>
          <a:xfrm>
            <a:off x="862106" y="3999694"/>
            <a:ext cx="6757416" cy="0"/>
          </a:xfrm>
          <a:prstGeom prst="line">
            <a:avLst/>
          </a:prstGeom>
          <a:ln>
            <a:solidFill>
              <a:schemeClr val="tx2">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8" name="Rectangle: Rounded Corners 26">
            <a:extLst>
              <a:ext uri="{FF2B5EF4-FFF2-40B4-BE49-F238E27FC236}">
                <a16:creationId xmlns:a16="http://schemas.microsoft.com/office/drawing/2014/main" id="{D1253126-8205-D179-7879-B34F7D90496A}"/>
              </a:ext>
            </a:extLst>
          </p:cNvPr>
          <p:cNvSpPr/>
          <p:nvPr/>
        </p:nvSpPr>
        <p:spPr bwMode="auto">
          <a:xfrm>
            <a:off x="8438481" y="1781312"/>
            <a:ext cx="1258802" cy="365760"/>
          </a:xfrm>
          <a:prstGeom prst="roundRect">
            <a:avLst>
              <a:gd name="adj" fmla="val 19935"/>
            </a:avLst>
          </a:prstGeom>
          <a:noFill/>
          <a:ln>
            <a:noFill/>
            <a:headEnd type="none" w="med" len="med"/>
            <a:tailEnd type="none" w="med" len="med"/>
          </a:ln>
          <a:effectLst>
            <a:outerShdw blurRad="1905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gradFill>
                  <a:gsLst>
                    <a:gs pos="50000">
                      <a:srgbClr val="8661C5"/>
                    </a:gs>
                    <a:gs pos="0">
                      <a:srgbClr val="0078D4"/>
                    </a:gs>
                    <a:gs pos="100000">
                      <a:srgbClr val="C73ECC"/>
                    </a:gs>
                  </a:gsLst>
                  <a:lin ang="2700000" scaled="1"/>
                </a:gradFill>
                <a:effectLst/>
                <a:uLnTx/>
                <a:uFillTx/>
                <a:latin typeface="Segoe UI Semibold"/>
                <a:ea typeface="+mn-ea"/>
                <a:cs typeface="+mn-cs"/>
              </a:rPr>
              <a:t>Roles</a:t>
            </a:r>
          </a:p>
        </p:txBody>
      </p:sp>
      <p:sp>
        <p:nvSpPr>
          <p:cNvPr id="10" name="Freeform: Shape 2">
            <a:extLst>
              <a:ext uri="{FF2B5EF4-FFF2-40B4-BE49-F238E27FC236}">
                <a16:creationId xmlns:a16="http://schemas.microsoft.com/office/drawing/2014/main" id="{A157A653-FB0B-716C-9568-59F46B9E1C43}"/>
              </a:ext>
              <a:ext uri="{C183D7F6-B498-43B3-948B-1728B52AA6E4}">
                <adec:decorative xmlns:adec="http://schemas.microsoft.com/office/drawing/2017/decorative" val="1"/>
              </a:ext>
            </a:extLst>
          </p:cNvPr>
          <p:cNvSpPr/>
          <p:nvPr/>
        </p:nvSpPr>
        <p:spPr>
          <a:xfrm>
            <a:off x="7930135" y="1803503"/>
            <a:ext cx="321377" cy="321377"/>
          </a:xfrm>
          <a:custGeom>
            <a:avLst/>
            <a:gdLst>
              <a:gd name="connsiteX0" fmla="*/ 68580 w 266700"/>
              <a:gd name="connsiteY0" fmla="*/ 137160 h 266700"/>
              <a:gd name="connsiteX1" fmla="*/ 64770 w 266700"/>
              <a:gd name="connsiteY1" fmla="*/ 140970 h 266700"/>
              <a:gd name="connsiteX2" fmla="*/ 64770 w 266700"/>
              <a:gd name="connsiteY2" fmla="*/ 148590 h 266700"/>
              <a:gd name="connsiteX3" fmla="*/ 66736 w 266700"/>
              <a:gd name="connsiteY3" fmla="*/ 154869 h 266700"/>
              <a:gd name="connsiteX4" fmla="*/ 68047 w 266700"/>
              <a:gd name="connsiteY4" fmla="*/ 156698 h 266700"/>
              <a:gd name="connsiteX5" fmla="*/ 77572 w 266700"/>
              <a:gd name="connsiteY5" fmla="*/ 164851 h 266700"/>
              <a:gd name="connsiteX6" fmla="*/ 114300 w 266700"/>
              <a:gd name="connsiteY6" fmla="*/ 171450 h 266700"/>
              <a:gd name="connsiteX7" fmla="*/ 153741 w 266700"/>
              <a:gd name="connsiteY7" fmla="*/ 164943 h 266700"/>
              <a:gd name="connsiteX8" fmla="*/ 161407 w 266700"/>
              <a:gd name="connsiteY8" fmla="*/ 157079 h 266700"/>
              <a:gd name="connsiteX9" fmla="*/ 162276 w 266700"/>
              <a:gd name="connsiteY9" fmla="*/ 155448 h 266700"/>
              <a:gd name="connsiteX10" fmla="*/ 163830 w 266700"/>
              <a:gd name="connsiteY10" fmla="*/ 148590 h 266700"/>
              <a:gd name="connsiteX11" fmla="*/ 163830 w 266700"/>
              <a:gd name="connsiteY11" fmla="*/ 140970 h 266700"/>
              <a:gd name="connsiteX12" fmla="*/ 160020 w 266700"/>
              <a:gd name="connsiteY12" fmla="*/ 137160 h 266700"/>
              <a:gd name="connsiteX13" fmla="*/ 68580 w 266700"/>
              <a:gd name="connsiteY13" fmla="*/ 114300 h 266700"/>
              <a:gd name="connsiteX14" fmla="*/ 160020 w 266700"/>
              <a:gd name="connsiteY14" fmla="*/ 114300 h 266700"/>
              <a:gd name="connsiteX15" fmla="*/ 186690 w 266700"/>
              <a:gd name="connsiteY15" fmla="*/ 140970 h 266700"/>
              <a:gd name="connsiteX16" fmla="*/ 186690 w 266700"/>
              <a:gd name="connsiteY16" fmla="*/ 148590 h 266700"/>
              <a:gd name="connsiteX17" fmla="*/ 168707 w 266700"/>
              <a:gd name="connsiteY17" fmla="*/ 182042 h 266700"/>
              <a:gd name="connsiteX18" fmla="*/ 114300 w 266700"/>
              <a:gd name="connsiteY18" fmla="*/ 194310 h 266700"/>
              <a:gd name="connsiteX19" fmla="*/ 62880 w 266700"/>
              <a:gd name="connsiteY19" fmla="*/ 182118 h 266700"/>
              <a:gd name="connsiteX20" fmla="*/ 41910 w 266700"/>
              <a:gd name="connsiteY20" fmla="*/ 148590 h 266700"/>
              <a:gd name="connsiteX21" fmla="*/ 41910 w 266700"/>
              <a:gd name="connsiteY21" fmla="*/ 140970 h 266700"/>
              <a:gd name="connsiteX22" fmla="*/ 68580 w 266700"/>
              <a:gd name="connsiteY22" fmla="*/ 114300 h 266700"/>
              <a:gd name="connsiteX23" fmla="*/ 114300 w 266700"/>
              <a:gd name="connsiteY23" fmla="*/ 53340 h 266700"/>
              <a:gd name="connsiteX24" fmla="*/ 99060 w 266700"/>
              <a:gd name="connsiteY24" fmla="*/ 68580 h 266700"/>
              <a:gd name="connsiteX25" fmla="*/ 114300 w 266700"/>
              <a:gd name="connsiteY25" fmla="*/ 83820 h 266700"/>
              <a:gd name="connsiteX26" fmla="*/ 129540 w 266700"/>
              <a:gd name="connsiteY26" fmla="*/ 68580 h 266700"/>
              <a:gd name="connsiteX27" fmla="*/ 114300 w 266700"/>
              <a:gd name="connsiteY27" fmla="*/ 53340 h 266700"/>
              <a:gd name="connsiteX28" fmla="*/ 243840 w 266700"/>
              <a:gd name="connsiteY28" fmla="*/ 45872 h 266700"/>
              <a:gd name="connsiteX29" fmla="*/ 266700 w 266700"/>
              <a:gd name="connsiteY29" fmla="*/ 87630 h 266700"/>
              <a:gd name="connsiteX30" fmla="*/ 266700 w 266700"/>
              <a:gd name="connsiteY30" fmla="*/ 186690 h 266700"/>
              <a:gd name="connsiteX31" fmla="*/ 186690 w 266700"/>
              <a:gd name="connsiteY31" fmla="*/ 266700 h 266700"/>
              <a:gd name="connsiteX32" fmla="*/ 87630 w 266700"/>
              <a:gd name="connsiteY32" fmla="*/ 266700 h 266700"/>
              <a:gd name="connsiteX33" fmla="*/ 45872 w 266700"/>
              <a:gd name="connsiteY33" fmla="*/ 243840 h 266700"/>
              <a:gd name="connsiteX34" fmla="*/ 186690 w 266700"/>
              <a:gd name="connsiteY34" fmla="*/ 243840 h 266700"/>
              <a:gd name="connsiteX35" fmla="*/ 243840 w 266700"/>
              <a:gd name="connsiteY35" fmla="*/ 186690 h 266700"/>
              <a:gd name="connsiteX36" fmla="*/ 114300 w 266700"/>
              <a:gd name="connsiteY36" fmla="*/ 30480 h 266700"/>
              <a:gd name="connsiteX37" fmla="*/ 152400 w 266700"/>
              <a:gd name="connsiteY37" fmla="*/ 68580 h 266700"/>
              <a:gd name="connsiteX38" fmla="*/ 114300 w 266700"/>
              <a:gd name="connsiteY38" fmla="*/ 106680 h 266700"/>
              <a:gd name="connsiteX39" fmla="*/ 76200 w 266700"/>
              <a:gd name="connsiteY39" fmla="*/ 68580 h 266700"/>
              <a:gd name="connsiteX40" fmla="*/ 114300 w 266700"/>
              <a:gd name="connsiteY40" fmla="*/ 30480 h 266700"/>
              <a:gd name="connsiteX41" fmla="*/ 49530 w 266700"/>
              <a:gd name="connsiteY41" fmla="*/ 22860 h 266700"/>
              <a:gd name="connsiteX42" fmla="*/ 22860 w 266700"/>
              <a:gd name="connsiteY42" fmla="*/ 49530 h 266700"/>
              <a:gd name="connsiteX43" fmla="*/ 22860 w 266700"/>
              <a:gd name="connsiteY43" fmla="*/ 179070 h 266700"/>
              <a:gd name="connsiteX44" fmla="*/ 49530 w 266700"/>
              <a:gd name="connsiteY44" fmla="*/ 205740 h 266700"/>
              <a:gd name="connsiteX45" fmla="*/ 179070 w 266700"/>
              <a:gd name="connsiteY45" fmla="*/ 205740 h 266700"/>
              <a:gd name="connsiteX46" fmla="*/ 205740 w 266700"/>
              <a:gd name="connsiteY46" fmla="*/ 179070 h 266700"/>
              <a:gd name="connsiteX47" fmla="*/ 205740 w 266700"/>
              <a:gd name="connsiteY47" fmla="*/ 49530 h 266700"/>
              <a:gd name="connsiteX48" fmla="*/ 179070 w 266700"/>
              <a:gd name="connsiteY48" fmla="*/ 22860 h 266700"/>
              <a:gd name="connsiteX49" fmla="*/ 49530 w 266700"/>
              <a:gd name="connsiteY49" fmla="*/ 0 h 266700"/>
              <a:gd name="connsiteX50" fmla="*/ 179070 w 266700"/>
              <a:gd name="connsiteY50" fmla="*/ 0 h 266700"/>
              <a:gd name="connsiteX51" fmla="*/ 228600 w 266700"/>
              <a:gd name="connsiteY51" fmla="*/ 49530 h 266700"/>
              <a:gd name="connsiteX52" fmla="*/ 228600 w 266700"/>
              <a:gd name="connsiteY52" fmla="*/ 179070 h 266700"/>
              <a:gd name="connsiteX53" fmla="*/ 179070 w 266700"/>
              <a:gd name="connsiteY53" fmla="*/ 228600 h 266700"/>
              <a:gd name="connsiteX54" fmla="*/ 49530 w 266700"/>
              <a:gd name="connsiteY54" fmla="*/ 228600 h 266700"/>
              <a:gd name="connsiteX55" fmla="*/ 0 w 266700"/>
              <a:gd name="connsiteY55" fmla="*/ 179070 h 266700"/>
              <a:gd name="connsiteX56" fmla="*/ 0 w 266700"/>
              <a:gd name="connsiteY56" fmla="*/ 49530 h 266700"/>
              <a:gd name="connsiteX57" fmla="*/ 49530 w 266700"/>
              <a:gd name="connsiteY57" fmla="*/ 0 h 266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266700" h="266700">
                <a:moveTo>
                  <a:pt x="68580" y="137160"/>
                </a:moveTo>
                <a:cubicBezTo>
                  <a:pt x="66476" y="137160"/>
                  <a:pt x="64770" y="138865"/>
                  <a:pt x="64770" y="140970"/>
                </a:cubicBezTo>
                <a:lnTo>
                  <a:pt x="64770" y="148590"/>
                </a:lnTo>
                <a:cubicBezTo>
                  <a:pt x="64770" y="152278"/>
                  <a:pt x="65471" y="153192"/>
                  <a:pt x="66736" y="154869"/>
                </a:cubicBezTo>
                <a:cubicBezTo>
                  <a:pt x="67195" y="155462"/>
                  <a:pt x="67633" y="156071"/>
                  <a:pt x="68047" y="156698"/>
                </a:cubicBezTo>
                <a:cubicBezTo>
                  <a:pt x="70460" y="160195"/>
                  <a:pt x="73743" y="163006"/>
                  <a:pt x="77572" y="164851"/>
                </a:cubicBezTo>
                <a:cubicBezTo>
                  <a:pt x="86167" y="169316"/>
                  <a:pt x="98770" y="171450"/>
                  <a:pt x="114300" y="171450"/>
                </a:cubicBezTo>
                <a:cubicBezTo>
                  <a:pt x="133792" y="171450"/>
                  <a:pt x="146228" y="169271"/>
                  <a:pt x="153741" y="164943"/>
                </a:cubicBezTo>
                <a:cubicBezTo>
                  <a:pt x="157031" y="163155"/>
                  <a:pt x="159705" y="160413"/>
                  <a:pt x="161407" y="157079"/>
                </a:cubicBezTo>
                <a:cubicBezTo>
                  <a:pt x="161727" y="156439"/>
                  <a:pt x="162016" y="155905"/>
                  <a:pt x="162276" y="155448"/>
                </a:cubicBezTo>
                <a:cubicBezTo>
                  <a:pt x="163297" y="153604"/>
                  <a:pt x="163830" y="152644"/>
                  <a:pt x="163830" y="148590"/>
                </a:cubicBezTo>
                <a:lnTo>
                  <a:pt x="163830" y="140970"/>
                </a:lnTo>
                <a:cubicBezTo>
                  <a:pt x="163830" y="138865"/>
                  <a:pt x="162125" y="137160"/>
                  <a:pt x="160020" y="137160"/>
                </a:cubicBezTo>
                <a:close/>
                <a:moveTo>
                  <a:pt x="68580" y="114300"/>
                </a:moveTo>
                <a:lnTo>
                  <a:pt x="160020" y="114300"/>
                </a:lnTo>
                <a:cubicBezTo>
                  <a:pt x="174749" y="114300"/>
                  <a:pt x="186690" y="126241"/>
                  <a:pt x="186690" y="140970"/>
                </a:cubicBezTo>
                <a:lnTo>
                  <a:pt x="186690" y="148590"/>
                </a:lnTo>
                <a:cubicBezTo>
                  <a:pt x="186690" y="164607"/>
                  <a:pt x="181082" y="173523"/>
                  <a:pt x="168707" y="182042"/>
                </a:cubicBezTo>
                <a:cubicBezTo>
                  <a:pt x="156591" y="190378"/>
                  <a:pt x="138516" y="194310"/>
                  <a:pt x="114300" y="194310"/>
                </a:cubicBezTo>
                <a:cubicBezTo>
                  <a:pt x="93772" y="194310"/>
                  <a:pt x="75834" y="190317"/>
                  <a:pt x="62880" y="182118"/>
                </a:cubicBezTo>
                <a:cubicBezTo>
                  <a:pt x="49759" y="173812"/>
                  <a:pt x="41910" y="165034"/>
                  <a:pt x="41910" y="148590"/>
                </a:cubicBezTo>
                <a:lnTo>
                  <a:pt x="41910" y="140970"/>
                </a:lnTo>
                <a:cubicBezTo>
                  <a:pt x="41910" y="126241"/>
                  <a:pt x="53851" y="114300"/>
                  <a:pt x="68580" y="114300"/>
                </a:cubicBezTo>
                <a:close/>
                <a:moveTo>
                  <a:pt x="114300" y="53340"/>
                </a:moveTo>
                <a:cubicBezTo>
                  <a:pt x="105883" y="53340"/>
                  <a:pt x="99060" y="60163"/>
                  <a:pt x="99060" y="68580"/>
                </a:cubicBezTo>
                <a:cubicBezTo>
                  <a:pt x="99060" y="76997"/>
                  <a:pt x="105883" y="83820"/>
                  <a:pt x="114300" y="83820"/>
                </a:cubicBezTo>
                <a:cubicBezTo>
                  <a:pt x="122717" y="83820"/>
                  <a:pt x="129540" y="76997"/>
                  <a:pt x="129540" y="68580"/>
                </a:cubicBezTo>
                <a:cubicBezTo>
                  <a:pt x="129540" y="60163"/>
                  <a:pt x="122717" y="53340"/>
                  <a:pt x="114300" y="53340"/>
                </a:cubicBezTo>
                <a:close/>
                <a:moveTo>
                  <a:pt x="243840" y="45872"/>
                </a:moveTo>
                <a:cubicBezTo>
                  <a:pt x="258094" y="54971"/>
                  <a:pt x="266715" y="70719"/>
                  <a:pt x="266700" y="87630"/>
                </a:cubicBezTo>
                <a:lnTo>
                  <a:pt x="266700" y="186690"/>
                </a:lnTo>
                <a:cubicBezTo>
                  <a:pt x="266700" y="230886"/>
                  <a:pt x="230886" y="266700"/>
                  <a:pt x="186690" y="266700"/>
                </a:cubicBezTo>
                <a:lnTo>
                  <a:pt x="87630" y="266700"/>
                </a:lnTo>
                <a:cubicBezTo>
                  <a:pt x="70719" y="266712"/>
                  <a:pt x="54973" y="258092"/>
                  <a:pt x="45872" y="243840"/>
                </a:cubicBezTo>
                <a:lnTo>
                  <a:pt x="186690" y="243840"/>
                </a:lnTo>
                <a:cubicBezTo>
                  <a:pt x="218253" y="243840"/>
                  <a:pt x="243840" y="218253"/>
                  <a:pt x="243840" y="186690"/>
                </a:cubicBezTo>
                <a:close/>
                <a:moveTo>
                  <a:pt x="114300" y="30480"/>
                </a:moveTo>
                <a:cubicBezTo>
                  <a:pt x="135342" y="30480"/>
                  <a:pt x="152400" y="47538"/>
                  <a:pt x="152400" y="68580"/>
                </a:cubicBezTo>
                <a:cubicBezTo>
                  <a:pt x="152400" y="89622"/>
                  <a:pt x="135342" y="106680"/>
                  <a:pt x="114300" y="106680"/>
                </a:cubicBezTo>
                <a:cubicBezTo>
                  <a:pt x="93258" y="106680"/>
                  <a:pt x="76200" y="89622"/>
                  <a:pt x="76200" y="68580"/>
                </a:cubicBezTo>
                <a:cubicBezTo>
                  <a:pt x="76200" y="47538"/>
                  <a:pt x="93258" y="30480"/>
                  <a:pt x="114300" y="30480"/>
                </a:cubicBezTo>
                <a:close/>
                <a:moveTo>
                  <a:pt x="49530" y="22860"/>
                </a:moveTo>
                <a:cubicBezTo>
                  <a:pt x="34801" y="22860"/>
                  <a:pt x="22860" y="34801"/>
                  <a:pt x="22860" y="49530"/>
                </a:cubicBezTo>
                <a:lnTo>
                  <a:pt x="22860" y="179070"/>
                </a:lnTo>
                <a:cubicBezTo>
                  <a:pt x="22860" y="193792"/>
                  <a:pt x="34808" y="205740"/>
                  <a:pt x="49530" y="205740"/>
                </a:cubicBezTo>
                <a:lnTo>
                  <a:pt x="179070" y="205740"/>
                </a:lnTo>
                <a:cubicBezTo>
                  <a:pt x="193799" y="205740"/>
                  <a:pt x="205740" y="193799"/>
                  <a:pt x="205740" y="179070"/>
                </a:cubicBezTo>
                <a:lnTo>
                  <a:pt x="205740" y="49530"/>
                </a:lnTo>
                <a:cubicBezTo>
                  <a:pt x="205740" y="34801"/>
                  <a:pt x="193799" y="22860"/>
                  <a:pt x="179070" y="22860"/>
                </a:cubicBezTo>
                <a:close/>
                <a:moveTo>
                  <a:pt x="49530" y="0"/>
                </a:moveTo>
                <a:lnTo>
                  <a:pt x="179070" y="0"/>
                </a:lnTo>
                <a:cubicBezTo>
                  <a:pt x="206424" y="0"/>
                  <a:pt x="228600" y="22175"/>
                  <a:pt x="228600" y="49530"/>
                </a:cubicBezTo>
                <a:lnTo>
                  <a:pt x="228600" y="179070"/>
                </a:lnTo>
                <a:cubicBezTo>
                  <a:pt x="228600" y="206424"/>
                  <a:pt x="206424" y="228600"/>
                  <a:pt x="179070" y="228600"/>
                </a:cubicBezTo>
                <a:lnTo>
                  <a:pt x="49530" y="228600"/>
                </a:lnTo>
                <a:cubicBezTo>
                  <a:pt x="22175" y="228600"/>
                  <a:pt x="0" y="206424"/>
                  <a:pt x="0" y="179070"/>
                </a:cubicBezTo>
                <a:lnTo>
                  <a:pt x="0" y="49530"/>
                </a:lnTo>
                <a:cubicBezTo>
                  <a:pt x="0" y="22175"/>
                  <a:pt x="22175" y="0"/>
                  <a:pt x="49530" y="0"/>
                </a:cubicBezTo>
                <a:close/>
              </a:path>
            </a:pathLst>
          </a:custGeom>
          <a:gradFill flip="none" rotWithShape="1">
            <a:gsLst>
              <a:gs pos="35000">
                <a:srgbClr val="0078D4"/>
              </a:gs>
              <a:gs pos="0">
                <a:srgbClr val="C03BC4"/>
              </a:gs>
            </a:gsLst>
            <a:path path="circle">
              <a:fillToRect l="100000" t="100000"/>
            </a:path>
            <a:tileRect r="-100000" b="-100000"/>
          </a:gradFill>
          <a:ln>
            <a:noFill/>
            <a:headEnd type="none" w="med" len="med"/>
            <a:tailEnd type="none" w="med" len="med"/>
          </a:ln>
          <a:effectLst>
            <a:outerShdw blurRad="63500" dist="101600" dir="2700000" algn="tl" rotWithShape="0">
              <a:srgbClr val="454142">
                <a:alpha val="25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91440" numCol="1" spcCol="0" rtlCol="0" fromWordArt="0" anchor="b" anchorCtr="0" forceAA="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1" i="0" u="none" strike="noStrike" kern="1200" cap="none" spc="0" normalizeH="0" baseline="0" noProof="0" dirty="0">
              <a:ln w="3175">
                <a:noFill/>
              </a:ln>
              <a:gradFill>
                <a:gsLst>
                  <a:gs pos="76437">
                    <a:srgbClr val="FFFFFF"/>
                  </a:gs>
                  <a:gs pos="55747">
                    <a:srgbClr val="FFFFFF"/>
                  </a:gs>
                </a:gsLst>
                <a:path path="circle">
                  <a:fillToRect l="100000" b="100000"/>
                </a:path>
              </a:gradFill>
              <a:effectLst/>
              <a:uLnTx/>
              <a:uFillTx/>
              <a:latin typeface="Segoe UI Semibold"/>
              <a:ea typeface="+mn-ea"/>
              <a:cs typeface="Segoe UI" pitchFamily="34" charset="0"/>
            </a:endParaRPr>
          </a:p>
        </p:txBody>
      </p:sp>
      <p:sp>
        <p:nvSpPr>
          <p:cNvPr id="36" name="Rectangle: Rounded Corners 26">
            <a:extLst>
              <a:ext uri="{FF2B5EF4-FFF2-40B4-BE49-F238E27FC236}">
                <a16:creationId xmlns:a16="http://schemas.microsoft.com/office/drawing/2014/main" id="{EF2C3AB6-C695-5E18-A7FD-61B802B8D9D2}"/>
              </a:ext>
            </a:extLst>
          </p:cNvPr>
          <p:cNvSpPr/>
          <p:nvPr/>
        </p:nvSpPr>
        <p:spPr bwMode="auto">
          <a:xfrm>
            <a:off x="862105" y="4078346"/>
            <a:ext cx="6563696" cy="302281"/>
          </a:xfrm>
          <a:prstGeom prst="roundRect">
            <a:avLst>
              <a:gd name="adj" fmla="val 0"/>
            </a:avLst>
          </a:prstGeom>
          <a:noFill/>
          <a:ln>
            <a:noFill/>
            <a:headEnd type="none" w="med" len="med"/>
            <a:tailEnd type="none" w="med" len="med"/>
          </a:ln>
          <a:effectLst>
            <a:outerShdw blurRad="1905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91440" rIns="91440" bIns="91440"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gradFill flip="none" rotWithShape="1">
                  <a:gsLst>
                    <a:gs pos="37000">
                      <a:srgbClr val="0078D4"/>
                    </a:gs>
                    <a:gs pos="100000">
                      <a:srgbClr val="C03BC4"/>
                    </a:gs>
                  </a:gsLst>
                  <a:path path="circle">
                    <a:fillToRect r="100000" b="100000"/>
                  </a:path>
                  <a:tileRect l="-100000" t="-100000"/>
                </a:gradFill>
                <a:effectLst/>
                <a:uLnTx/>
                <a:uFillTx/>
                <a:latin typeface="Segoe UI Semibold"/>
                <a:ea typeface="+mn-ea"/>
                <a:cs typeface="+mn-cs"/>
              </a:rPr>
              <a:t>How AI can help reduce day sales outstanding</a:t>
            </a:r>
          </a:p>
        </p:txBody>
      </p:sp>
      <p:cxnSp>
        <p:nvCxnSpPr>
          <p:cNvPr id="12" name="Straight Connector 11">
            <a:extLst>
              <a:ext uri="{FF2B5EF4-FFF2-40B4-BE49-F238E27FC236}">
                <a16:creationId xmlns:a16="http://schemas.microsoft.com/office/drawing/2014/main" id="{BA8FEF6C-A57E-AD4C-597D-4AC3D38BE310}"/>
              </a:ext>
              <a:ext uri="{C183D7F6-B498-43B3-948B-1728B52AA6E4}">
                <adec:decorative xmlns:adec="http://schemas.microsoft.com/office/drawing/2017/decorative" val="1"/>
              </a:ext>
            </a:extLst>
          </p:cNvPr>
          <p:cNvCxnSpPr>
            <a:cxnSpLocks/>
          </p:cNvCxnSpPr>
          <p:nvPr/>
        </p:nvCxnSpPr>
        <p:spPr>
          <a:xfrm>
            <a:off x="7955666" y="2340178"/>
            <a:ext cx="3211243" cy="0"/>
          </a:xfrm>
          <a:prstGeom prst="line">
            <a:avLst/>
          </a:prstGeom>
          <a:ln>
            <a:solidFill>
              <a:schemeClr val="tx2">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3" name="Text Placeholder 72">
            <a:extLst>
              <a:ext uri="{FF2B5EF4-FFF2-40B4-BE49-F238E27FC236}">
                <a16:creationId xmlns:a16="http://schemas.microsoft.com/office/drawing/2014/main" id="{A3D2998C-5E22-A1FC-F0F2-FD7C8DC0F193}"/>
              </a:ext>
            </a:extLst>
          </p:cNvPr>
          <p:cNvSpPr txBox="1">
            <a:spLocks/>
          </p:cNvSpPr>
          <p:nvPr/>
        </p:nvSpPr>
        <p:spPr>
          <a:xfrm>
            <a:off x="7980025" y="2515581"/>
            <a:ext cx="3347617" cy="261610"/>
          </a:xfrm>
          <a:prstGeom prst="rect">
            <a:avLst/>
          </a:prstGeom>
        </p:spPr>
        <p:txBody>
          <a:bodyPr wrap="square" lIns="0" tIns="0" rIns="0" bIns="0" numCol="2">
            <a:spAutoFit/>
          </a:bodyPr>
          <a:lstStyle>
            <a:lvl1pPr marL="0" indent="0" algn="l" defTabSz="914400" rtl="0" eaLnBrk="1" latinLnBrk="0" hangingPunct="1">
              <a:lnSpc>
                <a:spcPct val="90000"/>
              </a:lnSpc>
              <a:spcBef>
                <a:spcPts val="1000"/>
              </a:spcBef>
              <a:buFont typeface="Arial" panose="020B0604020202020204" pitchFamily="34" charset="0"/>
              <a:buNone/>
              <a:defRPr lang="en-US" sz="600" b="0" i="0" kern="1200" dirty="0">
                <a:solidFill>
                  <a:srgbClr val="000000"/>
                </a:solidFill>
                <a:effectLst/>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32597"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Collection Manager</a:t>
            </a:r>
          </a:p>
        </p:txBody>
      </p:sp>
      <p:pic>
        <p:nvPicPr>
          <p:cNvPr id="9" name="Picture 8">
            <a:extLst>
              <a:ext uri="{FF2B5EF4-FFF2-40B4-BE49-F238E27FC236}">
                <a16:creationId xmlns:a16="http://schemas.microsoft.com/office/drawing/2014/main" id="{69D90E67-38AA-6C7D-8A55-6BAFFFA86A5F}"/>
              </a:ext>
              <a:ext uri="{C183D7F6-B498-43B3-948B-1728B52AA6E4}">
                <adec:decorative xmlns:adec="http://schemas.microsoft.com/office/drawing/2017/decorative" val="1"/>
              </a:ext>
            </a:extLst>
          </p:cNvPr>
          <p:cNvPicPr>
            <a:picLocks/>
          </p:cNvPicPr>
          <p:nvPr/>
        </p:nvPicPr>
        <p:blipFill rotWithShape="1">
          <a:blip r:embed="rId4" cstate="screen">
            <a:extLst>
              <a:ext uri="{28A0092B-C50C-407E-A947-70E740481C1C}">
                <a14:useLocalDpi xmlns:a14="http://schemas.microsoft.com/office/drawing/2010/main"/>
              </a:ext>
            </a:extLst>
          </a:blip>
          <a:srcRect/>
          <a:stretch/>
        </p:blipFill>
        <p:spPr>
          <a:xfrm>
            <a:off x="715083" y="1579849"/>
            <a:ext cx="6831468" cy="1668733"/>
          </a:xfrm>
          <a:prstGeom prst="roundRect">
            <a:avLst>
              <a:gd name="adj" fmla="val 3554"/>
            </a:avLst>
          </a:prstGeom>
          <a:solidFill>
            <a:schemeClr val="bg1">
              <a:alpha val="70000"/>
            </a:schemeClr>
          </a:solidFill>
          <a:ln>
            <a:solidFill>
              <a:schemeClr val="bg1"/>
            </a:solidFill>
          </a:ln>
          <a:effectLst>
            <a:outerShdw blurRad="223661" dist="140295" dir="2700000" algn="tl" rotWithShape="0">
              <a:schemeClr val="accent1">
                <a:alpha val="15000"/>
              </a:schemeClr>
            </a:outerShdw>
          </a:effectLst>
        </p:spPr>
      </p:pic>
      <p:sp>
        <p:nvSpPr>
          <p:cNvPr id="11" name="Text Placeholder 4">
            <a:extLst>
              <a:ext uri="{FF2B5EF4-FFF2-40B4-BE49-F238E27FC236}">
                <a16:creationId xmlns:a16="http://schemas.microsoft.com/office/drawing/2014/main" id="{8A543626-AF81-030D-7825-ABD18E579525}"/>
              </a:ext>
              <a:ext uri="{C183D7F6-B498-43B3-948B-1728B52AA6E4}">
                <adec:decorative xmlns:adec="http://schemas.microsoft.com/office/drawing/2017/decorative" val="1"/>
              </a:ext>
            </a:extLst>
          </p:cNvPr>
          <p:cNvSpPr txBox="1">
            <a:spLocks/>
          </p:cNvSpPr>
          <p:nvPr/>
        </p:nvSpPr>
        <p:spPr>
          <a:xfrm>
            <a:off x="863598" y="4483499"/>
            <a:ext cx="3020656" cy="1726627"/>
          </a:xfrm>
          <a:prstGeom prst="rect">
            <a:avLst/>
          </a:prstGeom>
        </p:spPr>
        <p:txBody>
          <a:bodyPr vert="horz" wrap="square" lIns="0" tIns="0" rIns="0" bIns="0" numCol="1" rtlCol="0">
            <a:spAutoFit/>
          </a:bodyPr>
          <a:lstStyle>
            <a:defPPr>
              <a:defRPr lang="en-US"/>
            </a:defPPr>
            <a:lvl1pPr marR="0" indent="0" defTabSz="582780" fontAlgn="auto">
              <a:lnSpc>
                <a:spcPct val="110000"/>
              </a:lnSpc>
              <a:spcBef>
                <a:spcPct val="0"/>
              </a:spcBef>
              <a:spcAft>
                <a:spcPts val="300"/>
              </a:spcAft>
              <a:buClrTx/>
              <a:buSzTx/>
              <a:buFont typeface="Wingdings" panose="05000000000000000000" pitchFamily="2" charset="2"/>
              <a:buNone/>
              <a:tabLst/>
              <a:defRPr sz="1000" b="0" i="0" spc="0" baseline="0">
                <a:effectLst/>
                <a:cs typeface="Segoe UI Semilight" panose="020B0402040204020203" pitchFamily="34" charset="0"/>
              </a:defRPr>
            </a:lvl1pPr>
            <a:lvl2pPr marR="0" indent="-228600" defTabSz="932742" fontAlgn="auto">
              <a:lnSpc>
                <a:spcPct val="100000"/>
              </a:lnSpc>
              <a:spcBef>
                <a:spcPct val="20000"/>
              </a:spcBef>
              <a:spcAft>
                <a:spcPts val="0"/>
              </a:spcAft>
              <a:buClrTx/>
              <a:buSzPct val="90000"/>
              <a:buFont typeface="Wingdings" panose="05000000000000000000" pitchFamily="2" charset="2"/>
              <a:buChar char=""/>
              <a:tabLst/>
              <a:defRPr sz="1600" spc="0" baseline="0">
                <a:solidFill>
                  <a:srgbClr val="000000"/>
                </a:solidFill>
              </a:defRPr>
            </a:lvl2pPr>
            <a:lvl3pPr marL="657225" marR="0" indent="-200025" defTabSz="932742" fontAlgn="auto">
              <a:lnSpc>
                <a:spcPct val="100000"/>
              </a:lnSpc>
              <a:spcBef>
                <a:spcPct val="20000"/>
              </a:spcBef>
              <a:spcAft>
                <a:spcPts val="0"/>
              </a:spcAft>
              <a:buClrTx/>
              <a:buSzPct val="90000"/>
              <a:buFont typeface="Wingdings" panose="05000000000000000000" pitchFamily="2" charset="2"/>
              <a:buChar char=""/>
              <a:tabLst/>
              <a:defRPr sz="1400" spc="0" baseline="0">
                <a:solidFill>
                  <a:srgbClr val="000000"/>
                </a:solidFill>
              </a:defRPr>
            </a:lvl3pPr>
            <a:lvl4pPr marL="842963" marR="0" indent="-180975" defTabSz="932742" fontAlgn="auto">
              <a:lnSpc>
                <a:spcPct val="100000"/>
              </a:lnSpc>
              <a:spcBef>
                <a:spcPct val="20000"/>
              </a:spcBef>
              <a:spcAft>
                <a:spcPts val="0"/>
              </a:spcAft>
              <a:buClrTx/>
              <a:buSzPct val="90000"/>
              <a:buFont typeface="Wingdings" panose="05000000000000000000" pitchFamily="2" charset="2"/>
              <a:buChar char=""/>
              <a:tabLst/>
              <a:defRPr sz="1200" spc="0" baseline="0">
                <a:solidFill>
                  <a:srgbClr val="000000"/>
                </a:solidFill>
              </a:defRPr>
            </a:lvl4pPr>
            <a:lvl5pPr marL="1023938" marR="0" indent="-168275" defTabSz="932742" fontAlgn="auto">
              <a:lnSpc>
                <a:spcPct val="100000"/>
              </a:lnSpc>
              <a:spcBef>
                <a:spcPct val="20000"/>
              </a:spcBef>
              <a:spcAft>
                <a:spcPts val="0"/>
              </a:spcAft>
              <a:buClrTx/>
              <a:buSzPct val="90000"/>
              <a:buFont typeface="Wingdings" panose="05000000000000000000" pitchFamily="2" charset="2"/>
              <a:buChar char=""/>
              <a:tabLst/>
              <a:defRPr sz="1000" spc="0" baseline="0">
                <a:solidFill>
                  <a:srgbClr val="000000"/>
                </a:solidFill>
              </a:defRPr>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pPr marL="0" marR="0" lvl="0" indent="0" algn="l" defTabSz="932597" rtl="0" eaLnBrk="1" fontAlgn="auto" latinLnBrk="0" hangingPunct="1">
              <a:lnSpc>
                <a:spcPct val="100000"/>
              </a:lnSpc>
              <a:spcBef>
                <a:spcPts val="0"/>
              </a:spcBef>
              <a:spcAft>
                <a:spcPts val="900"/>
              </a:spcAft>
              <a:buClrTx/>
              <a:buSzTx/>
              <a:buFont typeface="Wingdings" panose="05000000000000000000" pitchFamily="2" charset="2"/>
              <a:buNone/>
              <a:tabLst/>
              <a:defRPr/>
            </a:pPr>
            <a:r>
              <a:rPr kumimoji="0" lang="en-US" sz="1200" b="1" i="0" u="none" strike="noStrike" kern="1200" cap="none" spc="0" normalizeH="0" baseline="0" noProof="0" dirty="0">
                <a:ln>
                  <a:noFill/>
                </a:ln>
                <a:solidFill>
                  <a:srgbClr val="C5B4E3">
                    <a:lumMod val="50000"/>
                  </a:srgbClr>
                </a:solidFill>
                <a:effectLst/>
                <a:uLnTx/>
                <a:uFillTx/>
                <a:latin typeface="Segoe UI Semibold"/>
                <a:ea typeface="+mn-ea"/>
                <a:cs typeface="Segoe UI Semilight" panose="020B0402040204020203" pitchFamily="34" charset="0"/>
              </a:rPr>
              <a:t>Improve collections process</a:t>
            </a:r>
          </a:p>
          <a:p>
            <a:pPr marL="171450" marR="0" lvl="0" indent="-171450" algn="l" defTabSz="93259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rgbClr val="000000"/>
                </a:solidFill>
                <a:effectLst/>
                <a:uLnTx/>
                <a:uFillTx/>
                <a:latin typeface="Segoe UI"/>
                <a:ea typeface="+mn-ea"/>
                <a:cs typeface="Segoe UI"/>
              </a:rPr>
              <a:t>Use Copilot to organize </a:t>
            </a:r>
            <a:br>
              <a:rPr kumimoji="0" lang="en-US" sz="1050" b="0" i="0" u="none" strike="noStrike" kern="1200" cap="none" spc="0" normalizeH="0" baseline="0" noProof="0" dirty="0">
                <a:ln>
                  <a:noFill/>
                </a:ln>
                <a:solidFill>
                  <a:srgbClr val="000000"/>
                </a:solidFill>
                <a:effectLst/>
                <a:uLnTx/>
                <a:uFillTx/>
                <a:latin typeface="Segoe UI"/>
                <a:ea typeface="+mn-ea"/>
                <a:cs typeface="Segoe UI"/>
              </a:rPr>
            </a:br>
            <a:r>
              <a:rPr kumimoji="0" lang="en-US" sz="1050" b="0" i="0" u="none" strike="noStrike" kern="1200" cap="none" spc="0" normalizeH="0" baseline="0" noProof="0" dirty="0">
                <a:ln>
                  <a:noFill/>
                </a:ln>
                <a:solidFill>
                  <a:srgbClr val="000000"/>
                </a:solidFill>
                <a:effectLst/>
                <a:uLnTx/>
                <a:uFillTx/>
                <a:latin typeface="Segoe UI"/>
                <a:ea typeface="+mn-ea"/>
                <a:cs typeface="Segoe UI"/>
              </a:rPr>
              <a:t>information from past interactions</a:t>
            </a:r>
          </a:p>
          <a:p>
            <a:pPr marL="171450" marR="0" lvl="0" indent="-171450" algn="l" defTabSz="93259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rgbClr val="000000"/>
                </a:solidFill>
                <a:effectLst/>
                <a:uLnTx/>
                <a:uFillTx/>
                <a:latin typeface="Segoe UI"/>
                <a:ea typeface="+mn-ea"/>
                <a:cs typeface="Segoe UI"/>
              </a:rPr>
              <a:t>Draft communications with Copilot clearly outlining the collection process</a:t>
            </a:r>
          </a:p>
          <a:p>
            <a:pPr marL="171450" marR="0" lvl="0" indent="-171450" algn="l" defTabSz="93259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rgbClr val="000000"/>
                </a:solidFill>
                <a:effectLst/>
                <a:uLnTx/>
                <a:uFillTx/>
                <a:latin typeface="Segoe UI"/>
                <a:ea typeface="+mn-ea"/>
                <a:cs typeface="Segoe UI"/>
              </a:rPr>
              <a:t>Analyze different payment </a:t>
            </a:r>
            <a:br>
              <a:rPr kumimoji="0" lang="en-US" sz="1050" b="0" i="0" u="none" strike="noStrike" kern="1200" cap="none" spc="0" normalizeH="0" baseline="0" noProof="0" dirty="0">
                <a:ln>
                  <a:noFill/>
                </a:ln>
                <a:solidFill>
                  <a:srgbClr val="000000"/>
                </a:solidFill>
                <a:effectLst/>
                <a:uLnTx/>
                <a:uFillTx/>
                <a:latin typeface="Segoe UI"/>
                <a:ea typeface="+mn-ea"/>
                <a:cs typeface="Segoe UI"/>
              </a:rPr>
            </a:br>
            <a:r>
              <a:rPr kumimoji="0" lang="en-US" sz="1050" b="0" i="0" u="none" strike="noStrike" kern="1200" cap="none" spc="0" normalizeH="0" baseline="0" noProof="0" dirty="0">
                <a:ln>
                  <a:noFill/>
                </a:ln>
                <a:solidFill>
                  <a:srgbClr val="000000"/>
                </a:solidFill>
                <a:effectLst/>
                <a:uLnTx/>
                <a:uFillTx/>
                <a:latin typeface="Segoe UI"/>
                <a:ea typeface="+mn-ea"/>
                <a:cs typeface="Segoe UI"/>
              </a:rPr>
              <a:t>methods and its effectiveness</a:t>
            </a:r>
          </a:p>
          <a:p>
            <a:pPr marL="171450" marR="0" lvl="0" indent="-171450" algn="l" defTabSz="93259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rgbClr val="000000"/>
                </a:solidFill>
                <a:effectLst/>
                <a:uLnTx/>
                <a:uFillTx/>
                <a:latin typeface="Segoe UI"/>
                <a:ea typeface="+mn-ea"/>
                <a:cs typeface="Segoe UI"/>
              </a:rPr>
              <a:t>Connect your ERP or finance system to access customer records from directly within Outlook.</a:t>
            </a:r>
          </a:p>
        </p:txBody>
      </p:sp>
      <p:sp>
        <p:nvSpPr>
          <p:cNvPr id="14" name="Text Placeholder 4">
            <a:extLst>
              <a:ext uri="{FF2B5EF4-FFF2-40B4-BE49-F238E27FC236}">
                <a16:creationId xmlns:a16="http://schemas.microsoft.com/office/drawing/2014/main" id="{872A308C-D493-FD42-3C62-6282E2237C23}"/>
              </a:ext>
              <a:ext uri="{C183D7F6-B498-43B3-948B-1728B52AA6E4}">
                <adec:decorative xmlns:adec="http://schemas.microsoft.com/office/drawing/2017/decorative" val="1"/>
              </a:ext>
            </a:extLst>
          </p:cNvPr>
          <p:cNvSpPr txBox="1">
            <a:spLocks/>
          </p:cNvSpPr>
          <p:nvPr/>
        </p:nvSpPr>
        <p:spPr>
          <a:xfrm>
            <a:off x="4044703" y="4483499"/>
            <a:ext cx="3020655" cy="1603516"/>
          </a:xfrm>
          <a:prstGeom prst="rect">
            <a:avLst/>
          </a:prstGeom>
        </p:spPr>
        <p:txBody>
          <a:bodyPr vert="horz" wrap="square" lIns="0" tIns="0" rIns="0" bIns="0" numCol="1" rtlCol="0">
            <a:spAutoFit/>
          </a:bodyPr>
          <a:lstStyle>
            <a:defPPr>
              <a:defRPr lang="en-US"/>
            </a:defPPr>
            <a:lvl1pPr marR="0" indent="0" defTabSz="582780" fontAlgn="auto">
              <a:lnSpc>
                <a:spcPct val="110000"/>
              </a:lnSpc>
              <a:spcBef>
                <a:spcPct val="0"/>
              </a:spcBef>
              <a:spcAft>
                <a:spcPts val="300"/>
              </a:spcAft>
              <a:buClrTx/>
              <a:buSzTx/>
              <a:buFont typeface="Wingdings" panose="05000000000000000000" pitchFamily="2" charset="2"/>
              <a:buNone/>
              <a:tabLst/>
              <a:defRPr sz="1000" b="0" i="0" spc="0" baseline="0">
                <a:effectLst/>
                <a:cs typeface="Segoe UI Semilight" panose="020B0402040204020203" pitchFamily="34" charset="0"/>
              </a:defRPr>
            </a:lvl1pPr>
            <a:lvl2pPr marR="0" indent="-228600" defTabSz="932742" fontAlgn="auto">
              <a:lnSpc>
                <a:spcPct val="100000"/>
              </a:lnSpc>
              <a:spcBef>
                <a:spcPct val="20000"/>
              </a:spcBef>
              <a:spcAft>
                <a:spcPts val="0"/>
              </a:spcAft>
              <a:buClrTx/>
              <a:buSzPct val="90000"/>
              <a:buFont typeface="Wingdings" panose="05000000000000000000" pitchFamily="2" charset="2"/>
              <a:buChar char=""/>
              <a:tabLst/>
              <a:defRPr sz="1600" spc="0" baseline="0">
                <a:solidFill>
                  <a:srgbClr val="000000"/>
                </a:solidFill>
              </a:defRPr>
            </a:lvl2pPr>
            <a:lvl3pPr marL="657225" marR="0" indent="-200025" defTabSz="932742" fontAlgn="auto">
              <a:lnSpc>
                <a:spcPct val="100000"/>
              </a:lnSpc>
              <a:spcBef>
                <a:spcPct val="20000"/>
              </a:spcBef>
              <a:spcAft>
                <a:spcPts val="0"/>
              </a:spcAft>
              <a:buClrTx/>
              <a:buSzPct val="90000"/>
              <a:buFont typeface="Wingdings" panose="05000000000000000000" pitchFamily="2" charset="2"/>
              <a:buChar char=""/>
              <a:tabLst/>
              <a:defRPr sz="1400" spc="0" baseline="0">
                <a:solidFill>
                  <a:srgbClr val="000000"/>
                </a:solidFill>
              </a:defRPr>
            </a:lvl3pPr>
            <a:lvl4pPr marL="842963" marR="0" indent="-180975" defTabSz="932742" fontAlgn="auto">
              <a:lnSpc>
                <a:spcPct val="100000"/>
              </a:lnSpc>
              <a:spcBef>
                <a:spcPct val="20000"/>
              </a:spcBef>
              <a:spcAft>
                <a:spcPts val="0"/>
              </a:spcAft>
              <a:buClrTx/>
              <a:buSzPct val="90000"/>
              <a:buFont typeface="Wingdings" panose="05000000000000000000" pitchFamily="2" charset="2"/>
              <a:buChar char=""/>
              <a:tabLst/>
              <a:defRPr sz="1200" spc="0" baseline="0">
                <a:solidFill>
                  <a:srgbClr val="000000"/>
                </a:solidFill>
              </a:defRPr>
            </a:lvl4pPr>
            <a:lvl5pPr marL="1023938" marR="0" indent="-168275" defTabSz="932742" fontAlgn="auto">
              <a:lnSpc>
                <a:spcPct val="100000"/>
              </a:lnSpc>
              <a:spcBef>
                <a:spcPct val="20000"/>
              </a:spcBef>
              <a:spcAft>
                <a:spcPts val="0"/>
              </a:spcAft>
              <a:buClrTx/>
              <a:buSzPct val="90000"/>
              <a:buFont typeface="Wingdings" panose="05000000000000000000" pitchFamily="2" charset="2"/>
              <a:buChar char=""/>
              <a:tabLst/>
              <a:defRPr sz="1000" spc="0" baseline="0">
                <a:solidFill>
                  <a:srgbClr val="000000"/>
                </a:solidFill>
              </a:defRPr>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pPr marL="0" marR="0" lvl="0" indent="0" algn="l" defTabSz="932597" rtl="0" eaLnBrk="1" fontAlgn="auto" latinLnBrk="0" hangingPunct="1">
              <a:lnSpc>
                <a:spcPct val="100000"/>
              </a:lnSpc>
              <a:spcBef>
                <a:spcPts val="0"/>
              </a:spcBef>
              <a:spcAft>
                <a:spcPts val="900"/>
              </a:spcAft>
              <a:buClrTx/>
              <a:buSzTx/>
              <a:buFont typeface="Wingdings" panose="05000000000000000000" pitchFamily="2" charset="2"/>
              <a:buNone/>
              <a:tabLst/>
              <a:defRPr/>
            </a:pPr>
            <a:r>
              <a:rPr kumimoji="0" lang="en-US" sz="1200" b="1" i="0" u="none" strike="noStrike" kern="1200" cap="none" spc="0" normalizeH="0" baseline="0" noProof="0" dirty="0">
                <a:ln>
                  <a:noFill/>
                </a:ln>
                <a:solidFill>
                  <a:srgbClr val="C5B4E3">
                    <a:lumMod val="50000"/>
                  </a:srgbClr>
                </a:solidFill>
                <a:effectLst/>
                <a:uLnTx/>
                <a:uFillTx/>
                <a:latin typeface="Segoe UI Semibold"/>
                <a:ea typeface="+mn-ea"/>
                <a:cs typeface="Segoe UI Semilight" panose="020B0402040204020203" pitchFamily="34" charset="0"/>
              </a:rPr>
              <a:t>Improve customer meetings</a:t>
            </a:r>
          </a:p>
          <a:p>
            <a:pPr marL="171450" marR="0" lvl="0" indent="-171450" algn="l" defTabSz="93259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rgbClr val="000000"/>
                </a:solidFill>
                <a:effectLst/>
                <a:uLnTx/>
                <a:uFillTx/>
                <a:latin typeface="Segoe UI"/>
                <a:ea typeface="+mn-ea"/>
                <a:cs typeface="Segoe UI"/>
              </a:rPr>
              <a:t>Prepare for the meeting</a:t>
            </a:r>
          </a:p>
          <a:p>
            <a:pPr marL="171450" marR="0" lvl="0" indent="-171450" algn="l" defTabSz="93259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rgbClr val="000000"/>
                </a:solidFill>
                <a:effectLst/>
                <a:uLnTx/>
                <a:uFillTx/>
                <a:latin typeface="Segoe UI"/>
                <a:ea typeface="+mn-ea"/>
                <a:cs typeface="Segoe UI"/>
              </a:rPr>
              <a:t>Focus during the meeting</a:t>
            </a:r>
          </a:p>
          <a:p>
            <a:pPr marL="171450" marR="0" lvl="0" indent="-171450" algn="l" defTabSz="93259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rgbClr val="000000"/>
                </a:solidFill>
                <a:effectLst/>
                <a:uLnTx/>
                <a:uFillTx/>
                <a:latin typeface="Segoe UI"/>
                <a:ea typeface="+mn-ea"/>
                <a:cs typeface="Segoe UI"/>
              </a:rPr>
              <a:t>Generate follow up communications regarding outstanding balance or payment plan</a:t>
            </a:r>
          </a:p>
          <a:p>
            <a:pPr marL="171450" marR="0" lvl="0" indent="-171450" algn="l" defTabSz="93259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rgbClr val="000000"/>
                </a:solidFill>
                <a:effectLst/>
                <a:uLnTx/>
                <a:uFillTx/>
                <a:latin typeface="Segoe UI"/>
                <a:ea typeface="+mn-ea"/>
                <a:cs typeface="Segoe UI"/>
              </a:rPr>
              <a:t>Connect your ERP or finance system to access</a:t>
            </a:r>
            <a:br>
              <a:rPr kumimoji="0" lang="en-US" sz="1050" b="0" i="0" u="none" strike="noStrike" kern="1200" cap="none" spc="0" normalizeH="0" baseline="0" noProof="0" dirty="0">
                <a:ln>
                  <a:noFill/>
                </a:ln>
                <a:solidFill>
                  <a:srgbClr val="000000"/>
                </a:solidFill>
                <a:effectLst/>
                <a:uLnTx/>
                <a:uFillTx/>
                <a:latin typeface="Segoe UI"/>
                <a:ea typeface="+mn-ea"/>
                <a:cs typeface="Segoe UI"/>
              </a:rPr>
            </a:br>
            <a:r>
              <a:rPr kumimoji="0" lang="en-US" sz="1050" b="0" i="0" u="none" strike="noStrike" kern="1200" cap="none" spc="0" normalizeH="0" baseline="0" noProof="0" dirty="0">
                <a:ln>
                  <a:noFill/>
                </a:ln>
                <a:solidFill>
                  <a:srgbClr val="000000"/>
                </a:solidFill>
                <a:effectLst/>
                <a:uLnTx/>
                <a:uFillTx/>
                <a:latin typeface="Segoe UI"/>
                <a:ea typeface="+mn-ea"/>
                <a:cs typeface="Segoe UI"/>
              </a:rPr>
              <a:t>customer records from directly within Outlook. </a:t>
            </a:r>
          </a:p>
          <a:p>
            <a:pPr marL="171450" marR="0" lvl="0" indent="-171450" algn="l" defTabSz="932597" rtl="0" eaLnBrk="1" fontAlgn="auto" latinLnBrk="0" hangingPunct="1">
              <a:lnSpc>
                <a:spcPct val="100000"/>
              </a:lnSpc>
              <a:spcBef>
                <a:spcPts val="0"/>
              </a:spcBef>
              <a:spcAft>
                <a:spcPts val="300"/>
              </a:spcAft>
              <a:buClrTx/>
              <a:buSzTx/>
              <a:buFont typeface="Arial" panose="020B0604020202020204" pitchFamily="34" charset="0"/>
              <a:buChar char="•"/>
              <a:tabLst/>
              <a:defRPr/>
            </a:pPr>
            <a:endParaRPr kumimoji="0" lang="en-US" sz="1050" b="0" i="0" u="none" strike="noStrike" kern="1200" cap="none" spc="0" normalizeH="0" baseline="0" noProof="0" dirty="0">
              <a:ln>
                <a:noFill/>
              </a:ln>
              <a:solidFill>
                <a:srgbClr val="000000"/>
              </a:solidFill>
              <a:effectLst/>
              <a:uLnTx/>
              <a:uFillTx/>
              <a:latin typeface="Segoe UI"/>
              <a:ea typeface="+mn-ea"/>
              <a:cs typeface="Segoe UI"/>
            </a:endParaRPr>
          </a:p>
        </p:txBody>
      </p:sp>
      <p:sp>
        <p:nvSpPr>
          <p:cNvPr id="17" name="Text Placeholder 5">
            <a:extLst>
              <a:ext uri="{FF2B5EF4-FFF2-40B4-BE49-F238E27FC236}">
                <a16:creationId xmlns:a16="http://schemas.microsoft.com/office/drawing/2014/main" id="{74825AEF-B11F-6BAE-CF98-3C7D94EFC693}"/>
              </a:ext>
            </a:extLst>
          </p:cNvPr>
          <p:cNvSpPr txBox="1">
            <a:spLocks/>
          </p:cNvSpPr>
          <p:nvPr/>
        </p:nvSpPr>
        <p:spPr>
          <a:xfrm>
            <a:off x="7980026" y="4826288"/>
            <a:ext cx="3186884" cy="446276"/>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597" rtl="0" eaLnBrk="1" fontAlgn="auto" latinLnBrk="0" hangingPunct="1">
              <a:lnSpc>
                <a:spcPct val="100000"/>
              </a:lnSpc>
              <a:spcBef>
                <a:spcPts val="0"/>
              </a:spcBef>
              <a:spcAft>
                <a:spcPts val="600"/>
              </a:spcAft>
              <a:buClrTx/>
              <a:buSzTx/>
              <a:buFont typeface="Wingdings" panose="05000000000000000000" pitchFamily="2" charset="2"/>
              <a:buNone/>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Microsoft 365 Copilot</a:t>
            </a:r>
          </a:p>
          <a:p>
            <a:pPr marL="0" marR="0" lvl="0" indent="0" algn="l" defTabSz="932597" rtl="0" eaLnBrk="1" fontAlgn="auto" latinLnBrk="0" hangingPunct="1">
              <a:lnSpc>
                <a:spcPct val="100000"/>
              </a:lnSpc>
              <a:spcBef>
                <a:spcPts val="0"/>
              </a:spcBef>
              <a:spcAft>
                <a:spcPts val="600"/>
              </a:spcAft>
              <a:buClrTx/>
              <a:buSzTx/>
              <a:buFont typeface="Wingdings" panose="05000000000000000000" pitchFamily="2" charset="2"/>
              <a:buNone/>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Microsoft 365 Copilot for Finance</a:t>
            </a:r>
          </a:p>
        </p:txBody>
      </p:sp>
      <p:sp>
        <p:nvSpPr>
          <p:cNvPr id="18" name="Rectangle: Rounded Corners 26">
            <a:extLst>
              <a:ext uri="{FF2B5EF4-FFF2-40B4-BE49-F238E27FC236}">
                <a16:creationId xmlns:a16="http://schemas.microsoft.com/office/drawing/2014/main" id="{2A5C7148-06D8-7A53-9BB9-DD1F01042F0F}"/>
              </a:ext>
            </a:extLst>
          </p:cNvPr>
          <p:cNvSpPr/>
          <p:nvPr/>
        </p:nvSpPr>
        <p:spPr bwMode="auto">
          <a:xfrm>
            <a:off x="8438481" y="4078346"/>
            <a:ext cx="2940928" cy="365760"/>
          </a:xfrm>
          <a:prstGeom prst="roundRect">
            <a:avLst>
              <a:gd name="adj" fmla="val 19935"/>
            </a:avLst>
          </a:prstGeom>
          <a:noFill/>
          <a:ln>
            <a:noFill/>
            <a:headEnd type="none" w="med" len="med"/>
            <a:tailEnd type="none" w="med" len="med"/>
          </a:ln>
          <a:effectLst>
            <a:outerShdw blurRad="1905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gradFill>
                  <a:gsLst>
                    <a:gs pos="50000">
                      <a:srgbClr val="8661C5"/>
                    </a:gs>
                    <a:gs pos="0">
                      <a:srgbClr val="0078D4"/>
                    </a:gs>
                    <a:gs pos="100000">
                      <a:srgbClr val="C73ECC"/>
                    </a:gs>
                  </a:gsLst>
                  <a:lin ang="2700000" scaled="1"/>
                </a:gradFill>
                <a:effectLst/>
                <a:uLnTx/>
                <a:uFillTx/>
                <a:latin typeface="Segoe UI Semibold"/>
                <a:ea typeface="+mn-ea"/>
                <a:cs typeface="+mn-cs"/>
              </a:rPr>
              <a:t>Microsoft AI solutions</a:t>
            </a:r>
          </a:p>
        </p:txBody>
      </p:sp>
      <p:sp>
        <p:nvSpPr>
          <p:cNvPr id="19" name="Graphic 32">
            <a:extLst>
              <a:ext uri="{FF2B5EF4-FFF2-40B4-BE49-F238E27FC236}">
                <a16:creationId xmlns:a16="http://schemas.microsoft.com/office/drawing/2014/main" id="{23C49F93-C6D5-A242-DCE5-E53949B0CE55}"/>
              </a:ext>
              <a:ext uri="{C183D7F6-B498-43B3-948B-1728B52AA6E4}">
                <adec:decorative xmlns:adec="http://schemas.microsoft.com/office/drawing/2017/decorative" val="1"/>
              </a:ext>
            </a:extLst>
          </p:cNvPr>
          <p:cNvSpPr/>
          <p:nvPr/>
        </p:nvSpPr>
        <p:spPr>
          <a:xfrm>
            <a:off x="7920860" y="4091303"/>
            <a:ext cx="339928" cy="339845"/>
          </a:xfrm>
          <a:custGeom>
            <a:avLst/>
            <a:gdLst>
              <a:gd name="connsiteX0" fmla="*/ 128988 w 409676"/>
              <a:gd name="connsiteY0" fmla="*/ 289825 h 409576"/>
              <a:gd name="connsiteX1" fmla="*/ 148010 w 409676"/>
              <a:gd name="connsiteY1" fmla="*/ 295832 h 409576"/>
              <a:gd name="connsiteX2" fmla="*/ 148010 w 409676"/>
              <a:gd name="connsiteY2" fmla="*/ 295741 h 409576"/>
              <a:gd name="connsiteX3" fmla="*/ 178205 w 409676"/>
              <a:gd name="connsiteY3" fmla="*/ 275900 h 409576"/>
              <a:gd name="connsiteX4" fmla="*/ 192153 w 409676"/>
              <a:gd name="connsiteY4" fmla="*/ 233486 h 409576"/>
              <a:gd name="connsiteX5" fmla="*/ 233497 w 409676"/>
              <a:gd name="connsiteY5" fmla="*/ 192255 h 409576"/>
              <a:gd name="connsiteX6" fmla="*/ 273954 w 409676"/>
              <a:gd name="connsiteY6" fmla="*/ 179104 h 409576"/>
              <a:gd name="connsiteX7" fmla="*/ 294049 w 409676"/>
              <a:gd name="connsiteY7" fmla="*/ 137242 h 409576"/>
              <a:gd name="connsiteX8" fmla="*/ 272771 w 409676"/>
              <a:gd name="connsiteY8" fmla="*/ 116757 h 409576"/>
              <a:gd name="connsiteX9" fmla="*/ 232838 w 409676"/>
              <a:gd name="connsiteY9" fmla="*/ 103787 h 409576"/>
              <a:gd name="connsiteX10" fmla="*/ 191380 w 409676"/>
              <a:gd name="connsiteY10" fmla="*/ 62306 h 409576"/>
              <a:gd name="connsiteX11" fmla="*/ 178228 w 409676"/>
              <a:gd name="connsiteY11" fmla="*/ 21872 h 409576"/>
              <a:gd name="connsiteX12" fmla="*/ 136193 w 409676"/>
              <a:gd name="connsiteY12" fmla="*/ 1916 h 409576"/>
              <a:gd name="connsiteX13" fmla="*/ 116063 w 409676"/>
              <a:gd name="connsiteY13" fmla="*/ 22373 h 409576"/>
              <a:gd name="connsiteX14" fmla="*/ 102798 w 409676"/>
              <a:gd name="connsiteY14" fmla="*/ 63148 h 409576"/>
              <a:gd name="connsiteX15" fmla="*/ 62523 w 409676"/>
              <a:gd name="connsiteY15" fmla="*/ 103787 h 409576"/>
              <a:gd name="connsiteX16" fmla="*/ 22089 w 409676"/>
              <a:gd name="connsiteY16" fmla="*/ 116780 h 409576"/>
              <a:gd name="connsiteX17" fmla="*/ 1827 w 409676"/>
              <a:gd name="connsiteY17" fmla="*/ 158597 h 409576"/>
              <a:gd name="connsiteX18" fmla="*/ 22475 w 409676"/>
              <a:gd name="connsiteY18" fmla="*/ 178990 h 409576"/>
              <a:gd name="connsiteX19" fmla="*/ 62386 w 409676"/>
              <a:gd name="connsiteY19" fmla="*/ 191937 h 409576"/>
              <a:gd name="connsiteX20" fmla="*/ 103844 w 409676"/>
              <a:gd name="connsiteY20" fmla="*/ 233486 h 409576"/>
              <a:gd name="connsiteX21" fmla="*/ 116996 w 409676"/>
              <a:gd name="connsiteY21" fmla="*/ 273875 h 409576"/>
              <a:gd name="connsiteX22" fmla="*/ 128988 w 409676"/>
              <a:gd name="connsiteY22" fmla="*/ 289803 h 409576"/>
              <a:gd name="connsiteX23" fmla="*/ 120478 w 409676"/>
              <a:gd name="connsiteY23" fmla="*/ 193120 h 409576"/>
              <a:gd name="connsiteX24" fmla="*/ 112218 w 409676"/>
              <a:gd name="connsiteY24" fmla="*/ 183723 h 409576"/>
              <a:gd name="connsiteX25" fmla="*/ 112286 w 409676"/>
              <a:gd name="connsiteY25" fmla="*/ 183723 h 409576"/>
              <a:gd name="connsiteX26" fmla="*/ 73149 w 409676"/>
              <a:gd name="connsiteY26" fmla="*/ 159535 h 409576"/>
              <a:gd name="connsiteX27" fmla="*/ 36742 w 409676"/>
              <a:gd name="connsiteY27" fmla="*/ 147976 h 409576"/>
              <a:gd name="connsiteX28" fmla="*/ 73399 w 409676"/>
              <a:gd name="connsiteY28" fmla="*/ 136053 h 409576"/>
              <a:gd name="connsiteX29" fmla="*/ 111854 w 409676"/>
              <a:gd name="connsiteY29" fmla="*/ 111819 h 409576"/>
              <a:gd name="connsiteX30" fmla="*/ 135541 w 409676"/>
              <a:gd name="connsiteY30" fmla="*/ 72955 h 409576"/>
              <a:gd name="connsiteX31" fmla="*/ 147259 w 409676"/>
              <a:gd name="connsiteY31" fmla="*/ 36958 h 409576"/>
              <a:gd name="connsiteX32" fmla="*/ 159000 w 409676"/>
              <a:gd name="connsiteY32" fmla="*/ 73069 h 409576"/>
              <a:gd name="connsiteX33" fmla="*/ 222280 w 409676"/>
              <a:gd name="connsiteY33" fmla="*/ 136166 h 409576"/>
              <a:gd name="connsiteX34" fmla="*/ 259141 w 409676"/>
              <a:gd name="connsiteY34" fmla="*/ 148044 h 409576"/>
              <a:gd name="connsiteX35" fmla="*/ 222962 w 409676"/>
              <a:gd name="connsiteY35" fmla="*/ 159762 h 409576"/>
              <a:gd name="connsiteX36" fmla="*/ 159842 w 409676"/>
              <a:gd name="connsiteY36" fmla="*/ 222905 h 409576"/>
              <a:gd name="connsiteX37" fmla="*/ 148124 w 409676"/>
              <a:gd name="connsiteY37" fmla="*/ 258902 h 409576"/>
              <a:gd name="connsiteX38" fmla="*/ 136405 w 409676"/>
              <a:gd name="connsiteY38" fmla="*/ 222837 h 409576"/>
              <a:gd name="connsiteX39" fmla="*/ 120478 w 409676"/>
              <a:gd name="connsiteY39" fmla="*/ 193120 h 409576"/>
              <a:gd name="connsiteX40" fmla="*/ 303444 w 409676"/>
              <a:gd name="connsiteY40" fmla="*/ 404666 h 409576"/>
              <a:gd name="connsiteX41" fmla="*/ 294115 w 409676"/>
              <a:gd name="connsiteY41" fmla="*/ 392174 h 409576"/>
              <a:gd name="connsiteX42" fmla="*/ 286651 w 409676"/>
              <a:gd name="connsiteY42" fmla="*/ 369260 h 409576"/>
              <a:gd name="connsiteX43" fmla="*/ 267970 w 409676"/>
              <a:gd name="connsiteY43" fmla="*/ 350533 h 409576"/>
              <a:gd name="connsiteX44" fmla="*/ 245421 w 409676"/>
              <a:gd name="connsiteY44" fmla="*/ 343184 h 409576"/>
              <a:gd name="connsiteX45" fmla="*/ 227650 w 409676"/>
              <a:gd name="connsiteY45" fmla="*/ 318541 h 409576"/>
              <a:gd name="connsiteX46" fmla="*/ 245193 w 409676"/>
              <a:gd name="connsiteY46" fmla="*/ 293967 h 409576"/>
              <a:gd name="connsiteX47" fmla="*/ 268084 w 409676"/>
              <a:gd name="connsiteY47" fmla="*/ 286549 h 409576"/>
              <a:gd name="connsiteX48" fmla="*/ 286287 w 409676"/>
              <a:gd name="connsiteY48" fmla="*/ 267913 h 409576"/>
              <a:gd name="connsiteX49" fmla="*/ 293659 w 409676"/>
              <a:gd name="connsiteY49" fmla="*/ 245341 h 409576"/>
              <a:gd name="connsiteX50" fmla="*/ 326655 w 409676"/>
              <a:gd name="connsiteY50" fmla="*/ 229088 h 409576"/>
              <a:gd name="connsiteX51" fmla="*/ 342740 w 409676"/>
              <a:gd name="connsiteY51" fmla="*/ 244863 h 409576"/>
              <a:gd name="connsiteX52" fmla="*/ 350226 w 409676"/>
              <a:gd name="connsiteY52" fmla="*/ 267936 h 409576"/>
              <a:gd name="connsiteX53" fmla="*/ 368885 w 409676"/>
              <a:gd name="connsiteY53" fmla="*/ 286503 h 409576"/>
              <a:gd name="connsiteX54" fmla="*/ 391457 w 409676"/>
              <a:gd name="connsiteY54" fmla="*/ 293853 h 409576"/>
              <a:gd name="connsiteX55" fmla="*/ 408486 w 409676"/>
              <a:gd name="connsiteY55" fmla="*/ 326382 h 409576"/>
              <a:gd name="connsiteX56" fmla="*/ 392344 w 409676"/>
              <a:gd name="connsiteY56" fmla="*/ 343116 h 409576"/>
              <a:gd name="connsiteX57" fmla="*/ 369272 w 409676"/>
              <a:gd name="connsiteY57" fmla="*/ 350602 h 409576"/>
              <a:gd name="connsiteX58" fmla="*/ 350659 w 409676"/>
              <a:gd name="connsiteY58" fmla="*/ 369306 h 409576"/>
              <a:gd name="connsiteX59" fmla="*/ 343332 w 409676"/>
              <a:gd name="connsiteY59" fmla="*/ 391809 h 409576"/>
              <a:gd name="connsiteX60" fmla="*/ 333661 w 409676"/>
              <a:gd name="connsiteY60" fmla="*/ 404779 h 409576"/>
              <a:gd name="connsiteX61" fmla="*/ 303444 w 409676"/>
              <a:gd name="connsiteY61" fmla="*/ 404666 h 409576"/>
              <a:gd name="connsiteX62" fmla="*/ 280007 w 409676"/>
              <a:gd name="connsiteY62" fmla="*/ 318587 h 409576"/>
              <a:gd name="connsiteX63" fmla="*/ 318666 w 409676"/>
              <a:gd name="connsiteY63" fmla="*/ 357473 h 409576"/>
              <a:gd name="connsiteX64" fmla="*/ 357348 w 409676"/>
              <a:gd name="connsiteY64" fmla="*/ 318791 h 409576"/>
              <a:gd name="connsiteX65" fmla="*/ 318257 w 409676"/>
              <a:gd name="connsiteY65" fmla="*/ 279927 h 409576"/>
              <a:gd name="connsiteX66" fmla="*/ 279984 w 409676"/>
              <a:gd name="connsiteY66" fmla="*/ 318609 h 409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409676" h="409576">
                <a:moveTo>
                  <a:pt x="128988" y="289825"/>
                </a:moveTo>
                <a:cubicBezTo>
                  <a:pt x="134562" y="293762"/>
                  <a:pt x="141207" y="295855"/>
                  <a:pt x="148010" y="295832"/>
                </a:cubicBezTo>
                <a:lnTo>
                  <a:pt x="148010" y="295741"/>
                </a:lnTo>
                <a:cubicBezTo>
                  <a:pt x="161137" y="295764"/>
                  <a:pt x="173015" y="287959"/>
                  <a:pt x="178205" y="275900"/>
                </a:cubicBezTo>
                <a:lnTo>
                  <a:pt x="192153" y="233486"/>
                </a:lnTo>
                <a:cubicBezTo>
                  <a:pt x="198688" y="214008"/>
                  <a:pt x="214002" y="198736"/>
                  <a:pt x="233497" y="192255"/>
                </a:cubicBezTo>
                <a:lnTo>
                  <a:pt x="273954" y="179104"/>
                </a:lnTo>
                <a:cubicBezTo>
                  <a:pt x="291063" y="173092"/>
                  <a:pt x="300060" y="154350"/>
                  <a:pt x="294049" y="137242"/>
                </a:cubicBezTo>
                <a:cubicBezTo>
                  <a:pt x="290601" y="127429"/>
                  <a:pt x="282708" y="119830"/>
                  <a:pt x="272771" y="116757"/>
                </a:cubicBezTo>
                <a:lnTo>
                  <a:pt x="232838" y="103787"/>
                </a:lnTo>
                <a:cubicBezTo>
                  <a:pt x="213249" y="97273"/>
                  <a:pt x="197883" y="81898"/>
                  <a:pt x="191380" y="62306"/>
                </a:cubicBezTo>
                <a:lnTo>
                  <a:pt x="178228" y="21872"/>
                </a:lnTo>
                <a:cubicBezTo>
                  <a:pt x="172132" y="4754"/>
                  <a:pt x="153311" y="-4181"/>
                  <a:pt x="136193" y="1916"/>
                </a:cubicBezTo>
                <a:cubicBezTo>
                  <a:pt x="126706" y="5295"/>
                  <a:pt x="119289" y="12833"/>
                  <a:pt x="116063" y="22373"/>
                </a:cubicBezTo>
                <a:lnTo>
                  <a:pt x="102798" y="63148"/>
                </a:lnTo>
                <a:cubicBezTo>
                  <a:pt x="96316" y="82155"/>
                  <a:pt x="81470" y="97135"/>
                  <a:pt x="62523" y="103787"/>
                </a:cubicBezTo>
                <a:lnTo>
                  <a:pt x="22089" y="116780"/>
                </a:lnTo>
                <a:cubicBezTo>
                  <a:pt x="4946" y="122732"/>
                  <a:pt x="-4125" y="141454"/>
                  <a:pt x="1827" y="158597"/>
                </a:cubicBezTo>
                <a:cubicBezTo>
                  <a:pt x="5172" y="168229"/>
                  <a:pt x="12801" y="175765"/>
                  <a:pt x="22475" y="178990"/>
                </a:cubicBezTo>
                <a:lnTo>
                  <a:pt x="62386" y="191937"/>
                </a:lnTo>
                <a:cubicBezTo>
                  <a:pt x="81969" y="198499"/>
                  <a:pt x="97324" y="213890"/>
                  <a:pt x="103844" y="233486"/>
                </a:cubicBezTo>
                <a:lnTo>
                  <a:pt x="116996" y="273875"/>
                </a:lnTo>
                <a:cubicBezTo>
                  <a:pt x="119249" y="280314"/>
                  <a:pt x="123436" y="285889"/>
                  <a:pt x="128988" y="289803"/>
                </a:cubicBezTo>
                <a:close/>
                <a:moveTo>
                  <a:pt x="120478" y="193120"/>
                </a:moveTo>
                <a:cubicBezTo>
                  <a:pt x="117940" y="189805"/>
                  <a:pt x="115181" y="186665"/>
                  <a:pt x="112218" y="183723"/>
                </a:cubicBezTo>
                <a:lnTo>
                  <a:pt x="112286" y="183723"/>
                </a:lnTo>
                <a:cubicBezTo>
                  <a:pt x="101298" y="172728"/>
                  <a:pt x="87897" y="164445"/>
                  <a:pt x="73149" y="159535"/>
                </a:cubicBezTo>
                <a:lnTo>
                  <a:pt x="36742" y="147976"/>
                </a:lnTo>
                <a:lnTo>
                  <a:pt x="73399" y="136053"/>
                </a:lnTo>
                <a:cubicBezTo>
                  <a:pt x="87906" y="131030"/>
                  <a:pt x="101063" y="122738"/>
                  <a:pt x="111854" y="111819"/>
                </a:cubicBezTo>
                <a:cubicBezTo>
                  <a:pt x="122598" y="100831"/>
                  <a:pt x="130698" y="87540"/>
                  <a:pt x="135541" y="72955"/>
                </a:cubicBezTo>
                <a:lnTo>
                  <a:pt x="147259" y="36958"/>
                </a:lnTo>
                <a:lnTo>
                  <a:pt x="159000" y="73069"/>
                </a:lnTo>
                <a:cubicBezTo>
                  <a:pt x="168935" y="102921"/>
                  <a:pt x="192399" y="126318"/>
                  <a:pt x="222280" y="136166"/>
                </a:cubicBezTo>
                <a:lnTo>
                  <a:pt x="259141" y="148044"/>
                </a:lnTo>
                <a:lnTo>
                  <a:pt x="222962" y="159762"/>
                </a:lnTo>
                <a:cubicBezTo>
                  <a:pt x="193143" y="169679"/>
                  <a:pt x="169747" y="193081"/>
                  <a:pt x="159842" y="222905"/>
                </a:cubicBezTo>
                <a:lnTo>
                  <a:pt x="148124" y="258902"/>
                </a:lnTo>
                <a:lnTo>
                  <a:pt x="136405" y="222837"/>
                </a:lnTo>
                <a:cubicBezTo>
                  <a:pt x="132827" y="212097"/>
                  <a:pt x="127441" y="202047"/>
                  <a:pt x="120478" y="193120"/>
                </a:cubicBezTo>
                <a:close/>
                <a:moveTo>
                  <a:pt x="303444" y="404666"/>
                </a:moveTo>
                <a:cubicBezTo>
                  <a:pt x="299109" y="401576"/>
                  <a:pt x="295846" y="397207"/>
                  <a:pt x="294115" y="392174"/>
                </a:cubicBezTo>
                <a:lnTo>
                  <a:pt x="286651" y="369260"/>
                </a:lnTo>
                <a:cubicBezTo>
                  <a:pt x="283739" y="360413"/>
                  <a:pt x="276810" y="353466"/>
                  <a:pt x="267970" y="350533"/>
                </a:cubicBezTo>
                <a:lnTo>
                  <a:pt x="245421" y="343184"/>
                </a:lnTo>
                <a:cubicBezTo>
                  <a:pt x="234838" y="339614"/>
                  <a:pt x="227695" y="329709"/>
                  <a:pt x="227650" y="318541"/>
                </a:cubicBezTo>
                <a:cubicBezTo>
                  <a:pt x="227656" y="307446"/>
                  <a:pt x="234701" y="297578"/>
                  <a:pt x="245193" y="293967"/>
                </a:cubicBezTo>
                <a:lnTo>
                  <a:pt x="268084" y="286549"/>
                </a:lnTo>
                <a:cubicBezTo>
                  <a:pt x="276708" y="283486"/>
                  <a:pt x="283429" y="276605"/>
                  <a:pt x="286287" y="267913"/>
                </a:cubicBezTo>
                <a:lnTo>
                  <a:pt x="293659" y="245341"/>
                </a:lnTo>
                <a:cubicBezTo>
                  <a:pt x="298283" y="231741"/>
                  <a:pt x="313055" y="224464"/>
                  <a:pt x="326655" y="229088"/>
                </a:cubicBezTo>
                <a:cubicBezTo>
                  <a:pt x="334135" y="231629"/>
                  <a:pt x="340053" y="237434"/>
                  <a:pt x="342740" y="244863"/>
                </a:cubicBezTo>
                <a:lnTo>
                  <a:pt x="350226" y="267936"/>
                </a:lnTo>
                <a:cubicBezTo>
                  <a:pt x="353198" y="276703"/>
                  <a:pt x="360102" y="283575"/>
                  <a:pt x="368885" y="286503"/>
                </a:cubicBezTo>
                <a:lnTo>
                  <a:pt x="391457" y="293853"/>
                </a:lnTo>
                <a:cubicBezTo>
                  <a:pt x="405141" y="298133"/>
                  <a:pt x="412766" y="312696"/>
                  <a:pt x="408486" y="326382"/>
                </a:cubicBezTo>
                <a:cubicBezTo>
                  <a:pt x="406045" y="334191"/>
                  <a:pt x="400063" y="340394"/>
                  <a:pt x="392344" y="343116"/>
                </a:cubicBezTo>
                <a:lnTo>
                  <a:pt x="369272" y="350602"/>
                </a:lnTo>
                <a:cubicBezTo>
                  <a:pt x="360477" y="353571"/>
                  <a:pt x="353585" y="360495"/>
                  <a:pt x="350659" y="369306"/>
                </a:cubicBezTo>
                <a:lnTo>
                  <a:pt x="343332" y="391809"/>
                </a:lnTo>
                <a:cubicBezTo>
                  <a:pt x="341557" y="397043"/>
                  <a:pt x="338189" y="401594"/>
                  <a:pt x="333661" y="404779"/>
                </a:cubicBezTo>
                <a:cubicBezTo>
                  <a:pt x="324605" y="411219"/>
                  <a:pt x="312452" y="411171"/>
                  <a:pt x="303444" y="404666"/>
                </a:cubicBezTo>
                <a:close/>
                <a:moveTo>
                  <a:pt x="280007" y="318587"/>
                </a:moveTo>
                <a:cubicBezTo>
                  <a:pt x="298117" y="325026"/>
                  <a:pt x="312334" y="339325"/>
                  <a:pt x="318666" y="357473"/>
                </a:cubicBezTo>
                <a:cubicBezTo>
                  <a:pt x="325069" y="339407"/>
                  <a:pt x="339282" y="325194"/>
                  <a:pt x="357348" y="318791"/>
                </a:cubicBezTo>
                <a:cubicBezTo>
                  <a:pt x="339122" y="312400"/>
                  <a:pt x="324755" y="298117"/>
                  <a:pt x="318257" y="279927"/>
                </a:cubicBezTo>
                <a:cubicBezTo>
                  <a:pt x="311908" y="297885"/>
                  <a:pt x="297874" y="312070"/>
                  <a:pt x="279984" y="318609"/>
                </a:cubicBezTo>
                <a:close/>
              </a:path>
            </a:pathLst>
          </a:custGeom>
          <a:gradFill flip="none" rotWithShape="1">
            <a:gsLst>
              <a:gs pos="35000">
                <a:srgbClr val="0078D4"/>
              </a:gs>
              <a:gs pos="0">
                <a:srgbClr val="C03BC4"/>
              </a:gs>
            </a:gsLst>
            <a:path path="circle">
              <a:fillToRect l="100000" t="100000"/>
            </a:path>
            <a:tileRect r="-100000" b="-100000"/>
          </a:gradFill>
          <a:ln>
            <a:noFill/>
            <a:headEnd type="none" w="med" len="med"/>
            <a:tailEnd type="none" w="med" len="med"/>
          </a:ln>
          <a:effectLst>
            <a:outerShdw blurRad="63500" dist="101600" dir="2700000" algn="tl" rotWithShape="0">
              <a:srgbClr val="454142">
                <a:alpha val="25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91440" numCol="1" spcCol="0" rtlCol="0" fromWordArt="0" anchor="b" anchorCtr="0" forceAA="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1" i="0" u="none" strike="noStrike" kern="1200" cap="none" spc="0" normalizeH="0" baseline="0" noProof="0" dirty="0">
              <a:ln w="3175">
                <a:noFill/>
              </a:ln>
              <a:gradFill>
                <a:gsLst>
                  <a:gs pos="76437">
                    <a:srgbClr val="FFFFFF"/>
                  </a:gs>
                  <a:gs pos="55747">
                    <a:srgbClr val="FFFFFF"/>
                  </a:gs>
                </a:gsLst>
                <a:path path="circle">
                  <a:fillToRect l="100000" b="100000"/>
                </a:path>
              </a:gradFill>
              <a:effectLst/>
              <a:uLnTx/>
              <a:uFillTx/>
              <a:latin typeface="Segoe UI Semibold"/>
              <a:ea typeface="+mn-ea"/>
              <a:cs typeface="Segoe UI" pitchFamily="34" charset="0"/>
            </a:endParaRPr>
          </a:p>
        </p:txBody>
      </p:sp>
      <p:cxnSp>
        <p:nvCxnSpPr>
          <p:cNvPr id="20" name="Straight Connector 19">
            <a:extLst>
              <a:ext uri="{FF2B5EF4-FFF2-40B4-BE49-F238E27FC236}">
                <a16:creationId xmlns:a16="http://schemas.microsoft.com/office/drawing/2014/main" id="{032B6115-0E49-6DDF-9EB7-8C61E8A3C46A}"/>
              </a:ext>
              <a:ext uri="{C183D7F6-B498-43B3-948B-1728B52AA6E4}">
                <adec:decorative xmlns:adec="http://schemas.microsoft.com/office/drawing/2017/decorative" val="1"/>
              </a:ext>
            </a:extLst>
          </p:cNvPr>
          <p:cNvCxnSpPr>
            <a:cxnSpLocks/>
          </p:cNvCxnSpPr>
          <p:nvPr/>
        </p:nvCxnSpPr>
        <p:spPr>
          <a:xfrm>
            <a:off x="7955666" y="4609272"/>
            <a:ext cx="3211243" cy="0"/>
          </a:xfrm>
          <a:prstGeom prst="line">
            <a:avLst/>
          </a:prstGeom>
          <a:ln>
            <a:solidFill>
              <a:schemeClr val="tx2">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50900745"/>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EFFFB5-7077-89A4-73AE-3E6CCD4FD4E4}"/>
              </a:ext>
            </a:extLst>
          </p:cNvPr>
          <p:cNvSpPr>
            <a:spLocks noGrp="1"/>
          </p:cNvSpPr>
          <p:nvPr>
            <p:ph type="title"/>
          </p:nvPr>
        </p:nvSpPr>
        <p:spPr>
          <a:xfrm>
            <a:off x="585215" y="457200"/>
            <a:ext cx="11206981" cy="553998"/>
          </a:xfrm>
        </p:spPr>
        <p:txBody>
          <a:bodyPr/>
          <a:lstStyle/>
          <a:p>
            <a:r>
              <a:rPr lang="en-US" sz="3600" noProof="0" dirty="0">
                <a:latin typeface="Segoe UI Semibold" panose="020B0702040204020203" pitchFamily="34" charset="0"/>
                <a:cs typeface="Segoe UI Semibold" panose="020B0702040204020203" pitchFamily="34" charset="0"/>
              </a:rPr>
              <a:t>KPI – </a:t>
            </a:r>
            <a:r>
              <a:rPr lang="en-US" noProof="0" dirty="0">
                <a:gradFill>
                  <a:gsLst>
                    <a:gs pos="38000">
                      <a:srgbClr val="0078D4"/>
                    </a:gs>
                    <a:gs pos="0">
                      <a:srgbClr val="C03BC4"/>
                    </a:gs>
                  </a:gsLst>
                  <a:path path="circle">
                    <a:fillToRect l="100000" t="100000"/>
                  </a:path>
                </a:gradFill>
                <a:latin typeface="Segoe UI Semibold" panose="020B0702040204020203" pitchFamily="34" charset="0"/>
                <a:cs typeface="Segoe UI Semibold" panose="020B0702040204020203" pitchFamily="34" charset="0"/>
              </a:rPr>
              <a:t>Risk management</a:t>
            </a:r>
          </a:p>
        </p:txBody>
      </p:sp>
      <p:pic>
        <p:nvPicPr>
          <p:cNvPr id="3" name="Picture 2">
            <a:extLst>
              <a:ext uri="{FF2B5EF4-FFF2-40B4-BE49-F238E27FC236}">
                <a16:creationId xmlns:a16="http://schemas.microsoft.com/office/drawing/2014/main" id="{FED7435C-732F-28C6-A281-3B1FA8A6A5A3}"/>
              </a:ext>
              <a:ext uri="{C183D7F6-B498-43B3-948B-1728B52AA6E4}">
                <adec:decorative xmlns:adec="http://schemas.microsoft.com/office/drawing/2017/decorative" val="1"/>
              </a:ext>
            </a:extLst>
          </p:cNvPr>
          <p:cNvPicPr>
            <a:picLocks noChangeAspect="1"/>
          </p:cNvPicPr>
          <p:nvPr/>
        </p:nvPicPr>
        <p:blipFill rotWithShape="1">
          <a:blip r:embed="rId2" cstate="screen">
            <a:alphaModFix amt="50000"/>
            <a:extLst>
              <a:ext uri="{BEBA8EAE-BF5A-486C-A8C5-ECC9F3942E4B}">
                <a14:imgProps xmlns:a14="http://schemas.microsoft.com/office/drawing/2010/main">
                  <a14:imgLayer r:embed="rId3">
                    <a14:imgEffect>
                      <a14:sharpenSoften amount="-100000"/>
                    </a14:imgEffect>
                  </a14:imgLayer>
                </a14:imgProps>
              </a:ext>
              <a:ext uri="{28A0092B-C50C-407E-A947-70E740481C1C}">
                <a14:useLocalDpi xmlns:a14="http://schemas.microsoft.com/office/drawing/2010/main"/>
              </a:ext>
            </a:extLst>
          </a:blip>
          <a:srcRect/>
          <a:stretch/>
        </p:blipFill>
        <p:spPr>
          <a:xfrm>
            <a:off x="589069" y="1448904"/>
            <a:ext cx="11013862" cy="4882759"/>
          </a:xfrm>
          <a:prstGeom prst="roundRect">
            <a:avLst>
              <a:gd name="adj" fmla="val 2585"/>
            </a:avLst>
          </a:prstGeom>
          <a:solidFill>
            <a:schemeClr val="bg1"/>
          </a:solidFill>
          <a:ln>
            <a:solidFill>
              <a:schemeClr val="bg1"/>
            </a:solidFill>
          </a:ln>
          <a:effectLst>
            <a:outerShdw blurRad="223661" dist="140295" dir="2700000" algn="tl" rotWithShape="0">
              <a:schemeClr val="accent1">
                <a:alpha val="15000"/>
              </a:schemeClr>
            </a:outerShdw>
          </a:effectLst>
        </p:spPr>
      </p:pic>
      <p:sp>
        <p:nvSpPr>
          <p:cNvPr id="5" name="Text Placeholder 33">
            <a:extLst>
              <a:ext uri="{FF2B5EF4-FFF2-40B4-BE49-F238E27FC236}">
                <a16:creationId xmlns:a16="http://schemas.microsoft.com/office/drawing/2014/main" id="{1B9D6020-AF30-E9F8-17B0-AD87458D0E88}"/>
              </a:ext>
            </a:extLst>
          </p:cNvPr>
          <p:cNvSpPr txBox="1">
            <a:spLocks/>
          </p:cNvSpPr>
          <p:nvPr/>
        </p:nvSpPr>
        <p:spPr>
          <a:xfrm>
            <a:off x="862107" y="3389989"/>
            <a:ext cx="6025581" cy="888898"/>
          </a:xfrm>
          <a:prstGeom prst="rect">
            <a:avLst/>
          </a:prstGeom>
        </p:spPr>
        <p:txBody>
          <a:bodyPr wrap="square" lIns="0" tIns="45720" rIns="91440" bIns="4572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32597" rtl="0" eaLnBrk="1" fontAlgn="auto" latinLnBrk="0" hangingPunct="1">
              <a:lnSpc>
                <a:spcPct val="110000"/>
              </a:lnSpc>
              <a:spcBef>
                <a:spcPts val="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srgbClr val="000000"/>
                </a:solidFill>
                <a:effectLst/>
                <a:uLnTx/>
                <a:uFillTx/>
                <a:latin typeface="Segoe UI" panose="020B0502040204020203" pitchFamily="34" charset="0"/>
                <a:ea typeface="+mn-ea"/>
                <a:cs typeface="Segoe UI" panose="020B0502040204020203" pitchFamily="34" charset="0"/>
              </a:rPr>
              <a:t>Finance teams grapple with complex tasks—from credit and collections to risk management and compliance. Get real-time insights and strategic recommendations. </a:t>
            </a:r>
            <a:br>
              <a:rPr kumimoji="0" lang="en-US" sz="1200" b="0" i="0" u="none" strike="noStrike" kern="1200" cap="none" spc="0" normalizeH="0" baseline="0" noProof="0" dirty="0">
                <a:ln>
                  <a:noFill/>
                </a:ln>
                <a:solidFill>
                  <a:srgbClr val="000000"/>
                </a:solidFill>
                <a:effectLst/>
                <a:uLnTx/>
                <a:uFillTx/>
                <a:latin typeface="Segoe UI" panose="020B0502040204020203" pitchFamily="34" charset="0"/>
                <a:ea typeface="+mn-ea"/>
                <a:cs typeface="Segoe UI" panose="020B0502040204020203" pitchFamily="34" charset="0"/>
              </a:rPr>
            </a:br>
            <a:r>
              <a:rPr kumimoji="0" lang="en-US" sz="1200" b="0" i="0" u="none" strike="noStrike" kern="1200" cap="none" spc="0" normalizeH="0" baseline="0" noProof="0" dirty="0">
                <a:ln>
                  <a:noFill/>
                </a:ln>
                <a:solidFill>
                  <a:srgbClr val="000000"/>
                </a:solidFill>
                <a:effectLst/>
                <a:uLnTx/>
                <a:uFillTx/>
                <a:latin typeface="Segoe UI" panose="020B0502040204020203" pitchFamily="34" charset="0"/>
                <a:ea typeface="+mn-ea"/>
                <a:cs typeface="Segoe UI" panose="020B0502040204020203" pitchFamily="34" charset="0"/>
              </a:rPr>
              <a:t>By automating mundane tasks, Copilot frees up time for critical decisions, streamlining audits, simplifying collections, and accelerating financial reporting.</a:t>
            </a:r>
          </a:p>
        </p:txBody>
      </p:sp>
      <p:cxnSp>
        <p:nvCxnSpPr>
          <p:cNvPr id="28" name="Straight Connector 27">
            <a:extLst>
              <a:ext uri="{FF2B5EF4-FFF2-40B4-BE49-F238E27FC236}">
                <a16:creationId xmlns:a16="http://schemas.microsoft.com/office/drawing/2014/main" id="{51B84402-A636-A285-4E06-1EFCA8FA31FB}"/>
              </a:ext>
              <a:ext uri="{C183D7F6-B498-43B3-948B-1728B52AA6E4}">
                <adec:decorative xmlns:adec="http://schemas.microsoft.com/office/drawing/2017/decorative" val="1"/>
              </a:ext>
            </a:extLst>
          </p:cNvPr>
          <p:cNvCxnSpPr>
            <a:cxnSpLocks/>
          </p:cNvCxnSpPr>
          <p:nvPr/>
        </p:nvCxnSpPr>
        <p:spPr>
          <a:xfrm>
            <a:off x="862106" y="4349484"/>
            <a:ext cx="6757416" cy="0"/>
          </a:xfrm>
          <a:prstGeom prst="line">
            <a:avLst/>
          </a:prstGeom>
          <a:ln>
            <a:solidFill>
              <a:schemeClr val="tx2">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reeform: Shape 32">
            <a:extLst>
              <a:ext uri="{FF2B5EF4-FFF2-40B4-BE49-F238E27FC236}">
                <a16:creationId xmlns:a16="http://schemas.microsoft.com/office/drawing/2014/main" id="{31922DE7-1793-6984-01E6-8C850F09BD37}"/>
              </a:ext>
              <a:ext uri="{C183D7F6-B498-43B3-948B-1728B52AA6E4}">
                <adec:decorative xmlns:adec="http://schemas.microsoft.com/office/drawing/2017/decorative" val="1"/>
              </a:ext>
            </a:extLst>
          </p:cNvPr>
          <p:cNvSpPr>
            <a:spLocks/>
          </p:cNvSpPr>
          <p:nvPr/>
        </p:nvSpPr>
        <p:spPr bwMode="auto">
          <a:xfrm>
            <a:off x="7697337" y="1596603"/>
            <a:ext cx="3727901" cy="2082249"/>
          </a:xfrm>
          <a:prstGeom prst="roundRect">
            <a:avLst>
              <a:gd name="adj" fmla="val 4762"/>
            </a:avLst>
          </a:prstGeom>
          <a:solidFill>
            <a:schemeClr val="bg1">
              <a:alpha val="70000"/>
            </a:schemeClr>
          </a:solidFill>
          <a:ln>
            <a:solidFill>
              <a:schemeClr val="bg1"/>
            </a:solidFill>
          </a:ln>
          <a:effectLst>
            <a:outerShdw blurRad="223661" dist="140295" dir="2700000" algn="tl" rotWithShape="0">
              <a:schemeClr val="accent1">
                <a:alpha val="15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Segoe UI"/>
              <a:ea typeface="+mn-ea"/>
              <a:cs typeface="Segoe UI" pitchFamily="34" charset="0"/>
            </a:endParaRPr>
          </a:p>
        </p:txBody>
      </p:sp>
      <p:sp>
        <p:nvSpPr>
          <p:cNvPr id="8" name="Rectangle: Rounded Corners 26">
            <a:extLst>
              <a:ext uri="{FF2B5EF4-FFF2-40B4-BE49-F238E27FC236}">
                <a16:creationId xmlns:a16="http://schemas.microsoft.com/office/drawing/2014/main" id="{D1253126-8205-D179-7879-B34F7D90496A}"/>
              </a:ext>
            </a:extLst>
          </p:cNvPr>
          <p:cNvSpPr/>
          <p:nvPr/>
        </p:nvSpPr>
        <p:spPr bwMode="auto">
          <a:xfrm>
            <a:off x="8438481" y="1781312"/>
            <a:ext cx="1258802" cy="365760"/>
          </a:xfrm>
          <a:prstGeom prst="roundRect">
            <a:avLst>
              <a:gd name="adj" fmla="val 19935"/>
            </a:avLst>
          </a:prstGeom>
          <a:noFill/>
          <a:ln>
            <a:noFill/>
            <a:headEnd type="none" w="med" len="med"/>
            <a:tailEnd type="none" w="med" len="med"/>
          </a:ln>
          <a:effectLst>
            <a:outerShdw blurRad="1905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gradFill>
                  <a:gsLst>
                    <a:gs pos="50000">
                      <a:srgbClr val="8661C5"/>
                    </a:gs>
                    <a:gs pos="0">
                      <a:srgbClr val="0078D4"/>
                    </a:gs>
                    <a:gs pos="100000">
                      <a:srgbClr val="C73ECC"/>
                    </a:gs>
                  </a:gsLst>
                  <a:lin ang="2700000" scaled="1"/>
                </a:gradFill>
                <a:effectLst/>
                <a:uLnTx/>
                <a:uFillTx/>
                <a:latin typeface="Segoe UI Semibold"/>
                <a:ea typeface="+mn-ea"/>
                <a:cs typeface="+mn-cs"/>
              </a:rPr>
              <a:t>Roles</a:t>
            </a:r>
          </a:p>
        </p:txBody>
      </p:sp>
      <p:sp>
        <p:nvSpPr>
          <p:cNvPr id="10" name="Freeform: Shape 2">
            <a:extLst>
              <a:ext uri="{FF2B5EF4-FFF2-40B4-BE49-F238E27FC236}">
                <a16:creationId xmlns:a16="http://schemas.microsoft.com/office/drawing/2014/main" id="{A157A653-FB0B-716C-9568-59F46B9E1C43}"/>
              </a:ext>
              <a:ext uri="{C183D7F6-B498-43B3-948B-1728B52AA6E4}">
                <adec:decorative xmlns:adec="http://schemas.microsoft.com/office/drawing/2017/decorative" val="1"/>
              </a:ext>
            </a:extLst>
          </p:cNvPr>
          <p:cNvSpPr/>
          <p:nvPr/>
        </p:nvSpPr>
        <p:spPr>
          <a:xfrm>
            <a:off x="7930135" y="1803503"/>
            <a:ext cx="321377" cy="321377"/>
          </a:xfrm>
          <a:custGeom>
            <a:avLst/>
            <a:gdLst>
              <a:gd name="connsiteX0" fmla="*/ 68580 w 266700"/>
              <a:gd name="connsiteY0" fmla="*/ 137160 h 266700"/>
              <a:gd name="connsiteX1" fmla="*/ 64770 w 266700"/>
              <a:gd name="connsiteY1" fmla="*/ 140970 h 266700"/>
              <a:gd name="connsiteX2" fmla="*/ 64770 w 266700"/>
              <a:gd name="connsiteY2" fmla="*/ 148590 h 266700"/>
              <a:gd name="connsiteX3" fmla="*/ 66736 w 266700"/>
              <a:gd name="connsiteY3" fmla="*/ 154869 h 266700"/>
              <a:gd name="connsiteX4" fmla="*/ 68047 w 266700"/>
              <a:gd name="connsiteY4" fmla="*/ 156698 h 266700"/>
              <a:gd name="connsiteX5" fmla="*/ 77572 w 266700"/>
              <a:gd name="connsiteY5" fmla="*/ 164851 h 266700"/>
              <a:gd name="connsiteX6" fmla="*/ 114300 w 266700"/>
              <a:gd name="connsiteY6" fmla="*/ 171450 h 266700"/>
              <a:gd name="connsiteX7" fmla="*/ 153741 w 266700"/>
              <a:gd name="connsiteY7" fmla="*/ 164943 h 266700"/>
              <a:gd name="connsiteX8" fmla="*/ 161407 w 266700"/>
              <a:gd name="connsiteY8" fmla="*/ 157079 h 266700"/>
              <a:gd name="connsiteX9" fmla="*/ 162276 w 266700"/>
              <a:gd name="connsiteY9" fmla="*/ 155448 h 266700"/>
              <a:gd name="connsiteX10" fmla="*/ 163830 w 266700"/>
              <a:gd name="connsiteY10" fmla="*/ 148590 h 266700"/>
              <a:gd name="connsiteX11" fmla="*/ 163830 w 266700"/>
              <a:gd name="connsiteY11" fmla="*/ 140970 h 266700"/>
              <a:gd name="connsiteX12" fmla="*/ 160020 w 266700"/>
              <a:gd name="connsiteY12" fmla="*/ 137160 h 266700"/>
              <a:gd name="connsiteX13" fmla="*/ 68580 w 266700"/>
              <a:gd name="connsiteY13" fmla="*/ 114300 h 266700"/>
              <a:gd name="connsiteX14" fmla="*/ 160020 w 266700"/>
              <a:gd name="connsiteY14" fmla="*/ 114300 h 266700"/>
              <a:gd name="connsiteX15" fmla="*/ 186690 w 266700"/>
              <a:gd name="connsiteY15" fmla="*/ 140970 h 266700"/>
              <a:gd name="connsiteX16" fmla="*/ 186690 w 266700"/>
              <a:gd name="connsiteY16" fmla="*/ 148590 h 266700"/>
              <a:gd name="connsiteX17" fmla="*/ 168707 w 266700"/>
              <a:gd name="connsiteY17" fmla="*/ 182042 h 266700"/>
              <a:gd name="connsiteX18" fmla="*/ 114300 w 266700"/>
              <a:gd name="connsiteY18" fmla="*/ 194310 h 266700"/>
              <a:gd name="connsiteX19" fmla="*/ 62880 w 266700"/>
              <a:gd name="connsiteY19" fmla="*/ 182118 h 266700"/>
              <a:gd name="connsiteX20" fmla="*/ 41910 w 266700"/>
              <a:gd name="connsiteY20" fmla="*/ 148590 h 266700"/>
              <a:gd name="connsiteX21" fmla="*/ 41910 w 266700"/>
              <a:gd name="connsiteY21" fmla="*/ 140970 h 266700"/>
              <a:gd name="connsiteX22" fmla="*/ 68580 w 266700"/>
              <a:gd name="connsiteY22" fmla="*/ 114300 h 266700"/>
              <a:gd name="connsiteX23" fmla="*/ 114300 w 266700"/>
              <a:gd name="connsiteY23" fmla="*/ 53340 h 266700"/>
              <a:gd name="connsiteX24" fmla="*/ 99060 w 266700"/>
              <a:gd name="connsiteY24" fmla="*/ 68580 h 266700"/>
              <a:gd name="connsiteX25" fmla="*/ 114300 w 266700"/>
              <a:gd name="connsiteY25" fmla="*/ 83820 h 266700"/>
              <a:gd name="connsiteX26" fmla="*/ 129540 w 266700"/>
              <a:gd name="connsiteY26" fmla="*/ 68580 h 266700"/>
              <a:gd name="connsiteX27" fmla="*/ 114300 w 266700"/>
              <a:gd name="connsiteY27" fmla="*/ 53340 h 266700"/>
              <a:gd name="connsiteX28" fmla="*/ 243840 w 266700"/>
              <a:gd name="connsiteY28" fmla="*/ 45872 h 266700"/>
              <a:gd name="connsiteX29" fmla="*/ 266700 w 266700"/>
              <a:gd name="connsiteY29" fmla="*/ 87630 h 266700"/>
              <a:gd name="connsiteX30" fmla="*/ 266700 w 266700"/>
              <a:gd name="connsiteY30" fmla="*/ 186690 h 266700"/>
              <a:gd name="connsiteX31" fmla="*/ 186690 w 266700"/>
              <a:gd name="connsiteY31" fmla="*/ 266700 h 266700"/>
              <a:gd name="connsiteX32" fmla="*/ 87630 w 266700"/>
              <a:gd name="connsiteY32" fmla="*/ 266700 h 266700"/>
              <a:gd name="connsiteX33" fmla="*/ 45872 w 266700"/>
              <a:gd name="connsiteY33" fmla="*/ 243840 h 266700"/>
              <a:gd name="connsiteX34" fmla="*/ 186690 w 266700"/>
              <a:gd name="connsiteY34" fmla="*/ 243840 h 266700"/>
              <a:gd name="connsiteX35" fmla="*/ 243840 w 266700"/>
              <a:gd name="connsiteY35" fmla="*/ 186690 h 266700"/>
              <a:gd name="connsiteX36" fmla="*/ 114300 w 266700"/>
              <a:gd name="connsiteY36" fmla="*/ 30480 h 266700"/>
              <a:gd name="connsiteX37" fmla="*/ 152400 w 266700"/>
              <a:gd name="connsiteY37" fmla="*/ 68580 h 266700"/>
              <a:gd name="connsiteX38" fmla="*/ 114300 w 266700"/>
              <a:gd name="connsiteY38" fmla="*/ 106680 h 266700"/>
              <a:gd name="connsiteX39" fmla="*/ 76200 w 266700"/>
              <a:gd name="connsiteY39" fmla="*/ 68580 h 266700"/>
              <a:gd name="connsiteX40" fmla="*/ 114300 w 266700"/>
              <a:gd name="connsiteY40" fmla="*/ 30480 h 266700"/>
              <a:gd name="connsiteX41" fmla="*/ 49530 w 266700"/>
              <a:gd name="connsiteY41" fmla="*/ 22860 h 266700"/>
              <a:gd name="connsiteX42" fmla="*/ 22860 w 266700"/>
              <a:gd name="connsiteY42" fmla="*/ 49530 h 266700"/>
              <a:gd name="connsiteX43" fmla="*/ 22860 w 266700"/>
              <a:gd name="connsiteY43" fmla="*/ 179070 h 266700"/>
              <a:gd name="connsiteX44" fmla="*/ 49530 w 266700"/>
              <a:gd name="connsiteY44" fmla="*/ 205740 h 266700"/>
              <a:gd name="connsiteX45" fmla="*/ 179070 w 266700"/>
              <a:gd name="connsiteY45" fmla="*/ 205740 h 266700"/>
              <a:gd name="connsiteX46" fmla="*/ 205740 w 266700"/>
              <a:gd name="connsiteY46" fmla="*/ 179070 h 266700"/>
              <a:gd name="connsiteX47" fmla="*/ 205740 w 266700"/>
              <a:gd name="connsiteY47" fmla="*/ 49530 h 266700"/>
              <a:gd name="connsiteX48" fmla="*/ 179070 w 266700"/>
              <a:gd name="connsiteY48" fmla="*/ 22860 h 266700"/>
              <a:gd name="connsiteX49" fmla="*/ 49530 w 266700"/>
              <a:gd name="connsiteY49" fmla="*/ 0 h 266700"/>
              <a:gd name="connsiteX50" fmla="*/ 179070 w 266700"/>
              <a:gd name="connsiteY50" fmla="*/ 0 h 266700"/>
              <a:gd name="connsiteX51" fmla="*/ 228600 w 266700"/>
              <a:gd name="connsiteY51" fmla="*/ 49530 h 266700"/>
              <a:gd name="connsiteX52" fmla="*/ 228600 w 266700"/>
              <a:gd name="connsiteY52" fmla="*/ 179070 h 266700"/>
              <a:gd name="connsiteX53" fmla="*/ 179070 w 266700"/>
              <a:gd name="connsiteY53" fmla="*/ 228600 h 266700"/>
              <a:gd name="connsiteX54" fmla="*/ 49530 w 266700"/>
              <a:gd name="connsiteY54" fmla="*/ 228600 h 266700"/>
              <a:gd name="connsiteX55" fmla="*/ 0 w 266700"/>
              <a:gd name="connsiteY55" fmla="*/ 179070 h 266700"/>
              <a:gd name="connsiteX56" fmla="*/ 0 w 266700"/>
              <a:gd name="connsiteY56" fmla="*/ 49530 h 266700"/>
              <a:gd name="connsiteX57" fmla="*/ 49530 w 266700"/>
              <a:gd name="connsiteY57" fmla="*/ 0 h 266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266700" h="266700">
                <a:moveTo>
                  <a:pt x="68580" y="137160"/>
                </a:moveTo>
                <a:cubicBezTo>
                  <a:pt x="66476" y="137160"/>
                  <a:pt x="64770" y="138865"/>
                  <a:pt x="64770" y="140970"/>
                </a:cubicBezTo>
                <a:lnTo>
                  <a:pt x="64770" y="148590"/>
                </a:lnTo>
                <a:cubicBezTo>
                  <a:pt x="64770" y="152278"/>
                  <a:pt x="65471" y="153192"/>
                  <a:pt x="66736" y="154869"/>
                </a:cubicBezTo>
                <a:cubicBezTo>
                  <a:pt x="67195" y="155462"/>
                  <a:pt x="67633" y="156071"/>
                  <a:pt x="68047" y="156698"/>
                </a:cubicBezTo>
                <a:cubicBezTo>
                  <a:pt x="70460" y="160195"/>
                  <a:pt x="73743" y="163006"/>
                  <a:pt x="77572" y="164851"/>
                </a:cubicBezTo>
                <a:cubicBezTo>
                  <a:pt x="86167" y="169316"/>
                  <a:pt x="98770" y="171450"/>
                  <a:pt x="114300" y="171450"/>
                </a:cubicBezTo>
                <a:cubicBezTo>
                  <a:pt x="133792" y="171450"/>
                  <a:pt x="146228" y="169271"/>
                  <a:pt x="153741" y="164943"/>
                </a:cubicBezTo>
                <a:cubicBezTo>
                  <a:pt x="157031" y="163155"/>
                  <a:pt x="159705" y="160413"/>
                  <a:pt x="161407" y="157079"/>
                </a:cubicBezTo>
                <a:cubicBezTo>
                  <a:pt x="161727" y="156439"/>
                  <a:pt x="162016" y="155905"/>
                  <a:pt x="162276" y="155448"/>
                </a:cubicBezTo>
                <a:cubicBezTo>
                  <a:pt x="163297" y="153604"/>
                  <a:pt x="163830" y="152644"/>
                  <a:pt x="163830" y="148590"/>
                </a:cubicBezTo>
                <a:lnTo>
                  <a:pt x="163830" y="140970"/>
                </a:lnTo>
                <a:cubicBezTo>
                  <a:pt x="163830" y="138865"/>
                  <a:pt x="162125" y="137160"/>
                  <a:pt x="160020" y="137160"/>
                </a:cubicBezTo>
                <a:close/>
                <a:moveTo>
                  <a:pt x="68580" y="114300"/>
                </a:moveTo>
                <a:lnTo>
                  <a:pt x="160020" y="114300"/>
                </a:lnTo>
                <a:cubicBezTo>
                  <a:pt x="174749" y="114300"/>
                  <a:pt x="186690" y="126241"/>
                  <a:pt x="186690" y="140970"/>
                </a:cubicBezTo>
                <a:lnTo>
                  <a:pt x="186690" y="148590"/>
                </a:lnTo>
                <a:cubicBezTo>
                  <a:pt x="186690" y="164607"/>
                  <a:pt x="181082" y="173523"/>
                  <a:pt x="168707" y="182042"/>
                </a:cubicBezTo>
                <a:cubicBezTo>
                  <a:pt x="156591" y="190378"/>
                  <a:pt x="138516" y="194310"/>
                  <a:pt x="114300" y="194310"/>
                </a:cubicBezTo>
                <a:cubicBezTo>
                  <a:pt x="93772" y="194310"/>
                  <a:pt x="75834" y="190317"/>
                  <a:pt x="62880" y="182118"/>
                </a:cubicBezTo>
                <a:cubicBezTo>
                  <a:pt x="49759" y="173812"/>
                  <a:pt x="41910" y="165034"/>
                  <a:pt x="41910" y="148590"/>
                </a:cubicBezTo>
                <a:lnTo>
                  <a:pt x="41910" y="140970"/>
                </a:lnTo>
                <a:cubicBezTo>
                  <a:pt x="41910" y="126241"/>
                  <a:pt x="53851" y="114300"/>
                  <a:pt x="68580" y="114300"/>
                </a:cubicBezTo>
                <a:close/>
                <a:moveTo>
                  <a:pt x="114300" y="53340"/>
                </a:moveTo>
                <a:cubicBezTo>
                  <a:pt x="105883" y="53340"/>
                  <a:pt x="99060" y="60163"/>
                  <a:pt x="99060" y="68580"/>
                </a:cubicBezTo>
                <a:cubicBezTo>
                  <a:pt x="99060" y="76997"/>
                  <a:pt x="105883" y="83820"/>
                  <a:pt x="114300" y="83820"/>
                </a:cubicBezTo>
                <a:cubicBezTo>
                  <a:pt x="122717" y="83820"/>
                  <a:pt x="129540" y="76997"/>
                  <a:pt x="129540" y="68580"/>
                </a:cubicBezTo>
                <a:cubicBezTo>
                  <a:pt x="129540" y="60163"/>
                  <a:pt x="122717" y="53340"/>
                  <a:pt x="114300" y="53340"/>
                </a:cubicBezTo>
                <a:close/>
                <a:moveTo>
                  <a:pt x="243840" y="45872"/>
                </a:moveTo>
                <a:cubicBezTo>
                  <a:pt x="258094" y="54971"/>
                  <a:pt x="266715" y="70719"/>
                  <a:pt x="266700" y="87630"/>
                </a:cubicBezTo>
                <a:lnTo>
                  <a:pt x="266700" y="186690"/>
                </a:lnTo>
                <a:cubicBezTo>
                  <a:pt x="266700" y="230886"/>
                  <a:pt x="230886" y="266700"/>
                  <a:pt x="186690" y="266700"/>
                </a:cubicBezTo>
                <a:lnTo>
                  <a:pt x="87630" y="266700"/>
                </a:lnTo>
                <a:cubicBezTo>
                  <a:pt x="70719" y="266712"/>
                  <a:pt x="54973" y="258092"/>
                  <a:pt x="45872" y="243840"/>
                </a:cubicBezTo>
                <a:lnTo>
                  <a:pt x="186690" y="243840"/>
                </a:lnTo>
                <a:cubicBezTo>
                  <a:pt x="218253" y="243840"/>
                  <a:pt x="243840" y="218253"/>
                  <a:pt x="243840" y="186690"/>
                </a:cubicBezTo>
                <a:close/>
                <a:moveTo>
                  <a:pt x="114300" y="30480"/>
                </a:moveTo>
                <a:cubicBezTo>
                  <a:pt x="135342" y="30480"/>
                  <a:pt x="152400" y="47538"/>
                  <a:pt x="152400" y="68580"/>
                </a:cubicBezTo>
                <a:cubicBezTo>
                  <a:pt x="152400" y="89622"/>
                  <a:pt x="135342" y="106680"/>
                  <a:pt x="114300" y="106680"/>
                </a:cubicBezTo>
                <a:cubicBezTo>
                  <a:pt x="93258" y="106680"/>
                  <a:pt x="76200" y="89622"/>
                  <a:pt x="76200" y="68580"/>
                </a:cubicBezTo>
                <a:cubicBezTo>
                  <a:pt x="76200" y="47538"/>
                  <a:pt x="93258" y="30480"/>
                  <a:pt x="114300" y="30480"/>
                </a:cubicBezTo>
                <a:close/>
                <a:moveTo>
                  <a:pt x="49530" y="22860"/>
                </a:moveTo>
                <a:cubicBezTo>
                  <a:pt x="34801" y="22860"/>
                  <a:pt x="22860" y="34801"/>
                  <a:pt x="22860" y="49530"/>
                </a:cubicBezTo>
                <a:lnTo>
                  <a:pt x="22860" y="179070"/>
                </a:lnTo>
                <a:cubicBezTo>
                  <a:pt x="22860" y="193792"/>
                  <a:pt x="34808" y="205740"/>
                  <a:pt x="49530" y="205740"/>
                </a:cubicBezTo>
                <a:lnTo>
                  <a:pt x="179070" y="205740"/>
                </a:lnTo>
                <a:cubicBezTo>
                  <a:pt x="193799" y="205740"/>
                  <a:pt x="205740" y="193799"/>
                  <a:pt x="205740" y="179070"/>
                </a:cubicBezTo>
                <a:lnTo>
                  <a:pt x="205740" y="49530"/>
                </a:lnTo>
                <a:cubicBezTo>
                  <a:pt x="205740" y="34801"/>
                  <a:pt x="193799" y="22860"/>
                  <a:pt x="179070" y="22860"/>
                </a:cubicBezTo>
                <a:close/>
                <a:moveTo>
                  <a:pt x="49530" y="0"/>
                </a:moveTo>
                <a:lnTo>
                  <a:pt x="179070" y="0"/>
                </a:lnTo>
                <a:cubicBezTo>
                  <a:pt x="206424" y="0"/>
                  <a:pt x="228600" y="22175"/>
                  <a:pt x="228600" y="49530"/>
                </a:cubicBezTo>
                <a:lnTo>
                  <a:pt x="228600" y="179070"/>
                </a:lnTo>
                <a:cubicBezTo>
                  <a:pt x="228600" y="206424"/>
                  <a:pt x="206424" y="228600"/>
                  <a:pt x="179070" y="228600"/>
                </a:cubicBezTo>
                <a:lnTo>
                  <a:pt x="49530" y="228600"/>
                </a:lnTo>
                <a:cubicBezTo>
                  <a:pt x="22175" y="228600"/>
                  <a:pt x="0" y="206424"/>
                  <a:pt x="0" y="179070"/>
                </a:cubicBezTo>
                <a:lnTo>
                  <a:pt x="0" y="49530"/>
                </a:lnTo>
                <a:cubicBezTo>
                  <a:pt x="0" y="22175"/>
                  <a:pt x="22175" y="0"/>
                  <a:pt x="49530" y="0"/>
                </a:cubicBezTo>
                <a:close/>
              </a:path>
            </a:pathLst>
          </a:custGeom>
          <a:gradFill flip="none" rotWithShape="1">
            <a:gsLst>
              <a:gs pos="35000">
                <a:srgbClr val="0078D4"/>
              </a:gs>
              <a:gs pos="0">
                <a:srgbClr val="C03BC4"/>
              </a:gs>
            </a:gsLst>
            <a:path path="circle">
              <a:fillToRect l="100000" t="100000"/>
            </a:path>
            <a:tileRect r="-100000" b="-100000"/>
          </a:gradFill>
          <a:ln>
            <a:noFill/>
            <a:headEnd type="none" w="med" len="med"/>
            <a:tailEnd type="none" w="med" len="med"/>
          </a:ln>
          <a:effectLst>
            <a:outerShdw blurRad="63500" dist="101600" dir="2700000" algn="tl" rotWithShape="0">
              <a:srgbClr val="454142">
                <a:alpha val="25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91440" numCol="1" spcCol="0" rtlCol="0" fromWordArt="0" anchor="b" anchorCtr="0" forceAA="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1" i="0" u="none" strike="noStrike" kern="1200" cap="none" spc="0" normalizeH="0" baseline="0" noProof="0" dirty="0">
              <a:ln w="3175">
                <a:noFill/>
              </a:ln>
              <a:gradFill>
                <a:gsLst>
                  <a:gs pos="76437">
                    <a:srgbClr val="FFFFFF"/>
                  </a:gs>
                  <a:gs pos="55747">
                    <a:srgbClr val="FFFFFF"/>
                  </a:gs>
                </a:gsLst>
                <a:path path="circle">
                  <a:fillToRect l="100000" b="100000"/>
                </a:path>
              </a:gradFill>
              <a:effectLst/>
              <a:uLnTx/>
              <a:uFillTx/>
              <a:latin typeface="Segoe UI Semibold"/>
              <a:ea typeface="+mn-ea"/>
              <a:cs typeface="Segoe UI" pitchFamily="34" charset="0"/>
            </a:endParaRPr>
          </a:p>
        </p:txBody>
      </p:sp>
      <p:sp>
        <p:nvSpPr>
          <p:cNvPr id="30" name="Freeform: Shape 32">
            <a:extLst>
              <a:ext uri="{FF2B5EF4-FFF2-40B4-BE49-F238E27FC236}">
                <a16:creationId xmlns:a16="http://schemas.microsoft.com/office/drawing/2014/main" id="{DB057A49-CBAF-BC14-1094-C71B675EFB04}"/>
              </a:ext>
              <a:ext uri="{C183D7F6-B498-43B3-948B-1728B52AA6E4}">
                <adec:decorative xmlns:adec="http://schemas.microsoft.com/office/drawing/2017/decorative" val="1"/>
              </a:ext>
            </a:extLst>
          </p:cNvPr>
          <p:cNvSpPr>
            <a:spLocks/>
          </p:cNvSpPr>
          <p:nvPr/>
        </p:nvSpPr>
        <p:spPr bwMode="auto">
          <a:xfrm>
            <a:off x="7697337" y="3872623"/>
            <a:ext cx="3727901" cy="2287546"/>
          </a:xfrm>
          <a:prstGeom prst="roundRect">
            <a:avLst>
              <a:gd name="adj" fmla="val 4762"/>
            </a:avLst>
          </a:prstGeom>
          <a:solidFill>
            <a:schemeClr val="bg1">
              <a:alpha val="70000"/>
            </a:schemeClr>
          </a:solidFill>
          <a:ln>
            <a:solidFill>
              <a:schemeClr val="bg1"/>
            </a:solidFill>
          </a:ln>
          <a:effectLst>
            <a:outerShdw blurRad="223661" dist="140295" dir="2700000" algn="tl" rotWithShape="0">
              <a:schemeClr val="accent1">
                <a:alpha val="15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Segoe UI"/>
              <a:ea typeface="+mn-ea"/>
              <a:cs typeface="Segoe UI" pitchFamily="34" charset="0"/>
            </a:endParaRPr>
          </a:p>
        </p:txBody>
      </p:sp>
      <p:sp>
        <p:nvSpPr>
          <p:cNvPr id="21" name="Text Placeholder 5">
            <a:extLst>
              <a:ext uri="{FF2B5EF4-FFF2-40B4-BE49-F238E27FC236}">
                <a16:creationId xmlns:a16="http://schemas.microsoft.com/office/drawing/2014/main" id="{382100B4-F48F-AAB9-CF62-2BA0D918036D}"/>
              </a:ext>
            </a:extLst>
          </p:cNvPr>
          <p:cNvSpPr txBox="1">
            <a:spLocks/>
          </p:cNvSpPr>
          <p:nvPr/>
        </p:nvSpPr>
        <p:spPr>
          <a:xfrm>
            <a:off x="7980026" y="4826288"/>
            <a:ext cx="3186884" cy="707886"/>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597" rtl="0" eaLnBrk="1" fontAlgn="auto" latinLnBrk="0" hangingPunct="1">
              <a:lnSpc>
                <a:spcPct val="100000"/>
              </a:lnSpc>
              <a:spcBef>
                <a:spcPts val="0"/>
              </a:spcBef>
              <a:spcAft>
                <a:spcPts val="600"/>
              </a:spcAft>
              <a:buClrTx/>
              <a:buSzTx/>
              <a:buFont typeface="Wingdings" panose="05000000000000000000" pitchFamily="2" charset="2"/>
              <a:buNone/>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Microsoft 365 Copilot</a:t>
            </a:r>
          </a:p>
          <a:p>
            <a:pPr marL="0" marR="0" lvl="0" indent="0" algn="l" defTabSz="932597" rtl="0" eaLnBrk="1" fontAlgn="auto" latinLnBrk="0" hangingPunct="1">
              <a:lnSpc>
                <a:spcPct val="100000"/>
              </a:lnSpc>
              <a:spcBef>
                <a:spcPts val="0"/>
              </a:spcBef>
              <a:spcAft>
                <a:spcPts val="600"/>
              </a:spcAft>
              <a:buClrTx/>
              <a:buSzTx/>
              <a:buFont typeface="Wingdings" panose="05000000000000000000" pitchFamily="2" charset="2"/>
              <a:buNone/>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Microsoft 365 Copilot for Finance</a:t>
            </a:r>
          </a:p>
          <a:p>
            <a:pPr marL="0" marR="0" lvl="0" indent="0" algn="l" defTabSz="932597" rtl="0" eaLnBrk="1" fontAlgn="auto" latinLnBrk="0" hangingPunct="1">
              <a:lnSpc>
                <a:spcPct val="100000"/>
              </a:lnSpc>
              <a:spcBef>
                <a:spcPts val="0"/>
              </a:spcBef>
              <a:spcAft>
                <a:spcPts val="600"/>
              </a:spcAft>
              <a:buClrTx/>
              <a:buSzTx/>
              <a:buFont typeface="Wingdings" panose="05000000000000000000" pitchFamily="2" charset="2"/>
              <a:buNone/>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Copilot Studio</a:t>
            </a:r>
          </a:p>
        </p:txBody>
      </p:sp>
      <p:sp>
        <p:nvSpPr>
          <p:cNvPr id="31" name="Rectangle: Rounded Corners 26">
            <a:extLst>
              <a:ext uri="{FF2B5EF4-FFF2-40B4-BE49-F238E27FC236}">
                <a16:creationId xmlns:a16="http://schemas.microsoft.com/office/drawing/2014/main" id="{141CFC38-7A95-9B39-1123-CED249505C53}"/>
              </a:ext>
            </a:extLst>
          </p:cNvPr>
          <p:cNvSpPr/>
          <p:nvPr/>
        </p:nvSpPr>
        <p:spPr bwMode="auto">
          <a:xfrm>
            <a:off x="8438481" y="4078346"/>
            <a:ext cx="2940928" cy="365760"/>
          </a:xfrm>
          <a:prstGeom prst="roundRect">
            <a:avLst>
              <a:gd name="adj" fmla="val 19935"/>
            </a:avLst>
          </a:prstGeom>
          <a:noFill/>
          <a:ln>
            <a:noFill/>
            <a:headEnd type="none" w="med" len="med"/>
            <a:tailEnd type="none" w="med" len="med"/>
          </a:ln>
          <a:effectLst>
            <a:outerShdw blurRad="1905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gradFill>
                  <a:gsLst>
                    <a:gs pos="50000">
                      <a:srgbClr val="8661C5"/>
                    </a:gs>
                    <a:gs pos="0">
                      <a:srgbClr val="0078D4"/>
                    </a:gs>
                    <a:gs pos="100000">
                      <a:srgbClr val="C73ECC"/>
                    </a:gs>
                  </a:gsLst>
                  <a:lin ang="2700000" scaled="1"/>
                </a:gradFill>
                <a:effectLst/>
                <a:uLnTx/>
                <a:uFillTx/>
                <a:latin typeface="Segoe UI Semibold"/>
                <a:ea typeface="+mn-ea"/>
                <a:cs typeface="+mn-cs"/>
              </a:rPr>
              <a:t>Microsoft AI solutions</a:t>
            </a:r>
          </a:p>
        </p:txBody>
      </p:sp>
      <p:sp>
        <p:nvSpPr>
          <p:cNvPr id="34" name="Graphic 32">
            <a:extLst>
              <a:ext uri="{FF2B5EF4-FFF2-40B4-BE49-F238E27FC236}">
                <a16:creationId xmlns:a16="http://schemas.microsoft.com/office/drawing/2014/main" id="{5F00FDD4-AD2C-14BC-0878-8728C10A43A2}"/>
              </a:ext>
              <a:ext uri="{C183D7F6-B498-43B3-948B-1728B52AA6E4}">
                <adec:decorative xmlns:adec="http://schemas.microsoft.com/office/drawing/2017/decorative" val="1"/>
              </a:ext>
            </a:extLst>
          </p:cNvPr>
          <p:cNvSpPr/>
          <p:nvPr/>
        </p:nvSpPr>
        <p:spPr>
          <a:xfrm>
            <a:off x="7920860" y="4091303"/>
            <a:ext cx="339928" cy="339845"/>
          </a:xfrm>
          <a:custGeom>
            <a:avLst/>
            <a:gdLst>
              <a:gd name="connsiteX0" fmla="*/ 128988 w 409676"/>
              <a:gd name="connsiteY0" fmla="*/ 289825 h 409576"/>
              <a:gd name="connsiteX1" fmla="*/ 148010 w 409676"/>
              <a:gd name="connsiteY1" fmla="*/ 295832 h 409576"/>
              <a:gd name="connsiteX2" fmla="*/ 148010 w 409676"/>
              <a:gd name="connsiteY2" fmla="*/ 295741 h 409576"/>
              <a:gd name="connsiteX3" fmla="*/ 178205 w 409676"/>
              <a:gd name="connsiteY3" fmla="*/ 275900 h 409576"/>
              <a:gd name="connsiteX4" fmla="*/ 192153 w 409676"/>
              <a:gd name="connsiteY4" fmla="*/ 233486 h 409576"/>
              <a:gd name="connsiteX5" fmla="*/ 233497 w 409676"/>
              <a:gd name="connsiteY5" fmla="*/ 192255 h 409576"/>
              <a:gd name="connsiteX6" fmla="*/ 273954 w 409676"/>
              <a:gd name="connsiteY6" fmla="*/ 179104 h 409576"/>
              <a:gd name="connsiteX7" fmla="*/ 294049 w 409676"/>
              <a:gd name="connsiteY7" fmla="*/ 137242 h 409576"/>
              <a:gd name="connsiteX8" fmla="*/ 272771 w 409676"/>
              <a:gd name="connsiteY8" fmla="*/ 116757 h 409576"/>
              <a:gd name="connsiteX9" fmla="*/ 232838 w 409676"/>
              <a:gd name="connsiteY9" fmla="*/ 103787 h 409576"/>
              <a:gd name="connsiteX10" fmla="*/ 191380 w 409676"/>
              <a:gd name="connsiteY10" fmla="*/ 62306 h 409576"/>
              <a:gd name="connsiteX11" fmla="*/ 178228 w 409676"/>
              <a:gd name="connsiteY11" fmla="*/ 21872 h 409576"/>
              <a:gd name="connsiteX12" fmla="*/ 136193 w 409676"/>
              <a:gd name="connsiteY12" fmla="*/ 1916 h 409576"/>
              <a:gd name="connsiteX13" fmla="*/ 116063 w 409676"/>
              <a:gd name="connsiteY13" fmla="*/ 22373 h 409576"/>
              <a:gd name="connsiteX14" fmla="*/ 102798 w 409676"/>
              <a:gd name="connsiteY14" fmla="*/ 63148 h 409576"/>
              <a:gd name="connsiteX15" fmla="*/ 62523 w 409676"/>
              <a:gd name="connsiteY15" fmla="*/ 103787 h 409576"/>
              <a:gd name="connsiteX16" fmla="*/ 22089 w 409676"/>
              <a:gd name="connsiteY16" fmla="*/ 116780 h 409576"/>
              <a:gd name="connsiteX17" fmla="*/ 1827 w 409676"/>
              <a:gd name="connsiteY17" fmla="*/ 158597 h 409576"/>
              <a:gd name="connsiteX18" fmla="*/ 22475 w 409676"/>
              <a:gd name="connsiteY18" fmla="*/ 178990 h 409576"/>
              <a:gd name="connsiteX19" fmla="*/ 62386 w 409676"/>
              <a:gd name="connsiteY19" fmla="*/ 191937 h 409576"/>
              <a:gd name="connsiteX20" fmla="*/ 103844 w 409676"/>
              <a:gd name="connsiteY20" fmla="*/ 233486 h 409576"/>
              <a:gd name="connsiteX21" fmla="*/ 116996 w 409676"/>
              <a:gd name="connsiteY21" fmla="*/ 273875 h 409576"/>
              <a:gd name="connsiteX22" fmla="*/ 128988 w 409676"/>
              <a:gd name="connsiteY22" fmla="*/ 289803 h 409576"/>
              <a:gd name="connsiteX23" fmla="*/ 120478 w 409676"/>
              <a:gd name="connsiteY23" fmla="*/ 193120 h 409576"/>
              <a:gd name="connsiteX24" fmla="*/ 112218 w 409676"/>
              <a:gd name="connsiteY24" fmla="*/ 183723 h 409576"/>
              <a:gd name="connsiteX25" fmla="*/ 112286 w 409676"/>
              <a:gd name="connsiteY25" fmla="*/ 183723 h 409576"/>
              <a:gd name="connsiteX26" fmla="*/ 73149 w 409676"/>
              <a:gd name="connsiteY26" fmla="*/ 159535 h 409576"/>
              <a:gd name="connsiteX27" fmla="*/ 36742 w 409676"/>
              <a:gd name="connsiteY27" fmla="*/ 147976 h 409576"/>
              <a:gd name="connsiteX28" fmla="*/ 73399 w 409676"/>
              <a:gd name="connsiteY28" fmla="*/ 136053 h 409576"/>
              <a:gd name="connsiteX29" fmla="*/ 111854 w 409676"/>
              <a:gd name="connsiteY29" fmla="*/ 111819 h 409576"/>
              <a:gd name="connsiteX30" fmla="*/ 135541 w 409676"/>
              <a:gd name="connsiteY30" fmla="*/ 72955 h 409576"/>
              <a:gd name="connsiteX31" fmla="*/ 147259 w 409676"/>
              <a:gd name="connsiteY31" fmla="*/ 36958 h 409576"/>
              <a:gd name="connsiteX32" fmla="*/ 159000 w 409676"/>
              <a:gd name="connsiteY32" fmla="*/ 73069 h 409576"/>
              <a:gd name="connsiteX33" fmla="*/ 222280 w 409676"/>
              <a:gd name="connsiteY33" fmla="*/ 136166 h 409576"/>
              <a:gd name="connsiteX34" fmla="*/ 259141 w 409676"/>
              <a:gd name="connsiteY34" fmla="*/ 148044 h 409576"/>
              <a:gd name="connsiteX35" fmla="*/ 222962 w 409676"/>
              <a:gd name="connsiteY35" fmla="*/ 159762 h 409576"/>
              <a:gd name="connsiteX36" fmla="*/ 159842 w 409676"/>
              <a:gd name="connsiteY36" fmla="*/ 222905 h 409576"/>
              <a:gd name="connsiteX37" fmla="*/ 148124 w 409676"/>
              <a:gd name="connsiteY37" fmla="*/ 258902 h 409576"/>
              <a:gd name="connsiteX38" fmla="*/ 136405 w 409676"/>
              <a:gd name="connsiteY38" fmla="*/ 222837 h 409576"/>
              <a:gd name="connsiteX39" fmla="*/ 120478 w 409676"/>
              <a:gd name="connsiteY39" fmla="*/ 193120 h 409576"/>
              <a:gd name="connsiteX40" fmla="*/ 303444 w 409676"/>
              <a:gd name="connsiteY40" fmla="*/ 404666 h 409576"/>
              <a:gd name="connsiteX41" fmla="*/ 294115 w 409676"/>
              <a:gd name="connsiteY41" fmla="*/ 392174 h 409576"/>
              <a:gd name="connsiteX42" fmla="*/ 286651 w 409676"/>
              <a:gd name="connsiteY42" fmla="*/ 369260 h 409576"/>
              <a:gd name="connsiteX43" fmla="*/ 267970 w 409676"/>
              <a:gd name="connsiteY43" fmla="*/ 350533 h 409576"/>
              <a:gd name="connsiteX44" fmla="*/ 245421 w 409676"/>
              <a:gd name="connsiteY44" fmla="*/ 343184 h 409576"/>
              <a:gd name="connsiteX45" fmla="*/ 227650 w 409676"/>
              <a:gd name="connsiteY45" fmla="*/ 318541 h 409576"/>
              <a:gd name="connsiteX46" fmla="*/ 245193 w 409676"/>
              <a:gd name="connsiteY46" fmla="*/ 293967 h 409576"/>
              <a:gd name="connsiteX47" fmla="*/ 268084 w 409676"/>
              <a:gd name="connsiteY47" fmla="*/ 286549 h 409576"/>
              <a:gd name="connsiteX48" fmla="*/ 286287 w 409676"/>
              <a:gd name="connsiteY48" fmla="*/ 267913 h 409576"/>
              <a:gd name="connsiteX49" fmla="*/ 293659 w 409676"/>
              <a:gd name="connsiteY49" fmla="*/ 245341 h 409576"/>
              <a:gd name="connsiteX50" fmla="*/ 326655 w 409676"/>
              <a:gd name="connsiteY50" fmla="*/ 229088 h 409576"/>
              <a:gd name="connsiteX51" fmla="*/ 342740 w 409676"/>
              <a:gd name="connsiteY51" fmla="*/ 244863 h 409576"/>
              <a:gd name="connsiteX52" fmla="*/ 350226 w 409676"/>
              <a:gd name="connsiteY52" fmla="*/ 267936 h 409576"/>
              <a:gd name="connsiteX53" fmla="*/ 368885 w 409676"/>
              <a:gd name="connsiteY53" fmla="*/ 286503 h 409576"/>
              <a:gd name="connsiteX54" fmla="*/ 391457 w 409676"/>
              <a:gd name="connsiteY54" fmla="*/ 293853 h 409576"/>
              <a:gd name="connsiteX55" fmla="*/ 408486 w 409676"/>
              <a:gd name="connsiteY55" fmla="*/ 326382 h 409576"/>
              <a:gd name="connsiteX56" fmla="*/ 392344 w 409676"/>
              <a:gd name="connsiteY56" fmla="*/ 343116 h 409576"/>
              <a:gd name="connsiteX57" fmla="*/ 369272 w 409676"/>
              <a:gd name="connsiteY57" fmla="*/ 350602 h 409576"/>
              <a:gd name="connsiteX58" fmla="*/ 350659 w 409676"/>
              <a:gd name="connsiteY58" fmla="*/ 369306 h 409576"/>
              <a:gd name="connsiteX59" fmla="*/ 343332 w 409676"/>
              <a:gd name="connsiteY59" fmla="*/ 391809 h 409576"/>
              <a:gd name="connsiteX60" fmla="*/ 333661 w 409676"/>
              <a:gd name="connsiteY60" fmla="*/ 404779 h 409576"/>
              <a:gd name="connsiteX61" fmla="*/ 303444 w 409676"/>
              <a:gd name="connsiteY61" fmla="*/ 404666 h 409576"/>
              <a:gd name="connsiteX62" fmla="*/ 280007 w 409676"/>
              <a:gd name="connsiteY62" fmla="*/ 318587 h 409576"/>
              <a:gd name="connsiteX63" fmla="*/ 318666 w 409676"/>
              <a:gd name="connsiteY63" fmla="*/ 357473 h 409576"/>
              <a:gd name="connsiteX64" fmla="*/ 357348 w 409676"/>
              <a:gd name="connsiteY64" fmla="*/ 318791 h 409576"/>
              <a:gd name="connsiteX65" fmla="*/ 318257 w 409676"/>
              <a:gd name="connsiteY65" fmla="*/ 279927 h 409576"/>
              <a:gd name="connsiteX66" fmla="*/ 279984 w 409676"/>
              <a:gd name="connsiteY66" fmla="*/ 318609 h 409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409676" h="409576">
                <a:moveTo>
                  <a:pt x="128988" y="289825"/>
                </a:moveTo>
                <a:cubicBezTo>
                  <a:pt x="134562" y="293762"/>
                  <a:pt x="141207" y="295855"/>
                  <a:pt x="148010" y="295832"/>
                </a:cubicBezTo>
                <a:lnTo>
                  <a:pt x="148010" y="295741"/>
                </a:lnTo>
                <a:cubicBezTo>
                  <a:pt x="161137" y="295764"/>
                  <a:pt x="173015" y="287959"/>
                  <a:pt x="178205" y="275900"/>
                </a:cubicBezTo>
                <a:lnTo>
                  <a:pt x="192153" y="233486"/>
                </a:lnTo>
                <a:cubicBezTo>
                  <a:pt x="198688" y="214008"/>
                  <a:pt x="214002" y="198736"/>
                  <a:pt x="233497" y="192255"/>
                </a:cubicBezTo>
                <a:lnTo>
                  <a:pt x="273954" y="179104"/>
                </a:lnTo>
                <a:cubicBezTo>
                  <a:pt x="291063" y="173092"/>
                  <a:pt x="300060" y="154350"/>
                  <a:pt x="294049" y="137242"/>
                </a:cubicBezTo>
                <a:cubicBezTo>
                  <a:pt x="290601" y="127429"/>
                  <a:pt x="282708" y="119830"/>
                  <a:pt x="272771" y="116757"/>
                </a:cubicBezTo>
                <a:lnTo>
                  <a:pt x="232838" y="103787"/>
                </a:lnTo>
                <a:cubicBezTo>
                  <a:pt x="213249" y="97273"/>
                  <a:pt x="197883" y="81898"/>
                  <a:pt x="191380" y="62306"/>
                </a:cubicBezTo>
                <a:lnTo>
                  <a:pt x="178228" y="21872"/>
                </a:lnTo>
                <a:cubicBezTo>
                  <a:pt x="172132" y="4754"/>
                  <a:pt x="153311" y="-4181"/>
                  <a:pt x="136193" y="1916"/>
                </a:cubicBezTo>
                <a:cubicBezTo>
                  <a:pt x="126706" y="5295"/>
                  <a:pt x="119289" y="12833"/>
                  <a:pt x="116063" y="22373"/>
                </a:cubicBezTo>
                <a:lnTo>
                  <a:pt x="102798" y="63148"/>
                </a:lnTo>
                <a:cubicBezTo>
                  <a:pt x="96316" y="82155"/>
                  <a:pt x="81470" y="97135"/>
                  <a:pt x="62523" y="103787"/>
                </a:cubicBezTo>
                <a:lnTo>
                  <a:pt x="22089" y="116780"/>
                </a:lnTo>
                <a:cubicBezTo>
                  <a:pt x="4946" y="122732"/>
                  <a:pt x="-4125" y="141454"/>
                  <a:pt x="1827" y="158597"/>
                </a:cubicBezTo>
                <a:cubicBezTo>
                  <a:pt x="5172" y="168229"/>
                  <a:pt x="12801" y="175765"/>
                  <a:pt x="22475" y="178990"/>
                </a:cubicBezTo>
                <a:lnTo>
                  <a:pt x="62386" y="191937"/>
                </a:lnTo>
                <a:cubicBezTo>
                  <a:pt x="81969" y="198499"/>
                  <a:pt x="97324" y="213890"/>
                  <a:pt x="103844" y="233486"/>
                </a:cubicBezTo>
                <a:lnTo>
                  <a:pt x="116996" y="273875"/>
                </a:lnTo>
                <a:cubicBezTo>
                  <a:pt x="119249" y="280314"/>
                  <a:pt x="123436" y="285889"/>
                  <a:pt x="128988" y="289803"/>
                </a:cubicBezTo>
                <a:close/>
                <a:moveTo>
                  <a:pt x="120478" y="193120"/>
                </a:moveTo>
                <a:cubicBezTo>
                  <a:pt x="117940" y="189805"/>
                  <a:pt x="115181" y="186665"/>
                  <a:pt x="112218" y="183723"/>
                </a:cubicBezTo>
                <a:lnTo>
                  <a:pt x="112286" y="183723"/>
                </a:lnTo>
                <a:cubicBezTo>
                  <a:pt x="101298" y="172728"/>
                  <a:pt x="87897" y="164445"/>
                  <a:pt x="73149" y="159535"/>
                </a:cubicBezTo>
                <a:lnTo>
                  <a:pt x="36742" y="147976"/>
                </a:lnTo>
                <a:lnTo>
                  <a:pt x="73399" y="136053"/>
                </a:lnTo>
                <a:cubicBezTo>
                  <a:pt x="87906" y="131030"/>
                  <a:pt x="101063" y="122738"/>
                  <a:pt x="111854" y="111819"/>
                </a:cubicBezTo>
                <a:cubicBezTo>
                  <a:pt x="122598" y="100831"/>
                  <a:pt x="130698" y="87540"/>
                  <a:pt x="135541" y="72955"/>
                </a:cubicBezTo>
                <a:lnTo>
                  <a:pt x="147259" y="36958"/>
                </a:lnTo>
                <a:lnTo>
                  <a:pt x="159000" y="73069"/>
                </a:lnTo>
                <a:cubicBezTo>
                  <a:pt x="168935" y="102921"/>
                  <a:pt x="192399" y="126318"/>
                  <a:pt x="222280" y="136166"/>
                </a:cubicBezTo>
                <a:lnTo>
                  <a:pt x="259141" y="148044"/>
                </a:lnTo>
                <a:lnTo>
                  <a:pt x="222962" y="159762"/>
                </a:lnTo>
                <a:cubicBezTo>
                  <a:pt x="193143" y="169679"/>
                  <a:pt x="169747" y="193081"/>
                  <a:pt x="159842" y="222905"/>
                </a:cubicBezTo>
                <a:lnTo>
                  <a:pt x="148124" y="258902"/>
                </a:lnTo>
                <a:lnTo>
                  <a:pt x="136405" y="222837"/>
                </a:lnTo>
                <a:cubicBezTo>
                  <a:pt x="132827" y="212097"/>
                  <a:pt x="127441" y="202047"/>
                  <a:pt x="120478" y="193120"/>
                </a:cubicBezTo>
                <a:close/>
                <a:moveTo>
                  <a:pt x="303444" y="404666"/>
                </a:moveTo>
                <a:cubicBezTo>
                  <a:pt x="299109" y="401576"/>
                  <a:pt x="295846" y="397207"/>
                  <a:pt x="294115" y="392174"/>
                </a:cubicBezTo>
                <a:lnTo>
                  <a:pt x="286651" y="369260"/>
                </a:lnTo>
                <a:cubicBezTo>
                  <a:pt x="283739" y="360413"/>
                  <a:pt x="276810" y="353466"/>
                  <a:pt x="267970" y="350533"/>
                </a:cubicBezTo>
                <a:lnTo>
                  <a:pt x="245421" y="343184"/>
                </a:lnTo>
                <a:cubicBezTo>
                  <a:pt x="234838" y="339614"/>
                  <a:pt x="227695" y="329709"/>
                  <a:pt x="227650" y="318541"/>
                </a:cubicBezTo>
                <a:cubicBezTo>
                  <a:pt x="227656" y="307446"/>
                  <a:pt x="234701" y="297578"/>
                  <a:pt x="245193" y="293967"/>
                </a:cubicBezTo>
                <a:lnTo>
                  <a:pt x="268084" y="286549"/>
                </a:lnTo>
                <a:cubicBezTo>
                  <a:pt x="276708" y="283486"/>
                  <a:pt x="283429" y="276605"/>
                  <a:pt x="286287" y="267913"/>
                </a:cubicBezTo>
                <a:lnTo>
                  <a:pt x="293659" y="245341"/>
                </a:lnTo>
                <a:cubicBezTo>
                  <a:pt x="298283" y="231741"/>
                  <a:pt x="313055" y="224464"/>
                  <a:pt x="326655" y="229088"/>
                </a:cubicBezTo>
                <a:cubicBezTo>
                  <a:pt x="334135" y="231629"/>
                  <a:pt x="340053" y="237434"/>
                  <a:pt x="342740" y="244863"/>
                </a:cubicBezTo>
                <a:lnTo>
                  <a:pt x="350226" y="267936"/>
                </a:lnTo>
                <a:cubicBezTo>
                  <a:pt x="353198" y="276703"/>
                  <a:pt x="360102" y="283575"/>
                  <a:pt x="368885" y="286503"/>
                </a:cubicBezTo>
                <a:lnTo>
                  <a:pt x="391457" y="293853"/>
                </a:lnTo>
                <a:cubicBezTo>
                  <a:pt x="405141" y="298133"/>
                  <a:pt x="412766" y="312696"/>
                  <a:pt x="408486" y="326382"/>
                </a:cubicBezTo>
                <a:cubicBezTo>
                  <a:pt x="406045" y="334191"/>
                  <a:pt x="400063" y="340394"/>
                  <a:pt x="392344" y="343116"/>
                </a:cubicBezTo>
                <a:lnTo>
                  <a:pt x="369272" y="350602"/>
                </a:lnTo>
                <a:cubicBezTo>
                  <a:pt x="360477" y="353571"/>
                  <a:pt x="353585" y="360495"/>
                  <a:pt x="350659" y="369306"/>
                </a:cubicBezTo>
                <a:lnTo>
                  <a:pt x="343332" y="391809"/>
                </a:lnTo>
                <a:cubicBezTo>
                  <a:pt x="341557" y="397043"/>
                  <a:pt x="338189" y="401594"/>
                  <a:pt x="333661" y="404779"/>
                </a:cubicBezTo>
                <a:cubicBezTo>
                  <a:pt x="324605" y="411219"/>
                  <a:pt x="312452" y="411171"/>
                  <a:pt x="303444" y="404666"/>
                </a:cubicBezTo>
                <a:close/>
                <a:moveTo>
                  <a:pt x="280007" y="318587"/>
                </a:moveTo>
                <a:cubicBezTo>
                  <a:pt x="298117" y="325026"/>
                  <a:pt x="312334" y="339325"/>
                  <a:pt x="318666" y="357473"/>
                </a:cubicBezTo>
                <a:cubicBezTo>
                  <a:pt x="325069" y="339407"/>
                  <a:pt x="339282" y="325194"/>
                  <a:pt x="357348" y="318791"/>
                </a:cubicBezTo>
                <a:cubicBezTo>
                  <a:pt x="339122" y="312400"/>
                  <a:pt x="324755" y="298117"/>
                  <a:pt x="318257" y="279927"/>
                </a:cubicBezTo>
                <a:cubicBezTo>
                  <a:pt x="311908" y="297885"/>
                  <a:pt x="297874" y="312070"/>
                  <a:pt x="279984" y="318609"/>
                </a:cubicBezTo>
                <a:close/>
              </a:path>
            </a:pathLst>
          </a:custGeom>
          <a:gradFill flip="none" rotWithShape="1">
            <a:gsLst>
              <a:gs pos="35000">
                <a:srgbClr val="0078D4"/>
              </a:gs>
              <a:gs pos="0">
                <a:srgbClr val="C03BC4"/>
              </a:gs>
            </a:gsLst>
            <a:path path="circle">
              <a:fillToRect l="100000" t="100000"/>
            </a:path>
            <a:tileRect r="-100000" b="-100000"/>
          </a:gradFill>
          <a:ln>
            <a:noFill/>
            <a:headEnd type="none" w="med" len="med"/>
            <a:tailEnd type="none" w="med" len="med"/>
          </a:ln>
          <a:effectLst>
            <a:outerShdw blurRad="63500" dist="101600" dir="2700000" algn="tl" rotWithShape="0">
              <a:srgbClr val="454142">
                <a:alpha val="25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91440" numCol="1" spcCol="0" rtlCol="0" fromWordArt="0" anchor="b" anchorCtr="0" forceAA="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1" i="0" u="none" strike="noStrike" kern="1200" cap="none" spc="0" normalizeH="0" baseline="0" noProof="0" dirty="0">
              <a:ln w="3175">
                <a:noFill/>
              </a:ln>
              <a:gradFill>
                <a:gsLst>
                  <a:gs pos="76437">
                    <a:srgbClr val="FFFFFF"/>
                  </a:gs>
                  <a:gs pos="55747">
                    <a:srgbClr val="FFFFFF"/>
                  </a:gs>
                </a:gsLst>
                <a:path path="circle">
                  <a:fillToRect l="100000" b="100000"/>
                </a:path>
              </a:gradFill>
              <a:effectLst/>
              <a:uLnTx/>
              <a:uFillTx/>
              <a:latin typeface="Segoe UI Semibold"/>
              <a:ea typeface="+mn-ea"/>
              <a:cs typeface="Segoe UI" pitchFamily="34" charset="0"/>
            </a:endParaRPr>
          </a:p>
        </p:txBody>
      </p:sp>
      <p:sp>
        <p:nvSpPr>
          <p:cNvPr id="36" name="Rectangle: Rounded Corners 26">
            <a:extLst>
              <a:ext uri="{FF2B5EF4-FFF2-40B4-BE49-F238E27FC236}">
                <a16:creationId xmlns:a16="http://schemas.microsoft.com/office/drawing/2014/main" id="{EF2C3AB6-C695-5E18-A7FD-61B802B8D9D2}"/>
              </a:ext>
            </a:extLst>
          </p:cNvPr>
          <p:cNvSpPr/>
          <p:nvPr/>
        </p:nvSpPr>
        <p:spPr bwMode="auto">
          <a:xfrm>
            <a:off x="862105" y="4380636"/>
            <a:ext cx="6563696" cy="302281"/>
          </a:xfrm>
          <a:prstGeom prst="roundRect">
            <a:avLst>
              <a:gd name="adj" fmla="val 0"/>
            </a:avLst>
          </a:prstGeom>
          <a:noFill/>
          <a:ln>
            <a:noFill/>
            <a:headEnd type="none" w="med" len="med"/>
            <a:tailEnd type="none" w="med" len="med"/>
          </a:ln>
          <a:effectLst>
            <a:outerShdw blurRad="1905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91440" rIns="91440" bIns="91440"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gradFill flip="none" rotWithShape="1">
                  <a:gsLst>
                    <a:gs pos="37000">
                      <a:srgbClr val="0078D4"/>
                    </a:gs>
                    <a:gs pos="100000">
                      <a:srgbClr val="C03BC4"/>
                    </a:gs>
                  </a:gsLst>
                  <a:path path="circle">
                    <a:fillToRect r="100000" b="100000"/>
                  </a:path>
                  <a:tileRect l="-100000" t="-100000"/>
                </a:gradFill>
                <a:effectLst/>
                <a:uLnTx/>
                <a:uFillTx/>
                <a:latin typeface="Segoe UI Semibold"/>
                <a:ea typeface="+mn-ea"/>
                <a:cs typeface="+mn-cs"/>
              </a:rPr>
              <a:t>How Copilot can improve risk management</a:t>
            </a:r>
          </a:p>
        </p:txBody>
      </p:sp>
      <p:cxnSp>
        <p:nvCxnSpPr>
          <p:cNvPr id="12" name="Straight Connector 11">
            <a:extLst>
              <a:ext uri="{FF2B5EF4-FFF2-40B4-BE49-F238E27FC236}">
                <a16:creationId xmlns:a16="http://schemas.microsoft.com/office/drawing/2014/main" id="{BA8FEF6C-A57E-AD4C-597D-4AC3D38BE310}"/>
              </a:ext>
              <a:ext uri="{C183D7F6-B498-43B3-948B-1728B52AA6E4}">
                <adec:decorative xmlns:adec="http://schemas.microsoft.com/office/drawing/2017/decorative" val="1"/>
              </a:ext>
            </a:extLst>
          </p:cNvPr>
          <p:cNvCxnSpPr>
            <a:cxnSpLocks/>
          </p:cNvCxnSpPr>
          <p:nvPr/>
        </p:nvCxnSpPr>
        <p:spPr>
          <a:xfrm>
            <a:off x="7955666" y="2340178"/>
            <a:ext cx="3211243" cy="0"/>
          </a:xfrm>
          <a:prstGeom prst="line">
            <a:avLst/>
          </a:prstGeom>
          <a:ln>
            <a:solidFill>
              <a:schemeClr val="tx2">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B65F7C4E-5DC3-7B30-6013-1936BCD0307C}"/>
              </a:ext>
              <a:ext uri="{C183D7F6-B498-43B3-948B-1728B52AA6E4}">
                <adec:decorative xmlns:adec="http://schemas.microsoft.com/office/drawing/2017/decorative" val="1"/>
              </a:ext>
            </a:extLst>
          </p:cNvPr>
          <p:cNvCxnSpPr>
            <a:cxnSpLocks/>
          </p:cNvCxnSpPr>
          <p:nvPr/>
        </p:nvCxnSpPr>
        <p:spPr>
          <a:xfrm>
            <a:off x="7955666" y="4609272"/>
            <a:ext cx="3211243" cy="0"/>
          </a:xfrm>
          <a:prstGeom prst="line">
            <a:avLst/>
          </a:prstGeom>
          <a:ln>
            <a:solidFill>
              <a:schemeClr val="tx2">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16DFE7C5-E99D-460F-DD99-91963B262FC9}"/>
              </a:ext>
              <a:ext uri="{C183D7F6-B498-43B3-948B-1728B52AA6E4}">
                <adec:decorative xmlns:adec="http://schemas.microsoft.com/office/drawing/2017/decorative" val="1"/>
              </a:ext>
            </a:extLst>
          </p:cNvPr>
          <p:cNvPicPr>
            <a:picLocks/>
          </p:cNvPicPr>
          <p:nvPr/>
        </p:nvPicPr>
        <p:blipFill rotWithShape="1">
          <a:blip r:embed="rId4" cstate="screen">
            <a:extLst>
              <a:ext uri="{28A0092B-C50C-407E-A947-70E740481C1C}">
                <a14:useLocalDpi xmlns:a14="http://schemas.microsoft.com/office/drawing/2010/main"/>
              </a:ext>
            </a:extLst>
          </a:blip>
          <a:srcRect/>
          <a:stretch/>
        </p:blipFill>
        <p:spPr>
          <a:xfrm>
            <a:off x="715083" y="1579849"/>
            <a:ext cx="6831467" cy="1668730"/>
          </a:xfrm>
          <a:prstGeom prst="roundRect">
            <a:avLst>
              <a:gd name="adj" fmla="val 3554"/>
            </a:avLst>
          </a:prstGeom>
          <a:solidFill>
            <a:schemeClr val="bg1">
              <a:alpha val="70000"/>
            </a:schemeClr>
          </a:solidFill>
          <a:ln>
            <a:solidFill>
              <a:schemeClr val="bg1"/>
            </a:solidFill>
          </a:ln>
          <a:effectLst>
            <a:outerShdw blurRad="223661" dist="140295" dir="2700000" algn="tl" rotWithShape="0">
              <a:schemeClr val="accent1">
                <a:alpha val="15000"/>
              </a:schemeClr>
            </a:outerShdw>
          </a:effectLst>
        </p:spPr>
      </p:pic>
      <p:sp>
        <p:nvSpPr>
          <p:cNvPr id="24" name="Text Placeholder 72">
            <a:extLst>
              <a:ext uri="{FF2B5EF4-FFF2-40B4-BE49-F238E27FC236}">
                <a16:creationId xmlns:a16="http://schemas.microsoft.com/office/drawing/2014/main" id="{1956DFF8-E8D4-92C8-DADB-082968B2465B}"/>
              </a:ext>
            </a:extLst>
          </p:cNvPr>
          <p:cNvSpPr txBox="1">
            <a:spLocks/>
          </p:cNvSpPr>
          <p:nvPr/>
        </p:nvSpPr>
        <p:spPr>
          <a:xfrm>
            <a:off x="7980025" y="2515581"/>
            <a:ext cx="3347617" cy="523220"/>
          </a:xfrm>
          <a:prstGeom prst="rect">
            <a:avLst/>
          </a:prstGeom>
        </p:spPr>
        <p:txBody>
          <a:bodyPr wrap="square" lIns="0" tIns="0" rIns="0" bIns="0" numCol="2">
            <a:spAutoFit/>
          </a:bodyPr>
          <a:lstStyle>
            <a:lvl1pPr marL="0" indent="0" algn="l" defTabSz="914400" rtl="0" eaLnBrk="1" latinLnBrk="0" hangingPunct="1">
              <a:lnSpc>
                <a:spcPct val="90000"/>
              </a:lnSpc>
              <a:spcBef>
                <a:spcPts val="1000"/>
              </a:spcBef>
              <a:buFont typeface="Arial" panose="020B0604020202020204" pitchFamily="34" charset="0"/>
              <a:buNone/>
              <a:defRPr lang="en-US" sz="600" b="0" i="0" kern="1200" dirty="0">
                <a:solidFill>
                  <a:srgbClr val="000000"/>
                </a:solidFill>
                <a:effectLst/>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32597"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Budget Analyst</a:t>
            </a:r>
          </a:p>
          <a:p>
            <a:pPr marL="0" marR="0" lvl="0" indent="0" algn="l" defTabSz="932597"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Risk Manager</a:t>
            </a:r>
          </a:p>
          <a:p>
            <a:pPr marL="0" marR="0" lvl="0" indent="0" algn="l" defTabSz="932597"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Compliance </a:t>
            </a:r>
          </a:p>
        </p:txBody>
      </p:sp>
      <p:sp>
        <p:nvSpPr>
          <p:cNvPr id="7" name="Text Placeholder 4">
            <a:extLst>
              <a:ext uri="{FF2B5EF4-FFF2-40B4-BE49-F238E27FC236}">
                <a16:creationId xmlns:a16="http://schemas.microsoft.com/office/drawing/2014/main" id="{1F8D9EF4-1F45-0260-6197-4A3A093B77FE}"/>
              </a:ext>
            </a:extLst>
          </p:cNvPr>
          <p:cNvSpPr txBox="1">
            <a:spLocks/>
          </p:cNvSpPr>
          <p:nvPr/>
        </p:nvSpPr>
        <p:spPr>
          <a:xfrm>
            <a:off x="884583" y="4751992"/>
            <a:ext cx="2828055" cy="880241"/>
          </a:xfrm>
          <a:prstGeom prst="rect">
            <a:avLst/>
          </a:prstGeom>
        </p:spPr>
        <p:txBody>
          <a:bodyPr vert="horz" wrap="square" lIns="0" tIns="0" rIns="0" bIns="0" numCol="1" rtlCol="0" anchor="t">
            <a:spAutoFit/>
          </a:bodyPr>
          <a:lstStyle>
            <a:defPPr>
              <a:defRPr lang="en-US"/>
            </a:defPPr>
            <a:lvl1pPr marR="0" indent="0" defTabSz="582780" fontAlgn="auto">
              <a:lnSpc>
                <a:spcPct val="110000"/>
              </a:lnSpc>
              <a:spcBef>
                <a:spcPct val="0"/>
              </a:spcBef>
              <a:spcAft>
                <a:spcPts val="300"/>
              </a:spcAft>
              <a:buClrTx/>
              <a:buSzTx/>
              <a:buFont typeface="Wingdings" panose="05000000000000000000" pitchFamily="2" charset="2"/>
              <a:buNone/>
              <a:tabLst/>
              <a:defRPr sz="1000" b="0" i="0" spc="0" baseline="0">
                <a:effectLst/>
                <a:cs typeface="Segoe UI Semilight" panose="020B0402040204020203" pitchFamily="34" charset="0"/>
              </a:defRPr>
            </a:lvl1pPr>
            <a:lvl2pPr marR="0" indent="-228600" defTabSz="932742" fontAlgn="auto">
              <a:lnSpc>
                <a:spcPct val="100000"/>
              </a:lnSpc>
              <a:spcBef>
                <a:spcPct val="20000"/>
              </a:spcBef>
              <a:spcAft>
                <a:spcPts val="0"/>
              </a:spcAft>
              <a:buClrTx/>
              <a:buSzPct val="90000"/>
              <a:buFont typeface="Wingdings" panose="05000000000000000000" pitchFamily="2" charset="2"/>
              <a:buChar char=""/>
              <a:tabLst/>
              <a:defRPr sz="1600" spc="0" baseline="0">
                <a:solidFill>
                  <a:srgbClr val="000000"/>
                </a:solidFill>
              </a:defRPr>
            </a:lvl2pPr>
            <a:lvl3pPr marL="657225" marR="0" indent="-200025" defTabSz="932742" fontAlgn="auto">
              <a:lnSpc>
                <a:spcPct val="100000"/>
              </a:lnSpc>
              <a:spcBef>
                <a:spcPct val="20000"/>
              </a:spcBef>
              <a:spcAft>
                <a:spcPts val="0"/>
              </a:spcAft>
              <a:buClrTx/>
              <a:buSzPct val="90000"/>
              <a:buFont typeface="Wingdings" panose="05000000000000000000" pitchFamily="2" charset="2"/>
              <a:buChar char=""/>
              <a:tabLst/>
              <a:defRPr sz="1400" spc="0" baseline="0">
                <a:solidFill>
                  <a:srgbClr val="000000"/>
                </a:solidFill>
              </a:defRPr>
            </a:lvl3pPr>
            <a:lvl4pPr marL="842963" marR="0" indent="-180975" defTabSz="932742" fontAlgn="auto">
              <a:lnSpc>
                <a:spcPct val="100000"/>
              </a:lnSpc>
              <a:spcBef>
                <a:spcPct val="20000"/>
              </a:spcBef>
              <a:spcAft>
                <a:spcPts val="0"/>
              </a:spcAft>
              <a:buClrTx/>
              <a:buSzPct val="90000"/>
              <a:buFont typeface="Wingdings" panose="05000000000000000000" pitchFamily="2" charset="2"/>
              <a:buChar char=""/>
              <a:tabLst/>
              <a:defRPr sz="1200" spc="0" baseline="0">
                <a:solidFill>
                  <a:srgbClr val="000000"/>
                </a:solidFill>
              </a:defRPr>
            </a:lvl4pPr>
            <a:lvl5pPr marL="1023938" marR="0" indent="-168275" defTabSz="932742" fontAlgn="auto">
              <a:lnSpc>
                <a:spcPct val="100000"/>
              </a:lnSpc>
              <a:spcBef>
                <a:spcPct val="20000"/>
              </a:spcBef>
              <a:spcAft>
                <a:spcPts val="0"/>
              </a:spcAft>
              <a:buClrTx/>
              <a:buSzPct val="90000"/>
              <a:buFont typeface="Wingdings" panose="05000000000000000000" pitchFamily="2" charset="2"/>
              <a:buChar char=""/>
              <a:tabLst/>
              <a:defRPr sz="1000" spc="0" baseline="0">
                <a:solidFill>
                  <a:srgbClr val="000000"/>
                </a:solidFill>
              </a:defRPr>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pPr marL="0" marR="0" lvl="0" indent="0" algn="l" defTabSz="932597" rtl="0" eaLnBrk="1" fontAlgn="auto" latinLnBrk="0" hangingPunct="1">
              <a:lnSpc>
                <a:spcPct val="100000"/>
              </a:lnSpc>
              <a:spcBef>
                <a:spcPts val="0"/>
              </a:spcBef>
              <a:spcAft>
                <a:spcPts val="900"/>
              </a:spcAft>
              <a:buClrTx/>
              <a:buSzTx/>
              <a:buFont typeface="Wingdings" panose="05000000000000000000" pitchFamily="2" charset="2"/>
              <a:buNone/>
              <a:tabLst/>
              <a:defRPr/>
            </a:pPr>
            <a:r>
              <a:rPr kumimoji="0" lang="en-US" sz="1200" b="1" i="0" u="none" strike="noStrike" kern="1200" cap="none" spc="0" normalizeH="0" baseline="0" noProof="0" dirty="0">
                <a:ln>
                  <a:noFill/>
                </a:ln>
                <a:solidFill>
                  <a:srgbClr val="C5B4E3">
                    <a:lumMod val="50000"/>
                  </a:srgbClr>
                </a:solidFill>
                <a:effectLst/>
                <a:uLnTx/>
                <a:uFillTx/>
                <a:latin typeface="Segoe UI Semibold"/>
                <a:ea typeface="+mn-ea"/>
                <a:cs typeface="Segoe UI Semilight" panose="020B0402040204020203" pitchFamily="34" charset="0"/>
              </a:rPr>
              <a:t>Speed data analysis and reporting</a:t>
            </a:r>
          </a:p>
          <a:p>
            <a:pPr marL="142875" marR="0" lvl="0" indent="-142875" algn="l" defTabSz="93259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Quickly analyze trends</a:t>
            </a:r>
          </a:p>
          <a:p>
            <a:pPr marL="142875" marR="0" lvl="0" indent="-142875" algn="l" defTabSz="93259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Generate informative charts</a:t>
            </a:r>
          </a:p>
          <a:p>
            <a:pPr marL="142875" marR="0" lvl="0" indent="-142875" algn="l" defTabSz="93259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Create strategy presentations </a:t>
            </a:r>
          </a:p>
        </p:txBody>
      </p:sp>
    </p:spTree>
    <p:extLst>
      <p:ext uri="{BB962C8B-B14F-4D97-AF65-F5344CB8AC3E}">
        <p14:creationId xmlns:p14="http://schemas.microsoft.com/office/powerpoint/2010/main" val="3744685961"/>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EFFFB5-7077-89A4-73AE-3E6CCD4FD4E4}"/>
              </a:ext>
            </a:extLst>
          </p:cNvPr>
          <p:cNvSpPr>
            <a:spLocks noGrp="1"/>
          </p:cNvSpPr>
          <p:nvPr>
            <p:ph type="title"/>
          </p:nvPr>
        </p:nvSpPr>
        <p:spPr>
          <a:xfrm>
            <a:off x="585215" y="457200"/>
            <a:ext cx="11206981" cy="553998"/>
          </a:xfrm>
        </p:spPr>
        <p:txBody>
          <a:bodyPr/>
          <a:lstStyle/>
          <a:p>
            <a:r>
              <a:rPr lang="en-US" sz="3600" noProof="0" dirty="0">
                <a:latin typeface="Segoe UI Semibold" panose="020B0702040204020203" pitchFamily="34" charset="0"/>
                <a:cs typeface="Segoe UI Semibold" panose="020B0702040204020203" pitchFamily="34" charset="0"/>
              </a:rPr>
              <a:t>KPI – </a:t>
            </a:r>
            <a:r>
              <a:rPr lang="en-US" noProof="0" dirty="0">
                <a:gradFill>
                  <a:gsLst>
                    <a:gs pos="38000">
                      <a:srgbClr val="0078D4"/>
                    </a:gs>
                    <a:gs pos="0">
                      <a:srgbClr val="C03BC4"/>
                    </a:gs>
                  </a:gsLst>
                  <a:path path="circle">
                    <a:fillToRect l="100000" t="100000"/>
                  </a:path>
                </a:gradFill>
                <a:latin typeface="Segoe UI Semibold" panose="020B0702040204020203" pitchFamily="34" charset="0"/>
                <a:cs typeface="Segoe UI Semibold" panose="020B0702040204020203" pitchFamily="34" charset="0"/>
              </a:rPr>
              <a:t>Spend on financial systems and tooling</a:t>
            </a:r>
          </a:p>
        </p:txBody>
      </p:sp>
      <p:pic>
        <p:nvPicPr>
          <p:cNvPr id="3" name="Picture 2">
            <a:extLst>
              <a:ext uri="{FF2B5EF4-FFF2-40B4-BE49-F238E27FC236}">
                <a16:creationId xmlns:a16="http://schemas.microsoft.com/office/drawing/2014/main" id="{FED7435C-732F-28C6-A281-3B1FA8A6A5A3}"/>
              </a:ext>
              <a:ext uri="{C183D7F6-B498-43B3-948B-1728B52AA6E4}">
                <adec:decorative xmlns:adec="http://schemas.microsoft.com/office/drawing/2017/decorative" val="1"/>
              </a:ext>
            </a:extLst>
          </p:cNvPr>
          <p:cNvPicPr>
            <a:picLocks noChangeAspect="1"/>
          </p:cNvPicPr>
          <p:nvPr/>
        </p:nvPicPr>
        <p:blipFill rotWithShape="1">
          <a:blip r:embed="rId2" cstate="screen">
            <a:alphaModFix amt="50000"/>
            <a:extLst>
              <a:ext uri="{BEBA8EAE-BF5A-486C-A8C5-ECC9F3942E4B}">
                <a14:imgProps xmlns:a14="http://schemas.microsoft.com/office/drawing/2010/main">
                  <a14:imgLayer r:embed="rId3">
                    <a14:imgEffect>
                      <a14:sharpenSoften amount="-100000"/>
                    </a14:imgEffect>
                  </a14:imgLayer>
                </a14:imgProps>
              </a:ext>
              <a:ext uri="{28A0092B-C50C-407E-A947-70E740481C1C}">
                <a14:useLocalDpi xmlns:a14="http://schemas.microsoft.com/office/drawing/2010/main"/>
              </a:ext>
            </a:extLst>
          </a:blip>
          <a:srcRect/>
          <a:stretch/>
        </p:blipFill>
        <p:spPr>
          <a:xfrm>
            <a:off x="589069" y="1448904"/>
            <a:ext cx="11013862" cy="4882759"/>
          </a:xfrm>
          <a:prstGeom prst="roundRect">
            <a:avLst>
              <a:gd name="adj" fmla="val 2585"/>
            </a:avLst>
          </a:prstGeom>
          <a:solidFill>
            <a:schemeClr val="bg1"/>
          </a:solidFill>
          <a:ln>
            <a:solidFill>
              <a:schemeClr val="bg1"/>
            </a:solidFill>
          </a:ln>
          <a:effectLst>
            <a:outerShdw blurRad="223661" dist="140295" dir="2700000" algn="tl" rotWithShape="0">
              <a:schemeClr val="accent1">
                <a:alpha val="15000"/>
              </a:schemeClr>
            </a:outerShdw>
          </a:effectLst>
        </p:spPr>
      </p:pic>
      <p:sp>
        <p:nvSpPr>
          <p:cNvPr id="5" name="Text Placeholder 33">
            <a:extLst>
              <a:ext uri="{FF2B5EF4-FFF2-40B4-BE49-F238E27FC236}">
                <a16:creationId xmlns:a16="http://schemas.microsoft.com/office/drawing/2014/main" id="{1B9D6020-AF30-E9F8-17B0-AD87458D0E88}"/>
              </a:ext>
            </a:extLst>
          </p:cNvPr>
          <p:cNvSpPr txBox="1">
            <a:spLocks/>
          </p:cNvSpPr>
          <p:nvPr/>
        </p:nvSpPr>
        <p:spPr>
          <a:xfrm>
            <a:off x="862108" y="3389989"/>
            <a:ext cx="6025580" cy="482633"/>
          </a:xfrm>
          <a:prstGeom prst="rect">
            <a:avLst/>
          </a:prstGeom>
        </p:spPr>
        <p:txBody>
          <a:bodyPr wrap="square" lIns="0" tIns="45720" rIns="91440" bIns="4572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32597" rtl="0" eaLnBrk="1" fontAlgn="auto" latinLnBrk="0" hangingPunct="1">
              <a:lnSpc>
                <a:spcPct val="110000"/>
              </a:lnSpc>
              <a:spcBef>
                <a:spcPts val="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Segoe UI"/>
              </a:rPr>
              <a:t>Copilot can be extended into processes to bring data together and speed </a:t>
            </a:r>
            <a:br>
              <a:rPr kumimoji="0" lang="en-US" sz="1200" b="0" i="0" u="none" strike="noStrike" kern="1200" cap="none" spc="0" normalizeH="0" baseline="0" noProof="0" dirty="0">
                <a:ln>
                  <a:noFill/>
                </a:ln>
                <a:solidFill>
                  <a:srgbClr val="000000"/>
                </a:solidFill>
                <a:effectLst/>
                <a:uLnTx/>
                <a:uFillTx/>
                <a:latin typeface="Segoe UI"/>
                <a:ea typeface="+mn-ea"/>
                <a:cs typeface="Segoe UI"/>
              </a:rPr>
            </a:br>
            <a:r>
              <a:rPr kumimoji="0" lang="en-US" sz="1200" b="0" i="0" u="none" strike="noStrike" kern="1200" cap="none" spc="0" normalizeH="0" baseline="0" noProof="0" dirty="0">
                <a:ln>
                  <a:noFill/>
                </a:ln>
                <a:solidFill>
                  <a:srgbClr val="000000"/>
                </a:solidFill>
                <a:effectLst/>
                <a:uLnTx/>
                <a:uFillTx/>
                <a:latin typeface="Segoe UI"/>
                <a:ea typeface="+mn-ea"/>
                <a:cs typeface="Segoe UI"/>
              </a:rPr>
              <a:t>decision-making without performing expensive updates to financial systems.</a:t>
            </a:r>
          </a:p>
        </p:txBody>
      </p:sp>
      <p:cxnSp>
        <p:nvCxnSpPr>
          <p:cNvPr id="28" name="Straight Connector 27">
            <a:extLst>
              <a:ext uri="{FF2B5EF4-FFF2-40B4-BE49-F238E27FC236}">
                <a16:creationId xmlns:a16="http://schemas.microsoft.com/office/drawing/2014/main" id="{51B84402-A636-A285-4E06-1EFCA8FA31FB}"/>
              </a:ext>
              <a:ext uri="{C183D7F6-B498-43B3-948B-1728B52AA6E4}">
                <adec:decorative xmlns:adec="http://schemas.microsoft.com/office/drawing/2017/decorative" val="1"/>
              </a:ext>
            </a:extLst>
          </p:cNvPr>
          <p:cNvCxnSpPr>
            <a:cxnSpLocks/>
          </p:cNvCxnSpPr>
          <p:nvPr/>
        </p:nvCxnSpPr>
        <p:spPr>
          <a:xfrm>
            <a:off x="862106" y="3999694"/>
            <a:ext cx="6757416" cy="0"/>
          </a:xfrm>
          <a:prstGeom prst="line">
            <a:avLst/>
          </a:prstGeom>
          <a:ln>
            <a:solidFill>
              <a:schemeClr val="tx2">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reeform: Shape 32">
            <a:extLst>
              <a:ext uri="{FF2B5EF4-FFF2-40B4-BE49-F238E27FC236}">
                <a16:creationId xmlns:a16="http://schemas.microsoft.com/office/drawing/2014/main" id="{31922DE7-1793-6984-01E6-8C850F09BD37}"/>
              </a:ext>
              <a:ext uri="{C183D7F6-B498-43B3-948B-1728B52AA6E4}">
                <adec:decorative xmlns:adec="http://schemas.microsoft.com/office/drawing/2017/decorative" val="1"/>
              </a:ext>
            </a:extLst>
          </p:cNvPr>
          <p:cNvSpPr>
            <a:spLocks/>
          </p:cNvSpPr>
          <p:nvPr/>
        </p:nvSpPr>
        <p:spPr bwMode="auto">
          <a:xfrm>
            <a:off x="7697337" y="1596603"/>
            <a:ext cx="3727901" cy="2082249"/>
          </a:xfrm>
          <a:prstGeom prst="roundRect">
            <a:avLst>
              <a:gd name="adj" fmla="val 4762"/>
            </a:avLst>
          </a:prstGeom>
          <a:solidFill>
            <a:schemeClr val="bg1">
              <a:alpha val="70000"/>
            </a:schemeClr>
          </a:solidFill>
          <a:ln>
            <a:solidFill>
              <a:schemeClr val="bg1"/>
            </a:solidFill>
          </a:ln>
          <a:effectLst>
            <a:outerShdw blurRad="223661" dist="140295" dir="2700000" algn="tl" rotWithShape="0">
              <a:schemeClr val="accent1">
                <a:alpha val="15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Segoe UI"/>
              <a:ea typeface="+mn-ea"/>
              <a:cs typeface="Segoe UI" pitchFamily="34" charset="0"/>
            </a:endParaRPr>
          </a:p>
        </p:txBody>
      </p:sp>
      <p:sp>
        <p:nvSpPr>
          <p:cNvPr id="8" name="Rectangle: Rounded Corners 26">
            <a:extLst>
              <a:ext uri="{FF2B5EF4-FFF2-40B4-BE49-F238E27FC236}">
                <a16:creationId xmlns:a16="http://schemas.microsoft.com/office/drawing/2014/main" id="{D1253126-8205-D179-7879-B34F7D90496A}"/>
              </a:ext>
            </a:extLst>
          </p:cNvPr>
          <p:cNvSpPr/>
          <p:nvPr/>
        </p:nvSpPr>
        <p:spPr bwMode="auto">
          <a:xfrm>
            <a:off x="8438481" y="1781312"/>
            <a:ext cx="1258802" cy="365760"/>
          </a:xfrm>
          <a:prstGeom prst="roundRect">
            <a:avLst>
              <a:gd name="adj" fmla="val 19935"/>
            </a:avLst>
          </a:prstGeom>
          <a:noFill/>
          <a:ln>
            <a:noFill/>
            <a:headEnd type="none" w="med" len="med"/>
            <a:tailEnd type="none" w="med" len="med"/>
          </a:ln>
          <a:effectLst>
            <a:outerShdw blurRad="1905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gradFill>
                  <a:gsLst>
                    <a:gs pos="50000">
                      <a:srgbClr val="8661C5"/>
                    </a:gs>
                    <a:gs pos="0">
                      <a:srgbClr val="0078D4"/>
                    </a:gs>
                    <a:gs pos="100000">
                      <a:srgbClr val="C73ECC"/>
                    </a:gs>
                  </a:gsLst>
                  <a:lin ang="2700000" scaled="1"/>
                </a:gradFill>
                <a:effectLst/>
                <a:uLnTx/>
                <a:uFillTx/>
                <a:latin typeface="Segoe UI Semibold"/>
                <a:ea typeface="+mn-ea"/>
                <a:cs typeface="+mn-cs"/>
              </a:rPr>
              <a:t>Roles</a:t>
            </a:r>
          </a:p>
        </p:txBody>
      </p:sp>
      <p:sp>
        <p:nvSpPr>
          <p:cNvPr id="10" name="Freeform: Shape 2">
            <a:extLst>
              <a:ext uri="{FF2B5EF4-FFF2-40B4-BE49-F238E27FC236}">
                <a16:creationId xmlns:a16="http://schemas.microsoft.com/office/drawing/2014/main" id="{A157A653-FB0B-716C-9568-59F46B9E1C43}"/>
              </a:ext>
              <a:ext uri="{C183D7F6-B498-43B3-948B-1728B52AA6E4}">
                <adec:decorative xmlns:adec="http://schemas.microsoft.com/office/drawing/2017/decorative" val="1"/>
              </a:ext>
            </a:extLst>
          </p:cNvPr>
          <p:cNvSpPr/>
          <p:nvPr/>
        </p:nvSpPr>
        <p:spPr>
          <a:xfrm>
            <a:off x="7930135" y="1803503"/>
            <a:ext cx="321377" cy="321377"/>
          </a:xfrm>
          <a:custGeom>
            <a:avLst/>
            <a:gdLst>
              <a:gd name="connsiteX0" fmla="*/ 68580 w 266700"/>
              <a:gd name="connsiteY0" fmla="*/ 137160 h 266700"/>
              <a:gd name="connsiteX1" fmla="*/ 64770 w 266700"/>
              <a:gd name="connsiteY1" fmla="*/ 140970 h 266700"/>
              <a:gd name="connsiteX2" fmla="*/ 64770 w 266700"/>
              <a:gd name="connsiteY2" fmla="*/ 148590 h 266700"/>
              <a:gd name="connsiteX3" fmla="*/ 66736 w 266700"/>
              <a:gd name="connsiteY3" fmla="*/ 154869 h 266700"/>
              <a:gd name="connsiteX4" fmla="*/ 68047 w 266700"/>
              <a:gd name="connsiteY4" fmla="*/ 156698 h 266700"/>
              <a:gd name="connsiteX5" fmla="*/ 77572 w 266700"/>
              <a:gd name="connsiteY5" fmla="*/ 164851 h 266700"/>
              <a:gd name="connsiteX6" fmla="*/ 114300 w 266700"/>
              <a:gd name="connsiteY6" fmla="*/ 171450 h 266700"/>
              <a:gd name="connsiteX7" fmla="*/ 153741 w 266700"/>
              <a:gd name="connsiteY7" fmla="*/ 164943 h 266700"/>
              <a:gd name="connsiteX8" fmla="*/ 161407 w 266700"/>
              <a:gd name="connsiteY8" fmla="*/ 157079 h 266700"/>
              <a:gd name="connsiteX9" fmla="*/ 162276 w 266700"/>
              <a:gd name="connsiteY9" fmla="*/ 155448 h 266700"/>
              <a:gd name="connsiteX10" fmla="*/ 163830 w 266700"/>
              <a:gd name="connsiteY10" fmla="*/ 148590 h 266700"/>
              <a:gd name="connsiteX11" fmla="*/ 163830 w 266700"/>
              <a:gd name="connsiteY11" fmla="*/ 140970 h 266700"/>
              <a:gd name="connsiteX12" fmla="*/ 160020 w 266700"/>
              <a:gd name="connsiteY12" fmla="*/ 137160 h 266700"/>
              <a:gd name="connsiteX13" fmla="*/ 68580 w 266700"/>
              <a:gd name="connsiteY13" fmla="*/ 114300 h 266700"/>
              <a:gd name="connsiteX14" fmla="*/ 160020 w 266700"/>
              <a:gd name="connsiteY14" fmla="*/ 114300 h 266700"/>
              <a:gd name="connsiteX15" fmla="*/ 186690 w 266700"/>
              <a:gd name="connsiteY15" fmla="*/ 140970 h 266700"/>
              <a:gd name="connsiteX16" fmla="*/ 186690 w 266700"/>
              <a:gd name="connsiteY16" fmla="*/ 148590 h 266700"/>
              <a:gd name="connsiteX17" fmla="*/ 168707 w 266700"/>
              <a:gd name="connsiteY17" fmla="*/ 182042 h 266700"/>
              <a:gd name="connsiteX18" fmla="*/ 114300 w 266700"/>
              <a:gd name="connsiteY18" fmla="*/ 194310 h 266700"/>
              <a:gd name="connsiteX19" fmla="*/ 62880 w 266700"/>
              <a:gd name="connsiteY19" fmla="*/ 182118 h 266700"/>
              <a:gd name="connsiteX20" fmla="*/ 41910 w 266700"/>
              <a:gd name="connsiteY20" fmla="*/ 148590 h 266700"/>
              <a:gd name="connsiteX21" fmla="*/ 41910 w 266700"/>
              <a:gd name="connsiteY21" fmla="*/ 140970 h 266700"/>
              <a:gd name="connsiteX22" fmla="*/ 68580 w 266700"/>
              <a:gd name="connsiteY22" fmla="*/ 114300 h 266700"/>
              <a:gd name="connsiteX23" fmla="*/ 114300 w 266700"/>
              <a:gd name="connsiteY23" fmla="*/ 53340 h 266700"/>
              <a:gd name="connsiteX24" fmla="*/ 99060 w 266700"/>
              <a:gd name="connsiteY24" fmla="*/ 68580 h 266700"/>
              <a:gd name="connsiteX25" fmla="*/ 114300 w 266700"/>
              <a:gd name="connsiteY25" fmla="*/ 83820 h 266700"/>
              <a:gd name="connsiteX26" fmla="*/ 129540 w 266700"/>
              <a:gd name="connsiteY26" fmla="*/ 68580 h 266700"/>
              <a:gd name="connsiteX27" fmla="*/ 114300 w 266700"/>
              <a:gd name="connsiteY27" fmla="*/ 53340 h 266700"/>
              <a:gd name="connsiteX28" fmla="*/ 243840 w 266700"/>
              <a:gd name="connsiteY28" fmla="*/ 45872 h 266700"/>
              <a:gd name="connsiteX29" fmla="*/ 266700 w 266700"/>
              <a:gd name="connsiteY29" fmla="*/ 87630 h 266700"/>
              <a:gd name="connsiteX30" fmla="*/ 266700 w 266700"/>
              <a:gd name="connsiteY30" fmla="*/ 186690 h 266700"/>
              <a:gd name="connsiteX31" fmla="*/ 186690 w 266700"/>
              <a:gd name="connsiteY31" fmla="*/ 266700 h 266700"/>
              <a:gd name="connsiteX32" fmla="*/ 87630 w 266700"/>
              <a:gd name="connsiteY32" fmla="*/ 266700 h 266700"/>
              <a:gd name="connsiteX33" fmla="*/ 45872 w 266700"/>
              <a:gd name="connsiteY33" fmla="*/ 243840 h 266700"/>
              <a:gd name="connsiteX34" fmla="*/ 186690 w 266700"/>
              <a:gd name="connsiteY34" fmla="*/ 243840 h 266700"/>
              <a:gd name="connsiteX35" fmla="*/ 243840 w 266700"/>
              <a:gd name="connsiteY35" fmla="*/ 186690 h 266700"/>
              <a:gd name="connsiteX36" fmla="*/ 114300 w 266700"/>
              <a:gd name="connsiteY36" fmla="*/ 30480 h 266700"/>
              <a:gd name="connsiteX37" fmla="*/ 152400 w 266700"/>
              <a:gd name="connsiteY37" fmla="*/ 68580 h 266700"/>
              <a:gd name="connsiteX38" fmla="*/ 114300 w 266700"/>
              <a:gd name="connsiteY38" fmla="*/ 106680 h 266700"/>
              <a:gd name="connsiteX39" fmla="*/ 76200 w 266700"/>
              <a:gd name="connsiteY39" fmla="*/ 68580 h 266700"/>
              <a:gd name="connsiteX40" fmla="*/ 114300 w 266700"/>
              <a:gd name="connsiteY40" fmla="*/ 30480 h 266700"/>
              <a:gd name="connsiteX41" fmla="*/ 49530 w 266700"/>
              <a:gd name="connsiteY41" fmla="*/ 22860 h 266700"/>
              <a:gd name="connsiteX42" fmla="*/ 22860 w 266700"/>
              <a:gd name="connsiteY42" fmla="*/ 49530 h 266700"/>
              <a:gd name="connsiteX43" fmla="*/ 22860 w 266700"/>
              <a:gd name="connsiteY43" fmla="*/ 179070 h 266700"/>
              <a:gd name="connsiteX44" fmla="*/ 49530 w 266700"/>
              <a:gd name="connsiteY44" fmla="*/ 205740 h 266700"/>
              <a:gd name="connsiteX45" fmla="*/ 179070 w 266700"/>
              <a:gd name="connsiteY45" fmla="*/ 205740 h 266700"/>
              <a:gd name="connsiteX46" fmla="*/ 205740 w 266700"/>
              <a:gd name="connsiteY46" fmla="*/ 179070 h 266700"/>
              <a:gd name="connsiteX47" fmla="*/ 205740 w 266700"/>
              <a:gd name="connsiteY47" fmla="*/ 49530 h 266700"/>
              <a:gd name="connsiteX48" fmla="*/ 179070 w 266700"/>
              <a:gd name="connsiteY48" fmla="*/ 22860 h 266700"/>
              <a:gd name="connsiteX49" fmla="*/ 49530 w 266700"/>
              <a:gd name="connsiteY49" fmla="*/ 0 h 266700"/>
              <a:gd name="connsiteX50" fmla="*/ 179070 w 266700"/>
              <a:gd name="connsiteY50" fmla="*/ 0 h 266700"/>
              <a:gd name="connsiteX51" fmla="*/ 228600 w 266700"/>
              <a:gd name="connsiteY51" fmla="*/ 49530 h 266700"/>
              <a:gd name="connsiteX52" fmla="*/ 228600 w 266700"/>
              <a:gd name="connsiteY52" fmla="*/ 179070 h 266700"/>
              <a:gd name="connsiteX53" fmla="*/ 179070 w 266700"/>
              <a:gd name="connsiteY53" fmla="*/ 228600 h 266700"/>
              <a:gd name="connsiteX54" fmla="*/ 49530 w 266700"/>
              <a:gd name="connsiteY54" fmla="*/ 228600 h 266700"/>
              <a:gd name="connsiteX55" fmla="*/ 0 w 266700"/>
              <a:gd name="connsiteY55" fmla="*/ 179070 h 266700"/>
              <a:gd name="connsiteX56" fmla="*/ 0 w 266700"/>
              <a:gd name="connsiteY56" fmla="*/ 49530 h 266700"/>
              <a:gd name="connsiteX57" fmla="*/ 49530 w 266700"/>
              <a:gd name="connsiteY57" fmla="*/ 0 h 266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266700" h="266700">
                <a:moveTo>
                  <a:pt x="68580" y="137160"/>
                </a:moveTo>
                <a:cubicBezTo>
                  <a:pt x="66476" y="137160"/>
                  <a:pt x="64770" y="138865"/>
                  <a:pt x="64770" y="140970"/>
                </a:cubicBezTo>
                <a:lnTo>
                  <a:pt x="64770" y="148590"/>
                </a:lnTo>
                <a:cubicBezTo>
                  <a:pt x="64770" y="152278"/>
                  <a:pt x="65471" y="153192"/>
                  <a:pt x="66736" y="154869"/>
                </a:cubicBezTo>
                <a:cubicBezTo>
                  <a:pt x="67195" y="155462"/>
                  <a:pt x="67633" y="156071"/>
                  <a:pt x="68047" y="156698"/>
                </a:cubicBezTo>
                <a:cubicBezTo>
                  <a:pt x="70460" y="160195"/>
                  <a:pt x="73743" y="163006"/>
                  <a:pt x="77572" y="164851"/>
                </a:cubicBezTo>
                <a:cubicBezTo>
                  <a:pt x="86167" y="169316"/>
                  <a:pt x="98770" y="171450"/>
                  <a:pt x="114300" y="171450"/>
                </a:cubicBezTo>
                <a:cubicBezTo>
                  <a:pt x="133792" y="171450"/>
                  <a:pt x="146228" y="169271"/>
                  <a:pt x="153741" y="164943"/>
                </a:cubicBezTo>
                <a:cubicBezTo>
                  <a:pt x="157031" y="163155"/>
                  <a:pt x="159705" y="160413"/>
                  <a:pt x="161407" y="157079"/>
                </a:cubicBezTo>
                <a:cubicBezTo>
                  <a:pt x="161727" y="156439"/>
                  <a:pt x="162016" y="155905"/>
                  <a:pt x="162276" y="155448"/>
                </a:cubicBezTo>
                <a:cubicBezTo>
                  <a:pt x="163297" y="153604"/>
                  <a:pt x="163830" y="152644"/>
                  <a:pt x="163830" y="148590"/>
                </a:cubicBezTo>
                <a:lnTo>
                  <a:pt x="163830" y="140970"/>
                </a:lnTo>
                <a:cubicBezTo>
                  <a:pt x="163830" y="138865"/>
                  <a:pt x="162125" y="137160"/>
                  <a:pt x="160020" y="137160"/>
                </a:cubicBezTo>
                <a:close/>
                <a:moveTo>
                  <a:pt x="68580" y="114300"/>
                </a:moveTo>
                <a:lnTo>
                  <a:pt x="160020" y="114300"/>
                </a:lnTo>
                <a:cubicBezTo>
                  <a:pt x="174749" y="114300"/>
                  <a:pt x="186690" y="126241"/>
                  <a:pt x="186690" y="140970"/>
                </a:cubicBezTo>
                <a:lnTo>
                  <a:pt x="186690" y="148590"/>
                </a:lnTo>
                <a:cubicBezTo>
                  <a:pt x="186690" y="164607"/>
                  <a:pt x="181082" y="173523"/>
                  <a:pt x="168707" y="182042"/>
                </a:cubicBezTo>
                <a:cubicBezTo>
                  <a:pt x="156591" y="190378"/>
                  <a:pt x="138516" y="194310"/>
                  <a:pt x="114300" y="194310"/>
                </a:cubicBezTo>
                <a:cubicBezTo>
                  <a:pt x="93772" y="194310"/>
                  <a:pt x="75834" y="190317"/>
                  <a:pt x="62880" y="182118"/>
                </a:cubicBezTo>
                <a:cubicBezTo>
                  <a:pt x="49759" y="173812"/>
                  <a:pt x="41910" y="165034"/>
                  <a:pt x="41910" y="148590"/>
                </a:cubicBezTo>
                <a:lnTo>
                  <a:pt x="41910" y="140970"/>
                </a:lnTo>
                <a:cubicBezTo>
                  <a:pt x="41910" y="126241"/>
                  <a:pt x="53851" y="114300"/>
                  <a:pt x="68580" y="114300"/>
                </a:cubicBezTo>
                <a:close/>
                <a:moveTo>
                  <a:pt x="114300" y="53340"/>
                </a:moveTo>
                <a:cubicBezTo>
                  <a:pt x="105883" y="53340"/>
                  <a:pt x="99060" y="60163"/>
                  <a:pt x="99060" y="68580"/>
                </a:cubicBezTo>
                <a:cubicBezTo>
                  <a:pt x="99060" y="76997"/>
                  <a:pt x="105883" y="83820"/>
                  <a:pt x="114300" y="83820"/>
                </a:cubicBezTo>
                <a:cubicBezTo>
                  <a:pt x="122717" y="83820"/>
                  <a:pt x="129540" y="76997"/>
                  <a:pt x="129540" y="68580"/>
                </a:cubicBezTo>
                <a:cubicBezTo>
                  <a:pt x="129540" y="60163"/>
                  <a:pt x="122717" y="53340"/>
                  <a:pt x="114300" y="53340"/>
                </a:cubicBezTo>
                <a:close/>
                <a:moveTo>
                  <a:pt x="243840" y="45872"/>
                </a:moveTo>
                <a:cubicBezTo>
                  <a:pt x="258094" y="54971"/>
                  <a:pt x="266715" y="70719"/>
                  <a:pt x="266700" y="87630"/>
                </a:cubicBezTo>
                <a:lnTo>
                  <a:pt x="266700" y="186690"/>
                </a:lnTo>
                <a:cubicBezTo>
                  <a:pt x="266700" y="230886"/>
                  <a:pt x="230886" y="266700"/>
                  <a:pt x="186690" y="266700"/>
                </a:cubicBezTo>
                <a:lnTo>
                  <a:pt x="87630" y="266700"/>
                </a:lnTo>
                <a:cubicBezTo>
                  <a:pt x="70719" y="266712"/>
                  <a:pt x="54973" y="258092"/>
                  <a:pt x="45872" y="243840"/>
                </a:cubicBezTo>
                <a:lnTo>
                  <a:pt x="186690" y="243840"/>
                </a:lnTo>
                <a:cubicBezTo>
                  <a:pt x="218253" y="243840"/>
                  <a:pt x="243840" y="218253"/>
                  <a:pt x="243840" y="186690"/>
                </a:cubicBezTo>
                <a:close/>
                <a:moveTo>
                  <a:pt x="114300" y="30480"/>
                </a:moveTo>
                <a:cubicBezTo>
                  <a:pt x="135342" y="30480"/>
                  <a:pt x="152400" y="47538"/>
                  <a:pt x="152400" y="68580"/>
                </a:cubicBezTo>
                <a:cubicBezTo>
                  <a:pt x="152400" y="89622"/>
                  <a:pt x="135342" y="106680"/>
                  <a:pt x="114300" y="106680"/>
                </a:cubicBezTo>
                <a:cubicBezTo>
                  <a:pt x="93258" y="106680"/>
                  <a:pt x="76200" y="89622"/>
                  <a:pt x="76200" y="68580"/>
                </a:cubicBezTo>
                <a:cubicBezTo>
                  <a:pt x="76200" y="47538"/>
                  <a:pt x="93258" y="30480"/>
                  <a:pt x="114300" y="30480"/>
                </a:cubicBezTo>
                <a:close/>
                <a:moveTo>
                  <a:pt x="49530" y="22860"/>
                </a:moveTo>
                <a:cubicBezTo>
                  <a:pt x="34801" y="22860"/>
                  <a:pt x="22860" y="34801"/>
                  <a:pt x="22860" y="49530"/>
                </a:cubicBezTo>
                <a:lnTo>
                  <a:pt x="22860" y="179070"/>
                </a:lnTo>
                <a:cubicBezTo>
                  <a:pt x="22860" y="193792"/>
                  <a:pt x="34808" y="205740"/>
                  <a:pt x="49530" y="205740"/>
                </a:cubicBezTo>
                <a:lnTo>
                  <a:pt x="179070" y="205740"/>
                </a:lnTo>
                <a:cubicBezTo>
                  <a:pt x="193799" y="205740"/>
                  <a:pt x="205740" y="193799"/>
                  <a:pt x="205740" y="179070"/>
                </a:cubicBezTo>
                <a:lnTo>
                  <a:pt x="205740" y="49530"/>
                </a:lnTo>
                <a:cubicBezTo>
                  <a:pt x="205740" y="34801"/>
                  <a:pt x="193799" y="22860"/>
                  <a:pt x="179070" y="22860"/>
                </a:cubicBezTo>
                <a:close/>
                <a:moveTo>
                  <a:pt x="49530" y="0"/>
                </a:moveTo>
                <a:lnTo>
                  <a:pt x="179070" y="0"/>
                </a:lnTo>
                <a:cubicBezTo>
                  <a:pt x="206424" y="0"/>
                  <a:pt x="228600" y="22175"/>
                  <a:pt x="228600" y="49530"/>
                </a:cubicBezTo>
                <a:lnTo>
                  <a:pt x="228600" y="179070"/>
                </a:lnTo>
                <a:cubicBezTo>
                  <a:pt x="228600" y="206424"/>
                  <a:pt x="206424" y="228600"/>
                  <a:pt x="179070" y="228600"/>
                </a:cubicBezTo>
                <a:lnTo>
                  <a:pt x="49530" y="228600"/>
                </a:lnTo>
                <a:cubicBezTo>
                  <a:pt x="22175" y="228600"/>
                  <a:pt x="0" y="206424"/>
                  <a:pt x="0" y="179070"/>
                </a:cubicBezTo>
                <a:lnTo>
                  <a:pt x="0" y="49530"/>
                </a:lnTo>
                <a:cubicBezTo>
                  <a:pt x="0" y="22175"/>
                  <a:pt x="22175" y="0"/>
                  <a:pt x="49530" y="0"/>
                </a:cubicBezTo>
                <a:close/>
              </a:path>
            </a:pathLst>
          </a:custGeom>
          <a:gradFill flip="none" rotWithShape="1">
            <a:gsLst>
              <a:gs pos="35000">
                <a:srgbClr val="0078D4"/>
              </a:gs>
              <a:gs pos="0">
                <a:srgbClr val="C03BC4"/>
              </a:gs>
            </a:gsLst>
            <a:path path="circle">
              <a:fillToRect l="100000" t="100000"/>
            </a:path>
            <a:tileRect r="-100000" b="-100000"/>
          </a:gradFill>
          <a:ln>
            <a:noFill/>
            <a:headEnd type="none" w="med" len="med"/>
            <a:tailEnd type="none" w="med" len="med"/>
          </a:ln>
          <a:effectLst>
            <a:outerShdw blurRad="63500" dist="101600" dir="2700000" algn="tl" rotWithShape="0">
              <a:srgbClr val="454142">
                <a:alpha val="25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91440" numCol="1" spcCol="0" rtlCol="0" fromWordArt="0" anchor="b" anchorCtr="0" forceAA="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1" i="0" u="none" strike="noStrike" kern="1200" cap="none" spc="0" normalizeH="0" baseline="0" noProof="0" dirty="0">
              <a:ln w="3175">
                <a:noFill/>
              </a:ln>
              <a:gradFill>
                <a:gsLst>
                  <a:gs pos="76437">
                    <a:srgbClr val="FFFFFF"/>
                  </a:gs>
                  <a:gs pos="55747">
                    <a:srgbClr val="FFFFFF"/>
                  </a:gs>
                </a:gsLst>
                <a:path path="circle">
                  <a:fillToRect l="100000" b="100000"/>
                </a:path>
              </a:gradFill>
              <a:effectLst/>
              <a:uLnTx/>
              <a:uFillTx/>
              <a:latin typeface="Segoe UI Semibold"/>
              <a:ea typeface="+mn-ea"/>
              <a:cs typeface="Segoe UI" pitchFamily="34" charset="0"/>
            </a:endParaRPr>
          </a:p>
        </p:txBody>
      </p:sp>
      <p:sp>
        <p:nvSpPr>
          <p:cNvPr id="30" name="Freeform: Shape 32">
            <a:extLst>
              <a:ext uri="{FF2B5EF4-FFF2-40B4-BE49-F238E27FC236}">
                <a16:creationId xmlns:a16="http://schemas.microsoft.com/office/drawing/2014/main" id="{DB057A49-CBAF-BC14-1094-C71B675EFB04}"/>
              </a:ext>
              <a:ext uri="{C183D7F6-B498-43B3-948B-1728B52AA6E4}">
                <adec:decorative xmlns:adec="http://schemas.microsoft.com/office/drawing/2017/decorative" val="1"/>
              </a:ext>
            </a:extLst>
          </p:cNvPr>
          <p:cNvSpPr>
            <a:spLocks/>
          </p:cNvSpPr>
          <p:nvPr/>
        </p:nvSpPr>
        <p:spPr bwMode="auto">
          <a:xfrm>
            <a:off x="7697337" y="3872623"/>
            <a:ext cx="3727901" cy="2287546"/>
          </a:xfrm>
          <a:prstGeom prst="roundRect">
            <a:avLst>
              <a:gd name="adj" fmla="val 4762"/>
            </a:avLst>
          </a:prstGeom>
          <a:solidFill>
            <a:schemeClr val="bg1">
              <a:alpha val="70000"/>
            </a:schemeClr>
          </a:solidFill>
          <a:ln>
            <a:solidFill>
              <a:schemeClr val="bg1"/>
            </a:solidFill>
          </a:ln>
          <a:effectLst>
            <a:outerShdw blurRad="223661" dist="140295" dir="2700000" algn="tl" rotWithShape="0">
              <a:schemeClr val="accent1">
                <a:alpha val="15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Segoe UI"/>
              <a:ea typeface="+mn-ea"/>
              <a:cs typeface="Segoe UI" pitchFamily="34" charset="0"/>
            </a:endParaRPr>
          </a:p>
        </p:txBody>
      </p:sp>
      <p:sp>
        <p:nvSpPr>
          <p:cNvPr id="21" name="Text Placeholder 5">
            <a:extLst>
              <a:ext uri="{FF2B5EF4-FFF2-40B4-BE49-F238E27FC236}">
                <a16:creationId xmlns:a16="http://schemas.microsoft.com/office/drawing/2014/main" id="{382100B4-F48F-AAB9-CF62-2BA0D918036D}"/>
              </a:ext>
            </a:extLst>
          </p:cNvPr>
          <p:cNvSpPr txBox="1">
            <a:spLocks/>
          </p:cNvSpPr>
          <p:nvPr/>
        </p:nvSpPr>
        <p:spPr>
          <a:xfrm>
            <a:off x="7980026" y="4826288"/>
            <a:ext cx="3186884" cy="1154162"/>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597" rtl="0" eaLnBrk="1" fontAlgn="auto" latinLnBrk="0" hangingPunct="1">
              <a:lnSpc>
                <a:spcPct val="100000"/>
              </a:lnSpc>
              <a:spcBef>
                <a:spcPts val="0"/>
              </a:spcBef>
              <a:spcAft>
                <a:spcPts val="600"/>
              </a:spcAft>
              <a:buClrTx/>
              <a:buSzTx/>
              <a:buFont typeface="Wingdings" panose="05000000000000000000" pitchFamily="2" charset="2"/>
              <a:buNone/>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Microsoft 365 Copilot</a:t>
            </a:r>
          </a:p>
          <a:p>
            <a:pPr marL="0" marR="0" lvl="0" indent="0" algn="l" defTabSz="932597" rtl="0" eaLnBrk="1" fontAlgn="auto" latinLnBrk="0" hangingPunct="1">
              <a:lnSpc>
                <a:spcPct val="100000"/>
              </a:lnSpc>
              <a:spcBef>
                <a:spcPts val="0"/>
              </a:spcBef>
              <a:spcAft>
                <a:spcPts val="600"/>
              </a:spcAft>
              <a:buClrTx/>
              <a:buSzTx/>
              <a:buFont typeface="Wingdings" panose="05000000000000000000" pitchFamily="2" charset="2"/>
              <a:buNone/>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Copilot Studio</a:t>
            </a:r>
          </a:p>
          <a:p>
            <a:pPr marL="0" marR="0" lvl="0" indent="0" algn="l" defTabSz="932597" rtl="0" eaLnBrk="1" fontAlgn="auto" latinLnBrk="0" hangingPunct="1">
              <a:lnSpc>
                <a:spcPct val="100000"/>
              </a:lnSpc>
              <a:spcBef>
                <a:spcPts val="0"/>
              </a:spcBef>
              <a:spcAft>
                <a:spcPts val="600"/>
              </a:spcAft>
              <a:buClrTx/>
              <a:buSzTx/>
              <a:buFont typeface="Wingdings" panose="05000000000000000000" pitchFamily="2" charset="2"/>
              <a:buNone/>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Microsoft 365 Copilot Chat</a:t>
            </a:r>
          </a:p>
          <a:p>
            <a:pPr marL="0" marR="0" lvl="0" indent="0" algn="l" defTabSz="932597" rtl="0" eaLnBrk="1" fontAlgn="auto" latinLnBrk="0" hangingPunct="1">
              <a:lnSpc>
                <a:spcPct val="100000"/>
              </a:lnSpc>
              <a:spcBef>
                <a:spcPts val="0"/>
              </a:spcBef>
              <a:spcAft>
                <a:spcPts val="600"/>
              </a:spcAft>
              <a:buClrTx/>
              <a:buSzTx/>
              <a:buFont typeface="Wingdings" panose="05000000000000000000" pitchFamily="2" charset="2"/>
              <a:buNone/>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Microsoft 365 Copilot for Finance </a:t>
            </a:r>
            <a:br>
              <a:rPr kumimoji="0" lang="en-US" sz="12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br>
            <a:endParaRPr kumimoji="0" lang="en-US" sz="12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sp>
        <p:nvSpPr>
          <p:cNvPr id="31" name="Rectangle: Rounded Corners 26">
            <a:extLst>
              <a:ext uri="{FF2B5EF4-FFF2-40B4-BE49-F238E27FC236}">
                <a16:creationId xmlns:a16="http://schemas.microsoft.com/office/drawing/2014/main" id="{141CFC38-7A95-9B39-1123-CED249505C53}"/>
              </a:ext>
            </a:extLst>
          </p:cNvPr>
          <p:cNvSpPr/>
          <p:nvPr/>
        </p:nvSpPr>
        <p:spPr bwMode="auto">
          <a:xfrm>
            <a:off x="8438481" y="4078346"/>
            <a:ext cx="2940928" cy="365760"/>
          </a:xfrm>
          <a:prstGeom prst="roundRect">
            <a:avLst>
              <a:gd name="adj" fmla="val 19935"/>
            </a:avLst>
          </a:prstGeom>
          <a:noFill/>
          <a:ln>
            <a:noFill/>
            <a:headEnd type="none" w="med" len="med"/>
            <a:tailEnd type="none" w="med" len="med"/>
          </a:ln>
          <a:effectLst>
            <a:outerShdw blurRad="1905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gradFill>
                  <a:gsLst>
                    <a:gs pos="50000">
                      <a:srgbClr val="8661C5"/>
                    </a:gs>
                    <a:gs pos="0">
                      <a:srgbClr val="0078D4"/>
                    </a:gs>
                    <a:gs pos="100000">
                      <a:srgbClr val="C73ECC"/>
                    </a:gs>
                  </a:gsLst>
                  <a:lin ang="2700000" scaled="1"/>
                </a:gradFill>
                <a:effectLst/>
                <a:uLnTx/>
                <a:uFillTx/>
                <a:latin typeface="Segoe UI Semibold"/>
                <a:ea typeface="+mn-ea"/>
                <a:cs typeface="+mn-cs"/>
              </a:rPr>
              <a:t>Microsoft AI solutions</a:t>
            </a:r>
          </a:p>
        </p:txBody>
      </p:sp>
      <p:sp>
        <p:nvSpPr>
          <p:cNvPr id="34" name="Graphic 32">
            <a:extLst>
              <a:ext uri="{FF2B5EF4-FFF2-40B4-BE49-F238E27FC236}">
                <a16:creationId xmlns:a16="http://schemas.microsoft.com/office/drawing/2014/main" id="{5F00FDD4-AD2C-14BC-0878-8728C10A43A2}"/>
              </a:ext>
              <a:ext uri="{C183D7F6-B498-43B3-948B-1728B52AA6E4}">
                <adec:decorative xmlns:adec="http://schemas.microsoft.com/office/drawing/2017/decorative" val="1"/>
              </a:ext>
            </a:extLst>
          </p:cNvPr>
          <p:cNvSpPr/>
          <p:nvPr/>
        </p:nvSpPr>
        <p:spPr>
          <a:xfrm>
            <a:off x="7920860" y="4091303"/>
            <a:ext cx="339928" cy="339845"/>
          </a:xfrm>
          <a:custGeom>
            <a:avLst/>
            <a:gdLst>
              <a:gd name="connsiteX0" fmla="*/ 128988 w 409676"/>
              <a:gd name="connsiteY0" fmla="*/ 289825 h 409576"/>
              <a:gd name="connsiteX1" fmla="*/ 148010 w 409676"/>
              <a:gd name="connsiteY1" fmla="*/ 295832 h 409576"/>
              <a:gd name="connsiteX2" fmla="*/ 148010 w 409676"/>
              <a:gd name="connsiteY2" fmla="*/ 295741 h 409576"/>
              <a:gd name="connsiteX3" fmla="*/ 178205 w 409676"/>
              <a:gd name="connsiteY3" fmla="*/ 275900 h 409576"/>
              <a:gd name="connsiteX4" fmla="*/ 192153 w 409676"/>
              <a:gd name="connsiteY4" fmla="*/ 233486 h 409576"/>
              <a:gd name="connsiteX5" fmla="*/ 233497 w 409676"/>
              <a:gd name="connsiteY5" fmla="*/ 192255 h 409576"/>
              <a:gd name="connsiteX6" fmla="*/ 273954 w 409676"/>
              <a:gd name="connsiteY6" fmla="*/ 179104 h 409576"/>
              <a:gd name="connsiteX7" fmla="*/ 294049 w 409676"/>
              <a:gd name="connsiteY7" fmla="*/ 137242 h 409576"/>
              <a:gd name="connsiteX8" fmla="*/ 272771 w 409676"/>
              <a:gd name="connsiteY8" fmla="*/ 116757 h 409576"/>
              <a:gd name="connsiteX9" fmla="*/ 232838 w 409676"/>
              <a:gd name="connsiteY9" fmla="*/ 103787 h 409576"/>
              <a:gd name="connsiteX10" fmla="*/ 191380 w 409676"/>
              <a:gd name="connsiteY10" fmla="*/ 62306 h 409576"/>
              <a:gd name="connsiteX11" fmla="*/ 178228 w 409676"/>
              <a:gd name="connsiteY11" fmla="*/ 21872 h 409576"/>
              <a:gd name="connsiteX12" fmla="*/ 136193 w 409676"/>
              <a:gd name="connsiteY12" fmla="*/ 1916 h 409576"/>
              <a:gd name="connsiteX13" fmla="*/ 116063 w 409676"/>
              <a:gd name="connsiteY13" fmla="*/ 22373 h 409576"/>
              <a:gd name="connsiteX14" fmla="*/ 102798 w 409676"/>
              <a:gd name="connsiteY14" fmla="*/ 63148 h 409576"/>
              <a:gd name="connsiteX15" fmla="*/ 62523 w 409676"/>
              <a:gd name="connsiteY15" fmla="*/ 103787 h 409576"/>
              <a:gd name="connsiteX16" fmla="*/ 22089 w 409676"/>
              <a:gd name="connsiteY16" fmla="*/ 116780 h 409576"/>
              <a:gd name="connsiteX17" fmla="*/ 1827 w 409676"/>
              <a:gd name="connsiteY17" fmla="*/ 158597 h 409576"/>
              <a:gd name="connsiteX18" fmla="*/ 22475 w 409676"/>
              <a:gd name="connsiteY18" fmla="*/ 178990 h 409576"/>
              <a:gd name="connsiteX19" fmla="*/ 62386 w 409676"/>
              <a:gd name="connsiteY19" fmla="*/ 191937 h 409576"/>
              <a:gd name="connsiteX20" fmla="*/ 103844 w 409676"/>
              <a:gd name="connsiteY20" fmla="*/ 233486 h 409576"/>
              <a:gd name="connsiteX21" fmla="*/ 116996 w 409676"/>
              <a:gd name="connsiteY21" fmla="*/ 273875 h 409576"/>
              <a:gd name="connsiteX22" fmla="*/ 128988 w 409676"/>
              <a:gd name="connsiteY22" fmla="*/ 289803 h 409576"/>
              <a:gd name="connsiteX23" fmla="*/ 120478 w 409676"/>
              <a:gd name="connsiteY23" fmla="*/ 193120 h 409576"/>
              <a:gd name="connsiteX24" fmla="*/ 112218 w 409676"/>
              <a:gd name="connsiteY24" fmla="*/ 183723 h 409576"/>
              <a:gd name="connsiteX25" fmla="*/ 112286 w 409676"/>
              <a:gd name="connsiteY25" fmla="*/ 183723 h 409576"/>
              <a:gd name="connsiteX26" fmla="*/ 73149 w 409676"/>
              <a:gd name="connsiteY26" fmla="*/ 159535 h 409576"/>
              <a:gd name="connsiteX27" fmla="*/ 36742 w 409676"/>
              <a:gd name="connsiteY27" fmla="*/ 147976 h 409576"/>
              <a:gd name="connsiteX28" fmla="*/ 73399 w 409676"/>
              <a:gd name="connsiteY28" fmla="*/ 136053 h 409576"/>
              <a:gd name="connsiteX29" fmla="*/ 111854 w 409676"/>
              <a:gd name="connsiteY29" fmla="*/ 111819 h 409576"/>
              <a:gd name="connsiteX30" fmla="*/ 135541 w 409676"/>
              <a:gd name="connsiteY30" fmla="*/ 72955 h 409576"/>
              <a:gd name="connsiteX31" fmla="*/ 147259 w 409676"/>
              <a:gd name="connsiteY31" fmla="*/ 36958 h 409576"/>
              <a:gd name="connsiteX32" fmla="*/ 159000 w 409676"/>
              <a:gd name="connsiteY32" fmla="*/ 73069 h 409576"/>
              <a:gd name="connsiteX33" fmla="*/ 222280 w 409676"/>
              <a:gd name="connsiteY33" fmla="*/ 136166 h 409576"/>
              <a:gd name="connsiteX34" fmla="*/ 259141 w 409676"/>
              <a:gd name="connsiteY34" fmla="*/ 148044 h 409576"/>
              <a:gd name="connsiteX35" fmla="*/ 222962 w 409676"/>
              <a:gd name="connsiteY35" fmla="*/ 159762 h 409576"/>
              <a:gd name="connsiteX36" fmla="*/ 159842 w 409676"/>
              <a:gd name="connsiteY36" fmla="*/ 222905 h 409576"/>
              <a:gd name="connsiteX37" fmla="*/ 148124 w 409676"/>
              <a:gd name="connsiteY37" fmla="*/ 258902 h 409576"/>
              <a:gd name="connsiteX38" fmla="*/ 136405 w 409676"/>
              <a:gd name="connsiteY38" fmla="*/ 222837 h 409576"/>
              <a:gd name="connsiteX39" fmla="*/ 120478 w 409676"/>
              <a:gd name="connsiteY39" fmla="*/ 193120 h 409576"/>
              <a:gd name="connsiteX40" fmla="*/ 303444 w 409676"/>
              <a:gd name="connsiteY40" fmla="*/ 404666 h 409576"/>
              <a:gd name="connsiteX41" fmla="*/ 294115 w 409676"/>
              <a:gd name="connsiteY41" fmla="*/ 392174 h 409576"/>
              <a:gd name="connsiteX42" fmla="*/ 286651 w 409676"/>
              <a:gd name="connsiteY42" fmla="*/ 369260 h 409576"/>
              <a:gd name="connsiteX43" fmla="*/ 267970 w 409676"/>
              <a:gd name="connsiteY43" fmla="*/ 350533 h 409576"/>
              <a:gd name="connsiteX44" fmla="*/ 245421 w 409676"/>
              <a:gd name="connsiteY44" fmla="*/ 343184 h 409576"/>
              <a:gd name="connsiteX45" fmla="*/ 227650 w 409676"/>
              <a:gd name="connsiteY45" fmla="*/ 318541 h 409576"/>
              <a:gd name="connsiteX46" fmla="*/ 245193 w 409676"/>
              <a:gd name="connsiteY46" fmla="*/ 293967 h 409576"/>
              <a:gd name="connsiteX47" fmla="*/ 268084 w 409676"/>
              <a:gd name="connsiteY47" fmla="*/ 286549 h 409576"/>
              <a:gd name="connsiteX48" fmla="*/ 286287 w 409676"/>
              <a:gd name="connsiteY48" fmla="*/ 267913 h 409576"/>
              <a:gd name="connsiteX49" fmla="*/ 293659 w 409676"/>
              <a:gd name="connsiteY49" fmla="*/ 245341 h 409576"/>
              <a:gd name="connsiteX50" fmla="*/ 326655 w 409676"/>
              <a:gd name="connsiteY50" fmla="*/ 229088 h 409576"/>
              <a:gd name="connsiteX51" fmla="*/ 342740 w 409676"/>
              <a:gd name="connsiteY51" fmla="*/ 244863 h 409576"/>
              <a:gd name="connsiteX52" fmla="*/ 350226 w 409676"/>
              <a:gd name="connsiteY52" fmla="*/ 267936 h 409576"/>
              <a:gd name="connsiteX53" fmla="*/ 368885 w 409676"/>
              <a:gd name="connsiteY53" fmla="*/ 286503 h 409576"/>
              <a:gd name="connsiteX54" fmla="*/ 391457 w 409676"/>
              <a:gd name="connsiteY54" fmla="*/ 293853 h 409576"/>
              <a:gd name="connsiteX55" fmla="*/ 408486 w 409676"/>
              <a:gd name="connsiteY55" fmla="*/ 326382 h 409576"/>
              <a:gd name="connsiteX56" fmla="*/ 392344 w 409676"/>
              <a:gd name="connsiteY56" fmla="*/ 343116 h 409576"/>
              <a:gd name="connsiteX57" fmla="*/ 369272 w 409676"/>
              <a:gd name="connsiteY57" fmla="*/ 350602 h 409576"/>
              <a:gd name="connsiteX58" fmla="*/ 350659 w 409676"/>
              <a:gd name="connsiteY58" fmla="*/ 369306 h 409576"/>
              <a:gd name="connsiteX59" fmla="*/ 343332 w 409676"/>
              <a:gd name="connsiteY59" fmla="*/ 391809 h 409576"/>
              <a:gd name="connsiteX60" fmla="*/ 333661 w 409676"/>
              <a:gd name="connsiteY60" fmla="*/ 404779 h 409576"/>
              <a:gd name="connsiteX61" fmla="*/ 303444 w 409676"/>
              <a:gd name="connsiteY61" fmla="*/ 404666 h 409576"/>
              <a:gd name="connsiteX62" fmla="*/ 280007 w 409676"/>
              <a:gd name="connsiteY62" fmla="*/ 318587 h 409576"/>
              <a:gd name="connsiteX63" fmla="*/ 318666 w 409676"/>
              <a:gd name="connsiteY63" fmla="*/ 357473 h 409576"/>
              <a:gd name="connsiteX64" fmla="*/ 357348 w 409676"/>
              <a:gd name="connsiteY64" fmla="*/ 318791 h 409576"/>
              <a:gd name="connsiteX65" fmla="*/ 318257 w 409676"/>
              <a:gd name="connsiteY65" fmla="*/ 279927 h 409576"/>
              <a:gd name="connsiteX66" fmla="*/ 279984 w 409676"/>
              <a:gd name="connsiteY66" fmla="*/ 318609 h 409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409676" h="409576">
                <a:moveTo>
                  <a:pt x="128988" y="289825"/>
                </a:moveTo>
                <a:cubicBezTo>
                  <a:pt x="134562" y="293762"/>
                  <a:pt x="141207" y="295855"/>
                  <a:pt x="148010" y="295832"/>
                </a:cubicBezTo>
                <a:lnTo>
                  <a:pt x="148010" y="295741"/>
                </a:lnTo>
                <a:cubicBezTo>
                  <a:pt x="161137" y="295764"/>
                  <a:pt x="173015" y="287959"/>
                  <a:pt x="178205" y="275900"/>
                </a:cubicBezTo>
                <a:lnTo>
                  <a:pt x="192153" y="233486"/>
                </a:lnTo>
                <a:cubicBezTo>
                  <a:pt x="198688" y="214008"/>
                  <a:pt x="214002" y="198736"/>
                  <a:pt x="233497" y="192255"/>
                </a:cubicBezTo>
                <a:lnTo>
                  <a:pt x="273954" y="179104"/>
                </a:lnTo>
                <a:cubicBezTo>
                  <a:pt x="291063" y="173092"/>
                  <a:pt x="300060" y="154350"/>
                  <a:pt x="294049" y="137242"/>
                </a:cubicBezTo>
                <a:cubicBezTo>
                  <a:pt x="290601" y="127429"/>
                  <a:pt x="282708" y="119830"/>
                  <a:pt x="272771" y="116757"/>
                </a:cubicBezTo>
                <a:lnTo>
                  <a:pt x="232838" y="103787"/>
                </a:lnTo>
                <a:cubicBezTo>
                  <a:pt x="213249" y="97273"/>
                  <a:pt x="197883" y="81898"/>
                  <a:pt x="191380" y="62306"/>
                </a:cubicBezTo>
                <a:lnTo>
                  <a:pt x="178228" y="21872"/>
                </a:lnTo>
                <a:cubicBezTo>
                  <a:pt x="172132" y="4754"/>
                  <a:pt x="153311" y="-4181"/>
                  <a:pt x="136193" y="1916"/>
                </a:cubicBezTo>
                <a:cubicBezTo>
                  <a:pt x="126706" y="5295"/>
                  <a:pt x="119289" y="12833"/>
                  <a:pt x="116063" y="22373"/>
                </a:cubicBezTo>
                <a:lnTo>
                  <a:pt x="102798" y="63148"/>
                </a:lnTo>
                <a:cubicBezTo>
                  <a:pt x="96316" y="82155"/>
                  <a:pt x="81470" y="97135"/>
                  <a:pt x="62523" y="103787"/>
                </a:cubicBezTo>
                <a:lnTo>
                  <a:pt x="22089" y="116780"/>
                </a:lnTo>
                <a:cubicBezTo>
                  <a:pt x="4946" y="122732"/>
                  <a:pt x="-4125" y="141454"/>
                  <a:pt x="1827" y="158597"/>
                </a:cubicBezTo>
                <a:cubicBezTo>
                  <a:pt x="5172" y="168229"/>
                  <a:pt x="12801" y="175765"/>
                  <a:pt x="22475" y="178990"/>
                </a:cubicBezTo>
                <a:lnTo>
                  <a:pt x="62386" y="191937"/>
                </a:lnTo>
                <a:cubicBezTo>
                  <a:pt x="81969" y="198499"/>
                  <a:pt x="97324" y="213890"/>
                  <a:pt x="103844" y="233486"/>
                </a:cubicBezTo>
                <a:lnTo>
                  <a:pt x="116996" y="273875"/>
                </a:lnTo>
                <a:cubicBezTo>
                  <a:pt x="119249" y="280314"/>
                  <a:pt x="123436" y="285889"/>
                  <a:pt x="128988" y="289803"/>
                </a:cubicBezTo>
                <a:close/>
                <a:moveTo>
                  <a:pt x="120478" y="193120"/>
                </a:moveTo>
                <a:cubicBezTo>
                  <a:pt x="117940" y="189805"/>
                  <a:pt x="115181" y="186665"/>
                  <a:pt x="112218" y="183723"/>
                </a:cubicBezTo>
                <a:lnTo>
                  <a:pt x="112286" y="183723"/>
                </a:lnTo>
                <a:cubicBezTo>
                  <a:pt x="101298" y="172728"/>
                  <a:pt x="87897" y="164445"/>
                  <a:pt x="73149" y="159535"/>
                </a:cubicBezTo>
                <a:lnTo>
                  <a:pt x="36742" y="147976"/>
                </a:lnTo>
                <a:lnTo>
                  <a:pt x="73399" y="136053"/>
                </a:lnTo>
                <a:cubicBezTo>
                  <a:pt x="87906" y="131030"/>
                  <a:pt x="101063" y="122738"/>
                  <a:pt x="111854" y="111819"/>
                </a:cubicBezTo>
                <a:cubicBezTo>
                  <a:pt x="122598" y="100831"/>
                  <a:pt x="130698" y="87540"/>
                  <a:pt x="135541" y="72955"/>
                </a:cubicBezTo>
                <a:lnTo>
                  <a:pt x="147259" y="36958"/>
                </a:lnTo>
                <a:lnTo>
                  <a:pt x="159000" y="73069"/>
                </a:lnTo>
                <a:cubicBezTo>
                  <a:pt x="168935" y="102921"/>
                  <a:pt x="192399" y="126318"/>
                  <a:pt x="222280" y="136166"/>
                </a:cubicBezTo>
                <a:lnTo>
                  <a:pt x="259141" y="148044"/>
                </a:lnTo>
                <a:lnTo>
                  <a:pt x="222962" y="159762"/>
                </a:lnTo>
                <a:cubicBezTo>
                  <a:pt x="193143" y="169679"/>
                  <a:pt x="169747" y="193081"/>
                  <a:pt x="159842" y="222905"/>
                </a:cubicBezTo>
                <a:lnTo>
                  <a:pt x="148124" y="258902"/>
                </a:lnTo>
                <a:lnTo>
                  <a:pt x="136405" y="222837"/>
                </a:lnTo>
                <a:cubicBezTo>
                  <a:pt x="132827" y="212097"/>
                  <a:pt x="127441" y="202047"/>
                  <a:pt x="120478" y="193120"/>
                </a:cubicBezTo>
                <a:close/>
                <a:moveTo>
                  <a:pt x="303444" y="404666"/>
                </a:moveTo>
                <a:cubicBezTo>
                  <a:pt x="299109" y="401576"/>
                  <a:pt x="295846" y="397207"/>
                  <a:pt x="294115" y="392174"/>
                </a:cubicBezTo>
                <a:lnTo>
                  <a:pt x="286651" y="369260"/>
                </a:lnTo>
                <a:cubicBezTo>
                  <a:pt x="283739" y="360413"/>
                  <a:pt x="276810" y="353466"/>
                  <a:pt x="267970" y="350533"/>
                </a:cubicBezTo>
                <a:lnTo>
                  <a:pt x="245421" y="343184"/>
                </a:lnTo>
                <a:cubicBezTo>
                  <a:pt x="234838" y="339614"/>
                  <a:pt x="227695" y="329709"/>
                  <a:pt x="227650" y="318541"/>
                </a:cubicBezTo>
                <a:cubicBezTo>
                  <a:pt x="227656" y="307446"/>
                  <a:pt x="234701" y="297578"/>
                  <a:pt x="245193" y="293967"/>
                </a:cubicBezTo>
                <a:lnTo>
                  <a:pt x="268084" y="286549"/>
                </a:lnTo>
                <a:cubicBezTo>
                  <a:pt x="276708" y="283486"/>
                  <a:pt x="283429" y="276605"/>
                  <a:pt x="286287" y="267913"/>
                </a:cubicBezTo>
                <a:lnTo>
                  <a:pt x="293659" y="245341"/>
                </a:lnTo>
                <a:cubicBezTo>
                  <a:pt x="298283" y="231741"/>
                  <a:pt x="313055" y="224464"/>
                  <a:pt x="326655" y="229088"/>
                </a:cubicBezTo>
                <a:cubicBezTo>
                  <a:pt x="334135" y="231629"/>
                  <a:pt x="340053" y="237434"/>
                  <a:pt x="342740" y="244863"/>
                </a:cubicBezTo>
                <a:lnTo>
                  <a:pt x="350226" y="267936"/>
                </a:lnTo>
                <a:cubicBezTo>
                  <a:pt x="353198" y="276703"/>
                  <a:pt x="360102" y="283575"/>
                  <a:pt x="368885" y="286503"/>
                </a:cubicBezTo>
                <a:lnTo>
                  <a:pt x="391457" y="293853"/>
                </a:lnTo>
                <a:cubicBezTo>
                  <a:pt x="405141" y="298133"/>
                  <a:pt x="412766" y="312696"/>
                  <a:pt x="408486" y="326382"/>
                </a:cubicBezTo>
                <a:cubicBezTo>
                  <a:pt x="406045" y="334191"/>
                  <a:pt x="400063" y="340394"/>
                  <a:pt x="392344" y="343116"/>
                </a:cubicBezTo>
                <a:lnTo>
                  <a:pt x="369272" y="350602"/>
                </a:lnTo>
                <a:cubicBezTo>
                  <a:pt x="360477" y="353571"/>
                  <a:pt x="353585" y="360495"/>
                  <a:pt x="350659" y="369306"/>
                </a:cubicBezTo>
                <a:lnTo>
                  <a:pt x="343332" y="391809"/>
                </a:lnTo>
                <a:cubicBezTo>
                  <a:pt x="341557" y="397043"/>
                  <a:pt x="338189" y="401594"/>
                  <a:pt x="333661" y="404779"/>
                </a:cubicBezTo>
                <a:cubicBezTo>
                  <a:pt x="324605" y="411219"/>
                  <a:pt x="312452" y="411171"/>
                  <a:pt x="303444" y="404666"/>
                </a:cubicBezTo>
                <a:close/>
                <a:moveTo>
                  <a:pt x="280007" y="318587"/>
                </a:moveTo>
                <a:cubicBezTo>
                  <a:pt x="298117" y="325026"/>
                  <a:pt x="312334" y="339325"/>
                  <a:pt x="318666" y="357473"/>
                </a:cubicBezTo>
                <a:cubicBezTo>
                  <a:pt x="325069" y="339407"/>
                  <a:pt x="339282" y="325194"/>
                  <a:pt x="357348" y="318791"/>
                </a:cubicBezTo>
                <a:cubicBezTo>
                  <a:pt x="339122" y="312400"/>
                  <a:pt x="324755" y="298117"/>
                  <a:pt x="318257" y="279927"/>
                </a:cubicBezTo>
                <a:cubicBezTo>
                  <a:pt x="311908" y="297885"/>
                  <a:pt x="297874" y="312070"/>
                  <a:pt x="279984" y="318609"/>
                </a:cubicBezTo>
                <a:close/>
              </a:path>
            </a:pathLst>
          </a:custGeom>
          <a:gradFill flip="none" rotWithShape="1">
            <a:gsLst>
              <a:gs pos="35000">
                <a:srgbClr val="0078D4"/>
              </a:gs>
              <a:gs pos="0">
                <a:srgbClr val="C03BC4"/>
              </a:gs>
            </a:gsLst>
            <a:path path="circle">
              <a:fillToRect l="100000" t="100000"/>
            </a:path>
            <a:tileRect r="-100000" b="-100000"/>
          </a:gradFill>
          <a:ln>
            <a:noFill/>
            <a:headEnd type="none" w="med" len="med"/>
            <a:tailEnd type="none" w="med" len="med"/>
          </a:ln>
          <a:effectLst>
            <a:outerShdw blurRad="63500" dist="101600" dir="2700000" algn="tl" rotWithShape="0">
              <a:srgbClr val="454142">
                <a:alpha val="25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91440" numCol="1" spcCol="0" rtlCol="0" fromWordArt="0" anchor="b" anchorCtr="0" forceAA="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1" i="0" u="none" strike="noStrike" kern="1200" cap="none" spc="0" normalizeH="0" baseline="0" noProof="0" dirty="0">
              <a:ln w="3175">
                <a:noFill/>
              </a:ln>
              <a:gradFill>
                <a:gsLst>
                  <a:gs pos="76437">
                    <a:srgbClr val="FFFFFF"/>
                  </a:gs>
                  <a:gs pos="55747">
                    <a:srgbClr val="FFFFFF"/>
                  </a:gs>
                </a:gsLst>
                <a:path path="circle">
                  <a:fillToRect l="100000" b="100000"/>
                </a:path>
              </a:gradFill>
              <a:effectLst/>
              <a:uLnTx/>
              <a:uFillTx/>
              <a:latin typeface="Segoe UI Semibold"/>
              <a:ea typeface="+mn-ea"/>
              <a:cs typeface="Segoe UI" pitchFamily="34" charset="0"/>
            </a:endParaRPr>
          </a:p>
        </p:txBody>
      </p:sp>
      <p:sp>
        <p:nvSpPr>
          <p:cNvPr id="36" name="Rectangle: Rounded Corners 26">
            <a:extLst>
              <a:ext uri="{FF2B5EF4-FFF2-40B4-BE49-F238E27FC236}">
                <a16:creationId xmlns:a16="http://schemas.microsoft.com/office/drawing/2014/main" id="{EF2C3AB6-C695-5E18-A7FD-61B802B8D9D2}"/>
              </a:ext>
            </a:extLst>
          </p:cNvPr>
          <p:cNvSpPr/>
          <p:nvPr/>
        </p:nvSpPr>
        <p:spPr bwMode="auto">
          <a:xfrm>
            <a:off x="862105" y="4078346"/>
            <a:ext cx="6563696" cy="302281"/>
          </a:xfrm>
          <a:prstGeom prst="roundRect">
            <a:avLst>
              <a:gd name="adj" fmla="val 0"/>
            </a:avLst>
          </a:prstGeom>
          <a:noFill/>
          <a:ln>
            <a:noFill/>
            <a:headEnd type="none" w="med" len="med"/>
            <a:tailEnd type="none" w="med" len="med"/>
          </a:ln>
          <a:effectLst>
            <a:outerShdw blurRad="1905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91440" rIns="91440" bIns="91440"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gradFill flip="none" rotWithShape="1">
                  <a:gsLst>
                    <a:gs pos="37000">
                      <a:srgbClr val="0078D4"/>
                    </a:gs>
                    <a:gs pos="100000">
                      <a:srgbClr val="C03BC4"/>
                    </a:gs>
                  </a:gsLst>
                  <a:path path="circle">
                    <a:fillToRect r="100000" b="100000"/>
                  </a:path>
                  <a:tileRect l="-100000" t="-100000"/>
                </a:gradFill>
                <a:effectLst/>
                <a:uLnTx/>
                <a:uFillTx/>
                <a:latin typeface="Segoe UI Semibold"/>
                <a:ea typeface="+mn-ea"/>
                <a:cs typeface="+mn-cs"/>
              </a:rPr>
              <a:t>How AI can help reduce day sales outstanding</a:t>
            </a:r>
          </a:p>
        </p:txBody>
      </p:sp>
      <p:cxnSp>
        <p:nvCxnSpPr>
          <p:cNvPr id="12" name="Straight Connector 11">
            <a:extLst>
              <a:ext uri="{FF2B5EF4-FFF2-40B4-BE49-F238E27FC236}">
                <a16:creationId xmlns:a16="http://schemas.microsoft.com/office/drawing/2014/main" id="{BA8FEF6C-A57E-AD4C-597D-4AC3D38BE310}"/>
              </a:ext>
              <a:ext uri="{C183D7F6-B498-43B3-948B-1728B52AA6E4}">
                <adec:decorative xmlns:adec="http://schemas.microsoft.com/office/drawing/2017/decorative" val="1"/>
              </a:ext>
            </a:extLst>
          </p:cNvPr>
          <p:cNvCxnSpPr>
            <a:cxnSpLocks/>
          </p:cNvCxnSpPr>
          <p:nvPr/>
        </p:nvCxnSpPr>
        <p:spPr>
          <a:xfrm>
            <a:off x="7955666" y="2340178"/>
            <a:ext cx="3211243" cy="0"/>
          </a:xfrm>
          <a:prstGeom prst="line">
            <a:avLst/>
          </a:prstGeom>
          <a:ln>
            <a:solidFill>
              <a:schemeClr val="tx2">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B65F7C4E-5DC3-7B30-6013-1936BCD0307C}"/>
              </a:ext>
              <a:ext uri="{C183D7F6-B498-43B3-948B-1728B52AA6E4}">
                <adec:decorative xmlns:adec="http://schemas.microsoft.com/office/drawing/2017/decorative" val="1"/>
              </a:ext>
            </a:extLst>
          </p:cNvPr>
          <p:cNvCxnSpPr>
            <a:cxnSpLocks/>
          </p:cNvCxnSpPr>
          <p:nvPr/>
        </p:nvCxnSpPr>
        <p:spPr>
          <a:xfrm>
            <a:off x="7955666" y="4609272"/>
            <a:ext cx="3211243" cy="0"/>
          </a:xfrm>
          <a:prstGeom prst="line">
            <a:avLst/>
          </a:prstGeom>
          <a:ln>
            <a:solidFill>
              <a:schemeClr val="tx2">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3" name="Text Placeholder 72">
            <a:extLst>
              <a:ext uri="{FF2B5EF4-FFF2-40B4-BE49-F238E27FC236}">
                <a16:creationId xmlns:a16="http://schemas.microsoft.com/office/drawing/2014/main" id="{A3D2998C-5E22-A1FC-F0F2-FD7C8DC0F193}"/>
              </a:ext>
            </a:extLst>
          </p:cNvPr>
          <p:cNvSpPr txBox="1">
            <a:spLocks/>
          </p:cNvSpPr>
          <p:nvPr/>
        </p:nvSpPr>
        <p:spPr>
          <a:xfrm>
            <a:off x="7980025" y="2515581"/>
            <a:ext cx="3347617" cy="261610"/>
          </a:xfrm>
          <a:prstGeom prst="rect">
            <a:avLst/>
          </a:prstGeom>
        </p:spPr>
        <p:txBody>
          <a:bodyPr wrap="square" lIns="0" tIns="0" rIns="0" bIns="0" numCol="2">
            <a:spAutoFit/>
          </a:bodyPr>
          <a:lstStyle>
            <a:lvl1pPr marL="0" indent="0" algn="l" defTabSz="914400" rtl="0" eaLnBrk="1" latinLnBrk="0" hangingPunct="1">
              <a:lnSpc>
                <a:spcPct val="90000"/>
              </a:lnSpc>
              <a:spcBef>
                <a:spcPts val="1000"/>
              </a:spcBef>
              <a:buFont typeface="Arial" panose="020B0604020202020204" pitchFamily="34" charset="0"/>
              <a:buNone/>
              <a:defRPr lang="en-US" sz="600" b="0" i="0" kern="1200" dirty="0">
                <a:solidFill>
                  <a:srgbClr val="000000"/>
                </a:solidFill>
                <a:effectLst/>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32597"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Financial Analyst</a:t>
            </a:r>
          </a:p>
          <a:p>
            <a:pPr marL="0" marR="0" lvl="0" indent="0" algn="l" defTabSz="932597"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Executive Leadership</a:t>
            </a:r>
          </a:p>
        </p:txBody>
      </p:sp>
      <p:pic>
        <p:nvPicPr>
          <p:cNvPr id="7" name="Picture 6">
            <a:extLst>
              <a:ext uri="{FF2B5EF4-FFF2-40B4-BE49-F238E27FC236}">
                <a16:creationId xmlns:a16="http://schemas.microsoft.com/office/drawing/2014/main" id="{543326DE-024C-0655-8C0C-15C0BBD62259}"/>
              </a:ext>
              <a:ext uri="{C183D7F6-B498-43B3-948B-1728B52AA6E4}">
                <adec:decorative xmlns:adec="http://schemas.microsoft.com/office/drawing/2017/decorative" val="1"/>
              </a:ext>
            </a:extLst>
          </p:cNvPr>
          <p:cNvPicPr>
            <a:picLocks/>
          </p:cNvPicPr>
          <p:nvPr/>
        </p:nvPicPr>
        <p:blipFill rotWithShape="1">
          <a:blip r:embed="rId4" cstate="screen">
            <a:extLst>
              <a:ext uri="{28A0092B-C50C-407E-A947-70E740481C1C}">
                <a14:useLocalDpi xmlns:a14="http://schemas.microsoft.com/office/drawing/2010/main"/>
              </a:ext>
            </a:extLst>
          </a:blip>
          <a:srcRect/>
          <a:stretch/>
        </p:blipFill>
        <p:spPr>
          <a:xfrm>
            <a:off x="715081" y="1579850"/>
            <a:ext cx="6831467" cy="1668730"/>
          </a:xfrm>
          <a:prstGeom prst="roundRect">
            <a:avLst>
              <a:gd name="adj" fmla="val 3554"/>
            </a:avLst>
          </a:prstGeom>
          <a:solidFill>
            <a:schemeClr val="bg1">
              <a:alpha val="70000"/>
            </a:schemeClr>
          </a:solidFill>
          <a:ln>
            <a:solidFill>
              <a:schemeClr val="bg1"/>
            </a:solidFill>
          </a:ln>
          <a:effectLst>
            <a:outerShdw blurRad="223661" dist="140295" dir="2700000" algn="tl" rotWithShape="0">
              <a:schemeClr val="accent1">
                <a:alpha val="15000"/>
              </a:schemeClr>
            </a:outerShdw>
          </a:effectLst>
        </p:spPr>
      </p:pic>
      <p:sp>
        <p:nvSpPr>
          <p:cNvPr id="16" name="Text Placeholder 4">
            <a:extLst>
              <a:ext uri="{FF2B5EF4-FFF2-40B4-BE49-F238E27FC236}">
                <a16:creationId xmlns:a16="http://schemas.microsoft.com/office/drawing/2014/main" id="{BB48D2D7-B480-A576-6715-44F041795B46}"/>
              </a:ext>
              <a:ext uri="{C183D7F6-B498-43B3-948B-1728B52AA6E4}">
                <adec:decorative xmlns:adec="http://schemas.microsoft.com/office/drawing/2017/decorative" val="1"/>
              </a:ext>
            </a:extLst>
          </p:cNvPr>
          <p:cNvSpPr txBox="1">
            <a:spLocks/>
          </p:cNvSpPr>
          <p:nvPr/>
        </p:nvSpPr>
        <p:spPr>
          <a:xfrm>
            <a:off x="863597" y="4512448"/>
            <a:ext cx="2375141" cy="803297"/>
          </a:xfrm>
          <a:prstGeom prst="rect">
            <a:avLst/>
          </a:prstGeom>
        </p:spPr>
        <p:txBody>
          <a:bodyPr vert="horz" wrap="square" lIns="0" tIns="0" rIns="0" bIns="0" numCol="1" rtlCol="0">
            <a:spAutoFit/>
          </a:bodyPr>
          <a:lstStyle>
            <a:defPPr>
              <a:defRPr lang="en-US"/>
            </a:defPPr>
            <a:lvl1pPr marR="0" indent="0" defTabSz="582780" fontAlgn="auto">
              <a:lnSpc>
                <a:spcPct val="110000"/>
              </a:lnSpc>
              <a:spcBef>
                <a:spcPct val="0"/>
              </a:spcBef>
              <a:spcAft>
                <a:spcPts val="300"/>
              </a:spcAft>
              <a:buClrTx/>
              <a:buSzTx/>
              <a:buFont typeface="Wingdings" panose="05000000000000000000" pitchFamily="2" charset="2"/>
              <a:buNone/>
              <a:tabLst/>
              <a:defRPr sz="1000" b="0" i="0" spc="0" baseline="0">
                <a:effectLst/>
                <a:cs typeface="Segoe UI Semilight" panose="020B0402040204020203" pitchFamily="34" charset="0"/>
              </a:defRPr>
            </a:lvl1pPr>
            <a:lvl2pPr marR="0" indent="-228600" defTabSz="932742" fontAlgn="auto">
              <a:lnSpc>
                <a:spcPct val="100000"/>
              </a:lnSpc>
              <a:spcBef>
                <a:spcPct val="20000"/>
              </a:spcBef>
              <a:spcAft>
                <a:spcPts val="0"/>
              </a:spcAft>
              <a:buClrTx/>
              <a:buSzPct val="90000"/>
              <a:buFont typeface="Wingdings" panose="05000000000000000000" pitchFamily="2" charset="2"/>
              <a:buChar char=""/>
              <a:tabLst/>
              <a:defRPr sz="1600" spc="0" baseline="0">
                <a:solidFill>
                  <a:srgbClr val="000000"/>
                </a:solidFill>
              </a:defRPr>
            </a:lvl2pPr>
            <a:lvl3pPr marL="657225" marR="0" indent="-200025" defTabSz="932742" fontAlgn="auto">
              <a:lnSpc>
                <a:spcPct val="100000"/>
              </a:lnSpc>
              <a:spcBef>
                <a:spcPct val="20000"/>
              </a:spcBef>
              <a:spcAft>
                <a:spcPts val="0"/>
              </a:spcAft>
              <a:buClrTx/>
              <a:buSzPct val="90000"/>
              <a:buFont typeface="Wingdings" panose="05000000000000000000" pitchFamily="2" charset="2"/>
              <a:buChar char=""/>
              <a:tabLst/>
              <a:defRPr sz="1400" spc="0" baseline="0">
                <a:solidFill>
                  <a:srgbClr val="000000"/>
                </a:solidFill>
              </a:defRPr>
            </a:lvl3pPr>
            <a:lvl4pPr marL="842963" marR="0" indent="-180975" defTabSz="932742" fontAlgn="auto">
              <a:lnSpc>
                <a:spcPct val="100000"/>
              </a:lnSpc>
              <a:spcBef>
                <a:spcPct val="20000"/>
              </a:spcBef>
              <a:spcAft>
                <a:spcPts val="0"/>
              </a:spcAft>
              <a:buClrTx/>
              <a:buSzPct val="90000"/>
              <a:buFont typeface="Wingdings" panose="05000000000000000000" pitchFamily="2" charset="2"/>
              <a:buChar char=""/>
              <a:tabLst/>
              <a:defRPr sz="1200" spc="0" baseline="0">
                <a:solidFill>
                  <a:srgbClr val="000000"/>
                </a:solidFill>
              </a:defRPr>
            </a:lvl4pPr>
            <a:lvl5pPr marL="1023938" marR="0" indent="-168275" defTabSz="932742" fontAlgn="auto">
              <a:lnSpc>
                <a:spcPct val="100000"/>
              </a:lnSpc>
              <a:spcBef>
                <a:spcPct val="20000"/>
              </a:spcBef>
              <a:spcAft>
                <a:spcPts val="0"/>
              </a:spcAft>
              <a:buClrTx/>
              <a:buSzPct val="90000"/>
              <a:buFont typeface="Wingdings" panose="05000000000000000000" pitchFamily="2" charset="2"/>
              <a:buChar char=""/>
              <a:tabLst/>
              <a:defRPr sz="1000" spc="0" baseline="0">
                <a:solidFill>
                  <a:srgbClr val="000000"/>
                </a:solidFill>
              </a:defRPr>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pPr marL="0" marR="0" lvl="0" indent="0" algn="l" defTabSz="932597" rtl="0" eaLnBrk="1" fontAlgn="auto" latinLnBrk="0" hangingPunct="1">
              <a:lnSpc>
                <a:spcPct val="100000"/>
              </a:lnSpc>
              <a:spcBef>
                <a:spcPts val="0"/>
              </a:spcBef>
              <a:spcAft>
                <a:spcPts val="600"/>
              </a:spcAft>
              <a:buClrTx/>
              <a:buSzTx/>
              <a:buFont typeface="Wingdings" panose="05000000000000000000" pitchFamily="2" charset="2"/>
              <a:buNone/>
              <a:tabLst/>
              <a:defRPr/>
            </a:pPr>
            <a:r>
              <a:rPr kumimoji="0" lang="en-US" sz="1200" b="1" i="0" u="none" strike="noStrike" kern="1200" cap="none" spc="0" normalizeH="0" baseline="0" noProof="0" dirty="0">
                <a:ln>
                  <a:noFill/>
                </a:ln>
                <a:solidFill>
                  <a:srgbClr val="C5B4E3">
                    <a:lumMod val="50000"/>
                  </a:srgbClr>
                </a:solidFill>
                <a:effectLst/>
                <a:uLnTx/>
                <a:uFillTx/>
                <a:latin typeface="Segoe UI Semibold"/>
                <a:ea typeface="+mn-ea"/>
                <a:cs typeface="Segoe UI Semilight" panose="020B0402040204020203" pitchFamily="34" charset="0"/>
              </a:rPr>
              <a:t>Inform your decisions</a:t>
            </a:r>
          </a:p>
          <a:p>
            <a:pPr marL="173038" marR="0" lvl="0" indent="-173038" algn="l" defTabSz="93259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rgbClr val="000000"/>
                </a:solidFill>
                <a:effectLst/>
                <a:uLnTx/>
                <a:uFillTx/>
                <a:latin typeface="Segoe UI"/>
                <a:ea typeface="+mn-ea"/>
                <a:cs typeface="Segoe UI Semilight" panose="020B0402040204020203" pitchFamily="34" charset="0"/>
              </a:rPr>
              <a:t>Draft budgets and spreadsheets</a:t>
            </a:r>
          </a:p>
          <a:p>
            <a:pPr marL="173038" marR="0" lvl="0" indent="-173038" algn="l" defTabSz="93259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rgbClr val="000000"/>
                </a:solidFill>
                <a:effectLst/>
                <a:uLnTx/>
                <a:uFillTx/>
                <a:latin typeface="Segoe UI"/>
                <a:ea typeface="+mn-ea"/>
                <a:cs typeface="Segoe UI Semilight" panose="020B0402040204020203" pitchFamily="34" charset="0"/>
              </a:rPr>
              <a:t>Search for cost variances across different options</a:t>
            </a:r>
          </a:p>
        </p:txBody>
      </p:sp>
      <p:sp>
        <p:nvSpPr>
          <p:cNvPr id="17" name="Text Placeholder 4">
            <a:extLst>
              <a:ext uri="{FF2B5EF4-FFF2-40B4-BE49-F238E27FC236}">
                <a16:creationId xmlns:a16="http://schemas.microsoft.com/office/drawing/2014/main" id="{D83C0533-CFA5-AFD1-4639-5F413C3CC50A}"/>
              </a:ext>
              <a:ext uri="{C183D7F6-B498-43B3-948B-1728B52AA6E4}">
                <adec:decorative xmlns:adec="http://schemas.microsoft.com/office/drawing/2017/decorative" val="1"/>
              </a:ext>
            </a:extLst>
          </p:cNvPr>
          <p:cNvSpPr txBox="1">
            <a:spLocks/>
          </p:cNvSpPr>
          <p:nvPr/>
        </p:nvSpPr>
        <p:spPr>
          <a:xfrm>
            <a:off x="3497069" y="4512448"/>
            <a:ext cx="2256960" cy="603242"/>
          </a:xfrm>
          <a:prstGeom prst="rect">
            <a:avLst/>
          </a:prstGeom>
        </p:spPr>
        <p:txBody>
          <a:bodyPr vert="horz" wrap="square" lIns="0" tIns="0" rIns="0" bIns="0" numCol="1" rtlCol="0">
            <a:spAutoFit/>
          </a:bodyPr>
          <a:lstStyle>
            <a:defPPr>
              <a:defRPr lang="en-US"/>
            </a:defPPr>
            <a:lvl1pPr marR="0" indent="0" defTabSz="582780" fontAlgn="auto">
              <a:lnSpc>
                <a:spcPct val="110000"/>
              </a:lnSpc>
              <a:spcBef>
                <a:spcPct val="0"/>
              </a:spcBef>
              <a:spcAft>
                <a:spcPts val="300"/>
              </a:spcAft>
              <a:buClrTx/>
              <a:buSzTx/>
              <a:buFont typeface="Wingdings" panose="05000000000000000000" pitchFamily="2" charset="2"/>
              <a:buNone/>
              <a:tabLst/>
              <a:defRPr sz="1000" b="0" i="0" spc="0" baseline="0">
                <a:effectLst/>
                <a:cs typeface="Segoe UI Semilight" panose="020B0402040204020203" pitchFamily="34" charset="0"/>
              </a:defRPr>
            </a:lvl1pPr>
            <a:lvl2pPr marR="0" indent="-228600" defTabSz="932742" fontAlgn="auto">
              <a:lnSpc>
                <a:spcPct val="100000"/>
              </a:lnSpc>
              <a:spcBef>
                <a:spcPct val="20000"/>
              </a:spcBef>
              <a:spcAft>
                <a:spcPts val="0"/>
              </a:spcAft>
              <a:buClrTx/>
              <a:buSzPct val="90000"/>
              <a:buFont typeface="Wingdings" panose="05000000000000000000" pitchFamily="2" charset="2"/>
              <a:buChar char=""/>
              <a:tabLst/>
              <a:defRPr sz="1600" spc="0" baseline="0">
                <a:solidFill>
                  <a:srgbClr val="000000"/>
                </a:solidFill>
              </a:defRPr>
            </a:lvl2pPr>
            <a:lvl3pPr marL="657225" marR="0" indent="-200025" defTabSz="932742" fontAlgn="auto">
              <a:lnSpc>
                <a:spcPct val="100000"/>
              </a:lnSpc>
              <a:spcBef>
                <a:spcPct val="20000"/>
              </a:spcBef>
              <a:spcAft>
                <a:spcPts val="0"/>
              </a:spcAft>
              <a:buClrTx/>
              <a:buSzPct val="90000"/>
              <a:buFont typeface="Wingdings" panose="05000000000000000000" pitchFamily="2" charset="2"/>
              <a:buChar char=""/>
              <a:tabLst/>
              <a:defRPr sz="1400" spc="0" baseline="0">
                <a:solidFill>
                  <a:srgbClr val="000000"/>
                </a:solidFill>
              </a:defRPr>
            </a:lvl3pPr>
            <a:lvl4pPr marL="842963" marR="0" indent="-180975" defTabSz="932742" fontAlgn="auto">
              <a:lnSpc>
                <a:spcPct val="100000"/>
              </a:lnSpc>
              <a:spcBef>
                <a:spcPct val="20000"/>
              </a:spcBef>
              <a:spcAft>
                <a:spcPts val="0"/>
              </a:spcAft>
              <a:buClrTx/>
              <a:buSzPct val="90000"/>
              <a:buFont typeface="Wingdings" panose="05000000000000000000" pitchFamily="2" charset="2"/>
              <a:buChar char=""/>
              <a:tabLst/>
              <a:defRPr sz="1200" spc="0" baseline="0">
                <a:solidFill>
                  <a:srgbClr val="000000"/>
                </a:solidFill>
              </a:defRPr>
            </a:lvl4pPr>
            <a:lvl5pPr marL="1023938" marR="0" indent="-168275" defTabSz="932742" fontAlgn="auto">
              <a:lnSpc>
                <a:spcPct val="100000"/>
              </a:lnSpc>
              <a:spcBef>
                <a:spcPct val="20000"/>
              </a:spcBef>
              <a:spcAft>
                <a:spcPts val="0"/>
              </a:spcAft>
              <a:buClrTx/>
              <a:buSzPct val="90000"/>
              <a:buFont typeface="Wingdings" panose="05000000000000000000" pitchFamily="2" charset="2"/>
              <a:buChar char=""/>
              <a:tabLst/>
              <a:defRPr sz="1000" spc="0" baseline="0">
                <a:solidFill>
                  <a:srgbClr val="000000"/>
                </a:solidFill>
              </a:defRPr>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pPr marL="0" marR="0" lvl="0" indent="0" algn="l" defTabSz="932597" rtl="0" eaLnBrk="1" fontAlgn="auto" latinLnBrk="0" hangingPunct="1">
              <a:lnSpc>
                <a:spcPct val="100000"/>
              </a:lnSpc>
              <a:spcBef>
                <a:spcPts val="0"/>
              </a:spcBef>
              <a:spcAft>
                <a:spcPts val="600"/>
              </a:spcAft>
              <a:buClrTx/>
              <a:buSzTx/>
              <a:buFont typeface="Wingdings" panose="05000000000000000000" pitchFamily="2" charset="2"/>
              <a:buNone/>
              <a:tabLst/>
              <a:defRPr/>
            </a:pPr>
            <a:r>
              <a:rPr kumimoji="0" lang="en-US" sz="1200" b="1" i="0" u="none" strike="noStrike" kern="1200" cap="none" spc="0" normalizeH="0" baseline="0" noProof="0" dirty="0">
                <a:ln>
                  <a:noFill/>
                </a:ln>
                <a:solidFill>
                  <a:srgbClr val="C5B4E3">
                    <a:lumMod val="50000"/>
                  </a:srgbClr>
                </a:solidFill>
                <a:effectLst/>
                <a:uLnTx/>
                <a:uFillTx/>
                <a:latin typeface="Segoe UI Semibold"/>
                <a:ea typeface="+mn-ea"/>
                <a:cs typeface="Segoe UI Semilight" panose="020B0402040204020203" pitchFamily="34" charset="0"/>
              </a:rPr>
              <a:t>Improve your data </a:t>
            </a:r>
          </a:p>
          <a:p>
            <a:pPr marL="171450" marR="0" lvl="0" indent="-171450" algn="l" defTabSz="93259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rgbClr val="000000"/>
                </a:solidFill>
                <a:effectLst/>
                <a:uLnTx/>
                <a:uFillTx/>
                <a:latin typeface="Segoe UI"/>
                <a:ea typeface="+mn-ea"/>
                <a:cs typeface="Segoe UI"/>
              </a:rPr>
              <a:t>Use Copilot Studio for secure data retrieval from existing systems</a:t>
            </a:r>
          </a:p>
        </p:txBody>
      </p:sp>
    </p:spTree>
    <p:extLst>
      <p:ext uri="{BB962C8B-B14F-4D97-AF65-F5344CB8AC3E}">
        <p14:creationId xmlns:p14="http://schemas.microsoft.com/office/powerpoint/2010/main" val="157542725"/>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 name="Text Placeholder 572">
            <a:extLst>
              <a:ext uri="{FF2B5EF4-FFF2-40B4-BE49-F238E27FC236}">
                <a16:creationId xmlns:a16="http://schemas.microsoft.com/office/drawing/2014/main" id="{7E2A7903-55D3-50DC-CBCD-FFB905978CA5}"/>
              </a:ext>
            </a:extLst>
          </p:cNvPr>
          <p:cNvSpPr>
            <a:spLocks noGrp="1"/>
          </p:cNvSpPr>
          <p:nvPr>
            <p:ph type="body" sz="quarter" idx="32"/>
          </p:nvPr>
        </p:nvSpPr>
        <p:spPr>
          <a:xfrm>
            <a:off x="311388" y="1026303"/>
            <a:ext cx="2180987" cy="1131079"/>
          </a:xfrm>
        </p:spPr>
        <p:txBody>
          <a:bodyPr/>
          <a:lstStyle/>
          <a:p>
            <a:r>
              <a:rPr lang="en-US" noProof="0" dirty="0"/>
              <a:t>Copilot Chat can assist finance professionals in many areas of their day from writing code to automate analyses, performing due diligence, communications, and suggestions for insights.</a:t>
            </a:r>
          </a:p>
        </p:txBody>
      </p:sp>
      <p:sp>
        <p:nvSpPr>
          <p:cNvPr id="254" name="Text Placeholder 253">
            <a:extLst>
              <a:ext uri="{FF2B5EF4-FFF2-40B4-BE49-F238E27FC236}">
                <a16:creationId xmlns:a16="http://schemas.microsoft.com/office/drawing/2014/main" id="{C69D29F5-4088-64B9-2935-10C73FBBA525}"/>
              </a:ext>
            </a:extLst>
          </p:cNvPr>
          <p:cNvSpPr>
            <a:spLocks noGrp="1"/>
          </p:cNvSpPr>
          <p:nvPr>
            <p:ph type="body" sz="quarter" idx="33"/>
          </p:nvPr>
        </p:nvSpPr>
        <p:spPr>
          <a:xfrm>
            <a:off x="304796" y="413987"/>
            <a:ext cx="2057403" cy="307777"/>
          </a:xfrm>
        </p:spPr>
        <p:txBody>
          <a:bodyPr/>
          <a:lstStyle/>
          <a:p>
            <a:r>
              <a:rPr lang="en-US" noProof="0" dirty="0"/>
              <a:t>Finance</a:t>
            </a:r>
          </a:p>
        </p:txBody>
      </p:sp>
      <p:sp>
        <p:nvSpPr>
          <p:cNvPr id="328" name="Text Placeholder 327">
            <a:extLst>
              <a:ext uri="{FF2B5EF4-FFF2-40B4-BE49-F238E27FC236}">
                <a16:creationId xmlns:a16="http://schemas.microsoft.com/office/drawing/2014/main" id="{47A5F03B-4E68-55F8-4B7B-3699C3A5066C}"/>
              </a:ext>
            </a:extLst>
          </p:cNvPr>
          <p:cNvSpPr>
            <a:spLocks noGrp="1"/>
          </p:cNvSpPr>
          <p:nvPr>
            <p:ph type="body" sz="quarter" idx="30"/>
          </p:nvPr>
        </p:nvSpPr>
        <p:spPr>
          <a:xfrm>
            <a:off x="10430351" y="521099"/>
            <a:ext cx="1456966" cy="175614"/>
          </a:xfrm>
        </p:spPr>
        <p:txBody>
          <a:bodyPr/>
          <a:lstStyle/>
          <a:p>
            <a:r>
              <a:rPr lang="en-US" noProof="0" dirty="0"/>
              <a:t>Start</a:t>
            </a:r>
          </a:p>
        </p:txBody>
      </p:sp>
      <p:sp>
        <p:nvSpPr>
          <p:cNvPr id="301" name="Text Placeholder 300">
            <a:extLst>
              <a:ext uri="{FF2B5EF4-FFF2-40B4-BE49-F238E27FC236}">
                <a16:creationId xmlns:a16="http://schemas.microsoft.com/office/drawing/2014/main" id="{7C96F853-31EB-CF64-11D1-49757EF659DA}"/>
              </a:ext>
            </a:extLst>
          </p:cNvPr>
          <p:cNvSpPr>
            <a:spLocks noGrp="1"/>
          </p:cNvSpPr>
          <p:nvPr>
            <p:ph type="body" sz="quarter" idx="17"/>
          </p:nvPr>
        </p:nvSpPr>
        <p:spPr>
          <a:xfrm>
            <a:off x="7149557" y="521100"/>
            <a:ext cx="2969488" cy="169277"/>
          </a:xfrm>
        </p:spPr>
        <p:txBody>
          <a:bodyPr/>
          <a:lstStyle/>
          <a:p>
            <a:r>
              <a:rPr lang="en-US" noProof="0" dirty="0"/>
              <a:t>Microsoft 365 Copilot Chat</a:t>
            </a:r>
          </a:p>
        </p:txBody>
      </p:sp>
      <p:sp>
        <p:nvSpPr>
          <p:cNvPr id="198" name="Title 197">
            <a:extLst>
              <a:ext uri="{FF2B5EF4-FFF2-40B4-BE49-F238E27FC236}">
                <a16:creationId xmlns:a16="http://schemas.microsoft.com/office/drawing/2014/main" id="{94FC088A-F811-9512-0F60-E16476E0AFA5}"/>
              </a:ext>
            </a:extLst>
          </p:cNvPr>
          <p:cNvSpPr>
            <a:spLocks noGrp="1"/>
          </p:cNvSpPr>
          <p:nvPr>
            <p:ph type="title"/>
          </p:nvPr>
        </p:nvSpPr>
        <p:spPr>
          <a:xfrm>
            <a:off x="2492375" y="429033"/>
            <a:ext cx="4144963" cy="276999"/>
          </a:xfrm>
        </p:spPr>
        <p:txBody>
          <a:bodyPr/>
          <a:lstStyle/>
          <a:p>
            <a:r>
              <a:rPr lang="en-US" noProof="0" dirty="0"/>
              <a:t>Optimize your financial operations </a:t>
            </a:r>
          </a:p>
        </p:txBody>
      </p:sp>
      <p:sp>
        <p:nvSpPr>
          <p:cNvPr id="367" name="Text Placeholder 366">
            <a:extLst>
              <a:ext uri="{FF2B5EF4-FFF2-40B4-BE49-F238E27FC236}">
                <a16:creationId xmlns:a16="http://schemas.microsoft.com/office/drawing/2014/main" id="{606014CE-61F8-ECE9-499B-EAB5727DEA34}"/>
              </a:ext>
            </a:extLst>
          </p:cNvPr>
          <p:cNvSpPr>
            <a:spLocks noGrp="1"/>
          </p:cNvSpPr>
          <p:nvPr>
            <p:ph type="body" sz="quarter" idx="69"/>
          </p:nvPr>
        </p:nvSpPr>
        <p:spPr>
          <a:xfrm>
            <a:off x="3172959" y="2716213"/>
            <a:ext cx="2571750" cy="712787"/>
          </a:xfrm>
        </p:spPr>
        <p:txBody>
          <a:bodyPr/>
          <a:lstStyle/>
          <a:p>
            <a:r>
              <a:rPr lang="en-US" noProof="0" dirty="0">
                <a:latin typeface="+mj-lt"/>
              </a:rPr>
              <a:t>Prompt</a:t>
            </a:r>
            <a:r>
              <a:rPr lang="en-US" noProof="0" dirty="0"/>
              <a:t>: Write a python script to mine data from various websites.</a:t>
            </a:r>
          </a:p>
        </p:txBody>
      </p:sp>
      <p:sp>
        <p:nvSpPr>
          <p:cNvPr id="352" name="Text Placeholder 351">
            <a:extLst>
              <a:ext uri="{FF2B5EF4-FFF2-40B4-BE49-F238E27FC236}">
                <a16:creationId xmlns:a16="http://schemas.microsoft.com/office/drawing/2014/main" id="{4FDDFDF6-3C24-668D-3E82-9DFB920D23A7}"/>
              </a:ext>
            </a:extLst>
          </p:cNvPr>
          <p:cNvSpPr>
            <a:spLocks noGrp="1"/>
          </p:cNvSpPr>
          <p:nvPr>
            <p:ph type="body" sz="quarter" idx="11"/>
          </p:nvPr>
        </p:nvSpPr>
        <p:spPr>
          <a:xfrm>
            <a:off x="3182890" y="1112478"/>
            <a:ext cx="2572262" cy="153888"/>
          </a:xfrm>
        </p:spPr>
        <p:txBody>
          <a:bodyPr/>
          <a:lstStyle/>
          <a:p>
            <a:r>
              <a:rPr lang="en-US" noProof="0" dirty="0"/>
              <a:t>Automate workflows</a:t>
            </a:r>
          </a:p>
        </p:txBody>
      </p:sp>
      <p:sp>
        <p:nvSpPr>
          <p:cNvPr id="353" name="Text Placeholder 352">
            <a:extLst>
              <a:ext uri="{FF2B5EF4-FFF2-40B4-BE49-F238E27FC236}">
                <a16:creationId xmlns:a16="http://schemas.microsoft.com/office/drawing/2014/main" id="{40254C7C-D463-CB4D-C17F-17CC3E425A86}"/>
              </a:ext>
            </a:extLst>
          </p:cNvPr>
          <p:cNvSpPr>
            <a:spLocks noGrp="1"/>
          </p:cNvSpPr>
          <p:nvPr>
            <p:ph type="body" sz="quarter" idx="18"/>
          </p:nvPr>
        </p:nvSpPr>
        <p:spPr>
          <a:xfrm>
            <a:off x="3182890" y="1438715"/>
            <a:ext cx="2572262" cy="626701"/>
          </a:xfrm>
        </p:spPr>
        <p:txBody>
          <a:bodyPr/>
          <a:lstStyle/>
          <a:p>
            <a:r>
              <a:rPr lang="en-US" noProof="0" dirty="0"/>
              <a:t>Use Copilot to write a python script to automate tedious tasks like data collection. </a:t>
            </a:r>
          </a:p>
        </p:txBody>
      </p:sp>
      <p:sp>
        <p:nvSpPr>
          <p:cNvPr id="356" name="Text Placeholder 355">
            <a:extLst>
              <a:ext uri="{FF2B5EF4-FFF2-40B4-BE49-F238E27FC236}">
                <a16:creationId xmlns:a16="http://schemas.microsoft.com/office/drawing/2014/main" id="{4D253CB0-CF85-319A-79B2-507DA307ACB6}"/>
              </a:ext>
            </a:extLst>
          </p:cNvPr>
          <p:cNvSpPr>
            <a:spLocks noGrp="1"/>
          </p:cNvSpPr>
          <p:nvPr>
            <p:ph type="body" sz="quarter" idx="42"/>
          </p:nvPr>
        </p:nvSpPr>
        <p:spPr>
          <a:xfrm>
            <a:off x="6066682" y="1112478"/>
            <a:ext cx="2572262" cy="153888"/>
          </a:xfrm>
        </p:spPr>
        <p:txBody>
          <a:bodyPr/>
          <a:lstStyle/>
          <a:p>
            <a:r>
              <a:rPr lang="en-US" noProof="0" dirty="0"/>
              <a:t>Financial analysis</a:t>
            </a:r>
          </a:p>
        </p:txBody>
      </p:sp>
      <p:sp>
        <p:nvSpPr>
          <p:cNvPr id="357" name="Text Placeholder 356">
            <a:extLst>
              <a:ext uri="{FF2B5EF4-FFF2-40B4-BE49-F238E27FC236}">
                <a16:creationId xmlns:a16="http://schemas.microsoft.com/office/drawing/2014/main" id="{5326436E-1A3F-6EDE-D473-242AFCA3B49B}"/>
              </a:ext>
            </a:extLst>
          </p:cNvPr>
          <p:cNvSpPr>
            <a:spLocks noGrp="1"/>
          </p:cNvSpPr>
          <p:nvPr>
            <p:ph type="body" sz="quarter" idx="43"/>
          </p:nvPr>
        </p:nvSpPr>
        <p:spPr>
          <a:xfrm>
            <a:off x="6066682" y="1438715"/>
            <a:ext cx="2572262" cy="626701"/>
          </a:xfrm>
        </p:spPr>
        <p:txBody>
          <a:bodyPr/>
          <a:lstStyle/>
          <a:p>
            <a:r>
              <a:rPr lang="en-US" noProof="0" dirty="0"/>
              <a:t>Save time by asking Copilot for ideas of how to perform complex financial analyses.</a:t>
            </a:r>
          </a:p>
        </p:txBody>
      </p:sp>
      <p:sp>
        <p:nvSpPr>
          <p:cNvPr id="361" name="Text Placeholder 360">
            <a:extLst>
              <a:ext uri="{FF2B5EF4-FFF2-40B4-BE49-F238E27FC236}">
                <a16:creationId xmlns:a16="http://schemas.microsoft.com/office/drawing/2014/main" id="{67546444-DD08-5C43-4394-4F3CBEB0DC05}"/>
              </a:ext>
            </a:extLst>
          </p:cNvPr>
          <p:cNvSpPr>
            <a:spLocks noGrp="1"/>
          </p:cNvSpPr>
          <p:nvPr>
            <p:ph type="body" sz="quarter" idx="68"/>
          </p:nvPr>
        </p:nvSpPr>
        <p:spPr>
          <a:xfrm>
            <a:off x="8950475" y="2725494"/>
            <a:ext cx="2572262" cy="712876"/>
          </a:xfrm>
        </p:spPr>
        <p:txBody>
          <a:bodyPr/>
          <a:lstStyle/>
          <a:p>
            <a:r>
              <a:rPr lang="en-US" noProof="0" dirty="0">
                <a:latin typeface="+mj-lt"/>
              </a:rPr>
              <a:t>Prompt</a:t>
            </a:r>
            <a:r>
              <a:rPr lang="en-US" noProof="0" dirty="0"/>
              <a:t>: Generate a summary that provides insights into the current state of the steel industry based on recent financial news, stock market data, and economic indicators.</a:t>
            </a:r>
          </a:p>
        </p:txBody>
      </p:sp>
      <p:sp>
        <p:nvSpPr>
          <p:cNvPr id="359" name="Text Placeholder 358">
            <a:extLst>
              <a:ext uri="{FF2B5EF4-FFF2-40B4-BE49-F238E27FC236}">
                <a16:creationId xmlns:a16="http://schemas.microsoft.com/office/drawing/2014/main" id="{41721926-5484-53E4-5814-97DD73FF70BA}"/>
              </a:ext>
            </a:extLst>
          </p:cNvPr>
          <p:cNvSpPr>
            <a:spLocks noGrp="1"/>
          </p:cNvSpPr>
          <p:nvPr>
            <p:ph type="body" sz="quarter" idx="45"/>
          </p:nvPr>
        </p:nvSpPr>
        <p:spPr>
          <a:xfrm>
            <a:off x="8950475" y="1112478"/>
            <a:ext cx="2572262" cy="153888"/>
          </a:xfrm>
        </p:spPr>
        <p:txBody>
          <a:bodyPr/>
          <a:lstStyle/>
          <a:p>
            <a:r>
              <a:rPr lang="en-US" noProof="0" dirty="0"/>
              <a:t>Stay up-to-date with news and trends </a:t>
            </a:r>
          </a:p>
        </p:txBody>
      </p:sp>
      <p:sp>
        <p:nvSpPr>
          <p:cNvPr id="360" name="Text Placeholder 359">
            <a:extLst>
              <a:ext uri="{FF2B5EF4-FFF2-40B4-BE49-F238E27FC236}">
                <a16:creationId xmlns:a16="http://schemas.microsoft.com/office/drawing/2014/main" id="{74E9D6F4-9620-2696-1161-99EA913E6FEF}"/>
              </a:ext>
            </a:extLst>
          </p:cNvPr>
          <p:cNvSpPr>
            <a:spLocks noGrp="1"/>
          </p:cNvSpPr>
          <p:nvPr>
            <p:ph type="body" sz="quarter" idx="46"/>
          </p:nvPr>
        </p:nvSpPr>
        <p:spPr>
          <a:xfrm>
            <a:off x="8950475" y="1438715"/>
            <a:ext cx="2572262" cy="626701"/>
          </a:xfrm>
        </p:spPr>
        <p:txBody>
          <a:bodyPr/>
          <a:lstStyle/>
          <a:p>
            <a:r>
              <a:rPr lang="en-US" noProof="0" dirty="0"/>
              <a:t>Make sure you’re caught up with the latest industry news and trends by asking Copilot for a summary. </a:t>
            </a:r>
          </a:p>
        </p:txBody>
      </p:sp>
      <p:sp>
        <p:nvSpPr>
          <p:cNvPr id="370" name="Text Placeholder 369">
            <a:extLst>
              <a:ext uri="{FF2B5EF4-FFF2-40B4-BE49-F238E27FC236}">
                <a16:creationId xmlns:a16="http://schemas.microsoft.com/office/drawing/2014/main" id="{42C097A0-47B8-96EF-7313-9A3C8AE5C9E8}"/>
              </a:ext>
            </a:extLst>
          </p:cNvPr>
          <p:cNvSpPr>
            <a:spLocks noGrp="1"/>
          </p:cNvSpPr>
          <p:nvPr>
            <p:ph type="body" sz="quarter" idx="70"/>
          </p:nvPr>
        </p:nvSpPr>
        <p:spPr>
          <a:xfrm>
            <a:off x="6066682" y="2725494"/>
            <a:ext cx="2572262" cy="712876"/>
          </a:xfrm>
        </p:spPr>
        <p:txBody>
          <a:bodyPr/>
          <a:lstStyle/>
          <a:p>
            <a:r>
              <a:rPr lang="en-US" noProof="0" dirty="0">
                <a:latin typeface="+mj-lt"/>
              </a:rPr>
              <a:t>Prompt</a:t>
            </a:r>
            <a:r>
              <a:rPr lang="en-US" noProof="0" dirty="0"/>
              <a:t>: How should I structure a valuation </a:t>
            </a:r>
            <a:br>
              <a:rPr lang="en-US" noProof="0" dirty="0"/>
            </a:br>
            <a:r>
              <a:rPr lang="en-US" noProof="0" dirty="0"/>
              <a:t>of a retired manufacturing facility?</a:t>
            </a:r>
          </a:p>
        </p:txBody>
      </p:sp>
      <p:sp>
        <p:nvSpPr>
          <p:cNvPr id="362" name="Text Placeholder 361">
            <a:extLst>
              <a:ext uri="{FF2B5EF4-FFF2-40B4-BE49-F238E27FC236}">
                <a16:creationId xmlns:a16="http://schemas.microsoft.com/office/drawing/2014/main" id="{3646D59C-C194-9C77-2163-A3F1AFAF9880}"/>
              </a:ext>
            </a:extLst>
          </p:cNvPr>
          <p:cNvSpPr>
            <a:spLocks noGrp="1"/>
          </p:cNvSpPr>
          <p:nvPr>
            <p:ph type="body" sz="quarter" idx="48"/>
          </p:nvPr>
        </p:nvSpPr>
        <p:spPr>
          <a:xfrm>
            <a:off x="3182890" y="5334522"/>
            <a:ext cx="2572262" cy="712876"/>
          </a:xfrm>
        </p:spPr>
        <p:txBody>
          <a:bodyPr/>
          <a:lstStyle/>
          <a:p>
            <a:r>
              <a:rPr lang="en-US" noProof="0" dirty="0">
                <a:latin typeface="+mj-lt"/>
              </a:rPr>
              <a:t>Prompt</a:t>
            </a:r>
            <a:r>
              <a:rPr lang="en-US" noProof="0" dirty="0"/>
              <a:t>: Provide a list of likely acquisition targets in the Retail industry in Asia and give the reasons why they are on the list.</a:t>
            </a:r>
          </a:p>
        </p:txBody>
      </p:sp>
      <p:sp>
        <p:nvSpPr>
          <p:cNvPr id="363" name="Text Placeholder 362">
            <a:extLst>
              <a:ext uri="{FF2B5EF4-FFF2-40B4-BE49-F238E27FC236}">
                <a16:creationId xmlns:a16="http://schemas.microsoft.com/office/drawing/2014/main" id="{8B7147B9-F340-B3C0-A9E7-7631FDCC38D8}"/>
              </a:ext>
            </a:extLst>
          </p:cNvPr>
          <p:cNvSpPr>
            <a:spLocks noGrp="1"/>
          </p:cNvSpPr>
          <p:nvPr>
            <p:ph type="body" sz="quarter" idx="49"/>
          </p:nvPr>
        </p:nvSpPr>
        <p:spPr>
          <a:xfrm>
            <a:off x="3182890" y="3725103"/>
            <a:ext cx="2572262" cy="153888"/>
          </a:xfrm>
        </p:spPr>
        <p:txBody>
          <a:bodyPr/>
          <a:lstStyle/>
          <a:p>
            <a:r>
              <a:rPr lang="en-US" noProof="0" dirty="0"/>
              <a:t>Due Diligence</a:t>
            </a:r>
          </a:p>
        </p:txBody>
      </p:sp>
      <p:sp>
        <p:nvSpPr>
          <p:cNvPr id="364" name="Text Placeholder 363">
            <a:extLst>
              <a:ext uri="{FF2B5EF4-FFF2-40B4-BE49-F238E27FC236}">
                <a16:creationId xmlns:a16="http://schemas.microsoft.com/office/drawing/2014/main" id="{D1F8C0B6-68EE-5173-F6CF-2E25DB2D3515}"/>
              </a:ext>
            </a:extLst>
          </p:cNvPr>
          <p:cNvSpPr>
            <a:spLocks noGrp="1"/>
          </p:cNvSpPr>
          <p:nvPr>
            <p:ph type="body" sz="quarter" idx="50"/>
          </p:nvPr>
        </p:nvSpPr>
        <p:spPr>
          <a:xfrm>
            <a:off x="3182890" y="4050957"/>
            <a:ext cx="2572262" cy="626701"/>
          </a:xfrm>
        </p:spPr>
        <p:txBody>
          <a:bodyPr/>
          <a:lstStyle/>
          <a:p>
            <a:r>
              <a:rPr lang="en-US" noProof="0" dirty="0"/>
              <a:t>Prompt Copilot to identify potential acquisition targets in specific geographies.</a:t>
            </a:r>
          </a:p>
        </p:txBody>
      </p:sp>
      <p:sp>
        <p:nvSpPr>
          <p:cNvPr id="365" name="Text Placeholder 364">
            <a:extLst>
              <a:ext uri="{FF2B5EF4-FFF2-40B4-BE49-F238E27FC236}">
                <a16:creationId xmlns:a16="http://schemas.microsoft.com/office/drawing/2014/main" id="{11115500-8158-1EE6-7528-671C7A0203FF}"/>
              </a:ext>
            </a:extLst>
          </p:cNvPr>
          <p:cNvSpPr>
            <a:spLocks noGrp="1"/>
          </p:cNvSpPr>
          <p:nvPr>
            <p:ph type="body" sz="quarter" idx="51"/>
          </p:nvPr>
        </p:nvSpPr>
        <p:spPr>
          <a:xfrm>
            <a:off x="6066682" y="3725103"/>
            <a:ext cx="2572262" cy="153888"/>
          </a:xfrm>
        </p:spPr>
        <p:txBody>
          <a:bodyPr/>
          <a:lstStyle/>
          <a:p>
            <a:r>
              <a:rPr lang="en-US" noProof="0" dirty="0"/>
              <a:t>Communicate insights</a:t>
            </a:r>
          </a:p>
        </p:txBody>
      </p:sp>
      <p:sp>
        <p:nvSpPr>
          <p:cNvPr id="366" name="Text Placeholder 365">
            <a:extLst>
              <a:ext uri="{FF2B5EF4-FFF2-40B4-BE49-F238E27FC236}">
                <a16:creationId xmlns:a16="http://schemas.microsoft.com/office/drawing/2014/main" id="{40950A41-ABD8-5323-FD9D-04F556DFFE6F}"/>
              </a:ext>
            </a:extLst>
          </p:cNvPr>
          <p:cNvSpPr>
            <a:spLocks noGrp="1"/>
          </p:cNvSpPr>
          <p:nvPr>
            <p:ph type="body" sz="quarter" idx="52"/>
          </p:nvPr>
        </p:nvSpPr>
        <p:spPr>
          <a:xfrm>
            <a:off x="6066682" y="4050957"/>
            <a:ext cx="2572262" cy="626701"/>
          </a:xfrm>
        </p:spPr>
        <p:txBody>
          <a:bodyPr/>
          <a:lstStyle/>
          <a:p>
            <a:r>
              <a:rPr lang="en-US" noProof="0" dirty="0"/>
              <a:t>Relay key insights to your audience by using Copilot to generate content like reports, investments summaries, financial briefs and more. </a:t>
            </a:r>
          </a:p>
        </p:txBody>
      </p:sp>
      <p:sp>
        <p:nvSpPr>
          <p:cNvPr id="355" name="Text Placeholder 354">
            <a:extLst>
              <a:ext uri="{FF2B5EF4-FFF2-40B4-BE49-F238E27FC236}">
                <a16:creationId xmlns:a16="http://schemas.microsoft.com/office/drawing/2014/main" id="{25691DC7-0F4A-DDC9-6D5C-6FA256BD172C}"/>
              </a:ext>
            </a:extLst>
          </p:cNvPr>
          <p:cNvSpPr>
            <a:spLocks noGrp="1"/>
          </p:cNvSpPr>
          <p:nvPr>
            <p:ph type="body" sz="quarter" idx="66"/>
          </p:nvPr>
        </p:nvSpPr>
        <p:spPr>
          <a:xfrm>
            <a:off x="8950475" y="5334522"/>
            <a:ext cx="2572262" cy="712876"/>
          </a:xfrm>
        </p:spPr>
        <p:txBody>
          <a:bodyPr/>
          <a:lstStyle/>
          <a:p>
            <a:r>
              <a:rPr lang="en-US" noProof="0" dirty="0">
                <a:latin typeface="+mj-lt"/>
              </a:rPr>
              <a:t>Prompt</a:t>
            </a:r>
            <a:r>
              <a:rPr lang="en-US" noProof="0" dirty="0"/>
              <a:t>: Create a table comparing the </a:t>
            </a:r>
            <a:br>
              <a:rPr lang="en-US" noProof="0" dirty="0"/>
            </a:br>
            <a:r>
              <a:rPr lang="en-US" noProof="0" dirty="0"/>
              <a:t>capabilities of Product X and Product Y.</a:t>
            </a:r>
          </a:p>
        </p:txBody>
      </p:sp>
      <p:sp>
        <p:nvSpPr>
          <p:cNvPr id="368" name="Text Placeholder 367">
            <a:extLst>
              <a:ext uri="{FF2B5EF4-FFF2-40B4-BE49-F238E27FC236}">
                <a16:creationId xmlns:a16="http://schemas.microsoft.com/office/drawing/2014/main" id="{4333109B-D4BC-040F-C409-368943F85699}"/>
              </a:ext>
            </a:extLst>
          </p:cNvPr>
          <p:cNvSpPr>
            <a:spLocks noGrp="1"/>
          </p:cNvSpPr>
          <p:nvPr>
            <p:ph type="body" sz="quarter" idx="54"/>
          </p:nvPr>
        </p:nvSpPr>
        <p:spPr>
          <a:xfrm>
            <a:off x="8950475" y="3725103"/>
            <a:ext cx="2572262" cy="153888"/>
          </a:xfrm>
        </p:spPr>
        <p:txBody>
          <a:bodyPr/>
          <a:lstStyle/>
          <a:p>
            <a:r>
              <a:rPr lang="en-US" noProof="0" dirty="0"/>
              <a:t>Gather competitor information </a:t>
            </a:r>
          </a:p>
        </p:txBody>
      </p:sp>
      <p:sp>
        <p:nvSpPr>
          <p:cNvPr id="369" name="Text Placeholder 368">
            <a:extLst>
              <a:ext uri="{FF2B5EF4-FFF2-40B4-BE49-F238E27FC236}">
                <a16:creationId xmlns:a16="http://schemas.microsoft.com/office/drawing/2014/main" id="{B388B931-80DF-DA81-956E-C88870CCF20E}"/>
              </a:ext>
            </a:extLst>
          </p:cNvPr>
          <p:cNvSpPr>
            <a:spLocks noGrp="1"/>
          </p:cNvSpPr>
          <p:nvPr>
            <p:ph type="body" sz="quarter" idx="55"/>
          </p:nvPr>
        </p:nvSpPr>
        <p:spPr>
          <a:xfrm>
            <a:off x="8950475" y="4050957"/>
            <a:ext cx="2572262" cy="626701"/>
          </a:xfrm>
        </p:spPr>
        <p:txBody>
          <a:bodyPr/>
          <a:lstStyle/>
          <a:p>
            <a:r>
              <a:rPr lang="en-US" noProof="0" dirty="0"/>
              <a:t>Prompt Copilot to compare product capabilities to perform an accurate Total Cost of Ownership analysis for a product pricing update.</a:t>
            </a:r>
          </a:p>
        </p:txBody>
      </p:sp>
      <p:sp>
        <p:nvSpPr>
          <p:cNvPr id="358" name="Text Placeholder 357">
            <a:extLst>
              <a:ext uri="{FF2B5EF4-FFF2-40B4-BE49-F238E27FC236}">
                <a16:creationId xmlns:a16="http://schemas.microsoft.com/office/drawing/2014/main" id="{ADA641C7-EAEB-B9C9-7760-F2EB40893022}"/>
              </a:ext>
            </a:extLst>
          </p:cNvPr>
          <p:cNvSpPr>
            <a:spLocks noGrp="1"/>
          </p:cNvSpPr>
          <p:nvPr>
            <p:ph type="body" sz="quarter" idx="67"/>
          </p:nvPr>
        </p:nvSpPr>
        <p:spPr>
          <a:xfrm>
            <a:off x="6066682" y="5334522"/>
            <a:ext cx="2572262" cy="712876"/>
          </a:xfrm>
        </p:spPr>
        <p:txBody>
          <a:bodyPr/>
          <a:lstStyle/>
          <a:p>
            <a:r>
              <a:rPr lang="en-US" noProof="0" dirty="0">
                <a:latin typeface="+mj-lt"/>
              </a:rPr>
              <a:t>Prompt</a:t>
            </a:r>
            <a:r>
              <a:rPr lang="en-US" noProof="0" dirty="0"/>
              <a:t>: Generate an investment summary based on the annual report on this web site. Simplify the financial jargon and be sure to include information on key risks and performance metrics.</a:t>
            </a:r>
          </a:p>
        </p:txBody>
      </p:sp>
      <p:sp>
        <p:nvSpPr>
          <p:cNvPr id="388" name="Text Placeholder 387">
            <a:extLst>
              <a:ext uri="{FF2B5EF4-FFF2-40B4-BE49-F238E27FC236}">
                <a16:creationId xmlns:a16="http://schemas.microsoft.com/office/drawing/2014/main" id="{E076C364-B64A-E7D1-5AA1-F56DF5B5D201}"/>
              </a:ext>
            </a:extLst>
          </p:cNvPr>
          <p:cNvSpPr>
            <a:spLocks noGrp="1"/>
          </p:cNvSpPr>
          <p:nvPr>
            <p:ph type="body" sz="quarter" idx="64"/>
          </p:nvPr>
        </p:nvSpPr>
        <p:spPr>
          <a:xfrm>
            <a:off x="320721" y="4709762"/>
            <a:ext cx="1131651" cy="219456"/>
          </a:xfrm>
        </p:spPr>
        <p:txBody>
          <a:bodyPr/>
          <a:lstStyle/>
          <a:p>
            <a:r>
              <a:rPr lang="en-US" noProof="0" dirty="0"/>
              <a:t>Value benefit</a:t>
            </a:r>
          </a:p>
        </p:txBody>
      </p:sp>
      <p:sp>
        <p:nvSpPr>
          <p:cNvPr id="390" name="Text Placeholder 389">
            <a:extLst>
              <a:ext uri="{FF2B5EF4-FFF2-40B4-BE49-F238E27FC236}">
                <a16:creationId xmlns:a16="http://schemas.microsoft.com/office/drawing/2014/main" id="{4D9229A7-85EB-DEF3-2F21-C755AF4C9973}"/>
              </a:ext>
            </a:extLst>
          </p:cNvPr>
          <p:cNvSpPr>
            <a:spLocks noGrp="1"/>
          </p:cNvSpPr>
          <p:nvPr>
            <p:ph type="body" sz="quarter" idx="65"/>
          </p:nvPr>
        </p:nvSpPr>
        <p:spPr>
          <a:xfrm>
            <a:off x="320721" y="3467940"/>
            <a:ext cx="1131650" cy="219456"/>
          </a:xfrm>
        </p:spPr>
        <p:txBody>
          <a:bodyPr/>
          <a:lstStyle/>
          <a:p>
            <a:r>
              <a:rPr lang="en-US" noProof="0" dirty="0"/>
              <a:t>KPIs impacted</a:t>
            </a:r>
          </a:p>
        </p:txBody>
      </p:sp>
      <p:grpSp>
        <p:nvGrpSpPr>
          <p:cNvPr id="418" name="Group 417">
            <a:extLst>
              <a:ext uri="{FF2B5EF4-FFF2-40B4-BE49-F238E27FC236}">
                <a16:creationId xmlns:a16="http://schemas.microsoft.com/office/drawing/2014/main" id="{646FF76B-6F44-FE0B-18D9-4B032A703C66}"/>
              </a:ext>
            </a:extLst>
          </p:cNvPr>
          <p:cNvGrpSpPr/>
          <p:nvPr/>
        </p:nvGrpSpPr>
        <p:grpSpPr>
          <a:xfrm>
            <a:off x="320719" y="5020658"/>
            <a:ext cx="1771605" cy="216000"/>
            <a:chOff x="320719" y="4224856"/>
            <a:chExt cx="1771605" cy="219456"/>
          </a:xfrm>
        </p:grpSpPr>
        <p:sp>
          <p:nvSpPr>
            <p:cNvPr id="419" name="Rectangle: Rounded Corners 6">
              <a:extLst>
                <a:ext uri="{FF2B5EF4-FFF2-40B4-BE49-F238E27FC236}">
                  <a16:creationId xmlns:a16="http://schemas.microsoft.com/office/drawing/2014/main" id="{F1797905-8D0A-249E-EDD8-5AC2A8086639}"/>
                </a:ext>
                <a:ext uri="{C183D7F6-B498-43B3-948B-1728B52AA6E4}">
                  <adec:decorative xmlns:adec="http://schemas.microsoft.com/office/drawing/2017/decorative" val="1"/>
                </a:ext>
              </a:extLst>
            </p:cNvPr>
            <p:cNvSpPr/>
            <p:nvPr/>
          </p:nvSpPr>
          <p:spPr bwMode="auto">
            <a:xfrm>
              <a:off x="320719" y="4224856"/>
              <a:ext cx="1771605" cy="219456"/>
            </a:xfrm>
            <a:prstGeom prst="roundRect">
              <a:avLst>
                <a:gd name="adj" fmla="val 50000"/>
              </a:avLst>
            </a:prstGeom>
            <a:solidFill>
              <a:srgbClr val="FFFFFF"/>
            </a:solidFill>
            <a:ln w="12700">
              <a:solidFill>
                <a:srgbClr val="C03BC4"/>
              </a:solidFill>
              <a:headEnd type="none" w="med" len="med"/>
              <a:tailEnd type="none" w="med" len="med"/>
            </a:ln>
            <a:effectLst>
              <a:outerShdw blurRad="63500" dist="63500" dir="2700000"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16000" tIns="36576" rIns="36000" bIns="36000" numCol="1" spcCol="0" rtlCol="0" fromWordArt="0" anchor="ctr" anchorCtr="0" forceAA="0" compatLnSpc="1">
              <a:prstTxWarp prst="textNoShape">
                <a:avLst/>
              </a:prstTxWarp>
              <a:noAutofit/>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C03BC4"/>
                  </a:solidFill>
                  <a:effectLst/>
                  <a:uLnTx/>
                  <a:uFillTx/>
                  <a:latin typeface="Segoe UI Semibold"/>
                  <a:ea typeface="+mn-ea"/>
                  <a:cs typeface="Segoe UI Semibold" panose="020B0702040204020203" pitchFamily="34" charset="0"/>
                </a:rPr>
                <a:t>Cost savings</a:t>
              </a:r>
            </a:p>
          </p:txBody>
        </p:sp>
        <p:pic>
          <p:nvPicPr>
            <p:cNvPr id="420" name="Graphic 419">
              <a:extLst>
                <a:ext uri="{FF2B5EF4-FFF2-40B4-BE49-F238E27FC236}">
                  <a16:creationId xmlns:a16="http://schemas.microsoft.com/office/drawing/2014/main" id="{6FB5445A-E6CA-58C4-9D89-50C4E7B59152}"/>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67506" y="4260849"/>
              <a:ext cx="144000" cy="144000"/>
            </a:xfrm>
            <a:prstGeom prst="rect">
              <a:avLst/>
            </a:prstGeom>
          </p:spPr>
        </p:pic>
      </p:grpSp>
      <p:grpSp>
        <p:nvGrpSpPr>
          <p:cNvPr id="421" name="Group 420">
            <a:extLst>
              <a:ext uri="{FF2B5EF4-FFF2-40B4-BE49-F238E27FC236}">
                <a16:creationId xmlns:a16="http://schemas.microsoft.com/office/drawing/2014/main" id="{2B9A80A2-7F83-3031-C66E-E42146E2B78F}"/>
              </a:ext>
            </a:extLst>
          </p:cNvPr>
          <p:cNvGrpSpPr/>
          <p:nvPr/>
        </p:nvGrpSpPr>
        <p:grpSpPr>
          <a:xfrm>
            <a:off x="320721" y="5309272"/>
            <a:ext cx="1771605" cy="216000"/>
            <a:chOff x="320721" y="4517211"/>
            <a:chExt cx="1771605" cy="216000"/>
          </a:xfrm>
        </p:grpSpPr>
        <p:sp>
          <p:nvSpPr>
            <p:cNvPr id="422" name="Rectangle: Rounded Corners 6">
              <a:extLst>
                <a:ext uri="{FF2B5EF4-FFF2-40B4-BE49-F238E27FC236}">
                  <a16:creationId xmlns:a16="http://schemas.microsoft.com/office/drawing/2014/main" id="{2642B7E3-F396-4658-6770-F5B86F8EFD58}"/>
                </a:ext>
                <a:ext uri="{C183D7F6-B498-43B3-948B-1728B52AA6E4}">
                  <adec:decorative xmlns:adec="http://schemas.microsoft.com/office/drawing/2017/decorative" val="1"/>
                </a:ext>
              </a:extLst>
            </p:cNvPr>
            <p:cNvSpPr>
              <a:spLocks/>
            </p:cNvSpPr>
            <p:nvPr/>
          </p:nvSpPr>
          <p:spPr bwMode="auto">
            <a:xfrm>
              <a:off x="320721" y="4517211"/>
              <a:ext cx="1771605" cy="216000"/>
            </a:xfrm>
            <a:prstGeom prst="roundRect">
              <a:avLst>
                <a:gd name="adj" fmla="val 50000"/>
              </a:avLst>
            </a:prstGeom>
            <a:solidFill>
              <a:srgbClr val="FFFFFF"/>
            </a:solidFill>
            <a:ln w="12700">
              <a:solidFill>
                <a:srgbClr val="C03BC4"/>
              </a:solidFill>
              <a:headEnd type="none" w="med" len="med"/>
              <a:tailEnd type="none" w="med" len="med"/>
            </a:ln>
            <a:effectLst>
              <a:outerShdw blurRad="63500" dist="63500" dir="2700000"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16000" tIns="36576" rIns="36000" bIns="36000" numCol="1" spcCol="0" rtlCol="0" fromWordArt="0" anchor="ctr" anchorCtr="0" forceAA="0" compatLnSpc="1">
              <a:prstTxWarp prst="textNoShape">
                <a:avLst/>
              </a:prstTxWarp>
              <a:noAutofit/>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C03BC4"/>
                  </a:solidFill>
                  <a:effectLst/>
                  <a:uLnTx/>
                  <a:uFillTx/>
                  <a:latin typeface="Segoe UI Semibold"/>
                  <a:ea typeface="+mn-ea"/>
                  <a:cs typeface="Segoe UI Semibold" panose="020B0702040204020203" pitchFamily="34" charset="0"/>
                </a:rPr>
                <a:t>Employee experience</a:t>
              </a:r>
            </a:p>
          </p:txBody>
        </p:sp>
        <p:pic>
          <p:nvPicPr>
            <p:cNvPr id="423" name="Graphic 422">
              <a:extLst>
                <a:ext uri="{FF2B5EF4-FFF2-40B4-BE49-F238E27FC236}">
                  <a16:creationId xmlns:a16="http://schemas.microsoft.com/office/drawing/2014/main" id="{F0FD075C-0038-04AD-CC8E-FE666161074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67507" y="4552645"/>
              <a:ext cx="144000" cy="141732"/>
            </a:xfrm>
            <a:prstGeom prst="rect">
              <a:avLst/>
            </a:prstGeom>
          </p:spPr>
        </p:pic>
      </p:grpSp>
      <p:grpSp>
        <p:nvGrpSpPr>
          <p:cNvPr id="424" name="Group 423">
            <a:extLst>
              <a:ext uri="{FF2B5EF4-FFF2-40B4-BE49-F238E27FC236}">
                <a16:creationId xmlns:a16="http://schemas.microsoft.com/office/drawing/2014/main" id="{EC582191-B5E1-8E5A-A933-D89180473A4C}"/>
              </a:ext>
            </a:extLst>
          </p:cNvPr>
          <p:cNvGrpSpPr/>
          <p:nvPr/>
        </p:nvGrpSpPr>
        <p:grpSpPr>
          <a:xfrm>
            <a:off x="320719" y="3778836"/>
            <a:ext cx="1771605" cy="216000"/>
            <a:chOff x="320719" y="4224856"/>
            <a:chExt cx="1771605" cy="219456"/>
          </a:xfrm>
        </p:grpSpPr>
        <p:sp>
          <p:nvSpPr>
            <p:cNvPr id="425" name="Rectangle: Rounded Corners 6">
              <a:extLst>
                <a:ext uri="{FF2B5EF4-FFF2-40B4-BE49-F238E27FC236}">
                  <a16:creationId xmlns:a16="http://schemas.microsoft.com/office/drawing/2014/main" id="{783739B5-8D61-4446-EB3B-DAA5B1450B5A}"/>
                </a:ext>
                <a:ext uri="{C183D7F6-B498-43B3-948B-1728B52AA6E4}">
                  <adec:decorative xmlns:adec="http://schemas.microsoft.com/office/drawing/2017/decorative" val="1"/>
                </a:ext>
              </a:extLst>
            </p:cNvPr>
            <p:cNvSpPr/>
            <p:nvPr/>
          </p:nvSpPr>
          <p:spPr bwMode="auto">
            <a:xfrm>
              <a:off x="320719" y="4224856"/>
              <a:ext cx="1771605" cy="219456"/>
            </a:xfrm>
            <a:prstGeom prst="roundRect">
              <a:avLst>
                <a:gd name="adj" fmla="val 50000"/>
              </a:avLst>
            </a:prstGeom>
            <a:solidFill>
              <a:srgbClr val="FFFFFF"/>
            </a:solidFill>
            <a:ln w="12700">
              <a:solidFill>
                <a:srgbClr val="0078D4"/>
              </a:solidFill>
              <a:headEnd type="none" w="med" len="med"/>
              <a:tailEnd type="none" w="med" len="med"/>
            </a:ln>
            <a:effectLst>
              <a:outerShdw blurRad="63500" dist="63500" dir="2700000"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16000" tIns="36576" rIns="36000" bIns="36000" numCol="1" spcCol="0" rtlCol="0" fromWordArt="0" anchor="ctr" anchorCtr="0" forceAA="0" compatLnSpc="1">
              <a:prstTxWarp prst="textNoShape">
                <a:avLst/>
              </a:prstTxWarp>
              <a:noAutofit/>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78D4"/>
                  </a:solidFill>
                  <a:effectLst/>
                  <a:uLnTx/>
                  <a:uFillTx/>
                  <a:latin typeface="Segoe UI Semibold"/>
                  <a:ea typeface="+mn-ea"/>
                  <a:cs typeface="Segoe UI Semibold" panose="020B0702040204020203" pitchFamily="34" charset="0"/>
                </a:rPr>
                <a:t>Reduce spending</a:t>
              </a:r>
            </a:p>
          </p:txBody>
        </p:sp>
        <p:pic>
          <p:nvPicPr>
            <p:cNvPr id="426" name="Graphic 425">
              <a:extLst>
                <a:ext uri="{FF2B5EF4-FFF2-40B4-BE49-F238E27FC236}">
                  <a16:creationId xmlns:a16="http://schemas.microsoft.com/office/drawing/2014/main" id="{FFE36A66-BB7E-900B-3673-F28DE504BD7B}"/>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67506" y="4260849"/>
              <a:ext cx="144000" cy="144000"/>
            </a:xfrm>
            <a:prstGeom prst="rect">
              <a:avLst/>
            </a:prstGeom>
          </p:spPr>
        </p:pic>
      </p:grpSp>
      <p:grpSp>
        <p:nvGrpSpPr>
          <p:cNvPr id="427" name="Group 426">
            <a:extLst>
              <a:ext uri="{FF2B5EF4-FFF2-40B4-BE49-F238E27FC236}">
                <a16:creationId xmlns:a16="http://schemas.microsoft.com/office/drawing/2014/main" id="{408B1634-52A5-339C-7400-F261CDD280EA}"/>
              </a:ext>
            </a:extLst>
          </p:cNvPr>
          <p:cNvGrpSpPr/>
          <p:nvPr/>
        </p:nvGrpSpPr>
        <p:grpSpPr>
          <a:xfrm>
            <a:off x="320721" y="4067450"/>
            <a:ext cx="1771605" cy="216000"/>
            <a:chOff x="320721" y="4517211"/>
            <a:chExt cx="1771605" cy="216000"/>
          </a:xfrm>
        </p:grpSpPr>
        <p:sp>
          <p:nvSpPr>
            <p:cNvPr id="428" name="Rectangle: Rounded Corners 6">
              <a:extLst>
                <a:ext uri="{FF2B5EF4-FFF2-40B4-BE49-F238E27FC236}">
                  <a16:creationId xmlns:a16="http://schemas.microsoft.com/office/drawing/2014/main" id="{5C67EA04-A69D-03A9-19AA-57BAF1DD35C6}"/>
                </a:ext>
                <a:ext uri="{C183D7F6-B498-43B3-948B-1728B52AA6E4}">
                  <adec:decorative xmlns:adec="http://schemas.microsoft.com/office/drawing/2017/decorative" val="1"/>
                </a:ext>
              </a:extLst>
            </p:cNvPr>
            <p:cNvSpPr>
              <a:spLocks/>
            </p:cNvSpPr>
            <p:nvPr/>
          </p:nvSpPr>
          <p:spPr bwMode="auto">
            <a:xfrm>
              <a:off x="320721" y="4517211"/>
              <a:ext cx="1771605" cy="216000"/>
            </a:xfrm>
            <a:prstGeom prst="roundRect">
              <a:avLst>
                <a:gd name="adj" fmla="val 50000"/>
              </a:avLst>
            </a:prstGeom>
            <a:solidFill>
              <a:srgbClr val="FFFFFF"/>
            </a:solidFill>
            <a:ln w="12700">
              <a:solidFill>
                <a:srgbClr val="0078D4"/>
              </a:solidFill>
              <a:headEnd type="none" w="med" len="med"/>
              <a:tailEnd type="none" w="med" len="med"/>
            </a:ln>
            <a:effectLst>
              <a:outerShdw blurRad="63500" dist="63500" dir="2700000"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16000" tIns="36576" rIns="36000" bIns="36000" numCol="1" spcCol="0" rtlCol="0" fromWordArt="0" anchor="ctr" anchorCtr="0" forceAA="0" compatLnSpc="1">
              <a:prstTxWarp prst="textNoShape">
                <a:avLst/>
              </a:prstTxWarp>
              <a:noAutofit/>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78D4"/>
                  </a:solidFill>
                  <a:effectLst/>
                  <a:uLnTx/>
                  <a:uFillTx/>
                  <a:latin typeface="Segoe UI Semibold"/>
                  <a:ea typeface="+mn-ea"/>
                  <a:cs typeface="Segoe UI Semibold"/>
                </a:rPr>
                <a:t>Risk management</a:t>
              </a:r>
            </a:p>
          </p:txBody>
        </p:sp>
        <p:pic>
          <p:nvPicPr>
            <p:cNvPr id="429" name="Graphic 428">
              <a:extLst>
                <a:ext uri="{FF2B5EF4-FFF2-40B4-BE49-F238E27FC236}">
                  <a16:creationId xmlns:a16="http://schemas.microsoft.com/office/drawing/2014/main" id="{21875FEF-B37F-F178-96EA-94D23ADFA14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67507" y="4552645"/>
              <a:ext cx="144000" cy="141732"/>
            </a:xfrm>
            <a:prstGeom prst="rect">
              <a:avLst/>
            </a:prstGeom>
          </p:spPr>
        </p:pic>
      </p:grpSp>
      <p:pic>
        <p:nvPicPr>
          <p:cNvPr id="33" name="Picture 50">
            <a:hlinkClick r:id="rId4"/>
            <a:extLst>
              <a:ext uri="{FF2B5EF4-FFF2-40B4-BE49-F238E27FC236}">
                <a16:creationId xmlns:a16="http://schemas.microsoft.com/office/drawing/2014/main" id="{7850C551-FFA4-8B8A-8346-7EE54660A5A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72959" y="4841827"/>
            <a:ext cx="242374" cy="242374"/>
          </a:xfrm>
          <a:prstGeom prst="rect">
            <a:avLst/>
          </a:prstGeom>
          <a:noFill/>
          <a:extLst>
            <a:ext uri="{909E8E84-426E-40DD-AFC4-6F175D3DCCD1}">
              <a14:hiddenFill xmlns:a14="http://schemas.microsoft.com/office/drawing/2010/main">
                <a:solidFill>
                  <a:srgbClr val="FFFFFF"/>
                </a:solidFill>
              </a14:hiddenFill>
            </a:ext>
          </a:extLst>
        </p:spPr>
      </p:pic>
      <p:sp>
        <p:nvSpPr>
          <p:cNvPr id="35" name="TextBox 34">
            <a:extLst>
              <a:ext uri="{FF2B5EF4-FFF2-40B4-BE49-F238E27FC236}">
                <a16:creationId xmlns:a16="http://schemas.microsoft.com/office/drawing/2014/main" id="{A373B881-5A95-0091-EE2F-03C16F104285}"/>
              </a:ext>
              <a:ext uri="{C183D7F6-B498-43B3-948B-1728B52AA6E4}">
                <adec:decorative xmlns:adec="http://schemas.microsoft.com/office/drawing/2017/decorative" val="0"/>
              </a:ext>
            </a:extLst>
          </p:cNvPr>
          <p:cNvSpPr txBox="1"/>
          <p:nvPr/>
        </p:nvSpPr>
        <p:spPr>
          <a:xfrm>
            <a:off x="3562472" y="2286931"/>
            <a:ext cx="1830524" cy="1538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Semibold"/>
                <a:ea typeface="+mn-ea"/>
                <a:cs typeface="+mn-cs"/>
              </a:rPr>
              <a:t>Copilot Chat</a:t>
            </a:r>
            <a:r>
              <a:rPr kumimoji="0" lang="en-US" sz="1000" b="0" i="0" u="none" strike="noStrike" kern="1200" cap="none" spc="0" normalizeH="0" baseline="30000" noProof="0" dirty="0">
                <a:ln>
                  <a:noFill/>
                </a:ln>
                <a:solidFill>
                  <a:srgbClr val="000000"/>
                </a:solidFill>
                <a:effectLst/>
                <a:uLnTx/>
                <a:uFillTx/>
                <a:latin typeface="Segoe UI Semibold"/>
                <a:ea typeface="+mn-ea"/>
                <a:cs typeface="+mn-cs"/>
              </a:rPr>
              <a:t>1</a:t>
            </a:r>
          </a:p>
        </p:txBody>
      </p:sp>
      <p:pic>
        <p:nvPicPr>
          <p:cNvPr id="36" name="Picture 50">
            <a:hlinkClick r:id="rId4"/>
            <a:extLst>
              <a:ext uri="{FF2B5EF4-FFF2-40B4-BE49-F238E27FC236}">
                <a16:creationId xmlns:a16="http://schemas.microsoft.com/office/drawing/2014/main" id="{E5455BBA-0362-F846-DB4A-FCEE5F03CFD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82938" y="2242688"/>
            <a:ext cx="242374" cy="242374"/>
          </a:xfrm>
          <a:prstGeom prst="rect">
            <a:avLst/>
          </a:prstGeom>
          <a:noFill/>
          <a:extLst>
            <a:ext uri="{909E8E84-426E-40DD-AFC4-6F175D3DCCD1}">
              <a14:hiddenFill xmlns:a14="http://schemas.microsoft.com/office/drawing/2010/main">
                <a:solidFill>
                  <a:srgbClr val="FFFFFF"/>
                </a:solidFill>
              </a14:hiddenFill>
            </a:ext>
          </a:extLst>
        </p:spPr>
      </p:pic>
      <p:sp>
        <p:nvSpPr>
          <p:cNvPr id="38" name="TextBox 37">
            <a:extLst>
              <a:ext uri="{FF2B5EF4-FFF2-40B4-BE49-F238E27FC236}">
                <a16:creationId xmlns:a16="http://schemas.microsoft.com/office/drawing/2014/main" id="{A66DCF16-C324-4250-0CB6-5E246CA53463}"/>
              </a:ext>
              <a:ext uri="{C183D7F6-B498-43B3-948B-1728B52AA6E4}">
                <adec:decorative xmlns:adec="http://schemas.microsoft.com/office/drawing/2017/decorative" val="0"/>
              </a:ext>
            </a:extLst>
          </p:cNvPr>
          <p:cNvSpPr txBox="1"/>
          <p:nvPr/>
        </p:nvSpPr>
        <p:spPr>
          <a:xfrm>
            <a:off x="6446959" y="2286931"/>
            <a:ext cx="1830524" cy="1538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Semibold"/>
                <a:ea typeface="+mn-ea"/>
                <a:cs typeface="+mn-cs"/>
              </a:rPr>
              <a:t>Copilot Chat</a:t>
            </a:r>
            <a:r>
              <a:rPr kumimoji="0" lang="en-US" sz="1000" b="0" i="0" u="none" strike="noStrike" kern="1200" cap="none" spc="0" normalizeH="0" baseline="30000" noProof="0" dirty="0">
                <a:ln>
                  <a:noFill/>
                </a:ln>
                <a:solidFill>
                  <a:srgbClr val="000000"/>
                </a:solidFill>
                <a:effectLst/>
                <a:uLnTx/>
                <a:uFillTx/>
                <a:latin typeface="Segoe UI Semibold"/>
                <a:ea typeface="+mn-ea"/>
                <a:cs typeface="+mn-cs"/>
              </a:rPr>
              <a:t>1</a:t>
            </a:r>
          </a:p>
        </p:txBody>
      </p:sp>
      <p:pic>
        <p:nvPicPr>
          <p:cNvPr id="39" name="Picture 50">
            <a:hlinkClick r:id="rId4"/>
            <a:extLst>
              <a:ext uri="{FF2B5EF4-FFF2-40B4-BE49-F238E27FC236}">
                <a16:creationId xmlns:a16="http://schemas.microsoft.com/office/drawing/2014/main" id="{143E4D9F-F8B8-44FD-1ECE-44E4FF907B9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65343" y="2242688"/>
            <a:ext cx="242374" cy="242374"/>
          </a:xfrm>
          <a:prstGeom prst="rect">
            <a:avLst/>
          </a:prstGeom>
          <a:noFill/>
          <a:extLst>
            <a:ext uri="{909E8E84-426E-40DD-AFC4-6F175D3DCCD1}">
              <a14:hiddenFill xmlns:a14="http://schemas.microsoft.com/office/drawing/2010/main">
                <a:solidFill>
                  <a:srgbClr val="FFFFFF"/>
                </a:solidFill>
              </a14:hiddenFill>
            </a:ext>
          </a:extLst>
        </p:spPr>
      </p:pic>
      <p:sp>
        <p:nvSpPr>
          <p:cNvPr id="41" name="TextBox 40">
            <a:extLst>
              <a:ext uri="{FF2B5EF4-FFF2-40B4-BE49-F238E27FC236}">
                <a16:creationId xmlns:a16="http://schemas.microsoft.com/office/drawing/2014/main" id="{C6376949-85D0-9FB3-2C14-F1741426CE82}"/>
              </a:ext>
              <a:ext uri="{C183D7F6-B498-43B3-948B-1728B52AA6E4}">
                <adec:decorative xmlns:adec="http://schemas.microsoft.com/office/drawing/2017/decorative" val="0"/>
              </a:ext>
            </a:extLst>
          </p:cNvPr>
          <p:cNvSpPr txBox="1"/>
          <p:nvPr/>
        </p:nvSpPr>
        <p:spPr>
          <a:xfrm>
            <a:off x="9328927" y="2286931"/>
            <a:ext cx="1420949" cy="1538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Semibold"/>
                <a:ea typeface="+mn-ea"/>
                <a:cs typeface="+mn-cs"/>
              </a:rPr>
              <a:t>Copilot Chat</a:t>
            </a:r>
            <a:r>
              <a:rPr kumimoji="0" lang="en-US" sz="1000" b="0" i="0" u="none" strike="noStrike" kern="1200" cap="none" spc="0" normalizeH="0" baseline="30000" noProof="0" dirty="0">
                <a:ln>
                  <a:noFill/>
                </a:ln>
                <a:solidFill>
                  <a:srgbClr val="000000"/>
                </a:solidFill>
                <a:effectLst/>
                <a:uLnTx/>
                <a:uFillTx/>
                <a:latin typeface="Segoe UI Semibold"/>
                <a:ea typeface="+mn-ea"/>
                <a:cs typeface="+mn-cs"/>
              </a:rPr>
              <a:t>1</a:t>
            </a:r>
          </a:p>
        </p:txBody>
      </p:sp>
      <p:sp>
        <p:nvSpPr>
          <p:cNvPr id="46" name="TextBox 45">
            <a:extLst>
              <a:ext uri="{FF2B5EF4-FFF2-40B4-BE49-F238E27FC236}">
                <a16:creationId xmlns:a16="http://schemas.microsoft.com/office/drawing/2014/main" id="{ADE85B34-9D8E-F60C-1B02-79F98130B094}"/>
              </a:ext>
              <a:ext uri="{C183D7F6-B498-43B3-948B-1728B52AA6E4}">
                <adec:decorative xmlns:adec="http://schemas.microsoft.com/office/drawing/2017/decorative" val="0"/>
              </a:ext>
            </a:extLst>
          </p:cNvPr>
          <p:cNvSpPr txBox="1"/>
          <p:nvPr/>
        </p:nvSpPr>
        <p:spPr>
          <a:xfrm>
            <a:off x="3562472" y="4886070"/>
            <a:ext cx="1420949" cy="1538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Semibold"/>
                <a:ea typeface="+mn-ea"/>
                <a:cs typeface="+mn-cs"/>
              </a:rPr>
              <a:t>Copilot Chat</a:t>
            </a:r>
            <a:r>
              <a:rPr kumimoji="0" lang="en-US" sz="1000" b="0" i="0" u="none" strike="noStrike" kern="1200" cap="none" spc="0" normalizeH="0" baseline="30000" noProof="0" dirty="0">
                <a:ln>
                  <a:noFill/>
                </a:ln>
                <a:solidFill>
                  <a:srgbClr val="000000"/>
                </a:solidFill>
                <a:effectLst/>
                <a:uLnTx/>
                <a:uFillTx/>
                <a:latin typeface="Segoe UI Semibold"/>
                <a:ea typeface="+mn-ea"/>
                <a:cs typeface="+mn-cs"/>
              </a:rPr>
              <a:t>1</a:t>
            </a:r>
          </a:p>
        </p:txBody>
      </p:sp>
      <p:sp>
        <p:nvSpPr>
          <p:cNvPr id="48" name="TextBox 47">
            <a:extLst>
              <a:ext uri="{FF2B5EF4-FFF2-40B4-BE49-F238E27FC236}">
                <a16:creationId xmlns:a16="http://schemas.microsoft.com/office/drawing/2014/main" id="{670F910E-3965-691A-47AC-30D8E9FF22AF}"/>
              </a:ext>
              <a:ext uri="{C183D7F6-B498-43B3-948B-1728B52AA6E4}">
                <adec:decorative xmlns:adec="http://schemas.microsoft.com/office/drawing/2017/decorative" val="0"/>
              </a:ext>
            </a:extLst>
          </p:cNvPr>
          <p:cNvSpPr txBox="1"/>
          <p:nvPr/>
        </p:nvSpPr>
        <p:spPr>
          <a:xfrm>
            <a:off x="9328927" y="4886070"/>
            <a:ext cx="1830524" cy="1538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Semibold"/>
                <a:ea typeface="+mn-ea"/>
                <a:cs typeface="+mn-cs"/>
              </a:rPr>
              <a:t>Copilot Chat</a:t>
            </a:r>
            <a:r>
              <a:rPr kumimoji="0" lang="en-US" sz="1000" b="0" i="0" u="none" strike="noStrike" kern="1200" cap="none" spc="0" normalizeH="0" baseline="30000" noProof="0" dirty="0">
                <a:ln>
                  <a:noFill/>
                </a:ln>
                <a:solidFill>
                  <a:srgbClr val="000000"/>
                </a:solidFill>
                <a:effectLst/>
                <a:uLnTx/>
                <a:uFillTx/>
                <a:latin typeface="Segoe UI Semibold"/>
                <a:ea typeface="+mn-ea"/>
                <a:cs typeface="+mn-cs"/>
              </a:rPr>
              <a:t>1</a:t>
            </a:r>
          </a:p>
        </p:txBody>
      </p:sp>
      <p:pic>
        <p:nvPicPr>
          <p:cNvPr id="50" name="Picture 50">
            <a:hlinkClick r:id="rId4"/>
            <a:extLst>
              <a:ext uri="{FF2B5EF4-FFF2-40B4-BE49-F238E27FC236}">
                <a16:creationId xmlns:a16="http://schemas.microsoft.com/office/drawing/2014/main" id="{F9362F59-18E9-1CCA-5937-3F6F99F9513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958337" y="2242688"/>
            <a:ext cx="242374" cy="242374"/>
          </a:xfrm>
          <a:prstGeom prst="rect">
            <a:avLst/>
          </a:prstGeom>
          <a:noFill/>
          <a:extLst>
            <a:ext uri="{909E8E84-426E-40DD-AFC4-6F175D3DCCD1}">
              <a14:hiddenFill xmlns:a14="http://schemas.microsoft.com/office/drawing/2010/main">
                <a:solidFill>
                  <a:srgbClr val="FFFFFF"/>
                </a:solidFill>
              </a14:hiddenFill>
            </a:ext>
          </a:extLst>
        </p:spPr>
      </p:pic>
      <p:pic>
        <p:nvPicPr>
          <p:cNvPr id="52" name="Picture 51">
            <a:hlinkClick r:id="rId4"/>
            <a:extLst>
              <a:ext uri="{FF2B5EF4-FFF2-40B4-BE49-F238E27FC236}">
                <a16:creationId xmlns:a16="http://schemas.microsoft.com/office/drawing/2014/main" id="{96D95E8B-2593-04D6-4727-3189C3B49D4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958337" y="4841827"/>
            <a:ext cx="242374" cy="242374"/>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2868F1BA-0924-B4D3-C2D5-0ECF0DD973D5}"/>
              </a:ext>
              <a:ext uri="{C183D7F6-B498-43B3-948B-1728B52AA6E4}">
                <adec:decorative xmlns:adec="http://schemas.microsoft.com/office/drawing/2017/decorative" val="0"/>
              </a:ext>
            </a:extLst>
          </p:cNvPr>
          <p:cNvSpPr txBox="1"/>
          <p:nvPr/>
        </p:nvSpPr>
        <p:spPr>
          <a:xfrm>
            <a:off x="6461135" y="4886070"/>
            <a:ext cx="1704670" cy="1538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Semibold"/>
                <a:ea typeface="+mn-ea"/>
                <a:cs typeface="+mn-cs"/>
              </a:rPr>
              <a:t>Copilot Chat in PowerPoint</a:t>
            </a:r>
            <a:endParaRPr kumimoji="0" lang="en-US" sz="1000" b="0" i="0" u="none" strike="noStrike" kern="1200" cap="none" spc="0" normalizeH="0" baseline="30000" noProof="0" dirty="0">
              <a:ln>
                <a:noFill/>
              </a:ln>
              <a:solidFill>
                <a:srgbClr val="000000"/>
              </a:solidFill>
              <a:effectLst/>
              <a:uLnTx/>
              <a:uFillTx/>
              <a:latin typeface="Segoe UI Semibold"/>
              <a:ea typeface="+mn-ea"/>
              <a:cs typeface="+mn-cs"/>
            </a:endParaRPr>
          </a:p>
        </p:txBody>
      </p:sp>
      <p:pic>
        <p:nvPicPr>
          <p:cNvPr id="4" name="Picture 3" descr="PowerPoint logo">
            <a:extLst>
              <a:ext uri="{FF2B5EF4-FFF2-40B4-BE49-F238E27FC236}">
                <a16:creationId xmlns:a16="http://schemas.microsoft.com/office/drawing/2014/main" id="{B2452D11-27C5-47CF-0F78-8319CCC0913D}"/>
              </a:ext>
            </a:extLst>
          </p:cNvPr>
          <p:cNvPicPr>
            <a:picLocks noChangeAspect="1"/>
          </p:cNvPicPr>
          <p:nvPr/>
        </p:nvPicPr>
        <p:blipFill>
          <a:blip r:embed="rId6"/>
          <a:stretch>
            <a:fillRect/>
          </a:stretch>
        </p:blipFill>
        <p:spPr>
          <a:xfrm>
            <a:off x="6067743" y="4830426"/>
            <a:ext cx="265176" cy="265176"/>
          </a:xfrm>
          <a:prstGeom prst="rect">
            <a:avLst/>
          </a:prstGeom>
        </p:spPr>
      </p:pic>
    </p:spTree>
    <p:extLst>
      <p:ext uri="{BB962C8B-B14F-4D97-AF65-F5344CB8AC3E}">
        <p14:creationId xmlns:p14="http://schemas.microsoft.com/office/powerpoint/2010/main" val="3126027656"/>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ACE19F-662F-1A4F-8DA3-7BCF858F4CB8}"/>
            </a:ext>
          </a:extLst>
        </p:cNvPr>
        <p:cNvGrpSpPr/>
        <p:nvPr/>
      </p:nvGrpSpPr>
      <p:grpSpPr>
        <a:xfrm>
          <a:off x="0" y="0"/>
          <a:ext cx="0" cy="0"/>
          <a:chOff x="0" y="0"/>
          <a:chExt cx="0" cy="0"/>
        </a:xfrm>
      </p:grpSpPr>
      <p:sp>
        <p:nvSpPr>
          <p:cNvPr id="27" name="Text Placeholder 26">
            <a:extLst>
              <a:ext uri="{FF2B5EF4-FFF2-40B4-BE49-F238E27FC236}">
                <a16:creationId xmlns:a16="http://schemas.microsoft.com/office/drawing/2014/main" id="{749EAC26-A1C3-907C-7105-CA8CCB118A29}"/>
              </a:ext>
            </a:extLst>
          </p:cNvPr>
          <p:cNvSpPr>
            <a:spLocks noGrp="1"/>
          </p:cNvSpPr>
          <p:nvPr>
            <p:ph type="body" sz="quarter" idx="32"/>
          </p:nvPr>
        </p:nvSpPr>
        <p:spPr>
          <a:xfrm>
            <a:off x="311388" y="1026303"/>
            <a:ext cx="1920240" cy="1131079"/>
          </a:xfrm>
        </p:spPr>
        <p:txBody>
          <a:bodyPr/>
          <a:lstStyle/>
          <a:p>
            <a:r>
              <a:rPr lang="en-US" noProof="0" dirty="0"/>
              <a:t>Copilot for Finance is specifically designed to help with financial reconciliations even producing a detailed report.</a:t>
            </a:r>
          </a:p>
        </p:txBody>
      </p:sp>
      <p:sp>
        <p:nvSpPr>
          <p:cNvPr id="164" name="Text Placeholder 163">
            <a:extLst>
              <a:ext uri="{FF2B5EF4-FFF2-40B4-BE49-F238E27FC236}">
                <a16:creationId xmlns:a16="http://schemas.microsoft.com/office/drawing/2014/main" id="{8903FC6B-32BF-9162-F49B-C44C59B5AD92}"/>
              </a:ext>
            </a:extLst>
          </p:cNvPr>
          <p:cNvSpPr>
            <a:spLocks noGrp="1"/>
          </p:cNvSpPr>
          <p:nvPr>
            <p:ph type="body" sz="quarter" idx="33"/>
          </p:nvPr>
        </p:nvSpPr>
        <p:spPr>
          <a:xfrm>
            <a:off x="304796" y="413987"/>
            <a:ext cx="2057403" cy="307777"/>
          </a:xfrm>
        </p:spPr>
        <p:txBody>
          <a:bodyPr/>
          <a:lstStyle/>
          <a:p>
            <a:r>
              <a:rPr lang="en-US" noProof="0" dirty="0"/>
              <a:t>Finance</a:t>
            </a:r>
          </a:p>
        </p:txBody>
      </p:sp>
      <p:sp>
        <p:nvSpPr>
          <p:cNvPr id="346" name="Text Placeholder 345">
            <a:extLst>
              <a:ext uri="{FF2B5EF4-FFF2-40B4-BE49-F238E27FC236}">
                <a16:creationId xmlns:a16="http://schemas.microsoft.com/office/drawing/2014/main" id="{79F7EDDD-CBA7-A44E-3E17-D3713AD7522D}"/>
              </a:ext>
            </a:extLst>
          </p:cNvPr>
          <p:cNvSpPr>
            <a:spLocks noGrp="1"/>
          </p:cNvSpPr>
          <p:nvPr>
            <p:ph type="body" sz="quarter" idx="30"/>
          </p:nvPr>
        </p:nvSpPr>
        <p:spPr>
          <a:xfrm>
            <a:off x="10430351" y="521099"/>
            <a:ext cx="1456966" cy="175614"/>
          </a:xfrm>
        </p:spPr>
        <p:txBody>
          <a:bodyPr/>
          <a:lstStyle/>
          <a:p>
            <a:r>
              <a:rPr lang="en-US" noProof="0" dirty="0"/>
              <a:t>Extend</a:t>
            </a:r>
          </a:p>
        </p:txBody>
      </p:sp>
      <p:sp>
        <p:nvSpPr>
          <p:cNvPr id="344" name="Text Placeholder 343">
            <a:extLst>
              <a:ext uri="{FF2B5EF4-FFF2-40B4-BE49-F238E27FC236}">
                <a16:creationId xmlns:a16="http://schemas.microsoft.com/office/drawing/2014/main" id="{54D152D5-CFBE-E2AD-BE03-CD86C5572081}"/>
              </a:ext>
            </a:extLst>
          </p:cNvPr>
          <p:cNvSpPr>
            <a:spLocks noGrp="1"/>
          </p:cNvSpPr>
          <p:nvPr>
            <p:ph type="body" sz="quarter" idx="17"/>
          </p:nvPr>
        </p:nvSpPr>
        <p:spPr>
          <a:xfrm>
            <a:off x="8127999" y="521100"/>
            <a:ext cx="1991045" cy="338554"/>
          </a:xfrm>
        </p:spPr>
        <p:txBody>
          <a:bodyPr/>
          <a:lstStyle/>
          <a:p>
            <a:r>
              <a:rPr lang="en-US" noProof="0" dirty="0"/>
              <a:t>Microsoft 365 Copilot and Copilot Studio</a:t>
            </a:r>
          </a:p>
        </p:txBody>
      </p:sp>
      <p:sp>
        <p:nvSpPr>
          <p:cNvPr id="83" name="Title 82">
            <a:extLst>
              <a:ext uri="{FF2B5EF4-FFF2-40B4-BE49-F238E27FC236}">
                <a16:creationId xmlns:a16="http://schemas.microsoft.com/office/drawing/2014/main" id="{B2771B0F-C2C1-9172-F993-ACAB92A0A52A}"/>
              </a:ext>
            </a:extLst>
          </p:cNvPr>
          <p:cNvSpPr>
            <a:spLocks noGrp="1"/>
          </p:cNvSpPr>
          <p:nvPr>
            <p:ph type="title"/>
          </p:nvPr>
        </p:nvSpPr>
        <p:spPr>
          <a:xfrm>
            <a:off x="2492375" y="290534"/>
            <a:ext cx="4144963" cy="553998"/>
          </a:xfrm>
        </p:spPr>
        <p:txBody>
          <a:bodyPr/>
          <a:lstStyle/>
          <a:p>
            <a:r>
              <a:rPr lang="en-US" noProof="0" dirty="0"/>
              <a:t>Reconcile financial data to accelerate </a:t>
            </a:r>
            <a:br>
              <a:rPr lang="en-US" noProof="0" dirty="0"/>
            </a:br>
            <a:r>
              <a:rPr lang="en-US" noProof="0" dirty="0"/>
              <a:t>period closing​</a:t>
            </a:r>
          </a:p>
        </p:txBody>
      </p:sp>
      <p:sp>
        <p:nvSpPr>
          <p:cNvPr id="358" name="Text Placeholder 357">
            <a:extLst>
              <a:ext uri="{FF2B5EF4-FFF2-40B4-BE49-F238E27FC236}">
                <a16:creationId xmlns:a16="http://schemas.microsoft.com/office/drawing/2014/main" id="{206A1475-AA63-1507-A32C-D0E6618F2742}"/>
              </a:ext>
            </a:extLst>
          </p:cNvPr>
          <p:cNvSpPr>
            <a:spLocks noGrp="1"/>
          </p:cNvSpPr>
          <p:nvPr>
            <p:ph type="body" sz="quarter" idx="69"/>
          </p:nvPr>
        </p:nvSpPr>
        <p:spPr>
          <a:xfrm>
            <a:off x="3182890" y="2725494"/>
            <a:ext cx="2572262" cy="712876"/>
          </a:xfrm>
        </p:spPr>
        <p:txBody>
          <a:bodyPr/>
          <a:lstStyle/>
          <a:p>
            <a:r>
              <a:rPr lang="en-US" noProof="0" dirty="0"/>
              <a:t>Example prompt: Suggest formulas to standardize the data formatting, including removing trailing spaces and correcting capitalization.​</a:t>
            </a:r>
          </a:p>
        </p:txBody>
      </p:sp>
      <p:sp>
        <p:nvSpPr>
          <p:cNvPr id="316" name="Text Placeholder 315">
            <a:extLst>
              <a:ext uri="{FF2B5EF4-FFF2-40B4-BE49-F238E27FC236}">
                <a16:creationId xmlns:a16="http://schemas.microsoft.com/office/drawing/2014/main" id="{70EA0732-E9CB-F365-08E5-54BAE833437C}"/>
              </a:ext>
            </a:extLst>
          </p:cNvPr>
          <p:cNvSpPr>
            <a:spLocks noGrp="1"/>
          </p:cNvSpPr>
          <p:nvPr>
            <p:ph type="body" sz="quarter" idx="11"/>
          </p:nvPr>
        </p:nvSpPr>
        <p:spPr>
          <a:xfrm>
            <a:off x="3182890" y="1112478"/>
            <a:ext cx="2572262" cy="153888"/>
          </a:xfrm>
        </p:spPr>
        <p:txBody>
          <a:bodyPr/>
          <a:lstStyle/>
          <a:p>
            <a:r>
              <a:rPr lang="en-US" noProof="0" dirty="0"/>
              <a:t>Generate formulas to clean data​</a:t>
            </a:r>
          </a:p>
        </p:txBody>
      </p:sp>
      <p:sp>
        <p:nvSpPr>
          <p:cNvPr id="345" name="Text Placeholder 344">
            <a:extLst>
              <a:ext uri="{FF2B5EF4-FFF2-40B4-BE49-F238E27FC236}">
                <a16:creationId xmlns:a16="http://schemas.microsoft.com/office/drawing/2014/main" id="{1264B8BD-D687-4AED-5694-3B7C81C636D0}"/>
              </a:ext>
            </a:extLst>
          </p:cNvPr>
          <p:cNvSpPr>
            <a:spLocks noGrp="1"/>
          </p:cNvSpPr>
          <p:nvPr>
            <p:ph type="body" sz="quarter" idx="18"/>
          </p:nvPr>
        </p:nvSpPr>
        <p:spPr>
          <a:xfrm>
            <a:off x="3182890" y="1438715"/>
            <a:ext cx="2572262" cy="626701"/>
          </a:xfrm>
        </p:spPr>
        <p:txBody>
          <a:bodyPr/>
          <a:lstStyle/>
          <a:p>
            <a:r>
              <a:rPr lang="en-US" noProof="0" dirty="0"/>
              <a:t>Aggregate sales invoice and payment data into an Excel spreadsheet, then use Copilot for guidance on how to standardize the data formatting.​</a:t>
            </a:r>
          </a:p>
        </p:txBody>
      </p:sp>
      <p:sp>
        <p:nvSpPr>
          <p:cNvPr id="322" name="Text Placeholder 321">
            <a:extLst>
              <a:ext uri="{FF2B5EF4-FFF2-40B4-BE49-F238E27FC236}">
                <a16:creationId xmlns:a16="http://schemas.microsoft.com/office/drawing/2014/main" id="{5128013D-B1A4-467D-5820-6893455AC094}"/>
              </a:ext>
            </a:extLst>
          </p:cNvPr>
          <p:cNvSpPr>
            <a:spLocks noGrp="1"/>
          </p:cNvSpPr>
          <p:nvPr>
            <p:ph type="body" sz="quarter" idx="42"/>
          </p:nvPr>
        </p:nvSpPr>
        <p:spPr>
          <a:xfrm>
            <a:off x="6066682" y="1112478"/>
            <a:ext cx="2572262" cy="153888"/>
          </a:xfrm>
        </p:spPr>
        <p:txBody>
          <a:bodyPr/>
          <a:lstStyle/>
          <a:p>
            <a:r>
              <a:rPr lang="en-US" noProof="0" dirty="0"/>
              <a:t>Reconcile accounts​</a:t>
            </a:r>
          </a:p>
        </p:txBody>
      </p:sp>
      <p:sp>
        <p:nvSpPr>
          <p:cNvPr id="349" name="Text Placeholder 348">
            <a:extLst>
              <a:ext uri="{FF2B5EF4-FFF2-40B4-BE49-F238E27FC236}">
                <a16:creationId xmlns:a16="http://schemas.microsoft.com/office/drawing/2014/main" id="{5083142B-37E2-E34B-F1D6-A69A2E8FB893}"/>
              </a:ext>
            </a:extLst>
          </p:cNvPr>
          <p:cNvSpPr>
            <a:spLocks noGrp="1"/>
          </p:cNvSpPr>
          <p:nvPr>
            <p:ph type="body" sz="quarter" idx="43"/>
          </p:nvPr>
        </p:nvSpPr>
        <p:spPr>
          <a:xfrm>
            <a:off x="6066682" y="1438715"/>
            <a:ext cx="2572262" cy="626701"/>
          </a:xfrm>
        </p:spPr>
        <p:txBody>
          <a:bodyPr/>
          <a:lstStyle/>
          <a:p>
            <a:r>
              <a:rPr lang="en-US" noProof="0" dirty="0"/>
              <a:t>Use Copilot for Finance in Excel to streamline the reconciliation of accounts across customers and suppliers.​</a:t>
            </a:r>
          </a:p>
        </p:txBody>
      </p:sp>
      <p:sp>
        <p:nvSpPr>
          <p:cNvPr id="352" name="Text Placeholder 351">
            <a:extLst>
              <a:ext uri="{FF2B5EF4-FFF2-40B4-BE49-F238E27FC236}">
                <a16:creationId xmlns:a16="http://schemas.microsoft.com/office/drawing/2014/main" id="{971B224B-2E1E-67FE-5218-DB8989E27053}"/>
              </a:ext>
            </a:extLst>
          </p:cNvPr>
          <p:cNvSpPr>
            <a:spLocks noGrp="1"/>
          </p:cNvSpPr>
          <p:nvPr>
            <p:ph type="body" sz="quarter" idx="68"/>
          </p:nvPr>
        </p:nvSpPr>
        <p:spPr>
          <a:xfrm>
            <a:off x="8950475" y="2725494"/>
            <a:ext cx="2572262" cy="712876"/>
          </a:xfrm>
        </p:spPr>
        <p:txBody>
          <a:bodyPr/>
          <a:lstStyle/>
          <a:p>
            <a:r>
              <a:rPr lang="en-US" noProof="0" dirty="0"/>
              <a:t>Example prompt: What are my top 3 product categories, by revenue, over the last 3 years?​</a:t>
            </a:r>
          </a:p>
        </p:txBody>
      </p:sp>
      <p:sp>
        <p:nvSpPr>
          <p:cNvPr id="325" name="Text Placeholder 324">
            <a:extLst>
              <a:ext uri="{FF2B5EF4-FFF2-40B4-BE49-F238E27FC236}">
                <a16:creationId xmlns:a16="http://schemas.microsoft.com/office/drawing/2014/main" id="{697888A4-0377-D8CE-A738-2361E6FCF1C3}"/>
              </a:ext>
            </a:extLst>
          </p:cNvPr>
          <p:cNvSpPr>
            <a:spLocks noGrp="1"/>
          </p:cNvSpPr>
          <p:nvPr>
            <p:ph type="body" sz="quarter" idx="45"/>
          </p:nvPr>
        </p:nvSpPr>
        <p:spPr>
          <a:xfrm>
            <a:off x="8950475" y="1112478"/>
            <a:ext cx="2572262" cy="153888"/>
          </a:xfrm>
        </p:spPr>
        <p:txBody>
          <a:bodyPr/>
          <a:lstStyle/>
          <a:p>
            <a:r>
              <a:rPr lang="en-US" noProof="0" dirty="0"/>
              <a:t>Review discrepancies​</a:t>
            </a:r>
          </a:p>
        </p:txBody>
      </p:sp>
      <p:sp>
        <p:nvSpPr>
          <p:cNvPr id="351" name="Text Placeholder 350">
            <a:extLst>
              <a:ext uri="{FF2B5EF4-FFF2-40B4-BE49-F238E27FC236}">
                <a16:creationId xmlns:a16="http://schemas.microsoft.com/office/drawing/2014/main" id="{568631E0-79AF-5DBD-C889-0FD8B6A95AA9}"/>
              </a:ext>
            </a:extLst>
          </p:cNvPr>
          <p:cNvSpPr>
            <a:spLocks noGrp="1"/>
          </p:cNvSpPr>
          <p:nvPr>
            <p:ph type="body" sz="quarter" idx="46"/>
          </p:nvPr>
        </p:nvSpPr>
        <p:spPr>
          <a:xfrm>
            <a:off x="8950475" y="1438715"/>
            <a:ext cx="2572262" cy="626701"/>
          </a:xfrm>
        </p:spPr>
        <p:txBody>
          <a:bodyPr/>
          <a:lstStyle/>
          <a:p>
            <a:r>
              <a:rPr lang="en-US" noProof="0" dirty="0"/>
              <a:t>Review the Reconciliation Report transactions for any discrepancies.​</a:t>
            </a:r>
          </a:p>
        </p:txBody>
      </p:sp>
      <p:sp>
        <p:nvSpPr>
          <p:cNvPr id="361" name="Text Placeholder 360">
            <a:extLst>
              <a:ext uri="{FF2B5EF4-FFF2-40B4-BE49-F238E27FC236}">
                <a16:creationId xmlns:a16="http://schemas.microsoft.com/office/drawing/2014/main" id="{2771A21B-3950-67D8-1B24-4975C5814E63}"/>
              </a:ext>
            </a:extLst>
          </p:cNvPr>
          <p:cNvSpPr>
            <a:spLocks noGrp="1"/>
          </p:cNvSpPr>
          <p:nvPr>
            <p:ph type="body" sz="quarter" idx="70"/>
          </p:nvPr>
        </p:nvSpPr>
        <p:spPr>
          <a:xfrm>
            <a:off x="6066682" y="2725494"/>
            <a:ext cx="2572262" cy="712876"/>
          </a:xfrm>
        </p:spPr>
        <p:txBody>
          <a:bodyPr/>
          <a:lstStyle/>
          <a:p>
            <a:r>
              <a:rPr lang="en-US" noProof="0" dirty="0"/>
              <a:t>Action: Open Copilot for Finance in Excel and select Reconcile data. Define the reconciliation vectors.</a:t>
            </a:r>
          </a:p>
        </p:txBody>
      </p:sp>
      <p:sp>
        <p:nvSpPr>
          <p:cNvPr id="353" name="Text Placeholder 352">
            <a:extLst>
              <a:ext uri="{FF2B5EF4-FFF2-40B4-BE49-F238E27FC236}">
                <a16:creationId xmlns:a16="http://schemas.microsoft.com/office/drawing/2014/main" id="{4D411E0A-73C0-B741-CA81-E1778E3BC807}"/>
              </a:ext>
            </a:extLst>
          </p:cNvPr>
          <p:cNvSpPr>
            <a:spLocks noGrp="1"/>
          </p:cNvSpPr>
          <p:nvPr>
            <p:ph type="body" sz="quarter" idx="48"/>
          </p:nvPr>
        </p:nvSpPr>
        <p:spPr>
          <a:xfrm>
            <a:off x="3182890" y="5334522"/>
            <a:ext cx="2572262" cy="712876"/>
          </a:xfrm>
        </p:spPr>
        <p:txBody>
          <a:bodyPr/>
          <a:lstStyle/>
          <a:p>
            <a:r>
              <a:rPr lang="en-US" noProof="0" dirty="0"/>
              <a:t>Action: Open the configuration pan for the Microsoft Teams channel, select Open copilot, then add the custom agent as an app in Teams. Share the agent via a link with team members.</a:t>
            </a:r>
          </a:p>
        </p:txBody>
      </p:sp>
      <p:sp>
        <p:nvSpPr>
          <p:cNvPr id="354" name="Text Placeholder 353">
            <a:extLst>
              <a:ext uri="{FF2B5EF4-FFF2-40B4-BE49-F238E27FC236}">
                <a16:creationId xmlns:a16="http://schemas.microsoft.com/office/drawing/2014/main" id="{257B63E6-4F31-B2DE-3CB5-5E4E82802DBC}"/>
              </a:ext>
            </a:extLst>
          </p:cNvPr>
          <p:cNvSpPr>
            <a:spLocks noGrp="1"/>
          </p:cNvSpPr>
          <p:nvPr>
            <p:ph type="body" sz="quarter" idx="49"/>
          </p:nvPr>
        </p:nvSpPr>
        <p:spPr>
          <a:xfrm>
            <a:off x="3182890" y="3725103"/>
            <a:ext cx="2572262" cy="153888"/>
          </a:xfrm>
        </p:spPr>
        <p:txBody>
          <a:bodyPr/>
          <a:lstStyle/>
          <a:p>
            <a:r>
              <a:rPr lang="en-US" noProof="0" dirty="0"/>
              <a:t>Share with the team​</a:t>
            </a:r>
          </a:p>
        </p:txBody>
      </p:sp>
      <p:sp>
        <p:nvSpPr>
          <p:cNvPr id="355" name="Text Placeholder 354">
            <a:extLst>
              <a:ext uri="{FF2B5EF4-FFF2-40B4-BE49-F238E27FC236}">
                <a16:creationId xmlns:a16="http://schemas.microsoft.com/office/drawing/2014/main" id="{AD5A3B8E-D4BB-0418-F9E2-DE3B90F3934B}"/>
              </a:ext>
            </a:extLst>
          </p:cNvPr>
          <p:cNvSpPr>
            <a:spLocks noGrp="1"/>
          </p:cNvSpPr>
          <p:nvPr>
            <p:ph type="body" sz="quarter" idx="50"/>
          </p:nvPr>
        </p:nvSpPr>
        <p:spPr>
          <a:xfrm>
            <a:off x="3182890" y="4050957"/>
            <a:ext cx="2572262" cy="626701"/>
          </a:xfrm>
        </p:spPr>
        <p:txBody>
          <a:bodyPr/>
          <a:lstStyle/>
          <a:p>
            <a:r>
              <a:rPr lang="en-US" noProof="0" dirty="0"/>
              <a:t>Share the custom copilot in Teams so team members can ask the agent questions about the report.</a:t>
            </a:r>
          </a:p>
        </p:txBody>
      </p:sp>
      <p:sp>
        <p:nvSpPr>
          <p:cNvPr id="356" name="Text Placeholder 355">
            <a:extLst>
              <a:ext uri="{FF2B5EF4-FFF2-40B4-BE49-F238E27FC236}">
                <a16:creationId xmlns:a16="http://schemas.microsoft.com/office/drawing/2014/main" id="{D5450459-45F2-14BD-DCDC-ECA5E144F00C}"/>
              </a:ext>
            </a:extLst>
          </p:cNvPr>
          <p:cNvSpPr>
            <a:spLocks noGrp="1"/>
          </p:cNvSpPr>
          <p:nvPr>
            <p:ph type="body" sz="quarter" idx="51"/>
          </p:nvPr>
        </p:nvSpPr>
        <p:spPr>
          <a:xfrm>
            <a:off x="6066682" y="3725103"/>
            <a:ext cx="2572262" cy="153888"/>
          </a:xfrm>
        </p:spPr>
        <p:txBody>
          <a:bodyPr/>
          <a:lstStyle/>
          <a:p>
            <a:r>
              <a:rPr lang="en-US" noProof="0" dirty="0"/>
              <a:t>Create knowledge agent​</a:t>
            </a:r>
          </a:p>
        </p:txBody>
      </p:sp>
      <p:sp>
        <p:nvSpPr>
          <p:cNvPr id="357" name="Text Placeholder 356">
            <a:extLst>
              <a:ext uri="{FF2B5EF4-FFF2-40B4-BE49-F238E27FC236}">
                <a16:creationId xmlns:a16="http://schemas.microsoft.com/office/drawing/2014/main" id="{DF29220C-B481-082E-73CF-E0B204743E07}"/>
              </a:ext>
            </a:extLst>
          </p:cNvPr>
          <p:cNvSpPr>
            <a:spLocks noGrp="1"/>
          </p:cNvSpPr>
          <p:nvPr>
            <p:ph type="body" sz="quarter" idx="52"/>
          </p:nvPr>
        </p:nvSpPr>
        <p:spPr>
          <a:xfrm>
            <a:off x="6066682" y="4050957"/>
            <a:ext cx="2572262" cy="626701"/>
          </a:xfrm>
        </p:spPr>
        <p:txBody>
          <a:bodyPr/>
          <a:lstStyle/>
          <a:p>
            <a:r>
              <a:rPr lang="en-US" noProof="0" dirty="0"/>
              <a:t>Create a custom AI agent based on the reconciliation reports and financial statements for the period closing so that you can query to understand any discrepancies based on the latest status reports.​</a:t>
            </a:r>
          </a:p>
        </p:txBody>
      </p:sp>
      <p:sp>
        <p:nvSpPr>
          <p:cNvPr id="348" name="Text Placeholder 347">
            <a:extLst>
              <a:ext uri="{FF2B5EF4-FFF2-40B4-BE49-F238E27FC236}">
                <a16:creationId xmlns:a16="http://schemas.microsoft.com/office/drawing/2014/main" id="{B1D93D3A-375D-4050-2C6E-39995BB673D2}"/>
              </a:ext>
            </a:extLst>
          </p:cNvPr>
          <p:cNvSpPr>
            <a:spLocks noGrp="1"/>
          </p:cNvSpPr>
          <p:nvPr>
            <p:ph type="body" sz="quarter" idx="66"/>
          </p:nvPr>
        </p:nvSpPr>
        <p:spPr>
          <a:xfrm>
            <a:off x="8950475" y="5334522"/>
            <a:ext cx="2572262" cy="712876"/>
          </a:xfrm>
        </p:spPr>
        <p:txBody>
          <a:bodyPr/>
          <a:lstStyle/>
          <a:p>
            <a:r>
              <a:rPr lang="en-US" noProof="0" dirty="0"/>
              <a:t>Action: Select Include the summary in the report and click Save as PDF to save a downloadable version of the report summary. ​</a:t>
            </a:r>
          </a:p>
        </p:txBody>
      </p:sp>
      <p:sp>
        <p:nvSpPr>
          <p:cNvPr id="359" name="Text Placeholder 358">
            <a:extLst>
              <a:ext uri="{FF2B5EF4-FFF2-40B4-BE49-F238E27FC236}">
                <a16:creationId xmlns:a16="http://schemas.microsoft.com/office/drawing/2014/main" id="{94F5B1D7-E3EF-8DEC-4210-CE384A83CFB1}"/>
              </a:ext>
            </a:extLst>
          </p:cNvPr>
          <p:cNvSpPr>
            <a:spLocks noGrp="1"/>
          </p:cNvSpPr>
          <p:nvPr>
            <p:ph type="body" sz="quarter" idx="54"/>
          </p:nvPr>
        </p:nvSpPr>
        <p:spPr>
          <a:xfrm>
            <a:off x="8950475" y="3725103"/>
            <a:ext cx="2572262" cy="153888"/>
          </a:xfrm>
        </p:spPr>
        <p:txBody>
          <a:bodyPr/>
          <a:lstStyle/>
          <a:p>
            <a:r>
              <a:rPr lang="en-US" noProof="0" dirty="0"/>
              <a:t>Generate report​</a:t>
            </a:r>
          </a:p>
        </p:txBody>
      </p:sp>
      <p:sp>
        <p:nvSpPr>
          <p:cNvPr id="360" name="Text Placeholder 359">
            <a:extLst>
              <a:ext uri="{FF2B5EF4-FFF2-40B4-BE49-F238E27FC236}">
                <a16:creationId xmlns:a16="http://schemas.microsoft.com/office/drawing/2014/main" id="{6B2D34E7-5EE7-E4A3-11BD-4C5F2230B60A}"/>
              </a:ext>
            </a:extLst>
          </p:cNvPr>
          <p:cNvSpPr>
            <a:spLocks noGrp="1"/>
          </p:cNvSpPr>
          <p:nvPr>
            <p:ph type="body" sz="quarter" idx="55"/>
          </p:nvPr>
        </p:nvSpPr>
        <p:spPr>
          <a:xfrm>
            <a:off x="8950475" y="4050957"/>
            <a:ext cx="2572262" cy="626701"/>
          </a:xfrm>
        </p:spPr>
        <p:txBody>
          <a:bodyPr/>
          <a:lstStyle/>
          <a:p>
            <a:r>
              <a:rPr lang="en-US" noProof="0" dirty="0"/>
              <a:t>Copilot in Finance in Excel analyzes the reconciliation results and provides insights and suggestions for addressing inconsistencies in the report summary.​</a:t>
            </a:r>
          </a:p>
        </p:txBody>
      </p:sp>
      <p:sp>
        <p:nvSpPr>
          <p:cNvPr id="350" name="Text Placeholder 349">
            <a:extLst>
              <a:ext uri="{FF2B5EF4-FFF2-40B4-BE49-F238E27FC236}">
                <a16:creationId xmlns:a16="http://schemas.microsoft.com/office/drawing/2014/main" id="{A68237B2-2E47-706A-5230-467788C11DB5}"/>
              </a:ext>
            </a:extLst>
          </p:cNvPr>
          <p:cNvSpPr>
            <a:spLocks noGrp="1"/>
          </p:cNvSpPr>
          <p:nvPr>
            <p:ph type="body" sz="quarter" idx="67"/>
          </p:nvPr>
        </p:nvSpPr>
        <p:spPr>
          <a:xfrm>
            <a:off x="6066682" y="5334522"/>
            <a:ext cx="2572262" cy="712876"/>
          </a:xfrm>
        </p:spPr>
        <p:txBody>
          <a:bodyPr/>
          <a:lstStyle/>
          <a:p>
            <a:r>
              <a:rPr lang="en-US" noProof="0" dirty="0"/>
              <a:t>From Copilot Studio, create a new Copilot. Under the knowledge section, add the reconciliation report PDF from SharePoint.​</a:t>
            </a:r>
          </a:p>
        </p:txBody>
      </p:sp>
      <p:sp>
        <p:nvSpPr>
          <p:cNvPr id="256" name="Text Placeholder 255">
            <a:extLst>
              <a:ext uri="{FF2B5EF4-FFF2-40B4-BE49-F238E27FC236}">
                <a16:creationId xmlns:a16="http://schemas.microsoft.com/office/drawing/2014/main" id="{B6A8F840-A3CD-AE85-277B-EFFEE27955D0}"/>
              </a:ext>
            </a:extLst>
          </p:cNvPr>
          <p:cNvSpPr>
            <a:spLocks noGrp="1"/>
          </p:cNvSpPr>
          <p:nvPr>
            <p:ph type="body" sz="quarter" idx="64"/>
          </p:nvPr>
        </p:nvSpPr>
        <p:spPr>
          <a:xfrm>
            <a:off x="320721" y="4709762"/>
            <a:ext cx="1131651" cy="219456"/>
          </a:xfrm>
        </p:spPr>
        <p:txBody>
          <a:bodyPr/>
          <a:lstStyle/>
          <a:p>
            <a:r>
              <a:rPr lang="en-US" noProof="0" dirty="0"/>
              <a:t>Value benefit</a:t>
            </a:r>
          </a:p>
        </p:txBody>
      </p:sp>
      <p:sp>
        <p:nvSpPr>
          <p:cNvPr id="257" name="Text Placeholder 256">
            <a:extLst>
              <a:ext uri="{FF2B5EF4-FFF2-40B4-BE49-F238E27FC236}">
                <a16:creationId xmlns:a16="http://schemas.microsoft.com/office/drawing/2014/main" id="{5FB88D1C-9AF1-6559-0C61-7C83884314EB}"/>
              </a:ext>
            </a:extLst>
          </p:cNvPr>
          <p:cNvSpPr>
            <a:spLocks noGrp="1"/>
          </p:cNvSpPr>
          <p:nvPr>
            <p:ph type="body" sz="quarter" idx="65"/>
          </p:nvPr>
        </p:nvSpPr>
        <p:spPr>
          <a:xfrm>
            <a:off x="320721" y="3467940"/>
            <a:ext cx="1131650" cy="219456"/>
          </a:xfrm>
        </p:spPr>
        <p:txBody>
          <a:bodyPr/>
          <a:lstStyle/>
          <a:p>
            <a:r>
              <a:rPr lang="en-US" noProof="0" dirty="0"/>
              <a:t>KPIs impacted</a:t>
            </a:r>
          </a:p>
        </p:txBody>
      </p:sp>
      <p:sp>
        <p:nvSpPr>
          <p:cNvPr id="258" name="Graphic 2">
            <a:hlinkClick r:id="rId3"/>
            <a:extLst>
              <a:ext uri="{FF2B5EF4-FFF2-40B4-BE49-F238E27FC236}">
                <a16:creationId xmlns:a16="http://schemas.microsoft.com/office/drawing/2014/main" id="{17AF4103-F720-D6E0-67C7-87AD8DB6A3C6}"/>
              </a:ext>
            </a:extLst>
          </p:cNvPr>
          <p:cNvSpPr>
            <a:spLocks/>
          </p:cNvSpPr>
          <p:nvPr/>
        </p:nvSpPr>
        <p:spPr>
          <a:xfrm>
            <a:off x="6304100" y="424490"/>
            <a:ext cx="321844" cy="286083"/>
          </a:xfrm>
          <a:custGeom>
            <a:avLst/>
            <a:gdLst>
              <a:gd name="connsiteX0" fmla="*/ 41203 w 228200"/>
              <a:gd name="connsiteY0" fmla="*/ 0 h 202844"/>
              <a:gd name="connsiteX1" fmla="*/ 186997 w 228200"/>
              <a:gd name="connsiteY1" fmla="*/ 0 h 202844"/>
              <a:gd name="connsiteX2" fmla="*/ 228137 w 228200"/>
              <a:gd name="connsiteY2" fmla="*/ 38870 h 202844"/>
              <a:gd name="connsiteX3" fmla="*/ 228200 w 228200"/>
              <a:gd name="connsiteY3" fmla="*/ 41203 h 202844"/>
              <a:gd name="connsiteX4" fmla="*/ 228200 w 228200"/>
              <a:gd name="connsiteY4" fmla="*/ 161642 h 202844"/>
              <a:gd name="connsiteX5" fmla="*/ 189330 w 228200"/>
              <a:gd name="connsiteY5" fmla="*/ 202781 h 202844"/>
              <a:gd name="connsiteX6" fmla="*/ 186997 w 228200"/>
              <a:gd name="connsiteY6" fmla="*/ 202845 h 202844"/>
              <a:gd name="connsiteX7" fmla="*/ 41203 w 228200"/>
              <a:gd name="connsiteY7" fmla="*/ 202845 h 202844"/>
              <a:gd name="connsiteX8" fmla="*/ 63 w 228200"/>
              <a:gd name="connsiteY8" fmla="*/ 163975 h 202844"/>
              <a:gd name="connsiteX9" fmla="*/ 0 w 228200"/>
              <a:gd name="connsiteY9" fmla="*/ 161642 h 202844"/>
              <a:gd name="connsiteX10" fmla="*/ 0 w 228200"/>
              <a:gd name="connsiteY10" fmla="*/ 41203 h 202844"/>
              <a:gd name="connsiteX11" fmla="*/ 38870 w 228200"/>
              <a:gd name="connsiteY11" fmla="*/ 63 h 202844"/>
              <a:gd name="connsiteX12" fmla="*/ 41203 w 228200"/>
              <a:gd name="connsiteY12" fmla="*/ 0 h 202844"/>
              <a:gd name="connsiteX13" fmla="*/ 186997 w 228200"/>
              <a:gd name="connsiteY13" fmla="*/ 0 h 202844"/>
              <a:gd name="connsiteX14" fmla="*/ 41203 w 228200"/>
              <a:gd name="connsiteY14" fmla="*/ 0 h 202844"/>
              <a:gd name="connsiteX15" fmla="*/ 89416 w 228200"/>
              <a:gd name="connsiteY15" fmla="*/ 70805 h 202844"/>
              <a:gd name="connsiteX16" fmla="*/ 88745 w 228200"/>
              <a:gd name="connsiteY16" fmla="*/ 73658 h 202844"/>
              <a:gd name="connsiteX17" fmla="*/ 88745 w 228200"/>
              <a:gd name="connsiteY17" fmla="*/ 129212 h 202844"/>
              <a:gd name="connsiteX18" fmla="*/ 95083 w 228200"/>
              <a:gd name="connsiteY18" fmla="*/ 135551 h 202844"/>
              <a:gd name="connsiteX19" fmla="*/ 97923 w 228200"/>
              <a:gd name="connsiteY19" fmla="*/ 134879 h 202844"/>
              <a:gd name="connsiteX20" fmla="*/ 153477 w 228200"/>
              <a:gd name="connsiteY20" fmla="*/ 107115 h 202844"/>
              <a:gd name="connsiteX21" fmla="*/ 156324 w 228200"/>
              <a:gd name="connsiteY21" fmla="*/ 98614 h 202844"/>
              <a:gd name="connsiteX22" fmla="*/ 153477 w 228200"/>
              <a:gd name="connsiteY22" fmla="*/ 95768 h 202844"/>
              <a:gd name="connsiteX23" fmla="*/ 97923 w 228200"/>
              <a:gd name="connsiteY23" fmla="*/ 67991 h 202844"/>
              <a:gd name="connsiteX24" fmla="*/ 89416 w 228200"/>
              <a:gd name="connsiteY24" fmla="*/ 70818 h 202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28200" h="202844">
                <a:moveTo>
                  <a:pt x="41203" y="0"/>
                </a:moveTo>
                <a:lnTo>
                  <a:pt x="186997" y="0"/>
                </a:lnTo>
                <a:cubicBezTo>
                  <a:pt x="208848" y="-1"/>
                  <a:pt x="226900" y="17055"/>
                  <a:pt x="228137" y="38870"/>
                </a:cubicBezTo>
                <a:lnTo>
                  <a:pt x="228200" y="41203"/>
                </a:lnTo>
                <a:lnTo>
                  <a:pt x="228200" y="161642"/>
                </a:lnTo>
                <a:cubicBezTo>
                  <a:pt x="228202" y="183492"/>
                  <a:pt x="211146" y="201544"/>
                  <a:pt x="189330" y="202781"/>
                </a:cubicBezTo>
                <a:lnTo>
                  <a:pt x="186997" y="202845"/>
                </a:lnTo>
                <a:lnTo>
                  <a:pt x="41203" y="202845"/>
                </a:lnTo>
                <a:cubicBezTo>
                  <a:pt x="19352" y="202846"/>
                  <a:pt x="1300" y="185791"/>
                  <a:pt x="63" y="163975"/>
                </a:cubicBezTo>
                <a:lnTo>
                  <a:pt x="0" y="161642"/>
                </a:lnTo>
                <a:lnTo>
                  <a:pt x="0" y="41203"/>
                </a:lnTo>
                <a:cubicBezTo>
                  <a:pt x="-1" y="19352"/>
                  <a:pt x="17055" y="1300"/>
                  <a:pt x="38870" y="63"/>
                </a:cubicBezTo>
                <a:lnTo>
                  <a:pt x="41203" y="0"/>
                </a:lnTo>
                <a:lnTo>
                  <a:pt x="186997" y="0"/>
                </a:lnTo>
                <a:lnTo>
                  <a:pt x="41203" y="0"/>
                </a:lnTo>
                <a:close/>
                <a:moveTo>
                  <a:pt x="89416" y="70805"/>
                </a:moveTo>
                <a:cubicBezTo>
                  <a:pt x="88973" y="71691"/>
                  <a:pt x="88743" y="72668"/>
                  <a:pt x="88745" y="73658"/>
                </a:cubicBezTo>
                <a:lnTo>
                  <a:pt x="88745" y="129212"/>
                </a:lnTo>
                <a:cubicBezTo>
                  <a:pt x="88745" y="132712"/>
                  <a:pt x="91583" y="135551"/>
                  <a:pt x="95083" y="135551"/>
                </a:cubicBezTo>
                <a:cubicBezTo>
                  <a:pt x="96070" y="135551"/>
                  <a:pt x="97042" y="135320"/>
                  <a:pt x="97923" y="134879"/>
                </a:cubicBezTo>
                <a:lnTo>
                  <a:pt x="153477" y="107115"/>
                </a:lnTo>
                <a:cubicBezTo>
                  <a:pt x="156610" y="105553"/>
                  <a:pt x="157884" y="101747"/>
                  <a:pt x="156324" y="98614"/>
                </a:cubicBezTo>
                <a:cubicBezTo>
                  <a:pt x="155709" y="97381"/>
                  <a:pt x="154710" y="96383"/>
                  <a:pt x="153477" y="95768"/>
                </a:cubicBezTo>
                <a:lnTo>
                  <a:pt x="97923" y="67991"/>
                </a:lnTo>
                <a:cubicBezTo>
                  <a:pt x="94793" y="66423"/>
                  <a:pt x="90985" y="67689"/>
                  <a:pt x="89416" y="70818"/>
                </a:cubicBezTo>
                <a:close/>
              </a:path>
            </a:pathLst>
          </a:custGeom>
          <a:gradFill>
            <a:gsLst>
              <a:gs pos="73000">
                <a:srgbClr val="0078D4"/>
              </a:gs>
              <a:gs pos="12000">
                <a:srgbClr val="C03BC4"/>
              </a:gs>
            </a:gsLst>
            <a:path path="circle">
              <a:fillToRect l="100000" t="100000"/>
            </a:path>
          </a:gradFill>
          <a:ln w="12303" cap="flat">
            <a:noFill/>
            <a:prstDash val="solid"/>
            <a:miter/>
          </a:ln>
          <a:effectLst>
            <a:outerShdw blurRad="63500" dist="63500" dir="3000000" algn="tl" rotWithShape="0">
              <a:srgbClr val="454142">
                <a:alpha val="15000"/>
              </a:srgb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grpSp>
        <p:nvGrpSpPr>
          <p:cNvPr id="275" name="Group 274">
            <a:extLst>
              <a:ext uri="{FF2B5EF4-FFF2-40B4-BE49-F238E27FC236}">
                <a16:creationId xmlns:a16="http://schemas.microsoft.com/office/drawing/2014/main" id="{711D7DC5-A2E0-2A2E-5B68-739140001108}"/>
              </a:ext>
            </a:extLst>
          </p:cNvPr>
          <p:cNvGrpSpPr/>
          <p:nvPr/>
        </p:nvGrpSpPr>
        <p:grpSpPr>
          <a:xfrm>
            <a:off x="320719" y="5020658"/>
            <a:ext cx="1771605" cy="216000"/>
            <a:chOff x="320719" y="4224856"/>
            <a:chExt cx="1771605" cy="219456"/>
          </a:xfrm>
        </p:grpSpPr>
        <p:sp>
          <p:nvSpPr>
            <p:cNvPr id="276" name="Rectangle: Rounded Corners 6">
              <a:extLst>
                <a:ext uri="{FF2B5EF4-FFF2-40B4-BE49-F238E27FC236}">
                  <a16:creationId xmlns:a16="http://schemas.microsoft.com/office/drawing/2014/main" id="{352EFBAA-579F-E61F-DB27-8C06F0D84820}"/>
                </a:ext>
                <a:ext uri="{C183D7F6-B498-43B3-948B-1728B52AA6E4}">
                  <adec:decorative xmlns:adec="http://schemas.microsoft.com/office/drawing/2017/decorative" val="1"/>
                </a:ext>
              </a:extLst>
            </p:cNvPr>
            <p:cNvSpPr/>
            <p:nvPr/>
          </p:nvSpPr>
          <p:spPr bwMode="auto">
            <a:xfrm>
              <a:off x="320719" y="4224856"/>
              <a:ext cx="1771605" cy="219456"/>
            </a:xfrm>
            <a:prstGeom prst="roundRect">
              <a:avLst>
                <a:gd name="adj" fmla="val 50000"/>
              </a:avLst>
            </a:prstGeom>
            <a:solidFill>
              <a:srgbClr val="FFFFFF"/>
            </a:solidFill>
            <a:ln w="12700">
              <a:solidFill>
                <a:srgbClr val="C03BC4"/>
              </a:solidFill>
              <a:headEnd type="none" w="med" len="med"/>
              <a:tailEnd type="none" w="med" len="med"/>
            </a:ln>
            <a:effectLst>
              <a:outerShdw blurRad="63500" dist="63500" dir="2700000"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16000" tIns="36576" rIns="36000" bIns="36000" numCol="1" spcCol="0" rtlCol="0" fromWordArt="0" anchor="ctr" anchorCtr="0" forceAA="0" compatLnSpc="1">
              <a:prstTxWarp prst="textNoShape">
                <a:avLst/>
              </a:prstTxWarp>
              <a:noAutofit/>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C03BC4"/>
                  </a:solidFill>
                  <a:effectLst/>
                  <a:uLnTx/>
                  <a:uFillTx/>
                  <a:latin typeface="Segoe UI Semibold"/>
                  <a:ea typeface="+mn-ea"/>
                  <a:cs typeface="Segoe UI Semibold" panose="020B0702040204020203" pitchFamily="34" charset="0"/>
                </a:rPr>
                <a:t>Reduce costs</a:t>
              </a:r>
            </a:p>
          </p:txBody>
        </p:sp>
        <p:pic>
          <p:nvPicPr>
            <p:cNvPr id="277" name="Graphic 276">
              <a:extLst>
                <a:ext uri="{FF2B5EF4-FFF2-40B4-BE49-F238E27FC236}">
                  <a16:creationId xmlns:a16="http://schemas.microsoft.com/office/drawing/2014/main" id="{18349BB7-3660-8BE1-BA9F-05B8D09FBFAA}"/>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367506" y="4260849"/>
              <a:ext cx="144000" cy="144000"/>
            </a:xfrm>
            <a:prstGeom prst="rect">
              <a:avLst/>
            </a:prstGeom>
          </p:spPr>
        </p:pic>
      </p:grpSp>
      <p:grpSp>
        <p:nvGrpSpPr>
          <p:cNvPr id="281" name="Group 280">
            <a:extLst>
              <a:ext uri="{FF2B5EF4-FFF2-40B4-BE49-F238E27FC236}">
                <a16:creationId xmlns:a16="http://schemas.microsoft.com/office/drawing/2014/main" id="{3B41476B-FA50-4445-751A-589305DC7A04}"/>
              </a:ext>
            </a:extLst>
          </p:cNvPr>
          <p:cNvGrpSpPr/>
          <p:nvPr/>
        </p:nvGrpSpPr>
        <p:grpSpPr>
          <a:xfrm>
            <a:off x="320719" y="3778836"/>
            <a:ext cx="1771605" cy="216000"/>
            <a:chOff x="320719" y="4224856"/>
            <a:chExt cx="1771605" cy="219456"/>
          </a:xfrm>
        </p:grpSpPr>
        <p:sp>
          <p:nvSpPr>
            <p:cNvPr id="282" name="Rectangle: Rounded Corners 6">
              <a:extLst>
                <a:ext uri="{FF2B5EF4-FFF2-40B4-BE49-F238E27FC236}">
                  <a16:creationId xmlns:a16="http://schemas.microsoft.com/office/drawing/2014/main" id="{05307855-9F0D-7E6B-8884-115C94B0B657}"/>
                </a:ext>
                <a:ext uri="{C183D7F6-B498-43B3-948B-1728B52AA6E4}">
                  <adec:decorative xmlns:adec="http://schemas.microsoft.com/office/drawing/2017/decorative" val="1"/>
                </a:ext>
              </a:extLst>
            </p:cNvPr>
            <p:cNvSpPr/>
            <p:nvPr/>
          </p:nvSpPr>
          <p:spPr bwMode="auto">
            <a:xfrm>
              <a:off x="320719" y="4224856"/>
              <a:ext cx="1771605" cy="219456"/>
            </a:xfrm>
            <a:prstGeom prst="roundRect">
              <a:avLst>
                <a:gd name="adj" fmla="val 50000"/>
              </a:avLst>
            </a:prstGeom>
            <a:solidFill>
              <a:srgbClr val="FFFFFF"/>
            </a:solidFill>
            <a:ln w="12700">
              <a:solidFill>
                <a:srgbClr val="0078D4"/>
              </a:solidFill>
              <a:headEnd type="none" w="med" len="med"/>
              <a:tailEnd type="none" w="med" len="med"/>
            </a:ln>
            <a:effectLst>
              <a:outerShdw blurRad="63500" dist="63500" dir="2700000"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16000" tIns="36576" rIns="36000" bIns="36000" numCol="1" spcCol="0" rtlCol="0" fromWordArt="0" anchor="ctr" anchorCtr="0" forceAA="0" compatLnSpc="1">
              <a:prstTxWarp prst="textNoShape">
                <a:avLst/>
              </a:prstTxWarp>
              <a:noAutofit/>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78D4"/>
                  </a:solidFill>
                  <a:effectLst/>
                  <a:uLnTx/>
                  <a:uFillTx/>
                  <a:latin typeface="Segoe UI Semibold"/>
                  <a:ea typeface="+mn-ea"/>
                  <a:cs typeface="Segoe UI Semibold" panose="020B0702040204020203" pitchFamily="34" charset="0"/>
                </a:rPr>
                <a:t>Time to close</a:t>
              </a:r>
            </a:p>
          </p:txBody>
        </p:sp>
        <p:pic>
          <p:nvPicPr>
            <p:cNvPr id="283" name="Graphic 282">
              <a:extLst>
                <a:ext uri="{FF2B5EF4-FFF2-40B4-BE49-F238E27FC236}">
                  <a16:creationId xmlns:a16="http://schemas.microsoft.com/office/drawing/2014/main" id="{4987F5F6-3082-B8DA-287F-EB01B0E9E998}"/>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367506" y="4260849"/>
              <a:ext cx="144000" cy="144000"/>
            </a:xfrm>
            <a:prstGeom prst="rect">
              <a:avLst/>
            </a:prstGeom>
          </p:spPr>
        </p:pic>
      </p:grpSp>
      <p:grpSp>
        <p:nvGrpSpPr>
          <p:cNvPr id="284" name="Group 283">
            <a:extLst>
              <a:ext uri="{FF2B5EF4-FFF2-40B4-BE49-F238E27FC236}">
                <a16:creationId xmlns:a16="http://schemas.microsoft.com/office/drawing/2014/main" id="{1D867367-DD60-F34D-E3B5-5879E0F6A5B8}"/>
              </a:ext>
            </a:extLst>
          </p:cNvPr>
          <p:cNvGrpSpPr/>
          <p:nvPr/>
        </p:nvGrpSpPr>
        <p:grpSpPr>
          <a:xfrm>
            <a:off x="320721" y="4067450"/>
            <a:ext cx="1771605" cy="216000"/>
            <a:chOff x="320721" y="4517211"/>
            <a:chExt cx="1771605" cy="216000"/>
          </a:xfrm>
        </p:grpSpPr>
        <p:sp>
          <p:nvSpPr>
            <p:cNvPr id="285" name="Rectangle: Rounded Corners 6">
              <a:extLst>
                <a:ext uri="{FF2B5EF4-FFF2-40B4-BE49-F238E27FC236}">
                  <a16:creationId xmlns:a16="http://schemas.microsoft.com/office/drawing/2014/main" id="{177A61C6-17D2-49EB-6EC6-D7532F2D333B}"/>
                </a:ext>
                <a:ext uri="{C183D7F6-B498-43B3-948B-1728B52AA6E4}">
                  <adec:decorative xmlns:adec="http://schemas.microsoft.com/office/drawing/2017/decorative" val="1"/>
                </a:ext>
              </a:extLst>
            </p:cNvPr>
            <p:cNvSpPr>
              <a:spLocks/>
            </p:cNvSpPr>
            <p:nvPr/>
          </p:nvSpPr>
          <p:spPr bwMode="auto">
            <a:xfrm>
              <a:off x="320721" y="4517211"/>
              <a:ext cx="1771605" cy="216000"/>
            </a:xfrm>
            <a:prstGeom prst="roundRect">
              <a:avLst>
                <a:gd name="adj" fmla="val 50000"/>
              </a:avLst>
            </a:prstGeom>
            <a:solidFill>
              <a:srgbClr val="FFFFFF"/>
            </a:solidFill>
            <a:ln w="12700">
              <a:solidFill>
                <a:srgbClr val="0078D4"/>
              </a:solidFill>
              <a:headEnd type="none" w="med" len="med"/>
              <a:tailEnd type="none" w="med" len="med"/>
            </a:ln>
            <a:effectLst>
              <a:outerShdw blurRad="63500" dist="63500" dir="2700000"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16000" tIns="36576" rIns="36000" bIns="36000" numCol="1" spcCol="0" rtlCol="0" fromWordArt="0" anchor="ctr" anchorCtr="0" forceAA="0" compatLnSpc="1">
              <a:prstTxWarp prst="textNoShape">
                <a:avLst/>
              </a:prstTxWarp>
              <a:noAutofit/>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78D4"/>
                  </a:solidFill>
                  <a:effectLst/>
                  <a:uLnTx/>
                  <a:uFillTx/>
                  <a:latin typeface="Segoe UI Semibold"/>
                  <a:ea typeface="+mn-ea"/>
                  <a:cs typeface="Segoe UI Semibold"/>
                </a:rPr>
                <a:t>Reduce spending</a:t>
              </a:r>
            </a:p>
          </p:txBody>
        </p:sp>
        <p:pic>
          <p:nvPicPr>
            <p:cNvPr id="286" name="Graphic 285">
              <a:extLst>
                <a:ext uri="{FF2B5EF4-FFF2-40B4-BE49-F238E27FC236}">
                  <a16:creationId xmlns:a16="http://schemas.microsoft.com/office/drawing/2014/main" id="{970DB626-24FC-535A-C49D-00CB1731C08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67507" y="4552645"/>
              <a:ext cx="144000" cy="141732"/>
            </a:xfrm>
            <a:prstGeom prst="rect">
              <a:avLst/>
            </a:prstGeom>
          </p:spPr>
        </p:pic>
      </p:grpSp>
      <p:sp>
        <p:nvSpPr>
          <p:cNvPr id="32" name="TextBox 31">
            <a:extLst>
              <a:ext uri="{FF2B5EF4-FFF2-40B4-BE49-F238E27FC236}">
                <a16:creationId xmlns:a16="http://schemas.microsoft.com/office/drawing/2014/main" id="{349161E1-30AA-F37E-D3B4-56D0E21CF274}"/>
              </a:ext>
              <a:ext uri="{C183D7F6-B498-43B3-948B-1728B52AA6E4}">
                <adec:decorative xmlns:adec="http://schemas.microsoft.com/office/drawing/2017/decorative" val="0"/>
              </a:ext>
            </a:extLst>
          </p:cNvPr>
          <p:cNvSpPr txBox="1"/>
          <p:nvPr/>
        </p:nvSpPr>
        <p:spPr>
          <a:xfrm>
            <a:off x="3562472" y="2286931"/>
            <a:ext cx="1830524" cy="1538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Semibold"/>
                <a:ea typeface="+mn-ea"/>
                <a:cs typeface="+mn-cs"/>
              </a:rPr>
              <a:t>Copilot in Excel</a:t>
            </a:r>
          </a:p>
        </p:txBody>
      </p:sp>
      <p:sp>
        <p:nvSpPr>
          <p:cNvPr id="34" name="TextBox 33">
            <a:extLst>
              <a:ext uri="{FF2B5EF4-FFF2-40B4-BE49-F238E27FC236}">
                <a16:creationId xmlns:a16="http://schemas.microsoft.com/office/drawing/2014/main" id="{205A9B66-9DF1-BA39-C756-5B18F810EA8E}"/>
              </a:ext>
              <a:ext uri="{C183D7F6-B498-43B3-948B-1728B52AA6E4}">
                <adec:decorative xmlns:adec="http://schemas.microsoft.com/office/drawing/2017/decorative" val="0"/>
              </a:ext>
            </a:extLst>
          </p:cNvPr>
          <p:cNvSpPr txBox="1"/>
          <p:nvPr/>
        </p:nvSpPr>
        <p:spPr>
          <a:xfrm>
            <a:off x="6446959" y="2217681"/>
            <a:ext cx="1830524" cy="2923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Semibold"/>
                <a:ea typeface="+mn-ea"/>
                <a:cs typeface="+mn-cs"/>
              </a:rPr>
              <a:t>Copilot in Excel</a:t>
            </a:r>
          </a:p>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78D4"/>
                </a:solidFill>
                <a:effectLst/>
                <a:uLnTx/>
                <a:uFillTx/>
                <a:latin typeface="Segoe UI Semibold"/>
                <a:ea typeface="+mn-ea"/>
                <a:cs typeface="+mn-cs"/>
              </a:rPr>
              <a:t>+ Copilot for Finance</a:t>
            </a:r>
            <a:endParaRPr kumimoji="0" lang="en-US" sz="900" b="0" i="1" u="none" strike="noStrike" kern="1200" cap="none" spc="0" normalizeH="0" baseline="0" noProof="0" dirty="0">
              <a:ln>
                <a:noFill/>
              </a:ln>
              <a:solidFill>
                <a:srgbClr val="0078D4"/>
              </a:solidFill>
              <a:effectLst/>
              <a:uLnTx/>
              <a:uFillTx/>
              <a:latin typeface="Segoe UI Semibold"/>
              <a:ea typeface="+mn-ea"/>
              <a:cs typeface="+mn-cs"/>
            </a:endParaRPr>
          </a:p>
        </p:txBody>
      </p:sp>
      <p:sp>
        <p:nvSpPr>
          <p:cNvPr id="37" name="TextBox 36">
            <a:extLst>
              <a:ext uri="{FF2B5EF4-FFF2-40B4-BE49-F238E27FC236}">
                <a16:creationId xmlns:a16="http://schemas.microsoft.com/office/drawing/2014/main" id="{CB8D9FDC-005A-9A6D-8FFF-68694A0CB0EC}"/>
              </a:ext>
              <a:ext uri="{C183D7F6-B498-43B3-948B-1728B52AA6E4}">
                <adec:decorative xmlns:adec="http://schemas.microsoft.com/office/drawing/2017/decorative" val="0"/>
              </a:ext>
            </a:extLst>
          </p:cNvPr>
          <p:cNvSpPr txBox="1"/>
          <p:nvPr/>
        </p:nvSpPr>
        <p:spPr>
          <a:xfrm>
            <a:off x="9328927" y="2217680"/>
            <a:ext cx="1666733" cy="2923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Semibold"/>
                <a:ea typeface="+mn-ea"/>
                <a:cs typeface="+mn-cs"/>
              </a:rPr>
              <a:t>Copilot in Excel</a:t>
            </a:r>
          </a:p>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78D4"/>
                </a:solidFill>
                <a:effectLst/>
                <a:uLnTx/>
                <a:uFillTx/>
                <a:latin typeface="Segoe UI Semibold"/>
                <a:ea typeface="+mn-ea"/>
                <a:cs typeface="+mn-cs"/>
              </a:rPr>
              <a:t>+ Copilot for Finance</a:t>
            </a:r>
            <a:endParaRPr kumimoji="0" lang="en-US" sz="900" b="0" i="1" u="none" strike="noStrike" kern="1200" cap="none" spc="0" normalizeH="0" baseline="0" noProof="0" dirty="0">
              <a:ln>
                <a:noFill/>
              </a:ln>
              <a:solidFill>
                <a:srgbClr val="0078D4"/>
              </a:solidFill>
              <a:effectLst/>
              <a:uLnTx/>
              <a:uFillTx/>
              <a:latin typeface="Segoe UI Semibold"/>
              <a:ea typeface="+mn-ea"/>
              <a:cs typeface="+mn-cs"/>
            </a:endParaRPr>
          </a:p>
        </p:txBody>
      </p:sp>
      <p:sp>
        <p:nvSpPr>
          <p:cNvPr id="38" name="TextBox 37">
            <a:extLst>
              <a:ext uri="{FF2B5EF4-FFF2-40B4-BE49-F238E27FC236}">
                <a16:creationId xmlns:a16="http://schemas.microsoft.com/office/drawing/2014/main" id="{2FB5C95E-93D2-0AF3-AF11-76E1521D54D4}"/>
              </a:ext>
              <a:ext uri="{C183D7F6-B498-43B3-948B-1728B52AA6E4}">
                <adec:decorative xmlns:adec="http://schemas.microsoft.com/office/drawing/2017/decorative" val="0"/>
              </a:ext>
            </a:extLst>
          </p:cNvPr>
          <p:cNvSpPr txBox="1"/>
          <p:nvPr/>
        </p:nvSpPr>
        <p:spPr>
          <a:xfrm>
            <a:off x="6446959" y="4816819"/>
            <a:ext cx="1988381" cy="2923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Semibold"/>
                <a:ea typeface="+mn-ea"/>
                <a:cs typeface="+mn-cs"/>
              </a:rPr>
              <a:t>AI Agent</a:t>
            </a:r>
            <a:r>
              <a:rPr kumimoji="0" lang="en-US" sz="1000" b="0" i="0" u="none" strike="noStrike" kern="1200" cap="none" spc="0" normalizeH="0" baseline="30000" noProof="0" dirty="0">
                <a:ln>
                  <a:noFill/>
                </a:ln>
                <a:solidFill>
                  <a:srgbClr val="000000"/>
                </a:solidFill>
                <a:effectLst/>
                <a:uLnTx/>
                <a:uFillTx/>
                <a:latin typeface="Segoe UI Semibold"/>
                <a:ea typeface="+mn-ea"/>
                <a:cs typeface="+mn-cs"/>
              </a:rPr>
              <a:t>3</a:t>
            </a:r>
          </a:p>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78D4"/>
                </a:solidFill>
                <a:effectLst/>
                <a:uLnTx/>
                <a:uFillTx/>
                <a:latin typeface="Segoe UI Semibold"/>
                <a:ea typeface="+mn-ea"/>
                <a:cs typeface="+mn-cs"/>
              </a:rPr>
              <a:t>+ Connection to Finance ERP</a:t>
            </a:r>
            <a:endParaRPr kumimoji="0" lang="en-US" sz="900" b="0" i="0" u="none" strike="noStrike" kern="1200" cap="none" spc="0" normalizeH="0" baseline="0" noProof="0" dirty="0">
              <a:ln>
                <a:noFill/>
              </a:ln>
              <a:solidFill>
                <a:prstClr val="black"/>
              </a:solidFill>
              <a:effectLst/>
              <a:uLnTx/>
              <a:uFillTx/>
              <a:latin typeface="Segoe UI"/>
              <a:ea typeface="+mn-ea"/>
              <a:cs typeface="+mn-cs"/>
            </a:endParaRPr>
          </a:p>
        </p:txBody>
      </p:sp>
      <p:pic>
        <p:nvPicPr>
          <p:cNvPr id="44" name="Picture 6">
            <a:extLst>
              <a:ext uri="{FF2B5EF4-FFF2-40B4-BE49-F238E27FC236}">
                <a16:creationId xmlns:a16="http://schemas.microsoft.com/office/drawing/2014/main" id="{8B78A71D-5A81-7DA6-2C82-48661DDB274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t="5571" b="5571"/>
          <a:stretch/>
        </p:blipFill>
        <p:spPr bwMode="auto">
          <a:xfrm>
            <a:off x="3167052" y="4851353"/>
            <a:ext cx="245612" cy="223322"/>
          </a:xfrm>
          <a:prstGeom prst="rect">
            <a:avLst/>
          </a:prstGeom>
          <a:noFill/>
          <a:extLst>
            <a:ext uri="{909E8E84-426E-40DD-AFC4-6F175D3DCCD1}">
              <a14:hiddenFill xmlns:a14="http://schemas.microsoft.com/office/drawing/2010/main">
                <a:solidFill>
                  <a:srgbClr val="FFFFFF"/>
                </a:solidFill>
              </a14:hiddenFill>
            </a:ext>
          </a:extLst>
        </p:spPr>
      </p:pic>
      <p:sp>
        <p:nvSpPr>
          <p:cNvPr id="40" name="TextBox 39">
            <a:extLst>
              <a:ext uri="{FF2B5EF4-FFF2-40B4-BE49-F238E27FC236}">
                <a16:creationId xmlns:a16="http://schemas.microsoft.com/office/drawing/2014/main" id="{19DEA858-5F0F-0AFF-C29C-E50C94C35B7D}"/>
              </a:ext>
              <a:ext uri="{C183D7F6-B498-43B3-948B-1728B52AA6E4}">
                <adec:decorative xmlns:adec="http://schemas.microsoft.com/office/drawing/2017/decorative" val="0"/>
              </a:ext>
            </a:extLst>
          </p:cNvPr>
          <p:cNvSpPr txBox="1"/>
          <p:nvPr/>
        </p:nvSpPr>
        <p:spPr>
          <a:xfrm>
            <a:off x="3562472" y="4886070"/>
            <a:ext cx="1420949" cy="1538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Semibold"/>
                <a:ea typeface="+mn-ea"/>
                <a:cs typeface="+mn-cs"/>
              </a:rPr>
              <a:t>Copilot in Teams</a:t>
            </a:r>
          </a:p>
        </p:txBody>
      </p:sp>
      <p:sp>
        <p:nvSpPr>
          <p:cNvPr id="45" name="TextBox 44">
            <a:extLst>
              <a:ext uri="{FF2B5EF4-FFF2-40B4-BE49-F238E27FC236}">
                <a16:creationId xmlns:a16="http://schemas.microsoft.com/office/drawing/2014/main" id="{4F62D7EF-0B99-930A-6A52-B6230065B700}"/>
              </a:ext>
              <a:ext uri="{C183D7F6-B498-43B3-948B-1728B52AA6E4}">
                <adec:decorative xmlns:adec="http://schemas.microsoft.com/office/drawing/2017/decorative" val="0"/>
              </a:ext>
            </a:extLst>
          </p:cNvPr>
          <p:cNvSpPr txBox="1"/>
          <p:nvPr/>
        </p:nvSpPr>
        <p:spPr>
          <a:xfrm>
            <a:off x="9328927" y="4816820"/>
            <a:ext cx="1830524" cy="2923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Semibold"/>
                <a:ea typeface="+mn-ea"/>
                <a:cs typeface="+mn-cs"/>
              </a:rPr>
              <a:t>Copilot in Excel</a:t>
            </a:r>
          </a:p>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78D4"/>
                </a:solidFill>
                <a:effectLst/>
                <a:uLnTx/>
                <a:uFillTx/>
                <a:latin typeface="Segoe UI Semibold"/>
                <a:ea typeface="+mn-ea"/>
                <a:cs typeface="+mn-cs"/>
              </a:rPr>
              <a:t>+ Copilot for Finance</a:t>
            </a:r>
            <a:endParaRPr kumimoji="0" lang="en-US" sz="900" b="0" i="1" u="none" strike="noStrike" kern="1200" cap="none" spc="0" normalizeH="0" baseline="0" noProof="0" dirty="0">
              <a:ln>
                <a:noFill/>
              </a:ln>
              <a:solidFill>
                <a:srgbClr val="0078D4"/>
              </a:solidFill>
              <a:effectLst/>
              <a:uLnTx/>
              <a:uFillTx/>
              <a:latin typeface="Segoe UI Semibold"/>
              <a:ea typeface="+mn-ea"/>
              <a:cs typeface="+mn-cs"/>
            </a:endParaRPr>
          </a:p>
        </p:txBody>
      </p:sp>
      <p:pic>
        <p:nvPicPr>
          <p:cNvPr id="2" name="Picture 1">
            <a:extLst>
              <a:ext uri="{FF2B5EF4-FFF2-40B4-BE49-F238E27FC236}">
                <a16:creationId xmlns:a16="http://schemas.microsoft.com/office/drawing/2014/main" id="{6F98E6C0-3FCA-226B-675C-42597E2D29FE}"/>
              </a:ext>
            </a:extLst>
          </p:cNvPr>
          <p:cNvPicPr>
            <a:picLocks noChangeAspect="1"/>
          </p:cNvPicPr>
          <p:nvPr/>
        </p:nvPicPr>
        <p:blipFill>
          <a:blip r:embed="rId7"/>
          <a:stretch>
            <a:fillRect/>
          </a:stretch>
        </p:blipFill>
        <p:spPr>
          <a:xfrm>
            <a:off x="6021540" y="4857248"/>
            <a:ext cx="273674" cy="239465"/>
          </a:xfrm>
          <a:prstGeom prst="rect">
            <a:avLst/>
          </a:prstGeom>
        </p:spPr>
      </p:pic>
      <p:pic>
        <p:nvPicPr>
          <p:cNvPr id="3" name="Picture 2" descr="Excel logo">
            <a:extLst>
              <a:ext uri="{FF2B5EF4-FFF2-40B4-BE49-F238E27FC236}">
                <a16:creationId xmlns:a16="http://schemas.microsoft.com/office/drawing/2014/main" id="{930AA6C5-5853-F2B3-D0FC-84D281B7342A}"/>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3135057" y="2217680"/>
            <a:ext cx="275670" cy="275670"/>
          </a:xfrm>
          <a:prstGeom prst="ellipse">
            <a:avLst/>
          </a:prstGeom>
          <a:solidFill>
            <a:schemeClr val="bg1"/>
          </a:solidFill>
        </p:spPr>
      </p:pic>
      <p:pic>
        <p:nvPicPr>
          <p:cNvPr id="4" name="Picture 3" descr="Excel logo">
            <a:extLst>
              <a:ext uri="{FF2B5EF4-FFF2-40B4-BE49-F238E27FC236}">
                <a16:creationId xmlns:a16="http://schemas.microsoft.com/office/drawing/2014/main" id="{FC445315-3927-5C5C-CD87-491E594E2D39}"/>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6019544" y="2217680"/>
            <a:ext cx="275670" cy="275670"/>
          </a:xfrm>
          <a:prstGeom prst="ellipse">
            <a:avLst/>
          </a:prstGeom>
          <a:solidFill>
            <a:schemeClr val="bg1"/>
          </a:solidFill>
        </p:spPr>
      </p:pic>
      <p:pic>
        <p:nvPicPr>
          <p:cNvPr id="5" name="Picture 4" descr="Excel logo">
            <a:extLst>
              <a:ext uri="{FF2B5EF4-FFF2-40B4-BE49-F238E27FC236}">
                <a16:creationId xmlns:a16="http://schemas.microsoft.com/office/drawing/2014/main" id="{BA3C8FB3-A39B-3372-B636-F8E028C29EF0}"/>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8940209" y="2234398"/>
            <a:ext cx="275670" cy="275670"/>
          </a:xfrm>
          <a:prstGeom prst="ellipse">
            <a:avLst/>
          </a:prstGeom>
          <a:solidFill>
            <a:schemeClr val="bg1"/>
          </a:solidFill>
        </p:spPr>
      </p:pic>
      <p:pic>
        <p:nvPicPr>
          <p:cNvPr id="6" name="Picture 5" descr="Excel logo">
            <a:extLst>
              <a:ext uri="{FF2B5EF4-FFF2-40B4-BE49-F238E27FC236}">
                <a16:creationId xmlns:a16="http://schemas.microsoft.com/office/drawing/2014/main" id="{78CE8878-7BB6-B5F9-D8A0-F6F20C19E5BE}"/>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8949201" y="4886842"/>
            <a:ext cx="275670" cy="275670"/>
          </a:xfrm>
          <a:prstGeom prst="ellipse">
            <a:avLst/>
          </a:prstGeom>
          <a:solidFill>
            <a:schemeClr val="bg1"/>
          </a:solidFill>
        </p:spPr>
      </p:pic>
    </p:spTree>
    <p:extLst>
      <p:ext uri="{BB962C8B-B14F-4D97-AF65-F5344CB8AC3E}">
        <p14:creationId xmlns:p14="http://schemas.microsoft.com/office/powerpoint/2010/main" val="2760920534"/>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 Placeholder 22">
            <a:extLst>
              <a:ext uri="{FF2B5EF4-FFF2-40B4-BE49-F238E27FC236}">
                <a16:creationId xmlns:a16="http://schemas.microsoft.com/office/drawing/2014/main" id="{55C9F394-DDB6-FA71-374E-ADF34A798556}"/>
              </a:ext>
            </a:extLst>
          </p:cNvPr>
          <p:cNvSpPr>
            <a:spLocks noGrp="1"/>
          </p:cNvSpPr>
          <p:nvPr>
            <p:ph type="body" sz="quarter" idx="42"/>
          </p:nvPr>
        </p:nvSpPr>
        <p:spPr>
          <a:xfrm>
            <a:off x="311388" y="1026303"/>
            <a:ext cx="2431246" cy="1131079"/>
          </a:xfrm>
        </p:spPr>
        <p:txBody>
          <a:bodyPr/>
          <a:lstStyle/>
          <a:p>
            <a:r>
              <a:rPr lang="en-US" noProof="0" dirty="0"/>
              <a:t>Copilot for Finance can help analysts to analyze performance data and identify any discrepancies from budgeted values.</a:t>
            </a:r>
          </a:p>
        </p:txBody>
      </p:sp>
      <p:sp>
        <p:nvSpPr>
          <p:cNvPr id="287" name="Text Placeholder 286">
            <a:extLst>
              <a:ext uri="{FF2B5EF4-FFF2-40B4-BE49-F238E27FC236}">
                <a16:creationId xmlns:a16="http://schemas.microsoft.com/office/drawing/2014/main" id="{5ED19662-400D-DFCB-BF7A-169C9645D38C}"/>
              </a:ext>
            </a:extLst>
          </p:cNvPr>
          <p:cNvSpPr>
            <a:spLocks noGrp="1"/>
          </p:cNvSpPr>
          <p:nvPr>
            <p:ph type="body" sz="quarter" idx="43"/>
          </p:nvPr>
        </p:nvSpPr>
        <p:spPr>
          <a:xfrm>
            <a:off x="10430351" y="521099"/>
            <a:ext cx="1456966" cy="175614"/>
          </a:xfrm>
        </p:spPr>
        <p:txBody>
          <a:bodyPr/>
          <a:lstStyle/>
          <a:p>
            <a:r>
              <a:rPr lang="en-US" noProof="0" dirty="0"/>
              <a:t>Buy</a:t>
            </a:r>
          </a:p>
        </p:txBody>
      </p:sp>
      <p:sp>
        <p:nvSpPr>
          <p:cNvPr id="288" name="Text Placeholder 287">
            <a:extLst>
              <a:ext uri="{FF2B5EF4-FFF2-40B4-BE49-F238E27FC236}">
                <a16:creationId xmlns:a16="http://schemas.microsoft.com/office/drawing/2014/main" id="{C96AB241-3BFE-666F-5CEE-B6BCD0E1D3C5}"/>
              </a:ext>
            </a:extLst>
          </p:cNvPr>
          <p:cNvSpPr>
            <a:spLocks noGrp="1"/>
          </p:cNvSpPr>
          <p:nvPr>
            <p:ph type="body" sz="quarter" idx="44"/>
          </p:nvPr>
        </p:nvSpPr>
        <p:spPr>
          <a:xfrm>
            <a:off x="7149557" y="521100"/>
            <a:ext cx="2969488" cy="169277"/>
          </a:xfrm>
        </p:spPr>
        <p:txBody>
          <a:bodyPr/>
          <a:lstStyle/>
          <a:p>
            <a:r>
              <a:rPr lang="en-US" noProof="0" dirty="0"/>
              <a:t>Microsoft 365 Copilot</a:t>
            </a:r>
          </a:p>
        </p:txBody>
      </p:sp>
      <p:sp>
        <p:nvSpPr>
          <p:cNvPr id="289" name="Text Placeholder 288">
            <a:extLst>
              <a:ext uri="{FF2B5EF4-FFF2-40B4-BE49-F238E27FC236}">
                <a16:creationId xmlns:a16="http://schemas.microsoft.com/office/drawing/2014/main" id="{773B9A1C-B3FA-1873-ABF5-BE6283634604}"/>
              </a:ext>
            </a:extLst>
          </p:cNvPr>
          <p:cNvSpPr>
            <a:spLocks noGrp="1"/>
          </p:cNvSpPr>
          <p:nvPr>
            <p:ph type="body" sz="quarter" idx="46"/>
          </p:nvPr>
        </p:nvSpPr>
        <p:spPr>
          <a:xfrm>
            <a:off x="3182889" y="2725494"/>
            <a:ext cx="2572262" cy="712876"/>
          </a:xfrm>
        </p:spPr>
        <p:txBody>
          <a:bodyPr/>
          <a:lstStyle/>
          <a:p>
            <a:r>
              <a:rPr lang="en-US" noProof="0" dirty="0"/>
              <a:t>Example prompt: Suggest formulas to standardize the data formatting, including removing trailing spaces and correcting capitalization.</a:t>
            </a:r>
          </a:p>
        </p:txBody>
      </p:sp>
      <p:sp>
        <p:nvSpPr>
          <p:cNvPr id="290" name="Text Placeholder 289">
            <a:extLst>
              <a:ext uri="{FF2B5EF4-FFF2-40B4-BE49-F238E27FC236}">
                <a16:creationId xmlns:a16="http://schemas.microsoft.com/office/drawing/2014/main" id="{870E82CD-1D8B-E42F-693F-1E03D67E34A6}"/>
              </a:ext>
            </a:extLst>
          </p:cNvPr>
          <p:cNvSpPr>
            <a:spLocks noGrp="1"/>
          </p:cNvSpPr>
          <p:nvPr>
            <p:ph type="body" sz="quarter" idx="47"/>
          </p:nvPr>
        </p:nvSpPr>
        <p:spPr>
          <a:xfrm>
            <a:off x="3182890" y="1112478"/>
            <a:ext cx="2572262" cy="153888"/>
          </a:xfrm>
        </p:spPr>
        <p:txBody>
          <a:bodyPr/>
          <a:lstStyle/>
          <a:p>
            <a:r>
              <a:rPr lang="en-US" noProof="0" dirty="0"/>
              <a:t>Generate formulas to clean data</a:t>
            </a:r>
          </a:p>
        </p:txBody>
      </p:sp>
      <p:sp>
        <p:nvSpPr>
          <p:cNvPr id="291" name="Text Placeholder 290">
            <a:extLst>
              <a:ext uri="{FF2B5EF4-FFF2-40B4-BE49-F238E27FC236}">
                <a16:creationId xmlns:a16="http://schemas.microsoft.com/office/drawing/2014/main" id="{EF115703-8E51-616A-B510-726F49F07393}"/>
              </a:ext>
            </a:extLst>
          </p:cNvPr>
          <p:cNvSpPr>
            <a:spLocks noGrp="1"/>
          </p:cNvSpPr>
          <p:nvPr>
            <p:ph type="body" sz="quarter" idx="48"/>
          </p:nvPr>
        </p:nvSpPr>
        <p:spPr>
          <a:xfrm>
            <a:off x="3182890" y="1438715"/>
            <a:ext cx="2572262" cy="626701"/>
          </a:xfrm>
        </p:spPr>
        <p:txBody>
          <a:bodyPr/>
          <a:lstStyle/>
          <a:p>
            <a:r>
              <a:rPr lang="en-US" noProof="0" dirty="0"/>
              <a:t>Aggregate budget and spend data into an Excel spreadsheet, then use Copilot for guidance on how to standardize the data formatting.</a:t>
            </a:r>
          </a:p>
        </p:txBody>
      </p:sp>
      <p:sp>
        <p:nvSpPr>
          <p:cNvPr id="292" name="Text Placeholder 291">
            <a:extLst>
              <a:ext uri="{FF2B5EF4-FFF2-40B4-BE49-F238E27FC236}">
                <a16:creationId xmlns:a16="http://schemas.microsoft.com/office/drawing/2014/main" id="{3FDFB0EC-0B03-2CAF-27E8-5D54B30F17E3}"/>
              </a:ext>
            </a:extLst>
          </p:cNvPr>
          <p:cNvSpPr>
            <a:spLocks noGrp="1"/>
          </p:cNvSpPr>
          <p:nvPr>
            <p:ph type="body" sz="quarter" idx="49"/>
          </p:nvPr>
        </p:nvSpPr>
        <p:spPr>
          <a:xfrm>
            <a:off x="6066682" y="1112478"/>
            <a:ext cx="2572262" cy="153888"/>
          </a:xfrm>
        </p:spPr>
        <p:txBody>
          <a:bodyPr/>
          <a:lstStyle/>
          <a:p>
            <a:r>
              <a:rPr lang="en-US" noProof="0" dirty="0"/>
              <a:t>Analyze budget variances</a:t>
            </a:r>
          </a:p>
        </p:txBody>
      </p:sp>
      <p:sp>
        <p:nvSpPr>
          <p:cNvPr id="293" name="Text Placeholder 292">
            <a:extLst>
              <a:ext uri="{FF2B5EF4-FFF2-40B4-BE49-F238E27FC236}">
                <a16:creationId xmlns:a16="http://schemas.microsoft.com/office/drawing/2014/main" id="{574B4789-DE36-5279-378D-CFDC3793B389}"/>
              </a:ext>
            </a:extLst>
          </p:cNvPr>
          <p:cNvSpPr>
            <a:spLocks noGrp="1"/>
          </p:cNvSpPr>
          <p:nvPr>
            <p:ph type="body" sz="quarter" idx="50"/>
          </p:nvPr>
        </p:nvSpPr>
        <p:spPr>
          <a:xfrm>
            <a:off x="6066682" y="1438715"/>
            <a:ext cx="2572262" cy="626701"/>
          </a:xfrm>
        </p:spPr>
        <p:txBody>
          <a:bodyPr/>
          <a:lstStyle/>
          <a:p>
            <a:r>
              <a:rPr lang="en-US" noProof="0" dirty="0"/>
              <a:t>Use Copilot for Finance in Excel to streamline the variance analysis process, looking at actuals and budgeted figures.</a:t>
            </a:r>
          </a:p>
        </p:txBody>
      </p:sp>
      <p:sp>
        <p:nvSpPr>
          <p:cNvPr id="297" name="Text Placeholder 296">
            <a:extLst>
              <a:ext uri="{FF2B5EF4-FFF2-40B4-BE49-F238E27FC236}">
                <a16:creationId xmlns:a16="http://schemas.microsoft.com/office/drawing/2014/main" id="{5210C64C-B04F-6769-A712-90DEFDD9C841}"/>
              </a:ext>
            </a:extLst>
          </p:cNvPr>
          <p:cNvSpPr>
            <a:spLocks noGrp="1"/>
          </p:cNvSpPr>
          <p:nvPr>
            <p:ph type="body" sz="quarter" idx="67"/>
          </p:nvPr>
        </p:nvSpPr>
        <p:spPr>
          <a:xfrm>
            <a:off x="8950475" y="2725494"/>
            <a:ext cx="2572262" cy="712876"/>
          </a:xfrm>
        </p:spPr>
        <p:txBody>
          <a:bodyPr/>
          <a:lstStyle/>
          <a:p>
            <a:r>
              <a:rPr lang="en-US" noProof="0" dirty="0"/>
              <a:t>Action: Review any budget variances using the threshold set in step 2.</a:t>
            </a:r>
          </a:p>
        </p:txBody>
      </p:sp>
      <p:sp>
        <p:nvSpPr>
          <p:cNvPr id="295" name="Text Placeholder 294">
            <a:extLst>
              <a:ext uri="{FF2B5EF4-FFF2-40B4-BE49-F238E27FC236}">
                <a16:creationId xmlns:a16="http://schemas.microsoft.com/office/drawing/2014/main" id="{51610354-D3D2-93D2-1F95-E65A3AEBFBEA}"/>
              </a:ext>
            </a:extLst>
          </p:cNvPr>
          <p:cNvSpPr>
            <a:spLocks noGrp="1"/>
          </p:cNvSpPr>
          <p:nvPr>
            <p:ph type="body" sz="quarter" idx="52"/>
          </p:nvPr>
        </p:nvSpPr>
        <p:spPr>
          <a:xfrm>
            <a:off x="8950475" y="1112478"/>
            <a:ext cx="2572262" cy="153888"/>
          </a:xfrm>
        </p:spPr>
        <p:txBody>
          <a:bodyPr/>
          <a:lstStyle/>
          <a:p>
            <a:r>
              <a:rPr lang="en-US" noProof="0" dirty="0"/>
              <a:t>Review discrepancies</a:t>
            </a:r>
          </a:p>
        </p:txBody>
      </p:sp>
      <p:sp>
        <p:nvSpPr>
          <p:cNvPr id="296" name="Text Placeholder 295">
            <a:extLst>
              <a:ext uri="{FF2B5EF4-FFF2-40B4-BE49-F238E27FC236}">
                <a16:creationId xmlns:a16="http://schemas.microsoft.com/office/drawing/2014/main" id="{61D57503-FC71-7A4B-5BF5-4E2FC4F1CC1B}"/>
              </a:ext>
            </a:extLst>
          </p:cNvPr>
          <p:cNvSpPr>
            <a:spLocks noGrp="1"/>
          </p:cNvSpPr>
          <p:nvPr>
            <p:ph type="body" sz="quarter" idx="53"/>
          </p:nvPr>
        </p:nvSpPr>
        <p:spPr>
          <a:xfrm>
            <a:off x="8950475" y="1438715"/>
            <a:ext cx="2572262" cy="626701"/>
          </a:xfrm>
        </p:spPr>
        <p:txBody>
          <a:bodyPr/>
          <a:lstStyle/>
          <a:p>
            <a:r>
              <a:rPr lang="en-US" noProof="0" dirty="0"/>
              <a:t>Review the variance analysis summary report for any large or unexpected variances.</a:t>
            </a:r>
          </a:p>
        </p:txBody>
      </p:sp>
      <p:sp>
        <p:nvSpPr>
          <p:cNvPr id="294" name="Text Placeholder 293">
            <a:extLst>
              <a:ext uri="{FF2B5EF4-FFF2-40B4-BE49-F238E27FC236}">
                <a16:creationId xmlns:a16="http://schemas.microsoft.com/office/drawing/2014/main" id="{2B12D96F-3AED-1EE6-9A21-4B5FF5F49FEB}"/>
              </a:ext>
            </a:extLst>
          </p:cNvPr>
          <p:cNvSpPr>
            <a:spLocks noGrp="1"/>
          </p:cNvSpPr>
          <p:nvPr>
            <p:ph type="body" sz="quarter" idx="66"/>
          </p:nvPr>
        </p:nvSpPr>
        <p:spPr>
          <a:xfrm>
            <a:off x="6066682" y="2725494"/>
            <a:ext cx="2572262" cy="712876"/>
          </a:xfrm>
        </p:spPr>
        <p:txBody>
          <a:bodyPr/>
          <a:lstStyle/>
          <a:p>
            <a:r>
              <a:rPr lang="en-US" noProof="0" dirty="0"/>
              <a:t>Action: Open Copilot for Finance in Excel and select Analyze variances. Define variance threshold.</a:t>
            </a:r>
          </a:p>
        </p:txBody>
      </p:sp>
      <p:sp>
        <p:nvSpPr>
          <p:cNvPr id="298" name="Text Placeholder 297">
            <a:extLst>
              <a:ext uri="{FF2B5EF4-FFF2-40B4-BE49-F238E27FC236}">
                <a16:creationId xmlns:a16="http://schemas.microsoft.com/office/drawing/2014/main" id="{37F79BEE-B15A-1F89-718C-7398A1CA72A2}"/>
              </a:ext>
            </a:extLst>
          </p:cNvPr>
          <p:cNvSpPr>
            <a:spLocks noGrp="1"/>
          </p:cNvSpPr>
          <p:nvPr>
            <p:ph type="body" sz="quarter" idx="58"/>
          </p:nvPr>
        </p:nvSpPr>
        <p:spPr>
          <a:xfrm>
            <a:off x="4036409" y="3725103"/>
            <a:ext cx="3161734" cy="153888"/>
          </a:xfrm>
        </p:spPr>
        <p:txBody>
          <a:bodyPr/>
          <a:lstStyle/>
          <a:p>
            <a:r>
              <a:rPr lang="en-US" noProof="0" dirty="0"/>
              <a:t>Distribute findings</a:t>
            </a:r>
          </a:p>
        </p:txBody>
      </p:sp>
      <p:sp>
        <p:nvSpPr>
          <p:cNvPr id="299" name="Text Placeholder 298">
            <a:extLst>
              <a:ext uri="{FF2B5EF4-FFF2-40B4-BE49-F238E27FC236}">
                <a16:creationId xmlns:a16="http://schemas.microsoft.com/office/drawing/2014/main" id="{EEAD968F-58A5-ED5A-8282-ECD3013E8D3B}"/>
              </a:ext>
            </a:extLst>
          </p:cNvPr>
          <p:cNvSpPr>
            <a:spLocks noGrp="1"/>
          </p:cNvSpPr>
          <p:nvPr>
            <p:ph type="body" sz="quarter" idx="59"/>
          </p:nvPr>
        </p:nvSpPr>
        <p:spPr>
          <a:xfrm>
            <a:off x="4036409" y="4050957"/>
            <a:ext cx="3161734" cy="626701"/>
          </a:xfrm>
        </p:spPr>
        <p:txBody>
          <a:bodyPr/>
          <a:lstStyle/>
          <a:p>
            <a:r>
              <a:rPr lang="en-US" noProof="0" dirty="0"/>
              <a:t>Use Copilot in Outlook to draft an email summarizing the variance analysis summary. Attach the PowerPoint and share with stakeholders.</a:t>
            </a:r>
          </a:p>
        </p:txBody>
      </p:sp>
      <p:sp>
        <p:nvSpPr>
          <p:cNvPr id="303" name="Text Placeholder 302">
            <a:extLst>
              <a:ext uri="{FF2B5EF4-FFF2-40B4-BE49-F238E27FC236}">
                <a16:creationId xmlns:a16="http://schemas.microsoft.com/office/drawing/2014/main" id="{3BCA5B0E-9A67-128B-C581-E2E89A881C3F}"/>
              </a:ext>
            </a:extLst>
          </p:cNvPr>
          <p:cNvSpPr>
            <a:spLocks noGrp="1"/>
          </p:cNvSpPr>
          <p:nvPr>
            <p:ph type="body" sz="quarter" idx="69"/>
          </p:nvPr>
        </p:nvSpPr>
        <p:spPr>
          <a:xfrm>
            <a:off x="7507483" y="5338502"/>
            <a:ext cx="3161734" cy="712876"/>
          </a:xfrm>
        </p:spPr>
        <p:txBody>
          <a:bodyPr/>
          <a:lstStyle/>
          <a:p>
            <a:r>
              <a:rPr lang="en-US" noProof="0" dirty="0"/>
              <a:t>Example prompt: Create a presentation from the following variance analysis summary [Paste summary].</a:t>
            </a:r>
          </a:p>
          <a:p>
            <a:r>
              <a:rPr lang="en-US" u="sng" dirty="0">
                <a:hlinkClick r:id="rId2"/>
              </a:rPr>
              <a:t>Get started with Word, Excel, and PowerPoint Agents</a:t>
            </a:r>
            <a:endParaRPr lang="en-US" noProof="0" dirty="0"/>
          </a:p>
        </p:txBody>
      </p:sp>
      <p:sp>
        <p:nvSpPr>
          <p:cNvPr id="301" name="Text Placeholder 300">
            <a:extLst>
              <a:ext uri="{FF2B5EF4-FFF2-40B4-BE49-F238E27FC236}">
                <a16:creationId xmlns:a16="http://schemas.microsoft.com/office/drawing/2014/main" id="{2F2BEBF1-0DB7-9124-4F3A-01929A784A62}"/>
              </a:ext>
            </a:extLst>
          </p:cNvPr>
          <p:cNvSpPr>
            <a:spLocks noGrp="1"/>
          </p:cNvSpPr>
          <p:nvPr>
            <p:ph type="body" sz="quarter" idx="61"/>
          </p:nvPr>
        </p:nvSpPr>
        <p:spPr>
          <a:xfrm>
            <a:off x="7507483" y="3725103"/>
            <a:ext cx="3161734" cy="153888"/>
          </a:xfrm>
        </p:spPr>
        <p:txBody>
          <a:bodyPr/>
          <a:lstStyle/>
          <a:p>
            <a:r>
              <a:rPr lang="en-US" noProof="0" dirty="0"/>
              <a:t>Report findings</a:t>
            </a:r>
          </a:p>
        </p:txBody>
      </p:sp>
      <p:sp>
        <p:nvSpPr>
          <p:cNvPr id="302" name="Text Placeholder 301">
            <a:extLst>
              <a:ext uri="{FF2B5EF4-FFF2-40B4-BE49-F238E27FC236}">
                <a16:creationId xmlns:a16="http://schemas.microsoft.com/office/drawing/2014/main" id="{18DF6370-5C9F-A04A-2BF9-690E377BF869}"/>
              </a:ext>
            </a:extLst>
          </p:cNvPr>
          <p:cNvSpPr>
            <a:spLocks noGrp="1"/>
          </p:cNvSpPr>
          <p:nvPr>
            <p:ph type="body" sz="quarter" idx="62"/>
          </p:nvPr>
        </p:nvSpPr>
        <p:spPr>
          <a:xfrm>
            <a:off x="7507483" y="4050957"/>
            <a:ext cx="3161734" cy="626701"/>
          </a:xfrm>
        </p:spPr>
        <p:txBody>
          <a:bodyPr/>
          <a:lstStyle/>
          <a:p>
            <a:r>
              <a:rPr lang="en-US" noProof="0" dirty="0"/>
              <a:t>Use </a:t>
            </a:r>
            <a:r>
              <a:rPr lang="en-US" dirty="0"/>
              <a:t>PowerPoint</a:t>
            </a:r>
            <a:r>
              <a:rPr lang="en-US" noProof="0" dirty="0"/>
              <a:t> Agent to accelerate the creation of a PowerPoint presentation summarizing key findings from the variance analysis summary. </a:t>
            </a:r>
          </a:p>
        </p:txBody>
      </p:sp>
      <p:sp>
        <p:nvSpPr>
          <p:cNvPr id="300" name="Text Placeholder 299">
            <a:extLst>
              <a:ext uri="{FF2B5EF4-FFF2-40B4-BE49-F238E27FC236}">
                <a16:creationId xmlns:a16="http://schemas.microsoft.com/office/drawing/2014/main" id="{4EA8BB8F-3D22-1FF5-B861-315ABB9CC9E8}"/>
              </a:ext>
            </a:extLst>
          </p:cNvPr>
          <p:cNvSpPr>
            <a:spLocks noGrp="1"/>
          </p:cNvSpPr>
          <p:nvPr>
            <p:ph type="body" sz="quarter" idx="68"/>
          </p:nvPr>
        </p:nvSpPr>
        <p:spPr>
          <a:xfrm>
            <a:off x="4036409" y="5338502"/>
            <a:ext cx="3161734" cy="712876"/>
          </a:xfrm>
        </p:spPr>
        <p:txBody>
          <a:bodyPr/>
          <a:lstStyle/>
          <a:p>
            <a:r>
              <a:rPr lang="en-US" noProof="0" dirty="0"/>
              <a:t>Example prompt: Draft an email to stakeholders based on the following variance analysis summary. </a:t>
            </a:r>
          </a:p>
        </p:txBody>
      </p:sp>
      <p:sp>
        <p:nvSpPr>
          <p:cNvPr id="304" name="Text Placeholder 303">
            <a:extLst>
              <a:ext uri="{FF2B5EF4-FFF2-40B4-BE49-F238E27FC236}">
                <a16:creationId xmlns:a16="http://schemas.microsoft.com/office/drawing/2014/main" id="{29DEFF9E-FF8B-A24C-9F44-153E38F7E44C}"/>
              </a:ext>
            </a:extLst>
          </p:cNvPr>
          <p:cNvSpPr>
            <a:spLocks noGrp="1"/>
          </p:cNvSpPr>
          <p:nvPr>
            <p:ph type="body" sz="quarter" idx="64"/>
          </p:nvPr>
        </p:nvSpPr>
        <p:spPr>
          <a:xfrm>
            <a:off x="320721" y="4709762"/>
            <a:ext cx="1131651" cy="219456"/>
          </a:xfrm>
        </p:spPr>
        <p:txBody>
          <a:bodyPr/>
          <a:lstStyle/>
          <a:p>
            <a:r>
              <a:rPr lang="en-US" noProof="0" dirty="0"/>
              <a:t>Value benefit</a:t>
            </a:r>
          </a:p>
        </p:txBody>
      </p:sp>
      <p:sp>
        <p:nvSpPr>
          <p:cNvPr id="305" name="Text Placeholder 304">
            <a:extLst>
              <a:ext uri="{FF2B5EF4-FFF2-40B4-BE49-F238E27FC236}">
                <a16:creationId xmlns:a16="http://schemas.microsoft.com/office/drawing/2014/main" id="{A908ED85-8B44-F506-94A2-9B069C8481E4}"/>
              </a:ext>
            </a:extLst>
          </p:cNvPr>
          <p:cNvSpPr>
            <a:spLocks noGrp="1"/>
          </p:cNvSpPr>
          <p:nvPr>
            <p:ph type="body" sz="quarter" idx="65"/>
          </p:nvPr>
        </p:nvSpPr>
        <p:spPr>
          <a:xfrm>
            <a:off x="320721" y="3467940"/>
            <a:ext cx="1131650" cy="219456"/>
          </a:xfrm>
        </p:spPr>
        <p:txBody>
          <a:bodyPr/>
          <a:lstStyle/>
          <a:p>
            <a:r>
              <a:rPr lang="en-US" noProof="0" dirty="0"/>
              <a:t>KPIs impacted</a:t>
            </a:r>
          </a:p>
        </p:txBody>
      </p:sp>
      <p:sp>
        <p:nvSpPr>
          <p:cNvPr id="263" name="Text Placeholder 262">
            <a:extLst>
              <a:ext uri="{FF2B5EF4-FFF2-40B4-BE49-F238E27FC236}">
                <a16:creationId xmlns:a16="http://schemas.microsoft.com/office/drawing/2014/main" id="{9A100B46-1F18-206A-A58B-0BD3C9437474}"/>
              </a:ext>
            </a:extLst>
          </p:cNvPr>
          <p:cNvSpPr>
            <a:spLocks noGrp="1"/>
          </p:cNvSpPr>
          <p:nvPr>
            <p:ph type="body" sz="quarter" idx="33"/>
          </p:nvPr>
        </p:nvSpPr>
        <p:spPr>
          <a:xfrm>
            <a:off x="304796" y="413987"/>
            <a:ext cx="1941119" cy="307777"/>
          </a:xfrm>
        </p:spPr>
        <p:txBody>
          <a:bodyPr/>
          <a:lstStyle/>
          <a:p>
            <a:r>
              <a:rPr lang="en-US" noProof="0" dirty="0"/>
              <a:t>Finance </a:t>
            </a:r>
          </a:p>
        </p:txBody>
      </p:sp>
      <p:sp>
        <p:nvSpPr>
          <p:cNvPr id="240" name="Title 239">
            <a:extLst>
              <a:ext uri="{FF2B5EF4-FFF2-40B4-BE49-F238E27FC236}">
                <a16:creationId xmlns:a16="http://schemas.microsoft.com/office/drawing/2014/main" id="{2C357FF0-AD44-A966-8E1A-8F544D279067}"/>
              </a:ext>
            </a:extLst>
          </p:cNvPr>
          <p:cNvSpPr>
            <a:spLocks noGrp="1"/>
          </p:cNvSpPr>
          <p:nvPr>
            <p:ph type="title"/>
          </p:nvPr>
        </p:nvSpPr>
        <p:spPr>
          <a:xfrm>
            <a:off x="2492556" y="429376"/>
            <a:ext cx="4144817" cy="276999"/>
          </a:xfrm>
        </p:spPr>
        <p:txBody>
          <a:bodyPr/>
          <a:lstStyle/>
          <a:p>
            <a:r>
              <a:rPr lang="en-US" noProof="0" dirty="0"/>
              <a:t>Analyze business performance</a:t>
            </a:r>
          </a:p>
        </p:txBody>
      </p:sp>
      <p:grpSp>
        <p:nvGrpSpPr>
          <p:cNvPr id="308" name="Group 307">
            <a:extLst>
              <a:ext uri="{FF2B5EF4-FFF2-40B4-BE49-F238E27FC236}">
                <a16:creationId xmlns:a16="http://schemas.microsoft.com/office/drawing/2014/main" id="{1E076442-8EB3-46EA-1FF6-2F644DA8B47C}"/>
              </a:ext>
            </a:extLst>
          </p:cNvPr>
          <p:cNvGrpSpPr/>
          <p:nvPr/>
        </p:nvGrpSpPr>
        <p:grpSpPr>
          <a:xfrm>
            <a:off x="320719" y="5020658"/>
            <a:ext cx="1771605" cy="216000"/>
            <a:chOff x="320719" y="4224856"/>
            <a:chExt cx="1771605" cy="219456"/>
          </a:xfrm>
        </p:grpSpPr>
        <p:sp>
          <p:nvSpPr>
            <p:cNvPr id="309" name="Rectangle: Rounded Corners 6">
              <a:extLst>
                <a:ext uri="{FF2B5EF4-FFF2-40B4-BE49-F238E27FC236}">
                  <a16:creationId xmlns:a16="http://schemas.microsoft.com/office/drawing/2014/main" id="{306B74BD-63CE-C22A-A0F7-F10241D15F18}"/>
                </a:ext>
                <a:ext uri="{C183D7F6-B498-43B3-948B-1728B52AA6E4}">
                  <adec:decorative xmlns:adec="http://schemas.microsoft.com/office/drawing/2017/decorative" val="1"/>
                </a:ext>
              </a:extLst>
            </p:cNvPr>
            <p:cNvSpPr/>
            <p:nvPr/>
          </p:nvSpPr>
          <p:spPr bwMode="auto">
            <a:xfrm>
              <a:off x="320719" y="4224856"/>
              <a:ext cx="1771605" cy="219456"/>
            </a:xfrm>
            <a:prstGeom prst="roundRect">
              <a:avLst>
                <a:gd name="adj" fmla="val 50000"/>
              </a:avLst>
            </a:prstGeom>
            <a:solidFill>
              <a:srgbClr val="FFFFFF"/>
            </a:solidFill>
            <a:ln w="12700">
              <a:solidFill>
                <a:srgbClr val="C03BC4"/>
              </a:solidFill>
              <a:headEnd type="none" w="med" len="med"/>
              <a:tailEnd type="none" w="med" len="med"/>
            </a:ln>
            <a:effectLst>
              <a:outerShdw blurRad="63500" dist="63500" dir="2700000"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16000" tIns="36576" rIns="36000" bIns="36000" numCol="1" spcCol="0" rtlCol="0" fromWordArt="0" anchor="ctr" anchorCtr="0" forceAA="0" compatLnSpc="1">
              <a:prstTxWarp prst="textNoShape">
                <a:avLst/>
              </a:prstTxWarp>
              <a:noAutofit/>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C03BC4"/>
                  </a:solidFill>
                  <a:effectLst/>
                  <a:uLnTx/>
                  <a:uFillTx/>
                  <a:latin typeface="Segoe UI Semibold" panose="020B0702040204020203" pitchFamily="34" charset="0"/>
                  <a:ea typeface="+mn-ea"/>
                  <a:cs typeface="Segoe UI Semibold" panose="020B0702040204020203" pitchFamily="34" charset="0"/>
                </a:rPr>
                <a:t>Increase revenue</a:t>
              </a:r>
            </a:p>
          </p:txBody>
        </p:sp>
        <p:pic>
          <p:nvPicPr>
            <p:cNvPr id="310" name="Graphic 309">
              <a:extLst>
                <a:ext uri="{FF2B5EF4-FFF2-40B4-BE49-F238E27FC236}">
                  <a16:creationId xmlns:a16="http://schemas.microsoft.com/office/drawing/2014/main" id="{36C6D0B3-639C-784F-AEF0-4C105184D3F6}"/>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67506" y="4260849"/>
              <a:ext cx="144000" cy="144000"/>
            </a:xfrm>
            <a:prstGeom prst="rect">
              <a:avLst/>
            </a:prstGeom>
          </p:spPr>
        </p:pic>
      </p:grpSp>
      <p:grpSp>
        <p:nvGrpSpPr>
          <p:cNvPr id="311" name="Group 310">
            <a:extLst>
              <a:ext uri="{FF2B5EF4-FFF2-40B4-BE49-F238E27FC236}">
                <a16:creationId xmlns:a16="http://schemas.microsoft.com/office/drawing/2014/main" id="{556AA98F-8C38-1544-A602-02BBEE471FF4}"/>
              </a:ext>
            </a:extLst>
          </p:cNvPr>
          <p:cNvGrpSpPr/>
          <p:nvPr/>
        </p:nvGrpSpPr>
        <p:grpSpPr>
          <a:xfrm>
            <a:off x="320719" y="3778836"/>
            <a:ext cx="1771605" cy="216000"/>
            <a:chOff x="320719" y="4224856"/>
            <a:chExt cx="1771605" cy="219456"/>
          </a:xfrm>
        </p:grpSpPr>
        <p:sp>
          <p:nvSpPr>
            <p:cNvPr id="312" name="Rectangle: Rounded Corners 6">
              <a:extLst>
                <a:ext uri="{FF2B5EF4-FFF2-40B4-BE49-F238E27FC236}">
                  <a16:creationId xmlns:a16="http://schemas.microsoft.com/office/drawing/2014/main" id="{5314E39D-95C9-E2D7-02F5-44441D3C836B}"/>
                </a:ext>
                <a:ext uri="{C183D7F6-B498-43B3-948B-1728B52AA6E4}">
                  <adec:decorative xmlns:adec="http://schemas.microsoft.com/office/drawing/2017/decorative" val="1"/>
                </a:ext>
              </a:extLst>
            </p:cNvPr>
            <p:cNvSpPr/>
            <p:nvPr/>
          </p:nvSpPr>
          <p:spPr bwMode="auto">
            <a:xfrm>
              <a:off x="320719" y="4224856"/>
              <a:ext cx="1771605" cy="219456"/>
            </a:xfrm>
            <a:prstGeom prst="roundRect">
              <a:avLst>
                <a:gd name="adj" fmla="val 50000"/>
              </a:avLst>
            </a:prstGeom>
            <a:solidFill>
              <a:srgbClr val="FFFFFF"/>
            </a:solidFill>
            <a:ln w="12700">
              <a:solidFill>
                <a:srgbClr val="0078D4"/>
              </a:solidFill>
              <a:headEnd type="none" w="med" len="med"/>
              <a:tailEnd type="none" w="med" len="med"/>
            </a:ln>
            <a:effectLst>
              <a:outerShdw blurRad="63500" dist="63500" dir="2700000"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16000" tIns="36576" rIns="36000" bIns="36000" numCol="1" spcCol="0" rtlCol="0" fromWordArt="0" anchor="ctr" anchorCtr="0" forceAA="0" compatLnSpc="1">
              <a:prstTxWarp prst="textNoShape">
                <a:avLst/>
              </a:prstTxWarp>
              <a:noAutofit/>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78D4"/>
                  </a:solidFill>
                  <a:effectLst/>
                  <a:uLnTx/>
                  <a:uFillTx/>
                  <a:latin typeface="Segoe UI Semibold"/>
                  <a:ea typeface="+mn-ea"/>
                  <a:cs typeface="Segoe UI Semibold" panose="020B0702040204020203" pitchFamily="34" charset="0"/>
                </a:rPr>
                <a:t>Decision-making speed</a:t>
              </a:r>
            </a:p>
          </p:txBody>
        </p:sp>
        <p:pic>
          <p:nvPicPr>
            <p:cNvPr id="313" name="Graphic 312">
              <a:extLst>
                <a:ext uri="{FF2B5EF4-FFF2-40B4-BE49-F238E27FC236}">
                  <a16:creationId xmlns:a16="http://schemas.microsoft.com/office/drawing/2014/main" id="{4FE5141B-A78C-6F17-27AA-6BBCB1CC628D}"/>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367506" y="4260849"/>
              <a:ext cx="144000" cy="144000"/>
            </a:xfrm>
            <a:prstGeom prst="rect">
              <a:avLst/>
            </a:prstGeom>
          </p:spPr>
        </p:pic>
      </p:grpSp>
      <p:grpSp>
        <p:nvGrpSpPr>
          <p:cNvPr id="314" name="Group 313">
            <a:extLst>
              <a:ext uri="{FF2B5EF4-FFF2-40B4-BE49-F238E27FC236}">
                <a16:creationId xmlns:a16="http://schemas.microsoft.com/office/drawing/2014/main" id="{1419C648-E33E-DC1A-B4D8-F5A0161E5597}"/>
              </a:ext>
            </a:extLst>
          </p:cNvPr>
          <p:cNvGrpSpPr/>
          <p:nvPr/>
        </p:nvGrpSpPr>
        <p:grpSpPr>
          <a:xfrm>
            <a:off x="320721" y="4067450"/>
            <a:ext cx="1771605" cy="216000"/>
            <a:chOff x="320721" y="4517211"/>
            <a:chExt cx="1771605" cy="216000"/>
          </a:xfrm>
        </p:grpSpPr>
        <p:sp>
          <p:nvSpPr>
            <p:cNvPr id="315" name="Rectangle: Rounded Corners 6">
              <a:extLst>
                <a:ext uri="{FF2B5EF4-FFF2-40B4-BE49-F238E27FC236}">
                  <a16:creationId xmlns:a16="http://schemas.microsoft.com/office/drawing/2014/main" id="{E1851C54-C584-0E51-9787-94800C7C512B}"/>
                </a:ext>
                <a:ext uri="{C183D7F6-B498-43B3-948B-1728B52AA6E4}">
                  <adec:decorative xmlns:adec="http://schemas.microsoft.com/office/drawing/2017/decorative" val="1"/>
                </a:ext>
              </a:extLst>
            </p:cNvPr>
            <p:cNvSpPr>
              <a:spLocks/>
            </p:cNvSpPr>
            <p:nvPr/>
          </p:nvSpPr>
          <p:spPr bwMode="auto">
            <a:xfrm>
              <a:off x="320721" y="4517211"/>
              <a:ext cx="1771605" cy="216000"/>
            </a:xfrm>
            <a:prstGeom prst="roundRect">
              <a:avLst>
                <a:gd name="adj" fmla="val 50000"/>
              </a:avLst>
            </a:prstGeom>
            <a:solidFill>
              <a:srgbClr val="FFFFFF"/>
            </a:solidFill>
            <a:ln w="12700">
              <a:solidFill>
                <a:srgbClr val="0078D4"/>
              </a:solidFill>
              <a:headEnd type="none" w="med" len="med"/>
              <a:tailEnd type="none" w="med" len="med"/>
            </a:ln>
            <a:effectLst>
              <a:outerShdw blurRad="63500" dist="63500" dir="2700000"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16000" tIns="36576" rIns="36000" bIns="36000" numCol="1" spcCol="0" rtlCol="0" fromWordArt="0" anchor="ctr" anchorCtr="0" forceAA="0" compatLnSpc="1">
              <a:prstTxWarp prst="textNoShape">
                <a:avLst/>
              </a:prstTxWarp>
              <a:noAutofit/>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78D4"/>
                  </a:solidFill>
                  <a:effectLst/>
                  <a:uLnTx/>
                  <a:uFillTx/>
                  <a:latin typeface="Segoe UI Semibold"/>
                  <a:ea typeface="Times New Roman" panose="02020603050405020304" pitchFamily="18" charset="0"/>
                  <a:cs typeface="+mn-cs"/>
                </a:rPr>
                <a:t>Profit margin</a:t>
              </a:r>
              <a:endParaRPr kumimoji="0" lang="en-US" sz="900" b="0" i="0" u="none" strike="noStrike" kern="1200" cap="none" spc="0" normalizeH="0" baseline="0" noProof="0" dirty="0">
                <a:ln>
                  <a:noFill/>
                </a:ln>
                <a:solidFill>
                  <a:srgbClr val="0078D4"/>
                </a:solidFill>
                <a:effectLst/>
                <a:uLnTx/>
                <a:uFillTx/>
                <a:latin typeface="Segoe UI Semibold"/>
                <a:ea typeface="+mn-ea"/>
                <a:cs typeface="Segoe UI Semibold" panose="020B0702040204020203" pitchFamily="34" charset="0"/>
              </a:endParaRPr>
            </a:p>
          </p:txBody>
        </p:sp>
        <p:pic>
          <p:nvPicPr>
            <p:cNvPr id="316" name="Graphic 315">
              <a:extLst>
                <a:ext uri="{FF2B5EF4-FFF2-40B4-BE49-F238E27FC236}">
                  <a16:creationId xmlns:a16="http://schemas.microsoft.com/office/drawing/2014/main" id="{0DE6CF3D-7948-37AE-9E7B-FAC65BD01CC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67507" y="4552645"/>
              <a:ext cx="144000" cy="141732"/>
            </a:xfrm>
            <a:prstGeom prst="rect">
              <a:avLst/>
            </a:prstGeom>
          </p:spPr>
        </p:pic>
      </p:grpSp>
      <p:sp>
        <p:nvSpPr>
          <p:cNvPr id="346" name="TextBox 345">
            <a:extLst>
              <a:ext uri="{FF2B5EF4-FFF2-40B4-BE49-F238E27FC236}">
                <a16:creationId xmlns:a16="http://schemas.microsoft.com/office/drawing/2014/main" id="{BBD9CA3B-8067-DCD0-AB3F-6A78A9F788C2}"/>
              </a:ext>
              <a:ext uri="{C183D7F6-B498-43B3-948B-1728B52AA6E4}">
                <adec:decorative xmlns:adec="http://schemas.microsoft.com/office/drawing/2017/decorative" val="0"/>
              </a:ext>
            </a:extLst>
          </p:cNvPr>
          <p:cNvSpPr txBox="1"/>
          <p:nvPr/>
        </p:nvSpPr>
        <p:spPr>
          <a:xfrm>
            <a:off x="7887017" y="4886070"/>
            <a:ext cx="1830524" cy="1538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Semibold"/>
                <a:ea typeface="+mn-ea"/>
                <a:cs typeface="+mn-cs"/>
              </a:rPr>
              <a:t>PowerPoint Agent</a:t>
            </a:r>
            <a:endParaRPr kumimoji="0" lang="en-US" sz="900" b="0" i="0" u="none" strike="noStrike" kern="1200" cap="none" spc="0" normalizeH="0" baseline="0" noProof="0" dirty="0">
              <a:ln>
                <a:noFill/>
              </a:ln>
              <a:solidFill>
                <a:prstClr val="black"/>
              </a:solidFill>
              <a:effectLst/>
              <a:uLnTx/>
              <a:uFillTx/>
              <a:latin typeface="Segoe UI"/>
              <a:ea typeface="+mn-ea"/>
              <a:cs typeface="+mn-cs"/>
            </a:endParaRPr>
          </a:p>
        </p:txBody>
      </p:sp>
      <p:sp>
        <p:nvSpPr>
          <p:cNvPr id="349" name="TextBox 348">
            <a:extLst>
              <a:ext uri="{FF2B5EF4-FFF2-40B4-BE49-F238E27FC236}">
                <a16:creationId xmlns:a16="http://schemas.microsoft.com/office/drawing/2014/main" id="{ADE8F93B-0822-0D12-1BF9-F2E2B7BC2F4C}"/>
              </a:ext>
              <a:ext uri="{C183D7F6-B498-43B3-948B-1728B52AA6E4}">
                <adec:decorative xmlns:adec="http://schemas.microsoft.com/office/drawing/2017/decorative" val="0"/>
              </a:ext>
            </a:extLst>
          </p:cNvPr>
          <p:cNvSpPr txBox="1"/>
          <p:nvPr/>
        </p:nvSpPr>
        <p:spPr>
          <a:xfrm>
            <a:off x="4397907" y="4886070"/>
            <a:ext cx="1830524" cy="1538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Semibold"/>
                <a:ea typeface="+mn-ea"/>
                <a:cs typeface="+mn-cs"/>
              </a:rPr>
              <a:t>Copilot in Outlook</a:t>
            </a:r>
            <a:endParaRPr kumimoji="0" lang="en-US" sz="900" b="0" i="0" u="none" strike="noStrike" kern="1200" cap="none" spc="0" normalizeH="0" baseline="0" noProof="0" dirty="0">
              <a:ln>
                <a:noFill/>
              </a:ln>
              <a:solidFill>
                <a:prstClr val="black"/>
              </a:solidFill>
              <a:effectLst/>
              <a:uLnTx/>
              <a:uFillTx/>
              <a:latin typeface="Segoe UI"/>
              <a:ea typeface="+mn-ea"/>
              <a:cs typeface="+mn-cs"/>
            </a:endParaRPr>
          </a:p>
        </p:txBody>
      </p:sp>
      <p:sp>
        <p:nvSpPr>
          <p:cNvPr id="10" name="TextBox 9">
            <a:extLst>
              <a:ext uri="{FF2B5EF4-FFF2-40B4-BE49-F238E27FC236}">
                <a16:creationId xmlns:a16="http://schemas.microsoft.com/office/drawing/2014/main" id="{234945A3-800F-9070-03BF-6E254C3FDC96}"/>
              </a:ext>
              <a:ext uri="{C183D7F6-B498-43B3-948B-1728B52AA6E4}">
                <adec:decorative xmlns:adec="http://schemas.microsoft.com/office/drawing/2017/decorative" val="0"/>
              </a:ext>
            </a:extLst>
          </p:cNvPr>
          <p:cNvSpPr txBox="1"/>
          <p:nvPr/>
        </p:nvSpPr>
        <p:spPr>
          <a:xfrm>
            <a:off x="3562472" y="2286931"/>
            <a:ext cx="1830524" cy="1538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Semibold"/>
                <a:ea typeface="+mn-ea"/>
                <a:cs typeface="+mn-cs"/>
              </a:rPr>
              <a:t>Copilot in Excel</a:t>
            </a:r>
          </a:p>
        </p:txBody>
      </p:sp>
      <p:sp>
        <p:nvSpPr>
          <p:cNvPr id="11" name="TextBox 10">
            <a:extLst>
              <a:ext uri="{FF2B5EF4-FFF2-40B4-BE49-F238E27FC236}">
                <a16:creationId xmlns:a16="http://schemas.microsoft.com/office/drawing/2014/main" id="{12C5D569-6317-6BED-ED7B-6B95A73ABB0A}"/>
              </a:ext>
              <a:ext uri="{C183D7F6-B498-43B3-948B-1728B52AA6E4}">
                <adec:decorative xmlns:adec="http://schemas.microsoft.com/office/drawing/2017/decorative" val="0"/>
              </a:ext>
            </a:extLst>
          </p:cNvPr>
          <p:cNvSpPr txBox="1"/>
          <p:nvPr/>
        </p:nvSpPr>
        <p:spPr>
          <a:xfrm>
            <a:off x="6446959" y="2217681"/>
            <a:ext cx="1830524" cy="2923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Semibold"/>
                <a:ea typeface="+mn-ea"/>
                <a:cs typeface="+mn-cs"/>
              </a:rPr>
              <a:t>Copilot in Excel</a:t>
            </a:r>
          </a:p>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78D4"/>
                </a:solidFill>
                <a:effectLst/>
                <a:uLnTx/>
                <a:uFillTx/>
                <a:latin typeface="Segoe UI Semibold"/>
                <a:ea typeface="+mn-ea"/>
                <a:cs typeface="+mn-cs"/>
              </a:rPr>
              <a:t>+ Copilot for Finance</a:t>
            </a:r>
            <a:endParaRPr kumimoji="0" lang="en-US" sz="900" b="0" i="1" u="none" strike="noStrike" kern="1200" cap="none" spc="0" normalizeH="0" baseline="0" noProof="0" dirty="0">
              <a:ln>
                <a:noFill/>
              </a:ln>
              <a:solidFill>
                <a:srgbClr val="0078D4"/>
              </a:solidFill>
              <a:effectLst/>
              <a:uLnTx/>
              <a:uFillTx/>
              <a:latin typeface="Segoe UI Semibold"/>
              <a:ea typeface="+mn-ea"/>
              <a:cs typeface="+mn-cs"/>
            </a:endParaRPr>
          </a:p>
        </p:txBody>
      </p:sp>
      <p:sp>
        <p:nvSpPr>
          <p:cNvPr id="12" name="TextBox 11">
            <a:extLst>
              <a:ext uri="{FF2B5EF4-FFF2-40B4-BE49-F238E27FC236}">
                <a16:creationId xmlns:a16="http://schemas.microsoft.com/office/drawing/2014/main" id="{C36211C0-5BF2-E605-402B-053740431B07}"/>
              </a:ext>
              <a:ext uri="{C183D7F6-B498-43B3-948B-1728B52AA6E4}">
                <adec:decorative xmlns:adec="http://schemas.microsoft.com/office/drawing/2017/decorative" val="0"/>
              </a:ext>
            </a:extLst>
          </p:cNvPr>
          <p:cNvSpPr txBox="1"/>
          <p:nvPr/>
        </p:nvSpPr>
        <p:spPr>
          <a:xfrm>
            <a:off x="9328927" y="2217680"/>
            <a:ext cx="1629586" cy="2923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Semibold"/>
                <a:ea typeface="+mn-ea"/>
                <a:cs typeface="+mn-cs"/>
              </a:rPr>
              <a:t>Copilot in Excel</a:t>
            </a:r>
          </a:p>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78D4"/>
                </a:solidFill>
                <a:effectLst/>
                <a:uLnTx/>
                <a:uFillTx/>
                <a:latin typeface="Segoe UI Semibold"/>
                <a:ea typeface="+mn-ea"/>
                <a:cs typeface="+mn-cs"/>
              </a:rPr>
              <a:t>+ Copilot for Finance</a:t>
            </a:r>
            <a:endParaRPr kumimoji="0" lang="en-US" sz="900" b="0" i="1" u="none" strike="noStrike" kern="1200" cap="none" spc="0" normalizeH="0" baseline="0" noProof="0" dirty="0">
              <a:ln>
                <a:noFill/>
              </a:ln>
              <a:solidFill>
                <a:srgbClr val="0078D4"/>
              </a:solidFill>
              <a:effectLst/>
              <a:uLnTx/>
              <a:uFillTx/>
              <a:latin typeface="Segoe UI Semibold"/>
              <a:ea typeface="+mn-ea"/>
              <a:cs typeface="+mn-cs"/>
            </a:endParaRPr>
          </a:p>
        </p:txBody>
      </p:sp>
      <p:pic>
        <p:nvPicPr>
          <p:cNvPr id="2" name="Picture 1" descr="Excel logo">
            <a:extLst>
              <a:ext uri="{FF2B5EF4-FFF2-40B4-BE49-F238E27FC236}">
                <a16:creationId xmlns:a16="http://schemas.microsoft.com/office/drawing/2014/main" id="{9DE2B84B-FE76-E28E-5D35-61EC67B4326D}"/>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3182889" y="2255066"/>
            <a:ext cx="275670" cy="275670"/>
          </a:xfrm>
          <a:prstGeom prst="ellipse">
            <a:avLst/>
          </a:prstGeom>
          <a:solidFill>
            <a:schemeClr val="bg1"/>
          </a:solidFill>
        </p:spPr>
      </p:pic>
      <p:pic>
        <p:nvPicPr>
          <p:cNvPr id="3" name="Picture 2" descr="Excel logo">
            <a:extLst>
              <a:ext uri="{FF2B5EF4-FFF2-40B4-BE49-F238E27FC236}">
                <a16:creationId xmlns:a16="http://schemas.microsoft.com/office/drawing/2014/main" id="{127512AD-2BBD-17D1-A4BB-56C2B305A44A}"/>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6030747" y="2249380"/>
            <a:ext cx="275670" cy="275670"/>
          </a:xfrm>
          <a:prstGeom prst="ellipse">
            <a:avLst/>
          </a:prstGeom>
          <a:solidFill>
            <a:schemeClr val="bg1"/>
          </a:solidFill>
        </p:spPr>
      </p:pic>
      <p:pic>
        <p:nvPicPr>
          <p:cNvPr id="4" name="Picture 3" descr="Excel logo">
            <a:extLst>
              <a:ext uri="{FF2B5EF4-FFF2-40B4-BE49-F238E27FC236}">
                <a16:creationId xmlns:a16="http://schemas.microsoft.com/office/drawing/2014/main" id="{E9DC8B02-E79F-CDA2-A28E-B1790D281FDA}"/>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8878605" y="2249380"/>
            <a:ext cx="275670" cy="275670"/>
          </a:xfrm>
          <a:prstGeom prst="ellipse">
            <a:avLst/>
          </a:prstGeom>
          <a:solidFill>
            <a:schemeClr val="bg1"/>
          </a:solidFill>
        </p:spPr>
      </p:pic>
      <p:pic>
        <p:nvPicPr>
          <p:cNvPr id="5" name="Picture 4" descr="Outlook logo">
            <a:extLst>
              <a:ext uri="{FF2B5EF4-FFF2-40B4-BE49-F238E27FC236}">
                <a16:creationId xmlns:a16="http://schemas.microsoft.com/office/drawing/2014/main" id="{40A1DD71-76BF-175E-3DB1-3C9A3E39F22A}"/>
              </a:ext>
            </a:extLst>
          </p:cNvPr>
          <p:cNvPicPr>
            <a:picLocks noChangeAspect="1"/>
          </p:cNvPicPr>
          <p:nvPr/>
        </p:nvPicPr>
        <p:blipFill>
          <a:blip r:embed="rId6"/>
          <a:stretch>
            <a:fillRect/>
          </a:stretch>
        </p:blipFill>
        <p:spPr>
          <a:xfrm>
            <a:off x="4036409" y="4832881"/>
            <a:ext cx="265176" cy="265176"/>
          </a:xfrm>
          <a:prstGeom prst="rect">
            <a:avLst/>
          </a:prstGeom>
        </p:spPr>
      </p:pic>
      <p:pic>
        <p:nvPicPr>
          <p:cNvPr id="7" name="Picture 6" descr="PowerPoint logo">
            <a:extLst>
              <a:ext uri="{FF2B5EF4-FFF2-40B4-BE49-F238E27FC236}">
                <a16:creationId xmlns:a16="http://schemas.microsoft.com/office/drawing/2014/main" id="{6CA8646F-9754-D097-E1A7-98EEAD75B67F}"/>
              </a:ext>
            </a:extLst>
          </p:cNvPr>
          <p:cNvPicPr>
            <a:picLocks noChangeAspect="1"/>
          </p:cNvPicPr>
          <p:nvPr/>
        </p:nvPicPr>
        <p:blipFill>
          <a:blip r:embed="rId7"/>
          <a:stretch>
            <a:fillRect/>
          </a:stretch>
        </p:blipFill>
        <p:spPr>
          <a:xfrm>
            <a:off x="7507483" y="4832881"/>
            <a:ext cx="265176" cy="265176"/>
          </a:xfrm>
          <a:prstGeom prst="rect">
            <a:avLst/>
          </a:prstGeom>
        </p:spPr>
      </p:pic>
    </p:spTree>
    <p:extLst>
      <p:ext uri="{BB962C8B-B14F-4D97-AF65-F5344CB8AC3E}">
        <p14:creationId xmlns:p14="http://schemas.microsoft.com/office/powerpoint/2010/main" val="2994355264"/>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85FDDA-D777-F530-C10B-4A9885BDE545}"/>
            </a:ext>
          </a:extLst>
        </p:cNvPr>
        <p:cNvGrpSpPr/>
        <p:nvPr/>
      </p:nvGrpSpPr>
      <p:grpSpPr>
        <a:xfrm>
          <a:off x="0" y="0"/>
          <a:ext cx="0" cy="0"/>
          <a:chOff x="0" y="0"/>
          <a:chExt cx="0" cy="0"/>
        </a:xfrm>
      </p:grpSpPr>
      <p:sp>
        <p:nvSpPr>
          <p:cNvPr id="368" name="Text Placeholder 367">
            <a:extLst>
              <a:ext uri="{FF2B5EF4-FFF2-40B4-BE49-F238E27FC236}">
                <a16:creationId xmlns:a16="http://schemas.microsoft.com/office/drawing/2014/main" id="{4A3AF4F1-1715-7F54-75EF-C2280B5A6851}"/>
              </a:ext>
            </a:extLst>
          </p:cNvPr>
          <p:cNvSpPr>
            <a:spLocks noGrp="1"/>
          </p:cNvSpPr>
          <p:nvPr>
            <p:ph type="body" sz="quarter" idx="32"/>
          </p:nvPr>
        </p:nvSpPr>
        <p:spPr>
          <a:xfrm>
            <a:off x="311388" y="1026303"/>
            <a:ext cx="2431246" cy="1131079"/>
          </a:xfrm>
        </p:spPr>
        <p:txBody>
          <a:bodyPr/>
          <a:lstStyle/>
          <a:p>
            <a:r>
              <a:rPr lang="en-US" noProof="0" dirty="0"/>
              <a:t>Copilot for Finance can help financial analysts with variance analysis to help improve decision making and keep the business on track to meet performance goals.</a:t>
            </a:r>
          </a:p>
        </p:txBody>
      </p:sp>
      <p:sp>
        <p:nvSpPr>
          <p:cNvPr id="202" name="Text Placeholder 201">
            <a:extLst>
              <a:ext uri="{FF2B5EF4-FFF2-40B4-BE49-F238E27FC236}">
                <a16:creationId xmlns:a16="http://schemas.microsoft.com/office/drawing/2014/main" id="{0E410839-E8BB-608D-C9E1-11ED253D028C}"/>
              </a:ext>
            </a:extLst>
          </p:cNvPr>
          <p:cNvSpPr>
            <a:spLocks noGrp="1"/>
          </p:cNvSpPr>
          <p:nvPr>
            <p:ph type="body" sz="quarter" idx="33"/>
          </p:nvPr>
        </p:nvSpPr>
        <p:spPr>
          <a:xfrm>
            <a:off x="304796" y="413987"/>
            <a:ext cx="2057403" cy="307777"/>
          </a:xfrm>
        </p:spPr>
        <p:txBody>
          <a:bodyPr/>
          <a:lstStyle/>
          <a:p>
            <a:r>
              <a:rPr lang="en-US" noProof="0" dirty="0"/>
              <a:t>Finance</a:t>
            </a:r>
          </a:p>
        </p:txBody>
      </p:sp>
      <p:sp>
        <p:nvSpPr>
          <p:cNvPr id="200" name="Text Placeholder 199">
            <a:extLst>
              <a:ext uri="{FF2B5EF4-FFF2-40B4-BE49-F238E27FC236}">
                <a16:creationId xmlns:a16="http://schemas.microsoft.com/office/drawing/2014/main" id="{9BF2B98D-142C-6CD9-57F3-3C6B6420796F}"/>
              </a:ext>
            </a:extLst>
          </p:cNvPr>
          <p:cNvSpPr>
            <a:spLocks noGrp="1"/>
          </p:cNvSpPr>
          <p:nvPr>
            <p:ph type="body" sz="quarter" idx="30"/>
          </p:nvPr>
        </p:nvSpPr>
        <p:spPr>
          <a:xfrm>
            <a:off x="10430351" y="521099"/>
            <a:ext cx="1456966" cy="175614"/>
          </a:xfrm>
        </p:spPr>
        <p:txBody>
          <a:bodyPr/>
          <a:lstStyle/>
          <a:p>
            <a:r>
              <a:rPr lang="en-US" noProof="0" dirty="0"/>
              <a:t>Buy</a:t>
            </a:r>
          </a:p>
        </p:txBody>
      </p:sp>
      <p:sp>
        <p:nvSpPr>
          <p:cNvPr id="198" name="Text Placeholder 197">
            <a:extLst>
              <a:ext uri="{FF2B5EF4-FFF2-40B4-BE49-F238E27FC236}">
                <a16:creationId xmlns:a16="http://schemas.microsoft.com/office/drawing/2014/main" id="{112AC060-910C-63CD-ACC4-4B8DC520B90D}"/>
              </a:ext>
            </a:extLst>
          </p:cNvPr>
          <p:cNvSpPr>
            <a:spLocks noGrp="1"/>
          </p:cNvSpPr>
          <p:nvPr>
            <p:ph type="body" sz="quarter" idx="17"/>
          </p:nvPr>
        </p:nvSpPr>
        <p:spPr>
          <a:xfrm>
            <a:off x="7149557" y="521100"/>
            <a:ext cx="2969488" cy="169277"/>
          </a:xfrm>
        </p:spPr>
        <p:txBody>
          <a:bodyPr/>
          <a:lstStyle/>
          <a:p>
            <a:r>
              <a:rPr lang="en-US" noProof="0" dirty="0"/>
              <a:t>Microsoft 365 Copilot</a:t>
            </a:r>
          </a:p>
        </p:txBody>
      </p:sp>
      <p:sp>
        <p:nvSpPr>
          <p:cNvPr id="146" name="Title 145">
            <a:extLst>
              <a:ext uri="{FF2B5EF4-FFF2-40B4-BE49-F238E27FC236}">
                <a16:creationId xmlns:a16="http://schemas.microsoft.com/office/drawing/2014/main" id="{F0DCD9DB-EB8C-041D-166C-B1F56B4B3863}"/>
              </a:ext>
            </a:extLst>
          </p:cNvPr>
          <p:cNvSpPr>
            <a:spLocks noGrp="1"/>
          </p:cNvSpPr>
          <p:nvPr>
            <p:ph type="title"/>
          </p:nvPr>
        </p:nvSpPr>
        <p:spPr>
          <a:xfrm>
            <a:off x="2492556" y="429376"/>
            <a:ext cx="4144817" cy="276999"/>
          </a:xfrm>
        </p:spPr>
        <p:txBody>
          <a:bodyPr/>
          <a:lstStyle/>
          <a:p>
            <a:r>
              <a:rPr lang="en-US" noProof="0" dirty="0"/>
              <a:t>Analyze cashflow variances</a:t>
            </a:r>
          </a:p>
        </p:txBody>
      </p:sp>
      <p:sp>
        <p:nvSpPr>
          <p:cNvPr id="265" name="Text Placeholder 264">
            <a:extLst>
              <a:ext uri="{FF2B5EF4-FFF2-40B4-BE49-F238E27FC236}">
                <a16:creationId xmlns:a16="http://schemas.microsoft.com/office/drawing/2014/main" id="{B2C9C9F9-4EC5-42CB-ACC6-8E7DC5342AE4}"/>
              </a:ext>
            </a:extLst>
          </p:cNvPr>
          <p:cNvSpPr>
            <a:spLocks noGrp="1"/>
          </p:cNvSpPr>
          <p:nvPr>
            <p:ph type="body" sz="quarter" idx="69"/>
          </p:nvPr>
        </p:nvSpPr>
        <p:spPr>
          <a:xfrm>
            <a:off x="3182890" y="2725494"/>
            <a:ext cx="2572262" cy="712876"/>
          </a:xfrm>
        </p:spPr>
        <p:txBody>
          <a:bodyPr/>
          <a:lstStyle/>
          <a:p>
            <a:r>
              <a:rPr lang="en-US" noProof="0" dirty="0"/>
              <a:t>Example prompt: Suggest formulas to standardize the data formatting, including removing trailing spaces and correcting capitalization.</a:t>
            </a:r>
          </a:p>
        </p:txBody>
      </p:sp>
      <p:sp>
        <p:nvSpPr>
          <p:cNvPr id="197" name="Text Placeholder 196">
            <a:extLst>
              <a:ext uri="{FF2B5EF4-FFF2-40B4-BE49-F238E27FC236}">
                <a16:creationId xmlns:a16="http://schemas.microsoft.com/office/drawing/2014/main" id="{62217456-18F1-8921-552C-75169D359AFB}"/>
              </a:ext>
            </a:extLst>
          </p:cNvPr>
          <p:cNvSpPr>
            <a:spLocks noGrp="1"/>
          </p:cNvSpPr>
          <p:nvPr>
            <p:ph type="body" sz="quarter" idx="11"/>
          </p:nvPr>
        </p:nvSpPr>
        <p:spPr>
          <a:xfrm>
            <a:off x="3182890" y="1112478"/>
            <a:ext cx="2572262" cy="153888"/>
          </a:xfrm>
        </p:spPr>
        <p:txBody>
          <a:bodyPr/>
          <a:lstStyle/>
          <a:p>
            <a:r>
              <a:rPr lang="en-US" noProof="0" dirty="0"/>
              <a:t>Generate formulas to clean data</a:t>
            </a:r>
          </a:p>
        </p:txBody>
      </p:sp>
      <p:sp>
        <p:nvSpPr>
          <p:cNvPr id="199" name="Text Placeholder 198">
            <a:extLst>
              <a:ext uri="{FF2B5EF4-FFF2-40B4-BE49-F238E27FC236}">
                <a16:creationId xmlns:a16="http://schemas.microsoft.com/office/drawing/2014/main" id="{FC697022-7B61-BCAB-394E-C339BE4FFC4F}"/>
              </a:ext>
            </a:extLst>
          </p:cNvPr>
          <p:cNvSpPr>
            <a:spLocks noGrp="1"/>
          </p:cNvSpPr>
          <p:nvPr>
            <p:ph type="body" sz="quarter" idx="18"/>
          </p:nvPr>
        </p:nvSpPr>
        <p:spPr>
          <a:xfrm>
            <a:off x="3182890" y="1438715"/>
            <a:ext cx="2572262" cy="626701"/>
          </a:xfrm>
        </p:spPr>
        <p:txBody>
          <a:bodyPr/>
          <a:lstStyle/>
          <a:p>
            <a:r>
              <a:rPr lang="en-US" noProof="0" dirty="0"/>
              <a:t>Aggregate customer and supplier invoice and payment data into an Excel spreadsheet, then use Copilot for guidance on how to standardize the data formatting.</a:t>
            </a:r>
          </a:p>
          <a:p>
            <a:endParaRPr lang="en-US" noProof="0" dirty="0"/>
          </a:p>
        </p:txBody>
      </p:sp>
      <p:sp>
        <p:nvSpPr>
          <p:cNvPr id="204" name="Text Placeholder 203">
            <a:extLst>
              <a:ext uri="{FF2B5EF4-FFF2-40B4-BE49-F238E27FC236}">
                <a16:creationId xmlns:a16="http://schemas.microsoft.com/office/drawing/2014/main" id="{DD055146-F5CD-D723-D6D9-436962A55944}"/>
              </a:ext>
            </a:extLst>
          </p:cNvPr>
          <p:cNvSpPr>
            <a:spLocks noGrp="1"/>
          </p:cNvSpPr>
          <p:nvPr>
            <p:ph type="body" sz="quarter" idx="42"/>
          </p:nvPr>
        </p:nvSpPr>
        <p:spPr>
          <a:xfrm>
            <a:off x="6066682" y="1112478"/>
            <a:ext cx="2572262" cy="153888"/>
          </a:xfrm>
        </p:spPr>
        <p:txBody>
          <a:bodyPr/>
          <a:lstStyle/>
          <a:p>
            <a:r>
              <a:rPr lang="en-US" noProof="0" dirty="0"/>
              <a:t>Analyze cashflow patterns</a:t>
            </a:r>
          </a:p>
        </p:txBody>
      </p:sp>
      <p:sp>
        <p:nvSpPr>
          <p:cNvPr id="256" name="Text Placeholder 255">
            <a:extLst>
              <a:ext uri="{FF2B5EF4-FFF2-40B4-BE49-F238E27FC236}">
                <a16:creationId xmlns:a16="http://schemas.microsoft.com/office/drawing/2014/main" id="{B900BE96-A8CB-CDD1-736E-66223BE53F50}"/>
              </a:ext>
            </a:extLst>
          </p:cNvPr>
          <p:cNvSpPr>
            <a:spLocks noGrp="1"/>
          </p:cNvSpPr>
          <p:nvPr>
            <p:ph type="body" sz="quarter" idx="43"/>
          </p:nvPr>
        </p:nvSpPr>
        <p:spPr>
          <a:xfrm>
            <a:off x="6066682" y="1438715"/>
            <a:ext cx="2572262" cy="626701"/>
          </a:xfrm>
        </p:spPr>
        <p:txBody>
          <a:bodyPr/>
          <a:lstStyle/>
          <a:p>
            <a:r>
              <a:rPr lang="en-US" noProof="0" dirty="0"/>
              <a:t>Use Copilot for Finance in Excel to analyze variances across a 12-month rolling average to better understand seasonality shifts. </a:t>
            </a:r>
          </a:p>
          <a:p>
            <a:endParaRPr lang="en-US" noProof="0" dirty="0"/>
          </a:p>
        </p:txBody>
      </p:sp>
      <p:sp>
        <p:nvSpPr>
          <p:cNvPr id="259" name="Text Placeholder 258">
            <a:extLst>
              <a:ext uri="{FF2B5EF4-FFF2-40B4-BE49-F238E27FC236}">
                <a16:creationId xmlns:a16="http://schemas.microsoft.com/office/drawing/2014/main" id="{D850D487-9B30-5927-B72C-573B3E5FB84F}"/>
              </a:ext>
            </a:extLst>
          </p:cNvPr>
          <p:cNvSpPr>
            <a:spLocks noGrp="1"/>
          </p:cNvSpPr>
          <p:nvPr>
            <p:ph type="body" sz="quarter" idx="68"/>
          </p:nvPr>
        </p:nvSpPr>
        <p:spPr>
          <a:xfrm>
            <a:off x="8950475" y="2725494"/>
            <a:ext cx="2572262" cy="712876"/>
          </a:xfrm>
        </p:spPr>
        <p:txBody>
          <a:bodyPr/>
          <a:lstStyle/>
          <a:p>
            <a:r>
              <a:rPr lang="en-US" noProof="0" dirty="0"/>
              <a:t>Action: Review variances across a 12-month period, highlighting major variances to explore further.</a:t>
            </a:r>
          </a:p>
        </p:txBody>
      </p:sp>
      <p:sp>
        <p:nvSpPr>
          <p:cNvPr id="207" name="Text Placeholder 206">
            <a:extLst>
              <a:ext uri="{FF2B5EF4-FFF2-40B4-BE49-F238E27FC236}">
                <a16:creationId xmlns:a16="http://schemas.microsoft.com/office/drawing/2014/main" id="{2210B408-1306-7455-2ED4-DDB90F6F5463}"/>
              </a:ext>
            </a:extLst>
          </p:cNvPr>
          <p:cNvSpPr>
            <a:spLocks noGrp="1"/>
          </p:cNvSpPr>
          <p:nvPr>
            <p:ph type="body" sz="quarter" idx="45"/>
          </p:nvPr>
        </p:nvSpPr>
        <p:spPr>
          <a:xfrm>
            <a:off x="8950475" y="1112478"/>
            <a:ext cx="2572262" cy="153888"/>
          </a:xfrm>
        </p:spPr>
        <p:txBody>
          <a:bodyPr/>
          <a:lstStyle/>
          <a:p>
            <a:r>
              <a:rPr lang="en-US" noProof="0" dirty="0"/>
              <a:t>Review cashflow analysis</a:t>
            </a:r>
          </a:p>
        </p:txBody>
      </p:sp>
      <p:sp>
        <p:nvSpPr>
          <p:cNvPr id="258" name="Text Placeholder 257">
            <a:extLst>
              <a:ext uri="{FF2B5EF4-FFF2-40B4-BE49-F238E27FC236}">
                <a16:creationId xmlns:a16="http://schemas.microsoft.com/office/drawing/2014/main" id="{A653AE26-9262-40E7-5286-98C19F7FF4A2}"/>
              </a:ext>
            </a:extLst>
          </p:cNvPr>
          <p:cNvSpPr>
            <a:spLocks noGrp="1"/>
          </p:cNvSpPr>
          <p:nvPr>
            <p:ph type="body" sz="quarter" idx="46"/>
          </p:nvPr>
        </p:nvSpPr>
        <p:spPr>
          <a:xfrm>
            <a:off x="8950475" y="1438715"/>
            <a:ext cx="2572262" cy="626701"/>
          </a:xfrm>
        </p:spPr>
        <p:txBody>
          <a:bodyPr/>
          <a:lstStyle/>
          <a:p>
            <a:r>
              <a:rPr lang="en-US" noProof="0" dirty="0"/>
              <a:t>Review the variance analysis report for any major discrepancies.</a:t>
            </a:r>
          </a:p>
        </p:txBody>
      </p:sp>
      <p:sp>
        <p:nvSpPr>
          <p:cNvPr id="268" name="Text Placeholder 267">
            <a:extLst>
              <a:ext uri="{FF2B5EF4-FFF2-40B4-BE49-F238E27FC236}">
                <a16:creationId xmlns:a16="http://schemas.microsoft.com/office/drawing/2014/main" id="{DE6D2FCE-83DB-1DA2-6855-F0084B3F5059}"/>
              </a:ext>
            </a:extLst>
          </p:cNvPr>
          <p:cNvSpPr>
            <a:spLocks noGrp="1"/>
          </p:cNvSpPr>
          <p:nvPr>
            <p:ph type="body" sz="quarter" idx="70"/>
          </p:nvPr>
        </p:nvSpPr>
        <p:spPr>
          <a:xfrm>
            <a:off x="6066682" y="2725494"/>
            <a:ext cx="2572262" cy="712876"/>
          </a:xfrm>
        </p:spPr>
        <p:txBody>
          <a:bodyPr/>
          <a:lstStyle/>
          <a:p>
            <a:r>
              <a:rPr lang="en-US" noProof="0" dirty="0"/>
              <a:t>Action: Open Copilot for Finance in Excel and select Analyze variances. Define the threshold, e.g. 10%. </a:t>
            </a:r>
          </a:p>
        </p:txBody>
      </p:sp>
      <p:sp>
        <p:nvSpPr>
          <p:cNvPr id="260" name="Text Placeholder 259">
            <a:extLst>
              <a:ext uri="{FF2B5EF4-FFF2-40B4-BE49-F238E27FC236}">
                <a16:creationId xmlns:a16="http://schemas.microsoft.com/office/drawing/2014/main" id="{139495F6-AD56-AA10-F1C3-79EDC82D5559}"/>
              </a:ext>
            </a:extLst>
          </p:cNvPr>
          <p:cNvSpPr>
            <a:spLocks noGrp="1"/>
          </p:cNvSpPr>
          <p:nvPr>
            <p:ph type="body" sz="quarter" idx="48"/>
          </p:nvPr>
        </p:nvSpPr>
        <p:spPr>
          <a:xfrm>
            <a:off x="3182890" y="5334522"/>
            <a:ext cx="2572262" cy="712876"/>
          </a:xfrm>
        </p:spPr>
        <p:txBody>
          <a:bodyPr/>
          <a:lstStyle/>
          <a:p>
            <a:r>
              <a:rPr lang="en-US" noProof="0" dirty="0"/>
              <a:t>Example prompt: Recap the meeting and list any action items.</a:t>
            </a:r>
          </a:p>
        </p:txBody>
      </p:sp>
      <p:sp>
        <p:nvSpPr>
          <p:cNvPr id="261" name="Text Placeholder 260">
            <a:extLst>
              <a:ext uri="{FF2B5EF4-FFF2-40B4-BE49-F238E27FC236}">
                <a16:creationId xmlns:a16="http://schemas.microsoft.com/office/drawing/2014/main" id="{7C94FB6A-1D7E-6D5F-D8EA-29F0DCED19C4}"/>
              </a:ext>
            </a:extLst>
          </p:cNvPr>
          <p:cNvSpPr>
            <a:spLocks noGrp="1"/>
          </p:cNvSpPr>
          <p:nvPr>
            <p:ph type="body" sz="quarter" idx="49"/>
          </p:nvPr>
        </p:nvSpPr>
        <p:spPr>
          <a:xfrm>
            <a:off x="3182890" y="3725103"/>
            <a:ext cx="2572262" cy="153888"/>
          </a:xfrm>
        </p:spPr>
        <p:txBody>
          <a:bodyPr/>
          <a:lstStyle/>
          <a:p>
            <a:r>
              <a:rPr lang="en-US" noProof="0" dirty="0"/>
              <a:t>Distribute summary</a:t>
            </a:r>
          </a:p>
        </p:txBody>
      </p:sp>
      <p:sp>
        <p:nvSpPr>
          <p:cNvPr id="262" name="Text Placeholder 261">
            <a:extLst>
              <a:ext uri="{FF2B5EF4-FFF2-40B4-BE49-F238E27FC236}">
                <a16:creationId xmlns:a16="http://schemas.microsoft.com/office/drawing/2014/main" id="{95E6580A-9E70-75D2-F7A1-FAF28C45FEE3}"/>
              </a:ext>
            </a:extLst>
          </p:cNvPr>
          <p:cNvSpPr>
            <a:spLocks noGrp="1"/>
          </p:cNvSpPr>
          <p:nvPr>
            <p:ph type="body" sz="quarter" idx="50"/>
          </p:nvPr>
        </p:nvSpPr>
        <p:spPr>
          <a:xfrm>
            <a:off x="3182890" y="4050957"/>
            <a:ext cx="2572262" cy="626701"/>
          </a:xfrm>
        </p:spPr>
        <p:txBody>
          <a:bodyPr/>
          <a:lstStyle/>
          <a:p>
            <a:r>
              <a:rPr lang="en-US" noProof="0" dirty="0"/>
              <a:t>After your meeting, use Copilot in Teams to share a summary of your meeting and next steps.</a:t>
            </a:r>
          </a:p>
        </p:txBody>
      </p:sp>
      <p:sp>
        <p:nvSpPr>
          <p:cNvPr id="263" name="Text Placeholder 262">
            <a:extLst>
              <a:ext uri="{FF2B5EF4-FFF2-40B4-BE49-F238E27FC236}">
                <a16:creationId xmlns:a16="http://schemas.microsoft.com/office/drawing/2014/main" id="{E482DBDF-98FE-C956-E132-196E779D4941}"/>
              </a:ext>
            </a:extLst>
          </p:cNvPr>
          <p:cNvSpPr>
            <a:spLocks noGrp="1"/>
          </p:cNvSpPr>
          <p:nvPr>
            <p:ph type="body" sz="quarter" idx="51"/>
          </p:nvPr>
        </p:nvSpPr>
        <p:spPr>
          <a:xfrm>
            <a:off x="6066682" y="3725103"/>
            <a:ext cx="2572262" cy="153888"/>
          </a:xfrm>
        </p:spPr>
        <p:txBody>
          <a:bodyPr/>
          <a:lstStyle/>
          <a:p>
            <a:r>
              <a:rPr lang="en-US" noProof="0" dirty="0"/>
              <a:t>Generate premeeting report</a:t>
            </a:r>
          </a:p>
        </p:txBody>
      </p:sp>
      <p:sp>
        <p:nvSpPr>
          <p:cNvPr id="264" name="Text Placeholder 263">
            <a:extLst>
              <a:ext uri="{FF2B5EF4-FFF2-40B4-BE49-F238E27FC236}">
                <a16:creationId xmlns:a16="http://schemas.microsoft.com/office/drawing/2014/main" id="{65CE1B14-5A79-3E1A-96AA-D4C1747B131A}"/>
              </a:ext>
            </a:extLst>
          </p:cNvPr>
          <p:cNvSpPr>
            <a:spLocks noGrp="1"/>
          </p:cNvSpPr>
          <p:nvPr>
            <p:ph type="body" sz="quarter" idx="52"/>
          </p:nvPr>
        </p:nvSpPr>
        <p:spPr>
          <a:xfrm>
            <a:off x="6066682" y="4050957"/>
            <a:ext cx="2572262" cy="626701"/>
          </a:xfrm>
        </p:spPr>
        <p:txBody>
          <a:bodyPr/>
          <a:lstStyle/>
          <a:p>
            <a:r>
              <a:rPr lang="en-US" noProof="0" dirty="0"/>
              <a:t>Use Researcher to draft a premeeting report in Word.</a:t>
            </a:r>
          </a:p>
          <a:p>
            <a:endParaRPr lang="en-US" noProof="0" dirty="0"/>
          </a:p>
        </p:txBody>
      </p:sp>
      <p:sp>
        <p:nvSpPr>
          <p:cNvPr id="255" name="Text Placeholder 254">
            <a:extLst>
              <a:ext uri="{FF2B5EF4-FFF2-40B4-BE49-F238E27FC236}">
                <a16:creationId xmlns:a16="http://schemas.microsoft.com/office/drawing/2014/main" id="{1BD4CA9D-6A27-3AE0-87B2-BBA3D414E9D9}"/>
              </a:ext>
            </a:extLst>
          </p:cNvPr>
          <p:cNvSpPr>
            <a:spLocks noGrp="1"/>
          </p:cNvSpPr>
          <p:nvPr>
            <p:ph type="body" sz="quarter" idx="66"/>
          </p:nvPr>
        </p:nvSpPr>
        <p:spPr>
          <a:xfrm>
            <a:off x="8950475" y="5334522"/>
            <a:ext cx="2572262" cy="712876"/>
          </a:xfrm>
        </p:spPr>
        <p:txBody>
          <a:bodyPr/>
          <a:lstStyle/>
          <a:p>
            <a:r>
              <a:rPr lang="en-US" noProof="0" dirty="0"/>
              <a:t>Example prompt: Summarize the key conversation points and questions from the last 3 months regarding cashflow.</a:t>
            </a:r>
          </a:p>
        </p:txBody>
      </p:sp>
      <p:sp>
        <p:nvSpPr>
          <p:cNvPr id="266" name="Text Placeholder 265">
            <a:extLst>
              <a:ext uri="{FF2B5EF4-FFF2-40B4-BE49-F238E27FC236}">
                <a16:creationId xmlns:a16="http://schemas.microsoft.com/office/drawing/2014/main" id="{FF047998-EC23-A76A-C54E-F6CED435E004}"/>
              </a:ext>
            </a:extLst>
          </p:cNvPr>
          <p:cNvSpPr>
            <a:spLocks noGrp="1"/>
          </p:cNvSpPr>
          <p:nvPr>
            <p:ph type="body" sz="quarter" idx="54"/>
          </p:nvPr>
        </p:nvSpPr>
        <p:spPr>
          <a:xfrm>
            <a:off x="8950475" y="3725103"/>
            <a:ext cx="2572262" cy="153888"/>
          </a:xfrm>
        </p:spPr>
        <p:txBody>
          <a:bodyPr/>
          <a:lstStyle/>
          <a:p>
            <a:r>
              <a:rPr lang="en-US" noProof="0" dirty="0"/>
              <a:t>Review Teams conversations</a:t>
            </a:r>
          </a:p>
        </p:txBody>
      </p:sp>
      <p:sp>
        <p:nvSpPr>
          <p:cNvPr id="267" name="Text Placeholder 266">
            <a:extLst>
              <a:ext uri="{FF2B5EF4-FFF2-40B4-BE49-F238E27FC236}">
                <a16:creationId xmlns:a16="http://schemas.microsoft.com/office/drawing/2014/main" id="{74D85F2B-E3EC-97FA-F0C9-B9AD041BEA58}"/>
              </a:ext>
            </a:extLst>
          </p:cNvPr>
          <p:cNvSpPr>
            <a:spLocks noGrp="1"/>
          </p:cNvSpPr>
          <p:nvPr>
            <p:ph type="body" sz="quarter" idx="55"/>
          </p:nvPr>
        </p:nvSpPr>
        <p:spPr>
          <a:xfrm>
            <a:off x="8950475" y="4050957"/>
            <a:ext cx="2572262" cy="626701"/>
          </a:xfrm>
        </p:spPr>
        <p:txBody>
          <a:bodyPr/>
          <a:lstStyle/>
          <a:p>
            <a:r>
              <a:rPr lang="en-US" noProof="0" dirty="0"/>
              <a:t>Review Teams conversations for specific questions related to cashflow.</a:t>
            </a:r>
          </a:p>
          <a:p>
            <a:endParaRPr lang="en-US" noProof="0" dirty="0"/>
          </a:p>
        </p:txBody>
      </p:sp>
      <p:sp>
        <p:nvSpPr>
          <p:cNvPr id="257" name="Text Placeholder 256">
            <a:extLst>
              <a:ext uri="{FF2B5EF4-FFF2-40B4-BE49-F238E27FC236}">
                <a16:creationId xmlns:a16="http://schemas.microsoft.com/office/drawing/2014/main" id="{6924CA74-9270-D634-0F48-065E8B082B1A}"/>
              </a:ext>
            </a:extLst>
          </p:cNvPr>
          <p:cNvSpPr>
            <a:spLocks noGrp="1"/>
          </p:cNvSpPr>
          <p:nvPr>
            <p:ph type="body" sz="quarter" idx="67"/>
          </p:nvPr>
        </p:nvSpPr>
        <p:spPr>
          <a:xfrm>
            <a:off x="6066682" y="5334522"/>
            <a:ext cx="2572262" cy="712876"/>
          </a:xfrm>
        </p:spPr>
        <p:txBody>
          <a:bodyPr/>
          <a:lstStyle/>
          <a:p>
            <a:r>
              <a:rPr lang="en-US" noProof="0" dirty="0"/>
              <a:t>Example prompt: Generate a premeeting report with a meeting agenda, key highlights from the cashflow analysis, and key questions for discussion. [Paste cashflow analysis summary and summary from Teams conversations.]</a:t>
            </a:r>
          </a:p>
          <a:p>
            <a:r>
              <a:rPr lang="en-US" u="sng" dirty="0">
                <a:hlinkClick r:id="rId2"/>
              </a:rPr>
              <a:t>Get started with Researcher</a:t>
            </a:r>
            <a:endParaRPr lang="en-US" dirty="0"/>
          </a:p>
          <a:p>
            <a:endParaRPr lang="en-US" noProof="0" dirty="0"/>
          </a:p>
        </p:txBody>
      </p:sp>
      <p:sp>
        <p:nvSpPr>
          <p:cNvPr id="369" name="Text Placeholder 368">
            <a:extLst>
              <a:ext uri="{FF2B5EF4-FFF2-40B4-BE49-F238E27FC236}">
                <a16:creationId xmlns:a16="http://schemas.microsoft.com/office/drawing/2014/main" id="{17279328-0917-0BC8-6118-BA6CAF4683E0}"/>
              </a:ext>
            </a:extLst>
          </p:cNvPr>
          <p:cNvSpPr>
            <a:spLocks noGrp="1"/>
          </p:cNvSpPr>
          <p:nvPr>
            <p:ph type="body" sz="quarter" idx="64"/>
          </p:nvPr>
        </p:nvSpPr>
        <p:spPr>
          <a:xfrm>
            <a:off x="320721" y="4709762"/>
            <a:ext cx="1131651" cy="219456"/>
          </a:xfrm>
        </p:spPr>
        <p:txBody>
          <a:bodyPr/>
          <a:lstStyle/>
          <a:p>
            <a:pPr lvl="0"/>
            <a:r>
              <a:rPr lang="en-US" noProof="0" dirty="0"/>
              <a:t>Value benefit</a:t>
            </a:r>
          </a:p>
        </p:txBody>
      </p:sp>
      <p:sp>
        <p:nvSpPr>
          <p:cNvPr id="370" name="Text Placeholder 369">
            <a:extLst>
              <a:ext uri="{FF2B5EF4-FFF2-40B4-BE49-F238E27FC236}">
                <a16:creationId xmlns:a16="http://schemas.microsoft.com/office/drawing/2014/main" id="{DE7065B9-803B-1AE7-72F7-5DE344143446}"/>
              </a:ext>
            </a:extLst>
          </p:cNvPr>
          <p:cNvSpPr>
            <a:spLocks noGrp="1"/>
          </p:cNvSpPr>
          <p:nvPr>
            <p:ph type="body" sz="quarter" idx="65"/>
          </p:nvPr>
        </p:nvSpPr>
        <p:spPr>
          <a:xfrm>
            <a:off x="320721" y="3467940"/>
            <a:ext cx="1131650" cy="219456"/>
          </a:xfrm>
        </p:spPr>
        <p:txBody>
          <a:bodyPr/>
          <a:lstStyle/>
          <a:p>
            <a:pPr lvl="0"/>
            <a:r>
              <a:rPr lang="en-US" noProof="0" dirty="0"/>
              <a:t>KPIs impacted</a:t>
            </a:r>
          </a:p>
        </p:txBody>
      </p:sp>
      <p:grpSp>
        <p:nvGrpSpPr>
          <p:cNvPr id="392" name="Group 391">
            <a:extLst>
              <a:ext uri="{FF2B5EF4-FFF2-40B4-BE49-F238E27FC236}">
                <a16:creationId xmlns:a16="http://schemas.microsoft.com/office/drawing/2014/main" id="{905EE155-D3D4-CFB3-E254-0F61291BECA1}"/>
              </a:ext>
            </a:extLst>
          </p:cNvPr>
          <p:cNvGrpSpPr/>
          <p:nvPr/>
        </p:nvGrpSpPr>
        <p:grpSpPr>
          <a:xfrm>
            <a:off x="320719" y="5020658"/>
            <a:ext cx="1771605" cy="216000"/>
            <a:chOff x="320719" y="4224856"/>
            <a:chExt cx="1771605" cy="219456"/>
          </a:xfrm>
        </p:grpSpPr>
        <p:sp>
          <p:nvSpPr>
            <p:cNvPr id="393" name="Rectangle: Rounded Corners 6">
              <a:extLst>
                <a:ext uri="{FF2B5EF4-FFF2-40B4-BE49-F238E27FC236}">
                  <a16:creationId xmlns:a16="http://schemas.microsoft.com/office/drawing/2014/main" id="{2E3666E7-837A-763E-92F7-7C3303D44005}"/>
                </a:ext>
                <a:ext uri="{C183D7F6-B498-43B3-948B-1728B52AA6E4}">
                  <adec:decorative xmlns:adec="http://schemas.microsoft.com/office/drawing/2017/decorative" val="1"/>
                </a:ext>
              </a:extLst>
            </p:cNvPr>
            <p:cNvSpPr/>
            <p:nvPr/>
          </p:nvSpPr>
          <p:spPr bwMode="auto">
            <a:xfrm>
              <a:off x="320719" y="4224856"/>
              <a:ext cx="1771605" cy="219456"/>
            </a:xfrm>
            <a:prstGeom prst="roundRect">
              <a:avLst>
                <a:gd name="adj" fmla="val 50000"/>
              </a:avLst>
            </a:prstGeom>
            <a:solidFill>
              <a:srgbClr val="FFFFFF"/>
            </a:solidFill>
            <a:ln w="12700">
              <a:solidFill>
                <a:srgbClr val="C03BC4"/>
              </a:solidFill>
              <a:headEnd type="none" w="med" len="med"/>
              <a:tailEnd type="none" w="med" len="med"/>
            </a:ln>
            <a:effectLst>
              <a:outerShdw blurRad="63500" dist="63500" dir="2700000"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16000" tIns="36576" rIns="36000" bIns="36000" numCol="1" spcCol="0" rtlCol="0" fromWordArt="0" anchor="ctr" anchorCtr="0" forceAA="0" compatLnSpc="1">
              <a:prstTxWarp prst="textNoShape">
                <a:avLst/>
              </a:prstTxWarp>
              <a:noAutofit/>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C03BC4"/>
                  </a:solidFill>
                  <a:effectLst/>
                  <a:uLnTx/>
                  <a:uFillTx/>
                  <a:latin typeface="Segoe UI Semibold"/>
                  <a:ea typeface="+mn-ea"/>
                  <a:cs typeface="Segoe UI Semibold" panose="020B0702040204020203" pitchFamily="34" charset="0"/>
                </a:rPr>
                <a:t>Increase revenue</a:t>
              </a:r>
            </a:p>
          </p:txBody>
        </p:sp>
        <p:pic>
          <p:nvPicPr>
            <p:cNvPr id="394" name="Graphic 393">
              <a:extLst>
                <a:ext uri="{FF2B5EF4-FFF2-40B4-BE49-F238E27FC236}">
                  <a16:creationId xmlns:a16="http://schemas.microsoft.com/office/drawing/2014/main" id="{96875FB9-77B8-3E49-3AF4-5A0BADB7F3C2}"/>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67506" y="4260849"/>
              <a:ext cx="144000" cy="144000"/>
            </a:xfrm>
            <a:prstGeom prst="rect">
              <a:avLst/>
            </a:prstGeom>
          </p:spPr>
        </p:pic>
      </p:grpSp>
      <p:grpSp>
        <p:nvGrpSpPr>
          <p:cNvPr id="395" name="Group 394">
            <a:extLst>
              <a:ext uri="{FF2B5EF4-FFF2-40B4-BE49-F238E27FC236}">
                <a16:creationId xmlns:a16="http://schemas.microsoft.com/office/drawing/2014/main" id="{51324270-2603-E291-E212-D1370ACEC596}"/>
              </a:ext>
            </a:extLst>
          </p:cNvPr>
          <p:cNvGrpSpPr/>
          <p:nvPr/>
        </p:nvGrpSpPr>
        <p:grpSpPr>
          <a:xfrm>
            <a:off x="320719" y="3778836"/>
            <a:ext cx="1771605" cy="216000"/>
            <a:chOff x="320719" y="4224856"/>
            <a:chExt cx="1771605" cy="219456"/>
          </a:xfrm>
        </p:grpSpPr>
        <p:sp>
          <p:nvSpPr>
            <p:cNvPr id="396" name="Rectangle: Rounded Corners 6">
              <a:extLst>
                <a:ext uri="{FF2B5EF4-FFF2-40B4-BE49-F238E27FC236}">
                  <a16:creationId xmlns:a16="http://schemas.microsoft.com/office/drawing/2014/main" id="{E6C713F3-3819-EE36-E6D9-737ECD05B6CF}"/>
                </a:ext>
                <a:ext uri="{C183D7F6-B498-43B3-948B-1728B52AA6E4}">
                  <adec:decorative xmlns:adec="http://schemas.microsoft.com/office/drawing/2017/decorative" val="1"/>
                </a:ext>
              </a:extLst>
            </p:cNvPr>
            <p:cNvSpPr/>
            <p:nvPr/>
          </p:nvSpPr>
          <p:spPr bwMode="auto">
            <a:xfrm>
              <a:off x="320719" y="4224856"/>
              <a:ext cx="1771605" cy="219456"/>
            </a:xfrm>
            <a:prstGeom prst="roundRect">
              <a:avLst>
                <a:gd name="adj" fmla="val 50000"/>
              </a:avLst>
            </a:prstGeom>
            <a:solidFill>
              <a:srgbClr val="FFFFFF"/>
            </a:solidFill>
            <a:ln w="12700">
              <a:solidFill>
                <a:srgbClr val="0078D4"/>
              </a:solidFill>
              <a:headEnd type="none" w="med" len="med"/>
              <a:tailEnd type="none" w="med" len="med"/>
            </a:ln>
            <a:effectLst>
              <a:outerShdw blurRad="63500" dist="63500" dir="2700000"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16000" tIns="36576" rIns="36000" bIns="36000" numCol="1" spcCol="0" rtlCol="0" fromWordArt="0" anchor="ctr" anchorCtr="0" forceAA="0" compatLnSpc="1">
              <a:prstTxWarp prst="textNoShape">
                <a:avLst/>
              </a:prstTxWarp>
              <a:noAutofit/>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78D4"/>
                  </a:solidFill>
                  <a:effectLst/>
                  <a:uLnTx/>
                  <a:uFillTx/>
                  <a:latin typeface="Segoe UI Semibold"/>
                  <a:ea typeface="+mn-ea"/>
                  <a:cs typeface="Segoe UI Semibold" panose="020B0702040204020203" pitchFamily="34" charset="0"/>
                </a:rPr>
                <a:t>Operating cash flow ratio</a:t>
              </a:r>
            </a:p>
          </p:txBody>
        </p:sp>
        <p:pic>
          <p:nvPicPr>
            <p:cNvPr id="397" name="Graphic 396">
              <a:extLst>
                <a:ext uri="{FF2B5EF4-FFF2-40B4-BE49-F238E27FC236}">
                  <a16:creationId xmlns:a16="http://schemas.microsoft.com/office/drawing/2014/main" id="{3425C1AA-FF62-5875-8E1B-E39BFF9E4551}"/>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367506" y="4260849"/>
              <a:ext cx="144000" cy="144000"/>
            </a:xfrm>
            <a:prstGeom prst="rect">
              <a:avLst/>
            </a:prstGeom>
          </p:spPr>
        </p:pic>
      </p:grpSp>
      <p:grpSp>
        <p:nvGrpSpPr>
          <p:cNvPr id="398" name="Group 397">
            <a:extLst>
              <a:ext uri="{FF2B5EF4-FFF2-40B4-BE49-F238E27FC236}">
                <a16:creationId xmlns:a16="http://schemas.microsoft.com/office/drawing/2014/main" id="{00CDE740-C071-0AAC-62C7-B767BF9FA094}"/>
              </a:ext>
            </a:extLst>
          </p:cNvPr>
          <p:cNvGrpSpPr/>
          <p:nvPr/>
        </p:nvGrpSpPr>
        <p:grpSpPr>
          <a:xfrm>
            <a:off x="320721" y="4067450"/>
            <a:ext cx="1771605" cy="216000"/>
            <a:chOff x="320721" y="4517211"/>
            <a:chExt cx="1771605" cy="216000"/>
          </a:xfrm>
        </p:grpSpPr>
        <p:sp>
          <p:nvSpPr>
            <p:cNvPr id="399" name="Rectangle: Rounded Corners 6">
              <a:extLst>
                <a:ext uri="{FF2B5EF4-FFF2-40B4-BE49-F238E27FC236}">
                  <a16:creationId xmlns:a16="http://schemas.microsoft.com/office/drawing/2014/main" id="{4DE069B0-C28B-502C-7B20-08D5BB874C9C}"/>
                </a:ext>
                <a:ext uri="{C183D7F6-B498-43B3-948B-1728B52AA6E4}">
                  <adec:decorative xmlns:adec="http://schemas.microsoft.com/office/drawing/2017/decorative" val="1"/>
                </a:ext>
              </a:extLst>
            </p:cNvPr>
            <p:cNvSpPr>
              <a:spLocks/>
            </p:cNvSpPr>
            <p:nvPr/>
          </p:nvSpPr>
          <p:spPr bwMode="auto">
            <a:xfrm>
              <a:off x="320721" y="4517211"/>
              <a:ext cx="1771605" cy="216000"/>
            </a:xfrm>
            <a:prstGeom prst="roundRect">
              <a:avLst>
                <a:gd name="adj" fmla="val 50000"/>
              </a:avLst>
            </a:prstGeom>
            <a:solidFill>
              <a:srgbClr val="FFFFFF"/>
            </a:solidFill>
            <a:ln w="12700">
              <a:solidFill>
                <a:srgbClr val="0078D4"/>
              </a:solidFill>
              <a:headEnd type="none" w="med" len="med"/>
              <a:tailEnd type="none" w="med" len="med"/>
            </a:ln>
            <a:effectLst>
              <a:outerShdw blurRad="63500" dist="63500" dir="2700000"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16000" tIns="36576" rIns="36000" bIns="36000" numCol="1" spcCol="0" rtlCol="0" fromWordArt="0" anchor="ctr" anchorCtr="0" forceAA="0" compatLnSpc="1">
              <a:prstTxWarp prst="textNoShape">
                <a:avLst/>
              </a:prstTxWarp>
              <a:noAutofit/>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78D4"/>
                  </a:solidFill>
                  <a:effectLst/>
                  <a:uLnTx/>
                  <a:uFillTx/>
                  <a:latin typeface="Segoe UI Semibold"/>
                  <a:ea typeface="+mn-ea"/>
                  <a:cs typeface="Segoe UI Semibold"/>
                </a:rPr>
                <a:t>Days sales outstanding</a:t>
              </a:r>
            </a:p>
          </p:txBody>
        </p:sp>
        <p:pic>
          <p:nvPicPr>
            <p:cNvPr id="400" name="Graphic 399">
              <a:extLst>
                <a:ext uri="{FF2B5EF4-FFF2-40B4-BE49-F238E27FC236}">
                  <a16:creationId xmlns:a16="http://schemas.microsoft.com/office/drawing/2014/main" id="{94E248C8-D4F0-F653-9681-4D78E58F1DD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67507" y="4552645"/>
              <a:ext cx="144000" cy="141732"/>
            </a:xfrm>
            <a:prstGeom prst="rect">
              <a:avLst/>
            </a:prstGeom>
          </p:spPr>
        </p:pic>
      </p:grpSp>
      <p:grpSp>
        <p:nvGrpSpPr>
          <p:cNvPr id="401" name="Group 400">
            <a:extLst>
              <a:ext uri="{FF2B5EF4-FFF2-40B4-BE49-F238E27FC236}">
                <a16:creationId xmlns:a16="http://schemas.microsoft.com/office/drawing/2014/main" id="{51C55589-644F-5B70-B4CC-53D5B93D5430}"/>
              </a:ext>
            </a:extLst>
          </p:cNvPr>
          <p:cNvGrpSpPr/>
          <p:nvPr/>
        </p:nvGrpSpPr>
        <p:grpSpPr>
          <a:xfrm>
            <a:off x="320719" y="4356602"/>
            <a:ext cx="1771605" cy="216000"/>
            <a:chOff x="320719" y="4224856"/>
            <a:chExt cx="1771605" cy="219456"/>
          </a:xfrm>
        </p:grpSpPr>
        <p:sp>
          <p:nvSpPr>
            <p:cNvPr id="402" name="Rectangle: Rounded Corners 6">
              <a:extLst>
                <a:ext uri="{FF2B5EF4-FFF2-40B4-BE49-F238E27FC236}">
                  <a16:creationId xmlns:a16="http://schemas.microsoft.com/office/drawing/2014/main" id="{4BAE9ED9-8A79-1827-1F6B-49EEA0AFC8F7}"/>
                </a:ext>
                <a:ext uri="{C183D7F6-B498-43B3-948B-1728B52AA6E4}">
                  <adec:decorative xmlns:adec="http://schemas.microsoft.com/office/drawing/2017/decorative" val="1"/>
                </a:ext>
              </a:extLst>
            </p:cNvPr>
            <p:cNvSpPr/>
            <p:nvPr/>
          </p:nvSpPr>
          <p:spPr bwMode="auto">
            <a:xfrm>
              <a:off x="320719" y="4224856"/>
              <a:ext cx="1771605" cy="219456"/>
            </a:xfrm>
            <a:prstGeom prst="roundRect">
              <a:avLst>
                <a:gd name="adj" fmla="val 50000"/>
              </a:avLst>
            </a:prstGeom>
            <a:solidFill>
              <a:srgbClr val="FFFFFF"/>
            </a:solidFill>
            <a:ln w="12700">
              <a:solidFill>
                <a:srgbClr val="0078D4"/>
              </a:solidFill>
              <a:headEnd type="none" w="med" len="med"/>
              <a:tailEnd type="none" w="med" len="med"/>
            </a:ln>
            <a:effectLst>
              <a:outerShdw blurRad="63500" dist="63500" dir="2700000"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16000" tIns="36576" rIns="36000" bIns="36000" numCol="1" spcCol="0" rtlCol="0" fromWordArt="0" anchor="ctr" anchorCtr="0" forceAA="0" compatLnSpc="1">
              <a:prstTxWarp prst="textNoShape">
                <a:avLst/>
              </a:prstTxWarp>
              <a:noAutofit/>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78D4"/>
                  </a:solidFill>
                  <a:effectLst/>
                  <a:uLnTx/>
                  <a:uFillTx/>
                  <a:latin typeface="Segoe UI Semibold"/>
                  <a:ea typeface="+mn-ea"/>
                  <a:cs typeface="Segoe UI Semibold" panose="020B0702040204020203" pitchFamily="34" charset="0"/>
                </a:rPr>
                <a:t>Decision-making speed</a:t>
              </a:r>
            </a:p>
          </p:txBody>
        </p:sp>
        <p:pic>
          <p:nvPicPr>
            <p:cNvPr id="403" name="Graphic 402">
              <a:extLst>
                <a:ext uri="{FF2B5EF4-FFF2-40B4-BE49-F238E27FC236}">
                  <a16:creationId xmlns:a16="http://schemas.microsoft.com/office/drawing/2014/main" id="{4A85CDC8-2292-E9D8-6DB6-6D7F657C3889}"/>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367506" y="4260849"/>
              <a:ext cx="144000" cy="144000"/>
            </a:xfrm>
            <a:prstGeom prst="rect">
              <a:avLst/>
            </a:prstGeom>
          </p:spPr>
        </p:pic>
      </p:grpSp>
      <p:pic>
        <p:nvPicPr>
          <p:cNvPr id="388" name="Picture 6">
            <a:extLst>
              <a:ext uri="{FF2B5EF4-FFF2-40B4-BE49-F238E27FC236}">
                <a16:creationId xmlns:a16="http://schemas.microsoft.com/office/drawing/2014/main" id="{5062BF15-CDAD-6136-40FD-F293A64D52D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t="5571" b="5571"/>
          <a:stretch/>
        </p:blipFill>
        <p:spPr bwMode="auto">
          <a:xfrm>
            <a:off x="8967703" y="4851353"/>
            <a:ext cx="245612" cy="223322"/>
          </a:xfrm>
          <a:prstGeom prst="rect">
            <a:avLst/>
          </a:prstGeom>
          <a:noFill/>
          <a:extLst>
            <a:ext uri="{909E8E84-426E-40DD-AFC4-6F175D3DCCD1}">
              <a14:hiddenFill xmlns:a14="http://schemas.microsoft.com/office/drawing/2010/main">
                <a:solidFill>
                  <a:srgbClr val="FFFFFF"/>
                </a:solidFill>
              </a14:hiddenFill>
            </a:ext>
          </a:extLst>
        </p:spPr>
      </p:pic>
      <p:sp>
        <p:nvSpPr>
          <p:cNvPr id="37" name="TextBox 36">
            <a:extLst>
              <a:ext uri="{FF2B5EF4-FFF2-40B4-BE49-F238E27FC236}">
                <a16:creationId xmlns:a16="http://schemas.microsoft.com/office/drawing/2014/main" id="{4C9BEE04-1C2D-AEC0-ABAA-4DC3AF04857D}"/>
              </a:ext>
              <a:ext uri="{C183D7F6-B498-43B3-948B-1728B52AA6E4}">
                <adec:decorative xmlns:adec="http://schemas.microsoft.com/office/drawing/2017/decorative" val="0"/>
              </a:ext>
            </a:extLst>
          </p:cNvPr>
          <p:cNvSpPr txBox="1"/>
          <p:nvPr/>
        </p:nvSpPr>
        <p:spPr>
          <a:xfrm>
            <a:off x="3562472" y="2286931"/>
            <a:ext cx="1830524" cy="1538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Semibold"/>
                <a:ea typeface="+mn-ea"/>
                <a:cs typeface="+mn-cs"/>
              </a:rPr>
              <a:t>Copilot in Excel</a:t>
            </a:r>
          </a:p>
        </p:txBody>
      </p:sp>
      <p:sp>
        <p:nvSpPr>
          <p:cNvPr id="38" name="TextBox 37">
            <a:extLst>
              <a:ext uri="{FF2B5EF4-FFF2-40B4-BE49-F238E27FC236}">
                <a16:creationId xmlns:a16="http://schemas.microsoft.com/office/drawing/2014/main" id="{7F580FFD-D6CA-65DA-5A86-A583F03E49C7}"/>
              </a:ext>
              <a:ext uri="{C183D7F6-B498-43B3-948B-1728B52AA6E4}">
                <adec:decorative xmlns:adec="http://schemas.microsoft.com/office/drawing/2017/decorative" val="0"/>
              </a:ext>
            </a:extLst>
          </p:cNvPr>
          <p:cNvSpPr txBox="1"/>
          <p:nvPr/>
        </p:nvSpPr>
        <p:spPr>
          <a:xfrm>
            <a:off x="6446959" y="2217681"/>
            <a:ext cx="1830524" cy="2923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Semibold"/>
                <a:ea typeface="+mn-ea"/>
                <a:cs typeface="+mn-cs"/>
              </a:rPr>
              <a:t>Copilot in Excel</a:t>
            </a:r>
          </a:p>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78D4"/>
                </a:solidFill>
                <a:effectLst/>
                <a:uLnTx/>
                <a:uFillTx/>
                <a:latin typeface="Segoe UI Semibold"/>
                <a:ea typeface="+mn-ea"/>
                <a:cs typeface="+mn-cs"/>
              </a:rPr>
              <a:t>+ Copilot for Finance</a:t>
            </a:r>
            <a:endParaRPr kumimoji="0" lang="en-US" sz="900" b="0" i="1" u="none" strike="noStrike" kern="1200" cap="none" spc="0" normalizeH="0" baseline="0" noProof="0" dirty="0">
              <a:ln>
                <a:noFill/>
              </a:ln>
              <a:solidFill>
                <a:srgbClr val="0078D4"/>
              </a:solidFill>
              <a:effectLst/>
              <a:uLnTx/>
              <a:uFillTx/>
              <a:latin typeface="Segoe UI Semibold"/>
              <a:ea typeface="+mn-ea"/>
              <a:cs typeface="+mn-cs"/>
            </a:endParaRPr>
          </a:p>
        </p:txBody>
      </p:sp>
      <p:sp>
        <p:nvSpPr>
          <p:cNvPr id="39" name="TextBox 38">
            <a:extLst>
              <a:ext uri="{FF2B5EF4-FFF2-40B4-BE49-F238E27FC236}">
                <a16:creationId xmlns:a16="http://schemas.microsoft.com/office/drawing/2014/main" id="{A5F6FDB9-729B-77C4-AB02-9F9FCF388904}"/>
              </a:ext>
              <a:ext uri="{C183D7F6-B498-43B3-948B-1728B52AA6E4}">
                <adec:decorative xmlns:adec="http://schemas.microsoft.com/office/drawing/2017/decorative" val="0"/>
              </a:ext>
            </a:extLst>
          </p:cNvPr>
          <p:cNvSpPr txBox="1"/>
          <p:nvPr/>
        </p:nvSpPr>
        <p:spPr>
          <a:xfrm>
            <a:off x="9328927" y="2217680"/>
            <a:ext cx="1830524" cy="2923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Semibold"/>
                <a:ea typeface="+mn-ea"/>
                <a:cs typeface="+mn-cs"/>
              </a:rPr>
              <a:t>Copilot in Excel</a:t>
            </a:r>
          </a:p>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78D4"/>
                </a:solidFill>
                <a:effectLst/>
                <a:uLnTx/>
                <a:uFillTx/>
                <a:latin typeface="Segoe UI Semibold"/>
                <a:ea typeface="+mn-ea"/>
                <a:cs typeface="+mn-cs"/>
              </a:rPr>
              <a:t>+ Copilot for Finance</a:t>
            </a:r>
            <a:endParaRPr kumimoji="0" lang="en-US" sz="900" b="0" i="1" u="none" strike="noStrike" kern="1200" cap="none" spc="0" normalizeH="0" baseline="0" noProof="0" dirty="0">
              <a:ln>
                <a:noFill/>
              </a:ln>
              <a:solidFill>
                <a:srgbClr val="0078D4"/>
              </a:solidFill>
              <a:effectLst/>
              <a:uLnTx/>
              <a:uFillTx/>
              <a:latin typeface="Segoe UI Semibold"/>
              <a:ea typeface="+mn-ea"/>
              <a:cs typeface="+mn-cs"/>
            </a:endParaRPr>
          </a:p>
        </p:txBody>
      </p:sp>
      <p:sp>
        <p:nvSpPr>
          <p:cNvPr id="40" name="TextBox 39">
            <a:extLst>
              <a:ext uri="{FF2B5EF4-FFF2-40B4-BE49-F238E27FC236}">
                <a16:creationId xmlns:a16="http://schemas.microsoft.com/office/drawing/2014/main" id="{AA64FD4D-B306-272C-F46A-CD9D7507ED52}"/>
              </a:ext>
              <a:ext uri="{C183D7F6-B498-43B3-948B-1728B52AA6E4}">
                <adec:decorative xmlns:adec="http://schemas.microsoft.com/office/drawing/2017/decorative" val="0"/>
              </a:ext>
            </a:extLst>
          </p:cNvPr>
          <p:cNvSpPr txBox="1"/>
          <p:nvPr/>
        </p:nvSpPr>
        <p:spPr>
          <a:xfrm>
            <a:off x="6446959" y="4886070"/>
            <a:ext cx="1420949" cy="1538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Semibold"/>
                <a:ea typeface="+mn-ea"/>
                <a:cs typeface="+mn-cs"/>
              </a:rPr>
              <a:t>Researcher</a:t>
            </a:r>
          </a:p>
        </p:txBody>
      </p:sp>
      <p:pic>
        <p:nvPicPr>
          <p:cNvPr id="42" name="Picture 6">
            <a:extLst>
              <a:ext uri="{FF2B5EF4-FFF2-40B4-BE49-F238E27FC236}">
                <a16:creationId xmlns:a16="http://schemas.microsoft.com/office/drawing/2014/main" id="{231864DC-CB43-A6E7-F7F6-5237CE3D6F7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t="5571" b="5571"/>
          <a:stretch/>
        </p:blipFill>
        <p:spPr bwMode="auto">
          <a:xfrm>
            <a:off x="3167052" y="4851353"/>
            <a:ext cx="245612" cy="223322"/>
          </a:xfrm>
          <a:prstGeom prst="rect">
            <a:avLst/>
          </a:prstGeom>
          <a:noFill/>
          <a:extLst>
            <a:ext uri="{909E8E84-426E-40DD-AFC4-6F175D3DCCD1}">
              <a14:hiddenFill xmlns:a14="http://schemas.microsoft.com/office/drawing/2010/main">
                <a:solidFill>
                  <a:srgbClr val="FFFFFF"/>
                </a:solidFill>
              </a14:hiddenFill>
            </a:ext>
          </a:extLst>
        </p:spPr>
      </p:pic>
      <p:sp>
        <p:nvSpPr>
          <p:cNvPr id="43" name="TextBox 42">
            <a:extLst>
              <a:ext uri="{FF2B5EF4-FFF2-40B4-BE49-F238E27FC236}">
                <a16:creationId xmlns:a16="http://schemas.microsoft.com/office/drawing/2014/main" id="{134E870C-2646-C3F5-9067-93B1746C3D4A}"/>
              </a:ext>
              <a:ext uri="{C183D7F6-B498-43B3-948B-1728B52AA6E4}">
                <adec:decorative xmlns:adec="http://schemas.microsoft.com/office/drawing/2017/decorative" val="0"/>
              </a:ext>
            </a:extLst>
          </p:cNvPr>
          <p:cNvSpPr txBox="1"/>
          <p:nvPr/>
        </p:nvSpPr>
        <p:spPr>
          <a:xfrm>
            <a:off x="3562472" y="4886070"/>
            <a:ext cx="1420949" cy="1538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Semibold"/>
                <a:ea typeface="+mn-ea"/>
                <a:cs typeface="+mn-cs"/>
              </a:rPr>
              <a:t>Copilot in Teams</a:t>
            </a:r>
          </a:p>
        </p:txBody>
      </p:sp>
      <p:sp>
        <p:nvSpPr>
          <p:cNvPr id="44" name="TextBox 43">
            <a:extLst>
              <a:ext uri="{FF2B5EF4-FFF2-40B4-BE49-F238E27FC236}">
                <a16:creationId xmlns:a16="http://schemas.microsoft.com/office/drawing/2014/main" id="{0A63E137-A0F9-E77D-64BD-7581EBE53346}"/>
              </a:ext>
              <a:ext uri="{C183D7F6-B498-43B3-948B-1728B52AA6E4}">
                <adec:decorative xmlns:adec="http://schemas.microsoft.com/office/drawing/2017/decorative" val="0"/>
              </a:ext>
            </a:extLst>
          </p:cNvPr>
          <p:cNvSpPr txBox="1"/>
          <p:nvPr/>
        </p:nvSpPr>
        <p:spPr>
          <a:xfrm>
            <a:off x="9328927" y="4886070"/>
            <a:ext cx="1830524" cy="1538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Semibold"/>
                <a:ea typeface="+mn-ea"/>
                <a:cs typeface="+mn-cs"/>
              </a:rPr>
              <a:t>Copilot in Teams</a:t>
            </a:r>
          </a:p>
        </p:txBody>
      </p:sp>
      <p:pic>
        <p:nvPicPr>
          <p:cNvPr id="2" name="Picture 1">
            <a:extLst>
              <a:ext uri="{FF2B5EF4-FFF2-40B4-BE49-F238E27FC236}">
                <a16:creationId xmlns:a16="http://schemas.microsoft.com/office/drawing/2014/main" id="{8CB170DC-B619-0D19-28B8-AF86BC5585E2}"/>
              </a:ext>
            </a:extLst>
          </p:cNvPr>
          <p:cNvPicPr>
            <a:picLocks noChangeAspect="1"/>
          </p:cNvPicPr>
          <p:nvPr/>
        </p:nvPicPr>
        <p:blipFill>
          <a:blip r:embed="rId6"/>
          <a:stretch>
            <a:fillRect/>
          </a:stretch>
        </p:blipFill>
        <p:spPr>
          <a:xfrm>
            <a:off x="6009001" y="4849624"/>
            <a:ext cx="319806" cy="260181"/>
          </a:xfrm>
          <a:prstGeom prst="rect">
            <a:avLst/>
          </a:prstGeom>
        </p:spPr>
      </p:pic>
      <p:pic>
        <p:nvPicPr>
          <p:cNvPr id="3" name="Picture 2" descr="Excel logo">
            <a:extLst>
              <a:ext uri="{FF2B5EF4-FFF2-40B4-BE49-F238E27FC236}">
                <a16:creationId xmlns:a16="http://schemas.microsoft.com/office/drawing/2014/main" id="{438DA1F4-9260-4363-62E6-508D5A35A54C}"/>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3167052" y="2256013"/>
            <a:ext cx="275670" cy="275670"/>
          </a:xfrm>
          <a:prstGeom prst="ellipse">
            <a:avLst/>
          </a:prstGeom>
          <a:solidFill>
            <a:schemeClr val="bg1"/>
          </a:solidFill>
        </p:spPr>
      </p:pic>
      <p:pic>
        <p:nvPicPr>
          <p:cNvPr id="4" name="Picture 3" descr="Excel logo">
            <a:extLst>
              <a:ext uri="{FF2B5EF4-FFF2-40B4-BE49-F238E27FC236}">
                <a16:creationId xmlns:a16="http://schemas.microsoft.com/office/drawing/2014/main" id="{EDB378A5-1EF2-8C56-2F9B-20EEF92ACB6D}"/>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6031069" y="2241412"/>
            <a:ext cx="275670" cy="275670"/>
          </a:xfrm>
          <a:prstGeom prst="ellipse">
            <a:avLst/>
          </a:prstGeom>
          <a:solidFill>
            <a:schemeClr val="bg1"/>
          </a:solidFill>
        </p:spPr>
      </p:pic>
      <p:pic>
        <p:nvPicPr>
          <p:cNvPr id="5" name="Picture 4" descr="Excel logo">
            <a:extLst>
              <a:ext uri="{FF2B5EF4-FFF2-40B4-BE49-F238E27FC236}">
                <a16:creationId xmlns:a16="http://schemas.microsoft.com/office/drawing/2014/main" id="{95A224E3-5403-2E9D-E03C-9BFC05818E6A}"/>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8937645" y="2256013"/>
            <a:ext cx="275670" cy="275670"/>
          </a:xfrm>
          <a:prstGeom prst="ellipse">
            <a:avLst/>
          </a:prstGeom>
          <a:solidFill>
            <a:schemeClr val="bg1"/>
          </a:solidFill>
        </p:spPr>
      </p:pic>
    </p:spTree>
    <p:extLst>
      <p:ext uri="{BB962C8B-B14F-4D97-AF65-F5344CB8AC3E}">
        <p14:creationId xmlns:p14="http://schemas.microsoft.com/office/powerpoint/2010/main" val="606992975"/>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 name="Text Placeholder 243">
            <a:extLst>
              <a:ext uri="{FF2B5EF4-FFF2-40B4-BE49-F238E27FC236}">
                <a16:creationId xmlns:a16="http://schemas.microsoft.com/office/drawing/2014/main" id="{247FB99D-26D8-EEFF-CA04-03D3A50F35A7}"/>
              </a:ext>
            </a:extLst>
          </p:cNvPr>
          <p:cNvSpPr>
            <a:spLocks noGrp="1"/>
          </p:cNvSpPr>
          <p:nvPr>
            <p:ph type="body" sz="quarter" idx="32"/>
          </p:nvPr>
        </p:nvSpPr>
        <p:spPr>
          <a:xfrm>
            <a:off x="311388" y="1026303"/>
            <a:ext cx="2431246" cy="1131079"/>
          </a:xfrm>
        </p:spPr>
        <p:txBody>
          <a:bodyPr/>
          <a:lstStyle/>
          <a:p>
            <a:r>
              <a:rPr lang="en-US" noProof="0" dirty="0"/>
              <a:t>Sales forecasting requires extensive data analysis and Copilot can help with assistance writing code for queries and getting assistance with Excel formulas and charts.</a:t>
            </a:r>
          </a:p>
        </p:txBody>
      </p:sp>
      <p:sp>
        <p:nvSpPr>
          <p:cNvPr id="120" name="Text Placeholder 119">
            <a:extLst>
              <a:ext uri="{FF2B5EF4-FFF2-40B4-BE49-F238E27FC236}">
                <a16:creationId xmlns:a16="http://schemas.microsoft.com/office/drawing/2014/main" id="{A916B809-E5D9-AFD6-59D5-131FCC90F701}"/>
              </a:ext>
            </a:extLst>
          </p:cNvPr>
          <p:cNvSpPr>
            <a:spLocks noGrp="1"/>
          </p:cNvSpPr>
          <p:nvPr>
            <p:ph type="body" sz="quarter" idx="33"/>
          </p:nvPr>
        </p:nvSpPr>
        <p:spPr>
          <a:xfrm>
            <a:off x="304796" y="413987"/>
            <a:ext cx="2057403" cy="307777"/>
          </a:xfrm>
        </p:spPr>
        <p:txBody>
          <a:bodyPr/>
          <a:lstStyle/>
          <a:p>
            <a:r>
              <a:rPr lang="en-US" noProof="0" dirty="0"/>
              <a:t>Finance</a:t>
            </a:r>
          </a:p>
        </p:txBody>
      </p:sp>
      <p:sp>
        <p:nvSpPr>
          <p:cNvPr id="144" name="Text Placeholder 143">
            <a:extLst>
              <a:ext uri="{FF2B5EF4-FFF2-40B4-BE49-F238E27FC236}">
                <a16:creationId xmlns:a16="http://schemas.microsoft.com/office/drawing/2014/main" id="{2E85D234-120B-3A40-15F2-60B8B0B0AC33}"/>
              </a:ext>
            </a:extLst>
          </p:cNvPr>
          <p:cNvSpPr>
            <a:spLocks noGrp="1"/>
          </p:cNvSpPr>
          <p:nvPr>
            <p:ph type="body" sz="quarter" idx="30"/>
          </p:nvPr>
        </p:nvSpPr>
        <p:spPr>
          <a:xfrm>
            <a:off x="10430351" y="521099"/>
            <a:ext cx="1456966" cy="175614"/>
          </a:xfrm>
        </p:spPr>
        <p:txBody>
          <a:bodyPr/>
          <a:lstStyle/>
          <a:p>
            <a:r>
              <a:rPr lang="en-US" noProof="0" dirty="0"/>
              <a:t>Buy</a:t>
            </a:r>
          </a:p>
        </p:txBody>
      </p:sp>
      <p:sp>
        <p:nvSpPr>
          <p:cNvPr id="142" name="Text Placeholder 141">
            <a:extLst>
              <a:ext uri="{FF2B5EF4-FFF2-40B4-BE49-F238E27FC236}">
                <a16:creationId xmlns:a16="http://schemas.microsoft.com/office/drawing/2014/main" id="{4821688C-EFF3-D3DA-D135-9AA0C8242F26}"/>
              </a:ext>
            </a:extLst>
          </p:cNvPr>
          <p:cNvSpPr>
            <a:spLocks noGrp="1"/>
          </p:cNvSpPr>
          <p:nvPr>
            <p:ph type="body" sz="quarter" idx="17"/>
          </p:nvPr>
        </p:nvSpPr>
        <p:spPr>
          <a:xfrm>
            <a:off x="7149557" y="521100"/>
            <a:ext cx="2969488" cy="169277"/>
          </a:xfrm>
        </p:spPr>
        <p:txBody>
          <a:bodyPr/>
          <a:lstStyle/>
          <a:p>
            <a:r>
              <a:rPr lang="en-US" noProof="0" dirty="0"/>
              <a:t>Microsoft 365 Copilot</a:t>
            </a:r>
          </a:p>
        </p:txBody>
      </p:sp>
      <p:sp>
        <p:nvSpPr>
          <p:cNvPr id="89" name="Title 88">
            <a:extLst>
              <a:ext uri="{FF2B5EF4-FFF2-40B4-BE49-F238E27FC236}">
                <a16:creationId xmlns:a16="http://schemas.microsoft.com/office/drawing/2014/main" id="{4FC0A180-9B39-6171-83AD-A2EBA2E396C1}"/>
              </a:ext>
            </a:extLst>
          </p:cNvPr>
          <p:cNvSpPr>
            <a:spLocks noGrp="1"/>
          </p:cNvSpPr>
          <p:nvPr>
            <p:ph type="title"/>
          </p:nvPr>
        </p:nvSpPr>
        <p:spPr>
          <a:xfrm>
            <a:off x="2492556" y="429376"/>
            <a:ext cx="4144817" cy="276999"/>
          </a:xfrm>
        </p:spPr>
        <p:txBody>
          <a:bodyPr/>
          <a:lstStyle/>
          <a:p>
            <a:r>
              <a:rPr lang="en-US" noProof="0" dirty="0"/>
              <a:t>Intelligent sales forecasting</a:t>
            </a:r>
          </a:p>
        </p:txBody>
      </p:sp>
      <p:sp>
        <p:nvSpPr>
          <p:cNvPr id="158" name="Text Placeholder 157">
            <a:extLst>
              <a:ext uri="{FF2B5EF4-FFF2-40B4-BE49-F238E27FC236}">
                <a16:creationId xmlns:a16="http://schemas.microsoft.com/office/drawing/2014/main" id="{185CE96E-59A0-8430-6254-D98CF6B462CA}"/>
              </a:ext>
            </a:extLst>
          </p:cNvPr>
          <p:cNvSpPr>
            <a:spLocks noGrp="1"/>
          </p:cNvSpPr>
          <p:nvPr>
            <p:ph type="body" sz="quarter" idx="69"/>
          </p:nvPr>
        </p:nvSpPr>
        <p:spPr>
          <a:xfrm>
            <a:off x="3182890" y="2725494"/>
            <a:ext cx="2572262" cy="712876"/>
          </a:xfrm>
        </p:spPr>
        <p:txBody>
          <a:bodyPr/>
          <a:lstStyle/>
          <a:p>
            <a:r>
              <a:rPr lang="en-US" noProof="0" dirty="0"/>
              <a:t>Example prompt: Suggest formulas to standardize the data formatting, including removing trailing spaces and correcting capitalization.</a:t>
            </a:r>
          </a:p>
        </p:txBody>
      </p:sp>
      <p:sp>
        <p:nvSpPr>
          <p:cNvPr id="141" name="Text Placeholder 140">
            <a:extLst>
              <a:ext uri="{FF2B5EF4-FFF2-40B4-BE49-F238E27FC236}">
                <a16:creationId xmlns:a16="http://schemas.microsoft.com/office/drawing/2014/main" id="{8752DA7B-2EC0-A081-096F-BC09C1F0DF41}"/>
              </a:ext>
            </a:extLst>
          </p:cNvPr>
          <p:cNvSpPr>
            <a:spLocks noGrp="1"/>
          </p:cNvSpPr>
          <p:nvPr>
            <p:ph type="body" sz="quarter" idx="11"/>
          </p:nvPr>
        </p:nvSpPr>
        <p:spPr>
          <a:xfrm>
            <a:off x="3182890" y="1112478"/>
            <a:ext cx="2572262" cy="153888"/>
          </a:xfrm>
        </p:spPr>
        <p:txBody>
          <a:bodyPr/>
          <a:lstStyle/>
          <a:p>
            <a:r>
              <a:rPr lang="en-US" noProof="0" dirty="0"/>
              <a:t>Prepare and cleanse data</a:t>
            </a:r>
          </a:p>
        </p:txBody>
      </p:sp>
      <p:sp>
        <p:nvSpPr>
          <p:cNvPr id="143" name="Text Placeholder 142">
            <a:extLst>
              <a:ext uri="{FF2B5EF4-FFF2-40B4-BE49-F238E27FC236}">
                <a16:creationId xmlns:a16="http://schemas.microsoft.com/office/drawing/2014/main" id="{76AFF82D-8DA5-B620-D287-CAECFF56F537}"/>
              </a:ext>
            </a:extLst>
          </p:cNvPr>
          <p:cNvSpPr>
            <a:spLocks noGrp="1"/>
          </p:cNvSpPr>
          <p:nvPr>
            <p:ph type="body" sz="quarter" idx="18"/>
          </p:nvPr>
        </p:nvSpPr>
        <p:spPr>
          <a:xfrm>
            <a:off x="3182890" y="1438715"/>
            <a:ext cx="2572262" cy="626701"/>
          </a:xfrm>
        </p:spPr>
        <p:txBody>
          <a:bodyPr/>
          <a:lstStyle/>
          <a:p>
            <a:r>
              <a:rPr lang="en-US" noProof="0" dirty="0"/>
              <a:t>Aggregate historical sales data into Excel spreadsheets, then use Copilot for guidance on how to standardize the data formatting.​</a:t>
            </a:r>
          </a:p>
        </p:txBody>
      </p:sp>
      <p:sp>
        <p:nvSpPr>
          <p:cNvPr id="147" name="Text Placeholder 146">
            <a:extLst>
              <a:ext uri="{FF2B5EF4-FFF2-40B4-BE49-F238E27FC236}">
                <a16:creationId xmlns:a16="http://schemas.microsoft.com/office/drawing/2014/main" id="{78992A99-B1D3-6D9B-1D4F-4D71D0CC23C3}"/>
              </a:ext>
            </a:extLst>
          </p:cNvPr>
          <p:cNvSpPr>
            <a:spLocks noGrp="1"/>
          </p:cNvSpPr>
          <p:nvPr>
            <p:ph type="body" sz="quarter" idx="42"/>
          </p:nvPr>
        </p:nvSpPr>
        <p:spPr>
          <a:xfrm>
            <a:off x="6066682" y="1112478"/>
            <a:ext cx="2572262" cy="153888"/>
          </a:xfrm>
        </p:spPr>
        <p:txBody>
          <a:bodyPr/>
          <a:lstStyle/>
          <a:p>
            <a:r>
              <a:rPr lang="en-US" dirty="0"/>
              <a:t>Add formulas and columns</a:t>
            </a:r>
            <a:endParaRPr lang="en-US" noProof="0" dirty="0"/>
          </a:p>
        </p:txBody>
      </p:sp>
      <p:sp>
        <p:nvSpPr>
          <p:cNvPr id="148" name="Text Placeholder 147">
            <a:extLst>
              <a:ext uri="{FF2B5EF4-FFF2-40B4-BE49-F238E27FC236}">
                <a16:creationId xmlns:a16="http://schemas.microsoft.com/office/drawing/2014/main" id="{8E2A2FB2-6BBE-12E6-85F2-A260D8003431}"/>
              </a:ext>
            </a:extLst>
          </p:cNvPr>
          <p:cNvSpPr>
            <a:spLocks noGrp="1"/>
          </p:cNvSpPr>
          <p:nvPr>
            <p:ph type="body" sz="quarter" idx="43"/>
          </p:nvPr>
        </p:nvSpPr>
        <p:spPr>
          <a:xfrm>
            <a:off x="6066682" y="1438715"/>
            <a:ext cx="2572262" cy="626701"/>
          </a:xfrm>
        </p:spPr>
        <p:txBody>
          <a:bodyPr/>
          <a:lstStyle/>
          <a:p>
            <a:r>
              <a:rPr lang="en-US" dirty="0"/>
              <a:t>Use Copilot in Excel to create new datasets for the analysis.</a:t>
            </a:r>
            <a:r>
              <a:rPr lang="en-US" noProof="0" dirty="0"/>
              <a:t> </a:t>
            </a:r>
          </a:p>
        </p:txBody>
      </p:sp>
      <p:sp>
        <p:nvSpPr>
          <p:cNvPr id="152" name="Text Placeholder 151">
            <a:extLst>
              <a:ext uri="{FF2B5EF4-FFF2-40B4-BE49-F238E27FC236}">
                <a16:creationId xmlns:a16="http://schemas.microsoft.com/office/drawing/2014/main" id="{05567842-BB0F-3A22-E4F4-19F3C33393C5}"/>
              </a:ext>
            </a:extLst>
          </p:cNvPr>
          <p:cNvSpPr>
            <a:spLocks noGrp="1"/>
          </p:cNvSpPr>
          <p:nvPr>
            <p:ph type="body" sz="quarter" idx="68"/>
          </p:nvPr>
        </p:nvSpPr>
        <p:spPr>
          <a:xfrm>
            <a:off x="8950475" y="2725494"/>
            <a:ext cx="2572262" cy="712876"/>
          </a:xfrm>
        </p:spPr>
        <p:txBody>
          <a:bodyPr/>
          <a:lstStyle/>
          <a:p>
            <a:r>
              <a:rPr lang="en-US" noProof="0" dirty="0"/>
              <a:t>Example prompt: What are my top 3 product categories, by revenue, over the last 3 years?​</a:t>
            </a:r>
          </a:p>
          <a:p>
            <a:r>
              <a:rPr lang="en-US" u="sng" dirty="0">
                <a:hlinkClick r:id="rId3"/>
              </a:rPr>
              <a:t>Get started with Analyst</a:t>
            </a:r>
            <a:endParaRPr lang="en-US" noProof="0" dirty="0"/>
          </a:p>
        </p:txBody>
      </p:sp>
      <p:sp>
        <p:nvSpPr>
          <p:cNvPr id="150" name="Text Placeholder 149">
            <a:extLst>
              <a:ext uri="{FF2B5EF4-FFF2-40B4-BE49-F238E27FC236}">
                <a16:creationId xmlns:a16="http://schemas.microsoft.com/office/drawing/2014/main" id="{A54DF11E-C326-B04D-ED41-0B255D12A660}"/>
              </a:ext>
            </a:extLst>
          </p:cNvPr>
          <p:cNvSpPr>
            <a:spLocks noGrp="1"/>
          </p:cNvSpPr>
          <p:nvPr>
            <p:ph type="body" sz="quarter" idx="45"/>
          </p:nvPr>
        </p:nvSpPr>
        <p:spPr>
          <a:xfrm>
            <a:off x="8950475" y="1112478"/>
            <a:ext cx="2572262" cy="153888"/>
          </a:xfrm>
        </p:spPr>
        <p:txBody>
          <a:bodyPr/>
          <a:lstStyle/>
          <a:p>
            <a:r>
              <a:rPr lang="en-US" noProof="0" dirty="0"/>
              <a:t>Query the data​</a:t>
            </a:r>
          </a:p>
        </p:txBody>
      </p:sp>
      <p:sp>
        <p:nvSpPr>
          <p:cNvPr id="151" name="Text Placeholder 150">
            <a:extLst>
              <a:ext uri="{FF2B5EF4-FFF2-40B4-BE49-F238E27FC236}">
                <a16:creationId xmlns:a16="http://schemas.microsoft.com/office/drawing/2014/main" id="{2B841602-1BA3-3220-C286-5B0C79AABD4F}"/>
              </a:ext>
            </a:extLst>
          </p:cNvPr>
          <p:cNvSpPr>
            <a:spLocks noGrp="1"/>
          </p:cNvSpPr>
          <p:nvPr>
            <p:ph type="body" sz="quarter" idx="46"/>
          </p:nvPr>
        </p:nvSpPr>
        <p:spPr>
          <a:xfrm>
            <a:off x="8950475" y="1438715"/>
            <a:ext cx="2572262" cy="626701"/>
          </a:xfrm>
        </p:spPr>
        <p:txBody>
          <a:bodyPr/>
          <a:lstStyle/>
          <a:p>
            <a:r>
              <a:rPr lang="en-US" dirty="0"/>
              <a:t>Use Analyst to ask specific questions about the data.​</a:t>
            </a:r>
            <a:endParaRPr lang="en-US" noProof="0" dirty="0"/>
          </a:p>
        </p:txBody>
      </p:sp>
      <p:sp>
        <p:nvSpPr>
          <p:cNvPr id="161" name="Text Placeholder 160">
            <a:extLst>
              <a:ext uri="{FF2B5EF4-FFF2-40B4-BE49-F238E27FC236}">
                <a16:creationId xmlns:a16="http://schemas.microsoft.com/office/drawing/2014/main" id="{CEE505A9-3258-8511-F4BC-ABE31C25AFCB}"/>
              </a:ext>
            </a:extLst>
          </p:cNvPr>
          <p:cNvSpPr>
            <a:spLocks noGrp="1"/>
          </p:cNvSpPr>
          <p:nvPr>
            <p:ph type="body" sz="quarter" idx="70"/>
          </p:nvPr>
        </p:nvSpPr>
        <p:spPr>
          <a:xfrm>
            <a:off x="6066682" y="2725494"/>
            <a:ext cx="2572262" cy="712876"/>
          </a:xfrm>
        </p:spPr>
        <p:txBody>
          <a:bodyPr/>
          <a:lstStyle/>
          <a:p>
            <a:r>
              <a:rPr lang="en-US" noProof="0" dirty="0"/>
              <a:t>Example prompt: Add columns to create a 12-month rolling average.</a:t>
            </a:r>
          </a:p>
        </p:txBody>
      </p:sp>
      <p:sp>
        <p:nvSpPr>
          <p:cNvPr id="153" name="Text Placeholder 152">
            <a:extLst>
              <a:ext uri="{FF2B5EF4-FFF2-40B4-BE49-F238E27FC236}">
                <a16:creationId xmlns:a16="http://schemas.microsoft.com/office/drawing/2014/main" id="{B4897FA0-CF8B-1925-632A-05DE2496051D}"/>
              </a:ext>
            </a:extLst>
          </p:cNvPr>
          <p:cNvSpPr>
            <a:spLocks noGrp="1"/>
          </p:cNvSpPr>
          <p:nvPr>
            <p:ph type="body" sz="quarter" idx="48"/>
          </p:nvPr>
        </p:nvSpPr>
        <p:spPr>
          <a:xfrm>
            <a:off x="3182890" y="5334522"/>
            <a:ext cx="2572262" cy="712876"/>
          </a:xfrm>
        </p:spPr>
        <p:txBody>
          <a:bodyPr/>
          <a:lstStyle/>
          <a:p>
            <a:r>
              <a:rPr lang="en-US" noProof="0" dirty="0"/>
              <a:t>Example prompt: Create a summary of the forecast highlighting the top three product categories.​</a:t>
            </a:r>
          </a:p>
          <a:p>
            <a:r>
              <a:rPr lang="en-US" u="sng" dirty="0">
                <a:hlinkClick r:id="rId3"/>
              </a:rPr>
              <a:t>Get started with Analyst</a:t>
            </a:r>
            <a:endParaRPr lang="en-US" noProof="0" dirty="0"/>
          </a:p>
        </p:txBody>
      </p:sp>
      <p:sp>
        <p:nvSpPr>
          <p:cNvPr id="154" name="Text Placeholder 153">
            <a:extLst>
              <a:ext uri="{FF2B5EF4-FFF2-40B4-BE49-F238E27FC236}">
                <a16:creationId xmlns:a16="http://schemas.microsoft.com/office/drawing/2014/main" id="{6C8B25A7-A975-707F-F59D-9A441DA06CC0}"/>
              </a:ext>
            </a:extLst>
          </p:cNvPr>
          <p:cNvSpPr>
            <a:spLocks noGrp="1"/>
          </p:cNvSpPr>
          <p:nvPr>
            <p:ph type="body" sz="quarter" idx="49"/>
          </p:nvPr>
        </p:nvSpPr>
        <p:spPr>
          <a:xfrm>
            <a:off x="3182890" y="3725103"/>
            <a:ext cx="2572262" cy="153888"/>
          </a:xfrm>
        </p:spPr>
        <p:txBody>
          <a:bodyPr/>
          <a:lstStyle/>
          <a:p>
            <a:r>
              <a:rPr lang="en-US" noProof="0" dirty="0"/>
              <a:t>Communicate forecasts​</a:t>
            </a:r>
          </a:p>
        </p:txBody>
      </p:sp>
      <p:sp>
        <p:nvSpPr>
          <p:cNvPr id="155" name="Text Placeholder 154">
            <a:extLst>
              <a:ext uri="{FF2B5EF4-FFF2-40B4-BE49-F238E27FC236}">
                <a16:creationId xmlns:a16="http://schemas.microsoft.com/office/drawing/2014/main" id="{6490E8CD-FFF5-73DD-70A7-F493FD71B43F}"/>
              </a:ext>
            </a:extLst>
          </p:cNvPr>
          <p:cNvSpPr>
            <a:spLocks noGrp="1"/>
          </p:cNvSpPr>
          <p:nvPr>
            <p:ph type="body" sz="quarter" idx="50"/>
          </p:nvPr>
        </p:nvSpPr>
        <p:spPr>
          <a:xfrm>
            <a:off x="3182890" y="4050957"/>
            <a:ext cx="2572262" cy="626701"/>
          </a:xfrm>
        </p:spPr>
        <p:txBody>
          <a:bodyPr/>
          <a:lstStyle/>
          <a:p>
            <a:r>
              <a:rPr lang="en-US" noProof="0" dirty="0"/>
              <a:t>Create a summary of the forecast and share the results with the team.</a:t>
            </a:r>
          </a:p>
        </p:txBody>
      </p:sp>
      <p:sp>
        <p:nvSpPr>
          <p:cNvPr id="156" name="Text Placeholder 155">
            <a:extLst>
              <a:ext uri="{FF2B5EF4-FFF2-40B4-BE49-F238E27FC236}">
                <a16:creationId xmlns:a16="http://schemas.microsoft.com/office/drawing/2014/main" id="{3DC568A1-67A2-D56D-43B7-ABD0B1753F28}"/>
              </a:ext>
            </a:extLst>
          </p:cNvPr>
          <p:cNvSpPr>
            <a:spLocks noGrp="1"/>
          </p:cNvSpPr>
          <p:nvPr>
            <p:ph type="body" sz="quarter" idx="51"/>
          </p:nvPr>
        </p:nvSpPr>
        <p:spPr>
          <a:xfrm>
            <a:off x="6066682" y="3725103"/>
            <a:ext cx="2572262" cy="153888"/>
          </a:xfrm>
        </p:spPr>
        <p:txBody>
          <a:bodyPr/>
          <a:lstStyle/>
          <a:p>
            <a:r>
              <a:rPr lang="en-US" noProof="0" dirty="0"/>
              <a:t>Evaluate and adjust forecasts​</a:t>
            </a:r>
          </a:p>
        </p:txBody>
      </p:sp>
      <p:sp>
        <p:nvSpPr>
          <p:cNvPr id="157" name="Text Placeholder 156">
            <a:extLst>
              <a:ext uri="{FF2B5EF4-FFF2-40B4-BE49-F238E27FC236}">
                <a16:creationId xmlns:a16="http://schemas.microsoft.com/office/drawing/2014/main" id="{85E13375-AE02-C73D-F828-230B2B224840}"/>
              </a:ext>
            </a:extLst>
          </p:cNvPr>
          <p:cNvSpPr>
            <a:spLocks noGrp="1"/>
          </p:cNvSpPr>
          <p:nvPr>
            <p:ph type="body" sz="quarter" idx="52"/>
          </p:nvPr>
        </p:nvSpPr>
        <p:spPr>
          <a:xfrm>
            <a:off x="6066682" y="4050957"/>
            <a:ext cx="2572262" cy="626701"/>
          </a:xfrm>
        </p:spPr>
        <p:txBody>
          <a:bodyPr/>
          <a:lstStyle/>
          <a:p>
            <a:r>
              <a:rPr lang="en-US" noProof="0" dirty="0"/>
              <a:t>Evaluate the forecast output and adjust the forecast model if needed.​</a:t>
            </a:r>
          </a:p>
        </p:txBody>
      </p:sp>
      <p:sp>
        <p:nvSpPr>
          <p:cNvPr id="146" name="Text Placeholder 145">
            <a:extLst>
              <a:ext uri="{FF2B5EF4-FFF2-40B4-BE49-F238E27FC236}">
                <a16:creationId xmlns:a16="http://schemas.microsoft.com/office/drawing/2014/main" id="{5C6CEC82-0970-44B8-33FF-07AF35101A80}"/>
              </a:ext>
            </a:extLst>
          </p:cNvPr>
          <p:cNvSpPr>
            <a:spLocks noGrp="1"/>
          </p:cNvSpPr>
          <p:nvPr>
            <p:ph type="body" sz="quarter" idx="66"/>
          </p:nvPr>
        </p:nvSpPr>
        <p:spPr>
          <a:xfrm>
            <a:off x="8950475" y="5334522"/>
            <a:ext cx="2572262" cy="712876"/>
          </a:xfrm>
        </p:spPr>
        <p:txBody>
          <a:bodyPr/>
          <a:lstStyle/>
          <a:p>
            <a:r>
              <a:rPr lang="en-US" noProof="0" dirty="0"/>
              <a:t>Example prompt: Forecast revenue by category for the next two years, with historic data in a single chart.​</a:t>
            </a:r>
          </a:p>
          <a:p>
            <a:r>
              <a:rPr lang="en-US" u="sng" dirty="0">
                <a:hlinkClick r:id="rId3"/>
              </a:rPr>
              <a:t>Get started with Analyst</a:t>
            </a:r>
            <a:endParaRPr lang="en-US" noProof="0" dirty="0"/>
          </a:p>
        </p:txBody>
      </p:sp>
      <p:sp>
        <p:nvSpPr>
          <p:cNvPr id="159" name="Text Placeholder 158">
            <a:extLst>
              <a:ext uri="{FF2B5EF4-FFF2-40B4-BE49-F238E27FC236}">
                <a16:creationId xmlns:a16="http://schemas.microsoft.com/office/drawing/2014/main" id="{44872816-A479-971C-3A07-E9DF60AE6FFD}"/>
              </a:ext>
            </a:extLst>
          </p:cNvPr>
          <p:cNvSpPr>
            <a:spLocks noGrp="1"/>
          </p:cNvSpPr>
          <p:nvPr>
            <p:ph type="body" sz="quarter" idx="54"/>
          </p:nvPr>
        </p:nvSpPr>
        <p:spPr>
          <a:xfrm>
            <a:off x="8950475" y="3725103"/>
            <a:ext cx="2572262" cy="153888"/>
          </a:xfrm>
        </p:spPr>
        <p:txBody>
          <a:bodyPr/>
          <a:lstStyle/>
          <a:p>
            <a:r>
              <a:rPr lang="en-US" noProof="0" dirty="0"/>
              <a:t>Forecast annual sales​</a:t>
            </a:r>
          </a:p>
        </p:txBody>
      </p:sp>
      <p:sp>
        <p:nvSpPr>
          <p:cNvPr id="160" name="Text Placeholder 159">
            <a:extLst>
              <a:ext uri="{FF2B5EF4-FFF2-40B4-BE49-F238E27FC236}">
                <a16:creationId xmlns:a16="http://schemas.microsoft.com/office/drawing/2014/main" id="{2EFAF889-4A56-69C9-A76E-2C122B89FFCD}"/>
              </a:ext>
            </a:extLst>
          </p:cNvPr>
          <p:cNvSpPr>
            <a:spLocks noGrp="1"/>
          </p:cNvSpPr>
          <p:nvPr>
            <p:ph type="body" sz="quarter" idx="55"/>
          </p:nvPr>
        </p:nvSpPr>
        <p:spPr>
          <a:xfrm>
            <a:off x="8950475" y="4050957"/>
            <a:ext cx="2572262" cy="626701"/>
          </a:xfrm>
        </p:spPr>
        <p:txBody>
          <a:bodyPr/>
          <a:lstStyle/>
          <a:p>
            <a:r>
              <a:rPr lang="en-US" noProof="0" dirty="0"/>
              <a:t>Use Analyst to forecast annual sales.​</a:t>
            </a:r>
          </a:p>
        </p:txBody>
      </p:sp>
      <p:sp>
        <p:nvSpPr>
          <p:cNvPr id="149" name="Text Placeholder 148">
            <a:extLst>
              <a:ext uri="{FF2B5EF4-FFF2-40B4-BE49-F238E27FC236}">
                <a16:creationId xmlns:a16="http://schemas.microsoft.com/office/drawing/2014/main" id="{450CAA9A-B01B-A49C-FD68-9BDE34ADC437}"/>
              </a:ext>
            </a:extLst>
          </p:cNvPr>
          <p:cNvSpPr>
            <a:spLocks noGrp="1"/>
          </p:cNvSpPr>
          <p:nvPr>
            <p:ph type="body" sz="quarter" idx="67"/>
          </p:nvPr>
        </p:nvSpPr>
        <p:spPr>
          <a:xfrm>
            <a:off x="6066682" y="5334522"/>
            <a:ext cx="2572262" cy="712876"/>
          </a:xfrm>
        </p:spPr>
        <p:txBody>
          <a:bodyPr/>
          <a:lstStyle/>
          <a:p>
            <a:r>
              <a:rPr lang="en-US" noProof="0" dirty="0"/>
              <a:t>Action: Adjust the Python code in the workbook to refine and rerun the forecast as needed.​</a:t>
            </a:r>
          </a:p>
          <a:p>
            <a:r>
              <a:rPr lang="en-US" u="sng" dirty="0">
                <a:hlinkClick r:id="rId3"/>
              </a:rPr>
              <a:t>Get started with Analyst</a:t>
            </a:r>
            <a:endParaRPr lang="en-US" noProof="0" dirty="0"/>
          </a:p>
        </p:txBody>
      </p:sp>
      <p:sp>
        <p:nvSpPr>
          <p:cNvPr id="162" name="Text Placeholder 161">
            <a:extLst>
              <a:ext uri="{FF2B5EF4-FFF2-40B4-BE49-F238E27FC236}">
                <a16:creationId xmlns:a16="http://schemas.microsoft.com/office/drawing/2014/main" id="{7799AF55-0847-ABB2-AC01-0575F89A0DB5}"/>
              </a:ext>
            </a:extLst>
          </p:cNvPr>
          <p:cNvSpPr>
            <a:spLocks noGrp="1"/>
          </p:cNvSpPr>
          <p:nvPr>
            <p:ph type="body" sz="quarter" idx="64"/>
          </p:nvPr>
        </p:nvSpPr>
        <p:spPr>
          <a:xfrm>
            <a:off x="320721" y="4709762"/>
            <a:ext cx="1131651" cy="219456"/>
          </a:xfrm>
        </p:spPr>
        <p:txBody>
          <a:bodyPr/>
          <a:lstStyle/>
          <a:p>
            <a:r>
              <a:rPr lang="en-US" noProof="0" dirty="0"/>
              <a:t>Value benefit</a:t>
            </a:r>
          </a:p>
        </p:txBody>
      </p:sp>
      <p:sp>
        <p:nvSpPr>
          <p:cNvPr id="163" name="Text Placeholder 162">
            <a:extLst>
              <a:ext uri="{FF2B5EF4-FFF2-40B4-BE49-F238E27FC236}">
                <a16:creationId xmlns:a16="http://schemas.microsoft.com/office/drawing/2014/main" id="{0F115C52-B2FB-E8C2-D75C-5A8080CD3C04}"/>
              </a:ext>
            </a:extLst>
          </p:cNvPr>
          <p:cNvSpPr>
            <a:spLocks noGrp="1"/>
          </p:cNvSpPr>
          <p:nvPr>
            <p:ph type="body" sz="quarter" idx="65"/>
          </p:nvPr>
        </p:nvSpPr>
        <p:spPr>
          <a:xfrm>
            <a:off x="320721" y="3467940"/>
            <a:ext cx="1131650" cy="219456"/>
          </a:xfrm>
        </p:spPr>
        <p:txBody>
          <a:bodyPr/>
          <a:lstStyle/>
          <a:p>
            <a:r>
              <a:rPr lang="en-US" noProof="0" dirty="0"/>
              <a:t>KPIs impacted</a:t>
            </a:r>
          </a:p>
        </p:txBody>
      </p:sp>
      <p:grpSp>
        <p:nvGrpSpPr>
          <p:cNvPr id="166" name="Group 165">
            <a:extLst>
              <a:ext uri="{FF2B5EF4-FFF2-40B4-BE49-F238E27FC236}">
                <a16:creationId xmlns:a16="http://schemas.microsoft.com/office/drawing/2014/main" id="{2E5688D0-222C-C6E8-E6F3-C76CB9D2A04E}"/>
              </a:ext>
            </a:extLst>
          </p:cNvPr>
          <p:cNvGrpSpPr/>
          <p:nvPr/>
        </p:nvGrpSpPr>
        <p:grpSpPr>
          <a:xfrm>
            <a:off x="320719" y="5020658"/>
            <a:ext cx="1771605" cy="216000"/>
            <a:chOff x="320719" y="4224856"/>
            <a:chExt cx="1771605" cy="219456"/>
          </a:xfrm>
        </p:grpSpPr>
        <p:sp>
          <p:nvSpPr>
            <p:cNvPr id="167" name="Rectangle: Rounded Corners 6">
              <a:extLst>
                <a:ext uri="{FF2B5EF4-FFF2-40B4-BE49-F238E27FC236}">
                  <a16:creationId xmlns:a16="http://schemas.microsoft.com/office/drawing/2014/main" id="{C938A0B4-1E75-4335-BF4E-DB5AFE1FFDCB}"/>
                </a:ext>
                <a:ext uri="{C183D7F6-B498-43B3-948B-1728B52AA6E4}">
                  <adec:decorative xmlns:adec="http://schemas.microsoft.com/office/drawing/2017/decorative" val="1"/>
                </a:ext>
              </a:extLst>
            </p:cNvPr>
            <p:cNvSpPr/>
            <p:nvPr/>
          </p:nvSpPr>
          <p:spPr bwMode="auto">
            <a:xfrm>
              <a:off x="320719" y="4224856"/>
              <a:ext cx="1771605" cy="219456"/>
            </a:xfrm>
            <a:prstGeom prst="roundRect">
              <a:avLst>
                <a:gd name="adj" fmla="val 50000"/>
              </a:avLst>
            </a:prstGeom>
            <a:solidFill>
              <a:srgbClr val="FFFFFF"/>
            </a:solidFill>
            <a:ln w="12700">
              <a:solidFill>
                <a:srgbClr val="C03BC4"/>
              </a:solidFill>
              <a:headEnd type="none" w="med" len="med"/>
              <a:tailEnd type="none" w="med" len="med"/>
            </a:ln>
            <a:effectLst>
              <a:outerShdw blurRad="63500" dist="63500" dir="2700000"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16000" tIns="36576" rIns="36000" bIns="36000" numCol="1" spcCol="0" rtlCol="0" fromWordArt="0" anchor="ctr" anchorCtr="0" forceAA="0" compatLnSpc="1">
              <a:prstTxWarp prst="textNoShape">
                <a:avLst/>
              </a:prstTxWarp>
              <a:noAutofit/>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C03BC4"/>
                  </a:solidFill>
                  <a:effectLst/>
                  <a:uLnTx/>
                  <a:uFillTx/>
                  <a:latin typeface="Segoe UI Semibold"/>
                  <a:ea typeface="+mn-ea"/>
                  <a:cs typeface="Segoe UI Semibold" panose="020B0702040204020203" pitchFamily="34" charset="0"/>
                </a:rPr>
                <a:t>Increase revenue</a:t>
              </a:r>
            </a:p>
          </p:txBody>
        </p:sp>
        <p:pic>
          <p:nvPicPr>
            <p:cNvPr id="168" name="Graphic 167">
              <a:extLst>
                <a:ext uri="{FF2B5EF4-FFF2-40B4-BE49-F238E27FC236}">
                  <a16:creationId xmlns:a16="http://schemas.microsoft.com/office/drawing/2014/main" id="{26EEF3F9-BCB8-5649-44E3-B7C549FCF31F}"/>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367506" y="4260849"/>
              <a:ext cx="144000" cy="144000"/>
            </a:xfrm>
            <a:prstGeom prst="rect">
              <a:avLst/>
            </a:prstGeom>
          </p:spPr>
        </p:pic>
      </p:grpSp>
      <p:grpSp>
        <p:nvGrpSpPr>
          <p:cNvPr id="172" name="Group 171">
            <a:extLst>
              <a:ext uri="{FF2B5EF4-FFF2-40B4-BE49-F238E27FC236}">
                <a16:creationId xmlns:a16="http://schemas.microsoft.com/office/drawing/2014/main" id="{565FCDB6-CD67-032B-9C12-CDE601ED8A32}"/>
              </a:ext>
            </a:extLst>
          </p:cNvPr>
          <p:cNvGrpSpPr/>
          <p:nvPr/>
        </p:nvGrpSpPr>
        <p:grpSpPr>
          <a:xfrm>
            <a:off x="320719" y="3778836"/>
            <a:ext cx="1771605" cy="216000"/>
            <a:chOff x="320719" y="4224856"/>
            <a:chExt cx="1771605" cy="219456"/>
          </a:xfrm>
        </p:grpSpPr>
        <p:sp>
          <p:nvSpPr>
            <p:cNvPr id="173" name="Rectangle: Rounded Corners 6">
              <a:extLst>
                <a:ext uri="{FF2B5EF4-FFF2-40B4-BE49-F238E27FC236}">
                  <a16:creationId xmlns:a16="http://schemas.microsoft.com/office/drawing/2014/main" id="{5F44ACF3-F699-D7B4-BBF3-2730E5AC7F7B}"/>
                </a:ext>
                <a:ext uri="{C183D7F6-B498-43B3-948B-1728B52AA6E4}">
                  <adec:decorative xmlns:adec="http://schemas.microsoft.com/office/drawing/2017/decorative" val="1"/>
                </a:ext>
              </a:extLst>
            </p:cNvPr>
            <p:cNvSpPr/>
            <p:nvPr/>
          </p:nvSpPr>
          <p:spPr bwMode="auto">
            <a:xfrm>
              <a:off x="320719" y="4224856"/>
              <a:ext cx="1771605" cy="219456"/>
            </a:xfrm>
            <a:prstGeom prst="roundRect">
              <a:avLst>
                <a:gd name="adj" fmla="val 50000"/>
              </a:avLst>
            </a:prstGeom>
            <a:solidFill>
              <a:srgbClr val="FFFFFF"/>
            </a:solidFill>
            <a:ln w="12700">
              <a:solidFill>
                <a:srgbClr val="0078D4"/>
              </a:solidFill>
              <a:headEnd type="none" w="med" len="med"/>
              <a:tailEnd type="none" w="med" len="med"/>
            </a:ln>
            <a:effectLst>
              <a:outerShdw blurRad="63500" dist="63500" dir="2700000"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16000" tIns="36576" rIns="36000" bIns="36000" numCol="1" spcCol="0" rtlCol="0" fromWordArt="0" anchor="ctr" anchorCtr="0" forceAA="0" compatLnSpc="1">
              <a:prstTxWarp prst="textNoShape">
                <a:avLst/>
              </a:prstTxWarp>
              <a:noAutofit/>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78D4"/>
                  </a:solidFill>
                  <a:effectLst/>
                  <a:uLnTx/>
                  <a:uFillTx/>
                  <a:latin typeface="Segoe UI Semibold"/>
                  <a:ea typeface="Times New Roman" panose="02020603050405020304" pitchFamily="18" charset="0"/>
                  <a:cs typeface="+mn-cs"/>
                </a:rPr>
                <a:t>Risk management</a:t>
              </a:r>
            </a:p>
          </p:txBody>
        </p:sp>
        <p:pic>
          <p:nvPicPr>
            <p:cNvPr id="174" name="Graphic 173">
              <a:extLst>
                <a:ext uri="{FF2B5EF4-FFF2-40B4-BE49-F238E27FC236}">
                  <a16:creationId xmlns:a16="http://schemas.microsoft.com/office/drawing/2014/main" id="{4BC55D4D-3162-B8C8-353B-6AB61A3D4EEA}"/>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367506" y="4260849"/>
              <a:ext cx="144000" cy="144000"/>
            </a:xfrm>
            <a:prstGeom prst="rect">
              <a:avLst/>
            </a:prstGeom>
          </p:spPr>
        </p:pic>
      </p:grpSp>
      <p:grpSp>
        <p:nvGrpSpPr>
          <p:cNvPr id="175" name="Group 174">
            <a:extLst>
              <a:ext uri="{FF2B5EF4-FFF2-40B4-BE49-F238E27FC236}">
                <a16:creationId xmlns:a16="http://schemas.microsoft.com/office/drawing/2014/main" id="{D38C248F-8E98-46AA-379C-8D435DFB04F9}"/>
              </a:ext>
            </a:extLst>
          </p:cNvPr>
          <p:cNvGrpSpPr/>
          <p:nvPr/>
        </p:nvGrpSpPr>
        <p:grpSpPr>
          <a:xfrm>
            <a:off x="320721" y="4067450"/>
            <a:ext cx="1771605" cy="216000"/>
            <a:chOff x="320721" y="4517211"/>
            <a:chExt cx="1771605" cy="216000"/>
          </a:xfrm>
        </p:grpSpPr>
        <p:sp>
          <p:nvSpPr>
            <p:cNvPr id="176" name="Rectangle: Rounded Corners 6">
              <a:extLst>
                <a:ext uri="{FF2B5EF4-FFF2-40B4-BE49-F238E27FC236}">
                  <a16:creationId xmlns:a16="http://schemas.microsoft.com/office/drawing/2014/main" id="{49A4DF29-82C2-341F-3B78-AA7256A77DC9}"/>
                </a:ext>
                <a:ext uri="{C183D7F6-B498-43B3-948B-1728B52AA6E4}">
                  <adec:decorative xmlns:adec="http://schemas.microsoft.com/office/drawing/2017/decorative" val="1"/>
                </a:ext>
              </a:extLst>
            </p:cNvPr>
            <p:cNvSpPr>
              <a:spLocks/>
            </p:cNvSpPr>
            <p:nvPr/>
          </p:nvSpPr>
          <p:spPr bwMode="auto">
            <a:xfrm>
              <a:off x="320721" y="4517211"/>
              <a:ext cx="1771605" cy="216000"/>
            </a:xfrm>
            <a:prstGeom prst="roundRect">
              <a:avLst>
                <a:gd name="adj" fmla="val 50000"/>
              </a:avLst>
            </a:prstGeom>
            <a:solidFill>
              <a:srgbClr val="FFFFFF"/>
            </a:solidFill>
            <a:ln w="12700">
              <a:solidFill>
                <a:srgbClr val="0078D4"/>
              </a:solidFill>
              <a:headEnd type="none" w="med" len="med"/>
              <a:tailEnd type="none" w="med" len="med"/>
            </a:ln>
            <a:effectLst>
              <a:outerShdw blurRad="63500" dist="63500" dir="2700000"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16000" tIns="36576" rIns="36000" bIns="36000" numCol="1" spcCol="0" rtlCol="0" fromWordArt="0" anchor="ctr" anchorCtr="0" forceAA="0" compatLnSpc="1">
              <a:prstTxWarp prst="textNoShape">
                <a:avLst/>
              </a:prstTxWarp>
              <a:noAutofit/>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78D4"/>
                  </a:solidFill>
                  <a:effectLst/>
                  <a:uLnTx/>
                  <a:uFillTx/>
                  <a:latin typeface="Segoe UI Semibold"/>
                  <a:ea typeface="Times New Roman" panose="02020603050405020304" pitchFamily="18" charset="0"/>
                  <a:cs typeface="+mn-cs"/>
                </a:rPr>
                <a:t>Improve profit margin</a:t>
              </a:r>
            </a:p>
          </p:txBody>
        </p:sp>
        <p:pic>
          <p:nvPicPr>
            <p:cNvPr id="177" name="Graphic 176">
              <a:extLst>
                <a:ext uri="{FF2B5EF4-FFF2-40B4-BE49-F238E27FC236}">
                  <a16:creationId xmlns:a16="http://schemas.microsoft.com/office/drawing/2014/main" id="{D8CC6D00-9EBB-FA5F-9B14-800780801A5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67507" y="4552645"/>
              <a:ext cx="144000" cy="141732"/>
            </a:xfrm>
            <a:prstGeom prst="rect">
              <a:avLst/>
            </a:prstGeom>
          </p:spPr>
        </p:pic>
      </p:grpSp>
      <p:sp>
        <p:nvSpPr>
          <p:cNvPr id="32" name="Graphic 2">
            <a:hlinkClick r:id="rId6"/>
            <a:extLst>
              <a:ext uri="{FF2B5EF4-FFF2-40B4-BE49-F238E27FC236}">
                <a16:creationId xmlns:a16="http://schemas.microsoft.com/office/drawing/2014/main" id="{71D95550-7031-C2F7-240F-988835BE01EE}"/>
              </a:ext>
            </a:extLst>
          </p:cNvPr>
          <p:cNvSpPr>
            <a:spLocks/>
          </p:cNvSpPr>
          <p:nvPr/>
        </p:nvSpPr>
        <p:spPr>
          <a:xfrm>
            <a:off x="6304100" y="424490"/>
            <a:ext cx="321844" cy="286083"/>
          </a:xfrm>
          <a:custGeom>
            <a:avLst/>
            <a:gdLst>
              <a:gd name="connsiteX0" fmla="*/ 41203 w 228200"/>
              <a:gd name="connsiteY0" fmla="*/ 0 h 202844"/>
              <a:gd name="connsiteX1" fmla="*/ 186997 w 228200"/>
              <a:gd name="connsiteY1" fmla="*/ 0 h 202844"/>
              <a:gd name="connsiteX2" fmla="*/ 228137 w 228200"/>
              <a:gd name="connsiteY2" fmla="*/ 38870 h 202844"/>
              <a:gd name="connsiteX3" fmla="*/ 228200 w 228200"/>
              <a:gd name="connsiteY3" fmla="*/ 41203 h 202844"/>
              <a:gd name="connsiteX4" fmla="*/ 228200 w 228200"/>
              <a:gd name="connsiteY4" fmla="*/ 161642 h 202844"/>
              <a:gd name="connsiteX5" fmla="*/ 189330 w 228200"/>
              <a:gd name="connsiteY5" fmla="*/ 202781 h 202844"/>
              <a:gd name="connsiteX6" fmla="*/ 186997 w 228200"/>
              <a:gd name="connsiteY6" fmla="*/ 202845 h 202844"/>
              <a:gd name="connsiteX7" fmla="*/ 41203 w 228200"/>
              <a:gd name="connsiteY7" fmla="*/ 202845 h 202844"/>
              <a:gd name="connsiteX8" fmla="*/ 63 w 228200"/>
              <a:gd name="connsiteY8" fmla="*/ 163975 h 202844"/>
              <a:gd name="connsiteX9" fmla="*/ 0 w 228200"/>
              <a:gd name="connsiteY9" fmla="*/ 161642 h 202844"/>
              <a:gd name="connsiteX10" fmla="*/ 0 w 228200"/>
              <a:gd name="connsiteY10" fmla="*/ 41203 h 202844"/>
              <a:gd name="connsiteX11" fmla="*/ 38870 w 228200"/>
              <a:gd name="connsiteY11" fmla="*/ 63 h 202844"/>
              <a:gd name="connsiteX12" fmla="*/ 41203 w 228200"/>
              <a:gd name="connsiteY12" fmla="*/ 0 h 202844"/>
              <a:gd name="connsiteX13" fmla="*/ 186997 w 228200"/>
              <a:gd name="connsiteY13" fmla="*/ 0 h 202844"/>
              <a:gd name="connsiteX14" fmla="*/ 41203 w 228200"/>
              <a:gd name="connsiteY14" fmla="*/ 0 h 202844"/>
              <a:gd name="connsiteX15" fmla="*/ 89416 w 228200"/>
              <a:gd name="connsiteY15" fmla="*/ 70805 h 202844"/>
              <a:gd name="connsiteX16" fmla="*/ 88745 w 228200"/>
              <a:gd name="connsiteY16" fmla="*/ 73658 h 202844"/>
              <a:gd name="connsiteX17" fmla="*/ 88745 w 228200"/>
              <a:gd name="connsiteY17" fmla="*/ 129212 h 202844"/>
              <a:gd name="connsiteX18" fmla="*/ 95083 w 228200"/>
              <a:gd name="connsiteY18" fmla="*/ 135551 h 202844"/>
              <a:gd name="connsiteX19" fmla="*/ 97923 w 228200"/>
              <a:gd name="connsiteY19" fmla="*/ 134879 h 202844"/>
              <a:gd name="connsiteX20" fmla="*/ 153477 w 228200"/>
              <a:gd name="connsiteY20" fmla="*/ 107115 h 202844"/>
              <a:gd name="connsiteX21" fmla="*/ 156324 w 228200"/>
              <a:gd name="connsiteY21" fmla="*/ 98614 h 202844"/>
              <a:gd name="connsiteX22" fmla="*/ 153477 w 228200"/>
              <a:gd name="connsiteY22" fmla="*/ 95768 h 202844"/>
              <a:gd name="connsiteX23" fmla="*/ 97923 w 228200"/>
              <a:gd name="connsiteY23" fmla="*/ 67991 h 202844"/>
              <a:gd name="connsiteX24" fmla="*/ 89416 w 228200"/>
              <a:gd name="connsiteY24" fmla="*/ 70818 h 202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28200" h="202844">
                <a:moveTo>
                  <a:pt x="41203" y="0"/>
                </a:moveTo>
                <a:lnTo>
                  <a:pt x="186997" y="0"/>
                </a:lnTo>
                <a:cubicBezTo>
                  <a:pt x="208848" y="-1"/>
                  <a:pt x="226900" y="17055"/>
                  <a:pt x="228137" y="38870"/>
                </a:cubicBezTo>
                <a:lnTo>
                  <a:pt x="228200" y="41203"/>
                </a:lnTo>
                <a:lnTo>
                  <a:pt x="228200" y="161642"/>
                </a:lnTo>
                <a:cubicBezTo>
                  <a:pt x="228202" y="183492"/>
                  <a:pt x="211146" y="201544"/>
                  <a:pt x="189330" y="202781"/>
                </a:cubicBezTo>
                <a:lnTo>
                  <a:pt x="186997" y="202845"/>
                </a:lnTo>
                <a:lnTo>
                  <a:pt x="41203" y="202845"/>
                </a:lnTo>
                <a:cubicBezTo>
                  <a:pt x="19352" y="202846"/>
                  <a:pt x="1300" y="185791"/>
                  <a:pt x="63" y="163975"/>
                </a:cubicBezTo>
                <a:lnTo>
                  <a:pt x="0" y="161642"/>
                </a:lnTo>
                <a:lnTo>
                  <a:pt x="0" y="41203"/>
                </a:lnTo>
                <a:cubicBezTo>
                  <a:pt x="-1" y="19352"/>
                  <a:pt x="17055" y="1300"/>
                  <a:pt x="38870" y="63"/>
                </a:cubicBezTo>
                <a:lnTo>
                  <a:pt x="41203" y="0"/>
                </a:lnTo>
                <a:lnTo>
                  <a:pt x="186997" y="0"/>
                </a:lnTo>
                <a:lnTo>
                  <a:pt x="41203" y="0"/>
                </a:lnTo>
                <a:close/>
                <a:moveTo>
                  <a:pt x="89416" y="70805"/>
                </a:moveTo>
                <a:cubicBezTo>
                  <a:pt x="88973" y="71691"/>
                  <a:pt x="88743" y="72668"/>
                  <a:pt x="88745" y="73658"/>
                </a:cubicBezTo>
                <a:lnTo>
                  <a:pt x="88745" y="129212"/>
                </a:lnTo>
                <a:cubicBezTo>
                  <a:pt x="88745" y="132712"/>
                  <a:pt x="91583" y="135551"/>
                  <a:pt x="95083" y="135551"/>
                </a:cubicBezTo>
                <a:cubicBezTo>
                  <a:pt x="96070" y="135551"/>
                  <a:pt x="97042" y="135320"/>
                  <a:pt x="97923" y="134879"/>
                </a:cubicBezTo>
                <a:lnTo>
                  <a:pt x="153477" y="107115"/>
                </a:lnTo>
                <a:cubicBezTo>
                  <a:pt x="156610" y="105553"/>
                  <a:pt x="157884" y="101747"/>
                  <a:pt x="156324" y="98614"/>
                </a:cubicBezTo>
                <a:cubicBezTo>
                  <a:pt x="155709" y="97381"/>
                  <a:pt x="154710" y="96383"/>
                  <a:pt x="153477" y="95768"/>
                </a:cubicBezTo>
                <a:lnTo>
                  <a:pt x="97923" y="67991"/>
                </a:lnTo>
                <a:cubicBezTo>
                  <a:pt x="94793" y="66423"/>
                  <a:pt x="90985" y="67689"/>
                  <a:pt x="89416" y="70818"/>
                </a:cubicBezTo>
                <a:close/>
              </a:path>
            </a:pathLst>
          </a:custGeom>
          <a:gradFill>
            <a:gsLst>
              <a:gs pos="73000">
                <a:srgbClr val="0078D4"/>
              </a:gs>
              <a:gs pos="12000">
                <a:srgbClr val="C03BC4"/>
              </a:gs>
            </a:gsLst>
            <a:path path="circle">
              <a:fillToRect l="100000" t="100000"/>
            </a:path>
          </a:gradFill>
          <a:ln w="12303" cap="flat">
            <a:noFill/>
            <a:prstDash val="solid"/>
            <a:miter/>
          </a:ln>
          <a:effectLst>
            <a:outerShdw blurRad="63500" dist="63500" dir="3000000" algn="tl" rotWithShape="0">
              <a:srgbClr val="454142">
                <a:alpha val="15000"/>
              </a:srgb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grpSp>
        <p:nvGrpSpPr>
          <p:cNvPr id="33" name="Group 32">
            <a:extLst>
              <a:ext uri="{FF2B5EF4-FFF2-40B4-BE49-F238E27FC236}">
                <a16:creationId xmlns:a16="http://schemas.microsoft.com/office/drawing/2014/main" id="{F5BD3D07-990F-8382-BB81-5DBC36F2F4C8}"/>
              </a:ext>
            </a:extLst>
          </p:cNvPr>
          <p:cNvGrpSpPr/>
          <p:nvPr/>
        </p:nvGrpSpPr>
        <p:grpSpPr>
          <a:xfrm>
            <a:off x="320721" y="5309272"/>
            <a:ext cx="1771605" cy="216000"/>
            <a:chOff x="320721" y="4517211"/>
            <a:chExt cx="1771605" cy="216000"/>
          </a:xfrm>
        </p:grpSpPr>
        <p:sp>
          <p:nvSpPr>
            <p:cNvPr id="34" name="Rectangle: Rounded Corners 6">
              <a:extLst>
                <a:ext uri="{FF2B5EF4-FFF2-40B4-BE49-F238E27FC236}">
                  <a16:creationId xmlns:a16="http://schemas.microsoft.com/office/drawing/2014/main" id="{1B5B4499-FB8F-3352-A17A-AB5847393613}"/>
                </a:ext>
                <a:ext uri="{C183D7F6-B498-43B3-948B-1728B52AA6E4}">
                  <adec:decorative xmlns:adec="http://schemas.microsoft.com/office/drawing/2017/decorative" val="1"/>
                </a:ext>
              </a:extLst>
            </p:cNvPr>
            <p:cNvSpPr>
              <a:spLocks/>
            </p:cNvSpPr>
            <p:nvPr/>
          </p:nvSpPr>
          <p:spPr bwMode="auto">
            <a:xfrm>
              <a:off x="320721" y="4517211"/>
              <a:ext cx="1771605" cy="216000"/>
            </a:xfrm>
            <a:prstGeom prst="roundRect">
              <a:avLst>
                <a:gd name="adj" fmla="val 50000"/>
              </a:avLst>
            </a:prstGeom>
            <a:solidFill>
              <a:srgbClr val="FFFFFF"/>
            </a:solidFill>
            <a:ln w="12700">
              <a:solidFill>
                <a:srgbClr val="C03BC4"/>
              </a:solidFill>
              <a:headEnd type="none" w="med" len="med"/>
              <a:tailEnd type="none" w="med" len="med"/>
            </a:ln>
            <a:effectLst>
              <a:outerShdw blurRad="63500" dist="63500" dir="2700000"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16000" tIns="36576" rIns="36000" bIns="36000" numCol="1" spcCol="0" rtlCol="0" fromWordArt="0" anchor="ctr" anchorCtr="0" forceAA="0" compatLnSpc="1">
              <a:prstTxWarp prst="textNoShape">
                <a:avLst/>
              </a:prstTxWarp>
              <a:noAutofit/>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C03BC4"/>
                  </a:solidFill>
                  <a:effectLst/>
                  <a:uLnTx/>
                  <a:uFillTx/>
                  <a:latin typeface="Segoe UI Semibold"/>
                  <a:ea typeface="+mn-ea"/>
                  <a:cs typeface="Segoe UI Semibold" panose="020B0702040204020203" pitchFamily="34" charset="0"/>
                </a:rPr>
                <a:t>Cost savings</a:t>
              </a:r>
            </a:p>
          </p:txBody>
        </p:sp>
        <p:pic>
          <p:nvPicPr>
            <p:cNvPr id="35" name="Graphic 34">
              <a:extLst>
                <a:ext uri="{FF2B5EF4-FFF2-40B4-BE49-F238E27FC236}">
                  <a16:creationId xmlns:a16="http://schemas.microsoft.com/office/drawing/2014/main" id="{9340F8C3-75D8-9AF4-DADB-A90C552148B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67507" y="4552645"/>
              <a:ext cx="144000" cy="141732"/>
            </a:xfrm>
            <a:prstGeom prst="rect">
              <a:avLst/>
            </a:prstGeom>
          </p:spPr>
        </p:pic>
      </p:grpSp>
      <p:sp>
        <p:nvSpPr>
          <p:cNvPr id="48" name="TextBox 47">
            <a:extLst>
              <a:ext uri="{FF2B5EF4-FFF2-40B4-BE49-F238E27FC236}">
                <a16:creationId xmlns:a16="http://schemas.microsoft.com/office/drawing/2014/main" id="{9DEFF0D4-762D-A133-68E4-6CEB18E1A49E}"/>
              </a:ext>
              <a:ext uri="{C183D7F6-B498-43B3-948B-1728B52AA6E4}">
                <adec:decorative xmlns:adec="http://schemas.microsoft.com/office/drawing/2017/decorative" val="0"/>
              </a:ext>
            </a:extLst>
          </p:cNvPr>
          <p:cNvSpPr txBox="1"/>
          <p:nvPr/>
        </p:nvSpPr>
        <p:spPr>
          <a:xfrm>
            <a:off x="3562472" y="2286931"/>
            <a:ext cx="1830524" cy="1538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Semibold"/>
                <a:ea typeface="+mn-ea"/>
                <a:cs typeface="+mn-cs"/>
              </a:rPr>
              <a:t>Copilot in Excel</a:t>
            </a:r>
          </a:p>
        </p:txBody>
      </p:sp>
      <p:sp>
        <p:nvSpPr>
          <p:cNvPr id="4" name="TextBox 3">
            <a:extLst>
              <a:ext uri="{FF2B5EF4-FFF2-40B4-BE49-F238E27FC236}">
                <a16:creationId xmlns:a16="http://schemas.microsoft.com/office/drawing/2014/main" id="{1A0AA5DC-E193-DB97-8FE4-BE49E7686DA5}"/>
              </a:ext>
              <a:ext uri="{C183D7F6-B498-43B3-948B-1728B52AA6E4}">
                <adec:decorative xmlns:adec="http://schemas.microsoft.com/office/drawing/2017/decorative" val="0"/>
              </a:ext>
            </a:extLst>
          </p:cNvPr>
          <p:cNvSpPr txBox="1"/>
          <p:nvPr/>
        </p:nvSpPr>
        <p:spPr>
          <a:xfrm>
            <a:off x="9327726" y="2284873"/>
            <a:ext cx="1830524" cy="1538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Semibold"/>
                <a:ea typeface="+mn-ea"/>
                <a:cs typeface="+mn-cs"/>
              </a:rPr>
              <a:t>Analyst</a:t>
            </a:r>
            <a:endParaRPr kumimoji="0" lang="en-US" sz="1000" b="0" i="0" u="none" strike="noStrike" kern="1200" cap="none" spc="0" normalizeH="0" baseline="30000" noProof="0" dirty="0">
              <a:ln>
                <a:noFill/>
              </a:ln>
              <a:solidFill>
                <a:srgbClr val="000000"/>
              </a:solidFill>
              <a:effectLst/>
              <a:uLnTx/>
              <a:uFillTx/>
              <a:latin typeface="Segoe UI Semibold"/>
              <a:ea typeface="+mn-ea"/>
              <a:cs typeface="+mn-cs"/>
            </a:endParaRPr>
          </a:p>
        </p:txBody>
      </p:sp>
      <p:pic>
        <p:nvPicPr>
          <p:cNvPr id="5" name="Picture 4">
            <a:extLst>
              <a:ext uri="{FF2B5EF4-FFF2-40B4-BE49-F238E27FC236}">
                <a16:creationId xmlns:a16="http://schemas.microsoft.com/office/drawing/2014/main" id="{9780FAF6-FE6A-BBBF-AE03-4BAD0805D5BE}"/>
              </a:ext>
            </a:extLst>
          </p:cNvPr>
          <p:cNvPicPr>
            <a:picLocks noChangeAspect="1"/>
          </p:cNvPicPr>
          <p:nvPr/>
        </p:nvPicPr>
        <p:blipFill>
          <a:blip r:embed="rId7"/>
          <a:stretch>
            <a:fillRect/>
          </a:stretch>
        </p:blipFill>
        <p:spPr>
          <a:xfrm>
            <a:off x="8937082" y="2190610"/>
            <a:ext cx="346240" cy="270236"/>
          </a:xfrm>
          <a:prstGeom prst="rect">
            <a:avLst/>
          </a:prstGeom>
        </p:spPr>
      </p:pic>
      <p:sp>
        <p:nvSpPr>
          <p:cNvPr id="6" name="TextBox 5">
            <a:extLst>
              <a:ext uri="{FF2B5EF4-FFF2-40B4-BE49-F238E27FC236}">
                <a16:creationId xmlns:a16="http://schemas.microsoft.com/office/drawing/2014/main" id="{35A2C9E0-7B5B-480F-813C-7018844DD916}"/>
              </a:ext>
              <a:ext uri="{C183D7F6-B498-43B3-948B-1728B52AA6E4}">
                <adec:decorative xmlns:adec="http://schemas.microsoft.com/office/drawing/2017/decorative" val="0"/>
              </a:ext>
            </a:extLst>
          </p:cNvPr>
          <p:cNvSpPr txBox="1"/>
          <p:nvPr/>
        </p:nvSpPr>
        <p:spPr>
          <a:xfrm>
            <a:off x="9350107" y="4902196"/>
            <a:ext cx="1830524" cy="1538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Semibold"/>
                <a:ea typeface="+mn-ea"/>
                <a:cs typeface="+mn-cs"/>
              </a:rPr>
              <a:t>Analyst </a:t>
            </a:r>
            <a:endParaRPr kumimoji="0" lang="en-US" sz="1000" b="0" i="0" u="none" strike="noStrike" kern="1200" cap="none" spc="0" normalizeH="0" baseline="30000" noProof="0" dirty="0">
              <a:ln>
                <a:noFill/>
              </a:ln>
              <a:solidFill>
                <a:srgbClr val="000000"/>
              </a:solidFill>
              <a:effectLst/>
              <a:uLnTx/>
              <a:uFillTx/>
              <a:latin typeface="Segoe UI Semibold"/>
              <a:ea typeface="+mn-ea"/>
              <a:cs typeface="+mn-cs"/>
            </a:endParaRPr>
          </a:p>
        </p:txBody>
      </p:sp>
      <p:pic>
        <p:nvPicPr>
          <p:cNvPr id="7" name="Picture 6">
            <a:extLst>
              <a:ext uri="{FF2B5EF4-FFF2-40B4-BE49-F238E27FC236}">
                <a16:creationId xmlns:a16="http://schemas.microsoft.com/office/drawing/2014/main" id="{AE4D083B-2D8A-C75D-6BB5-282769004681}"/>
              </a:ext>
            </a:extLst>
          </p:cNvPr>
          <p:cNvPicPr>
            <a:picLocks noChangeAspect="1"/>
          </p:cNvPicPr>
          <p:nvPr/>
        </p:nvPicPr>
        <p:blipFill>
          <a:blip r:embed="rId7"/>
          <a:stretch>
            <a:fillRect/>
          </a:stretch>
        </p:blipFill>
        <p:spPr>
          <a:xfrm>
            <a:off x="8959463" y="4807933"/>
            <a:ext cx="346240" cy="270236"/>
          </a:xfrm>
          <a:prstGeom prst="rect">
            <a:avLst/>
          </a:prstGeom>
        </p:spPr>
      </p:pic>
      <p:sp>
        <p:nvSpPr>
          <p:cNvPr id="8" name="TextBox 7">
            <a:extLst>
              <a:ext uri="{FF2B5EF4-FFF2-40B4-BE49-F238E27FC236}">
                <a16:creationId xmlns:a16="http://schemas.microsoft.com/office/drawing/2014/main" id="{D7AD034F-F30F-A261-1AA0-D39E70E09568}"/>
              </a:ext>
              <a:ext uri="{C183D7F6-B498-43B3-948B-1728B52AA6E4}">
                <adec:decorative xmlns:adec="http://schemas.microsoft.com/office/drawing/2017/decorative" val="0"/>
              </a:ext>
            </a:extLst>
          </p:cNvPr>
          <p:cNvSpPr txBox="1"/>
          <p:nvPr/>
        </p:nvSpPr>
        <p:spPr>
          <a:xfrm>
            <a:off x="6488987" y="4901634"/>
            <a:ext cx="1830524" cy="1538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Semibold"/>
                <a:ea typeface="+mn-ea"/>
                <a:cs typeface="+mn-cs"/>
              </a:rPr>
              <a:t>Analyst</a:t>
            </a:r>
            <a:endParaRPr kumimoji="0" lang="en-US" sz="1000" b="0" i="0" u="none" strike="noStrike" kern="1200" cap="none" spc="0" normalizeH="0" baseline="30000" noProof="0" dirty="0">
              <a:ln>
                <a:noFill/>
              </a:ln>
              <a:solidFill>
                <a:srgbClr val="000000"/>
              </a:solidFill>
              <a:effectLst/>
              <a:uLnTx/>
              <a:uFillTx/>
              <a:latin typeface="Segoe UI Semibold"/>
              <a:ea typeface="+mn-ea"/>
              <a:cs typeface="+mn-cs"/>
            </a:endParaRPr>
          </a:p>
        </p:txBody>
      </p:sp>
      <p:pic>
        <p:nvPicPr>
          <p:cNvPr id="9" name="Picture 8">
            <a:extLst>
              <a:ext uri="{FF2B5EF4-FFF2-40B4-BE49-F238E27FC236}">
                <a16:creationId xmlns:a16="http://schemas.microsoft.com/office/drawing/2014/main" id="{E4088BD8-BE64-17D6-F5E7-A5ED329EE074}"/>
              </a:ext>
            </a:extLst>
          </p:cNvPr>
          <p:cNvPicPr>
            <a:picLocks noChangeAspect="1"/>
          </p:cNvPicPr>
          <p:nvPr/>
        </p:nvPicPr>
        <p:blipFill>
          <a:blip r:embed="rId7"/>
          <a:stretch>
            <a:fillRect/>
          </a:stretch>
        </p:blipFill>
        <p:spPr>
          <a:xfrm>
            <a:off x="6098343" y="4807371"/>
            <a:ext cx="346240" cy="270236"/>
          </a:xfrm>
          <a:prstGeom prst="rect">
            <a:avLst/>
          </a:prstGeom>
        </p:spPr>
      </p:pic>
      <p:sp>
        <p:nvSpPr>
          <p:cNvPr id="10" name="TextBox 9">
            <a:extLst>
              <a:ext uri="{FF2B5EF4-FFF2-40B4-BE49-F238E27FC236}">
                <a16:creationId xmlns:a16="http://schemas.microsoft.com/office/drawing/2014/main" id="{DAECD85E-E175-BE1A-ADCF-CF1F37E174F5}"/>
              </a:ext>
              <a:ext uri="{C183D7F6-B498-43B3-948B-1728B52AA6E4}">
                <adec:decorative xmlns:adec="http://schemas.microsoft.com/office/drawing/2017/decorative" val="0"/>
              </a:ext>
            </a:extLst>
          </p:cNvPr>
          <p:cNvSpPr txBox="1"/>
          <p:nvPr/>
        </p:nvSpPr>
        <p:spPr>
          <a:xfrm>
            <a:off x="3525677" y="4923719"/>
            <a:ext cx="1830524" cy="1538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Semibold"/>
                <a:ea typeface="+mn-ea"/>
                <a:cs typeface="+mn-cs"/>
              </a:rPr>
              <a:t>Analyst</a:t>
            </a:r>
            <a:endParaRPr kumimoji="0" lang="en-US" sz="1000" b="0" i="0" u="none" strike="noStrike" kern="1200" cap="none" spc="0" normalizeH="0" baseline="30000" noProof="0" dirty="0">
              <a:ln>
                <a:noFill/>
              </a:ln>
              <a:solidFill>
                <a:srgbClr val="000000"/>
              </a:solidFill>
              <a:effectLst/>
              <a:uLnTx/>
              <a:uFillTx/>
              <a:latin typeface="Segoe UI Semibold"/>
              <a:ea typeface="+mn-ea"/>
              <a:cs typeface="+mn-cs"/>
            </a:endParaRPr>
          </a:p>
        </p:txBody>
      </p:sp>
      <p:pic>
        <p:nvPicPr>
          <p:cNvPr id="11" name="Picture 10">
            <a:extLst>
              <a:ext uri="{FF2B5EF4-FFF2-40B4-BE49-F238E27FC236}">
                <a16:creationId xmlns:a16="http://schemas.microsoft.com/office/drawing/2014/main" id="{C5A42114-27CC-346E-2BA0-E015B2A1BAF6}"/>
              </a:ext>
            </a:extLst>
          </p:cNvPr>
          <p:cNvPicPr>
            <a:picLocks noChangeAspect="1"/>
          </p:cNvPicPr>
          <p:nvPr/>
        </p:nvPicPr>
        <p:blipFill>
          <a:blip r:embed="rId7"/>
          <a:stretch>
            <a:fillRect/>
          </a:stretch>
        </p:blipFill>
        <p:spPr>
          <a:xfrm>
            <a:off x="3135033" y="4829456"/>
            <a:ext cx="346240" cy="270236"/>
          </a:xfrm>
          <a:prstGeom prst="rect">
            <a:avLst/>
          </a:prstGeom>
        </p:spPr>
      </p:pic>
      <p:sp>
        <p:nvSpPr>
          <p:cNvPr id="14" name="TextBox 13">
            <a:extLst>
              <a:ext uri="{FF2B5EF4-FFF2-40B4-BE49-F238E27FC236}">
                <a16:creationId xmlns:a16="http://schemas.microsoft.com/office/drawing/2014/main" id="{464263D9-576D-9407-08DE-7B6E90ACDAC4}"/>
              </a:ext>
              <a:ext uri="{C183D7F6-B498-43B3-948B-1728B52AA6E4}">
                <adec:decorative xmlns:adec="http://schemas.microsoft.com/office/drawing/2017/decorative" val="0"/>
              </a:ext>
            </a:extLst>
          </p:cNvPr>
          <p:cNvSpPr txBox="1"/>
          <p:nvPr/>
        </p:nvSpPr>
        <p:spPr>
          <a:xfrm>
            <a:off x="6468871" y="2277235"/>
            <a:ext cx="1830524" cy="1538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Semibold"/>
                <a:ea typeface="+mn-ea"/>
                <a:cs typeface="+mn-cs"/>
              </a:rPr>
              <a:t>Copilot in Excel</a:t>
            </a:r>
          </a:p>
        </p:txBody>
      </p:sp>
      <p:pic>
        <p:nvPicPr>
          <p:cNvPr id="2" name="Picture 1" descr="Excel logo">
            <a:extLst>
              <a:ext uri="{FF2B5EF4-FFF2-40B4-BE49-F238E27FC236}">
                <a16:creationId xmlns:a16="http://schemas.microsoft.com/office/drawing/2014/main" id="{396B1A85-C18F-6159-C2E7-6699DE4DCABA}"/>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3170318" y="2223982"/>
            <a:ext cx="275670" cy="275670"/>
          </a:xfrm>
          <a:prstGeom prst="ellipse">
            <a:avLst/>
          </a:prstGeom>
          <a:solidFill>
            <a:schemeClr val="bg1"/>
          </a:solidFill>
        </p:spPr>
      </p:pic>
      <p:pic>
        <p:nvPicPr>
          <p:cNvPr id="3" name="Picture 2" descr="Excel logo">
            <a:extLst>
              <a:ext uri="{FF2B5EF4-FFF2-40B4-BE49-F238E27FC236}">
                <a16:creationId xmlns:a16="http://schemas.microsoft.com/office/drawing/2014/main" id="{2ED22031-7B3A-D0A4-BCBF-6EF8B9540EB9}"/>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6053700" y="2206581"/>
            <a:ext cx="275670" cy="275670"/>
          </a:xfrm>
          <a:prstGeom prst="ellipse">
            <a:avLst/>
          </a:prstGeom>
          <a:solidFill>
            <a:schemeClr val="bg1"/>
          </a:solidFill>
        </p:spPr>
      </p:pic>
    </p:spTree>
    <p:extLst>
      <p:ext uri="{BB962C8B-B14F-4D97-AF65-F5344CB8AC3E}">
        <p14:creationId xmlns:p14="http://schemas.microsoft.com/office/powerpoint/2010/main" val="1244432819"/>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2" name="Text Placeholder 401">
            <a:extLst>
              <a:ext uri="{FF2B5EF4-FFF2-40B4-BE49-F238E27FC236}">
                <a16:creationId xmlns:a16="http://schemas.microsoft.com/office/drawing/2014/main" id="{AD21D825-2173-2543-1EF5-9406CE389409}"/>
              </a:ext>
            </a:extLst>
          </p:cNvPr>
          <p:cNvSpPr>
            <a:spLocks noGrp="1"/>
          </p:cNvSpPr>
          <p:nvPr>
            <p:ph type="body" sz="quarter" idx="32"/>
          </p:nvPr>
        </p:nvSpPr>
        <p:spPr>
          <a:xfrm>
            <a:off x="311388" y="1026303"/>
            <a:ext cx="2431246" cy="1131079"/>
          </a:xfrm>
        </p:spPr>
        <p:txBody>
          <a:bodyPr/>
          <a:lstStyle/>
          <a:p>
            <a:r>
              <a:rPr lang="en-US" noProof="0" dirty="0"/>
              <a:t>AI can help procurement employees as they work to negotiate contracts that reduce costs and manage risks. Copilot can help to find information, enhance collaboration, and assist with writing.</a:t>
            </a:r>
          </a:p>
        </p:txBody>
      </p:sp>
      <p:sp>
        <p:nvSpPr>
          <p:cNvPr id="235" name="Text Placeholder 234">
            <a:extLst>
              <a:ext uri="{FF2B5EF4-FFF2-40B4-BE49-F238E27FC236}">
                <a16:creationId xmlns:a16="http://schemas.microsoft.com/office/drawing/2014/main" id="{A24A4C6A-3E3C-0355-AAD4-D5138D36964E}"/>
              </a:ext>
            </a:extLst>
          </p:cNvPr>
          <p:cNvSpPr>
            <a:spLocks noGrp="1"/>
          </p:cNvSpPr>
          <p:nvPr>
            <p:ph type="body" sz="quarter" idx="33"/>
          </p:nvPr>
        </p:nvSpPr>
        <p:spPr>
          <a:xfrm>
            <a:off x="304796" y="413987"/>
            <a:ext cx="2057403" cy="307777"/>
          </a:xfrm>
        </p:spPr>
        <p:txBody>
          <a:bodyPr/>
          <a:lstStyle/>
          <a:p>
            <a:r>
              <a:rPr lang="en-US" noProof="0" dirty="0"/>
              <a:t>Finance</a:t>
            </a:r>
          </a:p>
        </p:txBody>
      </p:sp>
      <p:sp>
        <p:nvSpPr>
          <p:cNvPr id="233" name="Text Placeholder 232">
            <a:extLst>
              <a:ext uri="{FF2B5EF4-FFF2-40B4-BE49-F238E27FC236}">
                <a16:creationId xmlns:a16="http://schemas.microsoft.com/office/drawing/2014/main" id="{BE812025-9733-3121-901B-EC51BC14C29C}"/>
              </a:ext>
            </a:extLst>
          </p:cNvPr>
          <p:cNvSpPr>
            <a:spLocks noGrp="1"/>
          </p:cNvSpPr>
          <p:nvPr>
            <p:ph type="body" sz="quarter" idx="30"/>
          </p:nvPr>
        </p:nvSpPr>
        <p:spPr>
          <a:xfrm>
            <a:off x="10430351" y="521099"/>
            <a:ext cx="1456966" cy="175614"/>
          </a:xfrm>
        </p:spPr>
        <p:txBody>
          <a:bodyPr/>
          <a:lstStyle/>
          <a:p>
            <a:r>
              <a:rPr lang="en-US" noProof="0" dirty="0"/>
              <a:t>Buy</a:t>
            </a:r>
          </a:p>
        </p:txBody>
      </p:sp>
      <p:sp>
        <p:nvSpPr>
          <p:cNvPr id="231" name="Text Placeholder 230">
            <a:extLst>
              <a:ext uri="{FF2B5EF4-FFF2-40B4-BE49-F238E27FC236}">
                <a16:creationId xmlns:a16="http://schemas.microsoft.com/office/drawing/2014/main" id="{2D0E234D-63BC-CEE0-35B2-127E0DDA242D}"/>
              </a:ext>
            </a:extLst>
          </p:cNvPr>
          <p:cNvSpPr>
            <a:spLocks noGrp="1"/>
          </p:cNvSpPr>
          <p:nvPr>
            <p:ph type="body" sz="quarter" idx="17"/>
          </p:nvPr>
        </p:nvSpPr>
        <p:spPr>
          <a:xfrm>
            <a:off x="7149557" y="521100"/>
            <a:ext cx="2969488" cy="169277"/>
          </a:xfrm>
        </p:spPr>
        <p:txBody>
          <a:bodyPr/>
          <a:lstStyle/>
          <a:p>
            <a:r>
              <a:rPr lang="en-US" noProof="0" dirty="0"/>
              <a:t>Microsoft 365 Copilot</a:t>
            </a:r>
          </a:p>
        </p:txBody>
      </p:sp>
      <p:sp>
        <p:nvSpPr>
          <p:cNvPr id="178" name="Title 177">
            <a:extLst>
              <a:ext uri="{FF2B5EF4-FFF2-40B4-BE49-F238E27FC236}">
                <a16:creationId xmlns:a16="http://schemas.microsoft.com/office/drawing/2014/main" id="{23FAF073-CCE6-8C4E-50FD-D009F347C76C}"/>
              </a:ext>
            </a:extLst>
          </p:cNvPr>
          <p:cNvSpPr>
            <a:spLocks noGrp="1"/>
          </p:cNvSpPr>
          <p:nvPr>
            <p:ph type="title"/>
          </p:nvPr>
        </p:nvSpPr>
        <p:spPr>
          <a:xfrm>
            <a:off x="2492556" y="429376"/>
            <a:ext cx="4144817" cy="276999"/>
          </a:xfrm>
        </p:spPr>
        <p:txBody>
          <a:bodyPr/>
          <a:lstStyle/>
          <a:p>
            <a:r>
              <a:rPr lang="en-US" noProof="0" dirty="0"/>
              <a:t>Contract review</a:t>
            </a:r>
          </a:p>
        </p:txBody>
      </p:sp>
      <p:sp>
        <p:nvSpPr>
          <p:cNvPr id="248" name="Text Placeholder 247">
            <a:extLst>
              <a:ext uri="{FF2B5EF4-FFF2-40B4-BE49-F238E27FC236}">
                <a16:creationId xmlns:a16="http://schemas.microsoft.com/office/drawing/2014/main" id="{B97F64D1-F6A1-0206-AE4E-F9EBF57E6186}"/>
              </a:ext>
            </a:extLst>
          </p:cNvPr>
          <p:cNvSpPr>
            <a:spLocks noGrp="1"/>
          </p:cNvSpPr>
          <p:nvPr>
            <p:ph type="body" sz="quarter" idx="69"/>
          </p:nvPr>
        </p:nvSpPr>
        <p:spPr>
          <a:xfrm>
            <a:off x="3182890" y="2725494"/>
            <a:ext cx="2572262" cy="712876"/>
          </a:xfrm>
        </p:spPr>
        <p:txBody>
          <a:bodyPr/>
          <a:lstStyle/>
          <a:p>
            <a:r>
              <a:rPr lang="en-US" noProof="0" dirty="0"/>
              <a:t>Example prompt: </a:t>
            </a:r>
            <a:r>
              <a:rPr lang="en-US" noProof="0" dirty="0">
                <a:latin typeface="+mj-lt"/>
              </a:rPr>
              <a:t>Catch me up </a:t>
            </a:r>
            <a:r>
              <a:rPr lang="en-US" noProof="0" dirty="0"/>
              <a:t>on the emails about the contract. Summarize the latest requests. </a:t>
            </a:r>
          </a:p>
        </p:txBody>
      </p:sp>
      <p:sp>
        <p:nvSpPr>
          <p:cNvPr id="230" name="Text Placeholder 229">
            <a:extLst>
              <a:ext uri="{FF2B5EF4-FFF2-40B4-BE49-F238E27FC236}">
                <a16:creationId xmlns:a16="http://schemas.microsoft.com/office/drawing/2014/main" id="{9ABCA6AC-FE0B-7B48-8516-42FD7F5828F0}"/>
              </a:ext>
            </a:extLst>
          </p:cNvPr>
          <p:cNvSpPr>
            <a:spLocks noGrp="1"/>
          </p:cNvSpPr>
          <p:nvPr>
            <p:ph type="body" sz="quarter" idx="11"/>
          </p:nvPr>
        </p:nvSpPr>
        <p:spPr>
          <a:xfrm>
            <a:off x="3182890" y="1112478"/>
            <a:ext cx="2572262" cy="153888"/>
          </a:xfrm>
        </p:spPr>
        <p:txBody>
          <a:bodyPr/>
          <a:lstStyle/>
          <a:p>
            <a:r>
              <a:rPr lang="en-US" noProof="0" dirty="0"/>
              <a:t>Find the asks in your emails</a:t>
            </a:r>
          </a:p>
        </p:txBody>
      </p:sp>
      <p:sp>
        <p:nvSpPr>
          <p:cNvPr id="232" name="Text Placeholder 231">
            <a:extLst>
              <a:ext uri="{FF2B5EF4-FFF2-40B4-BE49-F238E27FC236}">
                <a16:creationId xmlns:a16="http://schemas.microsoft.com/office/drawing/2014/main" id="{7C5D0943-6AF9-D85F-0701-06BB06428DAD}"/>
              </a:ext>
            </a:extLst>
          </p:cNvPr>
          <p:cNvSpPr>
            <a:spLocks noGrp="1"/>
          </p:cNvSpPr>
          <p:nvPr>
            <p:ph type="body" sz="quarter" idx="18"/>
          </p:nvPr>
        </p:nvSpPr>
        <p:spPr>
          <a:xfrm>
            <a:off x="3182890" y="1438715"/>
            <a:ext cx="2572262" cy="626701"/>
          </a:xfrm>
        </p:spPr>
        <p:txBody>
          <a:bodyPr/>
          <a:lstStyle/>
          <a:p>
            <a:r>
              <a:rPr lang="en-US" noProof="0" dirty="0"/>
              <a:t>Use Copilot to catch up on emails regarding the latest professional services contract to prepare for a consultation with an internal deal stakeholder.</a:t>
            </a:r>
          </a:p>
        </p:txBody>
      </p:sp>
      <p:sp>
        <p:nvSpPr>
          <p:cNvPr id="237" name="Text Placeholder 236">
            <a:extLst>
              <a:ext uri="{FF2B5EF4-FFF2-40B4-BE49-F238E27FC236}">
                <a16:creationId xmlns:a16="http://schemas.microsoft.com/office/drawing/2014/main" id="{F4009020-4F0D-1780-3F19-21FCF9BF37A5}"/>
              </a:ext>
            </a:extLst>
          </p:cNvPr>
          <p:cNvSpPr>
            <a:spLocks noGrp="1"/>
          </p:cNvSpPr>
          <p:nvPr>
            <p:ph type="body" sz="quarter" idx="42"/>
          </p:nvPr>
        </p:nvSpPr>
        <p:spPr>
          <a:xfrm>
            <a:off x="6066682" y="1112478"/>
            <a:ext cx="2572262" cy="153888"/>
          </a:xfrm>
        </p:spPr>
        <p:txBody>
          <a:bodyPr/>
          <a:lstStyle/>
          <a:p>
            <a:r>
              <a:rPr lang="en-US" noProof="0" dirty="0"/>
              <a:t>Recap a meeting</a:t>
            </a:r>
          </a:p>
        </p:txBody>
      </p:sp>
      <p:sp>
        <p:nvSpPr>
          <p:cNvPr id="238" name="Text Placeholder 237">
            <a:extLst>
              <a:ext uri="{FF2B5EF4-FFF2-40B4-BE49-F238E27FC236}">
                <a16:creationId xmlns:a16="http://schemas.microsoft.com/office/drawing/2014/main" id="{BEA89BAB-AC15-3868-B927-7A8E0FAC3E39}"/>
              </a:ext>
            </a:extLst>
          </p:cNvPr>
          <p:cNvSpPr>
            <a:spLocks noGrp="1"/>
          </p:cNvSpPr>
          <p:nvPr>
            <p:ph type="body" sz="quarter" idx="43"/>
          </p:nvPr>
        </p:nvSpPr>
        <p:spPr>
          <a:xfrm>
            <a:off x="6066682" y="1438715"/>
            <a:ext cx="2572262" cy="626701"/>
          </a:xfrm>
        </p:spPr>
        <p:txBody>
          <a:bodyPr/>
          <a:lstStyle/>
          <a:p>
            <a:r>
              <a:rPr lang="en-US" noProof="0" dirty="0"/>
              <a:t>Catch up on the last meeting with the stakeholder using Copilot in Teams to ensure clarity on their latest requests. Use Teams Rooms for the meeting to enable a transcript with proper attributions from a conference room.</a:t>
            </a:r>
          </a:p>
          <a:p>
            <a:endParaRPr lang="en-US" noProof="0" dirty="0"/>
          </a:p>
        </p:txBody>
      </p:sp>
      <p:sp>
        <p:nvSpPr>
          <p:cNvPr id="242" name="Text Placeholder 241">
            <a:extLst>
              <a:ext uri="{FF2B5EF4-FFF2-40B4-BE49-F238E27FC236}">
                <a16:creationId xmlns:a16="http://schemas.microsoft.com/office/drawing/2014/main" id="{F7A8F6D8-DEBA-B08B-F500-FA211C32E90D}"/>
              </a:ext>
            </a:extLst>
          </p:cNvPr>
          <p:cNvSpPr>
            <a:spLocks noGrp="1"/>
          </p:cNvSpPr>
          <p:nvPr>
            <p:ph type="body" sz="quarter" idx="68"/>
          </p:nvPr>
        </p:nvSpPr>
        <p:spPr>
          <a:xfrm>
            <a:off x="8950475" y="2725494"/>
            <a:ext cx="2572262" cy="712876"/>
          </a:xfrm>
        </p:spPr>
        <p:txBody>
          <a:bodyPr/>
          <a:lstStyle/>
          <a:p>
            <a:r>
              <a:rPr lang="en-US" noProof="0" dirty="0"/>
              <a:t>Example prompt: </a:t>
            </a:r>
            <a:r>
              <a:rPr lang="en-US" noProof="0" dirty="0">
                <a:latin typeface="+mj-lt"/>
              </a:rPr>
              <a:t>Ask Copilot a series of prompts:</a:t>
            </a:r>
            <a:r>
              <a:rPr lang="en-US" noProof="0" dirty="0"/>
              <a:t> “What is the commitment and monthly fee?”, “What are the T&amp;Cs for invoicing?”, “What is the license term?”</a:t>
            </a:r>
          </a:p>
        </p:txBody>
      </p:sp>
      <p:sp>
        <p:nvSpPr>
          <p:cNvPr id="240" name="Text Placeholder 239">
            <a:extLst>
              <a:ext uri="{FF2B5EF4-FFF2-40B4-BE49-F238E27FC236}">
                <a16:creationId xmlns:a16="http://schemas.microsoft.com/office/drawing/2014/main" id="{75EC025E-D504-6A27-6313-204D5363F640}"/>
              </a:ext>
            </a:extLst>
          </p:cNvPr>
          <p:cNvSpPr>
            <a:spLocks noGrp="1"/>
          </p:cNvSpPr>
          <p:nvPr>
            <p:ph type="body" sz="quarter" idx="45"/>
          </p:nvPr>
        </p:nvSpPr>
        <p:spPr>
          <a:xfrm>
            <a:off x="8950475" y="1112478"/>
            <a:ext cx="2572262" cy="153888"/>
          </a:xfrm>
        </p:spPr>
        <p:txBody>
          <a:bodyPr/>
          <a:lstStyle/>
          <a:p>
            <a:r>
              <a:rPr lang="en-US" noProof="0" dirty="0"/>
              <a:t>Summarize the contract</a:t>
            </a:r>
          </a:p>
        </p:txBody>
      </p:sp>
      <p:sp>
        <p:nvSpPr>
          <p:cNvPr id="241" name="Text Placeholder 240">
            <a:extLst>
              <a:ext uri="{FF2B5EF4-FFF2-40B4-BE49-F238E27FC236}">
                <a16:creationId xmlns:a16="http://schemas.microsoft.com/office/drawing/2014/main" id="{CFFF75F0-39AD-BD89-D5D2-C128C78AA885}"/>
              </a:ext>
            </a:extLst>
          </p:cNvPr>
          <p:cNvSpPr>
            <a:spLocks noGrp="1"/>
          </p:cNvSpPr>
          <p:nvPr>
            <p:ph type="body" sz="quarter" idx="46"/>
          </p:nvPr>
        </p:nvSpPr>
        <p:spPr>
          <a:xfrm>
            <a:off x="8950475" y="1438715"/>
            <a:ext cx="2572262" cy="626701"/>
          </a:xfrm>
        </p:spPr>
        <p:txBody>
          <a:bodyPr/>
          <a:lstStyle/>
          <a:p>
            <a:r>
              <a:rPr lang="en-US" noProof="0" dirty="0"/>
              <a:t>Review the new contract with Copilot in Word, extracting key insights, tender documents, and amendments for the deal and associated revenue impacting terms/conditions.</a:t>
            </a:r>
          </a:p>
          <a:p>
            <a:endParaRPr lang="en-US" noProof="0" dirty="0"/>
          </a:p>
        </p:txBody>
      </p:sp>
      <p:sp>
        <p:nvSpPr>
          <p:cNvPr id="251" name="Text Placeholder 250">
            <a:extLst>
              <a:ext uri="{FF2B5EF4-FFF2-40B4-BE49-F238E27FC236}">
                <a16:creationId xmlns:a16="http://schemas.microsoft.com/office/drawing/2014/main" id="{8A6160A0-28E9-0D5B-53F2-1F31026C7119}"/>
              </a:ext>
            </a:extLst>
          </p:cNvPr>
          <p:cNvSpPr>
            <a:spLocks noGrp="1"/>
          </p:cNvSpPr>
          <p:nvPr>
            <p:ph type="body" sz="quarter" idx="70"/>
          </p:nvPr>
        </p:nvSpPr>
        <p:spPr>
          <a:xfrm>
            <a:off x="6066682" y="2725494"/>
            <a:ext cx="2572262" cy="712876"/>
          </a:xfrm>
        </p:spPr>
        <p:txBody>
          <a:bodyPr/>
          <a:lstStyle/>
          <a:p>
            <a:r>
              <a:rPr lang="en-US" noProof="0" dirty="0"/>
              <a:t>Example prompt: </a:t>
            </a:r>
            <a:r>
              <a:rPr lang="en-US" noProof="0" dirty="0">
                <a:latin typeface="+mj-lt"/>
              </a:rPr>
              <a:t>Summarize this meeting </a:t>
            </a:r>
            <a:r>
              <a:rPr lang="en-US" noProof="0" dirty="0"/>
              <a:t>and provide the key points and action items.</a:t>
            </a:r>
          </a:p>
        </p:txBody>
      </p:sp>
      <p:sp>
        <p:nvSpPr>
          <p:cNvPr id="243" name="Text Placeholder 242">
            <a:extLst>
              <a:ext uri="{FF2B5EF4-FFF2-40B4-BE49-F238E27FC236}">
                <a16:creationId xmlns:a16="http://schemas.microsoft.com/office/drawing/2014/main" id="{932E6857-DF78-88B7-1EF9-BF6F279D3AF2}"/>
              </a:ext>
            </a:extLst>
          </p:cNvPr>
          <p:cNvSpPr>
            <a:spLocks noGrp="1"/>
          </p:cNvSpPr>
          <p:nvPr>
            <p:ph type="body" sz="quarter" idx="48"/>
          </p:nvPr>
        </p:nvSpPr>
        <p:spPr>
          <a:xfrm>
            <a:off x="3182890" y="5334522"/>
            <a:ext cx="2572262" cy="712876"/>
          </a:xfrm>
        </p:spPr>
        <p:txBody>
          <a:bodyPr/>
          <a:lstStyle/>
          <a:p>
            <a:r>
              <a:rPr lang="en-US" noProof="0" dirty="0"/>
              <a:t>Example prompt: </a:t>
            </a:r>
            <a:r>
              <a:rPr lang="en-US" noProof="0" dirty="0">
                <a:latin typeface="+mj-lt"/>
              </a:rPr>
              <a:t>“Draft with Copilot” </a:t>
            </a:r>
            <a:r>
              <a:rPr lang="en-US" noProof="0" dirty="0"/>
              <a:t>a reply with a bulleted list of the team’s recommendations, associated rationale, and next steps. Tone is Formal and Length is Short.</a:t>
            </a:r>
          </a:p>
        </p:txBody>
      </p:sp>
      <p:sp>
        <p:nvSpPr>
          <p:cNvPr id="244" name="Text Placeholder 243">
            <a:extLst>
              <a:ext uri="{FF2B5EF4-FFF2-40B4-BE49-F238E27FC236}">
                <a16:creationId xmlns:a16="http://schemas.microsoft.com/office/drawing/2014/main" id="{BBF14BDE-670D-CB46-7BFB-F364EE76A729}"/>
              </a:ext>
            </a:extLst>
          </p:cNvPr>
          <p:cNvSpPr>
            <a:spLocks noGrp="1"/>
          </p:cNvSpPr>
          <p:nvPr>
            <p:ph type="body" sz="quarter" idx="49"/>
          </p:nvPr>
        </p:nvSpPr>
        <p:spPr>
          <a:xfrm>
            <a:off x="3182890" y="3725103"/>
            <a:ext cx="2572262" cy="153888"/>
          </a:xfrm>
        </p:spPr>
        <p:txBody>
          <a:bodyPr/>
          <a:lstStyle/>
          <a:p>
            <a:r>
              <a:rPr lang="en-US" noProof="0" dirty="0"/>
              <a:t>Create an email with a response</a:t>
            </a:r>
          </a:p>
        </p:txBody>
      </p:sp>
      <p:sp>
        <p:nvSpPr>
          <p:cNvPr id="245" name="Text Placeholder 244">
            <a:extLst>
              <a:ext uri="{FF2B5EF4-FFF2-40B4-BE49-F238E27FC236}">
                <a16:creationId xmlns:a16="http://schemas.microsoft.com/office/drawing/2014/main" id="{168696AD-AB2B-1750-B327-C256F25CD4EE}"/>
              </a:ext>
            </a:extLst>
          </p:cNvPr>
          <p:cNvSpPr>
            <a:spLocks noGrp="1"/>
          </p:cNvSpPr>
          <p:nvPr>
            <p:ph type="body" sz="quarter" idx="50"/>
          </p:nvPr>
        </p:nvSpPr>
        <p:spPr>
          <a:xfrm>
            <a:off x="3182890" y="4050957"/>
            <a:ext cx="2572262" cy="626701"/>
          </a:xfrm>
        </p:spPr>
        <p:txBody>
          <a:bodyPr/>
          <a:lstStyle/>
          <a:p>
            <a:r>
              <a:rPr lang="en-US" noProof="0" dirty="0"/>
              <a:t>Reply to the stakeholder using Copilot in Outlook with a concise but thorough summary of the recommended agreement updates.</a:t>
            </a:r>
          </a:p>
        </p:txBody>
      </p:sp>
      <p:sp>
        <p:nvSpPr>
          <p:cNvPr id="246" name="Text Placeholder 245">
            <a:extLst>
              <a:ext uri="{FF2B5EF4-FFF2-40B4-BE49-F238E27FC236}">
                <a16:creationId xmlns:a16="http://schemas.microsoft.com/office/drawing/2014/main" id="{D342B472-8947-FCDD-00F3-176B05F0A03E}"/>
              </a:ext>
            </a:extLst>
          </p:cNvPr>
          <p:cNvSpPr>
            <a:spLocks noGrp="1"/>
          </p:cNvSpPr>
          <p:nvPr>
            <p:ph type="body" sz="quarter" idx="51"/>
          </p:nvPr>
        </p:nvSpPr>
        <p:spPr>
          <a:xfrm>
            <a:off x="6066682" y="3725103"/>
            <a:ext cx="2572262" cy="153888"/>
          </a:xfrm>
        </p:spPr>
        <p:txBody>
          <a:bodyPr/>
          <a:lstStyle/>
          <a:p>
            <a:r>
              <a:rPr lang="en-US" noProof="0" dirty="0"/>
              <a:t>Prep for a meeting</a:t>
            </a:r>
          </a:p>
        </p:txBody>
      </p:sp>
      <p:sp>
        <p:nvSpPr>
          <p:cNvPr id="247" name="Text Placeholder 246">
            <a:extLst>
              <a:ext uri="{FF2B5EF4-FFF2-40B4-BE49-F238E27FC236}">
                <a16:creationId xmlns:a16="http://schemas.microsoft.com/office/drawing/2014/main" id="{87244996-9115-2DE8-0624-D196177492DD}"/>
              </a:ext>
            </a:extLst>
          </p:cNvPr>
          <p:cNvSpPr>
            <a:spLocks noGrp="1"/>
          </p:cNvSpPr>
          <p:nvPr>
            <p:ph type="body" sz="quarter" idx="52"/>
          </p:nvPr>
        </p:nvSpPr>
        <p:spPr>
          <a:xfrm>
            <a:off x="6066682" y="4050957"/>
            <a:ext cx="2572262" cy="626701"/>
          </a:xfrm>
        </p:spPr>
        <p:txBody>
          <a:bodyPr/>
          <a:lstStyle/>
          <a:p>
            <a:r>
              <a:rPr lang="en-US" noProof="0" dirty="0"/>
              <a:t>Gain alignment with the stakeholders on the recommended accounting guidance, prompting Copilot for a meeting agenda.</a:t>
            </a:r>
          </a:p>
        </p:txBody>
      </p:sp>
      <p:sp>
        <p:nvSpPr>
          <p:cNvPr id="236" name="Text Placeholder 235">
            <a:extLst>
              <a:ext uri="{FF2B5EF4-FFF2-40B4-BE49-F238E27FC236}">
                <a16:creationId xmlns:a16="http://schemas.microsoft.com/office/drawing/2014/main" id="{47F6B9DA-0B44-02A5-FB12-CC0E2FBBD37A}"/>
              </a:ext>
            </a:extLst>
          </p:cNvPr>
          <p:cNvSpPr>
            <a:spLocks noGrp="1"/>
          </p:cNvSpPr>
          <p:nvPr>
            <p:ph type="body" sz="quarter" idx="66"/>
          </p:nvPr>
        </p:nvSpPr>
        <p:spPr>
          <a:xfrm>
            <a:off x="8950475" y="5334522"/>
            <a:ext cx="2572262" cy="712876"/>
          </a:xfrm>
        </p:spPr>
        <p:txBody>
          <a:bodyPr/>
          <a:lstStyle/>
          <a:p>
            <a:r>
              <a:rPr lang="en-US" noProof="0" dirty="0"/>
              <a:t>Example prompt: </a:t>
            </a:r>
            <a:r>
              <a:rPr lang="en-US" noProof="0" dirty="0">
                <a:latin typeface="+mj-lt"/>
              </a:rPr>
              <a:t>Generate a space </a:t>
            </a:r>
            <a:r>
              <a:rPr lang="en-US" noProof="0" dirty="0"/>
              <a:t>for team members to dynamically contribute and ideate on deal structure recommendations. “Create a list of topics to discuss for a contract review.”</a:t>
            </a:r>
          </a:p>
        </p:txBody>
      </p:sp>
      <p:sp>
        <p:nvSpPr>
          <p:cNvPr id="249" name="Text Placeholder 248">
            <a:extLst>
              <a:ext uri="{FF2B5EF4-FFF2-40B4-BE49-F238E27FC236}">
                <a16:creationId xmlns:a16="http://schemas.microsoft.com/office/drawing/2014/main" id="{D858F3BE-35EE-D9FE-572B-82F23598E2E3}"/>
              </a:ext>
            </a:extLst>
          </p:cNvPr>
          <p:cNvSpPr>
            <a:spLocks noGrp="1"/>
          </p:cNvSpPr>
          <p:nvPr>
            <p:ph type="body" sz="quarter" idx="54"/>
          </p:nvPr>
        </p:nvSpPr>
        <p:spPr>
          <a:xfrm>
            <a:off x="8950475" y="3725103"/>
            <a:ext cx="2572262" cy="153888"/>
          </a:xfrm>
        </p:spPr>
        <p:txBody>
          <a:bodyPr/>
          <a:lstStyle/>
          <a:p>
            <a:r>
              <a:rPr lang="en-US" noProof="0" dirty="0"/>
              <a:t>Collaborate with team</a:t>
            </a:r>
          </a:p>
        </p:txBody>
      </p:sp>
      <p:sp>
        <p:nvSpPr>
          <p:cNvPr id="250" name="Text Placeholder 249">
            <a:extLst>
              <a:ext uri="{FF2B5EF4-FFF2-40B4-BE49-F238E27FC236}">
                <a16:creationId xmlns:a16="http://schemas.microsoft.com/office/drawing/2014/main" id="{39174018-9C14-95E1-73E2-546D8FA40314}"/>
              </a:ext>
            </a:extLst>
          </p:cNvPr>
          <p:cNvSpPr>
            <a:spLocks noGrp="1"/>
          </p:cNvSpPr>
          <p:nvPr>
            <p:ph type="body" sz="quarter" idx="55"/>
          </p:nvPr>
        </p:nvSpPr>
        <p:spPr>
          <a:xfrm>
            <a:off x="8950475" y="4050957"/>
            <a:ext cx="2572262" cy="626701"/>
          </a:xfrm>
        </p:spPr>
        <p:txBody>
          <a:bodyPr/>
          <a:lstStyle/>
          <a:p>
            <a:r>
              <a:rPr lang="en-US" noProof="0" dirty="0"/>
              <a:t>Solicit input with Copilot in Loop and finalize with team on the technical accounting guidance for the draft customer agreement.</a:t>
            </a:r>
          </a:p>
          <a:p>
            <a:endParaRPr lang="en-US" noProof="0" dirty="0"/>
          </a:p>
        </p:txBody>
      </p:sp>
      <p:sp>
        <p:nvSpPr>
          <p:cNvPr id="239" name="Text Placeholder 238">
            <a:extLst>
              <a:ext uri="{FF2B5EF4-FFF2-40B4-BE49-F238E27FC236}">
                <a16:creationId xmlns:a16="http://schemas.microsoft.com/office/drawing/2014/main" id="{68D16DCE-B04E-3EA0-1D20-661A8B3D93F5}"/>
              </a:ext>
            </a:extLst>
          </p:cNvPr>
          <p:cNvSpPr>
            <a:spLocks noGrp="1"/>
          </p:cNvSpPr>
          <p:nvPr>
            <p:ph type="body" sz="quarter" idx="67"/>
          </p:nvPr>
        </p:nvSpPr>
        <p:spPr>
          <a:xfrm>
            <a:off x="6066682" y="5334522"/>
            <a:ext cx="2572262" cy="712876"/>
          </a:xfrm>
        </p:spPr>
        <p:txBody>
          <a:bodyPr/>
          <a:lstStyle/>
          <a:p>
            <a:r>
              <a:rPr lang="en-US" noProof="0" dirty="0"/>
              <a:t>Example prompt: </a:t>
            </a:r>
            <a:r>
              <a:rPr lang="en-US" noProof="0" dirty="0">
                <a:latin typeface="+mj-lt"/>
              </a:rPr>
              <a:t>Create a meeting agenda </a:t>
            </a:r>
            <a:r>
              <a:rPr lang="en-US" noProof="0" dirty="0"/>
              <a:t>based on the latest contract review meeting and email with the objective of aligning on the accounting recommendations for the deal.</a:t>
            </a:r>
          </a:p>
        </p:txBody>
      </p:sp>
      <p:sp>
        <p:nvSpPr>
          <p:cNvPr id="403" name="Text Placeholder 402">
            <a:extLst>
              <a:ext uri="{FF2B5EF4-FFF2-40B4-BE49-F238E27FC236}">
                <a16:creationId xmlns:a16="http://schemas.microsoft.com/office/drawing/2014/main" id="{FC01F27D-E825-008C-D090-E52D772C34C8}"/>
              </a:ext>
            </a:extLst>
          </p:cNvPr>
          <p:cNvSpPr>
            <a:spLocks noGrp="1"/>
          </p:cNvSpPr>
          <p:nvPr>
            <p:ph type="body" sz="quarter" idx="64"/>
          </p:nvPr>
        </p:nvSpPr>
        <p:spPr>
          <a:xfrm>
            <a:off x="320721" y="4709762"/>
            <a:ext cx="1131651" cy="219456"/>
          </a:xfrm>
        </p:spPr>
        <p:txBody>
          <a:bodyPr/>
          <a:lstStyle/>
          <a:p>
            <a:r>
              <a:rPr lang="en-US" noProof="0" dirty="0"/>
              <a:t>Value benefit</a:t>
            </a:r>
          </a:p>
        </p:txBody>
      </p:sp>
      <p:sp>
        <p:nvSpPr>
          <p:cNvPr id="328" name="Text Placeholder 327">
            <a:extLst>
              <a:ext uri="{FF2B5EF4-FFF2-40B4-BE49-F238E27FC236}">
                <a16:creationId xmlns:a16="http://schemas.microsoft.com/office/drawing/2014/main" id="{3F332D7C-4013-501A-17B5-23087F93360C}"/>
              </a:ext>
            </a:extLst>
          </p:cNvPr>
          <p:cNvSpPr>
            <a:spLocks noGrp="1"/>
          </p:cNvSpPr>
          <p:nvPr>
            <p:ph type="body" sz="quarter" idx="65"/>
          </p:nvPr>
        </p:nvSpPr>
        <p:spPr>
          <a:xfrm>
            <a:off x="320721" y="3467940"/>
            <a:ext cx="1131650" cy="219456"/>
          </a:xfrm>
        </p:spPr>
        <p:txBody>
          <a:bodyPr/>
          <a:lstStyle/>
          <a:p>
            <a:r>
              <a:rPr lang="en-US" noProof="0" dirty="0"/>
              <a:t>KPIs impacted</a:t>
            </a:r>
          </a:p>
        </p:txBody>
      </p:sp>
      <p:pic>
        <p:nvPicPr>
          <p:cNvPr id="409" name="Picture 6">
            <a:extLst>
              <a:ext uri="{FF2B5EF4-FFF2-40B4-BE49-F238E27FC236}">
                <a16:creationId xmlns:a16="http://schemas.microsoft.com/office/drawing/2014/main" id="{62FDC34F-50F0-090C-86A3-6430AE23D3D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5571" b="5571"/>
          <a:stretch/>
        </p:blipFill>
        <p:spPr bwMode="auto">
          <a:xfrm>
            <a:off x="6074532" y="2252214"/>
            <a:ext cx="245612" cy="223322"/>
          </a:xfrm>
          <a:prstGeom prst="rect">
            <a:avLst/>
          </a:prstGeom>
          <a:noFill/>
          <a:extLst>
            <a:ext uri="{909E8E84-426E-40DD-AFC4-6F175D3DCCD1}">
              <a14:hiddenFill xmlns:a14="http://schemas.microsoft.com/office/drawing/2010/main">
                <a:solidFill>
                  <a:srgbClr val="FFFFFF"/>
                </a:solidFill>
              </a14:hiddenFill>
            </a:ext>
          </a:extLst>
        </p:spPr>
      </p:pic>
      <p:grpSp>
        <p:nvGrpSpPr>
          <p:cNvPr id="413" name="Group 412">
            <a:extLst>
              <a:ext uri="{FF2B5EF4-FFF2-40B4-BE49-F238E27FC236}">
                <a16:creationId xmlns:a16="http://schemas.microsoft.com/office/drawing/2014/main" id="{C263142C-4187-4149-1668-CFD434C2939D}"/>
              </a:ext>
            </a:extLst>
          </p:cNvPr>
          <p:cNvGrpSpPr>
            <a:grpSpLocks/>
          </p:cNvGrpSpPr>
          <p:nvPr/>
        </p:nvGrpSpPr>
        <p:grpSpPr>
          <a:xfrm>
            <a:off x="320719" y="5020658"/>
            <a:ext cx="1771605" cy="216000"/>
            <a:chOff x="320721" y="4517211"/>
            <a:chExt cx="1771605" cy="216000"/>
          </a:xfrm>
        </p:grpSpPr>
        <p:sp>
          <p:nvSpPr>
            <p:cNvPr id="414" name="Rectangle: Rounded Corners 6">
              <a:extLst>
                <a:ext uri="{FF2B5EF4-FFF2-40B4-BE49-F238E27FC236}">
                  <a16:creationId xmlns:a16="http://schemas.microsoft.com/office/drawing/2014/main" id="{86C1F17B-87CA-7E06-F98A-8278F4EC2010}"/>
                </a:ext>
                <a:ext uri="{C183D7F6-B498-43B3-948B-1728B52AA6E4}">
                  <adec:decorative xmlns:adec="http://schemas.microsoft.com/office/drawing/2017/decorative" val="1"/>
                </a:ext>
              </a:extLst>
            </p:cNvPr>
            <p:cNvSpPr>
              <a:spLocks/>
            </p:cNvSpPr>
            <p:nvPr/>
          </p:nvSpPr>
          <p:spPr bwMode="auto">
            <a:xfrm>
              <a:off x="320721" y="4517211"/>
              <a:ext cx="1771605" cy="216000"/>
            </a:xfrm>
            <a:prstGeom prst="roundRect">
              <a:avLst>
                <a:gd name="adj" fmla="val 50000"/>
              </a:avLst>
            </a:prstGeom>
            <a:solidFill>
              <a:srgbClr val="FFFFFF"/>
            </a:solidFill>
            <a:ln w="12700">
              <a:solidFill>
                <a:srgbClr val="C03BC4"/>
              </a:solidFill>
              <a:headEnd type="none" w="med" len="med"/>
              <a:tailEnd type="none" w="med" len="med"/>
            </a:ln>
            <a:effectLst>
              <a:outerShdw blurRad="63500" dist="63500" dir="2700000"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16000" tIns="36576" rIns="36000" bIns="36000" numCol="1" spcCol="0" rtlCol="0" fromWordArt="0" anchor="ctr" anchorCtr="0" forceAA="0" compatLnSpc="1">
              <a:prstTxWarp prst="textNoShape">
                <a:avLst/>
              </a:prstTxWarp>
              <a:noAutofit/>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C03BC4"/>
                  </a:solidFill>
                  <a:effectLst/>
                  <a:uLnTx/>
                  <a:uFillTx/>
                  <a:latin typeface="Segoe UI Semibold"/>
                  <a:ea typeface="+mn-ea"/>
                  <a:cs typeface="Segoe UI Semibold" panose="020B0702040204020203" pitchFamily="34" charset="0"/>
                </a:rPr>
                <a:t>Cost savings</a:t>
              </a:r>
            </a:p>
          </p:txBody>
        </p:sp>
        <p:pic>
          <p:nvPicPr>
            <p:cNvPr id="415" name="Graphic 414">
              <a:extLst>
                <a:ext uri="{FF2B5EF4-FFF2-40B4-BE49-F238E27FC236}">
                  <a16:creationId xmlns:a16="http://schemas.microsoft.com/office/drawing/2014/main" id="{493D6B15-00E2-9BF2-0E96-248869A53E6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67507" y="4554345"/>
              <a:ext cx="144000" cy="141732"/>
            </a:xfrm>
            <a:prstGeom prst="rect">
              <a:avLst/>
            </a:prstGeom>
          </p:spPr>
        </p:pic>
      </p:grpSp>
      <p:grpSp>
        <p:nvGrpSpPr>
          <p:cNvPr id="416" name="Group 415">
            <a:extLst>
              <a:ext uri="{FF2B5EF4-FFF2-40B4-BE49-F238E27FC236}">
                <a16:creationId xmlns:a16="http://schemas.microsoft.com/office/drawing/2014/main" id="{3F2565D6-B92C-B309-016E-E281DCBB8482}"/>
              </a:ext>
            </a:extLst>
          </p:cNvPr>
          <p:cNvGrpSpPr>
            <a:grpSpLocks/>
          </p:cNvGrpSpPr>
          <p:nvPr/>
        </p:nvGrpSpPr>
        <p:grpSpPr>
          <a:xfrm>
            <a:off x="320721" y="5309272"/>
            <a:ext cx="1771605" cy="216000"/>
            <a:chOff x="320719" y="4224856"/>
            <a:chExt cx="1771605" cy="219456"/>
          </a:xfrm>
        </p:grpSpPr>
        <p:sp>
          <p:nvSpPr>
            <p:cNvPr id="417" name="Rectangle: Rounded Corners 6">
              <a:extLst>
                <a:ext uri="{FF2B5EF4-FFF2-40B4-BE49-F238E27FC236}">
                  <a16:creationId xmlns:a16="http://schemas.microsoft.com/office/drawing/2014/main" id="{54D86FC1-9294-44E9-3F0F-3C1C7E68C6E7}"/>
                </a:ext>
                <a:ext uri="{C183D7F6-B498-43B3-948B-1728B52AA6E4}">
                  <adec:decorative xmlns:adec="http://schemas.microsoft.com/office/drawing/2017/decorative" val="1"/>
                </a:ext>
              </a:extLst>
            </p:cNvPr>
            <p:cNvSpPr/>
            <p:nvPr/>
          </p:nvSpPr>
          <p:spPr bwMode="auto">
            <a:xfrm>
              <a:off x="320719" y="4224856"/>
              <a:ext cx="1771605" cy="219456"/>
            </a:xfrm>
            <a:prstGeom prst="roundRect">
              <a:avLst>
                <a:gd name="adj" fmla="val 50000"/>
              </a:avLst>
            </a:prstGeom>
            <a:solidFill>
              <a:srgbClr val="FFFFFF"/>
            </a:solidFill>
            <a:ln w="12700">
              <a:solidFill>
                <a:srgbClr val="C03BC4"/>
              </a:solidFill>
              <a:headEnd type="none" w="med" len="med"/>
              <a:tailEnd type="none" w="med" len="med"/>
            </a:ln>
            <a:effectLst>
              <a:outerShdw blurRad="63500" dist="63500" dir="2700000"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16000" tIns="36576" rIns="36000" bIns="36000" numCol="1" spcCol="0" rtlCol="0" fromWordArt="0" anchor="ctr" anchorCtr="0" forceAA="0" compatLnSpc="1">
              <a:prstTxWarp prst="textNoShape">
                <a:avLst/>
              </a:prstTxWarp>
              <a:noAutofit/>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C03BC4"/>
                  </a:solidFill>
                  <a:effectLst/>
                  <a:uLnTx/>
                  <a:uFillTx/>
                  <a:latin typeface="Segoe UI Semibold"/>
                  <a:ea typeface="+mn-ea"/>
                  <a:cs typeface="Segoe UI Semibold" panose="020B0702040204020203" pitchFamily="34" charset="0"/>
                </a:rPr>
                <a:t>Employee experience</a:t>
              </a:r>
            </a:p>
          </p:txBody>
        </p:sp>
        <p:pic>
          <p:nvPicPr>
            <p:cNvPr id="418" name="Graphic 417">
              <a:extLst>
                <a:ext uri="{FF2B5EF4-FFF2-40B4-BE49-F238E27FC236}">
                  <a16:creationId xmlns:a16="http://schemas.microsoft.com/office/drawing/2014/main" id="{F8264FF6-9076-C8A3-07DB-AE1529A0014A}"/>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67506" y="4262584"/>
              <a:ext cx="144000" cy="144000"/>
            </a:xfrm>
            <a:prstGeom prst="rect">
              <a:avLst/>
            </a:prstGeom>
          </p:spPr>
        </p:pic>
      </p:grpSp>
      <p:grpSp>
        <p:nvGrpSpPr>
          <p:cNvPr id="419" name="Group 418">
            <a:extLst>
              <a:ext uri="{FF2B5EF4-FFF2-40B4-BE49-F238E27FC236}">
                <a16:creationId xmlns:a16="http://schemas.microsoft.com/office/drawing/2014/main" id="{0F8279F3-EF9E-6565-7E75-11341141DBFA}"/>
              </a:ext>
            </a:extLst>
          </p:cNvPr>
          <p:cNvGrpSpPr/>
          <p:nvPr/>
        </p:nvGrpSpPr>
        <p:grpSpPr>
          <a:xfrm>
            <a:off x="320719" y="3778836"/>
            <a:ext cx="1771605" cy="216000"/>
            <a:chOff x="320719" y="4224856"/>
            <a:chExt cx="1771605" cy="219456"/>
          </a:xfrm>
        </p:grpSpPr>
        <p:sp>
          <p:nvSpPr>
            <p:cNvPr id="420" name="Rectangle: Rounded Corners 6">
              <a:extLst>
                <a:ext uri="{FF2B5EF4-FFF2-40B4-BE49-F238E27FC236}">
                  <a16:creationId xmlns:a16="http://schemas.microsoft.com/office/drawing/2014/main" id="{1BF401D8-4EEB-1EDD-5F25-BC9F8BF8AC4B}"/>
                </a:ext>
                <a:ext uri="{C183D7F6-B498-43B3-948B-1728B52AA6E4}">
                  <adec:decorative xmlns:adec="http://schemas.microsoft.com/office/drawing/2017/decorative" val="1"/>
                </a:ext>
              </a:extLst>
            </p:cNvPr>
            <p:cNvSpPr/>
            <p:nvPr/>
          </p:nvSpPr>
          <p:spPr bwMode="auto">
            <a:xfrm>
              <a:off x="320719" y="4224856"/>
              <a:ext cx="1771605" cy="219456"/>
            </a:xfrm>
            <a:prstGeom prst="roundRect">
              <a:avLst>
                <a:gd name="adj" fmla="val 50000"/>
              </a:avLst>
            </a:prstGeom>
            <a:solidFill>
              <a:srgbClr val="FFFFFF"/>
            </a:solidFill>
            <a:ln w="12700">
              <a:solidFill>
                <a:srgbClr val="0078D4"/>
              </a:solidFill>
              <a:headEnd type="none" w="med" len="med"/>
              <a:tailEnd type="none" w="med" len="med"/>
            </a:ln>
            <a:effectLst>
              <a:outerShdw blurRad="63500" dist="63500" dir="2700000"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16000" tIns="36576" rIns="36000" bIns="36000" numCol="1" spcCol="0" rtlCol="0" fromWordArt="0" anchor="ctr" anchorCtr="0" forceAA="0" compatLnSpc="1">
              <a:prstTxWarp prst="textNoShape">
                <a:avLst/>
              </a:prstTxWarp>
              <a:noAutofit/>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78D4"/>
                  </a:solidFill>
                  <a:effectLst/>
                  <a:uLnTx/>
                  <a:uFillTx/>
                  <a:latin typeface="Segoe UI Semibold"/>
                  <a:ea typeface="+mn-ea"/>
                  <a:cs typeface="Segoe UI Semibold" panose="020B0702040204020203" pitchFamily="34" charset="0"/>
                </a:rPr>
                <a:t>Reduce spending</a:t>
              </a:r>
            </a:p>
          </p:txBody>
        </p:sp>
        <p:pic>
          <p:nvPicPr>
            <p:cNvPr id="421" name="Graphic 420">
              <a:extLst>
                <a:ext uri="{FF2B5EF4-FFF2-40B4-BE49-F238E27FC236}">
                  <a16:creationId xmlns:a16="http://schemas.microsoft.com/office/drawing/2014/main" id="{477906DE-43A0-14BA-AF96-17FC564D2D2C}"/>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367506" y="4260849"/>
              <a:ext cx="144000" cy="144000"/>
            </a:xfrm>
            <a:prstGeom prst="rect">
              <a:avLst/>
            </a:prstGeom>
          </p:spPr>
        </p:pic>
      </p:grpSp>
      <p:grpSp>
        <p:nvGrpSpPr>
          <p:cNvPr id="422" name="Group 421">
            <a:extLst>
              <a:ext uri="{FF2B5EF4-FFF2-40B4-BE49-F238E27FC236}">
                <a16:creationId xmlns:a16="http://schemas.microsoft.com/office/drawing/2014/main" id="{1C1F4842-569D-CDEF-6458-C9C5C2CF2402}"/>
              </a:ext>
            </a:extLst>
          </p:cNvPr>
          <p:cNvGrpSpPr/>
          <p:nvPr/>
        </p:nvGrpSpPr>
        <p:grpSpPr>
          <a:xfrm>
            <a:off x="320721" y="4067450"/>
            <a:ext cx="1771605" cy="216000"/>
            <a:chOff x="320721" y="4517211"/>
            <a:chExt cx="1771605" cy="216000"/>
          </a:xfrm>
        </p:grpSpPr>
        <p:sp>
          <p:nvSpPr>
            <p:cNvPr id="423" name="Rectangle: Rounded Corners 6">
              <a:extLst>
                <a:ext uri="{FF2B5EF4-FFF2-40B4-BE49-F238E27FC236}">
                  <a16:creationId xmlns:a16="http://schemas.microsoft.com/office/drawing/2014/main" id="{122EC480-0F9F-2942-FD32-0C61F7554B45}"/>
                </a:ext>
                <a:ext uri="{C183D7F6-B498-43B3-948B-1728B52AA6E4}">
                  <adec:decorative xmlns:adec="http://schemas.microsoft.com/office/drawing/2017/decorative" val="1"/>
                </a:ext>
              </a:extLst>
            </p:cNvPr>
            <p:cNvSpPr>
              <a:spLocks/>
            </p:cNvSpPr>
            <p:nvPr/>
          </p:nvSpPr>
          <p:spPr bwMode="auto">
            <a:xfrm>
              <a:off x="320721" y="4517211"/>
              <a:ext cx="1771605" cy="216000"/>
            </a:xfrm>
            <a:prstGeom prst="roundRect">
              <a:avLst>
                <a:gd name="adj" fmla="val 50000"/>
              </a:avLst>
            </a:prstGeom>
            <a:solidFill>
              <a:srgbClr val="FFFFFF"/>
            </a:solidFill>
            <a:ln w="12700">
              <a:solidFill>
                <a:srgbClr val="0078D4"/>
              </a:solidFill>
              <a:headEnd type="none" w="med" len="med"/>
              <a:tailEnd type="none" w="med" len="med"/>
            </a:ln>
            <a:effectLst>
              <a:outerShdw blurRad="63500" dist="63500" dir="2700000"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16000" tIns="36576" rIns="36000" bIns="36000" numCol="1" spcCol="0" rtlCol="0" fromWordArt="0" anchor="ctr" anchorCtr="0" forceAA="0" compatLnSpc="1">
              <a:prstTxWarp prst="textNoShape">
                <a:avLst/>
              </a:prstTxWarp>
              <a:noAutofit/>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78D4"/>
                  </a:solidFill>
                  <a:effectLst/>
                  <a:uLnTx/>
                  <a:uFillTx/>
                  <a:latin typeface="Segoe UI Semibold"/>
                  <a:ea typeface="+mn-ea"/>
                  <a:cs typeface="Segoe UI Semibold"/>
                </a:rPr>
                <a:t>Risk management</a:t>
              </a:r>
            </a:p>
          </p:txBody>
        </p:sp>
        <p:pic>
          <p:nvPicPr>
            <p:cNvPr id="424" name="Graphic 423">
              <a:extLst>
                <a:ext uri="{FF2B5EF4-FFF2-40B4-BE49-F238E27FC236}">
                  <a16:creationId xmlns:a16="http://schemas.microsoft.com/office/drawing/2014/main" id="{A9AF9519-4026-91B4-67CB-ED70A3F8DE7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67507" y="4552645"/>
              <a:ext cx="144000" cy="141732"/>
            </a:xfrm>
            <a:prstGeom prst="rect">
              <a:avLst/>
            </a:prstGeom>
          </p:spPr>
        </p:pic>
      </p:grpSp>
      <p:pic>
        <p:nvPicPr>
          <p:cNvPr id="430" name="Picture 72">
            <a:extLst>
              <a:ext uri="{FF2B5EF4-FFF2-40B4-BE49-F238E27FC236}">
                <a16:creationId xmlns:a16="http://schemas.microsoft.com/office/drawing/2014/main" id="{0F2D0663-86E0-4880-408D-F2DAADFEDB7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954545" y="4833693"/>
            <a:ext cx="258642" cy="258642"/>
          </a:xfrm>
          <a:prstGeom prst="rect">
            <a:avLst/>
          </a:prstGeom>
          <a:noFill/>
          <a:extLst>
            <a:ext uri="{909E8E84-426E-40DD-AFC4-6F175D3DCCD1}">
              <a14:hiddenFill xmlns:a14="http://schemas.microsoft.com/office/drawing/2010/main">
                <a:solidFill>
                  <a:srgbClr val="FFFFFF"/>
                </a:solidFill>
              </a14:hiddenFill>
            </a:ext>
          </a:extLst>
        </p:spPr>
      </p:pic>
      <p:pic>
        <p:nvPicPr>
          <p:cNvPr id="433" name="Picture 50">
            <a:hlinkClick r:id="rId6"/>
            <a:extLst>
              <a:ext uri="{FF2B5EF4-FFF2-40B4-BE49-F238E27FC236}">
                <a16:creationId xmlns:a16="http://schemas.microsoft.com/office/drawing/2014/main" id="{5563216C-9BC0-4D57-E2F7-8C6E4FC61FC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082589" y="4841827"/>
            <a:ext cx="242374" cy="242374"/>
          </a:xfrm>
          <a:prstGeom prst="rect">
            <a:avLst/>
          </a:prstGeom>
          <a:noFill/>
          <a:extLst>
            <a:ext uri="{909E8E84-426E-40DD-AFC4-6F175D3DCCD1}">
              <a14:hiddenFill xmlns:a14="http://schemas.microsoft.com/office/drawing/2010/main">
                <a:solidFill>
                  <a:srgbClr val="FFFFFF"/>
                </a:solidFill>
              </a14:hiddenFill>
            </a:ext>
          </a:extLst>
        </p:spPr>
      </p:pic>
      <p:sp>
        <p:nvSpPr>
          <p:cNvPr id="2" name="Graphic 2">
            <a:hlinkClick r:id="rId8"/>
            <a:extLst>
              <a:ext uri="{FF2B5EF4-FFF2-40B4-BE49-F238E27FC236}">
                <a16:creationId xmlns:a16="http://schemas.microsoft.com/office/drawing/2014/main" id="{E04B1382-BBE5-874E-E261-098012E0255F}"/>
              </a:ext>
            </a:extLst>
          </p:cNvPr>
          <p:cNvSpPr>
            <a:spLocks/>
          </p:cNvSpPr>
          <p:nvPr/>
        </p:nvSpPr>
        <p:spPr>
          <a:xfrm>
            <a:off x="6304100" y="424490"/>
            <a:ext cx="321844" cy="286083"/>
          </a:xfrm>
          <a:custGeom>
            <a:avLst/>
            <a:gdLst>
              <a:gd name="connsiteX0" fmla="*/ 41203 w 228200"/>
              <a:gd name="connsiteY0" fmla="*/ 0 h 202844"/>
              <a:gd name="connsiteX1" fmla="*/ 186997 w 228200"/>
              <a:gd name="connsiteY1" fmla="*/ 0 h 202844"/>
              <a:gd name="connsiteX2" fmla="*/ 228137 w 228200"/>
              <a:gd name="connsiteY2" fmla="*/ 38870 h 202844"/>
              <a:gd name="connsiteX3" fmla="*/ 228200 w 228200"/>
              <a:gd name="connsiteY3" fmla="*/ 41203 h 202844"/>
              <a:gd name="connsiteX4" fmla="*/ 228200 w 228200"/>
              <a:gd name="connsiteY4" fmla="*/ 161642 h 202844"/>
              <a:gd name="connsiteX5" fmla="*/ 189330 w 228200"/>
              <a:gd name="connsiteY5" fmla="*/ 202781 h 202844"/>
              <a:gd name="connsiteX6" fmla="*/ 186997 w 228200"/>
              <a:gd name="connsiteY6" fmla="*/ 202845 h 202844"/>
              <a:gd name="connsiteX7" fmla="*/ 41203 w 228200"/>
              <a:gd name="connsiteY7" fmla="*/ 202845 h 202844"/>
              <a:gd name="connsiteX8" fmla="*/ 63 w 228200"/>
              <a:gd name="connsiteY8" fmla="*/ 163975 h 202844"/>
              <a:gd name="connsiteX9" fmla="*/ 0 w 228200"/>
              <a:gd name="connsiteY9" fmla="*/ 161642 h 202844"/>
              <a:gd name="connsiteX10" fmla="*/ 0 w 228200"/>
              <a:gd name="connsiteY10" fmla="*/ 41203 h 202844"/>
              <a:gd name="connsiteX11" fmla="*/ 38870 w 228200"/>
              <a:gd name="connsiteY11" fmla="*/ 63 h 202844"/>
              <a:gd name="connsiteX12" fmla="*/ 41203 w 228200"/>
              <a:gd name="connsiteY12" fmla="*/ 0 h 202844"/>
              <a:gd name="connsiteX13" fmla="*/ 186997 w 228200"/>
              <a:gd name="connsiteY13" fmla="*/ 0 h 202844"/>
              <a:gd name="connsiteX14" fmla="*/ 41203 w 228200"/>
              <a:gd name="connsiteY14" fmla="*/ 0 h 202844"/>
              <a:gd name="connsiteX15" fmla="*/ 89416 w 228200"/>
              <a:gd name="connsiteY15" fmla="*/ 70805 h 202844"/>
              <a:gd name="connsiteX16" fmla="*/ 88745 w 228200"/>
              <a:gd name="connsiteY16" fmla="*/ 73658 h 202844"/>
              <a:gd name="connsiteX17" fmla="*/ 88745 w 228200"/>
              <a:gd name="connsiteY17" fmla="*/ 129212 h 202844"/>
              <a:gd name="connsiteX18" fmla="*/ 95083 w 228200"/>
              <a:gd name="connsiteY18" fmla="*/ 135551 h 202844"/>
              <a:gd name="connsiteX19" fmla="*/ 97923 w 228200"/>
              <a:gd name="connsiteY19" fmla="*/ 134879 h 202844"/>
              <a:gd name="connsiteX20" fmla="*/ 153477 w 228200"/>
              <a:gd name="connsiteY20" fmla="*/ 107115 h 202844"/>
              <a:gd name="connsiteX21" fmla="*/ 156324 w 228200"/>
              <a:gd name="connsiteY21" fmla="*/ 98614 h 202844"/>
              <a:gd name="connsiteX22" fmla="*/ 153477 w 228200"/>
              <a:gd name="connsiteY22" fmla="*/ 95768 h 202844"/>
              <a:gd name="connsiteX23" fmla="*/ 97923 w 228200"/>
              <a:gd name="connsiteY23" fmla="*/ 67991 h 202844"/>
              <a:gd name="connsiteX24" fmla="*/ 89416 w 228200"/>
              <a:gd name="connsiteY24" fmla="*/ 70818 h 202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28200" h="202844">
                <a:moveTo>
                  <a:pt x="41203" y="0"/>
                </a:moveTo>
                <a:lnTo>
                  <a:pt x="186997" y="0"/>
                </a:lnTo>
                <a:cubicBezTo>
                  <a:pt x="208848" y="-1"/>
                  <a:pt x="226900" y="17055"/>
                  <a:pt x="228137" y="38870"/>
                </a:cubicBezTo>
                <a:lnTo>
                  <a:pt x="228200" y="41203"/>
                </a:lnTo>
                <a:lnTo>
                  <a:pt x="228200" y="161642"/>
                </a:lnTo>
                <a:cubicBezTo>
                  <a:pt x="228202" y="183492"/>
                  <a:pt x="211146" y="201544"/>
                  <a:pt x="189330" y="202781"/>
                </a:cubicBezTo>
                <a:lnTo>
                  <a:pt x="186997" y="202845"/>
                </a:lnTo>
                <a:lnTo>
                  <a:pt x="41203" y="202845"/>
                </a:lnTo>
                <a:cubicBezTo>
                  <a:pt x="19352" y="202846"/>
                  <a:pt x="1300" y="185791"/>
                  <a:pt x="63" y="163975"/>
                </a:cubicBezTo>
                <a:lnTo>
                  <a:pt x="0" y="161642"/>
                </a:lnTo>
                <a:lnTo>
                  <a:pt x="0" y="41203"/>
                </a:lnTo>
                <a:cubicBezTo>
                  <a:pt x="-1" y="19352"/>
                  <a:pt x="17055" y="1300"/>
                  <a:pt x="38870" y="63"/>
                </a:cubicBezTo>
                <a:lnTo>
                  <a:pt x="41203" y="0"/>
                </a:lnTo>
                <a:lnTo>
                  <a:pt x="186997" y="0"/>
                </a:lnTo>
                <a:lnTo>
                  <a:pt x="41203" y="0"/>
                </a:lnTo>
                <a:close/>
                <a:moveTo>
                  <a:pt x="89416" y="70805"/>
                </a:moveTo>
                <a:cubicBezTo>
                  <a:pt x="88973" y="71691"/>
                  <a:pt x="88743" y="72668"/>
                  <a:pt x="88745" y="73658"/>
                </a:cubicBezTo>
                <a:lnTo>
                  <a:pt x="88745" y="129212"/>
                </a:lnTo>
                <a:cubicBezTo>
                  <a:pt x="88745" y="132712"/>
                  <a:pt x="91583" y="135551"/>
                  <a:pt x="95083" y="135551"/>
                </a:cubicBezTo>
                <a:cubicBezTo>
                  <a:pt x="96070" y="135551"/>
                  <a:pt x="97042" y="135320"/>
                  <a:pt x="97923" y="134879"/>
                </a:cubicBezTo>
                <a:lnTo>
                  <a:pt x="153477" y="107115"/>
                </a:lnTo>
                <a:cubicBezTo>
                  <a:pt x="156610" y="105553"/>
                  <a:pt x="157884" y="101747"/>
                  <a:pt x="156324" y="98614"/>
                </a:cubicBezTo>
                <a:cubicBezTo>
                  <a:pt x="155709" y="97381"/>
                  <a:pt x="154710" y="96383"/>
                  <a:pt x="153477" y="95768"/>
                </a:cubicBezTo>
                <a:lnTo>
                  <a:pt x="97923" y="67991"/>
                </a:lnTo>
                <a:cubicBezTo>
                  <a:pt x="94793" y="66423"/>
                  <a:pt x="90985" y="67689"/>
                  <a:pt x="89416" y="70818"/>
                </a:cubicBezTo>
                <a:close/>
              </a:path>
            </a:pathLst>
          </a:custGeom>
          <a:gradFill>
            <a:gsLst>
              <a:gs pos="73000">
                <a:srgbClr val="0078D4"/>
              </a:gs>
              <a:gs pos="12000">
                <a:srgbClr val="C03BC4"/>
              </a:gs>
            </a:gsLst>
            <a:path path="circle">
              <a:fillToRect l="100000" t="100000"/>
            </a:path>
          </a:gradFill>
          <a:ln w="12303" cap="flat">
            <a:noFill/>
            <a:prstDash val="solid"/>
            <a:miter/>
          </a:ln>
          <a:effectLst>
            <a:outerShdw blurRad="63500" dist="63500" dir="3000000" algn="tl" rotWithShape="0">
              <a:srgbClr val="454142">
                <a:alpha val="15000"/>
              </a:srgb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39" name="TextBox 38">
            <a:extLst>
              <a:ext uri="{FF2B5EF4-FFF2-40B4-BE49-F238E27FC236}">
                <a16:creationId xmlns:a16="http://schemas.microsoft.com/office/drawing/2014/main" id="{5A3E7370-E34B-182E-AC14-5F2A4FE82CED}"/>
              </a:ext>
              <a:ext uri="{C183D7F6-B498-43B3-948B-1728B52AA6E4}">
                <adec:decorative xmlns:adec="http://schemas.microsoft.com/office/drawing/2017/decorative" val="0"/>
              </a:ext>
            </a:extLst>
          </p:cNvPr>
          <p:cNvSpPr txBox="1"/>
          <p:nvPr/>
        </p:nvSpPr>
        <p:spPr>
          <a:xfrm>
            <a:off x="3562472" y="2286931"/>
            <a:ext cx="1830524" cy="1538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Semibold"/>
                <a:ea typeface="+mn-ea"/>
                <a:cs typeface="+mn-cs"/>
              </a:rPr>
              <a:t>Copilot Chat</a:t>
            </a:r>
            <a:r>
              <a:rPr kumimoji="0" lang="en-US" sz="1000" b="0" i="0" u="none" strike="noStrike" kern="1200" cap="none" spc="0" normalizeH="0" baseline="30000" noProof="0" dirty="0">
                <a:ln>
                  <a:noFill/>
                </a:ln>
                <a:solidFill>
                  <a:srgbClr val="000000"/>
                </a:solidFill>
                <a:effectLst/>
                <a:uLnTx/>
                <a:uFillTx/>
                <a:latin typeface="Segoe UI Semibold"/>
                <a:ea typeface="+mn-ea"/>
                <a:cs typeface="+mn-cs"/>
              </a:rPr>
              <a:t>2</a:t>
            </a:r>
          </a:p>
        </p:txBody>
      </p:sp>
      <p:sp>
        <p:nvSpPr>
          <p:cNvPr id="40" name="TextBox 39">
            <a:extLst>
              <a:ext uri="{FF2B5EF4-FFF2-40B4-BE49-F238E27FC236}">
                <a16:creationId xmlns:a16="http://schemas.microsoft.com/office/drawing/2014/main" id="{BFAACEE4-57A2-3E47-2D83-49C9B33FF0E2}"/>
              </a:ext>
              <a:ext uri="{C183D7F6-B498-43B3-948B-1728B52AA6E4}">
                <adec:decorative xmlns:adec="http://schemas.microsoft.com/office/drawing/2017/decorative" val="0"/>
              </a:ext>
            </a:extLst>
          </p:cNvPr>
          <p:cNvSpPr txBox="1"/>
          <p:nvPr/>
        </p:nvSpPr>
        <p:spPr>
          <a:xfrm>
            <a:off x="6446959" y="2286931"/>
            <a:ext cx="1830524" cy="1538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Semibold"/>
                <a:ea typeface="+mn-ea"/>
                <a:cs typeface="+mn-cs"/>
              </a:rPr>
              <a:t>Copilot in Teams</a:t>
            </a:r>
          </a:p>
        </p:txBody>
      </p:sp>
      <p:sp>
        <p:nvSpPr>
          <p:cNvPr id="41" name="TextBox 40">
            <a:extLst>
              <a:ext uri="{FF2B5EF4-FFF2-40B4-BE49-F238E27FC236}">
                <a16:creationId xmlns:a16="http://schemas.microsoft.com/office/drawing/2014/main" id="{E989E7DD-211F-B0C3-4B95-993A4EF6B2CF}"/>
              </a:ext>
              <a:ext uri="{C183D7F6-B498-43B3-948B-1728B52AA6E4}">
                <adec:decorative xmlns:adec="http://schemas.microsoft.com/office/drawing/2017/decorative" val="0"/>
              </a:ext>
            </a:extLst>
          </p:cNvPr>
          <p:cNvSpPr txBox="1"/>
          <p:nvPr/>
        </p:nvSpPr>
        <p:spPr>
          <a:xfrm>
            <a:off x="9328927" y="2286931"/>
            <a:ext cx="1420949" cy="1538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Semibold"/>
                <a:ea typeface="+mn-ea"/>
                <a:cs typeface="+mn-cs"/>
              </a:rPr>
              <a:t>Copilot in Word</a:t>
            </a:r>
          </a:p>
        </p:txBody>
      </p:sp>
      <p:sp>
        <p:nvSpPr>
          <p:cNvPr id="42" name="TextBox 41">
            <a:extLst>
              <a:ext uri="{FF2B5EF4-FFF2-40B4-BE49-F238E27FC236}">
                <a16:creationId xmlns:a16="http://schemas.microsoft.com/office/drawing/2014/main" id="{7A97C49A-CACE-507C-64EF-5F0330BC9624}"/>
              </a:ext>
              <a:ext uri="{C183D7F6-B498-43B3-948B-1728B52AA6E4}">
                <adec:decorative xmlns:adec="http://schemas.microsoft.com/office/drawing/2017/decorative" val="0"/>
              </a:ext>
            </a:extLst>
          </p:cNvPr>
          <p:cNvSpPr txBox="1"/>
          <p:nvPr/>
        </p:nvSpPr>
        <p:spPr>
          <a:xfrm>
            <a:off x="6446959" y="4886070"/>
            <a:ext cx="1420949" cy="1538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Semibold"/>
                <a:ea typeface="+mn-ea"/>
                <a:cs typeface="+mn-cs"/>
              </a:rPr>
              <a:t>Copilot Chat</a:t>
            </a:r>
            <a:r>
              <a:rPr kumimoji="0" lang="en-US" sz="1000" b="0" i="0" u="none" strike="noStrike" kern="1200" cap="none" spc="0" normalizeH="0" baseline="30000" noProof="0" dirty="0">
                <a:ln>
                  <a:noFill/>
                </a:ln>
                <a:solidFill>
                  <a:srgbClr val="000000"/>
                </a:solidFill>
                <a:effectLst/>
                <a:uLnTx/>
                <a:uFillTx/>
                <a:latin typeface="Segoe UI Semibold"/>
                <a:ea typeface="+mn-ea"/>
                <a:cs typeface="+mn-cs"/>
              </a:rPr>
              <a:t>2</a:t>
            </a:r>
          </a:p>
        </p:txBody>
      </p:sp>
      <p:sp>
        <p:nvSpPr>
          <p:cNvPr id="43" name="TextBox 42">
            <a:extLst>
              <a:ext uri="{FF2B5EF4-FFF2-40B4-BE49-F238E27FC236}">
                <a16:creationId xmlns:a16="http://schemas.microsoft.com/office/drawing/2014/main" id="{72382484-5D38-DFD7-5148-9087507359C1}"/>
              </a:ext>
              <a:ext uri="{C183D7F6-B498-43B3-948B-1728B52AA6E4}">
                <adec:decorative xmlns:adec="http://schemas.microsoft.com/office/drawing/2017/decorative" val="0"/>
              </a:ext>
            </a:extLst>
          </p:cNvPr>
          <p:cNvSpPr txBox="1"/>
          <p:nvPr/>
        </p:nvSpPr>
        <p:spPr>
          <a:xfrm>
            <a:off x="3562472" y="4886070"/>
            <a:ext cx="1420949" cy="1538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Semibold"/>
                <a:ea typeface="+mn-ea"/>
                <a:cs typeface="+mn-cs"/>
              </a:rPr>
              <a:t>Copilot in Outlook</a:t>
            </a:r>
          </a:p>
        </p:txBody>
      </p:sp>
      <p:sp>
        <p:nvSpPr>
          <p:cNvPr id="44" name="TextBox 43">
            <a:extLst>
              <a:ext uri="{FF2B5EF4-FFF2-40B4-BE49-F238E27FC236}">
                <a16:creationId xmlns:a16="http://schemas.microsoft.com/office/drawing/2014/main" id="{E021F8F3-32E7-4B34-3E95-AC3C4C1F951B}"/>
              </a:ext>
              <a:ext uri="{C183D7F6-B498-43B3-948B-1728B52AA6E4}">
                <adec:decorative xmlns:adec="http://schemas.microsoft.com/office/drawing/2017/decorative" val="0"/>
              </a:ext>
            </a:extLst>
          </p:cNvPr>
          <p:cNvSpPr txBox="1"/>
          <p:nvPr/>
        </p:nvSpPr>
        <p:spPr>
          <a:xfrm>
            <a:off x="9328927" y="4886070"/>
            <a:ext cx="1830524" cy="1538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Semibold"/>
                <a:ea typeface="+mn-ea"/>
                <a:cs typeface="+mn-cs"/>
              </a:rPr>
              <a:t>Copilot in Loop</a:t>
            </a:r>
          </a:p>
        </p:txBody>
      </p:sp>
      <p:pic>
        <p:nvPicPr>
          <p:cNvPr id="48" name="Picture 50">
            <a:hlinkClick r:id="rId6"/>
            <a:extLst>
              <a:ext uri="{FF2B5EF4-FFF2-40B4-BE49-F238E27FC236}">
                <a16:creationId xmlns:a16="http://schemas.microsoft.com/office/drawing/2014/main" id="{DAAEF1A2-B15C-4FE1-CDB8-C209A84C987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178755" y="2242688"/>
            <a:ext cx="242374" cy="242374"/>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Word logo">
            <a:extLst>
              <a:ext uri="{FF2B5EF4-FFF2-40B4-BE49-F238E27FC236}">
                <a16:creationId xmlns:a16="http://schemas.microsoft.com/office/drawing/2014/main" id="{E91CEB67-EE58-B271-5CF1-D953CEC0330A}"/>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8957236" y="2223467"/>
            <a:ext cx="246576" cy="246576"/>
          </a:xfrm>
          <a:prstGeom prst="ellipse">
            <a:avLst/>
          </a:prstGeom>
          <a:solidFill>
            <a:srgbClr val="FFFFFF"/>
          </a:solidFill>
        </p:spPr>
      </p:pic>
      <p:pic>
        <p:nvPicPr>
          <p:cNvPr id="4" name="Picture 3" descr="Outlook logo">
            <a:extLst>
              <a:ext uri="{FF2B5EF4-FFF2-40B4-BE49-F238E27FC236}">
                <a16:creationId xmlns:a16="http://schemas.microsoft.com/office/drawing/2014/main" id="{8DA47C1C-EF52-4B53-51D9-6AE30CE1C01E}"/>
              </a:ext>
            </a:extLst>
          </p:cNvPr>
          <p:cNvPicPr>
            <a:picLocks noChangeAspect="1"/>
          </p:cNvPicPr>
          <p:nvPr/>
        </p:nvPicPr>
        <p:blipFill>
          <a:blip r:embed="rId10"/>
          <a:stretch>
            <a:fillRect/>
          </a:stretch>
        </p:blipFill>
        <p:spPr>
          <a:xfrm>
            <a:off x="3167354" y="4796630"/>
            <a:ext cx="265176" cy="265176"/>
          </a:xfrm>
          <a:prstGeom prst="rect">
            <a:avLst/>
          </a:prstGeom>
        </p:spPr>
      </p:pic>
    </p:spTree>
    <p:extLst>
      <p:ext uri="{BB962C8B-B14F-4D97-AF65-F5344CB8AC3E}">
        <p14:creationId xmlns:p14="http://schemas.microsoft.com/office/powerpoint/2010/main" val="1458945026"/>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 name="Text Placeholder 257">
            <a:extLst>
              <a:ext uri="{FF2B5EF4-FFF2-40B4-BE49-F238E27FC236}">
                <a16:creationId xmlns:a16="http://schemas.microsoft.com/office/drawing/2014/main" id="{3CE3B4D2-A166-8B8B-8135-B782CFF0AE62}"/>
              </a:ext>
            </a:extLst>
          </p:cNvPr>
          <p:cNvSpPr>
            <a:spLocks noGrp="1"/>
          </p:cNvSpPr>
          <p:nvPr>
            <p:ph type="body" sz="quarter" idx="32"/>
          </p:nvPr>
        </p:nvSpPr>
        <p:spPr>
          <a:xfrm>
            <a:off x="311388" y="1026303"/>
            <a:ext cx="2431246" cy="1131079"/>
          </a:xfrm>
        </p:spPr>
        <p:txBody>
          <a:bodyPr/>
          <a:lstStyle/>
          <a:p>
            <a:r>
              <a:rPr lang="en-US" noProof="0" dirty="0"/>
              <a:t>Copilot for Finance has many built-in capabilities to assist Finance professionals with accessing financial information and performing tasks like reconciliations.</a:t>
            </a:r>
          </a:p>
        </p:txBody>
      </p:sp>
      <p:sp>
        <p:nvSpPr>
          <p:cNvPr id="189" name="Text Placeholder 188">
            <a:extLst>
              <a:ext uri="{FF2B5EF4-FFF2-40B4-BE49-F238E27FC236}">
                <a16:creationId xmlns:a16="http://schemas.microsoft.com/office/drawing/2014/main" id="{92C060BD-EE33-4639-50FA-4B5A6B20A580}"/>
              </a:ext>
            </a:extLst>
          </p:cNvPr>
          <p:cNvSpPr>
            <a:spLocks noGrp="1"/>
          </p:cNvSpPr>
          <p:nvPr>
            <p:ph type="body" sz="quarter" idx="33"/>
          </p:nvPr>
        </p:nvSpPr>
        <p:spPr>
          <a:xfrm>
            <a:off x="304796" y="413987"/>
            <a:ext cx="2057403" cy="307777"/>
          </a:xfrm>
        </p:spPr>
        <p:txBody>
          <a:bodyPr/>
          <a:lstStyle/>
          <a:p>
            <a:r>
              <a:rPr lang="en-US" noProof="0" dirty="0"/>
              <a:t>Finance</a:t>
            </a:r>
          </a:p>
        </p:txBody>
      </p:sp>
      <p:sp>
        <p:nvSpPr>
          <p:cNvPr id="257" name="Text Placeholder 256">
            <a:extLst>
              <a:ext uri="{FF2B5EF4-FFF2-40B4-BE49-F238E27FC236}">
                <a16:creationId xmlns:a16="http://schemas.microsoft.com/office/drawing/2014/main" id="{C40235A8-2154-FDC9-77B0-D50A34A9EF8E}"/>
              </a:ext>
            </a:extLst>
          </p:cNvPr>
          <p:cNvSpPr>
            <a:spLocks noGrp="1"/>
          </p:cNvSpPr>
          <p:nvPr>
            <p:ph type="body" sz="quarter" idx="30"/>
          </p:nvPr>
        </p:nvSpPr>
        <p:spPr>
          <a:xfrm>
            <a:off x="10430351" y="521099"/>
            <a:ext cx="1456966" cy="175614"/>
          </a:xfrm>
        </p:spPr>
        <p:txBody>
          <a:bodyPr/>
          <a:lstStyle/>
          <a:p>
            <a:r>
              <a:rPr lang="en-US" noProof="0" dirty="0"/>
              <a:t>Buy</a:t>
            </a:r>
          </a:p>
        </p:txBody>
      </p:sp>
      <p:sp>
        <p:nvSpPr>
          <p:cNvPr id="255" name="Text Placeholder 254">
            <a:extLst>
              <a:ext uri="{FF2B5EF4-FFF2-40B4-BE49-F238E27FC236}">
                <a16:creationId xmlns:a16="http://schemas.microsoft.com/office/drawing/2014/main" id="{84F93204-25BA-59FA-3447-151935383CFF}"/>
              </a:ext>
            </a:extLst>
          </p:cNvPr>
          <p:cNvSpPr>
            <a:spLocks noGrp="1"/>
          </p:cNvSpPr>
          <p:nvPr>
            <p:ph type="body" sz="quarter" idx="17"/>
          </p:nvPr>
        </p:nvSpPr>
        <p:spPr>
          <a:xfrm>
            <a:off x="7149557" y="521100"/>
            <a:ext cx="2969488" cy="169277"/>
          </a:xfrm>
        </p:spPr>
        <p:txBody>
          <a:bodyPr/>
          <a:lstStyle/>
          <a:p>
            <a:r>
              <a:rPr lang="en-US" noProof="0" dirty="0"/>
              <a:t>Microsoft 365 Copilot</a:t>
            </a:r>
          </a:p>
        </p:txBody>
      </p:sp>
      <p:sp>
        <p:nvSpPr>
          <p:cNvPr id="157" name="Title 156">
            <a:extLst>
              <a:ext uri="{FF2B5EF4-FFF2-40B4-BE49-F238E27FC236}">
                <a16:creationId xmlns:a16="http://schemas.microsoft.com/office/drawing/2014/main" id="{D71AC76E-A82E-0439-B65E-91E098189FD1}"/>
              </a:ext>
            </a:extLst>
          </p:cNvPr>
          <p:cNvSpPr>
            <a:spLocks noGrp="1"/>
          </p:cNvSpPr>
          <p:nvPr>
            <p:ph type="title"/>
          </p:nvPr>
        </p:nvSpPr>
        <p:spPr>
          <a:xfrm>
            <a:off x="2492556" y="429376"/>
            <a:ext cx="4144817" cy="276999"/>
          </a:xfrm>
        </p:spPr>
        <p:txBody>
          <a:bodyPr/>
          <a:lstStyle/>
          <a:p>
            <a:r>
              <a:rPr lang="en-US" noProof="0" dirty="0"/>
              <a:t>Collections coordination</a:t>
            </a:r>
          </a:p>
        </p:txBody>
      </p:sp>
      <p:sp>
        <p:nvSpPr>
          <p:cNvPr id="271" name="Text Placeholder 270">
            <a:extLst>
              <a:ext uri="{FF2B5EF4-FFF2-40B4-BE49-F238E27FC236}">
                <a16:creationId xmlns:a16="http://schemas.microsoft.com/office/drawing/2014/main" id="{AC42F5FE-7E92-95ED-F978-D8BF1459C5F0}"/>
              </a:ext>
            </a:extLst>
          </p:cNvPr>
          <p:cNvSpPr>
            <a:spLocks noGrp="1"/>
          </p:cNvSpPr>
          <p:nvPr>
            <p:ph type="body" sz="quarter" idx="69"/>
          </p:nvPr>
        </p:nvSpPr>
        <p:spPr>
          <a:xfrm>
            <a:off x="3182890" y="2725494"/>
            <a:ext cx="2572262" cy="712876"/>
          </a:xfrm>
        </p:spPr>
        <p:txBody>
          <a:bodyPr/>
          <a:lstStyle/>
          <a:p>
            <a:r>
              <a:rPr lang="en-US" noProof="0" dirty="0"/>
              <a:t>Benefit: </a:t>
            </a:r>
            <a:r>
              <a:rPr lang="en-US" b="1" noProof="0" dirty="0">
                <a:latin typeface="+mj-lt"/>
              </a:rPr>
              <a:t>Speed analysis </a:t>
            </a:r>
            <a:r>
              <a:rPr lang="en-US" noProof="0" dirty="0"/>
              <a:t>and streamline customer communications by connecting your ERP and financial system data.</a:t>
            </a:r>
          </a:p>
        </p:txBody>
      </p:sp>
      <p:sp>
        <p:nvSpPr>
          <p:cNvPr id="254" name="Text Placeholder 253">
            <a:extLst>
              <a:ext uri="{FF2B5EF4-FFF2-40B4-BE49-F238E27FC236}">
                <a16:creationId xmlns:a16="http://schemas.microsoft.com/office/drawing/2014/main" id="{BCECE299-8EBE-2603-4B09-2389F3EF841E}"/>
              </a:ext>
            </a:extLst>
          </p:cNvPr>
          <p:cNvSpPr>
            <a:spLocks noGrp="1"/>
          </p:cNvSpPr>
          <p:nvPr>
            <p:ph type="body" sz="quarter" idx="11"/>
          </p:nvPr>
        </p:nvSpPr>
        <p:spPr>
          <a:xfrm>
            <a:off x="3182890" y="1112478"/>
            <a:ext cx="2572262" cy="153888"/>
          </a:xfrm>
        </p:spPr>
        <p:txBody>
          <a:bodyPr/>
          <a:lstStyle/>
          <a:p>
            <a:r>
              <a:rPr lang="en-US" noProof="0" dirty="0"/>
              <a:t>Surface outstanding invoices</a:t>
            </a:r>
          </a:p>
        </p:txBody>
      </p:sp>
      <p:sp>
        <p:nvSpPr>
          <p:cNvPr id="256" name="Text Placeholder 255">
            <a:extLst>
              <a:ext uri="{FF2B5EF4-FFF2-40B4-BE49-F238E27FC236}">
                <a16:creationId xmlns:a16="http://schemas.microsoft.com/office/drawing/2014/main" id="{8A0BCA79-2D11-16F7-65E9-B96F5FBDE829}"/>
              </a:ext>
            </a:extLst>
          </p:cNvPr>
          <p:cNvSpPr>
            <a:spLocks noGrp="1"/>
          </p:cNvSpPr>
          <p:nvPr>
            <p:ph type="body" sz="quarter" idx="18"/>
          </p:nvPr>
        </p:nvSpPr>
        <p:spPr>
          <a:xfrm>
            <a:off x="3182890" y="1438715"/>
            <a:ext cx="2572262" cy="626701"/>
          </a:xfrm>
        </p:spPr>
        <p:txBody>
          <a:bodyPr/>
          <a:lstStyle/>
          <a:p>
            <a:r>
              <a:rPr lang="en-US" noProof="0" dirty="0"/>
              <a:t>Use Copilot in Outlook to summarize recent email threads with customers. Use Copilot for Finance to identify outstanding invoices and related insights pulled directly from your ERP system.</a:t>
            </a:r>
          </a:p>
        </p:txBody>
      </p:sp>
      <p:sp>
        <p:nvSpPr>
          <p:cNvPr id="260" name="Text Placeholder 259">
            <a:extLst>
              <a:ext uri="{FF2B5EF4-FFF2-40B4-BE49-F238E27FC236}">
                <a16:creationId xmlns:a16="http://schemas.microsoft.com/office/drawing/2014/main" id="{AAB52758-820F-3FDB-1BF5-D45DDEB37DF8}"/>
              </a:ext>
            </a:extLst>
          </p:cNvPr>
          <p:cNvSpPr>
            <a:spLocks noGrp="1"/>
          </p:cNvSpPr>
          <p:nvPr>
            <p:ph type="body" sz="quarter" idx="42"/>
          </p:nvPr>
        </p:nvSpPr>
        <p:spPr>
          <a:xfrm>
            <a:off x="6066682" y="1112478"/>
            <a:ext cx="2572262" cy="153888"/>
          </a:xfrm>
        </p:spPr>
        <p:txBody>
          <a:bodyPr/>
          <a:lstStyle/>
          <a:p>
            <a:r>
              <a:rPr lang="en-US" noProof="0" dirty="0"/>
              <a:t>Build call script</a:t>
            </a:r>
          </a:p>
        </p:txBody>
      </p:sp>
      <p:sp>
        <p:nvSpPr>
          <p:cNvPr id="261" name="Text Placeholder 260">
            <a:extLst>
              <a:ext uri="{FF2B5EF4-FFF2-40B4-BE49-F238E27FC236}">
                <a16:creationId xmlns:a16="http://schemas.microsoft.com/office/drawing/2014/main" id="{7B57AE68-1D28-D28D-5B63-6A32EE775E66}"/>
              </a:ext>
            </a:extLst>
          </p:cNvPr>
          <p:cNvSpPr>
            <a:spLocks noGrp="1"/>
          </p:cNvSpPr>
          <p:nvPr>
            <p:ph type="body" sz="quarter" idx="43"/>
          </p:nvPr>
        </p:nvSpPr>
        <p:spPr>
          <a:xfrm>
            <a:off x="6067425" y="1438275"/>
            <a:ext cx="2571750" cy="627063"/>
          </a:xfrm>
        </p:spPr>
        <p:txBody>
          <a:bodyPr/>
          <a:lstStyle/>
          <a:p>
            <a:r>
              <a:rPr lang="en-US" dirty="0"/>
              <a:t>Prompt Copilot to generate a call script. Use Copilot in Word to refine the call script and save as a template to be used again.</a:t>
            </a:r>
            <a:endParaRPr lang="en-US" noProof="0" dirty="0"/>
          </a:p>
        </p:txBody>
      </p:sp>
      <p:sp>
        <p:nvSpPr>
          <p:cNvPr id="265" name="Text Placeholder 264">
            <a:extLst>
              <a:ext uri="{FF2B5EF4-FFF2-40B4-BE49-F238E27FC236}">
                <a16:creationId xmlns:a16="http://schemas.microsoft.com/office/drawing/2014/main" id="{8DECD2D1-5BC0-8CA4-6655-CB4919786414}"/>
              </a:ext>
            </a:extLst>
          </p:cNvPr>
          <p:cNvSpPr>
            <a:spLocks noGrp="1"/>
          </p:cNvSpPr>
          <p:nvPr>
            <p:ph type="body" sz="quarter" idx="68"/>
          </p:nvPr>
        </p:nvSpPr>
        <p:spPr>
          <a:xfrm>
            <a:off x="8950475" y="2725494"/>
            <a:ext cx="2572262" cy="712876"/>
          </a:xfrm>
        </p:spPr>
        <p:txBody>
          <a:bodyPr/>
          <a:lstStyle/>
          <a:p>
            <a:r>
              <a:rPr lang="en-US" noProof="0" dirty="0"/>
              <a:t>Benefit: </a:t>
            </a:r>
            <a:r>
              <a:rPr lang="en-US" b="1" noProof="0" dirty="0">
                <a:latin typeface="+mj-lt"/>
              </a:rPr>
              <a:t>Simplify capture </a:t>
            </a:r>
            <a:r>
              <a:rPr lang="en-US" noProof="0" dirty="0"/>
              <a:t>of customer intent with generated call notes.</a:t>
            </a:r>
          </a:p>
        </p:txBody>
      </p:sp>
      <p:sp>
        <p:nvSpPr>
          <p:cNvPr id="263" name="Text Placeholder 262">
            <a:extLst>
              <a:ext uri="{FF2B5EF4-FFF2-40B4-BE49-F238E27FC236}">
                <a16:creationId xmlns:a16="http://schemas.microsoft.com/office/drawing/2014/main" id="{8FDA88F7-D888-5882-1925-B1AD4512084E}"/>
              </a:ext>
            </a:extLst>
          </p:cNvPr>
          <p:cNvSpPr>
            <a:spLocks noGrp="1"/>
          </p:cNvSpPr>
          <p:nvPr>
            <p:ph type="body" sz="quarter" idx="45"/>
          </p:nvPr>
        </p:nvSpPr>
        <p:spPr>
          <a:xfrm>
            <a:off x="8950475" y="1112478"/>
            <a:ext cx="2572262" cy="153888"/>
          </a:xfrm>
        </p:spPr>
        <p:txBody>
          <a:bodyPr/>
          <a:lstStyle/>
          <a:p>
            <a:r>
              <a:rPr lang="en-US" noProof="0" dirty="0"/>
              <a:t>Call customers</a:t>
            </a:r>
          </a:p>
        </p:txBody>
      </p:sp>
      <p:sp>
        <p:nvSpPr>
          <p:cNvPr id="264" name="Text Placeholder 263">
            <a:extLst>
              <a:ext uri="{FF2B5EF4-FFF2-40B4-BE49-F238E27FC236}">
                <a16:creationId xmlns:a16="http://schemas.microsoft.com/office/drawing/2014/main" id="{6700AB0C-20D7-20D3-405B-19667B567218}"/>
              </a:ext>
            </a:extLst>
          </p:cNvPr>
          <p:cNvSpPr>
            <a:spLocks noGrp="1"/>
          </p:cNvSpPr>
          <p:nvPr>
            <p:ph type="body" sz="quarter" idx="46"/>
          </p:nvPr>
        </p:nvSpPr>
        <p:spPr>
          <a:xfrm>
            <a:off x="8950475" y="1438715"/>
            <a:ext cx="2572262" cy="626701"/>
          </a:xfrm>
        </p:spPr>
        <p:txBody>
          <a:bodyPr/>
          <a:lstStyle/>
          <a:p>
            <a:r>
              <a:rPr lang="en-US" noProof="0" dirty="0"/>
              <a:t>Call customers who have outstanding balances, using Copilot in Teams Phone to take meeting notes.</a:t>
            </a:r>
          </a:p>
        </p:txBody>
      </p:sp>
      <p:sp>
        <p:nvSpPr>
          <p:cNvPr id="274" name="Text Placeholder 273">
            <a:extLst>
              <a:ext uri="{FF2B5EF4-FFF2-40B4-BE49-F238E27FC236}">
                <a16:creationId xmlns:a16="http://schemas.microsoft.com/office/drawing/2014/main" id="{CBB6B01D-0373-51EF-40F2-E22AC6707D6E}"/>
              </a:ext>
            </a:extLst>
          </p:cNvPr>
          <p:cNvSpPr>
            <a:spLocks noGrp="1"/>
          </p:cNvSpPr>
          <p:nvPr>
            <p:ph type="body" sz="quarter" idx="70"/>
          </p:nvPr>
        </p:nvSpPr>
        <p:spPr>
          <a:xfrm>
            <a:off x="6066682" y="2725494"/>
            <a:ext cx="2572262" cy="712876"/>
          </a:xfrm>
        </p:spPr>
        <p:txBody>
          <a:bodyPr/>
          <a:lstStyle/>
          <a:p>
            <a:r>
              <a:rPr lang="en-US" noProof="0" dirty="0"/>
              <a:t>Benefit: </a:t>
            </a:r>
            <a:r>
              <a:rPr lang="en-US" b="1" noProof="0" dirty="0">
                <a:latin typeface="+mj-lt"/>
              </a:rPr>
              <a:t>Build conversation script</a:t>
            </a:r>
            <a:r>
              <a:rPr lang="en-US" noProof="0" dirty="0"/>
              <a:t>, suggesting the most effective and policy compliant approach to collect outstanding invoices and negotiate payment terms.</a:t>
            </a:r>
          </a:p>
        </p:txBody>
      </p:sp>
      <p:sp>
        <p:nvSpPr>
          <p:cNvPr id="266" name="Text Placeholder 265">
            <a:extLst>
              <a:ext uri="{FF2B5EF4-FFF2-40B4-BE49-F238E27FC236}">
                <a16:creationId xmlns:a16="http://schemas.microsoft.com/office/drawing/2014/main" id="{DD171A4E-F87A-04A2-1E95-B16A76CEE76B}"/>
              </a:ext>
            </a:extLst>
          </p:cNvPr>
          <p:cNvSpPr>
            <a:spLocks noGrp="1"/>
          </p:cNvSpPr>
          <p:nvPr>
            <p:ph type="body" sz="quarter" idx="48"/>
          </p:nvPr>
        </p:nvSpPr>
        <p:spPr>
          <a:xfrm>
            <a:off x="3182890" y="5334522"/>
            <a:ext cx="2572262" cy="712876"/>
          </a:xfrm>
        </p:spPr>
        <p:txBody>
          <a:bodyPr/>
          <a:lstStyle/>
          <a:p>
            <a:r>
              <a:rPr lang="en-US" noProof="0" dirty="0"/>
              <a:t>Benefit: </a:t>
            </a:r>
            <a:r>
              <a:rPr lang="en-US" b="1" noProof="0" dirty="0">
                <a:latin typeface="+mj-lt"/>
              </a:rPr>
              <a:t>Quickly find and summarize documents </a:t>
            </a:r>
            <a:r>
              <a:rPr lang="en-US" noProof="0" dirty="0"/>
              <a:t>related to a customer.</a:t>
            </a:r>
          </a:p>
          <a:p>
            <a:r>
              <a:rPr lang="en-US" u="sng" dirty="0">
                <a:hlinkClick r:id="rId3"/>
              </a:rPr>
              <a:t>Get started with Word, Excel, and PowerPoint Agents</a:t>
            </a:r>
            <a:endParaRPr lang="en-US" noProof="0" dirty="0"/>
          </a:p>
        </p:txBody>
      </p:sp>
      <p:sp>
        <p:nvSpPr>
          <p:cNvPr id="267" name="Text Placeholder 266">
            <a:extLst>
              <a:ext uri="{FF2B5EF4-FFF2-40B4-BE49-F238E27FC236}">
                <a16:creationId xmlns:a16="http://schemas.microsoft.com/office/drawing/2014/main" id="{CF7D13C6-5961-6AE1-27AB-4D88E61617D5}"/>
              </a:ext>
            </a:extLst>
          </p:cNvPr>
          <p:cNvSpPr>
            <a:spLocks noGrp="1"/>
          </p:cNvSpPr>
          <p:nvPr>
            <p:ph type="body" sz="quarter" idx="49"/>
          </p:nvPr>
        </p:nvSpPr>
        <p:spPr>
          <a:xfrm>
            <a:off x="3182890" y="3725103"/>
            <a:ext cx="2572262" cy="153888"/>
          </a:xfrm>
        </p:spPr>
        <p:txBody>
          <a:bodyPr/>
          <a:lstStyle/>
          <a:p>
            <a:r>
              <a:rPr lang="en-US" noProof="0" dirty="0"/>
              <a:t>Update legal team</a:t>
            </a:r>
          </a:p>
        </p:txBody>
      </p:sp>
      <p:sp>
        <p:nvSpPr>
          <p:cNvPr id="268" name="Text Placeholder 267">
            <a:extLst>
              <a:ext uri="{FF2B5EF4-FFF2-40B4-BE49-F238E27FC236}">
                <a16:creationId xmlns:a16="http://schemas.microsoft.com/office/drawing/2014/main" id="{EE963105-A320-2E0C-DDCD-D92046A45277}"/>
              </a:ext>
            </a:extLst>
          </p:cNvPr>
          <p:cNvSpPr>
            <a:spLocks noGrp="1"/>
          </p:cNvSpPr>
          <p:nvPr>
            <p:ph type="body" sz="quarter" idx="50"/>
          </p:nvPr>
        </p:nvSpPr>
        <p:spPr>
          <a:xfrm>
            <a:off x="3182890" y="4050957"/>
            <a:ext cx="2572262" cy="626701"/>
          </a:xfrm>
        </p:spPr>
        <p:txBody>
          <a:bodyPr/>
          <a:lstStyle/>
          <a:p>
            <a:r>
              <a:rPr lang="en-US" noProof="0" dirty="0"/>
              <a:t>Draft a summary of the collections cycle for the legal team. Use </a:t>
            </a:r>
            <a:r>
              <a:rPr lang="en-US" dirty="0"/>
              <a:t>Word</a:t>
            </a:r>
            <a:r>
              <a:rPr lang="en-US" noProof="0" dirty="0"/>
              <a:t> Agent to create the draft in Word, including references to associated documents and emails.</a:t>
            </a:r>
          </a:p>
        </p:txBody>
      </p:sp>
      <p:sp>
        <p:nvSpPr>
          <p:cNvPr id="269" name="Text Placeholder 268">
            <a:extLst>
              <a:ext uri="{FF2B5EF4-FFF2-40B4-BE49-F238E27FC236}">
                <a16:creationId xmlns:a16="http://schemas.microsoft.com/office/drawing/2014/main" id="{0361EF6B-EE7F-05C9-5414-6D017ACD48EB}"/>
              </a:ext>
            </a:extLst>
          </p:cNvPr>
          <p:cNvSpPr>
            <a:spLocks noGrp="1"/>
          </p:cNvSpPr>
          <p:nvPr>
            <p:ph type="body" sz="quarter" idx="51"/>
          </p:nvPr>
        </p:nvSpPr>
        <p:spPr>
          <a:xfrm>
            <a:off x="6066682" y="3725103"/>
            <a:ext cx="2572262" cy="153888"/>
          </a:xfrm>
        </p:spPr>
        <p:txBody>
          <a:bodyPr/>
          <a:lstStyle/>
          <a:p>
            <a:r>
              <a:rPr lang="en-US" noProof="0" dirty="0"/>
              <a:t>Update financial data</a:t>
            </a:r>
          </a:p>
        </p:txBody>
      </p:sp>
      <p:sp>
        <p:nvSpPr>
          <p:cNvPr id="270" name="Text Placeholder 269">
            <a:extLst>
              <a:ext uri="{FF2B5EF4-FFF2-40B4-BE49-F238E27FC236}">
                <a16:creationId xmlns:a16="http://schemas.microsoft.com/office/drawing/2014/main" id="{67D22EEE-EEC7-72B3-8254-2BA53815E3D3}"/>
              </a:ext>
            </a:extLst>
          </p:cNvPr>
          <p:cNvSpPr>
            <a:spLocks noGrp="1"/>
          </p:cNvSpPr>
          <p:nvPr>
            <p:ph type="body" sz="quarter" idx="52"/>
          </p:nvPr>
        </p:nvSpPr>
        <p:spPr>
          <a:xfrm>
            <a:off x="6066682" y="4050957"/>
            <a:ext cx="2572262" cy="626701"/>
          </a:xfrm>
        </p:spPr>
        <p:txBody>
          <a:bodyPr/>
          <a:lstStyle/>
          <a:p>
            <a:r>
              <a:rPr lang="en-US" noProof="0" dirty="0"/>
              <a:t>Prompt Copilot in Outlook to summarize recent payment updates. Use Copilot for Finance to update your ERP system directly from Outlook with the latest payment plans and promise to pay dates. </a:t>
            </a:r>
          </a:p>
        </p:txBody>
      </p:sp>
      <p:sp>
        <p:nvSpPr>
          <p:cNvPr id="259" name="Text Placeholder 258">
            <a:extLst>
              <a:ext uri="{FF2B5EF4-FFF2-40B4-BE49-F238E27FC236}">
                <a16:creationId xmlns:a16="http://schemas.microsoft.com/office/drawing/2014/main" id="{042C82F1-25FA-213F-DF95-B9CC149B0620}"/>
              </a:ext>
            </a:extLst>
          </p:cNvPr>
          <p:cNvSpPr>
            <a:spLocks noGrp="1"/>
          </p:cNvSpPr>
          <p:nvPr>
            <p:ph type="body" sz="quarter" idx="66"/>
          </p:nvPr>
        </p:nvSpPr>
        <p:spPr>
          <a:xfrm>
            <a:off x="8950475" y="5334522"/>
            <a:ext cx="2572262" cy="712876"/>
          </a:xfrm>
        </p:spPr>
        <p:txBody>
          <a:bodyPr/>
          <a:lstStyle/>
          <a:p>
            <a:r>
              <a:rPr lang="en-US" noProof="0" dirty="0"/>
              <a:t>Benefit: </a:t>
            </a:r>
            <a:r>
              <a:rPr lang="en-US" b="1" noProof="0" dirty="0">
                <a:latin typeface="+mj-lt"/>
              </a:rPr>
              <a:t>Automate drafting of emails </a:t>
            </a:r>
            <a:r>
              <a:rPr lang="en-US" noProof="0" dirty="0"/>
              <a:t>and use </a:t>
            </a:r>
            <a:br>
              <a:rPr lang="en-US" noProof="0" dirty="0"/>
            </a:br>
            <a:r>
              <a:rPr lang="en-US" noProof="0" dirty="0"/>
              <a:t>Copilot to review the tone and customize </a:t>
            </a:r>
            <a:br>
              <a:rPr lang="en-US" noProof="0" dirty="0"/>
            </a:br>
            <a:r>
              <a:rPr lang="en-US" noProof="0" dirty="0"/>
              <a:t>emails with relevant records and insight.</a:t>
            </a:r>
          </a:p>
        </p:txBody>
      </p:sp>
      <p:sp>
        <p:nvSpPr>
          <p:cNvPr id="272" name="Text Placeholder 271">
            <a:extLst>
              <a:ext uri="{FF2B5EF4-FFF2-40B4-BE49-F238E27FC236}">
                <a16:creationId xmlns:a16="http://schemas.microsoft.com/office/drawing/2014/main" id="{E1075343-45D9-3300-FFD1-79EDE3044845}"/>
              </a:ext>
            </a:extLst>
          </p:cNvPr>
          <p:cNvSpPr>
            <a:spLocks noGrp="1"/>
          </p:cNvSpPr>
          <p:nvPr>
            <p:ph type="body" sz="quarter" idx="54"/>
          </p:nvPr>
        </p:nvSpPr>
        <p:spPr>
          <a:xfrm>
            <a:off x="8950475" y="3725103"/>
            <a:ext cx="2572262" cy="153888"/>
          </a:xfrm>
        </p:spPr>
        <p:txBody>
          <a:bodyPr/>
          <a:lstStyle/>
          <a:p>
            <a:r>
              <a:rPr lang="en-US" noProof="0" dirty="0"/>
              <a:t>Send payment reminders</a:t>
            </a:r>
          </a:p>
        </p:txBody>
      </p:sp>
      <p:sp>
        <p:nvSpPr>
          <p:cNvPr id="273" name="Text Placeholder 272">
            <a:extLst>
              <a:ext uri="{FF2B5EF4-FFF2-40B4-BE49-F238E27FC236}">
                <a16:creationId xmlns:a16="http://schemas.microsoft.com/office/drawing/2014/main" id="{D9BC82CA-739C-5085-946E-3F895F37595E}"/>
              </a:ext>
            </a:extLst>
          </p:cNvPr>
          <p:cNvSpPr>
            <a:spLocks noGrp="1"/>
          </p:cNvSpPr>
          <p:nvPr>
            <p:ph type="body" sz="quarter" idx="55"/>
          </p:nvPr>
        </p:nvSpPr>
        <p:spPr>
          <a:xfrm>
            <a:off x="8950475" y="4050957"/>
            <a:ext cx="2572262" cy="626701"/>
          </a:xfrm>
        </p:spPr>
        <p:txBody>
          <a:bodyPr/>
          <a:lstStyle/>
          <a:p>
            <a:r>
              <a:rPr lang="en-US" noProof="0" dirty="0"/>
              <a:t>Use Copilot in Outlook to draft follow up emails to customers. With Copilot for Finance, view and attach related records and financial insight directly within Outlook.</a:t>
            </a:r>
          </a:p>
        </p:txBody>
      </p:sp>
      <p:sp>
        <p:nvSpPr>
          <p:cNvPr id="262" name="Text Placeholder 261">
            <a:extLst>
              <a:ext uri="{FF2B5EF4-FFF2-40B4-BE49-F238E27FC236}">
                <a16:creationId xmlns:a16="http://schemas.microsoft.com/office/drawing/2014/main" id="{4651223E-17FD-F016-C16B-091681079060}"/>
              </a:ext>
            </a:extLst>
          </p:cNvPr>
          <p:cNvSpPr>
            <a:spLocks noGrp="1"/>
          </p:cNvSpPr>
          <p:nvPr>
            <p:ph type="body" sz="quarter" idx="67"/>
          </p:nvPr>
        </p:nvSpPr>
        <p:spPr>
          <a:xfrm>
            <a:off x="6066682" y="5334522"/>
            <a:ext cx="2572262" cy="712876"/>
          </a:xfrm>
        </p:spPr>
        <p:txBody>
          <a:bodyPr/>
          <a:lstStyle/>
          <a:p>
            <a:r>
              <a:rPr lang="en-US" noProof="0" dirty="0"/>
              <a:t>Benefit</a:t>
            </a:r>
            <a:r>
              <a:rPr lang="en-US" noProof="0" dirty="0">
                <a:latin typeface="+mj-lt"/>
              </a:rPr>
              <a:t>: </a:t>
            </a:r>
            <a:r>
              <a:rPr lang="en-US" b="1" noProof="0" dirty="0">
                <a:latin typeface="+mj-lt"/>
              </a:rPr>
              <a:t>Simplify record updates </a:t>
            </a:r>
            <a:r>
              <a:rPr lang="en-US" noProof="0" dirty="0"/>
              <a:t>by updating ERP records from directly within Outlook. </a:t>
            </a:r>
          </a:p>
        </p:txBody>
      </p:sp>
      <p:sp>
        <p:nvSpPr>
          <p:cNvPr id="275" name="Text Placeholder 274">
            <a:extLst>
              <a:ext uri="{FF2B5EF4-FFF2-40B4-BE49-F238E27FC236}">
                <a16:creationId xmlns:a16="http://schemas.microsoft.com/office/drawing/2014/main" id="{1864C359-E1A6-C39F-3E4E-442F81DA69FE}"/>
              </a:ext>
            </a:extLst>
          </p:cNvPr>
          <p:cNvSpPr>
            <a:spLocks noGrp="1"/>
          </p:cNvSpPr>
          <p:nvPr>
            <p:ph type="body" sz="quarter" idx="64"/>
          </p:nvPr>
        </p:nvSpPr>
        <p:spPr>
          <a:xfrm>
            <a:off x="320721" y="4709762"/>
            <a:ext cx="1131651" cy="219456"/>
          </a:xfrm>
        </p:spPr>
        <p:txBody>
          <a:bodyPr/>
          <a:lstStyle/>
          <a:p>
            <a:r>
              <a:rPr lang="en-US" noProof="0" dirty="0"/>
              <a:t>Value benefit</a:t>
            </a:r>
          </a:p>
        </p:txBody>
      </p:sp>
      <p:sp>
        <p:nvSpPr>
          <p:cNvPr id="276" name="Text Placeholder 275">
            <a:extLst>
              <a:ext uri="{FF2B5EF4-FFF2-40B4-BE49-F238E27FC236}">
                <a16:creationId xmlns:a16="http://schemas.microsoft.com/office/drawing/2014/main" id="{ACB569F4-81A4-E54F-B9AD-7383D077BD45}"/>
              </a:ext>
            </a:extLst>
          </p:cNvPr>
          <p:cNvSpPr>
            <a:spLocks noGrp="1"/>
          </p:cNvSpPr>
          <p:nvPr>
            <p:ph type="body" sz="quarter" idx="65"/>
          </p:nvPr>
        </p:nvSpPr>
        <p:spPr>
          <a:xfrm>
            <a:off x="320721" y="3467940"/>
            <a:ext cx="1131650" cy="219456"/>
          </a:xfrm>
        </p:spPr>
        <p:txBody>
          <a:bodyPr/>
          <a:lstStyle/>
          <a:p>
            <a:r>
              <a:rPr lang="en-US" noProof="0" dirty="0"/>
              <a:t>KPIs impacted</a:t>
            </a:r>
          </a:p>
        </p:txBody>
      </p:sp>
      <p:grpSp>
        <p:nvGrpSpPr>
          <p:cNvPr id="280" name="Group 279">
            <a:extLst>
              <a:ext uri="{FF2B5EF4-FFF2-40B4-BE49-F238E27FC236}">
                <a16:creationId xmlns:a16="http://schemas.microsoft.com/office/drawing/2014/main" id="{7B541BC1-911C-EF81-7A46-E5377550AFDF}"/>
              </a:ext>
            </a:extLst>
          </p:cNvPr>
          <p:cNvGrpSpPr/>
          <p:nvPr/>
        </p:nvGrpSpPr>
        <p:grpSpPr>
          <a:xfrm>
            <a:off x="320719" y="5020658"/>
            <a:ext cx="1771605" cy="216000"/>
            <a:chOff x="320719" y="4224856"/>
            <a:chExt cx="1771605" cy="219456"/>
          </a:xfrm>
        </p:grpSpPr>
        <p:sp>
          <p:nvSpPr>
            <p:cNvPr id="281" name="Rectangle: Rounded Corners 6">
              <a:extLst>
                <a:ext uri="{FF2B5EF4-FFF2-40B4-BE49-F238E27FC236}">
                  <a16:creationId xmlns:a16="http://schemas.microsoft.com/office/drawing/2014/main" id="{572FCE4D-CB13-135B-2006-518A720F3B84}"/>
                </a:ext>
                <a:ext uri="{C183D7F6-B498-43B3-948B-1728B52AA6E4}">
                  <adec:decorative xmlns:adec="http://schemas.microsoft.com/office/drawing/2017/decorative" val="1"/>
                </a:ext>
              </a:extLst>
            </p:cNvPr>
            <p:cNvSpPr/>
            <p:nvPr/>
          </p:nvSpPr>
          <p:spPr bwMode="auto">
            <a:xfrm>
              <a:off x="320719" y="4224856"/>
              <a:ext cx="1771605" cy="219456"/>
            </a:xfrm>
            <a:prstGeom prst="roundRect">
              <a:avLst>
                <a:gd name="adj" fmla="val 50000"/>
              </a:avLst>
            </a:prstGeom>
            <a:solidFill>
              <a:srgbClr val="FFFFFF"/>
            </a:solidFill>
            <a:ln w="12700">
              <a:solidFill>
                <a:srgbClr val="C03BC4"/>
              </a:solidFill>
              <a:headEnd type="none" w="med" len="med"/>
              <a:tailEnd type="none" w="med" len="med"/>
            </a:ln>
            <a:effectLst>
              <a:outerShdw blurRad="63500" dist="63500" dir="2700000"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16000" tIns="36576" rIns="36000" bIns="36000" numCol="1" spcCol="0" rtlCol="0" fromWordArt="0" anchor="ctr" anchorCtr="0" forceAA="0" compatLnSpc="1">
              <a:prstTxWarp prst="textNoShape">
                <a:avLst/>
              </a:prstTxWarp>
              <a:noAutofit/>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C03BC4"/>
                  </a:solidFill>
                  <a:effectLst/>
                  <a:uLnTx/>
                  <a:uFillTx/>
                  <a:latin typeface="Segoe UI Semibold" panose="020B0702040204020203" pitchFamily="34" charset="0"/>
                  <a:ea typeface="+mn-ea"/>
                  <a:cs typeface="Segoe UI Semibold" panose="020B0702040204020203" pitchFamily="34" charset="0"/>
                </a:rPr>
                <a:t>Cost Savings</a:t>
              </a:r>
            </a:p>
          </p:txBody>
        </p:sp>
        <p:pic>
          <p:nvPicPr>
            <p:cNvPr id="282" name="Graphic 281">
              <a:extLst>
                <a:ext uri="{FF2B5EF4-FFF2-40B4-BE49-F238E27FC236}">
                  <a16:creationId xmlns:a16="http://schemas.microsoft.com/office/drawing/2014/main" id="{57124EFD-3764-ED7F-C347-C57B91FDBF8C}"/>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367506" y="4260849"/>
              <a:ext cx="144000" cy="144000"/>
            </a:xfrm>
            <a:prstGeom prst="rect">
              <a:avLst/>
            </a:prstGeom>
          </p:spPr>
        </p:pic>
      </p:grpSp>
      <p:grpSp>
        <p:nvGrpSpPr>
          <p:cNvPr id="283" name="Group 282">
            <a:extLst>
              <a:ext uri="{FF2B5EF4-FFF2-40B4-BE49-F238E27FC236}">
                <a16:creationId xmlns:a16="http://schemas.microsoft.com/office/drawing/2014/main" id="{FF79253A-920F-F3A3-3928-2E8DAC6C33C3}"/>
              </a:ext>
            </a:extLst>
          </p:cNvPr>
          <p:cNvGrpSpPr/>
          <p:nvPr/>
        </p:nvGrpSpPr>
        <p:grpSpPr>
          <a:xfrm>
            <a:off x="320721" y="5309272"/>
            <a:ext cx="1771605" cy="216000"/>
            <a:chOff x="320721" y="4517211"/>
            <a:chExt cx="1771605" cy="216000"/>
          </a:xfrm>
        </p:grpSpPr>
        <p:sp>
          <p:nvSpPr>
            <p:cNvPr id="284" name="Rectangle: Rounded Corners 6">
              <a:extLst>
                <a:ext uri="{FF2B5EF4-FFF2-40B4-BE49-F238E27FC236}">
                  <a16:creationId xmlns:a16="http://schemas.microsoft.com/office/drawing/2014/main" id="{D4170568-D1F7-1B26-B752-CF842B6D912D}"/>
                </a:ext>
                <a:ext uri="{C183D7F6-B498-43B3-948B-1728B52AA6E4}">
                  <adec:decorative xmlns:adec="http://schemas.microsoft.com/office/drawing/2017/decorative" val="1"/>
                </a:ext>
              </a:extLst>
            </p:cNvPr>
            <p:cNvSpPr>
              <a:spLocks/>
            </p:cNvSpPr>
            <p:nvPr/>
          </p:nvSpPr>
          <p:spPr bwMode="auto">
            <a:xfrm>
              <a:off x="320721" y="4517211"/>
              <a:ext cx="1771605" cy="216000"/>
            </a:xfrm>
            <a:prstGeom prst="roundRect">
              <a:avLst>
                <a:gd name="adj" fmla="val 50000"/>
              </a:avLst>
            </a:prstGeom>
            <a:solidFill>
              <a:srgbClr val="FFFFFF"/>
            </a:solidFill>
            <a:ln w="12700">
              <a:solidFill>
                <a:srgbClr val="C03BC4"/>
              </a:solidFill>
              <a:headEnd type="none" w="med" len="med"/>
              <a:tailEnd type="none" w="med" len="med"/>
            </a:ln>
            <a:effectLst>
              <a:outerShdw blurRad="63500" dist="63500" dir="2700000"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16000" tIns="36576" rIns="36000" bIns="36000" numCol="1" spcCol="0" rtlCol="0" fromWordArt="0" anchor="ctr" anchorCtr="0" forceAA="0" compatLnSpc="1">
              <a:prstTxWarp prst="textNoShape">
                <a:avLst/>
              </a:prstTxWarp>
              <a:noAutofit/>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C03BC4"/>
                  </a:solidFill>
                  <a:effectLst/>
                  <a:uLnTx/>
                  <a:uFillTx/>
                  <a:latin typeface="Segoe UI Semibold" panose="020B0702040204020203" pitchFamily="34" charset="0"/>
                  <a:ea typeface="+mn-ea"/>
                  <a:cs typeface="Segoe UI Semibold" panose="020B0702040204020203" pitchFamily="34" charset="0"/>
                </a:rPr>
                <a:t>Revenue Growth</a:t>
              </a:r>
            </a:p>
          </p:txBody>
        </p:sp>
        <p:pic>
          <p:nvPicPr>
            <p:cNvPr id="285" name="Graphic 284">
              <a:extLst>
                <a:ext uri="{FF2B5EF4-FFF2-40B4-BE49-F238E27FC236}">
                  <a16:creationId xmlns:a16="http://schemas.microsoft.com/office/drawing/2014/main" id="{B46EB7A5-E268-06AD-389D-8515CCF7378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67507" y="4552645"/>
              <a:ext cx="144000" cy="141732"/>
            </a:xfrm>
            <a:prstGeom prst="rect">
              <a:avLst/>
            </a:prstGeom>
          </p:spPr>
        </p:pic>
      </p:grpSp>
      <p:grpSp>
        <p:nvGrpSpPr>
          <p:cNvPr id="286" name="Group 285">
            <a:extLst>
              <a:ext uri="{FF2B5EF4-FFF2-40B4-BE49-F238E27FC236}">
                <a16:creationId xmlns:a16="http://schemas.microsoft.com/office/drawing/2014/main" id="{AA3EB611-2513-ADCC-A971-92B3506CAE66}"/>
              </a:ext>
            </a:extLst>
          </p:cNvPr>
          <p:cNvGrpSpPr/>
          <p:nvPr/>
        </p:nvGrpSpPr>
        <p:grpSpPr>
          <a:xfrm>
            <a:off x="320719" y="3778836"/>
            <a:ext cx="1771605" cy="216000"/>
            <a:chOff x="320719" y="4224856"/>
            <a:chExt cx="1771605" cy="219456"/>
          </a:xfrm>
        </p:grpSpPr>
        <p:sp>
          <p:nvSpPr>
            <p:cNvPr id="287" name="Rectangle: Rounded Corners 6">
              <a:extLst>
                <a:ext uri="{FF2B5EF4-FFF2-40B4-BE49-F238E27FC236}">
                  <a16:creationId xmlns:a16="http://schemas.microsoft.com/office/drawing/2014/main" id="{EDD1734C-3C5F-4018-A52B-DB7A644E6A79}"/>
                </a:ext>
                <a:ext uri="{C183D7F6-B498-43B3-948B-1728B52AA6E4}">
                  <adec:decorative xmlns:adec="http://schemas.microsoft.com/office/drawing/2017/decorative" val="1"/>
                </a:ext>
              </a:extLst>
            </p:cNvPr>
            <p:cNvSpPr/>
            <p:nvPr/>
          </p:nvSpPr>
          <p:spPr bwMode="auto">
            <a:xfrm>
              <a:off x="320719" y="4224856"/>
              <a:ext cx="1771605" cy="219456"/>
            </a:xfrm>
            <a:prstGeom prst="roundRect">
              <a:avLst>
                <a:gd name="adj" fmla="val 50000"/>
              </a:avLst>
            </a:prstGeom>
            <a:solidFill>
              <a:srgbClr val="FFFFFF"/>
            </a:solidFill>
            <a:ln w="12700">
              <a:solidFill>
                <a:srgbClr val="0078D4"/>
              </a:solidFill>
              <a:headEnd type="none" w="med" len="med"/>
              <a:tailEnd type="none" w="med" len="med"/>
            </a:ln>
            <a:effectLst>
              <a:outerShdw blurRad="63500" dist="63500" dir="2700000"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16000" tIns="36576" rIns="36000" bIns="36000" numCol="1" spcCol="0" rtlCol="0" fromWordArt="0" anchor="ctr" anchorCtr="0" forceAA="0" compatLnSpc="1">
              <a:prstTxWarp prst="textNoShape">
                <a:avLst/>
              </a:prstTxWarp>
              <a:noAutofit/>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78D4"/>
                  </a:solidFill>
                  <a:effectLst/>
                  <a:uLnTx/>
                  <a:uFillTx/>
                  <a:latin typeface="Segoe UI Semibold"/>
                  <a:ea typeface="+mn-ea"/>
                  <a:cs typeface="Segoe UI Semibold" panose="020B0702040204020203" pitchFamily="34" charset="0"/>
                </a:rPr>
                <a:t>Days sales outstanding</a:t>
              </a:r>
            </a:p>
          </p:txBody>
        </p:sp>
        <p:pic>
          <p:nvPicPr>
            <p:cNvPr id="288" name="Graphic 287">
              <a:extLst>
                <a:ext uri="{FF2B5EF4-FFF2-40B4-BE49-F238E27FC236}">
                  <a16:creationId xmlns:a16="http://schemas.microsoft.com/office/drawing/2014/main" id="{59E75827-EC9A-2A51-83B8-750204129D68}"/>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367506" y="4260849"/>
              <a:ext cx="144000" cy="144000"/>
            </a:xfrm>
            <a:prstGeom prst="rect">
              <a:avLst/>
            </a:prstGeom>
          </p:spPr>
        </p:pic>
      </p:grpSp>
      <p:pic>
        <p:nvPicPr>
          <p:cNvPr id="3" name="Picture 6">
            <a:extLst>
              <a:ext uri="{FF2B5EF4-FFF2-40B4-BE49-F238E27FC236}">
                <a16:creationId xmlns:a16="http://schemas.microsoft.com/office/drawing/2014/main" id="{AE6460E6-EE0E-5195-6B58-0D0608D1810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t="5571" b="5571"/>
          <a:stretch/>
        </p:blipFill>
        <p:spPr bwMode="auto">
          <a:xfrm>
            <a:off x="8961060" y="2252214"/>
            <a:ext cx="245612" cy="223322"/>
          </a:xfrm>
          <a:prstGeom prst="rect">
            <a:avLst/>
          </a:prstGeom>
          <a:noFill/>
          <a:extLst>
            <a:ext uri="{909E8E84-426E-40DD-AFC4-6F175D3DCCD1}">
              <a14:hiddenFill xmlns:a14="http://schemas.microsoft.com/office/drawing/2010/main">
                <a:solidFill>
                  <a:srgbClr val="FFFFFF"/>
                </a:solidFill>
              </a14:hiddenFill>
            </a:ext>
          </a:extLst>
        </p:spPr>
      </p:pic>
      <p:sp>
        <p:nvSpPr>
          <p:cNvPr id="44" name="TextBox 43">
            <a:extLst>
              <a:ext uri="{FF2B5EF4-FFF2-40B4-BE49-F238E27FC236}">
                <a16:creationId xmlns:a16="http://schemas.microsoft.com/office/drawing/2014/main" id="{0143B08C-D962-95C1-C3C4-70AD27C7C6E3}"/>
              </a:ext>
              <a:ext uri="{C183D7F6-B498-43B3-948B-1728B52AA6E4}">
                <adec:decorative xmlns:adec="http://schemas.microsoft.com/office/drawing/2017/decorative" val="0"/>
              </a:ext>
            </a:extLst>
          </p:cNvPr>
          <p:cNvSpPr txBox="1"/>
          <p:nvPr/>
        </p:nvSpPr>
        <p:spPr>
          <a:xfrm>
            <a:off x="3562472" y="2217681"/>
            <a:ext cx="1830524" cy="2923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Semibold"/>
                <a:ea typeface="+mn-ea"/>
                <a:cs typeface="+mn-cs"/>
              </a:rPr>
              <a:t>Copilot in Outlook</a:t>
            </a:r>
            <a:endParaRPr kumimoji="0" lang="en-US" sz="1000" b="0" i="0" u="none" strike="noStrike" kern="1200" cap="none" spc="0" normalizeH="0" baseline="30000" noProof="0" dirty="0">
              <a:ln>
                <a:noFill/>
              </a:ln>
              <a:solidFill>
                <a:srgbClr val="000000"/>
              </a:solidFill>
              <a:effectLst/>
              <a:uLnTx/>
              <a:uFillTx/>
              <a:latin typeface="Segoe UI Semibold"/>
              <a:ea typeface="+mn-ea"/>
              <a:cs typeface="+mn-cs"/>
            </a:endParaRPr>
          </a:p>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78D4"/>
                </a:solidFill>
                <a:effectLst/>
                <a:uLnTx/>
                <a:uFillTx/>
                <a:latin typeface="Segoe UI Semibold"/>
                <a:ea typeface="+mn-ea"/>
                <a:cs typeface="+mn-cs"/>
              </a:rPr>
              <a:t>+ Copilot for Finance</a:t>
            </a:r>
            <a:endParaRPr kumimoji="0" lang="en-US" sz="900" b="0" i="1" u="none" strike="noStrike" kern="1200" cap="none" spc="0" normalizeH="0" baseline="0" noProof="0" dirty="0">
              <a:ln>
                <a:noFill/>
              </a:ln>
              <a:solidFill>
                <a:srgbClr val="0078D4"/>
              </a:solidFill>
              <a:effectLst/>
              <a:uLnTx/>
              <a:uFillTx/>
              <a:latin typeface="Segoe UI Semibold"/>
              <a:ea typeface="+mn-ea"/>
              <a:cs typeface="+mn-cs"/>
            </a:endParaRPr>
          </a:p>
        </p:txBody>
      </p:sp>
      <p:sp>
        <p:nvSpPr>
          <p:cNvPr id="46" name="TextBox 45">
            <a:extLst>
              <a:ext uri="{FF2B5EF4-FFF2-40B4-BE49-F238E27FC236}">
                <a16:creationId xmlns:a16="http://schemas.microsoft.com/office/drawing/2014/main" id="{51BCEBA7-7140-A3C0-2505-03AEEB2EACCE}"/>
              </a:ext>
              <a:ext uri="{C183D7F6-B498-43B3-948B-1728B52AA6E4}">
                <adec:decorative xmlns:adec="http://schemas.microsoft.com/office/drawing/2017/decorative" val="0"/>
              </a:ext>
            </a:extLst>
          </p:cNvPr>
          <p:cNvSpPr txBox="1"/>
          <p:nvPr/>
        </p:nvSpPr>
        <p:spPr>
          <a:xfrm>
            <a:off x="9328927" y="2286931"/>
            <a:ext cx="1420949" cy="1538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Semibold"/>
                <a:ea typeface="+mn-ea"/>
                <a:cs typeface="+mn-cs"/>
              </a:rPr>
              <a:t>Copilot in Teams</a:t>
            </a:r>
          </a:p>
        </p:txBody>
      </p:sp>
      <p:sp>
        <p:nvSpPr>
          <p:cNvPr id="47" name="TextBox 46">
            <a:extLst>
              <a:ext uri="{FF2B5EF4-FFF2-40B4-BE49-F238E27FC236}">
                <a16:creationId xmlns:a16="http://schemas.microsoft.com/office/drawing/2014/main" id="{DE897248-2D9E-37DB-4157-E39345BA675E}"/>
              </a:ext>
              <a:ext uri="{C183D7F6-B498-43B3-948B-1728B52AA6E4}">
                <adec:decorative xmlns:adec="http://schemas.microsoft.com/office/drawing/2017/decorative" val="0"/>
              </a:ext>
            </a:extLst>
          </p:cNvPr>
          <p:cNvSpPr txBox="1"/>
          <p:nvPr/>
        </p:nvSpPr>
        <p:spPr>
          <a:xfrm>
            <a:off x="6446959" y="4816819"/>
            <a:ext cx="1771605" cy="2923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Semibold"/>
                <a:ea typeface="+mn-ea"/>
                <a:cs typeface="+mn-cs"/>
              </a:rPr>
              <a:t>Copilot in Outlook</a:t>
            </a:r>
            <a:endParaRPr kumimoji="0" lang="en-US" sz="1000" b="0" i="0" u="none" strike="noStrike" kern="1200" cap="none" spc="0" normalizeH="0" baseline="30000" noProof="0" dirty="0">
              <a:ln>
                <a:noFill/>
              </a:ln>
              <a:solidFill>
                <a:srgbClr val="000000"/>
              </a:solidFill>
              <a:effectLst/>
              <a:uLnTx/>
              <a:uFillTx/>
              <a:latin typeface="Segoe UI Semibold"/>
              <a:ea typeface="+mn-ea"/>
              <a:cs typeface="+mn-cs"/>
            </a:endParaRPr>
          </a:p>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78D4"/>
                </a:solidFill>
                <a:effectLst/>
                <a:uLnTx/>
                <a:uFillTx/>
                <a:latin typeface="Segoe UI Semibold"/>
                <a:ea typeface="+mn-ea"/>
                <a:cs typeface="+mn-cs"/>
              </a:rPr>
              <a:t>+ Copilot for Finance</a:t>
            </a:r>
            <a:endParaRPr kumimoji="0" lang="en-US" sz="900" b="0" i="1" u="none" strike="noStrike" kern="1200" cap="none" spc="0" normalizeH="0" baseline="0" noProof="0" dirty="0">
              <a:ln>
                <a:noFill/>
              </a:ln>
              <a:solidFill>
                <a:srgbClr val="0078D4"/>
              </a:solidFill>
              <a:effectLst/>
              <a:uLnTx/>
              <a:uFillTx/>
              <a:latin typeface="Segoe UI Semibold"/>
              <a:ea typeface="+mn-ea"/>
              <a:cs typeface="+mn-cs"/>
            </a:endParaRPr>
          </a:p>
        </p:txBody>
      </p:sp>
      <p:sp>
        <p:nvSpPr>
          <p:cNvPr id="48" name="TextBox 47">
            <a:extLst>
              <a:ext uri="{FF2B5EF4-FFF2-40B4-BE49-F238E27FC236}">
                <a16:creationId xmlns:a16="http://schemas.microsoft.com/office/drawing/2014/main" id="{9EBE155F-B3E2-4481-66F0-79FE6732D5DC}"/>
              </a:ext>
              <a:ext uri="{C183D7F6-B498-43B3-948B-1728B52AA6E4}">
                <adec:decorative xmlns:adec="http://schemas.microsoft.com/office/drawing/2017/decorative" val="0"/>
              </a:ext>
            </a:extLst>
          </p:cNvPr>
          <p:cNvSpPr txBox="1"/>
          <p:nvPr/>
        </p:nvSpPr>
        <p:spPr>
          <a:xfrm>
            <a:off x="3562472" y="4886070"/>
            <a:ext cx="1420949" cy="1538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Semibold"/>
                <a:ea typeface="+mn-ea"/>
                <a:cs typeface="+mn-cs"/>
              </a:rPr>
              <a:t>Word Agent</a:t>
            </a:r>
          </a:p>
        </p:txBody>
      </p:sp>
      <p:sp>
        <p:nvSpPr>
          <p:cNvPr id="49" name="TextBox 48">
            <a:extLst>
              <a:ext uri="{FF2B5EF4-FFF2-40B4-BE49-F238E27FC236}">
                <a16:creationId xmlns:a16="http://schemas.microsoft.com/office/drawing/2014/main" id="{3158D4EE-C67D-5B27-80F4-312E06E4D2E5}"/>
              </a:ext>
              <a:ext uri="{C183D7F6-B498-43B3-948B-1728B52AA6E4}">
                <adec:decorative xmlns:adec="http://schemas.microsoft.com/office/drawing/2017/decorative" val="0"/>
              </a:ext>
            </a:extLst>
          </p:cNvPr>
          <p:cNvSpPr txBox="1"/>
          <p:nvPr/>
        </p:nvSpPr>
        <p:spPr>
          <a:xfrm>
            <a:off x="9328927" y="4816820"/>
            <a:ext cx="1830524" cy="2923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Semibold"/>
                <a:ea typeface="+mn-ea"/>
                <a:cs typeface="+mn-cs"/>
              </a:rPr>
              <a:t>Copilot in Outlook</a:t>
            </a:r>
            <a:endParaRPr kumimoji="0" lang="en-US" sz="1000" b="0" i="0" u="none" strike="noStrike" kern="1200" cap="none" spc="0" normalizeH="0" baseline="30000" noProof="0" dirty="0">
              <a:ln>
                <a:noFill/>
              </a:ln>
              <a:solidFill>
                <a:srgbClr val="000000"/>
              </a:solidFill>
              <a:effectLst/>
              <a:uLnTx/>
              <a:uFillTx/>
              <a:latin typeface="Segoe UI Semibold"/>
              <a:ea typeface="+mn-ea"/>
              <a:cs typeface="+mn-cs"/>
            </a:endParaRPr>
          </a:p>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78D4"/>
                </a:solidFill>
                <a:effectLst/>
                <a:uLnTx/>
                <a:uFillTx/>
                <a:latin typeface="Segoe UI Semibold"/>
                <a:ea typeface="+mn-ea"/>
                <a:cs typeface="+mn-cs"/>
              </a:rPr>
              <a:t>+ Copilot for Finance</a:t>
            </a:r>
            <a:endParaRPr kumimoji="0" lang="en-US" sz="900" b="0" i="1" u="none" strike="noStrike" kern="1200" cap="none" spc="0" normalizeH="0" baseline="0" noProof="0" dirty="0">
              <a:ln>
                <a:noFill/>
              </a:ln>
              <a:solidFill>
                <a:srgbClr val="0078D4"/>
              </a:solidFill>
              <a:effectLst/>
              <a:uLnTx/>
              <a:uFillTx/>
              <a:latin typeface="Segoe UI Semibold"/>
              <a:ea typeface="+mn-ea"/>
              <a:cs typeface="+mn-cs"/>
            </a:endParaRPr>
          </a:p>
        </p:txBody>
      </p:sp>
      <p:sp>
        <p:nvSpPr>
          <p:cNvPr id="53" name="TextBox 52">
            <a:extLst>
              <a:ext uri="{FF2B5EF4-FFF2-40B4-BE49-F238E27FC236}">
                <a16:creationId xmlns:a16="http://schemas.microsoft.com/office/drawing/2014/main" id="{1EF39EBB-ED8B-43FD-5BA2-715B4C559224}"/>
              </a:ext>
              <a:ext uri="{C183D7F6-B498-43B3-948B-1728B52AA6E4}">
                <adec:decorative xmlns:adec="http://schemas.microsoft.com/office/drawing/2017/decorative" val="0"/>
              </a:ext>
            </a:extLst>
          </p:cNvPr>
          <p:cNvSpPr txBox="1"/>
          <p:nvPr/>
        </p:nvSpPr>
        <p:spPr>
          <a:xfrm>
            <a:off x="6426547" y="2286930"/>
            <a:ext cx="1977112" cy="1538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lang="en-US" sz="1000" dirty="0">
                <a:solidFill>
                  <a:srgbClr val="000000"/>
                </a:solidFill>
                <a:latin typeface="Segoe UI Semibold"/>
              </a:rPr>
              <a:t>Copilot in</a:t>
            </a:r>
            <a:r>
              <a:rPr kumimoji="0" lang="en-US" sz="1000" b="0" i="0" u="none" strike="noStrike" kern="1200" cap="none" spc="0" normalizeH="0" baseline="0" noProof="0" dirty="0">
                <a:ln>
                  <a:noFill/>
                </a:ln>
                <a:solidFill>
                  <a:srgbClr val="000000"/>
                </a:solidFill>
                <a:effectLst/>
                <a:uLnTx/>
                <a:uFillTx/>
                <a:latin typeface="Segoe UI Semibold"/>
                <a:ea typeface="+mn-ea"/>
                <a:cs typeface="+mn-cs"/>
              </a:rPr>
              <a:t> Word</a:t>
            </a:r>
          </a:p>
        </p:txBody>
      </p:sp>
      <p:pic>
        <p:nvPicPr>
          <p:cNvPr id="2" name="Picture 1" descr="Word logo">
            <a:extLst>
              <a:ext uri="{FF2B5EF4-FFF2-40B4-BE49-F238E27FC236}">
                <a16:creationId xmlns:a16="http://schemas.microsoft.com/office/drawing/2014/main" id="{EE6F24B7-2BF0-7A70-7756-053BA75E7F55}"/>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6086117" y="2226726"/>
            <a:ext cx="246576" cy="246576"/>
          </a:xfrm>
          <a:prstGeom prst="ellipse">
            <a:avLst/>
          </a:prstGeom>
          <a:solidFill>
            <a:srgbClr val="FFFFFF"/>
          </a:solidFill>
        </p:spPr>
      </p:pic>
      <p:pic>
        <p:nvPicPr>
          <p:cNvPr id="4" name="Picture 3" descr="Word logo">
            <a:extLst>
              <a:ext uri="{FF2B5EF4-FFF2-40B4-BE49-F238E27FC236}">
                <a16:creationId xmlns:a16="http://schemas.microsoft.com/office/drawing/2014/main" id="{4A355EF7-37CB-62D2-598E-FDBAFA18B8BD}"/>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3182890" y="4793382"/>
            <a:ext cx="246576" cy="246576"/>
          </a:xfrm>
          <a:prstGeom prst="ellipse">
            <a:avLst/>
          </a:prstGeom>
          <a:solidFill>
            <a:srgbClr val="FFFFFF"/>
          </a:solidFill>
        </p:spPr>
      </p:pic>
      <p:pic>
        <p:nvPicPr>
          <p:cNvPr id="5" name="Picture 4" descr="Outlook logo">
            <a:extLst>
              <a:ext uri="{FF2B5EF4-FFF2-40B4-BE49-F238E27FC236}">
                <a16:creationId xmlns:a16="http://schemas.microsoft.com/office/drawing/2014/main" id="{5B7C671B-14B8-C92E-870E-2060431DF12C}"/>
              </a:ext>
            </a:extLst>
          </p:cNvPr>
          <p:cNvPicPr>
            <a:picLocks noChangeAspect="1"/>
          </p:cNvPicPr>
          <p:nvPr/>
        </p:nvPicPr>
        <p:blipFill>
          <a:blip r:embed="rId8"/>
          <a:stretch>
            <a:fillRect/>
          </a:stretch>
        </p:blipFill>
        <p:spPr>
          <a:xfrm>
            <a:off x="3182890" y="2208126"/>
            <a:ext cx="265176" cy="265176"/>
          </a:xfrm>
          <a:prstGeom prst="rect">
            <a:avLst/>
          </a:prstGeom>
        </p:spPr>
      </p:pic>
      <p:pic>
        <p:nvPicPr>
          <p:cNvPr id="6" name="Picture 5" descr="Outlook logo">
            <a:extLst>
              <a:ext uri="{FF2B5EF4-FFF2-40B4-BE49-F238E27FC236}">
                <a16:creationId xmlns:a16="http://schemas.microsoft.com/office/drawing/2014/main" id="{A2377224-003F-F72B-1835-7F39F3A240C1}"/>
              </a:ext>
            </a:extLst>
          </p:cNvPr>
          <p:cNvPicPr>
            <a:picLocks noChangeAspect="1"/>
          </p:cNvPicPr>
          <p:nvPr/>
        </p:nvPicPr>
        <p:blipFill>
          <a:blip r:embed="rId8"/>
          <a:stretch>
            <a:fillRect/>
          </a:stretch>
        </p:blipFill>
        <p:spPr>
          <a:xfrm>
            <a:off x="6076817" y="4775296"/>
            <a:ext cx="265176" cy="265176"/>
          </a:xfrm>
          <a:prstGeom prst="rect">
            <a:avLst/>
          </a:prstGeom>
        </p:spPr>
      </p:pic>
      <p:pic>
        <p:nvPicPr>
          <p:cNvPr id="7" name="Picture 6" descr="Outlook logo">
            <a:extLst>
              <a:ext uri="{FF2B5EF4-FFF2-40B4-BE49-F238E27FC236}">
                <a16:creationId xmlns:a16="http://schemas.microsoft.com/office/drawing/2014/main" id="{18CB4F46-C30B-AD98-5623-85DEE89E4231}"/>
              </a:ext>
            </a:extLst>
          </p:cNvPr>
          <p:cNvPicPr>
            <a:picLocks noChangeAspect="1"/>
          </p:cNvPicPr>
          <p:nvPr/>
        </p:nvPicPr>
        <p:blipFill>
          <a:blip r:embed="rId8"/>
          <a:stretch>
            <a:fillRect/>
          </a:stretch>
        </p:blipFill>
        <p:spPr>
          <a:xfrm>
            <a:off x="8941496" y="4774782"/>
            <a:ext cx="265176" cy="265176"/>
          </a:xfrm>
          <a:prstGeom prst="rect">
            <a:avLst/>
          </a:prstGeom>
        </p:spPr>
      </p:pic>
    </p:spTree>
    <p:extLst>
      <p:ext uri="{BB962C8B-B14F-4D97-AF65-F5344CB8AC3E}">
        <p14:creationId xmlns:p14="http://schemas.microsoft.com/office/powerpoint/2010/main" val="1120616166"/>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6FC9F2-96C7-DE85-4010-9DAD885D2E41}"/>
            </a:ext>
          </a:extLst>
        </p:cNvPr>
        <p:cNvGrpSpPr/>
        <p:nvPr/>
      </p:nvGrpSpPr>
      <p:grpSpPr>
        <a:xfrm>
          <a:off x="0" y="0"/>
          <a:ext cx="0" cy="0"/>
          <a:chOff x="0" y="0"/>
          <a:chExt cx="0" cy="0"/>
        </a:xfrm>
      </p:grpSpPr>
      <p:sp>
        <p:nvSpPr>
          <p:cNvPr id="239" name="Text Placeholder 238">
            <a:extLst>
              <a:ext uri="{FF2B5EF4-FFF2-40B4-BE49-F238E27FC236}">
                <a16:creationId xmlns:a16="http://schemas.microsoft.com/office/drawing/2014/main" id="{B636B11B-3105-6067-A1B7-4C973EA09E67}"/>
              </a:ext>
            </a:extLst>
          </p:cNvPr>
          <p:cNvSpPr>
            <a:spLocks noGrp="1"/>
          </p:cNvSpPr>
          <p:nvPr>
            <p:ph type="body" sz="quarter" idx="32"/>
          </p:nvPr>
        </p:nvSpPr>
        <p:spPr>
          <a:xfrm>
            <a:off x="311388" y="1026303"/>
            <a:ext cx="2431246" cy="1131079"/>
          </a:xfrm>
        </p:spPr>
        <p:txBody>
          <a:bodyPr/>
          <a:lstStyle/>
          <a:p>
            <a:r>
              <a:rPr lang="en-US" noProof="0" dirty="0"/>
              <a:t>Accountants can use AI for help with understanding regulatory changes and updating accounting standards.</a:t>
            </a:r>
          </a:p>
        </p:txBody>
      </p:sp>
      <p:sp>
        <p:nvSpPr>
          <p:cNvPr id="119" name="Text Placeholder 118">
            <a:extLst>
              <a:ext uri="{FF2B5EF4-FFF2-40B4-BE49-F238E27FC236}">
                <a16:creationId xmlns:a16="http://schemas.microsoft.com/office/drawing/2014/main" id="{3D78F738-E019-1A7D-1E38-4BA879C51DA5}"/>
              </a:ext>
            </a:extLst>
          </p:cNvPr>
          <p:cNvSpPr>
            <a:spLocks noGrp="1"/>
          </p:cNvSpPr>
          <p:nvPr>
            <p:ph type="body" sz="quarter" idx="33"/>
          </p:nvPr>
        </p:nvSpPr>
        <p:spPr>
          <a:xfrm>
            <a:off x="304796" y="413987"/>
            <a:ext cx="2057403" cy="307777"/>
          </a:xfrm>
        </p:spPr>
        <p:txBody>
          <a:bodyPr/>
          <a:lstStyle/>
          <a:p>
            <a:r>
              <a:rPr lang="en-US" noProof="0" dirty="0"/>
              <a:t>Finance</a:t>
            </a:r>
          </a:p>
        </p:txBody>
      </p:sp>
      <p:sp>
        <p:nvSpPr>
          <p:cNvPr id="143" name="Text Placeholder 142">
            <a:extLst>
              <a:ext uri="{FF2B5EF4-FFF2-40B4-BE49-F238E27FC236}">
                <a16:creationId xmlns:a16="http://schemas.microsoft.com/office/drawing/2014/main" id="{E683BC37-75B5-88F9-6D28-5AD687310DCE}"/>
              </a:ext>
            </a:extLst>
          </p:cNvPr>
          <p:cNvSpPr>
            <a:spLocks noGrp="1"/>
          </p:cNvSpPr>
          <p:nvPr>
            <p:ph type="body" sz="quarter" idx="30"/>
          </p:nvPr>
        </p:nvSpPr>
        <p:spPr>
          <a:xfrm>
            <a:off x="10430351" y="521099"/>
            <a:ext cx="1456966" cy="175614"/>
          </a:xfrm>
        </p:spPr>
        <p:txBody>
          <a:bodyPr/>
          <a:lstStyle/>
          <a:p>
            <a:r>
              <a:rPr lang="en-US" noProof="0" dirty="0"/>
              <a:t>Buy</a:t>
            </a:r>
          </a:p>
        </p:txBody>
      </p:sp>
      <p:sp>
        <p:nvSpPr>
          <p:cNvPr id="141" name="Text Placeholder 140">
            <a:extLst>
              <a:ext uri="{FF2B5EF4-FFF2-40B4-BE49-F238E27FC236}">
                <a16:creationId xmlns:a16="http://schemas.microsoft.com/office/drawing/2014/main" id="{D61A2000-5A1E-F978-DB5B-7474F3AE467C}"/>
              </a:ext>
            </a:extLst>
          </p:cNvPr>
          <p:cNvSpPr>
            <a:spLocks noGrp="1"/>
          </p:cNvSpPr>
          <p:nvPr>
            <p:ph type="body" sz="quarter" idx="17"/>
          </p:nvPr>
        </p:nvSpPr>
        <p:spPr>
          <a:xfrm>
            <a:off x="7149557" y="521100"/>
            <a:ext cx="2969488" cy="169277"/>
          </a:xfrm>
        </p:spPr>
        <p:txBody>
          <a:bodyPr/>
          <a:lstStyle/>
          <a:p>
            <a:r>
              <a:rPr lang="en-US" noProof="0" dirty="0"/>
              <a:t>Microsoft 365 Copilot</a:t>
            </a:r>
          </a:p>
        </p:txBody>
      </p:sp>
      <p:sp>
        <p:nvSpPr>
          <p:cNvPr id="88" name="Title 87">
            <a:extLst>
              <a:ext uri="{FF2B5EF4-FFF2-40B4-BE49-F238E27FC236}">
                <a16:creationId xmlns:a16="http://schemas.microsoft.com/office/drawing/2014/main" id="{F3740677-9E8E-664D-86E8-4C5B6F6A74BF}"/>
              </a:ext>
            </a:extLst>
          </p:cNvPr>
          <p:cNvSpPr>
            <a:spLocks noGrp="1"/>
          </p:cNvSpPr>
          <p:nvPr>
            <p:ph type="title"/>
          </p:nvPr>
        </p:nvSpPr>
        <p:spPr>
          <a:xfrm>
            <a:off x="2492556" y="429376"/>
            <a:ext cx="4144817" cy="276999"/>
          </a:xfrm>
        </p:spPr>
        <p:txBody>
          <a:bodyPr/>
          <a:lstStyle/>
          <a:p>
            <a:r>
              <a:rPr lang="en-US" noProof="0" dirty="0"/>
              <a:t>Accounting document evaluation</a:t>
            </a:r>
          </a:p>
        </p:txBody>
      </p:sp>
      <p:sp>
        <p:nvSpPr>
          <p:cNvPr id="173" name="Text Placeholder 172">
            <a:extLst>
              <a:ext uri="{FF2B5EF4-FFF2-40B4-BE49-F238E27FC236}">
                <a16:creationId xmlns:a16="http://schemas.microsoft.com/office/drawing/2014/main" id="{AFC43CF6-1827-EE00-6400-EC343C0C6629}"/>
              </a:ext>
            </a:extLst>
          </p:cNvPr>
          <p:cNvSpPr>
            <a:spLocks noGrp="1"/>
          </p:cNvSpPr>
          <p:nvPr>
            <p:ph type="body" sz="quarter" idx="69"/>
          </p:nvPr>
        </p:nvSpPr>
        <p:spPr>
          <a:xfrm>
            <a:off x="3182890" y="2725494"/>
            <a:ext cx="2572262" cy="712876"/>
          </a:xfrm>
        </p:spPr>
        <p:txBody>
          <a:bodyPr/>
          <a:lstStyle/>
          <a:p>
            <a:r>
              <a:rPr lang="en-US" noProof="0" dirty="0"/>
              <a:t>Example prompt: </a:t>
            </a:r>
            <a:r>
              <a:rPr lang="en-US" noProof="0" dirty="0">
                <a:latin typeface="+mj-lt"/>
              </a:rPr>
              <a:t>Find and summarize </a:t>
            </a:r>
            <a:r>
              <a:rPr lang="en-US" noProof="0" dirty="0"/>
              <a:t>information from the web on the latest accounting regulations.</a:t>
            </a:r>
          </a:p>
        </p:txBody>
      </p:sp>
      <p:sp>
        <p:nvSpPr>
          <p:cNvPr id="140" name="Text Placeholder 139">
            <a:extLst>
              <a:ext uri="{FF2B5EF4-FFF2-40B4-BE49-F238E27FC236}">
                <a16:creationId xmlns:a16="http://schemas.microsoft.com/office/drawing/2014/main" id="{00F8BF02-E479-E6BC-3E34-0951C682DACA}"/>
              </a:ext>
            </a:extLst>
          </p:cNvPr>
          <p:cNvSpPr>
            <a:spLocks noGrp="1"/>
          </p:cNvSpPr>
          <p:nvPr>
            <p:ph type="body" sz="quarter" idx="11"/>
          </p:nvPr>
        </p:nvSpPr>
        <p:spPr>
          <a:xfrm>
            <a:off x="3182890" y="1112478"/>
            <a:ext cx="2572262" cy="153888"/>
          </a:xfrm>
        </p:spPr>
        <p:txBody>
          <a:bodyPr/>
          <a:lstStyle/>
          <a:p>
            <a:r>
              <a:rPr lang="en-US" noProof="0" dirty="0"/>
              <a:t>Summarize requirements</a:t>
            </a:r>
          </a:p>
        </p:txBody>
      </p:sp>
      <p:sp>
        <p:nvSpPr>
          <p:cNvPr id="142" name="Text Placeholder 141">
            <a:extLst>
              <a:ext uri="{FF2B5EF4-FFF2-40B4-BE49-F238E27FC236}">
                <a16:creationId xmlns:a16="http://schemas.microsoft.com/office/drawing/2014/main" id="{D5432BBA-2371-1344-2F38-DBE04FAAD625}"/>
              </a:ext>
            </a:extLst>
          </p:cNvPr>
          <p:cNvSpPr>
            <a:spLocks noGrp="1"/>
          </p:cNvSpPr>
          <p:nvPr>
            <p:ph type="body" sz="quarter" idx="18"/>
          </p:nvPr>
        </p:nvSpPr>
        <p:spPr>
          <a:xfrm>
            <a:off x="3182890" y="1438715"/>
            <a:ext cx="2572262" cy="626701"/>
          </a:xfrm>
        </p:spPr>
        <p:txBody>
          <a:bodyPr/>
          <a:lstStyle/>
          <a:p>
            <a:r>
              <a:rPr lang="en-US" noProof="0" dirty="0"/>
              <a:t>Prompt Copilot to find and reference the most recent accounting standards changes related to cloud computing.</a:t>
            </a:r>
          </a:p>
        </p:txBody>
      </p:sp>
      <p:sp>
        <p:nvSpPr>
          <p:cNvPr id="146" name="Text Placeholder 145">
            <a:extLst>
              <a:ext uri="{FF2B5EF4-FFF2-40B4-BE49-F238E27FC236}">
                <a16:creationId xmlns:a16="http://schemas.microsoft.com/office/drawing/2014/main" id="{1A4E612C-F5FE-C1DE-7784-74130E317A71}"/>
              </a:ext>
            </a:extLst>
          </p:cNvPr>
          <p:cNvSpPr>
            <a:spLocks noGrp="1"/>
          </p:cNvSpPr>
          <p:nvPr>
            <p:ph type="body" sz="quarter" idx="42"/>
          </p:nvPr>
        </p:nvSpPr>
        <p:spPr>
          <a:xfrm>
            <a:off x="6066682" y="1112478"/>
            <a:ext cx="2572262" cy="153888"/>
          </a:xfrm>
        </p:spPr>
        <p:txBody>
          <a:bodyPr/>
          <a:lstStyle/>
          <a:p>
            <a:r>
              <a:rPr lang="en-US" noProof="0" dirty="0"/>
              <a:t>Discover documents</a:t>
            </a:r>
          </a:p>
        </p:txBody>
      </p:sp>
      <p:sp>
        <p:nvSpPr>
          <p:cNvPr id="147" name="Text Placeholder 146">
            <a:extLst>
              <a:ext uri="{FF2B5EF4-FFF2-40B4-BE49-F238E27FC236}">
                <a16:creationId xmlns:a16="http://schemas.microsoft.com/office/drawing/2014/main" id="{11F72DC4-A6B8-B8C4-C1D4-9965D2C86374}"/>
              </a:ext>
            </a:extLst>
          </p:cNvPr>
          <p:cNvSpPr>
            <a:spLocks noGrp="1"/>
          </p:cNvSpPr>
          <p:nvPr>
            <p:ph type="body" sz="quarter" idx="43"/>
          </p:nvPr>
        </p:nvSpPr>
        <p:spPr>
          <a:xfrm>
            <a:off x="6066682" y="1438715"/>
            <a:ext cx="2572262" cy="626701"/>
          </a:xfrm>
        </p:spPr>
        <p:txBody>
          <a:bodyPr/>
          <a:lstStyle/>
          <a:p>
            <a:r>
              <a:rPr lang="en-US" noProof="0" dirty="0"/>
              <a:t>Ask Copilot to find the relevant work documents that need updating.</a:t>
            </a:r>
          </a:p>
        </p:txBody>
      </p:sp>
      <p:sp>
        <p:nvSpPr>
          <p:cNvPr id="151" name="Text Placeholder 150">
            <a:extLst>
              <a:ext uri="{FF2B5EF4-FFF2-40B4-BE49-F238E27FC236}">
                <a16:creationId xmlns:a16="http://schemas.microsoft.com/office/drawing/2014/main" id="{BDCC1984-E3D1-7C09-8DB1-DFDD58D9BC3D}"/>
              </a:ext>
            </a:extLst>
          </p:cNvPr>
          <p:cNvSpPr>
            <a:spLocks noGrp="1"/>
          </p:cNvSpPr>
          <p:nvPr>
            <p:ph type="body" sz="quarter" idx="68"/>
          </p:nvPr>
        </p:nvSpPr>
        <p:spPr>
          <a:xfrm>
            <a:off x="8950475" y="2725494"/>
            <a:ext cx="2572262" cy="712876"/>
          </a:xfrm>
        </p:spPr>
        <p:txBody>
          <a:bodyPr/>
          <a:lstStyle/>
          <a:p>
            <a:r>
              <a:rPr lang="en-US" noProof="0" dirty="0"/>
              <a:t>Example prompt: </a:t>
            </a:r>
            <a:r>
              <a:rPr lang="en-US" noProof="0" dirty="0">
                <a:latin typeface="+mj-lt"/>
              </a:rPr>
              <a:t>Suggest updates </a:t>
            </a:r>
            <a:r>
              <a:rPr lang="en-US" noProof="0" dirty="0"/>
              <a:t>to [Document.docx] based on [U.S. GAAP ASU 1234–56 Subtopic 123–45].</a:t>
            </a:r>
          </a:p>
        </p:txBody>
      </p:sp>
      <p:sp>
        <p:nvSpPr>
          <p:cNvPr id="149" name="Text Placeholder 148">
            <a:extLst>
              <a:ext uri="{FF2B5EF4-FFF2-40B4-BE49-F238E27FC236}">
                <a16:creationId xmlns:a16="http://schemas.microsoft.com/office/drawing/2014/main" id="{A88C49CE-2ADB-17EA-6E37-4302B7FA19DA}"/>
              </a:ext>
            </a:extLst>
          </p:cNvPr>
          <p:cNvSpPr>
            <a:spLocks noGrp="1"/>
          </p:cNvSpPr>
          <p:nvPr>
            <p:ph type="body" sz="quarter" idx="45"/>
          </p:nvPr>
        </p:nvSpPr>
        <p:spPr>
          <a:xfrm>
            <a:off x="8950475" y="1112478"/>
            <a:ext cx="2572262" cy="153888"/>
          </a:xfrm>
        </p:spPr>
        <p:txBody>
          <a:bodyPr/>
          <a:lstStyle/>
          <a:p>
            <a:r>
              <a:rPr lang="en-US" noProof="0" dirty="0"/>
              <a:t>Make updates</a:t>
            </a:r>
          </a:p>
        </p:txBody>
      </p:sp>
      <p:sp>
        <p:nvSpPr>
          <p:cNvPr id="150" name="Text Placeholder 149">
            <a:extLst>
              <a:ext uri="{FF2B5EF4-FFF2-40B4-BE49-F238E27FC236}">
                <a16:creationId xmlns:a16="http://schemas.microsoft.com/office/drawing/2014/main" id="{5C914622-760F-3E46-9516-9EF31EA723BA}"/>
              </a:ext>
            </a:extLst>
          </p:cNvPr>
          <p:cNvSpPr>
            <a:spLocks noGrp="1"/>
          </p:cNvSpPr>
          <p:nvPr>
            <p:ph type="body" sz="quarter" idx="46"/>
          </p:nvPr>
        </p:nvSpPr>
        <p:spPr>
          <a:xfrm>
            <a:off x="8950475" y="1438715"/>
            <a:ext cx="2572262" cy="626701"/>
          </a:xfrm>
        </p:spPr>
        <p:txBody>
          <a:bodyPr/>
          <a:lstStyle/>
          <a:p>
            <a:r>
              <a:rPr lang="en-US" noProof="0" dirty="0"/>
              <a:t>Make updates to the relevant documents based on the new standards, leveraging suggestions from Copilot to edit the Word document.</a:t>
            </a:r>
          </a:p>
        </p:txBody>
      </p:sp>
      <p:sp>
        <p:nvSpPr>
          <p:cNvPr id="176" name="Text Placeholder 175">
            <a:extLst>
              <a:ext uri="{FF2B5EF4-FFF2-40B4-BE49-F238E27FC236}">
                <a16:creationId xmlns:a16="http://schemas.microsoft.com/office/drawing/2014/main" id="{D5411374-53D7-6219-87AF-C805307D6B68}"/>
              </a:ext>
            </a:extLst>
          </p:cNvPr>
          <p:cNvSpPr>
            <a:spLocks noGrp="1"/>
          </p:cNvSpPr>
          <p:nvPr>
            <p:ph type="body" sz="quarter" idx="70"/>
          </p:nvPr>
        </p:nvSpPr>
        <p:spPr>
          <a:xfrm>
            <a:off x="6066682" y="2725494"/>
            <a:ext cx="2572262" cy="712876"/>
          </a:xfrm>
        </p:spPr>
        <p:txBody>
          <a:bodyPr/>
          <a:lstStyle/>
          <a:p>
            <a:r>
              <a:rPr lang="en-US" noProof="0" dirty="0"/>
              <a:t>Example prompt: </a:t>
            </a:r>
            <a:r>
              <a:rPr lang="en-US" noProof="0" dirty="0">
                <a:latin typeface="+mj-lt"/>
              </a:rPr>
              <a:t>Find documents </a:t>
            </a:r>
            <a:r>
              <a:rPr lang="en-US" noProof="0" dirty="0"/>
              <a:t>that are relevant to the modified standards. Suggest changes to the documents to align with new regulations.</a:t>
            </a:r>
          </a:p>
        </p:txBody>
      </p:sp>
      <p:sp>
        <p:nvSpPr>
          <p:cNvPr id="152" name="Text Placeholder 151">
            <a:extLst>
              <a:ext uri="{FF2B5EF4-FFF2-40B4-BE49-F238E27FC236}">
                <a16:creationId xmlns:a16="http://schemas.microsoft.com/office/drawing/2014/main" id="{477441F0-9E27-9EC6-DE35-569117189095}"/>
              </a:ext>
            </a:extLst>
          </p:cNvPr>
          <p:cNvSpPr>
            <a:spLocks noGrp="1"/>
          </p:cNvSpPr>
          <p:nvPr>
            <p:ph type="body" sz="quarter" idx="48"/>
          </p:nvPr>
        </p:nvSpPr>
        <p:spPr>
          <a:xfrm>
            <a:off x="3182890" y="5334522"/>
            <a:ext cx="2572262" cy="712876"/>
          </a:xfrm>
        </p:spPr>
        <p:txBody>
          <a:bodyPr/>
          <a:lstStyle/>
          <a:p>
            <a:r>
              <a:rPr lang="en-US" noProof="0" dirty="0"/>
              <a:t>Example prompt: </a:t>
            </a:r>
            <a:r>
              <a:rPr lang="en-US" noProof="0" dirty="0">
                <a:latin typeface="+mj-lt"/>
              </a:rPr>
              <a:t>Draft an email </a:t>
            </a:r>
            <a:r>
              <a:rPr lang="en-US" noProof="0" dirty="0"/>
              <a:t>outlining key changes to the document and next steps for review.</a:t>
            </a:r>
          </a:p>
        </p:txBody>
      </p:sp>
      <p:sp>
        <p:nvSpPr>
          <p:cNvPr id="153" name="Text Placeholder 152">
            <a:extLst>
              <a:ext uri="{FF2B5EF4-FFF2-40B4-BE49-F238E27FC236}">
                <a16:creationId xmlns:a16="http://schemas.microsoft.com/office/drawing/2014/main" id="{AE675916-DFEF-02A3-014A-63F1780F9C42}"/>
              </a:ext>
            </a:extLst>
          </p:cNvPr>
          <p:cNvSpPr>
            <a:spLocks noGrp="1"/>
          </p:cNvSpPr>
          <p:nvPr>
            <p:ph type="body" sz="quarter" idx="49"/>
          </p:nvPr>
        </p:nvSpPr>
        <p:spPr>
          <a:xfrm>
            <a:off x="3182890" y="3725103"/>
            <a:ext cx="2572262" cy="153888"/>
          </a:xfrm>
        </p:spPr>
        <p:txBody>
          <a:bodyPr/>
          <a:lstStyle/>
          <a:p>
            <a:r>
              <a:rPr lang="en-US" noProof="0" dirty="0"/>
              <a:t>Draft an email</a:t>
            </a:r>
          </a:p>
        </p:txBody>
      </p:sp>
      <p:sp>
        <p:nvSpPr>
          <p:cNvPr id="154" name="Text Placeholder 153">
            <a:extLst>
              <a:ext uri="{FF2B5EF4-FFF2-40B4-BE49-F238E27FC236}">
                <a16:creationId xmlns:a16="http://schemas.microsoft.com/office/drawing/2014/main" id="{7D5E327A-96FB-1115-792A-BAAEEE616FBA}"/>
              </a:ext>
            </a:extLst>
          </p:cNvPr>
          <p:cNvSpPr>
            <a:spLocks noGrp="1"/>
          </p:cNvSpPr>
          <p:nvPr>
            <p:ph type="body" sz="quarter" idx="50"/>
          </p:nvPr>
        </p:nvSpPr>
        <p:spPr>
          <a:xfrm>
            <a:off x="3182890" y="4050957"/>
            <a:ext cx="2572262" cy="626701"/>
          </a:xfrm>
        </p:spPr>
        <p:txBody>
          <a:bodyPr/>
          <a:lstStyle/>
          <a:p>
            <a:r>
              <a:rPr lang="en-US" noProof="0" dirty="0"/>
              <a:t>Use Copilot in Outlook to draft an email to your manager, including a summary of the updates you made and next steps.</a:t>
            </a:r>
          </a:p>
        </p:txBody>
      </p:sp>
      <p:sp>
        <p:nvSpPr>
          <p:cNvPr id="170" name="Text Placeholder 169">
            <a:extLst>
              <a:ext uri="{FF2B5EF4-FFF2-40B4-BE49-F238E27FC236}">
                <a16:creationId xmlns:a16="http://schemas.microsoft.com/office/drawing/2014/main" id="{F40280EA-DA21-B66B-6C25-6A9EDD00C825}"/>
              </a:ext>
            </a:extLst>
          </p:cNvPr>
          <p:cNvSpPr>
            <a:spLocks noGrp="1"/>
          </p:cNvSpPr>
          <p:nvPr>
            <p:ph type="body" sz="quarter" idx="51"/>
          </p:nvPr>
        </p:nvSpPr>
        <p:spPr>
          <a:xfrm>
            <a:off x="6066682" y="3725103"/>
            <a:ext cx="2572262" cy="153888"/>
          </a:xfrm>
        </p:spPr>
        <p:txBody>
          <a:bodyPr/>
          <a:lstStyle/>
          <a:p>
            <a:r>
              <a:rPr lang="en-US" noProof="0" dirty="0"/>
              <a:t>Summarize updates</a:t>
            </a:r>
          </a:p>
        </p:txBody>
      </p:sp>
      <p:sp>
        <p:nvSpPr>
          <p:cNvPr id="171" name="Text Placeholder 170">
            <a:extLst>
              <a:ext uri="{FF2B5EF4-FFF2-40B4-BE49-F238E27FC236}">
                <a16:creationId xmlns:a16="http://schemas.microsoft.com/office/drawing/2014/main" id="{3C67D722-1385-4CBB-F45F-B167AAD34C37}"/>
              </a:ext>
            </a:extLst>
          </p:cNvPr>
          <p:cNvSpPr>
            <a:spLocks noGrp="1"/>
          </p:cNvSpPr>
          <p:nvPr>
            <p:ph type="body" sz="quarter" idx="52"/>
          </p:nvPr>
        </p:nvSpPr>
        <p:spPr>
          <a:xfrm>
            <a:off x="6066682" y="4050957"/>
            <a:ext cx="2572262" cy="626701"/>
          </a:xfrm>
        </p:spPr>
        <p:txBody>
          <a:bodyPr/>
          <a:lstStyle/>
          <a:p>
            <a:r>
              <a:rPr lang="en-US" noProof="0" dirty="0"/>
              <a:t>Summarize the updated document using Copilot Chat in Word</a:t>
            </a:r>
          </a:p>
        </p:txBody>
      </p:sp>
      <p:sp>
        <p:nvSpPr>
          <p:cNvPr id="145" name="Text Placeholder 144">
            <a:extLst>
              <a:ext uri="{FF2B5EF4-FFF2-40B4-BE49-F238E27FC236}">
                <a16:creationId xmlns:a16="http://schemas.microsoft.com/office/drawing/2014/main" id="{518A4CFD-53A0-D0A5-5513-CF456E5D47F9}"/>
              </a:ext>
            </a:extLst>
          </p:cNvPr>
          <p:cNvSpPr>
            <a:spLocks noGrp="1"/>
          </p:cNvSpPr>
          <p:nvPr>
            <p:ph type="body" sz="quarter" idx="66"/>
          </p:nvPr>
        </p:nvSpPr>
        <p:spPr>
          <a:xfrm>
            <a:off x="8950475" y="5334522"/>
            <a:ext cx="2572262" cy="712876"/>
          </a:xfrm>
        </p:spPr>
        <p:txBody>
          <a:bodyPr/>
          <a:lstStyle/>
          <a:p>
            <a:r>
              <a:rPr lang="en-US" noProof="0" dirty="0"/>
              <a:t>Example prompt: </a:t>
            </a:r>
            <a:r>
              <a:rPr lang="en-US" noProof="0" dirty="0">
                <a:latin typeface="+mj-lt"/>
              </a:rPr>
              <a:t>Recap the last meeting </a:t>
            </a:r>
            <a:r>
              <a:rPr lang="en-US" noProof="0" dirty="0"/>
              <a:t>with my manager, highlighting action items.</a:t>
            </a:r>
          </a:p>
        </p:txBody>
      </p:sp>
      <p:sp>
        <p:nvSpPr>
          <p:cNvPr id="174" name="Text Placeholder 173">
            <a:extLst>
              <a:ext uri="{FF2B5EF4-FFF2-40B4-BE49-F238E27FC236}">
                <a16:creationId xmlns:a16="http://schemas.microsoft.com/office/drawing/2014/main" id="{2D3EEB58-21DE-511F-6C6F-8314B45A0CD9}"/>
              </a:ext>
            </a:extLst>
          </p:cNvPr>
          <p:cNvSpPr>
            <a:spLocks noGrp="1"/>
          </p:cNvSpPr>
          <p:nvPr>
            <p:ph type="body" sz="quarter" idx="54"/>
          </p:nvPr>
        </p:nvSpPr>
        <p:spPr>
          <a:xfrm>
            <a:off x="8950475" y="3725103"/>
            <a:ext cx="2572262" cy="153888"/>
          </a:xfrm>
        </p:spPr>
        <p:txBody>
          <a:bodyPr/>
          <a:lstStyle/>
          <a:p>
            <a:r>
              <a:rPr lang="en-US" noProof="0" dirty="0"/>
              <a:t>Recap meeting</a:t>
            </a:r>
          </a:p>
        </p:txBody>
      </p:sp>
      <p:sp>
        <p:nvSpPr>
          <p:cNvPr id="175" name="Text Placeholder 174">
            <a:extLst>
              <a:ext uri="{FF2B5EF4-FFF2-40B4-BE49-F238E27FC236}">
                <a16:creationId xmlns:a16="http://schemas.microsoft.com/office/drawing/2014/main" id="{049F2282-EF9B-10FC-56C2-9A7D7BD09457}"/>
              </a:ext>
            </a:extLst>
          </p:cNvPr>
          <p:cNvSpPr>
            <a:spLocks noGrp="1"/>
          </p:cNvSpPr>
          <p:nvPr>
            <p:ph type="body" sz="quarter" idx="55"/>
          </p:nvPr>
        </p:nvSpPr>
        <p:spPr>
          <a:xfrm>
            <a:off x="8950475" y="4050957"/>
            <a:ext cx="2572262" cy="626701"/>
          </a:xfrm>
        </p:spPr>
        <p:txBody>
          <a:bodyPr/>
          <a:lstStyle/>
          <a:p>
            <a:r>
              <a:rPr lang="en-US" noProof="0" dirty="0"/>
              <a:t>Use Copilot to review necessary steps and action items from an earlier meeting with your manager where they outlined their request to update a document based on new accounting guidance. </a:t>
            </a:r>
          </a:p>
        </p:txBody>
      </p:sp>
      <p:sp>
        <p:nvSpPr>
          <p:cNvPr id="148" name="Text Placeholder 147">
            <a:extLst>
              <a:ext uri="{FF2B5EF4-FFF2-40B4-BE49-F238E27FC236}">
                <a16:creationId xmlns:a16="http://schemas.microsoft.com/office/drawing/2014/main" id="{3DB519D2-4E14-49D0-FD68-074E5A48BCE2}"/>
              </a:ext>
            </a:extLst>
          </p:cNvPr>
          <p:cNvSpPr>
            <a:spLocks noGrp="1"/>
          </p:cNvSpPr>
          <p:nvPr>
            <p:ph type="body" sz="quarter" idx="67"/>
          </p:nvPr>
        </p:nvSpPr>
        <p:spPr>
          <a:xfrm>
            <a:off x="6066682" y="5334522"/>
            <a:ext cx="2572262" cy="712876"/>
          </a:xfrm>
        </p:spPr>
        <p:txBody>
          <a:bodyPr/>
          <a:lstStyle/>
          <a:p>
            <a:r>
              <a:rPr lang="en-US" noProof="0" dirty="0"/>
              <a:t>Example prompt: </a:t>
            </a:r>
            <a:r>
              <a:rPr lang="en-US" noProof="0" dirty="0">
                <a:latin typeface="+mj-lt"/>
              </a:rPr>
              <a:t>Generate a bulleted list </a:t>
            </a:r>
            <a:r>
              <a:rPr lang="en-US" noProof="0" dirty="0"/>
              <a:t>that summarizes the updated section in [document.docx] about cloud computing.</a:t>
            </a:r>
          </a:p>
        </p:txBody>
      </p:sp>
      <p:sp>
        <p:nvSpPr>
          <p:cNvPr id="177" name="Text Placeholder 176">
            <a:extLst>
              <a:ext uri="{FF2B5EF4-FFF2-40B4-BE49-F238E27FC236}">
                <a16:creationId xmlns:a16="http://schemas.microsoft.com/office/drawing/2014/main" id="{1683B509-C01E-D6CB-FE10-2B0EE7F770D7}"/>
              </a:ext>
            </a:extLst>
          </p:cNvPr>
          <p:cNvSpPr>
            <a:spLocks noGrp="1"/>
          </p:cNvSpPr>
          <p:nvPr>
            <p:ph type="body" sz="quarter" idx="64"/>
          </p:nvPr>
        </p:nvSpPr>
        <p:spPr>
          <a:xfrm>
            <a:off x="320721" y="4709762"/>
            <a:ext cx="1131651" cy="219456"/>
          </a:xfrm>
        </p:spPr>
        <p:txBody>
          <a:bodyPr/>
          <a:lstStyle/>
          <a:p>
            <a:r>
              <a:rPr lang="en-US" noProof="0" dirty="0"/>
              <a:t>Value benefit</a:t>
            </a:r>
          </a:p>
        </p:txBody>
      </p:sp>
      <p:sp>
        <p:nvSpPr>
          <p:cNvPr id="178" name="Text Placeholder 177">
            <a:extLst>
              <a:ext uri="{FF2B5EF4-FFF2-40B4-BE49-F238E27FC236}">
                <a16:creationId xmlns:a16="http://schemas.microsoft.com/office/drawing/2014/main" id="{2D675221-1121-7558-52FF-53B57D8EC9E3}"/>
              </a:ext>
            </a:extLst>
          </p:cNvPr>
          <p:cNvSpPr>
            <a:spLocks noGrp="1"/>
          </p:cNvSpPr>
          <p:nvPr>
            <p:ph type="body" sz="quarter" idx="65"/>
          </p:nvPr>
        </p:nvSpPr>
        <p:spPr>
          <a:xfrm>
            <a:off x="320721" y="3467940"/>
            <a:ext cx="1131650" cy="219456"/>
          </a:xfrm>
        </p:spPr>
        <p:txBody>
          <a:bodyPr/>
          <a:lstStyle/>
          <a:p>
            <a:r>
              <a:rPr lang="en-US" noProof="0" dirty="0"/>
              <a:t>KPIs impacted</a:t>
            </a:r>
          </a:p>
        </p:txBody>
      </p:sp>
      <p:grpSp>
        <p:nvGrpSpPr>
          <p:cNvPr id="206" name="Group 205">
            <a:extLst>
              <a:ext uri="{FF2B5EF4-FFF2-40B4-BE49-F238E27FC236}">
                <a16:creationId xmlns:a16="http://schemas.microsoft.com/office/drawing/2014/main" id="{C2ABEAD6-362E-4A6F-679E-3D14B98BC70F}"/>
              </a:ext>
            </a:extLst>
          </p:cNvPr>
          <p:cNvGrpSpPr/>
          <p:nvPr/>
        </p:nvGrpSpPr>
        <p:grpSpPr>
          <a:xfrm>
            <a:off x="320719" y="5020658"/>
            <a:ext cx="1771605" cy="216000"/>
            <a:chOff x="320719" y="4224856"/>
            <a:chExt cx="1771605" cy="219456"/>
          </a:xfrm>
        </p:grpSpPr>
        <p:sp>
          <p:nvSpPr>
            <p:cNvPr id="207" name="Rectangle: Rounded Corners 6">
              <a:extLst>
                <a:ext uri="{FF2B5EF4-FFF2-40B4-BE49-F238E27FC236}">
                  <a16:creationId xmlns:a16="http://schemas.microsoft.com/office/drawing/2014/main" id="{F1A15452-1DA6-3405-4A13-DE0CE0CD9625}"/>
                </a:ext>
                <a:ext uri="{C183D7F6-B498-43B3-948B-1728B52AA6E4}">
                  <adec:decorative xmlns:adec="http://schemas.microsoft.com/office/drawing/2017/decorative" val="1"/>
                </a:ext>
              </a:extLst>
            </p:cNvPr>
            <p:cNvSpPr/>
            <p:nvPr/>
          </p:nvSpPr>
          <p:spPr bwMode="auto">
            <a:xfrm>
              <a:off x="320719" y="4224856"/>
              <a:ext cx="1771605" cy="219456"/>
            </a:xfrm>
            <a:prstGeom prst="roundRect">
              <a:avLst>
                <a:gd name="adj" fmla="val 50000"/>
              </a:avLst>
            </a:prstGeom>
            <a:solidFill>
              <a:srgbClr val="FFFFFF"/>
            </a:solidFill>
            <a:ln w="12700">
              <a:solidFill>
                <a:srgbClr val="C03BC4"/>
              </a:solidFill>
              <a:headEnd type="none" w="med" len="med"/>
              <a:tailEnd type="none" w="med" len="med"/>
            </a:ln>
            <a:effectLst>
              <a:outerShdw blurRad="63500" dist="63500" dir="2700000"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16000" tIns="36576" rIns="36000" bIns="36000" numCol="1" spcCol="0" rtlCol="0" fromWordArt="0" anchor="ctr" anchorCtr="0" forceAA="0" compatLnSpc="1">
              <a:prstTxWarp prst="textNoShape">
                <a:avLst/>
              </a:prstTxWarp>
              <a:noAutofit/>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C03BC4"/>
                  </a:solidFill>
                  <a:effectLst/>
                  <a:uLnTx/>
                  <a:uFillTx/>
                  <a:latin typeface="Segoe UI Semibold" panose="020B0702040204020203" pitchFamily="34" charset="0"/>
                  <a:ea typeface="+mn-ea"/>
                  <a:cs typeface="Segoe UI Semibold" panose="020B0702040204020203" pitchFamily="34" charset="0"/>
                </a:rPr>
                <a:t>Cost savings</a:t>
              </a:r>
            </a:p>
          </p:txBody>
        </p:sp>
        <p:pic>
          <p:nvPicPr>
            <p:cNvPr id="208" name="Graphic 207">
              <a:extLst>
                <a:ext uri="{FF2B5EF4-FFF2-40B4-BE49-F238E27FC236}">
                  <a16:creationId xmlns:a16="http://schemas.microsoft.com/office/drawing/2014/main" id="{194B82A3-5CF5-F3DA-338E-7295A0DDF8D9}"/>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67506" y="4260849"/>
              <a:ext cx="144000" cy="144000"/>
            </a:xfrm>
            <a:prstGeom prst="rect">
              <a:avLst/>
            </a:prstGeom>
          </p:spPr>
        </p:pic>
      </p:grpSp>
      <p:grpSp>
        <p:nvGrpSpPr>
          <p:cNvPr id="212" name="Group 211">
            <a:extLst>
              <a:ext uri="{FF2B5EF4-FFF2-40B4-BE49-F238E27FC236}">
                <a16:creationId xmlns:a16="http://schemas.microsoft.com/office/drawing/2014/main" id="{D878EE7C-3D4B-0E6E-9760-AD8A885024A1}"/>
              </a:ext>
            </a:extLst>
          </p:cNvPr>
          <p:cNvGrpSpPr/>
          <p:nvPr/>
        </p:nvGrpSpPr>
        <p:grpSpPr>
          <a:xfrm>
            <a:off x="320719" y="3778836"/>
            <a:ext cx="1771605" cy="216000"/>
            <a:chOff x="320719" y="4224856"/>
            <a:chExt cx="1771605" cy="219456"/>
          </a:xfrm>
        </p:grpSpPr>
        <p:sp>
          <p:nvSpPr>
            <p:cNvPr id="213" name="Rectangle: Rounded Corners 6">
              <a:extLst>
                <a:ext uri="{FF2B5EF4-FFF2-40B4-BE49-F238E27FC236}">
                  <a16:creationId xmlns:a16="http://schemas.microsoft.com/office/drawing/2014/main" id="{5181EC74-92BA-E293-07D7-C2B54F343086}"/>
                </a:ext>
                <a:ext uri="{C183D7F6-B498-43B3-948B-1728B52AA6E4}">
                  <adec:decorative xmlns:adec="http://schemas.microsoft.com/office/drawing/2017/decorative" val="1"/>
                </a:ext>
              </a:extLst>
            </p:cNvPr>
            <p:cNvSpPr/>
            <p:nvPr/>
          </p:nvSpPr>
          <p:spPr bwMode="auto">
            <a:xfrm>
              <a:off x="320719" y="4224856"/>
              <a:ext cx="1771605" cy="219456"/>
            </a:xfrm>
            <a:prstGeom prst="roundRect">
              <a:avLst>
                <a:gd name="adj" fmla="val 50000"/>
              </a:avLst>
            </a:prstGeom>
            <a:solidFill>
              <a:srgbClr val="FFFFFF"/>
            </a:solidFill>
            <a:ln w="12700">
              <a:solidFill>
                <a:srgbClr val="0078D4"/>
              </a:solidFill>
              <a:headEnd type="none" w="med" len="med"/>
              <a:tailEnd type="none" w="med" len="med"/>
            </a:ln>
            <a:effectLst>
              <a:outerShdw blurRad="63500" dist="63500" dir="2700000"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16000" tIns="36576" rIns="36000" bIns="36000" numCol="1" spcCol="0" rtlCol="0" fromWordArt="0" anchor="ctr" anchorCtr="0" forceAA="0" compatLnSpc="1">
              <a:prstTxWarp prst="textNoShape">
                <a:avLst/>
              </a:prstTxWarp>
              <a:noAutofit/>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78D4"/>
                  </a:solidFill>
                  <a:effectLst/>
                  <a:uLnTx/>
                  <a:uFillTx/>
                  <a:latin typeface="Segoe UI Semibold" panose="020B0702040204020203" pitchFamily="34" charset="0"/>
                  <a:ea typeface="+mn-ea"/>
                  <a:cs typeface="Segoe UI Semibold" panose="020B0702040204020203" pitchFamily="34" charset="0"/>
                </a:rPr>
                <a:t>Improve risk management</a:t>
              </a:r>
            </a:p>
          </p:txBody>
        </p:sp>
        <p:pic>
          <p:nvPicPr>
            <p:cNvPr id="214" name="Graphic 213">
              <a:extLst>
                <a:ext uri="{FF2B5EF4-FFF2-40B4-BE49-F238E27FC236}">
                  <a16:creationId xmlns:a16="http://schemas.microsoft.com/office/drawing/2014/main" id="{0F8E49E5-4DB7-A48C-0797-0679741267C4}"/>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367506" y="4260849"/>
              <a:ext cx="144000" cy="144000"/>
            </a:xfrm>
            <a:prstGeom prst="rect">
              <a:avLst/>
            </a:prstGeom>
          </p:spPr>
        </p:pic>
      </p:grpSp>
      <p:sp>
        <p:nvSpPr>
          <p:cNvPr id="39" name="TextBox 38">
            <a:extLst>
              <a:ext uri="{FF2B5EF4-FFF2-40B4-BE49-F238E27FC236}">
                <a16:creationId xmlns:a16="http://schemas.microsoft.com/office/drawing/2014/main" id="{EBCCD5D3-9F2E-61DF-09F8-837DF1C32A81}"/>
              </a:ext>
              <a:ext uri="{C183D7F6-B498-43B3-948B-1728B52AA6E4}">
                <adec:decorative xmlns:adec="http://schemas.microsoft.com/office/drawing/2017/decorative" val="0"/>
              </a:ext>
            </a:extLst>
          </p:cNvPr>
          <p:cNvSpPr txBox="1"/>
          <p:nvPr/>
        </p:nvSpPr>
        <p:spPr>
          <a:xfrm>
            <a:off x="3562472" y="2286931"/>
            <a:ext cx="1830524" cy="1538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Semibold"/>
                <a:ea typeface="+mn-ea"/>
                <a:cs typeface="+mn-cs"/>
              </a:rPr>
              <a:t>Copilot Chat</a:t>
            </a:r>
            <a:r>
              <a:rPr kumimoji="0" lang="en-US" sz="1000" b="0" i="0" u="none" strike="noStrike" kern="1200" cap="none" spc="0" normalizeH="0" baseline="30000" noProof="0" dirty="0">
                <a:ln>
                  <a:noFill/>
                </a:ln>
                <a:solidFill>
                  <a:srgbClr val="000000"/>
                </a:solidFill>
                <a:effectLst/>
                <a:uLnTx/>
                <a:uFillTx/>
                <a:latin typeface="Segoe UI Semibold"/>
                <a:ea typeface="+mn-ea"/>
                <a:cs typeface="+mn-cs"/>
              </a:rPr>
              <a:t>1</a:t>
            </a:r>
          </a:p>
        </p:txBody>
      </p:sp>
      <p:sp>
        <p:nvSpPr>
          <p:cNvPr id="40" name="TextBox 39">
            <a:extLst>
              <a:ext uri="{FF2B5EF4-FFF2-40B4-BE49-F238E27FC236}">
                <a16:creationId xmlns:a16="http://schemas.microsoft.com/office/drawing/2014/main" id="{180573F4-39F2-93F1-8D27-376A5892BCB4}"/>
              </a:ext>
              <a:ext uri="{C183D7F6-B498-43B3-948B-1728B52AA6E4}">
                <adec:decorative xmlns:adec="http://schemas.microsoft.com/office/drawing/2017/decorative" val="0"/>
              </a:ext>
            </a:extLst>
          </p:cNvPr>
          <p:cNvSpPr txBox="1"/>
          <p:nvPr/>
        </p:nvSpPr>
        <p:spPr>
          <a:xfrm>
            <a:off x="6446959" y="2286931"/>
            <a:ext cx="1830524" cy="1538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Semibold"/>
                <a:ea typeface="+mn-ea"/>
                <a:cs typeface="+mn-cs"/>
              </a:rPr>
              <a:t>Copilot Chat</a:t>
            </a:r>
            <a:r>
              <a:rPr kumimoji="0" lang="en-US" sz="1000" b="0" i="0" u="none" strike="noStrike" kern="1200" cap="none" spc="0" normalizeH="0" baseline="30000" noProof="0" dirty="0">
                <a:ln>
                  <a:noFill/>
                </a:ln>
                <a:solidFill>
                  <a:srgbClr val="000000"/>
                </a:solidFill>
                <a:effectLst/>
                <a:uLnTx/>
                <a:uFillTx/>
                <a:latin typeface="Segoe UI Semibold"/>
                <a:ea typeface="+mn-ea"/>
                <a:cs typeface="+mn-cs"/>
              </a:rPr>
              <a:t>2</a:t>
            </a:r>
          </a:p>
        </p:txBody>
      </p:sp>
      <p:sp>
        <p:nvSpPr>
          <p:cNvPr id="41" name="TextBox 40">
            <a:extLst>
              <a:ext uri="{FF2B5EF4-FFF2-40B4-BE49-F238E27FC236}">
                <a16:creationId xmlns:a16="http://schemas.microsoft.com/office/drawing/2014/main" id="{BACA5047-0C0A-B4E3-1246-281A5EB23D45}"/>
              </a:ext>
              <a:ext uri="{C183D7F6-B498-43B3-948B-1728B52AA6E4}">
                <adec:decorative xmlns:adec="http://schemas.microsoft.com/office/drawing/2017/decorative" val="0"/>
              </a:ext>
            </a:extLst>
          </p:cNvPr>
          <p:cNvSpPr txBox="1"/>
          <p:nvPr/>
        </p:nvSpPr>
        <p:spPr>
          <a:xfrm>
            <a:off x="9328927" y="2286931"/>
            <a:ext cx="1420949" cy="1538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Semibold"/>
                <a:ea typeface="+mn-ea"/>
                <a:cs typeface="+mn-cs"/>
              </a:rPr>
              <a:t>Copilot Chat</a:t>
            </a:r>
            <a:r>
              <a:rPr kumimoji="0" lang="en-US" sz="1000" b="0" i="0" u="none" strike="noStrike" kern="1200" cap="none" spc="0" normalizeH="0" baseline="30000" noProof="0" dirty="0">
                <a:ln>
                  <a:noFill/>
                </a:ln>
                <a:solidFill>
                  <a:srgbClr val="000000"/>
                </a:solidFill>
                <a:effectLst/>
                <a:uLnTx/>
                <a:uFillTx/>
                <a:latin typeface="Segoe UI Semibold"/>
                <a:ea typeface="+mn-ea"/>
                <a:cs typeface="+mn-cs"/>
              </a:rPr>
              <a:t>2</a:t>
            </a:r>
          </a:p>
        </p:txBody>
      </p:sp>
      <p:sp>
        <p:nvSpPr>
          <p:cNvPr id="42" name="TextBox 41">
            <a:extLst>
              <a:ext uri="{FF2B5EF4-FFF2-40B4-BE49-F238E27FC236}">
                <a16:creationId xmlns:a16="http://schemas.microsoft.com/office/drawing/2014/main" id="{57D99F6E-AD1E-3CF1-21B0-7D7F02ADE0A7}"/>
              </a:ext>
              <a:ext uri="{C183D7F6-B498-43B3-948B-1728B52AA6E4}">
                <adec:decorative xmlns:adec="http://schemas.microsoft.com/office/drawing/2017/decorative" val="0"/>
              </a:ext>
            </a:extLst>
          </p:cNvPr>
          <p:cNvSpPr txBox="1"/>
          <p:nvPr/>
        </p:nvSpPr>
        <p:spPr>
          <a:xfrm>
            <a:off x="6446959" y="4886070"/>
            <a:ext cx="1420949" cy="1538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Semibold"/>
                <a:ea typeface="+mn-ea"/>
                <a:cs typeface="+mn-cs"/>
              </a:rPr>
              <a:t>Copilot Chat in Word</a:t>
            </a:r>
          </a:p>
        </p:txBody>
      </p:sp>
      <p:sp>
        <p:nvSpPr>
          <p:cNvPr id="43" name="TextBox 42">
            <a:extLst>
              <a:ext uri="{FF2B5EF4-FFF2-40B4-BE49-F238E27FC236}">
                <a16:creationId xmlns:a16="http://schemas.microsoft.com/office/drawing/2014/main" id="{4107E159-51E4-C307-415D-79538C77549A}"/>
              </a:ext>
              <a:ext uri="{C183D7F6-B498-43B3-948B-1728B52AA6E4}">
                <adec:decorative xmlns:adec="http://schemas.microsoft.com/office/drawing/2017/decorative" val="0"/>
              </a:ext>
            </a:extLst>
          </p:cNvPr>
          <p:cNvSpPr txBox="1"/>
          <p:nvPr/>
        </p:nvSpPr>
        <p:spPr>
          <a:xfrm>
            <a:off x="3562472" y="4886070"/>
            <a:ext cx="1420949" cy="1538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Semibold"/>
                <a:ea typeface="+mn-ea"/>
                <a:cs typeface="+mn-cs"/>
              </a:rPr>
              <a:t>Copilot in Outlook</a:t>
            </a:r>
          </a:p>
        </p:txBody>
      </p:sp>
      <p:sp>
        <p:nvSpPr>
          <p:cNvPr id="44" name="TextBox 43">
            <a:extLst>
              <a:ext uri="{FF2B5EF4-FFF2-40B4-BE49-F238E27FC236}">
                <a16:creationId xmlns:a16="http://schemas.microsoft.com/office/drawing/2014/main" id="{95E60AC0-DA59-4AB2-7284-34A42485E570}"/>
              </a:ext>
              <a:ext uri="{C183D7F6-B498-43B3-948B-1728B52AA6E4}">
                <adec:decorative xmlns:adec="http://schemas.microsoft.com/office/drawing/2017/decorative" val="0"/>
              </a:ext>
            </a:extLst>
          </p:cNvPr>
          <p:cNvSpPr txBox="1"/>
          <p:nvPr/>
        </p:nvSpPr>
        <p:spPr>
          <a:xfrm>
            <a:off x="9328927" y="4886070"/>
            <a:ext cx="1830524" cy="1538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Semibold"/>
                <a:ea typeface="+mn-ea"/>
                <a:cs typeface="+mn-cs"/>
              </a:rPr>
              <a:t>Copilot Chat</a:t>
            </a:r>
            <a:r>
              <a:rPr kumimoji="0" lang="en-US" sz="1000" b="0" i="0" u="none" strike="noStrike" kern="1200" cap="none" spc="0" normalizeH="0" baseline="30000" noProof="0" dirty="0">
                <a:ln>
                  <a:noFill/>
                </a:ln>
                <a:solidFill>
                  <a:srgbClr val="000000"/>
                </a:solidFill>
                <a:effectLst/>
                <a:uLnTx/>
                <a:uFillTx/>
                <a:latin typeface="Segoe UI Semibold"/>
                <a:ea typeface="+mn-ea"/>
                <a:cs typeface="+mn-cs"/>
              </a:rPr>
              <a:t>2</a:t>
            </a:r>
          </a:p>
        </p:txBody>
      </p:sp>
      <p:pic>
        <p:nvPicPr>
          <p:cNvPr id="45" name="Picture 50">
            <a:hlinkClick r:id="rId5"/>
            <a:extLst>
              <a:ext uri="{FF2B5EF4-FFF2-40B4-BE49-F238E27FC236}">
                <a16:creationId xmlns:a16="http://schemas.microsoft.com/office/drawing/2014/main" id="{BD28BBE6-82FC-09DC-2C9A-80A98671792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78755" y="2242688"/>
            <a:ext cx="242374" cy="242374"/>
          </a:xfrm>
          <a:prstGeom prst="rect">
            <a:avLst/>
          </a:prstGeom>
          <a:noFill/>
          <a:extLst>
            <a:ext uri="{909E8E84-426E-40DD-AFC4-6F175D3DCCD1}">
              <a14:hiddenFill xmlns:a14="http://schemas.microsoft.com/office/drawing/2010/main">
                <a:solidFill>
                  <a:srgbClr val="FFFFFF"/>
                </a:solidFill>
              </a14:hiddenFill>
            </a:ext>
          </a:extLst>
        </p:spPr>
      </p:pic>
      <p:pic>
        <p:nvPicPr>
          <p:cNvPr id="47" name="Picture 50">
            <a:hlinkClick r:id="rId5"/>
            <a:extLst>
              <a:ext uri="{FF2B5EF4-FFF2-40B4-BE49-F238E27FC236}">
                <a16:creationId xmlns:a16="http://schemas.microsoft.com/office/drawing/2014/main" id="{BB55B1C7-E4DA-5521-43C1-0C8CC40DCFF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77340" y="2242688"/>
            <a:ext cx="242374" cy="242374"/>
          </a:xfrm>
          <a:prstGeom prst="rect">
            <a:avLst/>
          </a:prstGeom>
          <a:noFill/>
          <a:extLst>
            <a:ext uri="{909E8E84-426E-40DD-AFC4-6F175D3DCCD1}">
              <a14:hiddenFill xmlns:a14="http://schemas.microsoft.com/office/drawing/2010/main">
                <a:solidFill>
                  <a:srgbClr val="FFFFFF"/>
                </a:solidFill>
              </a14:hiddenFill>
            </a:ext>
          </a:extLst>
        </p:spPr>
      </p:pic>
      <p:pic>
        <p:nvPicPr>
          <p:cNvPr id="48" name="Picture 50">
            <a:hlinkClick r:id="rId5"/>
            <a:extLst>
              <a:ext uri="{FF2B5EF4-FFF2-40B4-BE49-F238E27FC236}">
                <a16:creationId xmlns:a16="http://schemas.microsoft.com/office/drawing/2014/main" id="{4B929B32-64A3-1B3E-C2EA-695A186A247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975382" y="2242688"/>
            <a:ext cx="242374" cy="242374"/>
          </a:xfrm>
          <a:prstGeom prst="rect">
            <a:avLst/>
          </a:prstGeom>
          <a:noFill/>
          <a:extLst>
            <a:ext uri="{909E8E84-426E-40DD-AFC4-6F175D3DCCD1}">
              <a14:hiddenFill xmlns:a14="http://schemas.microsoft.com/office/drawing/2010/main">
                <a:solidFill>
                  <a:srgbClr val="FFFFFF"/>
                </a:solidFill>
              </a14:hiddenFill>
            </a:ext>
          </a:extLst>
        </p:spPr>
      </p:pic>
      <p:pic>
        <p:nvPicPr>
          <p:cNvPr id="50" name="Picture 50">
            <a:hlinkClick r:id="rId5"/>
            <a:extLst>
              <a:ext uri="{FF2B5EF4-FFF2-40B4-BE49-F238E27FC236}">
                <a16:creationId xmlns:a16="http://schemas.microsoft.com/office/drawing/2014/main" id="{C33BC2F5-DE8D-8D07-A200-62232D9153A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975382" y="4841827"/>
            <a:ext cx="242374" cy="242374"/>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descr="Word logo">
            <a:extLst>
              <a:ext uri="{FF2B5EF4-FFF2-40B4-BE49-F238E27FC236}">
                <a16:creationId xmlns:a16="http://schemas.microsoft.com/office/drawing/2014/main" id="{380DB4BF-9D02-0B24-64D0-414DB27065E6}"/>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6075239" y="4828013"/>
            <a:ext cx="246576" cy="246576"/>
          </a:xfrm>
          <a:prstGeom prst="ellipse">
            <a:avLst/>
          </a:prstGeom>
          <a:solidFill>
            <a:srgbClr val="FFFFFF"/>
          </a:solidFill>
        </p:spPr>
      </p:pic>
      <p:pic>
        <p:nvPicPr>
          <p:cNvPr id="3" name="Picture 2" descr="Outlook logo">
            <a:extLst>
              <a:ext uri="{FF2B5EF4-FFF2-40B4-BE49-F238E27FC236}">
                <a16:creationId xmlns:a16="http://schemas.microsoft.com/office/drawing/2014/main" id="{56777D60-3737-F915-654C-C3CF24B4BBFC}"/>
              </a:ext>
            </a:extLst>
          </p:cNvPr>
          <p:cNvPicPr>
            <a:picLocks noChangeAspect="1"/>
          </p:cNvPicPr>
          <p:nvPr/>
        </p:nvPicPr>
        <p:blipFill>
          <a:blip r:embed="rId8"/>
          <a:stretch>
            <a:fillRect/>
          </a:stretch>
        </p:blipFill>
        <p:spPr>
          <a:xfrm>
            <a:off x="3172152" y="4809413"/>
            <a:ext cx="265176" cy="265176"/>
          </a:xfrm>
          <a:prstGeom prst="rect">
            <a:avLst/>
          </a:prstGeom>
        </p:spPr>
      </p:pic>
    </p:spTree>
    <p:extLst>
      <p:ext uri="{BB962C8B-B14F-4D97-AF65-F5344CB8AC3E}">
        <p14:creationId xmlns:p14="http://schemas.microsoft.com/office/powerpoint/2010/main" val="1221769727"/>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6" name="Text Placeholder 425">
            <a:extLst>
              <a:ext uri="{FF2B5EF4-FFF2-40B4-BE49-F238E27FC236}">
                <a16:creationId xmlns:a16="http://schemas.microsoft.com/office/drawing/2014/main" id="{0580872E-5710-9459-6507-D9582BC83A59}"/>
              </a:ext>
            </a:extLst>
          </p:cNvPr>
          <p:cNvSpPr>
            <a:spLocks noGrp="1"/>
          </p:cNvSpPr>
          <p:nvPr>
            <p:ph type="body" sz="quarter" idx="32"/>
          </p:nvPr>
        </p:nvSpPr>
        <p:spPr>
          <a:xfrm>
            <a:off x="311388" y="1026303"/>
            <a:ext cx="2431246" cy="1131079"/>
          </a:xfrm>
        </p:spPr>
        <p:txBody>
          <a:bodyPr/>
          <a:lstStyle/>
          <a:p>
            <a:r>
              <a:rPr lang="en-US" noProof="0" dirty="0"/>
              <a:t>Updating contract terms can benefits from AI assistance to gather information, summarize content, and enhance collaboration.</a:t>
            </a:r>
          </a:p>
        </p:txBody>
      </p:sp>
      <p:sp>
        <p:nvSpPr>
          <p:cNvPr id="235" name="Text Placeholder 234">
            <a:extLst>
              <a:ext uri="{FF2B5EF4-FFF2-40B4-BE49-F238E27FC236}">
                <a16:creationId xmlns:a16="http://schemas.microsoft.com/office/drawing/2014/main" id="{47E66206-E674-38F1-02CE-A6909C10BB07}"/>
              </a:ext>
            </a:extLst>
          </p:cNvPr>
          <p:cNvSpPr>
            <a:spLocks noGrp="1"/>
          </p:cNvSpPr>
          <p:nvPr>
            <p:ph type="body" sz="quarter" idx="33"/>
          </p:nvPr>
        </p:nvSpPr>
        <p:spPr>
          <a:xfrm>
            <a:off x="304796" y="413987"/>
            <a:ext cx="2057403" cy="307777"/>
          </a:xfrm>
        </p:spPr>
        <p:txBody>
          <a:bodyPr/>
          <a:lstStyle/>
          <a:p>
            <a:r>
              <a:rPr lang="en-US" noProof="0" dirty="0"/>
              <a:t>Finance</a:t>
            </a:r>
          </a:p>
        </p:txBody>
      </p:sp>
      <p:sp>
        <p:nvSpPr>
          <p:cNvPr id="334" name="Text Placeholder 333">
            <a:extLst>
              <a:ext uri="{FF2B5EF4-FFF2-40B4-BE49-F238E27FC236}">
                <a16:creationId xmlns:a16="http://schemas.microsoft.com/office/drawing/2014/main" id="{3ED9109A-7BA7-E18F-7E19-E12205D01728}"/>
              </a:ext>
            </a:extLst>
          </p:cNvPr>
          <p:cNvSpPr>
            <a:spLocks noGrp="1"/>
          </p:cNvSpPr>
          <p:nvPr>
            <p:ph type="body" sz="quarter" idx="30"/>
          </p:nvPr>
        </p:nvSpPr>
        <p:spPr>
          <a:xfrm>
            <a:off x="10430351" y="521099"/>
            <a:ext cx="1456966" cy="175614"/>
          </a:xfrm>
        </p:spPr>
        <p:txBody>
          <a:bodyPr/>
          <a:lstStyle/>
          <a:p>
            <a:r>
              <a:rPr lang="en-US" noProof="0" dirty="0"/>
              <a:t>Buy</a:t>
            </a:r>
          </a:p>
        </p:txBody>
      </p:sp>
      <p:sp>
        <p:nvSpPr>
          <p:cNvPr id="332" name="Text Placeholder 331">
            <a:extLst>
              <a:ext uri="{FF2B5EF4-FFF2-40B4-BE49-F238E27FC236}">
                <a16:creationId xmlns:a16="http://schemas.microsoft.com/office/drawing/2014/main" id="{BFFF9708-5441-C737-21E1-3802603A2B58}"/>
              </a:ext>
            </a:extLst>
          </p:cNvPr>
          <p:cNvSpPr>
            <a:spLocks noGrp="1"/>
          </p:cNvSpPr>
          <p:nvPr>
            <p:ph type="body" sz="quarter" idx="17"/>
          </p:nvPr>
        </p:nvSpPr>
        <p:spPr>
          <a:xfrm>
            <a:off x="7149557" y="521100"/>
            <a:ext cx="2969488" cy="169277"/>
          </a:xfrm>
        </p:spPr>
        <p:txBody>
          <a:bodyPr/>
          <a:lstStyle/>
          <a:p>
            <a:r>
              <a:rPr lang="en-US" noProof="0" dirty="0"/>
              <a:t>Microsoft 365 Copilot</a:t>
            </a:r>
          </a:p>
        </p:txBody>
      </p:sp>
      <p:sp>
        <p:nvSpPr>
          <p:cNvPr id="159" name="Title 158">
            <a:extLst>
              <a:ext uri="{FF2B5EF4-FFF2-40B4-BE49-F238E27FC236}">
                <a16:creationId xmlns:a16="http://schemas.microsoft.com/office/drawing/2014/main" id="{DF883230-B2DD-671B-997B-924B398D9268}"/>
              </a:ext>
            </a:extLst>
          </p:cNvPr>
          <p:cNvSpPr>
            <a:spLocks noGrp="1"/>
          </p:cNvSpPr>
          <p:nvPr>
            <p:ph type="title"/>
          </p:nvPr>
        </p:nvSpPr>
        <p:spPr>
          <a:xfrm>
            <a:off x="2492556" y="429376"/>
            <a:ext cx="4144817" cy="276999"/>
          </a:xfrm>
        </p:spPr>
        <p:txBody>
          <a:bodyPr/>
          <a:lstStyle/>
          <a:p>
            <a:r>
              <a:rPr lang="en-US" noProof="0" dirty="0"/>
              <a:t>Contract accounting guidance</a:t>
            </a:r>
          </a:p>
        </p:txBody>
      </p:sp>
      <p:sp>
        <p:nvSpPr>
          <p:cNvPr id="348" name="Text Placeholder 347">
            <a:extLst>
              <a:ext uri="{FF2B5EF4-FFF2-40B4-BE49-F238E27FC236}">
                <a16:creationId xmlns:a16="http://schemas.microsoft.com/office/drawing/2014/main" id="{D776110D-C79B-2767-6C85-0FEF7908BF3C}"/>
              </a:ext>
            </a:extLst>
          </p:cNvPr>
          <p:cNvSpPr>
            <a:spLocks noGrp="1"/>
          </p:cNvSpPr>
          <p:nvPr>
            <p:ph type="body" sz="quarter" idx="69"/>
          </p:nvPr>
        </p:nvSpPr>
        <p:spPr>
          <a:xfrm>
            <a:off x="3182890" y="2725494"/>
            <a:ext cx="2572262" cy="712876"/>
          </a:xfrm>
        </p:spPr>
        <p:txBody>
          <a:bodyPr/>
          <a:lstStyle/>
          <a:p>
            <a:r>
              <a:rPr lang="en-US" noProof="0" dirty="0"/>
              <a:t>Example prompt: </a:t>
            </a:r>
            <a:r>
              <a:rPr lang="en-US" noProof="0" dirty="0">
                <a:latin typeface="+mj-lt"/>
              </a:rPr>
              <a:t>Pull together a summary </a:t>
            </a:r>
            <a:r>
              <a:rPr lang="en-US" noProof="0" dirty="0"/>
              <a:t>of the customer interactions from recent email and chats.</a:t>
            </a:r>
          </a:p>
        </p:txBody>
      </p:sp>
      <p:sp>
        <p:nvSpPr>
          <p:cNvPr id="331" name="Text Placeholder 330">
            <a:extLst>
              <a:ext uri="{FF2B5EF4-FFF2-40B4-BE49-F238E27FC236}">
                <a16:creationId xmlns:a16="http://schemas.microsoft.com/office/drawing/2014/main" id="{7222124D-8606-34A1-9A77-D66D7A043AD3}"/>
              </a:ext>
            </a:extLst>
          </p:cNvPr>
          <p:cNvSpPr>
            <a:spLocks noGrp="1"/>
          </p:cNvSpPr>
          <p:nvPr>
            <p:ph type="body" sz="quarter" idx="11"/>
          </p:nvPr>
        </p:nvSpPr>
        <p:spPr>
          <a:xfrm>
            <a:off x="3182890" y="1112478"/>
            <a:ext cx="2572262" cy="153888"/>
          </a:xfrm>
        </p:spPr>
        <p:txBody>
          <a:bodyPr/>
          <a:lstStyle/>
          <a:p>
            <a:r>
              <a:rPr lang="en-US" noProof="0" dirty="0"/>
              <a:t>Gather information</a:t>
            </a:r>
          </a:p>
        </p:txBody>
      </p:sp>
      <p:sp>
        <p:nvSpPr>
          <p:cNvPr id="333" name="Text Placeholder 332">
            <a:extLst>
              <a:ext uri="{FF2B5EF4-FFF2-40B4-BE49-F238E27FC236}">
                <a16:creationId xmlns:a16="http://schemas.microsoft.com/office/drawing/2014/main" id="{7D32D994-9A20-6EE1-CBEC-F669E4A69FD8}"/>
              </a:ext>
            </a:extLst>
          </p:cNvPr>
          <p:cNvSpPr>
            <a:spLocks noGrp="1"/>
          </p:cNvSpPr>
          <p:nvPr>
            <p:ph type="body" sz="quarter" idx="18"/>
          </p:nvPr>
        </p:nvSpPr>
        <p:spPr>
          <a:xfrm>
            <a:off x="3182890" y="1438715"/>
            <a:ext cx="2572262" cy="626701"/>
          </a:xfrm>
        </p:spPr>
        <p:txBody>
          <a:bodyPr/>
          <a:lstStyle/>
          <a:p>
            <a:r>
              <a:rPr lang="en-US" noProof="0" dirty="0"/>
              <a:t>Ask Copilot to gather information about the customer to better understand the contract.</a:t>
            </a:r>
          </a:p>
          <a:p>
            <a:endParaRPr lang="en-US" noProof="0" dirty="0"/>
          </a:p>
        </p:txBody>
      </p:sp>
      <p:sp>
        <p:nvSpPr>
          <p:cNvPr id="337" name="Text Placeholder 336">
            <a:extLst>
              <a:ext uri="{FF2B5EF4-FFF2-40B4-BE49-F238E27FC236}">
                <a16:creationId xmlns:a16="http://schemas.microsoft.com/office/drawing/2014/main" id="{48DFFD47-B2EB-91D4-6BFF-DF92B84B43B2}"/>
              </a:ext>
            </a:extLst>
          </p:cNvPr>
          <p:cNvSpPr>
            <a:spLocks noGrp="1"/>
          </p:cNvSpPr>
          <p:nvPr>
            <p:ph type="body" sz="quarter" idx="42"/>
          </p:nvPr>
        </p:nvSpPr>
        <p:spPr>
          <a:xfrm>
            <a:off x="6066682" y="1112478"/>
            <a:ext cx="2572262" cy="153888"/>
          </a:xfrm>
        </p:spPr>
        <p:txBody>
          <a:bodyPr/>
          <a:lstStyle/>
          <a:p>
            <a:r>
              <a:rPr lang="en-US" noProof="0" dirty="0"/>
              <a:t>Create a brief</a:t>
            </a:r>
          </a:p>
        </p:txBody>
      </p:sp>
      <p:sp>
        <p:nvSpPr>
          <p:cNvPr id="338" name="Text Placeholder 337">
            <a:extLst>
              <a:ext uri="{FF2B5EF4-FFF2-40B4-BE49-F238E27FC236}">
                <a16:creationId xmlns:a16="http://schemas.microsoft.com/office/drawing/2014/main" id="{10B6EAF9-2DB6-CCE5-A723-C20410945081}"/>
              </a:ext>
            </a:extLst>
          </p:cNvPr>
          <p:cNvSpPr>
            <a:spLocks noGrp="1"/>
          </p:cNvSpPr>
          <p:nvPr>
            <p:ph type="body" sz="quarter" idx="43"/>
          </p:nvPr>
        </p:nvSpPr>
        <p:spPr>
          <a:xfrm>
            <a:off x="6066682" y="1438715"/>
            <a:ext cx="2572262" cy="626701"/>
          </a:xfrm>
        </p:spPr>
        <p:txBody>
          <a:bodyPr/>
          <a:lstStyle/>
          <a:p>
            <a:r>
              <a:rPr lang="en-US" noProof="0" dirty="0"/>
              <a:t>Copy the data collected along with a recent meeting summary into Word and then use Agent Mode to organize the content.</a:t>
            </a:r>
          </a:p>
          <a:p>
            <a:endParaRPr lang="en-US" noProof="0" dirty="0"/>
          </a:p>
        </p:txBody>
      </p:sp>
      <p:sp>
        <p:nvSpPr>
          <p:cNvPr id="342" name="Text Placeholder 341">
            <a:extLst>
              <a:ext uri="{FF2B5EF4-FFF2-40B4-BE49-F238E27FC236}">
                <a16:creationId xmlns:a16="http://schemas.microsoft.com/office/drawing/2014/main" id="{6D787F99-CD6C-9763-16C3-3B784095FC4E}"/>
              </a:ext>
            </a:extLst>
          </p:cNvPr>
          <p:cNvSpPr>
            <a:spLocks noGrp="1"/>
          </p:cNvSpPr>
          <p:nvPr>
            <p:ph type="body" sz="quarter" idx="68"/>
          </p:nvPr>
        </p:nvSpPr>
        <p:spPr>
          <a:xfrm>
            <a:off x="8950475" y="2725494"/>
            <a:ext cx="2572262" cy="712876"/>
          </a:xfrm>
        </p:spPr>
        <p:txBody>
          <a:bodyPr/>
          <a:lstStyle/>
          <a:p>
            <a:r>
              <a:rPr lang="en-US" noProof="0" dirty="0"/>
              <a:t>Example prompt: </a:t>
            </a:r>
            <a:r>
              <a:rPr lang="en-US" noProof="0" dirty="0">
                <a:latin typeface="+mj-lt"/>
              </a:rPr>
              <a:t>Provide accounting guidance </a:t>
            </a:r>
            <a:r>
              <a:rPr lang="en-US" noProof="0" dirty="0"/>
              <a:t>and recommendations for the customer scenario in the [scenario.docx]</a:t>
            </a:r>
          </a:p>
        </p:txBody>
      </p:sp>
      <p:sp>
        <p:nvSpPr>
          <p:cNvPr id="340" name="Text Placeholder 339">
            <a:extLst>
              <a:ext uri="{FF2B5EF4-FFF2-40B4-BE49-F238E27FC236}">
                <a16:creationId xmlns:a16="http://schemas.microsoft.com/office/drawing/2014/main" id="{A078812F-5A93-CB48-919B-85ADB3249E61}"/>
              </a:ext>
            </a:extLst>
          </p:cNvPr>
          <p:cNvSpPr>
            <a:spLocks noGrp="1"/>
          </p:cNvSpPr>
          <p:nvPr>
            <p:ph type="body" sz="quarter" idx="45"/>
          </p:nvPr>
        </p:nvSpPr>
        <p:spPr>
          <a:xfrm>
            <a:off x="8950475" y="1112478"/>
            <a:ext cx="2572262" cy="153888"/>
          </a:xfrm>
        </p:spPr>
        <p:txBody>
          <a:bodyPr/>
          <a:lstStyle/>
          <a:p>
            <a:r>
              <a:rPr lang="en-US" noProof="0" dirty="0"/>
              <a:t>Summarize the contract</a:t>
            </a:r>
          </a:p>
        </p:txBody>
      </p:sp>
      <p:sp>
        <p:nvSpPr>
          <p:cNvPr id="341" name="Text Placeholder 340">
            <a:extLst>
              <a:ext uri="{FF2B5EF4-FFF2-40B4-BE49-F238E27FC236}">
                <a16:creationId xmlns:a16="http://schemas.microsoft.com/office/drawing/2014/main" id="{C57013AA-8778-D04C-5E87-A4EBF36E037E}"/>
              </a:ext>
            </a:extLst>
          </p:cNvPr>
          <p:cNvSpPr>
            <a:spLocks noGrp="1"/>
          </p:cNvSpPr>
          <p:nvPr>
            <p:ph type="body" sz="quarter" idx="46"/>
          </p:nvPr>
        </p:nvSpPr>
        <p:spPr>
          <a:xfrm>
            <a:off x="8950475" y="1438715"/>
            <a:ext cx="2572262" cy="626701"/>
          </a:xfrm>
        </p:spPr>
        <p:txBody>
          <a:bodyPr/>
          <a:lstStyle/>
          <a:p>
            <a:r>
              <a:rPr lang="en-US" noProof="0" dirty="0"/>
              <a:t>Prompt Copilot for relevant accounting considerations and perspective based on the customer scenario.</a:t>
            </a:r>
          </a:p>
          <a:p>
            <a:endParaRPr lang="en-US" noProof="0" dirty="0"/>
          </a:p>
        </p:txBody>
      </p:sp>
      <p:sp>
        <p:nvSpPr>
          <p:cNvPr id="351" name="Text Placeholder 350">
            <a:extLst>
              <a:ext uri="{FF2B5EF4-FFF2-40B4-BE49-F238E27FC236}">
                <a16:creationId xmlns:a16="http://schemas.microsoft.com/office/drawing/2014/main" id="{D46B7733-7A9D-948B-2063-4C561F88287E}"/>
              </a:ext>
            </a:extLst>
          </p:cNvPr>
          <p:cNvSpPr>
            <a:spLocks noGrp="1"/>
          </p:cNvSpPr>
          <p:nvPr>
            <p:ph type="body" sz="quarter" idx="70"/>
          </p:nvPr>
        </p:nvSpPr>
        <p:spPr>
          <a:xfrm>
            <a:off x="6066682" y="2725494"/>
            <a:ext cx="2572262" cy="712876"/>
          </a:xfrm>
        </p:spPr>
        <p:txBody>
          <a:bodyPr/>
          <a:lstStyle/>
          <a:p>
            <a:r>
              <a:rPr lang="en-US" noProof="0" dirty="0"/>
              <a:t>Example prompt: </a:t>
            </a:r>
            <a:r>
              <a:rPr lang="en-US" noProof="0" dirty="0">
                <a:latin typeface="+mj-lt"/>
              </a:rPr>
              <a:t>Rewrite the brief </a:t>
            </a:r>
            <a:r>
              <a:rPr lang="en-US" noProof="0" dirty="0"/>
              <a:t>to outline the key scenario based on the background and supporting details.</a:t>
            </a:r>
          </a:p>
        </p:txBody>
      </p:sp>
      <p:sp>
        <p:nvSpPr>
          <p:cNvPr id="343" name="Text Placeholder 342">
            <a:extLst>
              <a:ext uri="{FF2B5EF4-FFF2-40B4-BE49-F238E27FC236}">
                <a16:creationId xmlns:a16="http://schemas.microsoft.com/office/drawing/2014/main" id="{F479995C-0044-4825-6C78-B90C9A2F4845}"/>
              </a:ext>
            </a:extLst>
          </p:cNvPr>
          <p:cNvSpPr>
            <a:spLocks noGrp="1"/>
          </p:cNvSpPr>
          <p:nvPr>
            <p:ph type="body" sz="quarter" idx="48"/>
          </p:nvPr>
        </p:nvSpPr>
        <p:spPr>
          <a:xfrm>
            <a:off x="3182890" y="5334522"/>
            <a:ext cx="2572262" cy="712876"/>
          </a:xfrm>
        </p:spPr>
        <p:txBody>
          <a:bodyPr/>
          <a:lstStyle/>
          <a:p>
            <a:r>
              <a:rPr lang="en-US" noProof="0" dirty="0"/>
              <a:t>Example prompt: </a:t>
            </a:r>
            <a:r>
              <a:rPr lang="en-US" noProof="0" dirty="0">
                <a:latin typeface="+mj-lt"/>
              </a:rPr>
              <a:t>Draft an email </a:t>
            </a:r>
            <a:r>
              <a:rPr lang="en-US" noProof="0" dirty="0"/>
              <a:t>with a concise summary of key recommendations. </a:t>
            </a:r>
          </a:p>
        </p:txBody>
      </p:sp>
      <p:sp>
        <p:nvSpPr>
          <p:cNvPr id="344" name="Text Placeholder 343">
            <a:extLst>
              <a:ext uri="{FF2B5EF4-FFF2-40B4-BE49-F238E27FC236}">
                <a16:creationId xmlns:a16="http://schemas.microsoft.com/office/drawing/2014/main" id="{6526560B-F57F-C150-2F6D-28ED243737D3}"/>
              </a:ext>
            </a:extLst>
          </p:cNvPr>
          <p:cNvSpPr>
            <a:spLocks noGrp="1"/>
          </p:cNvSpPr>
          <p:nvPr>
            <p:ph type="body" sz="quarter" idx="49"/>
          </p:nvPr>
        </p:nvSpPr>
        <p:spPr>
          <a:xfrm>
            <a:off x="3182890" y="3725103"/>
            <a:ext cx="2572262" cy="153888"/>
          </a:xfrm>
        </p:spPr>
        <p:txBody>
          <a:bodyPr/>
          <a:lstStyle/>
          <a:p>
            <a:r>
              <a:rPr lang="en-US" noProof="0" dirty="0"/>
              <a:t>Create an email with a response</a:t>
            </a:r>
          </a:p>
        </p:txBody>
      </p:sp>
      <p:sp>
        <p:nvSpPr>
          <p:cNvPr id="345" name="Text Placeholder 344">
            <a:extLst>
              <a:ext uri="{FF2B5EF4-FFF2-40B4-BE49-F238E27FC236}">
                <a16:creationId xmlns:a16="http://schemas.microsoft.com/office/drawing/2014/main" id="{9BA53B81-5EE5-9D71-B8C7-08321BB4F1DB}"/>
              </a:ext>
            </a:extLst>
          </p:cNvPr>
          <p:cNvSpPr>
            <a:spLocks noGrp="1"/>
          </p:cNvSpPr>
          <p:nvPr>
            <p:ph type="body" sz="quarter" idx="50"/>
          </p:nvPr>
        </p:nvSpPr>
        <p:spPr>
          <a:xfrm>
            <a:off x="3182890" y="4050957"/>
            <a:ext cx="2572262" cy="626701"/>
          </a:xfrm>
        </p:spPr>
        <p:txBody>
          <a:bodyPr/>
          <a:lstStyle/>
          <a:p>
            <a:r>
              <a:rPr lang="en-US" noProof="0" dirty="0"/>
              <a:t>Draft an email to your manager with Copilot in Outlook summarizing key recommendations.</a:t>
            </a:r>
          </a:p>
          <a:p>
            <a:endParaRPr lang="en-US" noProof="0" dirty="0"/>
          </a:p>
        </p:txBody>
      </p:sp>
      <p:sp>
        <p:nvSpPr>
          <p:cNvPr id="346" name="Text Placeholder 345">
            <a:extLst>
              <a:ext uri="{FF2B5EF4-FFF2-40B4-BE49-F238E27FC236}">
                <a16:creationId xmlns:a16="http://schemas.microsoft.com/office/drawing/2014/main" id="{C188FDBF-4179-B238-F978-71C7C03FC958}"/>
              </a:ext>
            </a:extLst>
          </p:cNvPr>
          <p:cNvSpPr>
            <a:spLocks noGrp="1"/>
          </p:cNvSpPr>
          <p:nvPr>
            <p:ph type="body" sz="quarter" idx="51"/>
          </p:nvPr>
        </p:nvSpPr>
        <p:spPr>
          <a:xfrm>
            <a:off x="6066682" y="3725103"/>
            <a:ext cx="2572262" cy="153888"/>
          </a:xfrm>
        </p:spPr>
        <p:txBody>
          <a:bodyPr/>
          <a:lstStyle/>
          <a:p>
            <a:r>
              <a:rPr lang="en-US" noProof="0" dirty="0"/>
              <a:t>Prep for a meeting</a:t>
            </a:r>
          </a:p>
        </p:txBody>
      </p:sp>
      <p:sp>
        <p:nvSpPr>
          <p:cNvPr id="347" name="Text Placeholder 346">
            <a:extLst>
              <a:ext uri="{FF2B5EF4-FFF2-40B4-BE49-F238E27FC236}">
                <a16:creationId xmlns:a16="http://schemas.microsoft.com/office/drawing/2014/main" id="{D1FDD04C-E5D7-DF5D-80AC-77A31C5A1987}"/>
              </a:ext>
            </a:extLst>
          </p:cNvPr>
          <p:cNvSpPr>
            <a:spLocks noGrp="1"/>
          </p:cNvSpPr>
          <p:nvPr>
            <p:ph type="body" sz="quarter" idx="52"/>
          </p:nvPr>
        </p:nvSpPr>
        <p:spPr>
          <a:xfrm>
            <a:off x="6066682" y="4050957"/>
            <a:ext cx="2572262" cy="626701"/>
          </a:xfrm>
        </p:spPr>
        <p:txBody>
          <a:bodyPr/>
          <a:lstStyle/>
          <a:p>
            <a:r>
              <a:rPr lang="en-US" noProof="0" dirty="0"/>
              <a:t>Use </a:t>
            </a:r>
            <a:r>
              <a:rPr lang="en-US" dirty="0"/>
              <a:t>PowerPoint Agent</a:t>
            </a:r>
            <a:r>
              <a:rPr lang="en-US" noProof="0" dirty="0"/>
              <a:t> to generate a PowerPoint presentation with the finalized accounting guidance for the customer scenario.</a:t>
            </a:r>
          </a:p>
          <a:p>
            <a:endParaRPr lang="en-US" noProof="0" dirty="0"/>
          </a:p>
        </p:txBody>
      </p:sp>
      <p:sp>
        <p:nvSpPr>
          <p:cNvPr id="336" name="Text Placeholder 335">
            <a:extLst>
              <a:ext uri="{FF2B5EF4-FFF2-40B4-BE49-F238E27FC236}">
                <a16:creationId xmlns:a16="http://schemas.microsoft.com/office/drawing/2014/main" id="{64839735-E21C-F039-08F1-4840BCFE4AC6}"/>
              </a:ext>
            </a:extLst>
          </p:cNvPr>
          <p:cNvSpPr>
            <a:spLocks noGrp="1"/>
          </p:cNvSpPr>
          <p:nvPr>
            <p:ph type="body" sz="quarter" idx="66"/>
          </p:nvPr>
        </p:nvSpPr>
        <p:spPr>
          <a:xfrm>
            <a:off x="8950475" y="5334522"/>
            <a:ext cx="2572262" cy="712876"/>
          </a:xfrm>
        </p:spPr>
        <p:txBody>
          <a:bodyPr/>
          <a:lstStyle/>
          <a:p>
            <a:r>
              <a:rPr lang="en-US" noProof="0" dirty="0"/>
              <a:t>Example prompt: </a:t>
            </a:r>
            <a:r>
              <a:rPr lang="en-US" noProof="0" dirty="0">
                <a:latin typeface="+mj-lt"/>
              </a:rPr>
              <a:t>Brainstorm</a:t>
            </a:r>
            <a:r>
              <a:rPr lang="en-US" noProof="0" dirty="0"/>
              <a:t> additional accounting considerations for the customer scenario.</a:t>
            </a:r>
          </a:p>
        </p:txBody>
      </p:sp>
      <p:sp>
        <p:nvSpPr>
          <p:cNvPr id="349" name="Text Placeholder 348">
            <a:extLst>
              <a:ext uri="{FF2B5EF4-FFF2-40B4-BE49-F238E27FC236}">
                <a16:creationId xmlns:a16="http://schemas.microsoft.com/office/drawing/2014/main" id="{93C42855-1D17-28AF-0A68-3B971F5C867F}"/>
              </a:ext>
            </a:extLst>
          </p:cNvPr>
          <p:cNvSpPr>
            <a:spLocks noGrp="1"/>
          </p:cNvSpPr>
          <p:nvPr>
            <p:ph type="body" sz="quarter" idx="54"/>
          </p:nvPr>
        </p:nvSpPr>
        <p:spPr>
          <a:xfrm>
            <a:off x="8950475" y="3725103"/>
            <a:ext cx="2572262" cy="153888"/>
          </a:xfrm>
        </p:spPr>
        <p:txBody>
          <a:bodyPr/>
          <a:lstStyle/>
          <a:p>
            <a:r>
              <a:rPr lang="en-US" noProof="0" dirty="0"/>
              <a:t>Collaborate with team</a:t>
            </a:r>
          </a:p>
        </p:txBody>
      </p:sp>
      <p:sp>
        <p:nvSpPr>
          <p:cNvPr id="350" name="Text Placeholder 349">
            <a:extLst>
              <a:ext uri="{FF2B5EF4-FFF2-40B4-BE49-F238E27FC236}">
                <a16:creationId xmlns:a16="http://schemas.microsoft.com/office/drawing/2014/main" id="{6D30BBCF-BA7E-4B00-7B79-BBDBB28CD7CE}"/>
              </a:ext>
            </a:extLst>
          </p:cNvPr>
          <p:cNvSpPr>
            <a:spLocks noGrp="1"/>
          </p:cNvSpPr>
          <p:nvPr>
            <p:ph type="body" sz="quarter" idx="55"/>
          </p:nvPr>
        </p:nvSpPr>
        <p:spPr>
          <a:xfrm>
            <a:off x="8950475" y="4050957"/>
            <a:ext cx="2572262" cy="626701"/>
          </a:xfrm>
        </p:spPr>
        <p:txBody>
          <a:bodyPr/>
          <a:lstStyle/>
          <a:p>
            <a:r>
              <a:rPr lang="en-US" noProof="0" dirty="0"/>
              <a:t>Use Copilot in Loop to collaborate with colleagues to build on the preliminary list of accounting considerations.</a:t>
            </a:r>
          </a:p>
          <a:p>
            <a:endParaRPr lang="en-US" noProof="0" dirty="0"/>
          </a:p>
        </p:txBody>
      </p:sp>
      <p:sp>
        <p:nvSpPr>
          <p:cNvPr id="339" name="Text Placeholder 338">
            <a:extLst>
              <a:ext uri="{FF2B5EF4-FFF2-40B4-BE49-F238E27FC236}">
                <a16:creationId xmlns:a16="http://schemas.microsoft.com/office/drawing/2014/main" id="{A55175F2-B5B7-5E3B-AE2E-603DC535CB3D}"/>
              </a:ext>
            </a:extLst>
          </p:cNvPr>
          <p:cNvSpPr>
            <a:spLocks noGrp="1"/>
          </p:cNvSpPr>
          <p:nvPr>
            <p:ph type="body" sz="quarter" idx="67"/>
          </p:nvPr>
        </p:nvSpPr>
        <p:spPr>
          <a:xfrm>
            <a:off x="6066682" y="5334522"/>
            <a:ext cx="2572262" cy="712876"/>
          </a:xfrm>
        </p:spPr>
        <p:txBody>
          <a:bodyPr/>
          <a:lstStyle/>
          <a:p>
            <a:r>
              <a:rPr lang="en-US" noProof="0" dirty="0"/>
              <a:t>Example prompt: </a:t>
            </a:r>
            <a:r>
              <a:rPr lang="en-US" noProof="0" dirty="0">
                <a:latin typeface="+mj-lt"/>
              </a:rPr>
              <a:t>Create a presentation from file</a:t>
            </a:r>
            <a:r>
              <a:rPr lang="en-US" noProof="0" dirty="0"/>
              <a:t> [scenario.docx] that summarizes the team’s recommendations. </a:t>
            </a:r>
          </a:p>
          <a:p>
            <a:r>
              <a:rPr lang="en-US" u="sng" dirty="0">
                <a:hlinkClick r:id="rId2"/>
              </a:rPr>
              <a:t>Get started with Word, Excel, and PowerPoint Agents</a:t>
            </a:r>
            <a:endParaRPr lang="en-US" noProof="0" dirty="0"/>
          </a:p>
        </p:txBody>
      </p:sp>
      <p:sp>
        <p:nvSpPr>
          <p:cNvPr id="427" name="Text Placeholder 426">
            <a:extLst>
              <a:ext uri="{FF2B5EF4-FFF2-40B4-BE49-F238E27FC236}">
                <a16:creationId xmlns:a16="http://schemas.microsoft.com/office/drawing/2014/main" id="{8B4CA3EF-8D42-8DDF-005B-28EBC6811D70}"/>
              </a:ext>
            </a:extLst>
          </p:cNvPr>
          <p:cNvSpPr>
            <a:spLocks noGrp="1"/>
          </p:cNvSpPr>
          <p:nvPr>
            <p:ph type="body" sz="quarter" idx="64"/>
          </p:nvPr>
        </p:nvSpPr>
        <p:spPr>
          <a:xfrm>
            <a:off x="320721" y="4709762"/>
            <a:ext cx="1131651" cy="219456"/>
          </a:xfrm>
        </p:spPr>
        <p:txBody>
          <a:bodyPr/>
          <a:lstStyle/>
          <a:p>
            <a:r>
              <a:rPr lang="en-US" noProof="0" dirty="0"/>
              <a:t>Value benefit</a:t>
            </a:r>
          </a:p>
        </p:txBody>
      </p:sp>
      <p:sp>
        <p:nvSpPr>
          <p:cNvPr id="428" name="Text Placeholder 427">
            <a:extLst>
              <a:ext uri="{FF2B5EF4-FFF2-40B4-BE49-F238E27FC236}">
                <a16:creationId xmlns:a16="http://schemas.microsoft.com/office/drawing/2014/main" id="{29BE3869-8AC3-BB7F-AF88-A2A6DD5E004F}"/>
              </a:ext>
            </a:extLst>
          </p:cNvPr>
          <p:cNvSpPr>
            <a:spLocks noGrp="1"/>
          </p:cNvSpPr>
          <p:nvPr>
            <p:ph type="body" sz="quarter" idx="65"/>
          </p:nvPr>
        </p:nvSpPr>
        <p:spPr>
          <a:xfrm>
            <a:off x="320721" y="3467940"/>
            <a:ext cx="1131650" cy="219456"/>
          </a:xfrm>
        </p:spPr>
        <p:txBody>
          <a:bodyPr/>
          <a:lstStyle/>
          <a:p>
            <a:r>
              <a:rPr lang="en-US" noProof="0" dirty="0"/>
              <a:t>KPIs impacted</a:t>
            </a:r>
          </a:p>
        </p:txBody>
      </p:sp>
      <p:pic>
        <p:nvPicPr>
          <p:cNvPr id="443" name="Picture 72">
            <a:extLst>
              <a:ext uri="{FF2B5EF4-FFF2-40B4-BE49-F238E27FC236}">
                <a16:creationId xmlns:a16="http://schemas.microsoft.com/office/drawing/2014/main" id="{69CF9336-22B7-8A80-C49E-82ED3597234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75382" y="4833693"/>
            <a:ext cx="258642" cy="258642"/>
          </a:xfrm>
          <a:prstGeom prst="rect">
            <a:avLst/>
          </a:prstGeom>
          <a:noFill/>
          <a:extLst>
            <a:ext uri="{909E8E84-426E-40DD-AFC4-6F175D3DCCD1}">
              <a14:hiddenFill xmlns:a14="http://schemas.microsoft.com/office/drawing/2010/main">
                <a:solidFill>
                  <a:srgbClr val="FFFFFF"/>
                </a:solidFill>
              </a14:hiddenFill>
            </a:ext>
          </a:extLst>
        </p:spPr>
      </p:pic>
      <p:grpSp>
        <p:nvGrpSpPr>
          <p:cNvPr id="450" name="Group 449">
            <a:extLst>
              <a:ext uri="{FF2B5EF4-FFF2-40B4-BE49-F238E27FC236}">
                <a16:creationId xmlns:a16="http://schemas.microsoft.com/office/drawing/2014/main" id="{F74BB51E-1902-7F2C-5F42-6147B516F990}"/>
              </a:ext>
            </a:extLst>
          </p:cNvPr>
          <p:cNvGrpSpPr>
            <a:grpSpLocks/>
          </p:cNvGrpSpPr>
          <p:nvPr/>
        </p:nvGrpSpPr>
        <p:grpSpPr>
          <a:xfrm>
            <a:off x="320719" y="5020658"/>
            <a:ext cx="1771605" cy="216000"/>
            <a:chOff x="320721" y="4517211"/>
            <a:chExt cx="1771605" cy="216000"/>
          </a:xfrm>
        </p:grpSpPr>
        <p:sp>
          <p:nvSpPr>
            <p:cNvPr id="451" name="Rectangle: Rounded Corners 6">
              <a:extLst>
                <a:ext uri="{FF2B5EF4-FFF2-40B4-BE49-F238E27FC236}">
                  <a16:creationId xmlns:a16="http://schemas.microsoft.com/office/drawing/2014/main" id="{38B94C3C-F3EF-02E1-8B63-E168D576CCAF}"/>
                </a:ext>
                <a:ext uri="{C183D7F6-B498-43B3-948B-1728B52AA6E4}">
                  <adec:decorative xmlns:adec="http://schemas.microsoft.com/office/drawing/2017/decorative" val="1"/>
                </a:ext>
              </a:extLst>
            </p:cNvPr>
            <p:cNvSpPr>
              <a:spLocks/>
            </p:cNvSpPr>
            <p:nvPr/>
          </p:nvSpPr>
          <p:spPr bwMode="auto">
            <a:xfrm>
              <a:off x="320721" y="4517211"/>
              <a:ext cx="1771605" cy="216000"/>
            </a:xfrm>
            <a:prstGeom prst="roundRect">
              <a:avLst>
                <a:gd name="adj" fmla="val 50000"/>
              </a:avLst>
            </a:prstGeom>
            <a:solidFill>
              <a:srgbClr val="FFFFFF"/>
            </a:solidFill>
            <a:ln w="12700">
              <a:solidFill>
                <a:srgbClr val="C03BC4"/>
              </a:solidFill>
              <a:headEnd type="none" w="med" len="med"/>
              <a:tailEnd type="none" w="med" len="med"/>
            </a:ln>
            <a:effectLst>
              <a:outerShdw blurRad="63500" dist="63500" dir="2700000"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16000" tIns="36576" rIns="36000" bIns="36000" numCol="1" spcCol="0" rtlCol="0" fromWordArt="0" anchor="ctr" anchorCtr="0" forceAA="0" compatLnSpc="1">
              <a:prstTxWarp prst="textNoShape">
                <a:avLst/>
              </a:prstTxWarp>
              <a:noAutofit/>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C03BC4"/>
                  </a:solidFill>
                  <a:effectLst/>
                  <a:uLnTx/>
                  <a:uFillTx/>
                  <a:latin typeface="Segoe UI Semibold"/>
                  <a:ea typeface="+mn-ea"/>
                  <a:cs typeface="Segoe UI Semibold" panose="020B0702040204020203" pitchFamily="34" charset="0"/>
                </a:rPr>
                <a:t>Cost savings</a:t>
              </a:r>
            </a:p>
          </p:txBody>
        </p:sp>
        <p:pic>
          <p:nvPicPr>
            <p:cNvPr id="452" name="Graphic 451">
              <a:extLst>
                <a:ext uri="{FF2B5EF4-FFF2-40B4-BE49-F238E27FC236}">
                  <a16:creationId xmlns:a16="http://schemas.microsoft.com/office/drawing/2014/main" id="{9A2C1367-523A-6B51-060E-B76525AAE0C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67507" y="4554345"/>
              <a:ext cx="144000" cy="141732"/>
            </a:xfrm>
            <a:prstGeom prst="rect">
              <a:avLst/>
            </a:prstGeom>
          </p:spPr>
        </p:pic>
      </p:grpSp>
      <p:grpSp>
        <p:nvGrpSpPr>
          <p:cNvPr id="453" name="Group 452">
            <a:extLst>
              <a:ext uri="{FF2B5EF4-FFF2-40B4-BE49-F238E27FC236}">
                <a16:creationId xmlns:a16="http://schemas.microsoft.com/office/drawing/2014/main" id="{00C8F09B-E98D-C160-ABC8-C4F1B012482B}"/>
              </a:ext>
            </a:extLst>
          </p:cNvPr>
          <p:cNvGrpSpPr>
            <a:grpSpLocks/>
          </p:cNvGrpSpPr>
          <p:nvPr/>
        </p:nvGrpSpPr>
        <p:grpSpPr>
          <a:xfrm>
            <a:off x="320721" y="5309272"/>
            <a:ext cx="1771605" cy="216000"/>
            <a:chOff x="320719" y="4224856"/>
            <a:chExt cx="1771605" cy="219456"/>
          </a:xfrm>
        </p:grpSpPr>
        <p:sp>
          <p:nvSpPr>
            <p:cNvPr id="454" name="Rectangle: Rounded Corners 6">
              <a:extLst>
                <a:ext uri="{FF2B5EF4-FFF2-40B4-BE49-F238E27FC236}">
                  <a16:creationId xmlns:a16="http://schemas.microsoft.com/office/drawing/2014/main" id="{42541CA6-5A7B-C50F-CF97-6675405B23F3}"/>
                </a:ext>
                <a:ext uri="{C183D7F6-B498-43B3-948B-1728B52AA6E4}">
                  <adec:decorative xmlns:adec="http://schemas.microsoft.com/office/drawing/2017/decorative" val="1"/>
                </a:ext>
              </a:extLst>
            </p:cNvPr>
            <p:cNvSpPr/>
            <p:nvPr/>
          </p:nvSpPr>
          <p:spPr bwMode="auto">
            <a:xfrm>
              <a:off x="320719" y="4224856"/>
              <a:ext cx="1771605" cy="219456"/>
            </a:xfrm>
            <a:prstGeom prst="roundRect">
              <a:avLst>
                <a:gd name="adj" fmla="val 50000"/>
              </a:avLst>
            </a:prstGeom>
            <a:solidFill>
              <a:srgbClr val="FFFFFF"/>
            </a:solidFill>
            <a:ln w="12700">
              <a:solidFill>
                <a:srgbClr val="C03BC4"/>
              </a:solidFill>
              <a:headEnd type="none" w="med" len="med"/>
              <a:tailEnd type="none" w="med" len="med"/>
            </a:ln>
            <a:effectLst>
              <a:outerShdw blurRad="63500" dist="63500" dir="2700000"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16000" tIns="36576" rIns="36000" bIns="36000" numCol="1" spcCol="0" rtlCol="0" fromWordArt="0" anchor="ctr" anchorCtr="0" forceAA="0" compatLnSpc="1">
              <a:prstTxWarp prst="textNoShape">
                <a:avLst/>
              </a:prstTxWarp>
              <a:noAutofit/>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C03BC4"/>
                  </a:solidFill>
                  <a:effectLst/>
                  <a:uLnTx/>
                  <a:uFillTx/>
                  <a:latin typeface="Segoe UI Semibold"/>
                  <a:ea typeface="+mn-ea"/>
                  <a:cs typeface="Segoe UI Semibold" panose="020B0702040204020203" pitchFamily="34" charset="0"/>
                </a:rPr>
                <a:t>Employee experience</a:t>
              </a:r>
            </a:p>
          </p:txBody>
        </p:sp>
        <p:pic>
          <p:nvPicPr>
            <p:cNvPr id="455" name="Graphic 454">
              <a:extLst>
                <a:ext uri="{FF2B5EF4-FFF2-40B4-BE49-F238E27FC236}">
                  <a16:creationId xmlns:a16="http://schemas.microsoft.com/office/drawing/2014/main" id="{7D1C72F5-05EC-8AEE-17B8-5A08CAF3A1E2}"/>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367506" y="4262584"/>
              <a:ext cx="144000" cy="144000"/>
            </a:xfrm>
            <a:prstGeom prst="rect">
              <a:avLst/>
            </a:prstGeom>
          </p:spPr>
        </p:pic>
      </p:grpSp>
      <p:grpSp>
        <p:nvGrpSpPr>
          <p:cNvPr id="456" name="Group 455">
            <a:extLst>
              <a:ext uri="{FF2B5EF4-FFF2-40B4-BE49-F238E27FC236}">
                <a16:creationId xmlns:a16="http://schemas.microsoft.com/office/drawing/2014/main" id="{8C57D5AC-E83C-1928-FB83-11FD5B612E6D}"/>
              </a:ext>
            </a:extLst>
          </p:cNvPr>
          <p:cNvGrpSpPr/>
          <p:nvPr/>
        </p:nvGrpSpPr>
        <p:grpSpPr>
          <a:xfrm>
            <a:off x="320719" y="3778836"/>
            <a:ext cx="1771605" cy="216000"/>
            <a:chOff x="320719" y="4224856"/>
            <a:chExt cx="1771605" cy="219456"/>
          </a:xfrm>
        </p:grpSpPr>
        <p:sp>
          <p:nvSpPr>
            <p:cNvPr id="457" name="Rectangle: Rounded Corners 6">
              <a:extLst>
                <a:ext uri="{FF2B5EF4-FFF2-40B4-BE49-F238E27FC236}">
                  <a16:creationId xmlns:a16="http://schemas.microsoft.com/office/drawing/2014/main" id="{10168596-8597-A2A6-91F7-F76C074153CF}"/>
                </a:ext>
                <a:ext uri="{C183D7F6-B498-43B3-948B-1728B52AA6E4}">
                  <adec:decorative xmlns:adec="http://schemas.microsoft.com/office/drawing/2017/decorative" val="1"/>
                </a:ext>
              </a:extLst>
            </p:cNvPr>
            <p:cNvSpPr/>
            <p:nvPr/>
          </p:nvSpPr>
          <p:spPr bwMode="auto">
            <a:xfrm>
              <a:off x="320719" y="4224856"/>
              <a:ext cx="1771605" cy="219456"/>
            </a:xfrm>
            <a:prstGeom prst="roundRect">
              <a:avLst>
                <a:gd name="adj" fmla="val 50000"/>
              </a:avLst>
            </a:prstGeom>
            <a:solidFill>
              <a:srgbClr val="FFFFFF"/>
            </a:solidFill>
            <a:ln w="12700">
              <a:solidFill>
                <a:srgbClr val="0078D4"/>
              </a:solidFill>
              <a:headEnd type="none" w="med" len="med"/>
              <a:tailEnd type="none" w="med" len="med"/>
            </a:ln>
            <a:effectLst>
              <a:outerShdw blurRad="63500" dist="63500" dir="2700000"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16000" tIns="36576" rIns="36000" bIns="36000" numCol="1" spcCol="0" rtlCol="0" fromWordArt="0" anchor="ctr" anchorCtr="0" forceAA="0" compatLnSpc="1">
              <a:prstTxWarp prst="textNoShape">
                <a:avLst/>
              </a:prstTxWarp>
              <a:noAutofit/>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78D4"/>
                  </a:solidFill>
                  <a:effectLst/>
                  <a:uLnTx/>
                  <a:uFillTx/>
                  <a:latin typeface="Segoe UI Semibold"/>
                  <a:ea typeface="+mn-ea"/>
                  <a:cs typeface="Segoe UI Semibold" panose="020B0702040204020203" pitchFamily="34" charset="0"/>
                </a:rPr>
                <a:t>Reduce spending</a:t>
              </a:r>
            </a:p>
          </p:txBody>
        </p:sp>
        <p:pic>
          <p:nvPicPr>
            <p:cNvPr id="458" name="Graphic 457">
              <a:extLst>
                <a:ext uri="{FF2B5EF4-FFF2-40B4-BE49-F238E27FC236}">
                  <a16:creationId xmlns:a16="http://schemas.microsoft.com/office/drawing/2014/main" id="{85D5EB9C-3EC1-F4D8-D259-30A285B27D79}"/>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367506" y="4260849"/>
              <a:ext cx="144000" cy="144000"/>
            </a:xfrm>
            <a:prstGeom prst="rect">
              <a:avLst/>
            </a:prstGeom>
          </p:spPr>
        </p:pic>
      </p:grpSp>
      <p:grpSp>
        <p:nvGrpSpPr>
          <p:cNvPr id="459" name="Group 458">
            <a:extLst>
              <a:ext uri="{FF2B5EF4-FFF2-40B4-BE49-F238E27FC236}">
                <a16:creationId xmlns:a16="http://schemas.microsoft.com/office/drawing/2014/main" id="{B63BFC81-2FC0-BFE7-573B-D92ACC0222E0}"/>
              </a:ext>
            </a:extLst>
          </p:cNvPr>
          <p:cNvGrpSpPr/>
          <p:nvPr/>
        </p:nvGrpSpPr>
        <p:grpSpPr>
          <a:xfrm>
            <a:off x="320721" y="4067450"/>
            <a:ext cx="1771605" cy="216000"/>
            <a:chOff x="320721" y="4517211"/>
            <a:chExt cx="1771605" cy="216000"/>
          </a:xfrm>
        </p:grpSpPr>
        <p:sp>
          <p:nvSpPr>
            <p:cNvPr id="460" name="Rectangle: Rounded Corners 6">
              <a:extLst>
                <a:ext uri="{FF2B5EF4-FFF2-40B4-BE49-F238E27FC236}">
                  <a16:creationId xmlns:a16="http://schemas.microsoft.com/office/drawing/2014/main" id="{6C5DA656-EF7D-0367-AE60-0CB610EC13ED}"/>
                </a:ext>
                <a:ext uri="{C183D7F6-B498-43B3-948B-1728B52AA6E4}">
                  <adec:decorative xmlns:adec="http://schemas.microsoft.com/office/drawing/2017/decorative" val="1"/>
                </a:ext>
              </a:extLst>
            </p:cNvPr>
            <p:cNvSpPr>
              <a:spLocks/>
            </p:cNvSpPr>
            <p:nvPr/>
          </p:nvSpPr>
          <p:spPr bwMode="auto">
            <a:xfrm>
              <a:off x="320721" y="4517211"/>
              <a:ext cx="1771605" cy="216000"/>
            </a:xfrm>
            <a:prstGeom prst="roundRect">
              <a:avLst>
                <a:gd name="adj" fmla="val 50000"/>
              </a:avLst>
            </a:prstGeom>
            <a:solidFill>
              <a:srgbClr val="FFFFFF"/>
            </a:solidFill>
            <a:ln w="12700">
              <a:solidFill>
                <a:srgbClr val="0078D4"/>
              </a:solidFill>
              <a:headEnd type="none" w="med" len="med"/>
              <a:tailEnd type="none" w="med" len="med"/>
            </a:ln>
            <a:effectLst>
              <a:outerShdw blurRad="63500" dist="63500" dir="2700000"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16000" tIns="36576" rIns="36000" bIns="36000" numCol="1" spcCol="0" rtlCol="0" fromWordArt="0" anchor="ctr" anchorCtr="0" forceAA="0" compatLnSpc="1">
              <a:prstTxWarp prst="textNoShape">
                <a:avLst/>
              </a:prstTxWarp>
              <a:noAutofit/>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78D4"/>
                  </a:solidFill>
                  <a:effectLst/>
                  <a:uLnTx/>
                  <a:uFillTx/>
                  <a:latin typeface="Segoe UI Semibold"/>
                  <a:ea typeface="+mn-ea"/>
                  <a:cs typeface="Segoe UI Semibold"/>
                </a:rPr>
                <a:t>Risk management</a:t>
              </a:r>
            </a:p>
          </p:txBody>
        </p:sp>
        <p:pic>
          <p:nvPicPr>
            <p:cNvPr id="461" name="Graphic 460">
              <a:extLst>
                <a:ext uri="{FF2B5EF4-FFF2-40B4-BE49-F238E27FC236}">
                  <a16:creationId xmlns:a16="http://schemas.microsoft.com/office/drawing/2014/main" id="{25A16E2B-2C65-2664-AD4A-06203C6EA840}"/>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67507" y="4552645"/>
              <a:ext cx="144000" cy="141732"/>
            </a:xfrm>
            <a:prstGeom prst="rect">
              <a:avLst/>
            </a:prstGeom>
          </p:spPr>
        </p:pic>
      </p:grpSp>
      <p:sp>
        <p:nvSpPr>
          <p:cNvPr id="30" name="TextBox 29">
            <a:extLst>
              <a:ext uri="{FF2B5EF4-FFF2-40B4-BE49-F238E27FC236}">
                <a16:creationId xmlns:a16="http://schemas.microsoft.com/office/drawing/2014/main" id="{BA3A2C0C-7D1E-C89A-44CD-A151993F4514}"/>
              </a:ext>
              <a:ext uri="{C183D7F6-B498-43B3-948B-1728B52AA6E4}">
                <adec:decorative xmlns:adec="http://schemas.microsoft.com/office/drawing/2017/decorative" val="0"/>
              </a:ext>
            </a:extLst>
          </p:cNvPr>
          <p:cNvSpPr txBox="1"/>
          <p:nvPr/>
        </p:nvSpPr>
        <p:spPr>
          <a:xfrm>
            <a:off x="3562472" y="2286931"/>
            <a:ext cx="1830524" cy="1538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Semibold"/>
                <a:ea typeface="+mn-ea"/>
                <a:cs typeface="+mn-cs"/>
              </a:rPr>
              <a:t>Copilot Chat in Word</a:t>
            </a:r>
            <a:r>
              <a:rPr kumimoji="0" lang="en-US" sz="1000" b="0" i="0" u="none" strike="noStrike" kern="1200" cap="none" spc="0" normalizeH="0" baseline="30000" noProof="0" dirty="0">
                <a:ln>
                  <a:noFill/>
                </a:ln>
                <a:solidFill>
                  <a:srgbClr val="000000"/>
                </a:solidFill>
                <a:effectLst/>
                <a:uLnTx/>
                <a:uFillTx/>
                <a:latin typeface="Segoe UI Semibold"/>
                <a:ea typeface="+mn-ea"/>
                <a:cs typeface="+mn-cs"/>
              </a:rPr>
              <a:t>2</a:t>
            </a:r>
          </a:p>
        </p:txBody>
      </p:sp>
      <p:sp>
        <p:nvSpPr>
          <p:cNvPr id="31" name="TextBox 30">
            <a:extLst>
              <a:ext uri="{FF2B5EF4-FFF2-40B4-BE49-F238E27FC236}">
                <a16:creationId xmlns:a16="http://schemas.microsoft.com/office/drawing/2014/main" id="{89AA0D53-285A-6481-CFDF-32FA5EAB6344}"/>
              </a:ext>
              <a:ext uri="{C183D7F6-B498-43B3-948B-1728B52AA6E4}">
                <adec:decorative xmlns:adec="http://schemas.microsoft.com/office/drawing/2017/decorative" val="0"/>
              </a:ext>
            </a:extLst>
          </p:cNvPr>
          <p:cNvSpPr txBox="1"/>
          <p:nvPr/>
        </p:nvSpPr>
        <p:spPr>
          <a:xfrm>
            <a:off x="6446959" y="2286931"/>
            <a:ext cx="1830524" cy="1538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Semibold"/>
                <a:ea typeface="+mn-ea"/>
                <a:cs typeface="+mn-cs"/>
              </a:rPr>
              <a:t>Agent Mode in Word</a:t>
            </a:r>
          </a:p>
        </p:txBody>
      </p:sp>
      <p:sp>
        <p:nvSpPr>
          <p:cNvPr id="32" name="TextBox 31">
            <a:extLst>
              <a:ext uri="{FF2B5EF4-FFF2-40B4-BE49-F238E27FC236}">
                <a16:creationId xmlns:a16="http://schemas.microsoft.com/office/drawing/2014/main" id="{8453F261-5258-65F5-5FB7-EA75EE234078}"/>
              </a:ext>
              <a:ext uri="{C183D7F6-B498-43B3-948B-1728B52AA6E4}">
                <adec:decorative xmlns:adec="http://schemas.microsoft.com/office/drawing/2017/decorative" val="0"/>
              </a:ext>
            </a:extLst>
          </p:cNvPr>
          <p:cNvSpPr txBox="1"/>
          <p:nvPr/>
        </p:nvSpPr>
        <p:spPr>
          <a:xfrm>
            <a:off x="9328927" y="2286931"/>
            <a:ext cx="1420949" cy="1538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Semibold"/>
                <a:ea typeface="+mn-ea"/>
                <a:cs typeface="+mn-cs"/>
              </a:rPr>
              <a:t>Copilot Chat</a:t>
            </a:r>
            <a:r>
              <a:rPr kumimoji="0" lang="en-US" sz="1000" b="0" i="0" u="none" strike="noStrike" kern="1200" cap="none" spc="0" normalizeH="0" baseline="30000" noProof="0" dirty="0">
                <a:ln>
                  <a:noFill/>
                </a:ln>
                <a:solidFill>
                  <a:srgbClr val="000000"/>
                </a:solidFill>
                <a:effectLst/>
                <a:uLnTx/>
                <a:uFillTx/>
                <a:latin typeface="Segoe UI Semibold"/>
                <a:ea typeface="+mn-ea"/>
                <a:cs typeface="+mn-cs"/>
              </a:rPr>
              <a:t>2</a:t>
            </a:r>
          </a:p>
        </p:txBody>
      </p:sp>
      <p:sp>
        <p:nvSpPr>
          <p:cNvPr id="33" name="TextBox 32">
            <a:extLst>
              <a:ext uri="{FF2B5EF4-FFF2-40B4-BE49-F238E27FC236}">
                <a16:creationId xmlns:a16="http://schemas.microsoft.com/office/drawing/2014/main" id="{33B8FB17-3EB3-BD40-9B09-51B4640AC731}"/>
              </a:ext>
              <a:ext uri="{C183D7F6-B498-43B3-948B-1728B52AA6E4}">
                <adec:decorative xmlns:adec="http://schemas.microsoft.com/office/drawing/2017/decorative" val="0"/>
              </a:ext>
            </a:extLst>
          </p:cNvPr>
          <p:cNvSpPr txBox="1"/>
          <p:nvPr/>
        </p:nvSpPr>
        <p:spPr>
          <a:xfrm>
            <a:off x="6446959" y="4886070"/>
            <a:ext cx="1738191" cy="1538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Semibold"/>
                <a:ea typeface="+mn-ea"/>
                <a:cs typeface="+mn-cs"/>
              </a:rPr>
              <a:t>PowerPoint Agent</a:t>
            </a:r>
          </a:p>
        </p:txBody>
      </p:sp>
      <p:sp>
        <p:nvSpPr>
          <p:cNvPr id="34" name="TextBox 33">
            <a:extLst>
              <a:ext uri="{FF2B5EF4-FFF2-40B4-BE49-F238E27FC236}">
                <a16:creationId xmlns:a16="http://schemas.microsoft.com/office/drawing/2014/main" id="{B86C6F37-DC74-7D7C-BAF5-61EB40A0D972}"/>
              </a:ext>
              <a:ext uri="{C183D7F6-B498-43B3-948B-1728B52AA6E4}">
                <adec:decorative xmlns:adec="http://schemas.microsoft.com/office/drawing/2017/decorative" val="0"/>
              </a:ext>
            </a:extLst>
          </p:cNvPr>
          <p:cNvSpPr txBox="1"/>
          <p:nvPr/>
        </p:nvSpPr>
        <p:spPr>
          <a:xfrm>
            <a:off x="3562472" y="4886070"/>
            <a:ext cx="1420949" cy="1538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Semibold"/>
                <a:ea typeface="+mn-ea"/>
                <a:cs typeface="+mn-cs"/>
              </a:rPr>
              <a:t>Copilot in Outlook</a:t>
            </a:r>
          </a:p>
        </p:txBody>
      </p:sp>
      <p:sp>
        <p:nvSpPr>
          <p:cNvPr id="35" name="TextBox 34">
            <a:extLst>
              <a:ext uri="{FF2B5EF4-FFF2-40B4-BE49-F238E27FC236}">
                <a16:creationId xmlns:a16="http://schemas.microsoft.com/office/drawing/2014/main" id="{6DA10133-8C5E-A51C-091E-56DC89534FC1}"/>
              </a:ext>
              <a:ext uri="{C183D7F6-B498-43B3-948B-1728B52AA6E4}">
                <adec:decorative xmlns:adec="http://schemas.microsoft.com/office/drawing/2017/decorative" val="0"/>
              </a:ext>
            </a:extLst>
          </p:cNvPr>
          <p:cNvSpPr txBox="1"/>
          <p:nvPr/>
        </p:nvSpPr>
        <p:spPr>
          <a:xfrm>
            <a:off x="9328927" y="4886070"/>
            <a:ext cx="1830524" cy="1538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Semibold"/>
                <a:ea typeface="+mn-ea"/>
                <a:cs typeface="+mn-cs"/>
              </a:rPr>
              <a:t>Copilot in Loop</a:t>
            </a:r>
          </a:p>
        </p:txBody>
      </p:sp>
      <p:pic>
        <p:nvPicPr>
          <p:cNvPr id="39" name="Picture 50">
            <a:hlinkClick r:id="rId6"/>
            <a:extLst>
              <a:ext uri="{FF2B5EF4-FFF2-40B4-BE49-F238E27FC236}">
                <a16:creationId xmlns:a16="http://schemas.microsoft.com/office/drawing/2014/main" id="{EABE2DD6-81CC-6037-6119-43E238C8F62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975382" y="2242688"/>
            <a:ext cx="242374" cy="242374"/>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Word logo">
            <a:extLst>
              <a:ext uri="{FF2B5EF4-FFF2-40B4-BE49-F238E27FC236}">
                <a16:creationId xmlns:a16="http://schemas.microsoft.com/office/drawing/2014/main" id="{1A859425-CDB2-55FE-3823-8FEFAC6D73A0}"/>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3190516" y="2218985"/>
            <a:ext cx="246576" cy="246576"/>
          </a:xfrm>
          <a:prstGeom prst="ellipse">
            <a:avLst/>
          </a:prstGeom>
          <a:solidFill>
            <a:srgbClr val="FFFFFF"/>
          </a:solidFill>
        </p:spPr>
      </p:pic>
      <p:pic>
        <p:nvPicPr>
          <p:cNvPr id="4" name="Picture 3" descr="Word logo">
            <a:extLst>
              <a:ext uri="{FF2B5EF4-FFF2-40B4-BE49-F238E27FC236}">
                <a16:creationId xmlns:a16="http://schemas.microsoft.com/office/drawing/2014/main" id="{CD5A6748-6C8C-42E6-CA8E-219E7E5DAA3B}"/>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6066318" y="2217579"/>
            <a:ext cx="246576" cy="246576"/>
          </a:xfrm>
          <a:prstGeom prst="ellipse">
            <a:avLst/>
          </a:prstGeom>
          <a:solidFill>
            <a:srgbClr val="FFFFFF"/>
          </a:solidFill>
        </p:spPr>
      </p:pic>
      <p:pic>
        <p:nvPicPr>
          <p:cNvPr id="2" name="Picture 1" descr="Outlook logo">
            <a:extLst>
              <a:ext uri="{FF2B5EF4-FFF2-40B4-BE49-F238E27FC236}">
                <a16:creationId xmlns:a16="http://schemas.microsoft.com/office/drawing/2014/main" id="{1294F501-82DB-1DD4-B7A1-EB51C6E4CD20}"/>
              </a:ext>
            </a:extLst>
          </p:cNvPr>
          <p:cNvPicPr>
            <a:picLocks noChangeAspect="1"/>
          </p:cNvPicPr>
          <p:nvPr/>
        </p:nvPicPr>
        <p:blipFill>
          <a:blip r:embed="rId9"/>
          <a:stretch>
            <a:fillRect/>
          </a:stretch>
        </p:blipFill>
        <p:spPr>
          <a:xfrm>
            <a:off x="3190516" y="4830426"/>
            <a:ext cx="265176" cy="265176"/>
          </a:xfrm>
          <a:prstGeom prst="rect">
            <a:avLst/>
          </a:prstGeom>
        </p:spPr>
      </p:pic>
      <p:pic>
        <p:nvPicPr>
          <p:cNvPr id="5" name="Picture 4" descr="PowerPoint logo">
            <a:extLst>
              <a:ext uri="{FF2B5EF4-FFF2-40B4-BE49-F238E27FC236}">
                <a16:creationId xmlns:a16="http://schemas.microsoft.com/office/drawing/2014/main" id="{FE3A8A9F-692C-A378-5D11-763BBC63FD97}"/>
              </a:ext>
            </a:extLst>
          </p:cNvPr>
          <p:cNvPicPr>
            <a:picLocks noChangeAspect="1"/>
          </p:cNvPicPr>
          <p:nvPr/>
        </p:nvPicPr>
        <p:blipFill>
          <a:blip r:embed="rId10"/>
          <a:stretch>
            <a:fillRect/>
          </a:stretch>
        </p:blipFill>
        <p:spPr>
          <a:xfrm>
            <a:off x="6096000" y="4827159"/>
            <a:ext cx="265176" cy="265176"/>
          </a:xfrm>
          <a:prstGeom prst="rect">
            <a:avLst/>
          </a:prstGeom>
        </p:spPr>
      </p:pic>
    </p:spTree>
    <p:extLst>
      <p:ext uri="{BB962C8B-B14F-4D97-AF65-F5344CB8AC3E}">
        <p14:creationId xmlns:p14="http://schemas.microsoft.com/office/powerpoint/2010/main" val="3111470145"/>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 name="Text Placeholder 265">
            <a:extLst>
              <a:ext uri="{FF2B5EF4-FFF2-40B4-BE49-F238E27FC236}">
                <a16:creationId xmlns:a16="http://schemas.microsoft.com/office/drawing/2014/main" id="{D3906E65-0F4D-93F2-033E-7D53FBDEA8D6}"/>
              </a:ext>
            </a:extLst>
          </p:cNvPr>
          <p:cNvSpPr>
            <a:spLocks noGrp="1"/>
          </p:cNvSpPr>
          <p:nvPr>
            <p:ph type="body" sz="quarter" idx="42"/>
          </p:nvPr>
        </p:nvSpPr>
        <p:spPr>
          <a:xfrm>
            <a:off x="311388" y="1026303"/>
            <a:ext cx="2431246" cy="1131079"/>
          </a:xfrm>
        </p:spPr>
        <p:txBody>
          <a:bodyPr/>
          <a:lstStyle/>
          <a:p>
            <a:r>
              <a:rPr lang="en-US" noProof="0" dirty="0"/>
              <a:t>Finance professionals can use AI for help updating RFx documentation and modeling the impacts of any requirements changes.</a:t>
            </a:r>
          </a:p>
          <a:p>
            <a:endParaRPr lang="en-US" noProof="0" dirty="0"/>
          </a:p>
        </p:txBody>
      </p:sp>
      <p:sp>
        <p:nvSpPr>
          <p:cNvPr id="198" name="Text Placeholder 197">
            <a:extLst>
              <a:ext uri="{FF2B5EF4-FFF2-40B4-BE49-F238E27FC236}">
                <a16:creationId xmlns:a16="http://schemas.microsoft.com/office/drawing/2014/main" id="{C75BCC6E-02D0-BB55-0521-A8DBB7E60CA7}"/>
              </a:ext>
            </a:extLst>
          </p:cNvPr>
          <p:cNvSpPr>
            <a:spLocks noGrp="1"/>
          </p:cNvSpPr>
          <p:nvPr>
            <p:ph type="body" sz="quarter" idx="43"/>
          </p:nvPr>
        </p:nvSpPr>
        <p:spPr>
          <a:xfrm>
            <a:off x="10430351" y="521099"/>
            <a:ext cx="1456966" cy="175614"/>
          </a:xfrm>
        </p:spPr>
        <p:txBody>
          <a:bodyPr/>
          <a:lstStyle/>
          <a:p>
            <a:r>
              <a:rPr lang="en-US" noProof="0" dirty="0"/>
              <a:t>Buy</a:t>
            </a:r>
          </a:p>
        </p:txBody>
      </p:sp>
      <p:sp>
        <p:nvSpPr>
          <p:cNvPr id="199" name="Text Placeholder 198">
            <a:extLst>
              <a:ext uri="{FF2B5EF4-FFF2-40B4-BE49-F238E27FC236}">
                <a16:creationId xmlns:a16="http://schemas.microsoft.com/office/drawing/2014/main" id="{C7932F4F-9DE0-BA80-0C4B-42B4C704EC8C}"/>
              </a:ext>
            </a:extLst>
          </p:cNvPr>
          <p:cNvSpPr>
            <a:spLocks noGrp="1"/>
          </p:cNvSpPr>
          <p:nvPr>
            <p:ph type="body" sz="quarter" idx="44"/>
          </p:nvPr>
        </p:nvSpPr>
        <p:spPr>
          <a:xfrm>
            <a:off x="7149557" y="521100"/>
            <a:ext cx="2969488" cy="169277"/>
          </a:xfrm>
        </p:spPr>
        <p:txBody>
          <a:bodyPr/>
          <a:lstStyle/>
          <a:p>
            <a:r>
              <a:rPr lang="en-US" noProof="0" dirty="0"/>
              <a:t>Microsoft 365 Copilot</a:t>
            </a:r>
          </a:p>
        </p:txBody>
      </p:sp>
      <p:sp>
        <p:nvSpPr>
          <p:cNvPr id="200" name="Text Placeholder 199">
            <a:extLst>
              <a:ext uri="{FF2B5EF4-FFF2-40B4-BE49-F238E27FC236}">
                <a16:creationId xmlns:a16="http://schemas.microsoft.com/office/drawing/2014/main" id="{2D0EA592-B1ED-9D80-6F3F-2A6CF146E51F}"/>
              </a:ext>
            </a:extLst>
          </p:cNvPr>
          <p:cNvSpPr>
            <a:spLocks noGrp="1"/>
          </p:cNvSpPr>
          <p:nvPr>
            <p:ph type="body" sz="quarter" idx="46"/>
          </p:nvPr>
        </p:nvSpPr>
        <p:spPr>
          <a:xfrm>
            <a:off x="3182889" y="2725494"/>
            <a:ext cx="2572262" cy="712876"/>
          </a:xfrm>
        </p:spPr>
        <p:txBody>
          <a:bodyPr/>
          <a:lstStyle/>
          <a:p>
            <a:r>
              <a:rPr lang="en-US" noProof="0" dirty="0"/>
              <a:t>Action: In Meeting Recap, review meeting </a:t>
            </a:r>
            <a:r>
              <a:rPr lang="en-US" noProof="0" dirty="0">
                <a:latin typeface="+mj-lt"/>
              </a:rPr>
              <a:t>topics</a:t>
            </a:r>
            <a:r>
              <a:rPr lang="en-US" noProof="0" dirty="0"/>
              <a:t> to quickly locate the relevant details for your document updates.</a:t>
            </a:r>
          </a:p>
        </p:txBody>
      </p:sp>
      <p:sp>
        <p:nvSpPr>
          <p:cNvPr id="201" name="Text Placeholder 200">
            <a:extLst>
              <a:ext uri="{FF2B5EF4-FFF2-40B4-BE49-F238E27FC236}">
                <a16:creationId xmlns:a16="http://schemas.microsoft.com/office/drawing/2014/main" id="{19A2C5A6-7121-0D28-7751-082D973C15EB}"/>
              </a:ext>
            </a:extLst>
          </p:cNvPr>
          <p:cNvSpPr>
            <a:spLocks noGrp="1"/>
          </p:cNvSpPr>
          <p:nvPr>
            <p:ph type="body" sz="quarter" idx="47"/>
          </p:nvPr>
        </p:nvSpPr>
        <p:spPr>
          <a:xfrm>
            <a:off x="3182890" y="1112478"/>
            <a:ext cx="2572262" cy="153888"/>
          </a:xfrm>
        </p:spPr>
        <p:txBody>
          <a:bodyPr/>
          <a:lstStyle/>
          <a:p>
            <a:r>
              <a:rPr lang="en-US" noProof="0" dirty="0"/>
              <a:t>Get meeting insights</a:t>
            </a:r>
          </a:p>
        </p:txBody>
      </p:sp>
      <p:sp>
        <p:nvSpPr>
          <p:cNvPr id="202" name="Text Placeholder 201">
            <a:extLst>
              <a:ext uri="{FF2B5EF4-FFF2-40B4-BE49-F238E27FC236}">
                <a16:creationId xmlns:a16="http://schemas.microsoft.com/office/drawing/2014/main" id="{90A2F170-A296-CFE9-B883-91877E21C8E2}"/>
              </a:ext>
            </a:extLst>
          </p:cNvPr>
          <p:cNvSpPr>
            <a:spLocks noGrp="1"/>
          </p:cNvSpPr>
          <p:nvPr>
            <p:ph type="body" sz="quarter" idx="48"/>
          </p:nvPr>
        </p:nvSpPr>
        <p:spPr>
          <a:xfrm>
            <a:off x="3182890" y="1438715"/>
            <a:ext cx="2572262" cy="626701"/>
          </a:xfrm>
        </p:spPr>
        <p:txBody>
          <a:bodyPr/>
          <a:lstStyle/>
          <a:p>
            <a:r>
              <a:rPr lang="en-US" noProof="0" dirty="0"/>
              <a:t>Review meeting details to determine the changes to be made in the RFx document. </a:t>
            </a:r>
          </a:p>
        </p:txBody>
      </p:sp>
      <p:sp>
        <p:nvSpPr>
          <p:cNvPr id="203" name="Text Placeholder 202">
            <a:extLst>
              <a:ext uri="{FF2B5EF4-FFF2-40B4-BE49-F238E27FC236}">
                <a16:creationId xmlns:a16="http://schemas.microsoft.com/office/drawing/2014/main" id="{3FE76263-D78D-ED6B-D6D6-74F4EE3E5825}"/>
              </a:ext>
            </a:extLst>
          </p:cNvPr>
          <p:cNvSpPr>
            <a:spLocks noGrp="1"/>
          </p:cNvSpPr>
          <p:nvPr>
            <p:ph type="body" sz="quarter" idx="49"/>
          </p:nvPr>
        </p:nvSpPr>
        <p:spPr>
          <a:xfrm>
            <a:off x="6066682" y="1112478"/>
            <a:ext cx="2572262" cy="153888"/>
          </a:xfrm>
        </p:spPr>
        <p:txBody>
          <a:bodyPr/>
          <a:lstStyle/>
          <a:p>
            <a:r>
              <a:rPr lang="en-US" noProof="0" dirty="0"/>
              <a:t>Ask questions</a:t>
            </a:r>
          </a:p>
        </p:txBody>
      </p:sp>
      <p:sp>
        <p:nvSpPr>
          <p:cNvPr id="204" name="Text Placeholder 203">
            <a:extLst>
              <a:ext uri="{FF2B5EF4-FFF2-40B4-BE49-F238E27FC236}">
                <a16:creationId xmlns:a16="http://schemas.microsoft.com/office/drawing/2014/main" id="{B5B54A75-2F13-BD7E-4A08-0B80D022BDCE}"/>
              </a:ext>
            </a:extLst>
          </p:cNvPr>
          <p:cNvSpPr>
            <a:spLocks noGrp="1"/>
          </p:cNvSpPr>
          <p:nvPr>
            <p:ph type="body" sz="quarter" idx="50"/>
          </p:nvPr>
        </p:nvSpPr>
        <p:spPr>
          <a:xfrm>
            <a:off x="6066682" y="1438715"/>
            <a:ext cx="2572262" cy="626701"/>
          </a:xfrm>
        </p:spPr>
        <p:txBody>
          <a:bodyPr/>
          <a:lstStyle/>
          <a:p>
            <a:r>
              <a:rPr lang="en-US" noProof="0" dirty="0"/>
              <a:t>Use Copilot to locate the latest RFx document that needs updating based on the stakeholder request.</a:t>
            </a:r>
          </a:p>
        </p:txBody>
      </p:sp>
      <p:sp>
        <p:nvSpPr>
          <p:cNvPr id="208" name="Text Placeholder 207">
            <a:extLst>
              <a:ext uri="{FF2B5EF4-FFF2-40B4-BE49-F238E27FC236}">
                <a16:creationId xmlns:a16="http://schemas.microsoft.com/office/drawing/2014/main" id="{399D5DA9-B50F-715B-39C6-5A7B87134ABF}"/>
              </a:ext>
            </a:extLst>
          </p:cNvPr>
          <p:cNvSpPr>
            <a:spLocks noGrp="1"/>
          </p:cNvSpPr>
          <p:nvPr>
            <p:ph type="body" sz="quarter" idx="67"/>
          </p:nvPr>
        </p:nvSpPr>
        <p:spPr>
          <a:xfrm>
            <a:off x="8950475" y="2725494"/>
            <a:ext cx="2572262" cy="712876"/>
          </a:xfrm>
        </p:spPr>
        <p:txBody>
          <a:bodyPr/>
          <a:lstStyle/>
          <a:p>
            <a:r>
              <a:rPr lang="en-US" noProof="0" dirty="0"/>
              <a:t>Example prompt: </a:t>
            </a:r>
            <a:r>
              <a:rPr lang="en-US" noProof="0" dirty="0">
                <a:latin typeface="+mj-lt"/>
              </a:rPr>
              <a:t>Highlight the cells yellow </a:t>
            </a:r>
            <a:r>
              <a:rPr lang="en-US" noProof="0" dirty="0"/>
              <a:t>where the “adjusted expected spend” exceeds $10,000.</a:t>
            </a:r>
          </a:p>
        </p:txBody>
      </p:sp>
      <p:sp>
        <p:nvSpPr>
          <p:cNvPr id="206" name="Text Placeholder 205">
            <a:extLst>
              <a:ext uri="{FF2B5EF4-FFF2-40B4-BE49-F238E27FC236}">
                <a16:creationId xmlns:a16="http://schemas.microsoft.com/office/drawing/2014/main" id="{9E8E017C-24C6-0C8A-86E0-587141F6E33D}"/>
              </a:ext>
            </a:extLst>
          </p:cNvPr>
          <p:cNvSpPr>
            <a:spLocks noGrp="1"/>
          </p:cNvSpPr>
          <p:nvPr>
            <p:ph type="body" sz="quarter" idx="52"/>
          </p:nvPr>
        </p:nvSpPr>
        <p:spPr>
          <a:xfrm>
            <a:off x="8950475" y="1112478"/>
            <a:ext cx="2572262" cy="153888"/>
          </a:xfrm>
        </p:spPr>
        <p:txBody>
          <a:bodyPr/>
          <a:lstStyle/>
          <a:p>
            <a:r>
              <a:rPr lang="en-US" noProof="0" dirty="0"/>
              <a:t>Analyze financial impact</a:t>
            </a:r>
          </a:p>
        </p:txBody>
      </p:sp>
      <p:sp>
        <p:nvSpPr>
          <p:cNvPr id="207" name="Text Placeholder 206">
            <a:extLst>
              <a:ext uri="{FF2B5EF4-FFF2-40B4-BE49-F238E27FC236}">
                <a16:creationId xmlns:a16="http://schemas.microsoft.com/office/drawing/2014/main" id="{31A9F0B2-AE57-A735-8FED-3A4FD4178E46}"/>
              </a:ext>
            </a:extLst>
          </p:cNvPr>
          <p:cNvSpPr>
            <a:spLocks noGrp="1"/>
          </p:cNvSpPr>
          <p:nvPr>
            <p:ph type="body" sz="quarter" idx="53"/>
          </p:nvPr>
        </p:nvSpPr>
        <p:spPr>
          <a:xfrm>
            <a:off x="8950475" y="1438715"/>
            <a:ext cx="2572262" cy="626701"/>
          </a:xfrm>
        </p:spPr>
        <p:txBody>
          <a:bodyPr/>
          <a:lstStyle/>
          <a:p>
            <a:r>
              <a:rPr lang="en-US" noProof="0" dirty="0"/>
              <a:t>Adjust your financial model to confirm the expected change in costs and review where it exceeds your threshold. </a:t>
            </a:r>
          </a:p>
        </p:txBody>
      </p:sp>
      <p:sp>
        <p:nvSpPr>
          <p:cNvPr id="205" name="Text Placeholder 204">
            <a:extLst>
              <a:ext uri="{FF2B5EF4-FFF2-40B4-BE49-F238E27FC236}">
                <a16:creationId xmlns:a16="http://schemas.microsoft.com/office/drawing/2014/main" id="{651F2454-F0AE-E3E1-D10C-06BCC9226440}"/>
              </a:ext>
            </a:extLst>
          </p:cNvPr>
          <p:cNvSpPr>
            <a:spLocks noGrp="1"/>
          </p:cNvSpPr>
          <p:nvPr>
            <p:ph type="body" sz="quarter" idx="66"/>
          </p:nvPr>
        </p:nvSpPr>
        <p:spPr>
          <a:xfrm>
            <a:off x="6066682" y="2725494"/>
            <a:ext cx="2572262" cy="712876"/>
          </a:xfrm>
        </p:spPr>
        <p:txBody>
          <a:bodyPr/>
          <a:lstStyle/>
          <a:p>
            <a:r>
              <a:rPr lang="en-US" noProof="0" dirty="0"/>
              <a:t>Example prompt: </a:t>
            </a:r>
            <a:r>
              <a:rPr lang="en-US" noProof="0" dirty="0">
                <a:latin typeface="+mj-lt"/>
              </a:rPr>
              <a:t>Locate</a:t>
            </a:r>
            <a:r>
              <a:rPr lang="en-US" noProof="0" dirty="0"/>
              <a:t> the latest RFx document created by your team in the</a:t>
            </a:r>
            <a:br>
              <a:rPr lang="en-US" noProof="0" dirty="0"/>
            </a:br>
            <a:r>
              <a:rPr lang="en-US" noProof="0" dirty="0"/>
              <a:t>last week.</a:t>
            </a:r>
          </a:p>
        </p:txBody>
      </p:sp>
      <p:sp>
        <p:nvSpPr>
          <p:cNvPr id="209" name="Text Placeholder 208">
            <a:extLst>
              <a:ext uri="{FF2B5EF4-FFF2-40B4-BE49-F238E27FC236}">
                <a16:creationId xmlns:a16="http://schemas.microsoft.com/office/drawing/2014/main" id="{B0B5809C-8C4E-DED9-B85E-745D6EA185DB}"/>
              </a:ext>
            </a:extLst>
          </p:cNvPr>
          <p:cNvSpPr>
            <a:spLocks noGrp="1"/>
          </p:cNvSpPr>
          <p:nvPr>
            <p:ph type="body" sz="quarter" idx="58"/>
          </p:nvPr>
        </p:nvSpPr>
        <p:spPr>
          <a:xfrm>
            <a:off x="4036409" y="3725103"/>
            <a:ext cx="3161734" cy="153888"/>
          </a:xfrm>
        </p:spPr>
        <p:txBody>
          <a:bodyPr/>
          <a:lstStyle/>
          <a:p>
            <a:r>
              <a:rPr lang="en-US" noProof="0" dirty="0"/>
              <a:t>Request feedback</a:t>
            </a:r>
          </a:p>
        </p:txBody>
      </p:sp>
      <p:sp>
        <p:nvSpPr>
          <p:cNvPr id="210" name="Text Placeholder 209">
            <a:extLst>
              <a:ext uri="{FF2B5EF4-FFF2-40B4-BE49-F238E27FC236}">
                <a16:creationId xmlns:a16="http://schemas.microsoft.com/office/drawing/2014/main" id="{37BD56DF-FF75-428F-177A-A0B8D6B8D471}"/>
              </a:ext>
            </a:extLst>
          </p:cNvPr>
          <p:cNvSpPr>
            <a:spLocks noGrp="1"/>
          </p:cNvSpPr>
          <p:nvPr>
            <p:ph type="body" sz="quarter" idx="59"/>
          </p:nvPr>
        </p:nvSpPr>
        <p:spPr>
          <a:xfrm>
            <a:off x="4036409" y="4050957"/>
            <a:ext cx="3161734" cy="626701"/>
          </a:xfrm>
        </p:spPr>
        <p:txBody>
          <a:bodyPr/>
          <a:lstStyle/>
          <a:p>
            <a:r>
              <a:rPr lang="en-US" noProof="0" dirty="0"/>
              <a:t>Draft and send an email to your stakeholder summarizing the changes.</a:t>
            </a:r>
          </a:p>
        </p:txBody>
      </p:sp>
      <p:sp>
        <p:nvSpPr>
          <p:cNvPr id="214" name="Text Placeholder 213">
            <a:extLst>
              <a:ext uri="{FF2B5EF4-FFF2-40B4-BE49-F238E27FC236}">
                <a16:creationId xmlns:a16="http://schemas.microsoft.com/office/drawing/2014/main" id="{315A2152-E311-C540-1437-0DEEE32208C6}"/>
              </a:ext>
            </a:extLst>
          </p:cNvPr>
          <p:cNvSpPr>
            <a:spLocks noGrp="1"/>
          </p:cNvSpPr>
          <p:nvPr>
            <p:ph type="body" sz="quarter" idx="69"/>
          </p:nvPr>
        </p:nvSpPr>
        <p:spPr>
          <a:xfrm>
            <a:off x="7507483" y="5338502"/>
            <a:ext cx="3161734" cy="712876"/>
          </a:xfrm>
        </p:spPr>
        <p:txBody>
          <a:bodyPr/>
          <a:lstStyle/>
          <a:p>
            <a:r>
              <a:rPr lang="en-US" noProof="0" dirty="0"/>
              <a:t>Example prompt: </a:t>
            </a:r>
            <a:r>
              <a:rPr lang="en-US" noProof="0" dirty="0">
                <a:latin typeface="+mj-lt"/>
              </a:rPr>
              <a:t>Summarize the updated sections</a:t>
            </a:r>
            <a:r>
              <a:rPr lang="en-US" noProof="0" dirty="0"/>
              <a:t> into a few bullet points. This will be added with your Microsoft Excel chart in an email to the stakeholder.</a:t>
            </a:r>
          </a:p>
        </p:txBody>
      </p:sp>
      <p:sp>
        <p:nvSpPr>
          <p:cNvPr id="212" name="Text Placeholder 211">
            <a:extLst>
              <a:ext uri="{FF2B5EF4-FFF2-40B4-BE49-F238E27FC236}">
                <a16:creationId xmlns:a16="http://schemas.microsoft.com/office/drawing/2014/main" id="{6B96B302-8A89-20AC-31EB-20604DFA2EED}"/>
              </a:ext>
            </a:extLst>
          </p:cNvPr>
          <p:cNvSpPr>
            <a:spLocks noGrp="1"/>
          </p:cNvSpPr>
          <p:nvPr>
            <p:ph type="body" sz="quarter" idx="61"/>
          </p:nvPr>
        </p:nvSpPr>
        <p:spPr>
          <a:xfrm>
            <a:off x="7507483" y="3725103"/>
            <a:ext cx="3161734" cy="153888"/>
          </a:xfrm>
        </p:spPr>
        <p:txBody>
          <a:bodyPr/>
          <a:lstStyle/>
          <a:p>
            <a:r>
              <a:rPr lang="en-US" noProof="0" dirty="0"/>
              <a:t>Efficient document updates</a:t>
            </a:r>
          </a:p>
        </p:txBody>
      </p:sp>
      <p:sp>
        <p:nvSpPr>
          <p:cNvPr id="213" name="Text Placeholder 212">
            <a:extLst>
              <a:ext uri="{FF2B5EF4-FFF2-40B4-BE49-F238E27FC236}">
                <a16:creationId xmlns:a16="http://schemas.microsoft.com/office/drawing/2014/main" id="{2D94A502-E810-C751-E67B-79633806B6E8}"/>
              </a:ext>
            </a:extLst>
          </p:cNvPr>
          <p:cNvSpPr>
            <a:spLocks noGrp="1"/>
          </p:cNvSpPr>
          <p:nvPr>
            <p:ph type="body" sz="quarter" idx="62"/>
          </p:nvPr>
        </p:nvSpPr>
        <p:spPr>
          <a:xfrm>
            <a:off x="7507483" y="4050957"/>
            <a:ext cx="3161734" cy="626701"/>
          </a:xfrm>
        </p:spPr>
        <p:txBody>
          <a:bodyPr/>
          <a:lstStyle/>
          <a:p>
            <a:r>
              <a:rPr lang="en-US" noProof="0" dirty="0"/>
              <a:t>Rewrite the relevant document sections that need updating based on the new RFx information. </a:t>
            </a:r>
          </a:p>
        </p:txBody>
      </p:sp>
      <p:sp>
        <p:nvSpPr>
          <p:cNvPr id="211" name="Text Placeholder 210">
            <a:extLst>
              <a:ext uri="{FF2B5EF4-FFF2-40B4-BE49-F238E27FC236}">
                <a16:creationId xmlns:a16="http://schemas.microsoft.com/office/drawing/2014/main" id="{BC49C77C-E283-2798-17C6-B30BA94467E2}"/>
              </a:ext>
            </a:extLst>
          </p:cNvPr>
          <p:cNvSpPr>
            <a:spLocks noGrp="1"/>
          </p:cNvSpPr>
          <p:nvPr>
            <p:ph type="body" sz="quarter" idx="68"/>
          </p:nvPr>
        </p:nvSpPr>
        <p:spPr>
          <a:xfrm>
            <a:off x="4036409" y="5338502"/>
            <a:ext cx="3161734" cy="712876"/>
          </a:xfrm>
        </p:spPr>
        <p:txBody>
          <a:bodyPr/>
          <a:lstStyle/>
          <a:p>
            <a:r>
              <a:rPr lang="en-US" noProof="0" dirty="0"/>
              <a:t>Action: Use </a:t>
            </a:r>
            <a:r>
              <a:rPr lang="en-US" noProof="0" dirty="0">
                <a:latin typeface="+mj-lt"/>
              </a:rPr>
              <a:t>Coaching by Copilot</a:t>
            </a:r>
            <a:r>
              <a:rPr lang="en-US" noProof="0" dirty="0"/>
              <a:t>: write an email to my stakeholder outlining the updates, gain alignment, and offer a meeting to discuss.</a:t>
            </a:r>
          </a:p>
        </p:txBody>
      </p:sp>
      <p:sp>
        <p:nvSpPr>
          <p:cNvPr id="215" name="Text Placeholder 214">
            <a:extLst>
              <a:ext uri="{FF2B5EF4-FFF2-40B4-BE49-F238E27FC236}">
                <a16:creationId xmlns:a16="http://schemas.microsoft.com/office/drawing/2014/main" id="{C1B4CCD2-A74A-C94E-FEFC-505ECB925F46}"/>
              </a:ext>
            </a:extLst>
          </p:cNvPr>
          <p:cNvSpPr>
            <a:spLocks noGrp="1"/>
          </p:cNvSpPr>
          <p:nvPr>
            <p:ph type="body" sz="quarter" idx="64"/>
          </p:nvPr>
        </p:nvSpPr>
        <p:spPr>
          <a:xfrm>
            <a:off x="320721" y="4709762"/>
            <a:ext cx="1131651" cy="219456"/>
          </a:xfrm>
        </p:spPr>
        <p:txBody>
          <a:bodyPr/>
          <a:lstStyle/>
          <a:p>
            <a:r>
              <a:rPr lang="en-US" noProof="0" dirty="0"/>
              <a:t>Value benefit</a:t>
            </a:r>
          </a:p>
        </p:txBody>
      </p:sp>
      <p:sp>
        <p:nvSpPr>
          <p:cNvPr id="216" name="Text Placeholder 215">
            <a:extLst>
              <a:ext uri="{FF2B5EF4-FFF2-40B4-BE49-F238E27FC236}">
                <a16:creationId xmlns:a16="http://schemas.microsoft.com/office/drawing/2014/main" id="{FFCAA7B5-3EAE-709A-26DB-F4233F4BF054}"/>
              </a:ext>
            </a:extLst>
          </p:cNvPr>
          <p:cNvSpPr>
            <a:spLocks noGrp="1"/>
          </p:cNvSpPr>
          <p:nvPr>
            <p:ph type="body" sz="quarter" idx="65"/>
          </p:nvPr>
        </p:nvSpPr>
        <p:spPr>
          <a:xfrm>
            <a:off x="320721" y="3467940"/>
            <a:ext cx="1131650" cy="219456"/>
          </a:xfrm>
        </p:spPr>
        <p:txBody>
          <a:bodyPr/>
          <a:lstStyle/>
          <a:p>
            <a:r>
              <a:rPr lang="en-US" noProof="0" dirty="0"/>
              <a:t>KPIs impacted</a:t>
            </a:r>
          </a:p>
        </p:txBody>
      </p:sp>
      <p:sp>
        <p:nvSpPr>
          <p:cNvPr id="174" name="Text Placeholder 173">
            <a:extLst>
              <a:ext uri="{FF2B5EF4-FFF2-40B4-BE49-F238E27FC236}">
                <a16:creationId xmlns:a16="http://schemas.microsoft.com/office/drawing/2014/main" id="{53D2AAA5-9526-0512-0137-866E7C8E1C14}"/>
              </a:ext>
            </a:extLst>
          </p:cNvPr>
          <p:cNvSpPr>
            <a:spLocks noGrp="1"/>
          </p:cNvSpPr>
          <p:nvPr>
            <p:ph type="body" sz="quarter" idx="33"/>
          </p:nvPr>
        </p:nvSpPr>
        <p:spPr>
          <a:xfrm>
            <a:off x="304796" y="413987"/>
            <a:ext cx="1941119" cy="307777"/>
          </a:xfrm>
        </p:spPr>
        <p:txBody>
          <a:bodyPr/>
          <a:lstStyle/>
          <a:p>
            <a:r>
              <a:rPr lang="en-US" noProof="0" dirty="0"/>
              <a:t>Finance</a:t>
            </a:r>
          </a:p>
        </p:txBody>
      </p:sp>
      <p:sp>
        <p:nvSpPr>
          <p:cNvPr id="151" name="Title 150">
            <a:extLst>
              <a:ext uri="{FF2B5EF4-FFF2-40B4-BE49-F238E27FC236}">
                <a16:creationId xmlns:a16="http://schemas.microsoft.com/office/drawing/2014/main" id="{161CC94D-DC90-1C7B-270F-BFEC4B7CF780}"/>
              </a:ext>
            </a:extLst>
          </p:cNvPr>
          <p:cNvSpPr>
            <a:spLocks noGrp="1"/>
          </p:cNvSpPr>
          <p:nvPr>
            <p:ph type="title"/>
          </p:nvPr>
        </p:nvSpPr>
        <p:spPr>
          <a:xfrm>
            <a:off x="2492556" y="429376"/>
            <a:ext cx="4144817" cy="276999"/>
          </a:xfrm>
        </p:spPr>
        <p:txBody>
          <a:bodyPr/>
          <a:lstStyle/>
          <a:p>
            <a:r>
              <a:rPr lang="en-US" noProof="0" dirty="0"/>
              <a:t>Update a guidance document</a:t>
            </a:r>
          </a:p>
        </p:txBody>
      </p:sp>
      <p:grpSp>
        <p:nvGrpSpPr>
          <p:cNvPr id="219" name="Group 218">
            <a:extLst>
              <a:ext uri="{FF2B5EF4-FFF2-40B4-BE49-F238E27FC236}">
                <a16:creationId xmlns:a16="http://schemas.microsoft.com/office/drawing/2014/main" id="{6FB81BBF-8EE4-177F-9440-308FF46FEB16}"/>
              </a:ext>
            </a:extLst>
          </p:cNvPr>
          <p:cNvGrpSpPr>
            <a:grpSpLocks/>
          </p:cNvGrpSpPr>
          <p:nvPr/>
        </p:nvGrpSpPr>
        <p:grpSpPr>
          <a:xfrm>
            <a:off x="320719" y="5020658"/>
            <a:ext cx="1771605" cy="216000"/>
            <a:chOff x="320721" y="4517211"/>
            <a:chExt cx="1771605" cy="216000"/>
          </a:xfrm>
        </p:grpSpPr>
        <p:sp>
          <p:nvSpPr>
            <p:cNvPr id="220" name="Rectangle: Rounded Corners 6">
              <a:extLst>
                <a:ext uri="{FF2B5EF4-FFF2-40B4-BE49-F238E27FC236}">
                  <a16:creationId xmlns:a16="http://schemas.microsoft.com/office/drawing/2014/main" id="{58AFA1A7-BF4F-5933-CEA6-0ECB554AC465}"/>
                </a:ext>
                <a:ext uri="{C183D7F6-B498-43B3-948B-1728B52AA6E4}">
                  <adec:decorative xmlns:adec="http://schemas.microsoft.com/office/drawing/2017/decorative" val="1"/>
                </a:ext>
              </a:extLst>
            </p:cNvPr>
            <p:cNvSpPr>
              <a:spLocks/>
            </p:cNvSpPr>
            <p:nvPr/>
          </p:nvSpPr>
          <p:spPr bwMode="auto">
            <a:xfrm>
              <a:off x="320721" y="4517211"/>
              <a:ext cx="1771605" cy="216000"/>
            </a:xfrm>
            <a:prstGeom prst="roundRect">
              <a:avLst>
                <a:gd name="adj" fmla="val 50000"/>
              </a:avLst>
            </a:prstGeom>
            <a:solidFill>
              <a:srgbClr val="FFFFFF"/>
            </a:solidFill>
            <a:ln w="12700">
              <a:solidFill>
                <a:srgbClr val="C03BC4"/>
              </a:solidFill>
              <a:headEnd type="none" w="med" len="med"/>
              <a:tailEnd type="none" w="med" len="med"/>
            </a:ln>
            <a:effectLst>
              <a:outerShdw blurRad="63500" dist="63500" dir="2700000"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16000" tIns="36576" rIns="36000" bIns="36000" numCol="1" spcCol="0" rtlCol="0" fromWordArt="0" anchor="ctr" anchorCtr="0" forceAA="0" compatLnSpc="1">
              <a:prstTxWarp prst="textNoShape">
                <a:avLst/>
              </a:prstTxWarp>
              <a:noAutofit/>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C03BC4"/>
                  </a:solidFill>
                  <a:effectLst/>
                  <a:uLnTx/>
                  <a:uFillTx/>
                  <a:latin typeface="Segoe UI Semibold"/>
                  <a:ea typeface="+mn-ea"/>
                  <a:cs typeface="Segoe UI Semibold" panose="020B0702040204020203" pitchFamily="34" charset="0"/>
                </a:rPr>
                <a:t>Cost savings</a:t>
              </a:r>
            </a:p>
          </p:txBody>
        </p:sp>
        <p:pic>
          <p:nvPicPr>
            <p:cNvPr id="221" name="Graphic 220">
              <a:extLst>
                <a:ext uri="{FF2B5EF4-FFF2-40B4-BE49-F238E27FC236}">
                  <a16:creationId xmlns:a16="http://schemas.microsoft.com/office/drawing/2014/main" id="{36BFA192-88BA-8D2F-078A-2CEC9C190C7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67507" y="4554345"/>
              <a:ext cx="144000" cy="141732"/>
            </a:xfrm>
            <a:prstGeom prst="rect">
              <a:avLst/>
            </a:prstGeom>
          </p:spPr>
        </p:pic>
      </p:grpSp>
      <p:grpSp>
        <p:nvGrpSpPr>
          <p:cNvPr id="222" name="Group 221">
            <a:extLst>
              <a:ext uri="{FF2B5EF4-FFF2-40B4-BE49-F238E27FC236}">
                <a16:creationId xmlns:a16="http://schemas.microsoft.com/office/drawing/2014/main" id="{41485B38-21F2-B560-C1BD-1F0F44B4F50D}"/>
              </a:ext>
            </a:extLst>
          </p:cNvPr>
          <p:cNvGrpSpPr>
            <a:grpSpLocks/>
          </p:cNvGrpSpPr>
          <p:nvPr/>
        </p:nvGrpSpPr>
        <p:grpSpPr>
          <a:xfrm>
            <a:off x="320721" y="5309272"/>
            <a:ext cx="1771605" cy="216000"/>
            <a:chOff x="320719" y="4224856"/>
            <a:chExt cx="1771605" cy="219456"/>
          </a:xfrm>
        </p:grpSpPr>
        <p:sp>
          <p:nvSpPr>
            <p:cNvPr id="223" name="Rectangle: Rounded Corners 6">
              <a:extLst>
                <a:ext uri="{FF2B5EF4-FFF2-40B4-BE49-F238E27FC236}">
                  <a16:creationId xmlns:a16="http://schemas.microsoft.com/office/drawing/2014/main" id="{303F98D9-B3D7-74A7-EAFC-24AE4C2E1A8A}"/>
                </a:ext>
                <a:ext uri="{C183D7F6-B498-43B3-948B-1728B52AA6E4}">
                  <adec:decorative xmlns:adec="http://schemas.microsoft.com/office/drawing/2017/decorative" val="1"/>
                </a:ext>
              </a:extLst>
            </p:cNvPr>
            <p:cNvSpPr/>
            <p:nvPr/>
          </p:nvSpPr>
          <p:spPr bwMode="auto">
            <a:xfrm>
              <a:off x="320719" y="4224856"/>
              <a:ext cx="1771605" cy="219456"/>
            </a:xfrm>
            <a:prstGeom prst="roundRect">
              <a:avLst>
                <a:gd name="adj" fmla="val 50000"/>
              </a:avLst>
            </a:prstGeom>
            <a:solidFill>
              <a:srgbClr val="FFFFFF"/>
            </a:solidFill>
            <a:ln w="12700">
              <a:solidFill>
                <a:srgbClr val="C03BC4"/>
              </a:solidFill>
              <a:headEnd type="none" w="med" len="med"/>
              <a:tailEnd type="none" w="med" len="med"/>
            </a:ln>
            <a:effectLst>
              <a:outerShdw blurRad="63500" dist="63500" dir="2700000"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16000" tIns="36576" rIns="36000" bIns="36000" numCol="1" spcCol="0" rtlCol="0" fromWordArt="0" anchor="ctr" anchorCtr="0" forceAA="0" compatLnSpc="1">
              <a:prstTxWarp prst="textNoShape">
                <a:avLst/>
              </a:prstTxWarp>
              <a:noAutofit/>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C03BC4"/>
                  </a:solidFill>
                  <a:effectLst/>
                  <a:uLnTx/>
                  <a:uFillTx/>
                  <a:latin typeface="Segoe UI Semibold"/>
                  <a:ea typeface="+mn-ea"/>
                  <a:cs typeface="Segoe UI Semibold" panose="020B0702040204020203" pitchFamily="34" charset="0"/>
                </a:rPr>
                <a:t>Employee experience</a:t>
              </a:r>
            </a:p>
          </p:txBody>
        </p:sp>
        <p:pic>
          <p:nvPicPr>
            <p:cNvPr id="224" name="Graphic 223">
              <a:extLst>
                <a:ext uri="{FF2B5EF4-FFF2-40B4-BE49-F238E27FC236}">
                  <a16:creationId xmlns:a16="http://schemas.microsoft.com/office/drawing/2014/main" id="{2FD150D6-260A-8801-22D3-3821AA957559}"/>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67506" y="4262584"/>
              <a:ext cx="144000" cy="144000"/>
            </a:xfrm>
            <a:prstGeom prst="rect">
              <a:avLst/>
            </a:prstGeom>
          </p:spPr>
        </p:pic>
      </p:grpSp>
      <p:grpSp>
        <p:nvGrpSpPr>
          <p:cNvPr id="225" name="Group 224">
            <a:extLst>
              <a:ext uri="{FF2B5EF4-FFF2-40B4-BE49-F238E27FC236}">
                <a16:creationId xmlns:a16="http://schemas.microsoft.com/office/drawing/2014/main" id="{21EB0737-7239-ECE8-845F-102C43490C32}"/>
              </a:ext>
            </a:extLst>
          </p:cNvPr>
          <p:cNvGrpSpPr/>
          <p:nvPr/>
        </p:nvGrpSpPr>
        <p:grpSpPr>
          <a:xfrm>
            <a:off x="320719" y="3778836"/>
            <a:ext cx="1771605" cy="216000"/>
            <a:chOff x="320719" y="4224856"/>
            <a:chExt cx="1771605" cy="219456"/>
          </a:xfrm>
        </p:grpSpPr>
        <p:sp>
          <p:nvSpPr>
            <p:cNvPr id="226" name="Rectangle: Rounded Corners 6">
              <a:extLst>
                <a:ext uri="{FF2B5EF4-FFF2-40B4-BE49-F238E27FC236}">
                  <a16:creationId xmlns:a16="http://schemas.microsoft.com/office/drawing/2014/main" id="{28BC99EF-392D-F55F-D7AB-1495D2909375}"/>
                </a:ext>
                <a:ext uri="{C183D7F6-B498-43B3-948B-1728B52AA6E4}">
                  <adec:decorative xmlns:adec="http://schemas.microsoft.com/office/drawing/2017/decorative" val="1"/>
                </a:ext>
              </a:extLst>
            </p:cNvPr>
            <p:cNvSpPr/>
            <p:nvPr/>
          </p:nvSpPr>
          <p:spPr bwMode="auto">
            <a:xfrm>
              <a:off x="320719" y="4224856"/>
              <a:ext cx="1771605" cy="219456"/>
            </a:xfrm>
            <a:prstGeom prst="roundRect">
              <a:avLst>
                <a:gd name="adj" fmla="val 50000"/>
              </a:avLst>
            </a:prstGeom>
            <a:solidFill>
              <a:srgbClr val="FFFFFF"/>
            </a:solidFill>
            <a:ln w="12700">
              <a:solidFill>
                <a:srgbClr val="0078D4"/>
              </a:solidFill>
              <a:headEnd type="none" w="med" len="med"/>
              <a:tailEnd type="none" w="med" len="med"/>
            </a:ln>
            <a:effectLst>
              <a:outerShdw blurRad="63500" dist="63500" dir="2700000"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16000" tIns="36576" rIns="36000" bIns="36000" numCol="1" spcCol="0" rtlCol="0" fromWordArt="0" anchor="ctr" anchorCtr="0" forceAA="0" compatLnSpc="1">
              <a:prstTxWarp prst="textNoShape">
                <a:avLst/>
              </a:prstTxWarp>
              <a:noAutofit/>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78D4"/>
                  </a:solidFill>
                  <a:effectLst/>
                  <a:uLnTx/>
                  <a:uFillTx/>
                  <a:latin typeface="Segoe UI Semibold"/>
                  <a:ea typeface="+mn-ea"/>
                  <a:cs typeface="Segoe UI Semibold" panose="020B0702040204020203" pitchFamily="34" charset="0"/>
                </a:rPr>
                <a:t>Reduce spending</a:t>
              </a:r>
            </a:p>
          </p:txBody>
        </p:sp>
        <p:pic>
          <p:nvPicPr>
            <p:cNvPr id="227" name="Graphic 226">
              <a:extLst>
                <a:ext uri="{FF2B5EF4-FFF2-40B4-BE49-F238E27FC236}">
                  <a16:creationId xmlns:a16="http://schemas.microsoft.com/office/drawing/2014/main" id="{40D02492-9650-2185-EF39-8B9247C0CB66}"/>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67506" y="4260849"/>
              <a:ext cx="144000" cy="144000"/>
            </a:xfrm>
            <a:prstGeom prst="rect">
              <a:avLst/>
            </a:prstGeom>
          </p:spPr>
        </p:pic>
      </p:grpSp>
      <p:grpSp>
        <p:nvGrpSpPr>
          <p:cNvPr id="228" name="Group 227">
            <a:extLst>
              <a:ext uri="{FF2B5EF4-FFF2-40B4-BE49-F238E27FC236}">
                <a16:creationId xmlns:a16="http://schemas.microsoft.com/office/drawing/2014/main" id="{E06943E8-7177-584A-6CB0-6B1FEC5EE71A}"/>
              </a:ext>
            </a:extLst>
          </p:cNvPr>
          <p:cNvGrpSpPr/>
          <p:nvPr/>
        </p:nvGrpSpPr>
        <p:grpSpPr>
          <a:xfrm>
            <a:off x="320721" y="4067450"/>
            <a:ext cx="1771605" cy="216000"/>
            <a:chOff x="320721" y="4517211"/>
            <a:chExt cx="1771605" cy="216000"/>
          </a:xfrm>
        </p:grpSpPr>
        <p:sp>
          <p:nvSpPr>
            <p:cNvPr id="229" name="Rectangle: Rounded Corners 6">
              <a:extLst>
                <a:ext uri="{FF2B5EF4-FFF2-40B4-BE49-F238E27FC236}">
                  <a16:creationId xmlns:a16="http://schemas.microsoft.com/office/drawing/2014/main" id="{B34A756C-CB70-FD86-F311-3ABEFC46621F}"/>
                </a:ext>
                <a:ext uri="{C183D7F6-B498-43B3-948B-1728B52AA6E4}">
                  <adec:decorative xmlns:adec="http://schemas.microsoft.com/office/drawing/2017/decorative" val="1"/>
                </a:ext>
              </a:extLst>
            </p:cNvPr>
            <p:cNvSpPr>
              <a:spLocks/>
            </p:cNvSpPr>
            <p:nvPr/>
          </p:nvSpPr>
          <p:spPr bwMode="auto">
            <a:xfrm>
              <a:off x="320721" y="4517211"/>
              <a:ext cx="1771605" cy="216000"/>
            </a:xfrm>
            <a:prstGeom prst="roundRect">
              <a:avLst>
                <a:gd name="adj" fmla="val 50000"/>
              </a:avLst>
            </a:prstGeom>
            <a:solidFill>
              <a:srgbClr val="FFFFFF"/>
            </a:solidFill>
            <a:ln w="12700">
              <a:solidFill>
                <a:srgbClr val="0078D4"/>
              </a:solidFill>
              <a:headEnd type="none" w="med" len="med"/>
              <a:tailEnd type="none" w="med" len="med"/>
            </a:ln>
            <a:effectLst>
              <a:outerShdw blurRad="63500" dist="63500" dir="2700000"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16000" tIns="36576" rIns="36000" bIns="36000" numCol="1" spcCol="0" rtlCol="0" fromWordArt="0" anchor="ctr" anchorCtr="0" forceAA="0" compatLnSpc="1">
              <a:prstTxWarp prst="textNoShape">
                <a:avLst/>
              </a:prstTxWarp>
              <a:noAutofit/>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78D4"/>
                  </a:solidFill>
                  <a:effectLst/>
                  <a:uLnTx/>
                  <a:uFillTx/>
                  <a:latin typeface="Segoe UI Semibold"/>
                  <a:ea typeface="+mn-ea"/>
                  <a:cs typeface="Segoe UI Semibold"/>
                </a:rPr>
                <a:t>Risk management</a:t>
              </a:r>
            </a:p>
          </p:txBody>
        </p:sp>
        <p:pic>
          <p:nvPicPr>
            <p:cNvPr id="230" name="Graphic 229">
              <a:extLst>
                <a:ext uri="{FF2B5EF4-FFF2-40B4-BE49-F238E27FC236}">
                  <a16:creationId xmlns:a16="http://schemas.microsoft.com/office/drawing/2014/main" id="{67CA5461-3CE1-320F-5214-95D61CE4642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67507" y="4552645"/>
              <a:ext cx="144000" cy="141732"/>
            </a:xfrm>
            <a:prstGeom prst="rect">
              <a:avLst/>
            </a:prstGeom>
          </p:spPr>
        </p:pic>
      </p:grpSp>
      <p:pic>
        <p:nvPicPr>
          <p:cNvPr id="38" name="Picture 6">
            <a:extLst>
              <a:ext uri="{FF2B5EF4-FFF2-40B4-BE49-F238E27FC236}">
                <a16:creationId xmlns:a16="http://schemas.microsoft.com/office/drawing/2014/main" id="{0416DB44-6361-B524-79DB-A2254D90476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t="5571" b="5571"/>
          <a:stretch/>
        </p:blipFill>
        <p:spPr bwMode="auto">
          <a:xfrm>
            <a:off x="3180674" y="2252214"/>
            <a:ext cx="245612" cy="223322"/>
          </a:xfrm>
          <a:prstGeom prst="rect">
            <a:avLst/>
          </a:prstGeom>
          <a:noFill/>
          <a:extLst>
            <a:ext uri="{909E8E84-426E-40DD-AFC4-6F175D3DCCD1}">
              <a14:hiddenFill xmlns:a14="http://schemas.microsoft.com/office/drawing/2010/main">
                <a:solidFill>
                  <a:srgbClr val="FFFFFF"/>
                </a:solidFill>
              </a14:hiddenFill>
            </a:ext>
          </a:extLst>
        </p:spPr>
      </p:pic>
      <p:sp>
        <p:nvSpPr>
          <p:cNvPr id="30" name="TextBox 29">
            <a:extLst>
              <a:ext uri="{FF2B5EF4-FFF2-40B4-BE49-F238E27FC236}">
                <a16:creationId xmlns:a16="http://schemas.microsoft.com/office/drawing/2014/main" id="{7B02C8ED-A587-3B9F-57DA-D9555630D167}"/>
              </a:ext>
              <a:ext uri="{C183D7F6-B498-43B3-948B-1728B52AA6E4}">
                <adec:decorative xmlns:adec="http://schemas.microsoft.com/office/drawing/2017/decorative" val="0"/>
              </a:ext>
            </a:extLst>
          </p:cNvPr>
          <p:cNvSpPr txBox="1"/>
          <p:nvPr/>
        </p:nvSpPr>
        <p:spPr>
          <a:xfrm>
            <a:off x="7887017" y="4886070"/>
            <a:ext cx="1830524" cy="1538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Semibold"/>
                <a:ea typeface="+mn-ea"/>
                <a:cs typeface="+mn-cs"/>
              </a:rPr>
              <a:t>Copilot in Word</a:t>
            </a:r>
          </a:p>
        </p:txBody>
      </p:sp>
      <p:sp>
        <p:nvSpPr>
          <p:cNvPr id="36" name="TextBox 35">
            <a:extLst>
              <a:ext uri="{FF2B5EF4-FFF2-40B4-BE49-F238E27FC236}">
                <a16:creationId xmlns:a16="http://schemas.microsoft.com/office/drawing/2014/main" id="{BD52D98F-0A6D-7817-FC27-A7CC56E51D46}"/>
              </a:ext>
              <a:ext uri="{C183D7F6-B498-43B3-948B-1728B52AA6E4}">
                <adec:decorative xmlns:adec="http://schemas.microsoft.com/office/drawing/2017/decorative" val="0"/>
              </a:ext>
            </a:extLst>
          </p:cNvPr>
          <p:cNvSpPr txBox="1"/>
          <p:nvPr/>
        </p:nvSpPr>
        <p:spPr>
          <a:xfrm>
            <a:off x="4397907" y="4886070"/>
            <a:ext cx="1830524" cy="1538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Semibold"/>
                <a:ea typeface="+mn-ea"/>
                <a:cs typeface="+mn-cs"/>
              </a:rPr>
              <a:t>Copilot in Outlook</a:t>
            </a:r>
            <a:endParaRPr kumimoji="0" lang="en-US" sz="900" b="0" i="0" u="none" strike="noStrike" kern="1200" cap="none" spc="0" normalizeH="0" baseline="0" noProof="0" dirty="0">
              <a:ln>
                <a:noFill/>
              </a:ln>
              <a:solidFill>
                <a:prstClr val="black"/>
              </a:solidFill>
              <a:effectLst/>
              <a:uLnTx/>
              <a:uFillTx/>
              <a:latin typeface="Segoe UI"/>
              <a:ea typeface="+mn-ea"/>
              <a:cs typeface="+mn-cs"/>
            </a:endParaRPr>
          </a:p>
        </p:txBody>
      </p:sp>
      <p:sp>
        <p:nvSpPr>
          <p:cNvPr id="42" name="TextBox 41">
            <a:extLst>
              <a:ext uri="{FF2B5EF4-FFF2-40B4-BE49-F238E27FC236}">
                <a16:creationId xmlns:a16="http://schemas.microsoft.com/office/drawing/2014/main" id="{9B1152D9-1A51-5371-26FB-4CBB761B6463}"/>
              </a:ext>
              <a:ext uri="{C183D7F6-B498-43B3-948B-1728B52AA6E4}">
                <adec:decorative xmlns:adec="http://schemas.microsoft.com/office/drawing/2017/decorative" val="0"/>
              </a:ext>
            </a:extLst>
          </p:cNvPr>
          <p:cNvSpPr txBox="1"/>
          <p:nvPr/>
        </p:nvSpPr>
        <p:spPr>
          <a:xfrm>
            <a:off x="3562472" y="2286931"/>
            <a:ext cx="1830524" cy="1538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Semibold"/>
                <a:ea typeface="+mn-ea"/>
                <a:cs typeface="+mn-cs"/>
              </a:rPr>
              <a:t>Copilot in Teams</a:t>
            </a:r>
          </a:p>
        </p:txBody>
      </p:sp>
      <p:sp>
        <p:nvSpPr>
          <p:cNvPr id="43" name="TextBox 42">
            <a:extLst>
              <a:ext uri="{FF2B5EF4-FFF2-40B4-BE49-F238E27FC236}">
                <a16:creationId xmlns:a16="http://schemas.microsoft.com/office/drawing/2014/main" id="{7D49725B-44B7-0699-8B22-6BCE7AAD7086}"/>
              </a:ext>
              <a:ext uri="{C183D7F6-B498-43B3-948B-1728B52AA6E4}">
                <adec:decorative xmlns:adec="http://schemas.microsoft.com/office/drawing/2017/decorative" val="0"/>
              </a:ext>
            </a:extLst>
          </p:cNvPr>
          <p:cNvSpPr txBox="1"/>
          <p:nvPr/>
        </p:nvSpPr>
        <p:spPr>
          <a:xfrm>
            <a:off x="6446959" y="2286931"/>
            <a:ext cx="1830524" cy="1538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Semibold"/>
                <a:ea typeface="+mn-ea"/>
                <a:cs typeface="+mn-cs"/>
              </a:rPr>
              <a:t>Copilot Chat</a:t>
            </a:r>
            <a:r>
              <a:rPr kumimoji="0" lang="en-US" sz="1000" b="0" i="0" u="none" strike="noStrike" kern="1200" cap="none" spc="0" normalizeH="0" baseline="30000" noProof="0" dirty="0">
                <a:ln>
                  <a:noFill/>
                </a:ln>
                <a:solidFill>
                  <a:srgbClr val="000000"/>
                </a:solidFill>
                <a:effectLst/>
                <a:uLnTx/>
                <a:uFillTx/>
                <a:latin typeface="Segoe UI Semibold"/>
                <a:ea typeface="+mn-ea"/>
                <a:cs typeface="+mn-cs"/>
              </a:rPr>
              <a:t>2</a:t>
            </a:r>
          </a:p>
        </p:txBody>
      </p:sp>
      <p:sp>
        <p:nvSpPr>
          <p:cNvPr id="44" name="TextBox 43">
            <a:extLst>
              <a:ext uri="{FF2B5EF4-FFF2-40B4-BE49-F238E27FC236}">
                <a16:creationId xmlns:a16="http://schemas.microsoft.com/office/drawing/2014/main" id="{19226A8C-5B4F-A363-9A81-875DEBF0916B}"/>
              </a:ext>
              <a:ext uri="{C183D7F6-B498-43B3-948B-1728B52AA6E4}">
                <adec:decorative xmlns:adec="http://schemas.microsoft.com/office/drawing/2017/decorative" val="0"/>
              </a:ext>
            </a:extLst>
          </p:cNvPr>
          <p:cNvSpPr txBox="1"/>
          <p:nvPr/>
        </p:nvSpPr>
        <p:spPr>
          <a:xfrm>
            <a:off x="9328927" y="2286931"/>
            <a:ext cx="1420949" cy="1538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Semibold"/>
                <a:ea typeface="+mn-ea"/>
                <a:cs typeface="+mn-cs"/>
              </a:rPr>
              <a:t>Copilot in Excel</a:t>
            </a:r>
          </a:p>
        </p:txBody>
      </p:sp>
      <p:pic>
        <p:nvPicPr>
          <p:cNvPr id="47" name="Picture 50">
            <a:hlinkClick r:id="rId5"/>
            <a:extLst>
              <a:ext uri="{FF2B5EF4-FFF2-40B4-BE49-F238E27FC236}">
                <a16:creationId xmlns:a16="http://schemas.microsoft.com/office/drawing/2014/main" id="{0A59D3E3-BF0C-2F1F-A204-2C7CB5E7C2A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67425" y="2242688"/>
            <a:ext cx="242374" cy="242374"/>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descr="Excel logo">
            <a:extLst>
              <a:ext uri="{FF2B5EF4-FFF2-40B4-BE49-F238E27FC236}">
                <a16:creationId xmlns:a16="http://schemas.microsoft.com/office/drawing/2014/main" id="{E98B1701-1484-EA5B-15B6-202EF52DE171}"/>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8950475" y="2224094"/>
            <a:ext cx="275670" cy="275670"/>
          </a:xfrm>
          <a:prstGeom prst="ellipse">
            <a:avLst/>
          </a:prstGeom>
          <a:solidFill>
            <a:schemeClr val="bg1"/>
          </a:solidFill>
        </p:spPr>
      </p:pic>
      <p:pic>
        <p:nvPicPr>
          <p:cNvPr id="3" name="Picture 2" descr="Word logo">
            <a:extLst>
              <a:ext uri="{FF2B5EF4-FFF2-40B4-BE49-F238E27FC236}">
                <a16:creationId xmlns:a16="http://schemas.microsoft.com/office/drawing/2014/main" id="{64BDCAAC-9D4A-6D50-B5E8-A83583F0FF75}"/>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7507483" y="4839726"/>
            <a:ext cx="246576" cy="246576"/>
          </a:xfrm>
          <a:prstGeom prst="ellipse">
            <a:avLst/>
          </a:prstGeom>
          <a:solidFill>
            <a:srgbClr val="FFFFFF"/>
          </a:solidFill>
        </p:spPr>
      </p:pic>
      <p:pic>
        <p:nvPicPr>
          <p:cNvPr id="4" name="Picture 3" descr="Outlook logo">
            <a:extLst>
              <a:ext uri="{FF2B5EF4-FFF2-40B4-BE49-F238E27FC236}">
                <a16:creationId xmlns:a16="http://schemas.microsoft.com/office/drawing/2014/main" id="{59D18C90-343E-3459-C5A6-D154BCD2EAA1}"/>
              </a:ext>
            </a:extLst>
          </p:cNvPr>
          <p:cNvPicPr>
            <a:picLocks noChangeAspect="1"/>
          </p:cNvPicPr>
          <p:nvPr/>
        </p:nvPicPr>
        <p:blipFill>
          <a:blip r:embed="rId9"/>
          <a:stretch>
            <a:fillRect/>
          </a:stretch>
        </p:blipFill>
        <p:spPr>
          <a:xfrm>
            <a:off x="3999773" y="4843614"/>
            <a:ext cx="265176" cy="265176"/>
          </a:xfrm>
          <a:prstGeom prst="rect">
            <a:avLst/>
          </a:prstGeom>
        </p:spPr>
      </p:pic>
    </p:spTree>
    <p:extLst>
      <p:ext uri="{BB962C8B-B14F-4D97-AF65-F5344CB8AC3E}">
        <p14:creationId xmlns:p14="http://schemas.microsoft.com/office/powerpoint/2010/main" val="4113875939"/>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7" name="Text Placeholder 406">
            <a:extLst>
              <a:ext uri="{FF2B5EF4-FFF2-40B4-BE49-F238E27FC236}">
                <a16:creationId xmlns:a16="http://schemas.microsoft.com/office/drawing/2014/main" id="{FEBE4C91-9745-51CD-806F-C74852B0A327}"/>
              </a:ext>
            </a:extLst>
          </p:cNvPr>
          <p:cNvSpPr>
            <a:spLocks noGrp="1"/>
          </p:cNvSpPr>
          <p:nvPr>
            <p:ph type="body" sz="quarter" idx="42"/>
          </p:nvPr>
        </p:nvSpPr>
        <p:spPr>
          <a:xfrm>
            <a:off x="311388" y="1026303"/>
            <a:ext cx="2431246" cy="1131079"/>
          </a:xfrm>
        </p:spPr>
        <p:txBody>
          <a:bodyPr/>
          <a:lstStyle/>
          <a:p>
            <a:r>
              <a:rPr lang="en-US" noProof="0" dirty="0"/>
              <a:t>Updating accounting documentation can require a careful analysis of amendments. Copilot can assist with the comparison and provide guidance on the impacts of any changes.</a:t>
            </a:r>
          </a:p>
        </p:txBody>
      </p:sp>
      <p:sp>
        <p:nvSpPr>
          <p:cNvPr id="267" name="Text Placeholder 266">
            <a:extLst>
              <a:ext uri="{FF2B5EF4-FFF2-40B4-BE49-F238E27FC236}">
                <a16:creationId xmlns:a16="http://schemas.microsoft.com/office/drawing/2014/main" id="{FBDA2BEC-E43A-4EAD-3BDD-A716C2F10839}"/>
              </a:ext>
            </a:extLst>
          </p:cNvPr>
          <p:cNvSpPr>
            <a:spLocks noGrp="1"/>
          </p:cNvSpPr>
          <p:nvPr>
            <p:ph type="body" sz="quarter" idx="43"/>
          </p:nvPr>
        </p:nvSpPr>
        <p:spPr>
          <a:xfrm>
            <a:off x="10430351" y="521099"/>
            <a:ext cx="1456966" cy="175614"/>
          </a:xfrm>
        </p:spPr>
        <p:txBody>
          <a:bodyPr/>
          <a:lstStyle/>
          <a:p>
            <a:r>
              <a:rPr lang="en-US" noProof="0" dirty="0"/>
              <a:t>Buy</a:t>
            </a:r>
          </a:p>
        </p:txBody>
      </p:sp>
      <p:sp>
        <p:nvSpPr>
          <p:cNvPr id="268" name="Text Placeholder 267">
            <a:extLst>
              <a:ext uri="{FF2B5EF4-FFF2-40B4-BE49-F238E27FC236}">
                <a16:creationId xmlns:a16="http://schemas.microsoft.com/office/drawing/2014/main" id="{83E11D38-4C37-4032-8965-E43E6A87E22B}"/>
              </a:ext>
            </a:extLst>
          </p:cNvPr>
          <p:cNvSpPr>
            <a:spLocks noGrp="1"/>
          </p:cNvSpPr>
          <p:nvPr>
            <p:ph type="body" sz="quarter" idx="44"/>
          </p:nvPr>
        </p:nvSpPr>
        <p:spPr>
          <a:xfrm>
            <a:off x="7149557" y="521100"/>
            <a:ext cx="2969488" cy="169277"/>
          </a:xfrm>
        </p:spPr>
        <p:txBody>
          <a:bodyPr/>
          <a:lstStyle/>
          <a:p>
            <a:r>
              <a:rPr lang="en-US" noProof="0" dirty="0"/>
              <a:t>Microsoft 365 Copilot</a:t>
            </a:r>
          </a:p>
        </p:txBody>
      </p:sp>
      <p:sp>
        <p:nvSpPr>
          <p:cNvPr id="269" name="Text Placeholder 268">
            <a:extLst>
              <a:ext uri="{FF2B5EF4-FFF2-40B4-BE49-F238E27FC236}">
                <a16:creationId xmlns:a16="http://schemas.microsoft.com/office/drawing/2014/main" id="{2C409337-3FE0-12E0-2361-91125E19D73C}"/>
              </a:ext>
            </a:extLst>
          </p:cNvPr>
          <p:cNvSpPr>
            <a:spLocks noGrp="1"/>
          </p:cNvSpPr>
          <p:nvPr>
            <p:ph type="body" sz="quarter" idx="46"/>
          </p:nvPr>
        </p:nvSpPr>
        <p:spPr>
          <a:xfrm>
            <a:off x="3182889" y="2725494"/>
            <a:ext cx="2572262" cy="712876"/>
          </a:xfrm>
        </p:spPr>
        <p:txBody>
          <a:bodyPr/>
          <a:lstStyle/>
          <a:p>
            <a:r>
              <a:rPr lang="en-US" noProof="0" dirty="0"/>
              <a:t>Example prompt: </a:t>
            </a:r>
            <a:r>
              <a:rPr lang="en-US" noProof="0" dirty="0">
                <a:latin typeface="+mj-lt"/>
              </a:rPr>
              <a:t>Summarize</a:t>
            </a:r>
            <a:r>
              <a:rPr lang="en-US" noProof="0" dirty="0"/>
              <a:t> all [U.S. GAAP] updates from the last 3 months.</a:t>
            </a:r>
          </a:p>
        </p:txBody>
      </p:sp>
      <p:sp>
        <p:nvSpPr>
          <p:cNvPr id="270" name="Text Placeholder 269">
            <a:extLst>
              <a:ext uri="{FF2B5EF4-FFF2-40B4-BE49-F238E27FC236}">
                <a16:creationId xmlns:a16="http://schemas.microsoft.com/office/drawing/2014/main" id="{6916B9A6-61D3-5FCE-EEF1-1ACC0D2881DE}"/>
              </a:ext>
            </a:extLst>
          </p:cNvPr>
          <p:cNvSpPr>
            <a:spLocks noGrp="1"/>
          </p:cNvSpPr>
          <p:nvPr>
            <p:ph type="body" sz="quarter" idx="47"/>
          </p:nvPr>
        </p:nvSpPr>
        <p:spPr>
          <a:xfrm>
            <a:off x="3182890" y="1112478"/>
            <a:ext cx="2572262" cy="153888"/>
          </a:xfrm>
        </p:spPr>
        <p:txBody>
          <a:bodyPr/>
          <a:lstStyle/>
          <a:p>
            <a:r>
              <a:rPr lang="en-US" noProof="0" dirty="0"/>
              <a:t>Summarize policy updates</a:t>
            </a:r>
          </a:p>
        </p:txBody>
      </p:sp>
      <p:sp>
        <p:nvSpPr>
          <p:cNvPr id="271" name="Text Placeholder 270">
            <a:extLst>
              <a:ext uri="{FF2B5EF4-FFF2-40B4-BE49-F238E27FC236}">
                <a16:creationId xmlns:a16="http://schemas.microsoft.com/office/drawing/2014/main" id="{11E8A93F-1606-531E-11FD-CE3198EFD05A}"/>
              </a:ext>
            </a:extLst>
          </p:cNvPr>
          <p:cNvSpPr>
            <a:spLocks noGrp="1"/>
          </p:cNvSpPr>
          <p:nvPr>
            <p:ph type="body" sz="quarter" idx="48"/>
          </p:nvPr>
        </p:nvSpPr>
        <p:spPr>
          <a:xfrm>
            <a:off x="3182890" y="1438715"/>
            <a:ext cx="2572262" cy="626701"/>
          </a:xfrm>
        </p:spPr>
        <p:txBody>
          <a:bodyPr/>
          <a:lstStyle/>
          <a:p>
            <a:r>
              <a:rPr lang="en-US" noProof="0" dirty="0"/>
              <a:t>Use Copilot to review the latest accounting regulation updates for the past quarter to determine which amendments may need review.</a:t>
            </a:r>
          </a:p>
        </p:txBody>
      </p:sp>
      <p:sp>
        <p:nvSpPr>
          <p:cNvPr id="272" name="Text Placeholder 271">
            <a:extLst>
              <a:ext uri="{FF2B5EF4-FFF2-40B4-BE49-F238E27FC236}">
                <a16:creationId xmlns:a16="http://schemas.microsoft.com/office/drawing/2014/main" id="{C13BB3CD-77CB-23A2-3733-2B0F3A7D1822}"/>
              </a:ext>
            </a:extLst>
          </p:cNvPr>
          <p:cNvSpPr>
            <a:spLocks noGrp="1"/>
          </p:cNvSpPr>
          <p:nvPr>
            <p:ph type="body" sz="quarter" idx="49"/>
          </p:nvPr>
        </p:nvSpPr>
        <p:spPr>
          <a:xfrm>
            <a:off x="6066682" y="1112478"/>
            <a:ext cx="2572262" cy="153888"/>
          </a:xfrm>
        </p:spPr>
        <p:txBody>
          <a:bodyPr/>
          <a:lstStyle/>
          <a:p>
            <a:r>
              <a:rPr lang="en-US" noProof="0" dirty="0"/>
              <a:t>Conduct comparison</a:t>
            </a:r>
          </a:p>
        </p:txBody>
      </p:sp>
      <p:sp>
        <p:nvSpPr>
          <p:cNvPr id="273" name="Text Placeholder 272">
            <a:extLst>
              <a:ext uri="{FF2B5EF4-FFF2-40B4-BE49-F238E27FC236}">
                <a16:creationId xmlns:a16="http://schemas.microsoft.com/office/drawing/2014/main" id="{351F3337-6D98-CC84-D636-576020FAB2AB}"/>
              </a:ext>
            </a:extLst>
          </p:cNvPr>
          <p:cNvSpPr>
            <a:spLocks noGrp="1"/>
          </p:cNvSpPr>
          <p:nvPr>
            <p:ph type="body" sz="quarter" idx="50"/>
          </p:nvPr>
        </p:nvSpPr>
        <p:spPr>
          <a:xfrm>
            <a:off x="6066682" y="1438715"/>
            <a:ext cx="2572262" cy="626701"/>
          </a:xfrm>
        </p:spPr>
        <p:txBody>
          <a:bodyPr/>
          <a:lstStyle/>
          <a:p>
            <a:r>
              <a:rPr lang="en-US" noProof="0" dirty="0"/>
              <a:t>Ask Copilot to evaluate and compare the two amendments associated with the recent accounting regulation updates. </a:t>
            </a:r>
          </a:p>
          <a:p>
            <a:endParaRPr lang="en-US" noProof="0" dirty="0"/>
          </a:p>
        </p:txBody>
      </p:sp>
      <p:sp>
        <p:nvSpPr>
          <p:cNvPr id="277" name="Text Placeholder 276">
            <a:extLst>
              <a:ext uri="{FF2B5EF4-FFF2-40B4-BE49-F238E27FC236}">
                <a16:creationId xmlns:a16="http://schemas.microsoft.com/office/drawing/2014/main" id="{6D9171DA-BD04-DA4C-01CF-8EF1AB4E5328}"/>
              </a:ext>
            </a:extLst>
          </p:cNvPr>
          <p:cNvSpPr>
            <a:spLocks noGrp="1"/>
          </p:cNvSpPr>
          <p:nvPr>
            <p:ph type="body" sz="quarter" idx="67"/>
          </p:nvPr>
        </p:nvSpPr>
        <p:spPr>
          <a:xfrm>
            <a:off x="8950475" y="2725494"/>
            <a:ext cx="2572262" cy="712876"/>
          </a:xfrm>
        </p:spPr>
        <p:txBody>
          <a:bodyPr/>
          <a:lstStyle/>
          <a:p>
            <a:r>
              <a:rPr lang="en-US" noProof="0" dirty="0"/>
              <a:t>Example prompt: </a:t>
            </a:r>
            <a:r>
              <a:rPr lang="en-US" noProof="0" dirty="0">
                <a:latin typeface="+mj-lt"/>
              </a:rPr>
              <a:t>Rewrite </a:t>
            </a:r>
            <a:r>
              <a:rPr lang="en-US" noProof="0" dirty="0"/>
              <a:t>to summarize the key differences between the documents in one paragraph.</a:t>
            </a:r>
          </a:p>
        </p:txBody>
      </p:sp>
      <p:sp>
        <p:nvSpPr>
          <p:cNvPr id="275" name="Text Placeholder 274">
            <a:extLst>
              <a:ext uri="{FF2B5EF4-FFF2-40B4-BE49-F238E27FC236}">
                <a16:creationId xmlns:a16="http://schemas.microsoft.com/office/drawing/2014/main" id="{DE7380EA-D76B-97FB-BFD0-9F4C5E810E2B}"/>
              </a:ext>
            </a:extLst>
          </p:cNvPr>
          <p:cNvSpPr>
            <a:spLocks noGrp="1"/>
          </p:cNvSpPr>
          <p:nvPr>
            <p:ph type="body" sz="quarter" idx="52"/>
          </p:nvPr>
        </p:nvSpPr>
        <p:spPr>
          <a:xfrm>
            <a:off x="8950475" y="1112478"/>
            <a:ext cx="2572262" cy="153888"/>
          </a:xfrm>
        </p:spPr>
        <p:txBody>
          <a:bodyPr/>
          <a:lstStyle/>
          <a:p>
            <a:r>
              <a:rPr lang="en-US" noProof="0" dirty="0"/>
              <a:t>Collaborate efficiently</a:t>
            </a:r>
          </a:p>
        </p:txBody>
      </p:sp>
      <p:sp>
        <p:nvSpPr>
          <p:cNvPr id="276" name="Text Placeholder 275">
            <a:extLst>
              <a:ext uri="{FF2B5EF4-FFF2-40B4-BE49-F238E27FC236}">
                <a16:creationId xmlns:a16="http://schemas.microsoft.com/office/drawing/2014/main" id="{369D85DA-1FC2-0833-E702-9CA05D8C9AF1}"/>
              </a:ext>
            </a:extLst>
          </p:cNvPr>
          <p:cNvSpPr>
            <a:spLocks noGrp="1"/>
          </p:cNvSpPr>
          <p:nvPr>
            <p:ph type="body" sz="quarter" idx="53"/>
          </p:nvPr>
        </p:nvSpPr>
        <p:spPr>
          <a:xfrm>
            <a:off x="8950325" y="1438275"/>
            <a:ext cx="2571750" cy="627063"/>
          </a:xfrm>
        </p:spPr>
        <p:txBody>
          <a:bodyPr/>
          <a:lstStyle/>
          <a:p>
            <a:r>
              <a:rPr lang="en-US" noProof="0" dirty="0"/>
              <a:t>Use Copilot in Word to display the table of comparisons and your recommended changes. Add a summary paragraph explaining the objective and recommendations.</a:t>
            </a:r>
          </a:p>
          <a:p>
            <a:endParaRPr lang="en-US" noProof="0" dirty="0"/>
          </a:p>
        </p:txBody>
      </p:sp>
      <p:sp>
        <p:nvSpPr>
          <p:cNvPr id="274" name="Text Placeholder 273">
            <a:extLst>
              <a:ext uri="{FF2B5EF4-FFF2-40B4-BE49-F238E27FC236}">
                <a16:creationId xmlns:a16="http://schemas.microsoft.com/office/drawing/2014/main" id="{703A3DC2-04DC-A8D6-45FF-EFFEF5C986D0}"/>
              </a:ext>
            </a:extLst>
          </p:cNvPr>
          <p:cNvSpPr>
            <a:spLocks noGrp="1"/>
          </p:cNvSpPr>
          <p:nvPr>
            <p:ph type="body" sz="quarter" idx="66"/>
          </p:nvPr>
        </p:nvSpPr>
        <p:spPr>
          <a:xfrm>
            <a:off x="6066682" y="2725494"/>
            <a:ext cx="2572262" cy="712876"/>
          </a:xfrm>
        </p:spPr>
        <p:txBody>
          <a:bodyPr/>
          <a:lstStyle/>
          <a:p>
            <a:r>
              <a:rPr lang="en-US" noProof="0" dirty="0"/>
              <a:t>Example prompt: </a:t>
            </a:r>
            <a:r>
              <a:rPr lang="en-US" noProof="0" dirty="0">
                <a:latin typeface="+mj-lt"/>
              </a:rPr>
              <a:t>Compare </a:t>
            </a:r>
            <a:r>
              <a:rPr lang="en-US" noProof="0" dirty="0"/>
              <a:t>[standardamendment.docx] and [customamendment.docx] </a:t>
            </a:r>
            <a:r>
              <a:rPr lang="en-US" noProof="0" dirty="0">
                <a:latin typeface="+mj-lt"/>
              </a:rPr>
              <a:t>and put the results into a table.</a:t>
            </a:r>
          </a:p>
        </p:txBody>
      </p:sp>
      <p:sp>
        <p:nvSpPr>
          <p:cNvPr id="278" name="Text Placeholder 277">
            <a:extLst>
              <a:ext uri="{FF2B5EF4-FFF2-40B4-BE49-F238E27FC236}">
                <a16:creationId xmlns:a16="http://schemas.microsoft.com/office/drawing/2014/main" id="{29850950-9DE7-14F2-D7A9-B56006A0803F}"/>
              </a:ext>
            </a:extLst>
          </p:cNvPr>
          <p:cNvSpPr>
            <a:spLocks noGrp="1"/>
          </p:cNvSpPr>
          <p:nvPr>
            <p:ph type="body" sz="quarter" idx="58"/>
          </p:nvPr>
        </p:nvSpPr>
        <p:spPr>
          <a:xfrm>
            <a:off x="4036409" y="3725103"/>
            <a:ext cx="3161734" cy="153888"/>
          </a:xfrm>
        </p:spPr>
        <p:txBody>
          <a:bodyPr/>
          <a:lstStyle/>
          <a:p>
            <a:r>
              <a:rPr lang="en-US" noProof="0" dirty="0"/>
              <a:t>Share learnings broadly </a:t>
            </a:r>
          </a:p>
        </p:txBody>
      </p:sp>
      <p:sp>
        <p:nvSpPr>
          <p:cNvPr id="279" name="Text Placeholder 278">
            <a:extLst>
              <a:ext uri="{FF2B5EF4-FFF2-40B4-BE49-F238E27FC236}">
                <a16:creationId xmlns:a16="http://schemas.microsoft.com/office/drawing/2014/main" id="{D0811C16-0AFD-B724-B351-B3D37D60C584}"/>
              </a:ext>
            </a:extLst>
          </p:cNvPr>
          <p:cNvSpPr>
            <a:spLocks noGrp="1"/>
          </p:cNvSpPr>
          <p:nvPr>
            <p:ph type="body" sz="quarter" idx="59"/>
          </p:nvPr>
        </p:nvSpPr>
        <p:spPr>
          <a:xfrm>
            <a:off x="4036409" y="4050957"/>
            <a:ext cx="3161734" cy="626701"/>
          </a:xfrm>
        </p:spPr>
        <p:txBody>
          <a:bodyPr/>
          <a:lstStyle/>
          <a:p>
            <a:r>
              <a:rPr lang="en-US" noProof="0" dirty="0"/>
              <a:t>Create a guide with methodology and learnings for new hires to the team to accelerate their onboarding.</a:t>
            </a:r>
          </a:p>
          <a:p>
            <a:endParaRPr lang="en-US" noProof="0" dirty="0"/>
          </a:p>
        </p:txBody>
      </p:sp>
      <p:sp>
        <p:nvSpPr>
          <p:cNvPr id="283" name="Text Placeholder 282">
            <a:extLst>
              <a:ext uri="{FF2B5EF4-FFF2-40B4-BE49-F238E27FC236}">
                <a16:creationId xmlns:a16="http://schemas.microsoft.com/office/drawing/2014/main" id="{9D618CA9-7BBB-3102-0159-A56B89482A3D}"/>
              </a:ext>
            </a:extLst>
          </p:cNvPr>
          <p:cNvSpPr>
            <a:spLocks noGrp="1"/>
          </p:cNvSpPr>
          <p:nvPr>
            <p:ph type="body" sz="quarter" idx="69"/>
          </p:nvPr>
        </p:nvSpPr>
        <p:spPr>
          <a:xfrm>
            <a:off x="7507483" y="5338502"/>
            <a:ext cx="3161734" cy="712876"/>
          </a:xfrm>
        </p:spPr>
        <p:txBody>
          <a:bodyPr/>
          <a:lstStyle/>
          <a:p>
            <a:r>
              <a:rPr lang="en-US" noProof="0" dirty="0"/>
              <a:t>Example prompt: </a:t>
            </a:r>
            <a:r>
              <a:rPr lang="en-US" noProof="0" dirty="0">
                <a:latin typeface="+mj-lt"/>
              </a:rPr>
              <a:t>Draft with Copilot </a:t>
            </a:r>
            <a:r>
              <a:rPr lang="en-US" noProof="0" dirty="0"/>
              <a:t>an email to a colleague requesting their edits and comments in comparison.doc by the end of the week.</a:t>
            </a:r>
          </a:p>
        </p:txBody>
      </p:sp>
      <p:sp>
        <p:nvSpPr>
          <p:cNvPr id="281" name="Text Placeholder 280">
            <a:extLst>
              <a:ext uri="{FF2B5EF4-FFF2-40B4-BE49-F238E27FC236}">
                <a16:creationId xmlns:a16="http://schemas.microsoft.com/office/drawing/2014/main" id="{896CAB69-40EF-1470-72A1-8B215B757797}"/>
              </a:ext>
            </a:extLst>
          </p:cNvPr>
          <p:cNvSpPr>
            <a:spLocks noGrp="1"/>
          </p:cNvSpPr>
          <p:nvPr>
            <p:ph type="body" sz="quarter" idx="61"/>
          </p:nvPr>
        </p:nvSpPr>
        <p:spPr>
          <a:xfrm>
            <a:off x="7507483" y="3725103"/>
            <a:ext cx="3161734" cy="153888"/>
          </a:xfrm>
        </p:spPr>
        <p:txBody>
          <a:bodyPr/>
          <a:lstStyle/>
          <a:p>
            <a:r>
              <a:rPr lang="en-US" noProof="0" dirty="0"/>
              <a:t>Solicit feedback</a:t>
            </a:r>
          </a:p>
        </p:txBody>
      </p:sp>
      <p:sp>
        <p:nvSpPr>
          <p:cNvPr id="282" name="Text Placeholder 281">
            <a:extLst>
              <a:ext uri="{FF2B5EF4-FFF2-40B4-BE49-F238E27FC236}">
                <a16:creationId xmlns:a16="http://schemas.microsoft.com/office/drawing/2014/main" id="{4DCCCDAE-BC83-2F6B-8E1E-6F2A695FA413}"/>
              </a:ext>
            </a:extLst>
          </p:cNvPr>
          <p:cNvSpPr>
            <a:spLocks noGrp="1"/>
          </p:cNvSpPr>
          <p:nvPr>
            <p:ph type="body" sz="quarter" idx="62"/>
          </p:nvPr>
        </p:nvSpPr>
        <p:spPr>
          <a:xfrm>
            <a:off x="7507288" y="4051300"/>
            <a:ext cx="3162300" cy="627063"/>
          </a:xfrm>
        </p:spPr>
        <p:txBody>
          <a:bodyPr/>
          <a:lstStyle/>
          <a:p>
            <a:r>
              <a:rPr lang="en-US" noProof="0" dirty="0"/>
              <a:t>Use Copilot in Outlook to draft an email to request your colleague to review the Word document of comparisons.</a:t>
            </a:r>
          </a:p>
        </p:txBody>
      </p:sp>
      <p:sp>
        <p:nvSpPr>
          <p:cNvPr id="280" name="Text Placeholder 279">
            <a:extLst>
              <a:ext uri="{FF2B5EF4-FFF2-40B4-BE49-F238E27FC236}">
                <a16:creationId xmlns:a16="http://schemas.microsoft.com/office/drawing/2014/main" id="{47075F24-CA0E-FB6F-2A60-3866AF0B74B9}"/>
              </a:ext>
            </a:extLst>
          </p:cNvPr>
          <p:cNvSpPr>
            <a:spLocks noGrp="1"/>
          </p:cNvSpPr>
          <p:nvPr>
            <p:ph type="body" sz="quarter" idx="68"/>
          </p:nvPr>
        </p:nvSpPr>
        <p:spPr>
          <a:xfrm>
            <a:off x="4036409" y="5338502"/>
            <a:ext cx="3161734" cy="712876"/>
          </a:xfrm>
        </p:spPr>
        <p:txBody>
          <a:bodyPr/>
          <a:lstStyle/>
          <a:p>
            <a:r>
              <a:rPr lang="en-US" noProof="0" dirty="0"/>
              <a:t>Example prompt: </a:t>
            </a:r>
            <a:r>
              <a:rPr lang="en-US" noProof="0" dirty="0">
                <a:latin typeface="+mj-lt"/>
              </a:rPr>
              <a:t>Create a presentation </a:t>
            </a:r>
            <a:r>
              <a:rPr lang="en-US" noProof="0" dirty="0"/>
              <a:t>based on [newhireguide.docx].</a:t>
            </a:r>
          </a:p>
          <a:p>
            <a:r>
              <a:rPr lang="en-US" u="sng" dirty="0">
                <a:hlinkClick r:id="rId2"/>
              </a:rPr>
              <a:t>Get started with Word, Excel, and PowerPoint Agents</a:t>
            </a:r>
            <a:endParaRPr lang="en-US" noProof="0" dirty="0"/>
          </a:p>
        </p:txBody>
      </p:sp>
      <p:sp>
        <p:nvSpPr>
          <p:cNvPr id="350" name="Text Placeholder 349">
            <a:extLst>
              <a:ext uri="{FF2B5EF4-FFF2-40B4-BE49-F238E27FC236}">
                <a16:creationId xmlns:a16="http://schemas.microsoft.com/office/drawing/2014/main" id="{A6DC64C1-1969-8806-E7F4-8F891B31F50C}"/>
              </a:ext>
            </a:extLst>
          </p:cNvPr>
          <p:cNvSpPr>
            <a:spLocks noGrp="1"/>
          </p:cNvSpPr>
          <p:nvPr>
            <p:ph type="body" sz="quarter" idx="64"/>
          </p:nvPr>
        </p:nvSpPr>
        <p:spPr>
          <a:xfrm>
            <a:off x="320721" y="4709762"/>
            <a:ext cx="1131651" cy="219456"/>
          </a:xfrm>
        </p:spPr>
        <p:txBody>
          <a:bodyPr/>
          <a:lstStyle/>
          <a:p>
            <a:pPr lvl="0"/>
            <a:r>
              <a:rPr lang="en-US" noProof="0" dirty="0"/>
              <a:t>Value benefit</a:t>
            </a:r>
          </a:p>
        </p:txBody>
      </p:sp>
      <p:sp>
        <p:nvSpPr>
          <p:cNvPr id="351" name="Text Placeholder 350">
            <a:extLst>
              <a:ext uri="{FF2B5EF4-FFF2-40B4-BE49-F238E27FC236}">
                <a16:creationId xmlns:a16="http://schemas.microsoft.com/office/drawing/2014/main" id="{BDA9D51E-7744-5048-178F-7570CDF4E861}"/>
              </a:ext>
            </a:extLst>
          </p:cNvPr>
          <p:cNvSpPr>
            <a:spLocks noGrp="1"/>
          </p:cNvSpPr>
          <p:nvPr>
            <p:ph type="body" sz="quarter" idx="65"/>
          </p:nvPr>
        </p:nvSpPr>
        <p:spPr>
          <a:xfrm>
            <a:off x="320721" y="3467940"/>
            <a:ext cx="1131650" cy="219456"/>
          </a:xfrm>
        </p:spPr>
        <p:txBody>
          <a:bodyPr/>
          <a:lstStyle/>
          <a:p>
            <a:pPr lvl="0"/>
            <a:r>
              <a:rPr lang="en-US" noProof="0" dirty="0"/>
              <a:t>KPIs impacted</a:t>
            </a:r>
          </a:p>
        </p:txBody>
      </p:sp>
      <p:sp>
        <p:nvSpPr>
          <p:cNvPr id="265" name="Text Placeholder 264">
            <a:extLst>
              <a:ext uri="{FF2B5EF4-FFF2-40B4-BE49-F238E27FC236}">
                <a16:creationId xmlns:a16="http://schemas.microsoft.com/office/drawing/2014/main" id="{E4BA7126-2B5B-CF1B-2401-6545261C5F2C}"/>
              </a:ext>
            </a:extLst>
          </p:cNvPr>
          <p:cNvSpPr>
            <a:spLocks noGrp="1"/>
          </p:cNvSpPr>
          <p:nvPr>
            <p:ph type="body" sz="quarter" idx="33"/>
          </p:nvPr>
        </p:nvSpPr>
        <p:spPr>
          <a:xfrm>
            <a:off x="304796" y="413987"/>
            <a:ext cx="1941119" cy="307777"/>
          </a:xfrm>
        </p:spPr>
        <p:txBody>
          <a:bodyPr/>
          <a:lstStyle/>
          <a:p>
            <a:r>
              <a:rPr lang="en-US" noProof="0" dirty="0"/>
              <a:t>Finance</a:t>
            </a:r>
          </a:p>
        </p:txBody>
      </p:sp>
      <p:sp>
        <p:nvSpPr>
          <p:cNvPr id="220" name="Title 219">
            <a:extLst>
              <a:ext uri="{FF2B5EF4-FFF2-40B4-BE49-F238E27FC236}">
                <a16:creationId xmlns:a16="http://schemas.microsoft.com/office/drawing/2014/main" id="{77C0B686-80E1-D077-464F-63C5D9EC2807}"/>
              </a:ext>
            </a:extLst>
          </p:cNvPr>
          <p:cNvSpPr>
            <a:spLocks noGrp="1"/>
          </p:cNvSpPr>
          <p:nvPr>
            <p:ph type="title"/>
          </p:nvPr>
        </p:nvSpPr>
        <p:spPr>
          <a:xfrm>
            <a:off x="2492556" y="429376"/>
            <a:ext cx="4144817" cy="276999"/>
          </a:xfrm>
        </p:spPr>
        <p:txBody>
          <a:bodyPr/>
          <a:lstStyle/>
          <a:p>
            <a:r>
              <a:rPr lang="en-US" noProof="0" dirty="0"/>
              <a:t>Amendment comparisons</a:t>
            </a:r>
          </a:p>
        </p:txBody>
      </p:sp>
      <p:grpSp>
        <p:nvGrpSpPr>
          <p:cNvPr id="352" name="Group 351">
            <a:extLst>
              <a:ext uri="{FF2B5EF4-FFF2-40B4-BE49-F238E27FC236}">
                <a16:creationId xmlns:a16="http://schemas.microsoft.com/office/drawing/2014/main" id="{14ED0B27-256D-7454-7EC8-A85A462E64F9}"/>
              </a:ext>
            </a:extLst>
          </p:cNvPr>
          <p:cNvGrpSpPr>
            <a:grpSpLocks/>
          </p:cNvGrpSpPr>
          <p:nvPr/>
        </p:nvGrpSpPr>
        <p:grpSpPr>
          <a:xfrm>
            <a:off x="320719" y="5020658"/>
            <a:ext cx="1771605" cy="216000"/>
            <a:chOff x="320721" y="4517211"/>
            <a:chExt cx="1771605" cy="216000"/>
          </a:xfrm>
        </p:grpSpPr>
        <p:sp>
          <p:nvSpPr>
            <p:cNvPr id="353" name="Rectangle: Rounded Corners 6">
              <a:extLst>
                <a:ext uri="{FF2B5EF4-FFF2-40B4-BE49-F238E27FC236}">
                  <a16:creationId xmlns:a16="http://schemas.microsoft.com/office/drawing/2014/main" id="{3AD34CAC-1E8A-F09A-055A-627F5E9866D6}"/>
                </a:ext>
                <a:ext uri="{C183D7F6-B498-43B3-948B-1728B52AA6E4}">
                  <adec:decorative xmlns:adec="http://schemas.microsoft.com/office/drawing/2017/decorative" val="1"/>
                </a:ext>
              </a:extLst>
            </p:cNvPr>
            <p:cNvSpPr>
              <a:spLocks/>
            </p:cNvSpPr>
            <p:nvPr/>
          </p:nvSpPr>
          <p:spPr bwMode="auto">
            <a:xfrm>
              <a:off x="320721" y="4517211"/>
              <a:ext cx="1771605" cy="216000"/>
            </a:xfrm>
            <a:prstGeom prst="roundRect">
              <a:avLst>
                <a:gd name="adj" fmla="val 50000"/>
              </a:avLst>
            </a:prstGeom>
            <a:solidFill>
              <a:srgbClr val="FFFFFF"/>
            </a:solidFill>
            <a:ln w="12700">
              <a:solidFill>
                <a:srgbClr val="C03BC4"/>
              </a:solidFill>
              <a:headEnd type="none" w="med" len="med"/>
              <a:tailEnd type="none" w="med" len="med"/>
            </a:ln>
            <a:effectLst>
              <a:outerShdw blurRad="63500" dist="63500" dir="2700000"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16000" tIns="36576" rIns="36000" bIns="36000" numCol="1" spcCol="0" rtlCol="0" fromWordArt="0" anchor="ctr" anchorCtr="0" forceAA="0" compatLnSpc="1">
              <a:prstTxWarp prst="textNoShape">
                <a:avLst/>
              </a:prstTxWarp>
              <a:noAutofit/>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C03BC4"/>
                  </a:solidFill>
                  <a:effectLst/>
                  <a:uLnTx/>
                  <a:uFillTx/>
                  <a:latin typeface="Segoe UI Semibold"/>
                  <a:ea typeface="+mn-ea"/>
                  <a:cs typeface="Segoe UI Semibold" panose="020B0702040204020203" pitchFamily="34" charset="0"/>
                </a:rPr>
                <a:t>Cost savings</a:t>
              </a:r>
            </a:p>
          </p:txBody>
        </p:sp>
        <p:pic>
          <p:nvPicPr>
            <p:cNvPr id="354" name="Graphic 353">
              <a:extLst>
                <a:ext uri="{FF2B5EF4-FFF2-40B4-BE49-F238E27FC236}">
                  <a16:creationId xmlns:a16="http://schemas.microsoft.com/office/drawing/2014/main" id="{DB5EB851-BB01-0091-20A7-0BE7ED82413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67507" y="4554345"/>
              <a:ext cx="144000" cy="141732"/>
            </a:xfrm>
            <a:prstGeom prst="rect">
              <a:avLst/>
            </a:prstGeom>
          </p:spPr>
        </p:pic>
      </p:grpSp>
      <p:grpSp>
        <p:nvGrpSpPr>
          <p:cNvPr id="355" name="Group 354">
            <a:extLst>
              <a:ext uri="{FF2B5EF4-FFF2-40B4-BE49-F238E27FC236}">
                <a16:creationId xmlns:a16="http://schemas.microsoft.com/office/drawing/2014/main" id="{3A9F1482-956E-8853-7A35-948E7C9A3FA4}"/>
              </a:ext>
            </a:extLst>
          </p:cNvPr>
          <p:cNvGrpSpPr>
            <a:grpSpLocks/>
          </p:cNvGrpSpPr>
          <p:nvPr/>
        </p:nvGrpSpPr>
        <p:grpSpPr>
          <a:xfrm>
            <a:off x="320721" y="5309272"/>
            <a:ext cx="1771605" cy="216000"/>
            <a:chOff x="320719" y="4224856"/>
            <a:chExt cx="1771605" cy="219456"/>
          </a:xfrm>
        </p:grpSpPr>
        <p:sp>
          <p:nvSpPr>
            <p:cNvPr id="356" name="Rectangle: Rounded Corners 6">
              <a:extLst>
                <a:ext uri="{FF2B5EF4-FFF2-40B4-BE49-F238E27FC236}">
                  <a16:creationId xmlns:a16="http://schemas.microsoft.com/office/drawing/2014/main" id="{AF18BC0B-A73F-9D1B-02FB-8BCC607DBB6A}"/>
                </a:ext>
                <a:ext uri="{C183D7F6-B498-43B3-948B-1728B52AA6E4}">
                  <adec:decorative xmlns:adec="http://schemas.microsoft.com/office/drawing/2017/decorative" val="1"/>
                </a:ext>
              </a:extLst>
            </p:cNvPr>
            <p:cNvSpPr/>
            <p:nvPr/>
          </p:nvSpPr>
          <p:spPr bwMode="auto">
            <a:xfrm>
              <a:off x="320719" y="4224856"/>
              <a:ext cx="1771605" cy="219456"/>
            </a:xfrm>
            <a:prstGeom prst="roundRect">
              <a:avLst>
                <a:gd name="adj" fmla="val 50000"/>
              </a:avLst>
            </a:prstGeom>
            <a:solidFill>
              <a:srgbClr val="FFFFFF"/>
            </a:solidFill>
            <a:ln w="12700">
              <a:solidFill>
                <a:srgbClr val="C03BC4"/>
              </a:solidFill>
              <a:headEnd type="none" w="med" len="med"/>
              <a:tailEnd type="none" w="med" len="med"/>
            </a:ln>
            <a:effectLst>
              <a:outerShdw blurRad="63500" dist="63500" dir="2700000"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16000" tIns="36576" rIns="36000" bIns="36000" numCol="1" spcCol="0" rtlCol="0" fromWordArt="0" anchor="ctr" anchorCtr="0" forceAA="0" compatLnSpc="1">
              <a:prstTxWarp prst="textNoShape">
                <a:avLst/>
              </a:prstTxWarp>
              <a:noAutofit/>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C03BC4"/>
                  </a:solidFill>
                  <a:effectLst/>
                  <a:uLnTx/>
                  <a:uFillTx/>
                  <a:latin typeface="Segoe UI Semibold"/>
                  <a:ea typeface="+mn-ea"/>
                  <a:cs typeface="Segoe UI Semibold" panose="020B0702040204020203" pitchFamily="34" charset="0"/>
                </a:rPr>
                <a:t>Employee experience</a:t>
              </a:r>
            </a:p>
          </p:txBody>
        </p:sp>
        <p:pic>
          <p:nvPicPr>
            <p:cNvPr id="357" name="Graphic 356">
              <a:extLst>
                <a:ext uri="{FF2B5EF4-FFF2-40B4-BE49-F238E27FC236}">
                  <a16:creationId xmlns:a16="http://schemas.microsoft.com/office/drawing/2014/main" id="{2F0C78E2-4C60-838D-4442-342EB5709508}"/>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67506" y="4262584"/>
              <a:ext cx="144000" cy="144000"/>
            </a:xfrm>
            <a:prstGeom prst="rect">
              <a:avLst/>
            </a:prstGeom>
          </p:spPr>
        </p:pic>
      </p:grpSp>
      <p:grpSp>
        <p:nvGrpSpPr>
          <p:cNvPr id="358" name="Group 357">
            <a:extLst>
              <a:ext uri="{FF2B5EF4-FFF2-40B4-BE49-F238E27FC236}">
                <a16:creationId xmlns:a16="http://schemas.microsoft.com/office/drawing/2014/main" id="{E0F11AE8-BC4D-A573-AFB2-76973CC31B65}"/>
              </a:ext>
            </a:extLst>
          </p:cNvPr>
          <p:cNvGrpSpPr/>
          <p:nvPr/>
        </p:nvGrpSpPr>
        <p:grpSpPr>
          <a:xfrm>
            <a:off x="320719" y="3778836"/>
            <a:ext cx="1771605" cy="216000"/>
            <a:chOff x="320719" y="4224856"/>
            <a:chExt cx="1771605" cy="219456"/>
          </a:xfrm>
        </p:grpSpPr>
        <p:sp>
          <p:nvSpPr>
            <p:cNvPr id="359" name="Rectangle: Rounded Corners 6">
              <a:extLst>
                <a:ext uri="{FF2B5EF4-FFF2-40B4-BE49-F238E27FC236}">
                  <a16:creationId xmlns:a16="http://schemas.microsoft.com/office/drawing/2014/main" id="{61CD7B46-FB70-0452-1605-1C9D994E2545}"/>
                </a:ext>
                <a:ext uri="{C183D7F6-B498-43B3-948B-1728B52AA6E4}">
                  <adec:decorative xmlns:adec="http://schemas.microsoft.com/office/drawing/2017/decorative" val="1"/>
                </a:ext>
              </a:extLst>
            </p:cNvPr>
            <p:cNvSpPr/>
            <p:nvPr/>
          </p:nvSpPr>
          <p:spPr bwMode="auto">
            <a:xfrm>
              <a:off x="320719" y="4224856"/>
              <a:ext cx="1771605" cy="219456"/>
            </a:xfrm>
            <a:prstGeom prst="roundRect">
              <a:avLst>
                <a:gd name="adj" fmla="val 50000"/>
              </a:avLst>
            </a:prstGeom>
            <a:solidFill>
              <a:srgbClr val="FFFFFF"/>
            </a:solidFill>
            <a:ln w="12700">
              <a:solidFill>
                <a:srgbClr val="0078D4"/>
              </a:solidFill>
              <a:headEnd type="none" w="med" len="med"/>
              <a:tailEnd type="none" w="med" len="med"/>
            </a:ln>
            <a:effectLst>
              <a:outerShdw blurRad="63500" dist="63500" dir="2700000"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16000" tIns="36576" rIns="36000" bIns="36000" numCol="1" spcCol="0" rtlCol="0" fromWordArt="0" anchor="ctr" anchorCtr="0" forceAA="0" compatLnSpc="1">
              <a:prstTxWarp prst="textNoShape">
                <a:avLst/>
              </a:prstTxWarp>
              <a:noAutofit/>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78D4"/>
                  </a:solidFill>
                  <a:effectLst/>
                  <a:uLnTx/>
                  <a:uFillTx/>
                  <a:latin typeface="Segoe UI Semibold"/>
                  <a:ea typeface="+mn-ea"/>
                  <a:cs typeface="Segoe UI Semibold" panose="020B0702040204020203" pitchFamily="34" charset="0"/>
                </a:rPr>
                <a:t>Reduce spending</a:t>
              </a:r>
            </a:p>
          </p:txBody>
        </p:sp>
        <p:pic>
          <p:nvPicPr>
            <p:cNvPr id="360" name="Graphic 359">
              <a:extLst>
                <a:ext uri="{FF2B5EF4-FFF2-40B4-BE49-F238E27FC236}">
                  <a16:creationId xmlns:a16="http://schemas.microsoft.com/office/drawing/2014/main" id="{BBB95DCD-D30C-DF73-05D7-96F23597754E}"/>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367506" y="4262584"/>
              <a:ext cx="144000" cy="144000"/>
            </a:xfrm>
            <a:prstGeom prst="rect">
              <a:avLst/>
            </a:prstGeom>
          </p:spPr>
        </p:pic>
      </p:grpSp>
      <p:grpSp>
        <p:nvGrpSpPr>
          <p:cNvPr id="361" name="Group 360">
            <a:extLst>
              <a:ext uri="{FF2B5EF4-FFF2-40B4-BE49-F238E27FC236}">
                <a16:creationId xmlns:a16="http://schemas.microsoft.com/office/drawing/2014/main" id="{74A7F531-0173-BCE7-94CD-23440227B93A}"/>
              </a:ext>
            </a:extLst>
          </p:cNvPr>
          <p:cNvGrpSpPr/>
          <p:nvPr/>
        </p:nvGrpSpPr>
        <p:grpSpPr>
          <a:xfrm>
            <a:off x="320721" y="4067450"/>
            <a:ext cx="1771605" cy="216000"/>
            <a:chOff x="320721" y="4517211"/>
            <a:chExt cx="1771605" cy="216000"/>
          </a:xfrm>
        </p:grpSpPr>
        <p:sp>
          <p:nvSpPr>
            <p:cNvPr id="362" name="Rectangle: Rounded Corners 6">
              <a:extLst>
                <a:ext uri="{FF2B5EF4-FFF2-40B4-BE49-F238E27FC236}">
                  <a16:creationId xmlns:a16="http://schemas.microsoft.com/office/drawing/2014/main" id="{20577B7A-5102-AFA4-8B48-B4E1AFB6CE4E}"/>
                </a:ext>
                <a:ext uri="{C183D7F6-B498-43B3-948B-1728B52AA6E4}">
                  <adec:decorative xmlns:adec="http://schemas.microsoft.com/office/drawing/2017/decorative" val="1"/>
                </a:ext>
              </a:extLst>
            </p:cNvPr>
            <p:cNvSpPr>
              <a:spLocks/>
            </p:cNvSpPr>
            <p:nvPr/>
          </p:nvSpPr>
          <p:spPr bwMode="auto">
            <a:xfrm>
              <a:off x="320721" y="4517211"/>
              <a:ext cx="1771605" cy="216000"/>
            </a:xfrm>
            <a:prstGeom prst="roundRect">
              <a:avLst>
                <a:gd name="adj" fmla="val 50000"/>
              </a:avLst>
            </a:prstGeom>
            <a:solidFill>
              <a:srgbClr val="FFFFFF"/>
            </a:solidFill>
            <a:ln w="12700">
              <a:solidFill>
                <a:srgbClr val="0078D4"/>
              </a:solidFill>
              <a:headEnd type="none" w="med" len="med"/>
              <a:tailEnd type="none" w="med" len="med"/>
            </a:ln>
            <a:effectLst>
              <a:outerShdw blurRad="63500" dist="63500" dir="2700000"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16000" tIns="36576" rIns="36000" bIns="36000" numCol="1" spcCol="0" rtlCol="0" fromWordArt="0" anchor="ctr" anchorCtr="0" forceAA="0" compatLnSpc="1">
              <a:prstTxWarp prst="textNoShape">
                <a:avLst/>
              </a:prstTxWarp>
              <a:noAutofit/>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78D4"/>
                  </a:solidFill>
                  <a:effectLst/>
                  <a:uLnTx/>
                  <a:uFillTx/>
                  <a:latin typeface="Segoe UI Semibold"/>
                  <a:ea typeface="+mn-ea"/>
                  <a:cs typeface="Segoe UI Semibold"/>
                </a:rPr>
                <a:t>Risk management</a:t>
              </a:r>
            </a:p>
          </p:txBody>
        </p:sp>
        <p:pic>
          <p:nvPicPr>
            <p:cNvPr id="363" name="Graphic 362">
              <a:extLst>
                <a:ext uri="{FF2B5EF4-FFF2-40B4-BE49-F238E27FC236}">
                  <a16:creationId xmlns:a16="http://schemas.microsoft.com/office/drawing/2014/main" id="{5BCB2BDE-F8D9-C464-04BA-621C6404556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67507" y="4552645"/>
              <a:ext cx="144000" cy="141732"/>
            </a:xfrm>
            <a:prstGeom prst="rect">
              <a:avLst/>
            </a:prstGeom>
          </p:spPr>
        </p:pic>
      </p:grpSp>
      <p:sp>
        <p:nvSpPr>
          <p:cNvPr id="39" name="TextBox 38">
            <a:extLst>
              <a:ext uri="{FF2B5EF4-FFF2-40B4-BE49-F238E27FC236}">
                <a16:creationId xmlns:a16="http://schemas.microsoft.com/office/drawing/2014/main" id="{EFF19099-E616-2448-7986-920C8C8059F4}"/>
              </a:ext>
              <a:ext uri="{C183D7F6-B498-43B3-948B-1728B52AA6E4}">
                <adec:decorative xmlns:adec="http://schemas.microsoft.com/office/drawing/2017/decorative" val="0"/>
              </a:ext>
            </a:extLst>
          </p:cNvPr>
          <p:cNvSpPr txBox="1"/>
          <p:nvPr/>
        </p:nvSpPr>
        <p:spPr>
          <a:xfrm>
            <a:off x="7887017" y="4886070"/>
            <a:ext cx="1830524" cy="1538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Semibold"/>
                <a:ea typeface="+mn-ea"/>
                <a:cs typeface="+mn-cs"/>
              </a:rPr>
              <a:t>Copilot in Outlook</a:t>
            </a:r>
          </a:p>
        </p:txBody>
      </p:sp>
      <p:sp>
        <p:nvSpPr>
          <p:cNvPr id="40" name="TextBox 39">
            <a:extLst>
              <a:ext uri="{FF2B5EF4-FFF2-40B4-BE49-F238E27FC236}">
                <a16:creationId xmlns:a16="http://schemas.microsoft.com/office/drawing/2014/main" id="{E613790D-A63A-6D08-A8F8-B1AB1298F5E4}"/>
              </a:ext>
              <a:ext uri="{C183D7F6-B498-43B3-948B-1728B52AA6E4}">
                <adec:decorative xmlns:adec="http://schemas.microsoft.com/office/drawing/2017/decorative" val="0"/>
              </a:ext>
            </a:extLst>
          </p:cNvPr>
          <p:cNvSpPr txBox="1"/>
          <p:nvPr/>
        </p:nvSpPr>
        <p:spPr>
          <a:xfrm>
            <a:off x="4397907" y="4886070"/>
            <a:ext cx="1830524" cy="1538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Semibold"/>
                <a:ea typeface="+mn-ea"/>
                <a:cs typeface="+mn-cs"/>
              </a:rPr>
              <a:t>PowerPoint Agent</a:t>
            </a:r>
          </a:p>
        </p:txBody>
      </p:sp>
      <p:sp>
        <p:nvSpPr>
          <p:cNvPr id="42" name="TextBox 41">
            <a:extLst>
              <a:ext uri="{FF2B5EF4-FFF2-40B4-BE49-F238E27FC236}">
                <a16:creationId xmlns:a16="http://schemas.microsoft.com/office/drawing/2014/main" id="{81FAF4F2-DFAC-3430-498D-73982E134E18}"/>
              </a:ext>
              <a:ext uri="{C183D7F6-B498-43B3-948B-1728B52AA6E4}">
                <adec:decorative xmlns:adec="http://schemas.microsoft.com/office/drawing/2017/decorative" val="0"/>
              </a:ext>
            </a:extLst>
          </p:cNvPr>
          <p:cNvSpPr txBox="1"/>
          <p:nvPr/>
        </p:nvSpPr>
        <p:spPr>
          <a:xfrm>
            <a:off x="3562472" y="2286931"/>
            <a:ext cx="1830524" cy="1538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Semibold"/>
                <a:ea typeface="+mn-ea"/>
                <a:cs typeface="+mn-cs"/>
              </a:rPr>
              <a:t>Copilot Chat</a:t>
            </a:r>
            <a:r>
              <a:rPr kumimoji="0" lang="en-US" sz="1000" b="0" i="0" u="none" strike="noStrike" kern="1200" cap="none" spc="0" normalizeH="0" baseline="30000" noProof="0" dirty="0">
                <a:ln>
                  <a:noFill/>
                </a:ln>
                <a:solidFill>
                  <a:srgbClr val="000000"/>
                </a:solidFill>
                <a:effectLst/>
                <a:uLnTx/>
                <a:uFillTx/>
                <a:latin typeface="Segoe UI Semibold"/>
                <a:ea typeface="+mn-ea"/>
                <a:cs typeface="+mn-cs"/>
              </a:rPr>
              <a:t>2</a:t>
            </a:r>
          </a:p>
        </p:txBody>
      </p:sp>
      <p:sp>
        <p:nvSpPr>
          <p:cNvPr id="43" name="TextBox 42">
            <a:extLst>
              <a:ext uri="{FF2B5EF4-FFF2-40B4-BE49-F238E27FC236}">
                <a16:creationId xmlns:a16="http://schemas.microsoft.com/office/drawing/2014/main" id="{88B98EFA-ABC2-BA6E-8925-1F54CBC1540E}"/>
              </a:ext>
              <a:ext uri="{C183D7F6-B498-43B3-948B-1728B52AA6E4}">
                <adec:decorative xmlns:adec="http://schemas.microsoft.com/office/drawing/2017/decorative" val="0"/>
              </a:ext>
            </a:extLst>
          </p:cNvPr>
          <p:cNvSpPr txBox="1"/>
          <p:nvPr/>
        </p:nvSpPr>
        <p:spPr>
          <a:xfrm>
            <a:off x="6446959" y="2286931"/>
            <a:ext cx="1830524" cy="1538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Semibold"/>
                <a:ea typeface="+mn-ea"/>
                <a:cs typeface="+mn-cs"/>
              </a:rPr>
              <a:t>Copilot Chat</a:t>
            </a:r>
            <a:r>
              <a:rPr kumimoji="0" lang="en-US" sz="1000" b="0" i="0" u="none" strike="noStrike" kern="1200" cap="none" spc="0" normalizeH="0" baseline="30000" noProof="0" dirty="0">
                <a:ln>
                  <a:noFill/>
                </a:ln>
                <a:solidFill>
                  <a:srgbClr val="000000"/>
                </a:solidFill>
                <a:effectLst/>
                <a:uLnTx/>
                <a:uFillTx/>
                <a:latin typeface="Segoe UI Semibold"/>
                <a:ea typeface="+mn-ea"/>
                <a:cs typeface="+mn-cs"/>
              </a:rPr>
              <a:t>2</a:t>
            </a:r>
          </a:p>
        </p:txBody>
      </p:sp>
      <p:sp>
        <p:nvSpPr>
          <p:cNvPr id="44" name="TextBox 43">
            <a:extLst>
              <a:ext uri="{FF2B5EF4-FFF2-40B4-BE49-F238E27FC236}">
                <a16:creationId xmlns:a16="http://schemas.microsoft.com/office/drawing/2014/main" id="{608466FB-84E1-34E5-5333-09C9F140BF0B}"/>
              </a:ext>
              <a:ext uri="{C183D7F6-B498-43B3-948B-1728B52AA6E4}">
                <adec:decorative xmlns:adec="http://schemas.microsoft.com/office/drawing/2017/decorative" val="0"/>
              </a:ext>
            </a:extLst>
          </p:cNvPr>
          <p:cNvSpPr txBox="1"/>
          <p:nvPr/>
        </p:nvSpPr>
        <p:spPr>
          <a:xfrm>
            <a:off x="9328927" y="2286931"/>
            <a:ext cx="1420949" cy="1538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Semibold"/>
                <a:ea typeface="+mn-ea"/>
                <a:cs typeface="+mn-cs"/>
              </a:rPr>
              <a:t>Copilot in Word</a:t>
            </a:r>
          </a:p>
        </p:txBody>
      </p:sp>
      <p:pic>
        <p:nvPicPr>
          <p:cNvPr id="47" name="Picture 50">
            <a:hlinkClick r:id="rId5"/>
            <a:extLst>
              <a:ext uri="{FF2B5EF4-FFF2-40B4-BE49-F238E27FC236}">
                <a16:creationId xmlns:a16="http://schemas.microsoft.com/office/drawing/2014/main" id="{89ED394C-B5CD-878B-DF10-FD225DD98AE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67425" y="2242688"/>
            <a:ext cx="242374" cy="242374"/>
          </a:xfrm>
          <a:prstGeom prst="rect">
            <a:avLst/>
          </a:prstGeom>
          <a:noFill/>
          <a:extLst>
            <a:ext uri="{909E8E84-426E-40DD-AFC4-6F175D3DCCD1}">
              <a14:hiddenFill xmlns:a14="http://schemas.microsoft.com/office/drawing/2010/main">
                <a:solidFill>
                  <a:srgbClr val="FFFFFF"/>
                </a:solidFill>
              </a14:hiddenFill>
            </a:ext>
          </a:extLst>
        </p:spPr>
      </p:pic>
      <p:pic>
        <p:nvPicPr>
          <p:cNvPr id="50" name="Picture 50">
            <a:hlinkClick r:id="rId5"/>
            <a:extLst>
              <a:ext uri="{FF2B5EF4-FFF2-40B4-BE49-F238E27FC236}">
                <a16:creationId xmlns:a16="http://schemas.microsoft.com/office/drawing/2014/main" id="{DB4711F2-1516-6265-4E80-B767B88275F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82293" y="2242688"/>
            <a:ext cx="242374" cy="242374"/>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descr="Word logo">
            <a:extLst>
              <a:ext uri="{FF2B5EF4-FFF2-40B4-BE49-F238E27FC236}">
                <a16:creationId xmlns:a16="http://schemas.microsoft.com/office/drawing/2014/main" id="{E75696B7-88CD-5BEC-86DD-19E8EDD48DD7}"/>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8950325" y="2226725"/>
            <a:ext cx="246576" cy="246576"/>
          </a:xfrm>
          <a:prstGeom prst="ellipse">
            <a:avLst/>
          </a:prstGeom>
          <a:solidFill>
            <a:srgbClr val="FFFFFF"/>
          </a:solidFill>
        </p:spPr>
      </p:pic>
      <p:pic>
        <p:nvPicPr>
          <p:cNvPr id="3" name="Picture 2" descr="Outlook logo">
            <a:extLst>
              <a:ext uri="{FF2B5EF4-FFF2-40B4-BE49-F238E27FC236}">
                <a16:creationId xmlns:a16="http://schemas.microsoft.com/office/drawing/2014/main" id="{F4F1F34B-217B-8DA1-3505-BB2584E2FA7F}"/>
              </a:ext>
            </a:extLst>
          </p:cNvPr>
          <p:cNvPicPr>
            <a:picLocks noChangeAspect="1"/>
          </p:cNvPicPr>
          <p:nvPr/>
        </p:nvPicPr>
        <p:blipFill>
          <a:blip r:embed="rId8"/>
          <a:stretch>
            <a:fillRect/>
          </a:stretch>
        </p:blipFill>
        <p:spPr>
          <a:xfrm>
            <a:off x="7507288" y="4830426"/>
            <a:ext cx="265176" cy="265176"/>
          </a:xfrm>
          <a:prstGeom prst="rect">
            <a:avLst/>
          </a:prstGeom>
        </p:spPr>
      </p:pic>
      <p:pic>
        <p:nvPicPr>
          <p:cNvPr id="4" name="Picture 3" descr="PowerPoint logo">
            <a:extLst>
              <a:ext uri="{FF2B5EF4-FFF2-40B4-BE49-F238E27FC236}">
                <a16:creationId xmlns:a16="http://schemas.microsoft.com/office/drawing/2014/main" id="{BAD4FB71-FD22-A90B-8ED1-76F1D5B33D62}"/>
              </a:ext>
            </a:extLst>
          </p:cNvPr>
          <p:cNvPicPr>
            <a:picLocks noChangeAspect="1"/>
          </p:cNvPicPr>
          <p:nvPr/>
        </p:nvPicPr>
        <p:blipFill>
          <a:blip r:embed="rId9"/>
          <a:stretch>
            <a:fillRect/>
          </a:stretch>
        </p:blipFill>
        <p:spPr>
          <a:xfrm>
            <a:off x="4036409" y="4830426"/>
            <a:ext cx="265176" cy="265176"/>
          </a:xfrm>
          <a:prstGeom prst="rect">
            <a:avLst/>
          </a:prstGeom>
        </p:spPr>
      </p:pic>
    </p:spTree>
    <p:extLst>
      <p:ext uri="{BB962C8B-B14F-4D97-AF65-F5344CB8AC3E}">
        <p14:creationId xmlns:p14="http://schemas.microsoft.com/office/powerpoint/2010/main" val="651486215"/>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2" name="Text Placeholder 291">
            <a:extLst>
              <a:ext uri="{FF2B5EF4-FFF2-40B4-BE49-F238E27FC236}">
                <a16:creationId xmlns:a16="http://schemas.microsoft.com/office/drawing/2014/main" id="{79892138-DF8F-8333-4B5D-A36667C2CE91}"/>
              </a:ext>
            </a:extLst>
          </p:cNvPr>
          <p:cNvSpPr>
            <a:spLocks noGrp="1"/>
          </p:cNvSpPr>
          <p:nvPr>
            <p:ph type="body" sz="quarter" idx="32"/>
          </p:nvPr>
        </p:nvSpPr>
        <p:spPr>
          <a:xfrm>
            <a:off x="311388" y="1026303"/>
            <a:ext cx="2431246" cy="1131079"/>
          </a:xfrm>
        </p:spPr>
        <p:txBody>
          <a:bodyPr/>
          <a:lstStyle/>
          <a:p>
            <a:r>
              <a:rPr lang="en-US" noProof="0" dirty="0"/>
              <a:t>AI can help procurement employees as they work to negotiate contracts that reduce costs and manage risks. Copilot can help to find information, enhance collaboration, and assist with writing.</a:t>
            </a:r>
          </a:p>
          <a:p>
            <a:endParaRPr lang="en-US" noProof="0" dirty="0"/>
          </a:p>
        </p:txBody>
      </p:sp>
      <p:sp>
        <p:nvSpPr>
          <p:cNvPr id="165" name="Text Placeholder 164">
            <a:extLst>
              <a:ext uri="{FF2B5EF4-FFF2-40B4-BE49-F238E27FC236}">
                <a16:creationId xmlns:a16="http://schemas.microsoft.com/office/drawing/2014/main" id="{61EF02A7-50D7-6612-DFF9-BDF8AD422CAD}"/>
              </a:ext>
            </a:extLst>
          </p:cNvPr>
          <p:cNvSpPr>
            <a:spLocks noGrp="1"/>
          </p:cNvSpPr>
          <p:nvPr>
            <p:ph type="body" sz="quarter" idx="33"/>
          </p:nvPr>
        </p:nvSpPr>
        <p:spPr>
          <a:xfrm>
            <a:off x="304796" y="413987"/>
            <a:ext cx="2057403" cy="307777"/>
          </a:xfrm>
        </p:spPr>
        <p:txBody>
          <a:bodyPr/>
          <a:lstStyle/>
          <a:p>
            <a:r>
              <a:rPr lang="en-US" noProof="0" dirty="0"/>
              <a:t>Finance</a:t>
            </a:r>
          </a:p>
        </p:txBody>
      </p:sp>
      <p:sp>
        <p:nvSpPr>
          <p:cNvPr id="209" name="Text Placeholder 208">
            <a:extLst>
              <a:ext uri="{FF2B5EF4-FFF2-40B4-BE49-F238E27FC236}">
                <a16:creationId xmlns:a16="http://schemas.microsoft.com/office/drawing/2014/main" id="{1139A7BA-DD1A-022B-C7FD-44BD691505F3}"/>
              </a:ext>
            </a:extLst>
          </p:cNvPr>
          <p:cNvSpPr>
            <a:spLocks noGrp="1"/>
          </p:cNvSpPr>
          <p:nvPr>
            <p:ph type="body" sz="quarter" idx="30"/>
          </p:nvPr>
        </p:nvSpPr>
        <p:spPr>
          <a:xfrm>
            <a:off x="10430351" y="521099"/>
            <a:ext cx="1456966" cy="175614"/>
          </a:xfrm>
        </p:spPr>
        <p:txBody>
          <a:bodyPr/>
          <a:lstStyle/>
          <a:p>
            <a:r>
              <a:rPr lang="en-US" noProof="0" dirty="0"/>
              <a:t>Buy</a:t>
            </a:r>
          </a:p>
        </p:txBody>
      </p:sp>
      <p:sp>
        <p:nvSpPr>
          <p:cNvPr id="207" name="Text Placeholder 206">
            <a:extLst>
              <a:ext uri="{FF2B5EF4-FFF2-40B4-BE49-F238E27FC236}">
                <a16:creationId xmlns:a16="http://schemas.microsoft.com/office/drawing/2014/main" id="{4527190A-85A6-6319-1CA1-28209723DE56}"/>
              </a:ext>
            </a:extLst>
          </p:cNvPr>
          <p:cNvSpPr>
            <a:spLocks noGrp="1"/>
          </p:cNvSpPr>
          <p:nvPr>
            <p:ph type="body" sz="quarter" idx="17"/>
          </p:nvPr>
        </p:nvSpPr>
        <p:spPr>
          <a:xfrm>
            <a:off x="7149557" y="521100"/>
            <a:ext cx="2969488" cy="169277"/>
          </a:xfrm>
        </p:spPr>
        <p:txBody>
          <a:bodyPr/>
          <a:lstStyle/>
          <a:p>
            <a:r>
              <a:rPr lang="en-US" noProof="0" dirty="0"/>
              <a:t>Microsoft 365 Copilot</a:t>
            </a:r>
          </a:p>
        </p:txBody>
      </p:sp>
      <p:sp>
        <p:nvSpPr>
          <p:cNvPr id="58" name="Title 57">
            <a:extLst>
              <a:ext uri="{FF2B5EF4-FFF2-40B4-BE49-F238E27FC236}">
                <a16:creationId xmlns:a16="http://schemas.microsoft.com/office/drawing/2014/main" id="{0AA32EA7-83C5-5F19-739E-1535763008C5}"/>
              </a:ext>
            </a:extLst>
          </p:cNvPr>
          <p:cNvSpPr>
            <a:spLocks noGrp="1"/>
          </p:cNvSpPr>
          <p:nvPr>
            <p:ph type="title"/>
          </p:nvPr>
        </p:nvSpPr>
        <p:spPr>
          <a:xfrm>
            <a:off x="2492556" y="429376"/>
            <a:ext cx="4144817" cy="276999"/>
          </a:xfrm>
        </p:spPr>
        <p:txBody>
          <a:bodyPr/>
          <a:lstStyle/>
          <a:p>
            <a:r>
              <a:rPr lang="en-US" noProof="0" dirty="0"/>
              <a:t>Contract management</a:t>
            </a:r>
          </a:p>
        </p:txBody>
      </p:sp>
      <p:sp>
        <p:nvSpPr>
          <p:cNvPr id="266" name="Text Placeholder 265">
            <a:extLst>
              <a:ext uri="{FF2B5EF4-FFF2-40B4-BE49-F238E27FC236}">
                <a16:creationId xmlns:a16="http://schemas.microsoft.com/office/drawing/2014/main" id="{9115B0B0-A1DC-C5CA-8DE2-348895D4141A}"/>
              </a:ext>
            </a:extLst>
          </p:cNvPr>
          <p:cNvSpPr>
            <a:spLocks noGrp="1"/>
          </p:cNvSpPr>
          <p:nvPr>
            <p:ph type="body" sz="quarter" idx="69"/>
          </p:nvPr>
        </p:nvSpPr>
        <p:spPr>
          <a:xfrm>
            <a:off x="3182890" y="2725494"/>
            <a:ext cx="2572262" cy="712876"/>
          </a:xfrm>
        </p:spPr>
        <p:txBody>
          <a:bodyPr/>
          <a:lstStyle/>
          <a:p>
            <a:r>
              <a:rPr lang="en-US" noProof="0" dirty="0"/>
              <a:t>Example prompt: </a:t>
            </a:r>
            <a:r>
              <a:rPr lang="en-US" noProof="0" dirty="0">
                <a:latin typeface="+mj-lt"/>
              </a:rPr>
              <a:t>Summarize this meeting </a:t>
            </a:r>
            <a:r>
              <a:rPr lang="en-US" noProof="0" dirty="0"/>
              <a:t>and provide the key points and action items.</a:t>
            </a:r>
          </a:p>
        </p:txBody>
      </p:sp>
      <p:sp>
        <p:nvSpPr>
          <p:cNvPr id="206" name="Text Placeholder 205">
            <a:extLst>
              <a:ext uri="{FF2B5EF4-FFF2-40B4-BE49-F238E27FC236}">
                <a16:creationId xmlns:a16="http://schemas.microsoft.com/office/drawing/2014/main" id="{69A07346-1F77-78DF-A492-3F3FCF3F76D3}"/>
              </a:ext>
            </a:extLst>
          </p:cNvPr>
          <p:cNvSpPr>
            <a:spLocks noGrp="1"/>
          </p:cNvSpPr>
          <p:nvPr>
            <p:ph type="body" sz="quarter" idx="11"/>
          </p:nvPr>
        </p:nvSpPr>
        <p:spPr>
          <a:xfrm>
            <a:off x="3182890" y="1112478"/>
            <a:ext cx="2572262" cy="153888"/>
          </a:xfrm>
        </p:spPr>
        <p:txBody>
          <a:bodyPr/>
          <a:lstStyle/>
          <a:p>
            <a:r>
              <a:rPr lang="en-US" noProof="0" dirty="0"/>
              <a:t>Recap a meeting</a:t>
            </a:r>
          </a:p>
        </p:txBody>
      </p:sp>
      <p:sp>
        <p:nvSpPr>
          <p:cNvPr id="208" name="Text Placeholder 207">
            <a:extLst>
              <a:ext uri="{FF2B5EF4-FFF2-40B4-BE49-F238E27FC236}">
                <a16:creationId xmlns:a16="http://schemas.microsoft.com/office/drawing/2014/main" id="{2F06F418-4FC7-6F13-B374-09FC627D1A5E}"/>
              </a:ext>
            </a:extLst>
          </p:cNvPr>
          <p:cNvSpPr>
            <a:spLocks noGrp="1"/>
          </p:cNvSpPr>
          <p:nvPr>
            <p:ph type="body" sz="quarter" idx="18"/>
          </p:nvPr>
        </p:nvSpPr>
        <p:spPr>
          <a:xfrm>
            <a:off x="3182890" y="1438715"/>
            <a:ext cx="2572262" cy="626701"/>
          </a:xfrm>
        </p:spPr>
        <p:txBody>
          <a:bodyPr/>
          <a:lstStyle/>
          <a:p>
            <a:r>
              <a:rPr lang="en-US" noProof="0" dirty="0"/>
              <a:t>Catch up on the key discussion points, decisions, and action items from a missed meeting.</a:t>
            </a:r>
          </a:p>
        </p:txBody>
      </p:sp>
      <p:sp>
        <p:nvSpPr>
          <p:cNvPr id="212" name="Text Placeholder 211">
            <a:extLst>
              <a:ext uri="{FF2B5EF4-FFF2-40B4-BE49-F238E27FC236}">
                <a16:creationId xmlns:a16="http://schemas.microsoft.com/office/drawing/2014/main" id="{6F5E61A8-5729-8951-2F25-3033FDEE517C}"/>
              </a:ext>
            </a:extLst>
          </p:cNvPr>
          <p:cNvSpPr>
            <a:spLocks noGrp="1"/>
          </p:cNvSpPr>
          <p:nvPr>
            <p:ph type="body" sz="quarter" idx="42"/>
          </p:nvPr>
        </p:nvSpPr>
        <p:spPr>
          <a:xfrm>
            <a:off x="6066682" y="1112478"/>
            <a:ext cx="2572262" cy="153888"/>
          </a:xfrm>
        </p:spPr>
        <p:txBody>
          <a:bodyPr/>
          <a:lstStyle/>
          <a:p>
            <a:r>
              <a:rPr lang="en-US" noProof="0" dirty="0"/>
              <a:t>Evaluate contracts</a:t>
            </a:r>
          </a:p>
        </p:txBody>
      </p:sp>
      <p:sp>
        <p:nvSpPr>
          <p:cNvPr id="213" name="Text Placeholder 212">
            <a:extLst>
              <a:ext uri="{FF2B5EF4-FFF2-40B4-BE49-F238E27FC236}">
                <a16:creationId xmlns:a16="http://schemas.microsoft.com/office/drawing/2014/main" id="{11684605-F02E-F3AF-B606-E335A2648E1F}"/>
              </a:ext>
            </a:extLst>
          </p:cNvPr>
          <p:cNvSpPr>
            <a:spLocks noGrp="1"/>
          </p:cNvSpPr>
          <p:nvPr>
            <p:ph type="body" sz="quarter" idx="43"/>
          </p:nvPr>
        </p:nvSpPr>
        <p:spPr>
          <a:xfrm>
            <a:off x="6066682" y="1438715"/>
            <a:ext cx="2572262" cy="626701"/>
          </a:xfrm>
        </p:spPr>
        <p:txBody>
          <a:bodyPr/>
          <a:lstStyle/>
          <a:p>
            <a:r>
              <a:rPr lang="en-US" noProof="0" dirty="0"/>
              <a:t>Based on an action item from your missed meeting, ask Copilot to compare multiple contracts for changes and provide considerations and recommendations based on the scenario.</a:t>
            </a:r>
          </a:p>
        </p:txBody>
      </p:sp>
      <p:sp>
        <p:nvSpPr>
          <p:cNvPr id="217" name="Text Placeholder 216">
            <a:extLst>
              <a:ext uri="{FF2B5EF4-FFF2-40B4-BE49-F238E27FC236}">
                <a16:creationId xmlns:a16="http://schemas.microsoft.com/office/drawing/2014/main" id="{D8B9A300-3848-BDEB-1D52-AFF7FD606E39}"/>
              </a:ext>
            </a:extLst>
          </p:cNvPr>
          <p:cNvSpPr>
            <a:spLocks noGrp="1"/>
          </p:cNvSpPr>
          <p:nvPr>
            <p:ph type="body" sz="quarter" idx="68"/>
          </p:nvPr>
        </p:nvSpPr>
        <p:spPr>
          <a:xfrm>
            <a:off x="8950475" y="2725494"/>
            <a:ext cx="2572262" cy="957748"/>
          </a:xfrm>
        </p:spPr>
        <p:txBody>
          <a:bodyPr/>
          <a:lstStyle/>
          <a:p>
            <a:r>
              <a:rPr lang="en-US" noProof="0" dirty="0"/>
              <a:t>Example prompt: </a:t>
            </a:r>
            <a:r>
              <a:rPr lang="en-US" noProof="0" dirty="0">
                <a:latin typeface="+mj-lt"/>
              </a:rPr>
              <a:t>Summarize this document </a:t>
            </a:r>
            <a:r>
              <a:rPr lang="en-US" noProof="0" dirty="0"/>
              <a:t>[summary.docx] into 5 key takeaways in</a:t>
            </a:r>
            <a:br>
              <a:rPr lang="en-US" noProof="0" dirty="0"/>
            </a:br>
            <a:r>
              <a:rPr lang="en-US" noProof="0" dirty="0"/>
              <a:t>paragraph form.</a:t>
            </a:r>
          </a:p>
          <a:p>
            <a:r>
              <a:rPr lang="en-US" u="sng" dirty="0">
                <a:hlinkClick r:id="rId2"/>
              </a:rPr>
              <a:t>Get started with Word, Excel, and PowerPoint Agents</a:t>
            </a:r>
            <a:endParaRPr lang="en-US" noProof="0" dirty="0"/>
          </a:p>
        </p:txBody>
      </p:sp>
      <p:sp>
        <p:nvSpPr>
          <p:cNvPr id="215" name="Text Placeholder 214">
            <a:extLst>
              <a:ext uri="{FF2B5EF4-FFF2-40B4-BE49-F238E27FC236}">
                <a16:creationId xmlns:a16="http://schemas.microsoft.com/office/drawing/2014/main" id="{6A9516B1-D56D-F707-7040-343170EC92E0}"/>
              </a:ext>
            </a:extLst>
          </p:cNvPr>
          <p:cNvSpPr>
            <a:spLocks noGrp="1"/>
          </p:cNvSpPr>
          <p:nvPr>
            <p:ph type="body" sz="quarter" idx="45"/>
          </p:nvPr>
        </p:nvSpPr>
        <p:spPr>
          <a:xfrm>
            <a:off x="8950475" y="1112478"/>
            <a:ext cx="2572262" cy="153888"/>
          </a:xfrm>
        </p:spPr>
        <p:txBody>
          <a:bodyPr/>
          <a:lstStyle/>
          <a:p>
            <a:r>
              <a:rPr lang="en-US" noProof="0" dirty="0"/>
              <a:t>Summarize comparisons</a:t>
            </a:r>
          </a:p>
        </p:txBody>
      </p:sp>
      <p:sp>
        <p:nvSpPr>
          <p:cNvPr id="216" name="Text Placeholder 215">
            <a:extLst>
              <a:ext uri="{FF2B5EF4-FFF2-40B4-BE49-F238E27FC236}">
                <a16:creationId xmlns:a16="http://schemas.microsoft.com/office/drawing/2014/main" id="{FF6EBAFC-8AE1-E817-991B-646027BAE140}"/>
              </a:ext>
            </a:extLst>
          </p:cNvPr>
          <p:cNvSpPr>
            <a:spLocks noGrp="1"/>
          </p:cNvSpPr>
          <p:nvPr>
            <p:ph type="body" sz="quarter" idx="46"/>
          </p:nvPr>
        </p:nvSpPr>
        <p:spPr>
          <a:xfrm>
            <a:off x="8950475" y="1438715"/>
            <a:ext cx="2572262" cy="626701"/>
          </a:xfrm>
        </p:spPr>
        <p:txBody>
          <a:bodyPr/>
          <a:lstStyle/>
          <a:p>
            <a:r>
              <a:rPr lang="en-US" noProof="0" dirty="0"/>
              <a:t>Synthesize the contract comparisons and generate summaries and insights.</a:t>
            </a:r>
          </a:p>
        </p:txBody>
      </p:sp>
      <p:sp>
        <p:nvSpPr>
          <p:cNvPr id="267" name="Text Placeholder 266">
            <a:extLst>
              <a:ext uri="{FF2B5EF4-FFF2-40B4-BE49-F238E27FC236}">
                <a16:creationId xmlns:a16="http://schemas.microsoft.com/office/drawing/2014/main" id="{1E7089AC-0765-10D7-F8EA-AD1B8EC3697B}"/>
              </a:ext>
            </a:extLst>
          </p:cNvPr>
          <p:cNvSpPr>
            <a:spLocks noGrp="1"/>
          </p:cNvSpPr>
          <p:nvPr>
            <p:ph type="body" sz="quarter" idx="70"/>
          </p:nvPr>
        </p:nvSpPr>
        <p:spPr>
          <a:xfrm>
            <a:off x="6066682" y="2725494"/>
            <a:ext cx="2572262" cy="712876"/>
          </a:xfrm>
        </p:spPr>
        <p:txBody>
          <a:bodyPr/>
          <a:lstStyle/>
          <a:p>
            <a:r>
              <a:rPr lang="en-US" noProof="0" dirty="0"/>
              <a:t>Example prompt: </a:t>
            </a:r>
            <a:r>
              <a:rPr lang="en-US" noProof="0" dirty="0">
                <a:latin typeface="+mj-lt"/>
              </a:rPr>
              <a:t>Evaluate</a:t>
            </a:r>
            <a:r>
              <a:rPr lang="en-US" noProof="0" dirty="0"/>
              <a:t> [contract1.docx] and [contract2.docx]. As a [finance ops manager]</a:t>
            </a:r>
            <a:br>
              <a:rPr lang="en-US" noProof="0" dirty="0"/>
            </a:br>
            <a:r>
              <a:rPr lang="en-US" noProof="0" dirty="0"/>
              <a:t>create a comparison table outlining the key differences and risks.</a:t>
            </a:r>
          </a:p>
        </p:txBody>
      </p:sp>
      <p:sp>
        <p:nvSpPr>
          <p:cNvPr id="265" name="Text Placeholder 264">
            <a:extLst>
              <a:ext uri="{FF2B5EF4-FFF2-40B4-BE49-F238E27FC236}">
                <a16:creationId xmlns:a16="http://schemas.microsoft.com/office/drawing/2014/main" id="{F93492F0-D9C7-59A9-7395-D98A4594CF27}"/>
              </a:ext>
            </a:extLst>
          </p:cNvPr>
          <p:cNvSpPr>
            <a:spLocks noGrp="1"/>
          </p:cNvSpPr>
          <p:nvPr>
            <p:ph type="body" sz="quarter" idx="48"/>
          </p:nvPr>
        </p:nvSpPr>
        <p:spPr>
          <a:xfrm>
            <a:off x="3182890" y="5334522"/>
            <a:ext cx="2572262" cy="712876"/>
          </a:xfrm>
        </p:spPr>
        <p:txBody>
          <a:bodyPr/>
          <a:lstStyle/>
          <a:p>
            <a:r>
              <a:rPr lang="en-US" noProof="0" dirty="0"/>
              <a:t>Action: Use </a:t>
            </a:r>
            <a:r>
              <a:rPr lang="en-US" noProof="0" dirty="0">
                <a:latin typeface="+mj-lt"/>
              </a:rPr>
              <a:t>Coaching by Copilot</a:t>
            </a:r>
            <a:r>
              <a:rPr lang="en-US" noProof="0" dirty="0"/>
              <a:t> to enhance the tone of your email while conveying urgency in your request. Tone is Direct and Length is Short.</a:t>
            </a:r>
          </a:p>
        </p:txBody>
      </p:sp>
      <p:sp>
        <p:nvSpPr>
          <p:cNvPr id="219" name="Text Placeholder 218">
            <a:extLst>
              <a:ext uri="{FF2B5EF4-FFF2-40B4-BE49-F238E27FC236}">
                <a16:creationId xmlns:a16="http://schemas.microsoft.com/office/drawing/2014/main" id="{6AD0C766-5722-65B6-54B9-18FC6AA504B2}"/>
              </a:ext>
            </a:extLst>
          </p:cNvPr>
          <p:cNvSpPr>
            <a:spLocks noGrp="1"/>
          </p:cNvSpPr>
          <p:nvPr>
            <p:ph type="body" sz="quarter" idx="49"/>
          </p:nvPr>
        </p:nvSpPr>
        <p:spPr>
          <a:xfrm>
            <a:off x="3182890" y="3725103"/>
            <a:ext cx="2572262" cy="153888"/>
          </a:xfrm>
        </p:spPr>
        <p:txBody>
          <a:bodyPr/>
          <a:lstStyle/>
          <a:p>
            <a:r>
              <a:rPr lang="en-US" noProof="0" dirty="0"/>
              <a:t>Communicate recommendations</a:t>
            </a:r>
          </a:p>
        </p:txBody>
      </p:sp>
      <p:sp>
        <p:nvSpPr>
          <p:cNvPr id="220" name="Text Placeholder 219">
            <a:extLst>
              <a:ext uri="{FF2B5EF4-FFF2-40B4-BE49-F238E27FC236}">
                <a16:creationId xmlns:a16="http://schemas.microsoft.com/office/drawing/2014/main" id="{28E7E783-FD58-FEFA-697B-80D03172E324}"/>
              </a:ext>
            </a:extLst>
          </p:cNvPr>
          <p:cNvSpPr>
            <a:spLocks noGrp="1"/>
          </p:cNvSpPr>
          <p:nvPr>
            <p:ph type="body" sz="quarter" idx="50"/>
          </p:nvPr>
        </p:nvSpPr>
        <p:spPr>
          <a:xfrm>
            <a:off x="3182890" y="4050957"/>
            <a:ext cx="2572262" cy="626701"/>
          </a:xfrm>
        </p:spPr>
        <p:txBody>
          <a:bodyPr/>
          <a:lstStyle/>
          <a:p>
            <a:r>
              <a:rPr lang="en-US" noProof="0" dirty="0"/>
              <a:t>Send an email to colleagues soliciting feedback on the presentation. Include the Loop for more efficient collaboration.</a:t>
            </a:r>
          </a:p>
        </p:txBody>
      </p:sp>
      <p:sp>
        <p:nvSpPr>
          <p:cNvPr id="221" name="Text Placeholder 220">
            <a:extLst>
              <a:ext uri="{FF2B5EF4-FFF2-40B4-BE49-F238E27FC236}">
                <a16:creationId xmlns:a16="http://schemas.microsoft.com/office/drawing/2014/main" id="{260BB842-4BEF-B475-6CAF-7DAF0B15F275}"/>
              </a:ext>
            </a:extLst>
          </p:cNvPr>
          <p:cNvSpPr>
            <a:spLocks noGrp="1"/>
          </p:cNvSpPr>
          <p:nvPr>
            <p:ph type="body" sz="quarter" idx="51"/>
          </p:nvPr>
        </p:nvSpPr>
        <p:spPr>
          <a:xfrm>
            <a:off x="6066682" y="3725103"/>
            <a:ext cx="2572262" cy="153888"/>
          </a:xfrm>
        </p:spPr>
        <p:txBody>
          <a:bodyPr/>
          <a:lstStyle/>
          <a:p>
            <a:r>
              <a:rPr lang="en-US" noProof="0" dirty="0"/>
              <a:t>Collaborate with team</a:t>
            </a:r>
          </a:p>
        </p:txBody>
      </p:sp>
      <p:sp>
        <p:nvSpPr>
          <p:cNvPr id="222" name="Text Placeholder 221">
            <a:extLst>
              <a:ext uri="{FF2B5EF4-FFF2-40B4-BE49-F238E27FC236}">
                <a16:creationId xmlns:a16="http://schemas.microsoft.com/office/drawing/2014/main" id="{3DDCC703-57F9-5706-E9FC-352EBF2C990F}"/>
              </a:ext>
            </a:extLst>
          </p:cNvPr>
          <p:cNvSpPr>
            <a:spLocks noGrp="1"/>
          </p:cNvSpPr>
          <p:nvPr>
            <p:ph type="body" sz="quarter" idx="52"/>
          </p:nvPr>
        </p:nvSpPr>
        <p:spPr>
          <a:xfrm>
            <a:off x="6066682" y="4050957"/>
            <a:ext cx="2572262" cy="626701"/>
          </a:xfrm>
        </p:spPr>
        <p:txBody>
          <a:bodyPr/>
          <a:lstStyle/>
          <a:p>
            <a:r>
              <a:rPr lang="en-US" noProof="0" dirty="0"/>
              <a:t>Brainstorm with colleagues on the draft presentation to incorporate diverse perspective.</a:t>
            </a:r>
          </a:p>
        </p:txBody>
      </p:sp>
      <p:sp>
        <p:nvSpPr>
          <p:cNvPr id="211" name="Text Placeholder 210">
            <a:extLst>
              <a:ext uri="{FF2B5EF4-FFF2-40B4-BE49-F238E27FC236}">
                <a16:creationId xmlns:a16="http://schemas.microsoft.com/office/drawing/2014/main" id="{4E758AAB-E7BC-BC8C-2956-15F0EB49630A}"/>
              </a:ext>
            </a:extLst>
          </p:cNvPr>
          <p:cNvSpPr>
            <a:spLocks noGrp="1"/>
          </p:cNvSpPr>
          <p:nvPr>
            <p:ph type="body" sz="quarter" idx="66"/>
          </p:nvPr>
        </p:nvSpPr>
        <p:spPr>
          <a:xfrm>
            <a:off x="8950475" y="5334522"/>
            <a:ext cx="2572262" cy="712876"/>
          </a:xfrm>
        </p:spPr>
        <p:txBody>
          <a:bodyPr/>
          <a:lstStyle/>
          <a:p>
            <a:r>
              <a:rPr lang="en-US" noProof="0" dirty="0"/>
              <a:t>Example prompt: </a:t>
            </a:r>
            <a:r>
              <a:rPr lang="en-US" noProof="0" dirty="0">
                <a:latin typeface="+mj-lt"/>
              </a:rPr>
              <a:t>Create a presentation from file </a:t>
            </a:r>
            <a:r>
              <a:rPr lang="en-US" noProof="0" dirty="0"/>
              <a:t>[summary.docx] and include the team’s recommendations.</a:t>
            </a:r>
          </a:p>
          <a:p>
            <a:r>
              <a:rPr lang="en-US" u="sng" dirty="0">
                <a:hlinkClick r:id="rId2"/>
              </a:rPr>
              <a:t>Get started with Word, Excel, and PowerPoint Agents</a:t>
            </a:r>
            <a:endParaRPr lang="en-US" noProof="0" dirty="0"/>
          </a:p>
        </p:txBody>
      </p:sp>
      <p:sp>
        <p:nvSpPr>
          <p:cNvPr id="224" name="Text Placeholder 223">
            <a:extLst>
              <a:ext uri="{FF2B5EF4-FFF2-40B4-BE49-F238E27FC236}">
                <a16:creationId xmlns:a16="http://schemas.microsoft.com/office/drawing/2014/main" id="{CC7102F6-B433-EF67-DAD0-5296638AEF87}"/>
              </a:ext>
            </a:extLst>
          </p:cNvPr>
          <p:cNvSpPr>
            <a:spLocks noGrp="1"/>
          </p:cNvSpPr>
          <p:nvPr>
            <p:ph type="body" sz="quarter" idx="54"/>
          </p:nvPr>
        </p:nvSpPr>
        <p:spPr>
          <a:xfrm>
            <a:off x="8950475" y="3725103"/>
            <a:ext cx="2572262" cy="153888"/>
          </a:xfrm>
        </p:spPr>
        <p:txBody>
          <a:bodyPr/>
          <a:lstStyle/>
          <a:p>
            <a:r>
              <a:rPr lang="en-US" noProof="0" dirty="0"/>
              <a:t>Generate a presentation</a:t>
            </a:r>
          </a:p>
        </p:txBody>
      </p:sp>
      <p:sp>
        <p:nvSpPr>
          <p:cNvPr id="225" name="Text Placeholder 224">
            <a:extLst>
              <a:ext uri="{FF2B5EF4-FFF2-40B4-BE49-F238E27FC236}">
                <a16:creationId xmlns:a16="http://schemas.microsoft.com/office/drawing/2014/main" id="{EA2466B1-9EEC-A459-1C11-345AA4630B44}"/>
              </a:ext>
            </a:extLst>
          </p:cNvPr>
          <p:cNvSpPr>
            <a:spLocks noGrp="1"/>
          </p:cNvSpPr>
          <p:nvPr>
            <p:ph type="body" sz="quarter" idx="55"/>
          </p:nvPr>
        </p:nvSpPr>
        <p:spPr>
          <a:xfrm>
            <a:off x="8950475" y="4050957"/>
            <a:ext cx="2572262" cy="626701"/>
          </a:xfrm>
        </p:spPr>
        <p:txBody>
          <a:bodyPr/>
          <a:lstStyle/>
          <a:p>
            <a:r>
              <a:rPr lang="en-US" noProof="0" dirty="0"/>
              <a:t>Create a PowerPoint presentation </a:t>
            </a:r>
            <a:r>
              <a:rPr lang="en-US" dirty="0"/>
              <a:t>using PowerPoint Agent</a:t>
            </a:r>
            <a:r>
              <a:rPr lang="en-US" noProof="0" dirty="0"/>
              <a:t> that summarizes the key takeaways and includes recommendations based on the identified risks.</a:t>
            </a:r>
          </a:p>
        </p:txBody>
      </p:sp>
      <p:sp>
        <p:nvSpPr>
          <p:cNvPr id="214" name="Text Placeholder 213">
            <a:extLst>
              <a:ext uri="{FF2B5EF4-FFF2-40B4-BE49-F238E27FC236}">
                <a16:creationId xmlns:a16="http://schemas.microsoft.com/office/drawing/2014/main" id="{D15CF8BF-4F4B-9F24-D399-0249F9A0F420}"/>
              </a:ext>
            </a:extLst>
          </p:cNvPr>
          <p:cNvSpPr>
            <a:spLocks noGrp="1"/>
          </p:cNvSpPr>
          <p:nvPr>
            <p:ph type="body" sz="quarter" idx="67"/>
          </p:nvPr>
        </p:nvSpPr>
        <p:spPr>
          <a:xfrm>
            <a:off x="6066682" y="5334522"/>
            <a:ext cx="2572262" cy="712876"/>
          </a:xfrm>
        </p:spPr>
        <p:txBody>
          <a:bodyPr/>
          <a:lstStyle/>
          <a:p>
            <a:r>
              <a:rPr lang="en-US" noProof="0" dirty="0"/>
              <a:t>Example prompt: Create a space for team members to contribute ideas for the presentation. Start with a list of topics and details from [summary.docx]. “</a:t>
            </a:r>
            <a:r>
              <a:rPr lang="en-US" noProof="0" dirty="0">
                <a:latin typeface="+mj-lt"/>
              </a:rPr>
              <a:t>Summarize page</a:t>
            </a:r>
            <a:r>
              <a:rPr lang="en-US" noProof="0" dirty="0"/>
              <a:t>” so team members can get a</a:t>
            </a:r>
            <a:br>
              <a:rPr lang="en-US" noProof="0" dirty="0"/>
            </a:br>
            <a:r>
              <a:rPr lang="en-US" noProof="0" dirty="0"/>
              <a:t>quick recap.</a:t>
            </a:r>
          </a:p>
        </p:txBody>
      </p:sp>
      <p:sp>
        <p:nvSpPr>
          <p:cNvPr id="227" name="Text Placeholder 226">
            <a:extLst>
              <a:ext uri="{FF2B5EF4-FFF2-40B4-BE49-F238E27FC236}">
                <a16:creationId xmlns:a16="http://schemas.microsoft.com/office/drawing/2014/main" id="{741E4208-88C1-2BA7-49E6-917016223B98}"/>
              </a:ext>
            </a:extLst>
          </p:cNvPr>
          <p:cNvSpPr>
            <a:spLocks noGrp="1"/>
          </p:cNvSpPr>
          <p:nvPr>
            <p:ph type="body" sz="quarter" idx="64"/>
          </p:nvPr>
        </p:nvSpPr>
        <p:spPr>
          <a:xfrm>
            <a:off x="320721" y="4709762"/>
            <a:ext cx="1131651" cy="219456"/>
          </a:xfrm>
        </p:spPr>
        <p:txBody>
          <a:bodyPr/>
          <a:lstStyle/>
          <a:p>
            <a:r>
              <a:rPr lang="en-US" noProof="0" dirty="0"/>
              <a:t>Value benefit</a:t>
            </a:r>
          </a:p>
        </p:txBody>
      </p:sp>
      <p:sp>
        <p:nvSpPr>
          <p:cNvPr id="228" name="Text Placeholder 227">
            <a:extLst>
              <a:ext uri="{FF2B5EF4-FFF2-40B4-BE49-F238E27FC236}">
                <a16:creationId xmlns:a16="http://schemas.microsoft.com/office/drawing/2014/main" id="{0B0055D9-69D1-0E9B-86C6-FDC8C5C0B1B9}"/>
              </a:ext>
            </a:extLst>
          </p:cNvPr>
          <p:cNvSpPr>
            <a:spLocks noGrp="1"/>
          </p:cNvSpPr>
          <p:nvPr>
            <p:ph type="body" sz="quarter" idx="65"/>
          </p:nvPr>
        </p:nvSpPr>
        <p:spPr>
          <a:xfrm>
            <a:off x="320721" y="3467940"/>
            <a:ext cx="1131650" cy="219456"/>
          </a:xfrm>
        </p:spPr>
        <p:txBody>
          <a:bodyPr/>
          <a:lstStyle/>
          <a:p>
            <a:r>
              <a:rPr lang="en-US" noProof="0" dirty="0"/>
              <a:t>KPIs impacted</a:t>
            </a:r>
          </a:p>
        </p:txBody>
      </p:sp>
      <p:grpSp>
        <p:nvGrpSpPr>
          <p:cNvPr id="231" name="Group 230">
            <a:extLst>
              <a:ext uri="{FF2B5EF4-FFF2-40B4-BE49-F238E27FC236}">
                <a16:creationId xmlns:a16="http://schemas.microsoft.com/office/drawing/2014/main" id="{D1C22129-0A85-F2D6-C4B6-9D6E5C52E764}"/>
              </a:ext>
            </a:extLst>
          </p:cNvPr>
          <p:cNvGrpSpPr>
            <a:grpSpLocks/>
          </p:cNvGrpSpPr>
          <p:nvPr/>
        </p:nvGrpSpPr>
        <p:grpSpPr>
          <a:xfrm>
            <a:off x="320719" y="5020658"/>
            <a:ext cx="1771605" cy="216000"/>
            <a:chOff x="320721" y="4517211"/>
            <a:chExt cx="1771605" cy="216000"/>
          </a:xfrm>
        </p:grpSpPr>
        <p:sp>
          <p:nvSpPr>
            <p:cNvPr id="232" name="Rectangle: Rounded Corners 6">
              <a:extLst>
                <a:ext uri="{FF2B5EF4-FFF2-40B4-BE49-F238E27FC236}">
                  <a16:creationId xmlns:a16="http://schemas.microsoft.com/office/drawing/2014/main" id="{61EC2D01-6C77-C131-77EB-6B5C9FAD97BA}"/>
                </a:ext>
                <a:ext uri="{C183D7F6-B498-43B3-948B-1728B52AA6E4}">
                  <adec:decorative xmlns:adec="http://schemas.microsoft.com/office/drawing/2017/decorative" val="1"/>
                </a:ext>
              </a:extLst>
            </p:cNvPr>
            <p:cNvSpPr>
              <a:spLocks/>
            </p:cNvSpPr>
            <p:nvPr/>
          </p:nvSpPr>
          <p:spPr bwMode="auto">
            <a:xfrm>
              <a:off x="320721" y="4517211"/>
              <a:ext cx="1771605" cy="216000"/>
            </a:xfrm>
            <a:prstGeom prst="roundRect">
              <a:avLst>
                <a:gd name="adj" fmla="val 50000"/>
              </a:avLst>
            </a:prstGeom>
            <a:solidFill>
              <a:srgbClr val="FFFFFF"/>
            </a:solidFill>
            <a:ln w="12700">
              <a:solidFill>
                <a:srgbClr val="C03BC4"/>
              </a:solidFill>
              <a:headEnd type="none" w="med" len="med"/>
              <a:tailEnd type="none" w="med" len="med"/>
            </a:ln>
            <a:effectLst>
              <a:outerShdw blurRad="63500" dist="63500" dir="2700000"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16000" tIns="36576" rIns="36000" bIns="36000" numCol="1" spcCol="0" rtlCol="0" fromWordArt="0" anchor="ctr" anchorCtr="0" forceAA="0" compatLnSpc="1">
              <a:prstTxWarp prst="textNoShape">
                <a:avLst/>
              </a:prstTxWarp>
              <a:noAutofit/>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C03BC4"/>
                  </a:solidFill>
                  <a:effectLst/>
                  <a:uLnTx/>
                  <a:uFillTx/>
                  <a:latin typeface="Segoe UI Semibold"/>
                  <a:ea typeface="+mn-ea"/>
                  <a:cs typeface="Segoe UI Semibold" panose="020B0702040204020203" pitchFamily="34" charset="0"/>
                </a:rPr>
                <a:t>Cost savings</a:t>
              </a:r>
            </a:p>
          </p:txBody>
        </p:sp>
        <p:pic>
          <p:nvPicPr>
            <p:cNvPr id="233" name="Graphic 232">
              <a:extLst>
                <a:ext uri="{FF2B5EF4-FFF2-40B4-BE49-F238E27FC236}">
                  <a16:creationId xmlns:a16="http://schemas.microsoft.com/office/drawing/2014/main" id="{A0FFCDDB-5CB8-A4A7-2744-449EC23DACA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67507" y="4554345"/>
              <a:ext cx="144000" cy="141732"/>
            </a:xfrm>
            <a:prstGeom prst="rect">
              <a:avLst/>
            </a:prstGeom>
          </p:spPr>
        </p:pic>
      </p:grpSp>
      <p:grpSp>
        <p:nvGrpSpPr>
          <p:cNvPr id="234" name="Group 233">
            <a:extLst>
              <a:ext uri="{FF2B5EF4-FFF2-40B4-BE49-F238E27FC236}">
                <a16:creationId xmlns:a16="http://schemas.microsoft.com/office/drawing/2014/main" id="{0F5BAC05-5967-4D95-C8BB-872B4E76F3C3}"/>
              </a:ext>
            </a:extLst>
          </p:cNvPr>
          <p:cNvGrpSpPr>
            <a:grpSpLocks/>
          </p:cNvGrpSpPr>
          <p:nvPr/>
        </p:nvGrpSpPr>
        <p:grpSpPr>
          <a:xfrm>
            <a:off x="320721" y="5309272"/>
            <a:ext cx="1771605" cy="216000"/>
            <a:chOff x="320719" y="4224856"/>
            <a:chExt cx="1771605" cy="219456"/>
          </a:xfrm>
        </p:grpSpPr>
        <p:sp>
          <p:nvSpPr>
            <p:cNvPr id="235" name="Rectangle: Rounded Corners 6">
              <a:extLst>
                <a:ext uri="{FF2B5EF4-FFF2-40B4-BE49-F238E27FC236}">
                  <a16:creationId xmlns:a16="http://schemas.microsoft.com/office/drawing/2014/main" id="{829D8282-1F0A-5B64-A0D2-A2B3E17EE45F}"/>
                </a:ext>
                <a:ext uri="{C183D7F6-B498-43B3-948B-1728B52AA6E4}">
                  <adec:decorative xmlns:adec="http://schemas.microsoft.com/office/drawing/2017/decorative" val="1"/>
                </a:ext>
              </a:extLst>
            </p:cNvPr>
            <p:cNvSpPr/>
            <p:nvPr/>
          </p:nvSpPr>
          <p:spPr bwMode="auto">
            <a:xfrm>
              <a:off x="320719" y="4224856"/>
              <a:ext cx="1771605" cy="219456"/>
            </a:xfrm>
            <a:prstGeom prst="roundRect">
              <a:avLst>
                <a:gd name="adj" fmla="val 50000"/>
              </a:avLst>
            </a:prstGeom>
            <a:solidFill>
              <a:srgbClr val="FFFFFF"/>
            </a:solidFill>
            <a:ln w="12700">
              <a:solidFill>
                <a:srgbClr val="C03BC4"/>
              </a:solidFill>
              <a:headEnd type="none" w="med" len="med"/>
              <a:tailEnd type="none" w="med" len="med"/>
            </a:ln>
            <a:effectLst>
              <a:outerShdw blurRad="63500" dist="63500" dir="2700000"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16000" tIns="36576" rIns="36000" bIns="36000" numCol="1" spcCol="0" rtlCol="0" fromWordArt="0" anchor="ctr" anchorCtr="0" forceAA="0" compatLnSpc="1">
              <a:prstTxWarp prst="textNoShape">
                <a:avLst/>
              </a:prstTxWarp>
              <a:noAutofit/>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C03BC4"/>
                  </a:solidFill>
                  <a:effectLst/>
                  <a:uLnTx/>
                  <a:uFillTx/>
                  <a:latin typeface="Segoe UI Semibold"/>
                  <a:ea typeface="+mn-ea"/>
                  <a:cs typeface="Segoe UI Semibold" panose="020B0702040204020203" pitchFamily="34" charset="0"/>
                </a:rPr>
                <a:t>Employee experience</a:t>
              </a:r>
            </a:p>
          </p:txBody>
        </p:sp>
        <p:pic>
          <p:nvPicPr>
            <p:cNvPr id="236" name="Graphic 235">
              <a:extLst>
                <a:ext uri="{FF2B5EF4-FFF2-40B4-BE49-F238E27FC236}">
                  <a16:creationId xmlns:a16="http://schemas.microsoft.com/office/drawing/2014/main" id="{C59121D2-2968-A895-60BE-95FE1C13A300}"/>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67506" y="4262584"/>
              <a:ext cx="144000" cy="144000"/>
            </a:xfrm>
            <a:prstGeom prst="rect">
              <a:avLst/>
            </a:prstGeom>
          </p:spPr>
        </p:pic>
      </p:grpSp>
      <p:grpSp>
        <p:nvGrpSpPr>
          <p:cNvPr id="237" name="Group 236">
            <a:extLst>
              <a:ext uri="{FF2B5EF4-FFF2-40B4-BE49-F238E27FC236}">
                <a16:creationId xmlns:a16="http://schemas.microsoft.com/office/drawing/2014/main" id="{3FE20C97-C287-C1CF-9CFE-BEA35356A1F3}"/>
              </a:ext>
            </a:extLst>
          </p:cNvPr>
          <p:cNvGrpSpPr/>
          <p:nvPr/>
        </p:nvGrpSpPr>
        <p:grpSpPr>
          <a:xfrm>
            <a:off x="320719" y="3778836"/>
            <a:ext cx="1771605" cy="216000"/>
            <a:chOff x="320719" y="4224856"/>
            <a:chExt cx="1771605" cy="219456"/>
          </a:xfrm>
        </p:grpSpPr>
        <p:sp>
          <p:nvSpPr>
            <p:cNvPr id="238" name="Rectangle: Rounded Corners 6">
              <a:extLst>
                <a:ext uri="{FF2B5EF4-FFF2-40B4-BE49-F238E27FC236}">
                  <a16:creationId xmlns:a16="http://schemas.microsoft.com/office/drawing/2014/main" id="{A97C8CF2-6E83-4BB5-2C06-45E0ECB1FD41}"/>
                </a:ext>
                <a:ext uri="{C183D7F6-B498-43B3-948B-1728B52AA6E4}">
                  <adec:decorative xmlns:adec="http://schemas.microsoft.com/office/drawing/2017/decorative" val="1"/>
                </a:ext>
              </a:extLst>
            </p:cNvPr>
            <p:cNvSpPr/>
            <p:nvPr/>
          </p:nvSpPr>
          <p:spPr bwMode="auto">
            <a:xfrm>
              <a:off x="320719" y="4224856"/>
              <a:ext cx="1771605" cy="219456"/>
            </a:xfrm>
            <a:prstGeom prst="roundRect">
              <a:avLst>
                <a:gd name="adj" fmla="val 50000"/>
              </a:avLst>
            </a:prstGeom>
            <a:solidFill>
              <a:srgbClr val="FFFFFF"/>
            </a:solidFill>
            <a:ln w="12700">
              <a:solidFill>
                <a:srgbClr val="0078D4"/>
              </a:solidFill>
              <a:headEnd type="none" w="med" len="med"/>
              <a:tailEnd type="none" w="med" len="med"/>
            </a:ln>
            <a:effectLst>
              <a:outerShdw blurRad="63500" dist="63500" dir="2700000"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16000" tIns="36576" rIns="36000" bIns="36000" numCol="1" spcCol="0" rtlCol="0" fromWordArt="0" anchor="ctr" anchorCtr="0" forceAA="0" compatLnSpc="1">
              <a:prstTxWarp prst="textNoShape">
                <a:avLst/>
              </a:prstTxWarp>
              <a:noAutofit/>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78D4"/>
                  </a:solidFill>
                  <a:effectLst/>
                  <a:uLnTx/>
                  <a:uFillTx/>
                  <a:latin typeface="Segoe UI Semibold"/>
                  <a:ea typeface="+mn-ea"/>
                  <a:cs typeface="Segoe UI Semibold" panose="020B0702040204020203" pitchFamily="34" charset="0"/>
                </a:rPr>
                <a:t>Reduce spending</a:t>
              </a:r>
            </a:p>
          </p:txBody>
        </p:sp>
        <p:pic>
          <p:nvPicPr>
            <p:cNvPr id="239" name="Graphic 238">
              <a:extLst>
                <a:ext uri="{FF2B5EF4-FFF2-40B4-BE49-F238E27FC236}">
                  <a16:creationId xmlns:a16="http://schemas.microsoft.com/office/drawing/2014/main" id="{A9C39490-1EB4-84C5-FE2E-2B0BC821F08A}"/>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367506" y="4262584"/>
              <a:ext cx="144000" cy="144000"/>
            </a:xfrm>
            <a:prstGeom prst="rect">
              <a:avLst/>
            </a:prstGeom>
          </p:spPr>
        </p:pic>
      </p:grpSp>
      <p:grpSp>
        <p:nvGrpSpPr>
          <p:cNvPr id="240" name="Group 239">
            <a:extLst>
              <a:ext uri="{FF2B5EF4-FFF2-40B4-BE49-F238E27FC236}">
                <a16:creationId xmlns:a16="http://schemas.microsoft.com/office/drawing/2014/main" id="{DE8C0726-18BB-75C9-E60B-3397CAC23EF7}"/>
              </a:ext>
            </a:extLst>
          </p:cNvPr>
          <p:cNvGrpSpPr/>
          <p:nvPr/>
        </p:nvGrpSpPr>
        <p:grpSpPr>
          <a:xfrm>
            <a:off x="320721" y="4067450"/>
            <a:ext cx="1771605" cy="216000"/>
            <a:chOff x="320721" y="4517211"/>
            <a:chExt cx="1771605" cy="216000"/>
          </a:xfrm>
        </p:grpSpPr>
        <p:sp>
          <p:nvSpPr>
            <p:cNvPr id="241" name="Rectangle: Rounded Corners 6">
              <a:extLst>
                <a:ext uri="{FF2B5EF4-FFF2-40B4-BE49-F238E27FC236}">
                  <a16:creationId xmlns:a16="http://schemas.microsoft.com/office/drawing/2014/main" id="{2C3D3AEE-5D37-6EAE-3848-45C6464F0D5B}"/>
                </a:ext>
                <a:ext uri="{C183D7F6-B498-43B3-948B-1728B52AA6E4}">
                  <adec:decorative xmlns:adec="http://schemas.microsoft.com/office/drawing/2017/decorative" val="1"/>
                </a:ext>
              </a:extLst>
            </p:cNvPr>
            <p:cNvSpPr>
              <a:spLocks/>
            </p:cNvSpPr>
            <p:nvPr/>
          </p:nvSpPr>
          <p:spPr bwMode="auto">
            <a:xfrm>
              <a:off x="320721" y="4517211"/>
              <a:ext cx="1771605" cy="216000"/>
            </a:xfrm>
            <a:prstGeom prst="roundRect">
              <a:avLst>
                <a:gd name="adj" fmla="val 50000"/>
              </a:avLst>
            </a:prstGeom>
            <a:solidFill>
              <a:srgbClr val="FFFFFF"/>
            </a:solidFill>
            <a:ln w="12700">
              <a:solidFill>
                <a:srgbClr val="0078D4"/>
              </a:solidFill>
              <a:headEnd type="none" w="med" len="med"/>
              <a:tailEnd type="none" w="med" len="med"/>
            </a:ln>
            <a:effectLst>
              <a:outerShdw blurRad="63500" dist="63500" dir="2700000"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16000" tIns="36576" rIns="36000" bIns="36000" numCol="1" spcCol="0" rtlCol="0" fromWordArt="0" anchor="ctr" anchorCtr="0" forceAA="0" compatLnSpc="1">
              <a:prstTxWarp prst="textNoShape">
                <a:avLst/>
              </a:prstTxWarp>
              <a:noAutofit/>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78D4"/>
                  </a:solidFill>
                  <a:effectLst/>
                  <a:uLnTx/>
                  <a:uFillTx/>
                  <a:latin typeface="Segoe UI Semibold"/>
                  <a:ea typeface="+mn-ea"/>
                  <a:cs typeface="Segoe UI Semibold"/>
                </a:rPr>
                <a:t>Risk management</a:t>
              </a:r>
            </a:p>
          </p:txBody>
        </p:sp>
        <p:pic>
          <p:nvPicPr>
            <p:cNvPr id="242" name="Graphic 241">
              <a:extLst>
                <a:ext uri="{FF2B5EF4-FFF2-40B4-BE49-F238E27FC236}">
                  <a16:creationId xmlns:a16="http://schemas.microsoft.com/office/drawing/2014/main" id="{E8B255C2-BEE3-50A0-C487-97F8B50C77C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67507" y="4554345"/>
              <a:ext cx="144000" cy="141732"/>
            </a:xfrm>
            <a:prstGeom prst="rect">
              <a:avLst/>
            </a:prstGeom>
          </p:spPr>
        </p:pic>
      </p:grpSp>
      <p:pic>
        <p:nvPicPr>
          <p:cNvPr id="13" name="Picture 72">
            <a:extLst>
              <a:ext uri="{FF2B5EF4-FFF2-40B4-BE49-F238E27FC236}">
                <a16:creationId xmlns:a16="http://schemas.microsoft.com/office/drawing/2014/main" id="{8229AADB-FF85-C34C-883C-170B2B5293B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66409" y="4833693"/>
            <a:ext cx="258642" cy="258642"/>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6">
            <a:extLst>
              <a:ext uri="{FF2B5EF4-FFF2-40B4-BE49-F238E27FC236}">
                <a16:creationId xmlns:a16="http://schemas.microsoft.com/office/drawing/2014/main" id="{4A0B8325-AEE8-C7FB-91AB-06768A5702F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t="5571" b="5571"/>
          <a:stretch/>
        </p:blipFill>
        <p:spPr bwMode="auto">
          <a:xfrm>
            <a:off x="3174602" y="2252214"/>
            <a:ext cx="245612" cy="223322"/>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5CC78DA1-805E-A8F7-9973-82D93E516DC2}"/>
              </a:ext>
              <a:ext uri="{C183D7F6-B498-43B3-948B-1728B52AA6E4}">
                <adec:decorative xmlns:adec="http://schemas.microsoft.com/office/drawing/2017/decorative" val="0"/>
              </a:ext>
            </a:extLst>
          </p:cNvPr>
          <p:cNvSpPr txBox="1">
            <a:spLocks/>
          </p:cNvSpPr>
          <p:nvPr/>
        </p:nvSpPr>
        <p:spPr>
          <a:xfrm>
            <a:off x="3562472" y="2286931"/>
            <a:ext cx="1830524" cy="1538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Semibold"/>
                <a:ea typeface="+mn-ea"/>
                <a:cs typeface="+mn-cs"/>
              </a:rPr>
              <a:t>Copilot in Teams</a:t>
            </a:r>
          </a:p>
        </p:txBody>
      </p:sp>
      <p:sp>
        <p:nvSpPr>
          <p:cNvPr id="3" name="TextBox 2">
            <a:extLst>
              <a:ext uri="{FF2B5EF4-FFF2-40B4-BE49-F238E27FC236}">
                <a16:creationId xmlns:a16="http://schemas.microsoft.com/office/drawing/2014/main" id="{944C0521-0F03-F262-C426-A118C7573643}"/>
              </a:ext>
              <a:ext uri="{C183D7F6-B498-43B3-948B-1728B52AA6E4}">
                <adec:decorative xmlns:adec="http://schemas.microsoft.com/office/drawing/2017/decorative" val="0"/>
              </a:ext>
            </a:extLst>
          </p:cNvPr>
          <p:cNvSpPr txBox="1">
            <a:spLocks/>
          </p:cNvSpPr>
          <p:nvPr/>
        </p:nvSpPr>
        <p:spPr>
          <a:xfrm>
            <a:off x="6446958" y="2286931"/>
            <a:ext cx="777457" cy="153888"/>
          </a:xfrm>
          <a:prstGeom prst="rect">
            <a:avLst/>
          </a:prstGeom>
          <a:noFill/>
        </p:spPr>
        <p:txBody>
          <a:bodyPr wrap="non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Semibold"/>
                <a:ea typeface="+mn-ea"/>
                <a:cs typeface="+mn-cs"/>
              </a:rPr>
              <a:t>Copilot Chat</a:t>
            </a:r>
            <a:r>
              <a:rPr kumimoji="0" lang="en-US" sz="1000" b="0" i="0" u="none" strike="noStrike" kern="1200" cap="none" spc="0" normalizeH="0" baseline="30000" noProof="0" dirty="0">
                <a:ln>
                  <a:noFill/>
                </a:ln>
                <a:solidFill>
                  <a:srgbClr val="000000"/>
                </a:solidFill>
                <a:effectLst/>
                <a:uLnTx/>
                <a:uFillTx/>
                <a:latin typeface="Segoe UI Semibold"/>
                <a:ea typeface="+mn-ea"/>
                <a:cs typeface="+mn-cs"/>
              </a:rPr>
              <a:t>2</a:t>
            </a:r>
          </a:p>
        </p:txBody>
      </p:sp>
      <p:sp>
        <p:nvSpPr>
          <p:cNvPr id="6" name="TextBox 5">
            <a:extLst>
              <a:ext uri="{FF2B5EF4-FFF2-40B4-BE49-F238E27FC236}">
                <a16:creationId xmlns:a16="http://schemas.microsoft.com/office/drawing/2014/main" id="{C25ADC75-54AE-A631-B9C4-9186245E5ABC}"/>
              </a:ext>
              <a:ext uri="{C183D7F6-B498-43B3-948B-1728B52AA6E4}">
                <adec:decorative xmlns:adec="http://schemas.microsoft.com/office/drawing/2017/decorative" val="0"/>
              </a:ext>
            </a:extLst>
          </p:cNvPr>
          <p:cNvSpPr txBox="1">
            <a:spLocks/>
          </p:cNvSpPr>
          <p:nvPr/>
        </p:nvSpPr>
        <p:spPr>
          <a:xfrm>
            <a:off x="9328927" y="2286931"/>
            <a:ext cx="1235916" cy="153888"/>
          </a:xfrm>
          <a:prstGeom prst="rect">
            <a:avLst/>
          </a:prstGeom>
          <a:noFill/>
        </p:spPr>
        <p:txBody>
          <a:bodyPr wrap="non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Semibold"/>
                <a:ea typeface="+mn-ea"/>
                <a:cs typeface="+mn-cs"/>
              </a:rPr>
              <a:t>Agent Mode in Word</a:t>
            </a:r>
          </a:p>
        </p:txBody>
      </p:sp>
      <p:sp>
        <p:nvSpPr>
          <p:cNvPr id="12" name="TextBox 11">
            <a:extLst>
              <a:ext uri="{FF2B5EF4-FFF2-40B4-BE49-F238E27FC236}">
                <a16:creationId xmlns:a16="http://schemas.microsoft.com/office/drawing/2014/main" id="{7D675CB5-9E53-0626-8980-E00A72D55C92}"/>
              </a:ext>
              <a:ext uri="{C183D7F6-B498-43B3-948B-1728B52AA6E4}">
                <adec:decorative xmlns:adec="http://schemas.microsoft.com/office/drawing/2017/decorative" val="0"/>
              </a:ext>
            </a:extLst>
          </p:cNvPr>
          <p:cNvSpPr txBox="1">
            <a:spLocks/>
          </p:cNvSpPr>
          <p:nvPr/>
        </p:nvSpPr>
        <p:spPr>
          <a:xfrm>
            <a:off x="6446959" y="4886070"/>
            <a:ext cx="1420949" cy="1538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Semibold"/>
                <a:ea typeface="+mn-ea"/>
                <a:cs typeface="+mn-cs"/>
              </a:rPr>
              <a:t>Copilot in Loop</a:t>
            </a:r>
          </a:p>
        </p:txBody>
      </p:sp>
      <p:sp>
        <p:nvSpPr>
          <p:cNvPr id="21" name="TextBox 20">
            <a:extLst>
              <a:ext uri="{FF2B5EF4-FFF2-40B4-BE49-F238E27FC236}">
                <a16:creationId xmlns:a16="http://schemas.microsoft.com/office/drawing/2014/main" id="{36C9AEBD-F445-1097-64B4-DE6A43F99A48}"/>
              </a:ext>
              <a:ext uri="{C183D7F6-B498-43B3-948B-1728B52AA6E4}">
                <adec:decorative xmlns:adec="http://schemas.microsoft.com/office/drawing/2017/decorative" val="0"/>
              </a:ext>
            </a:extLst>
          </p:cNvPr>
          <p:cNvSpPr txBox="1">
            <a:spLocks/>
          </p:cNvSpPr>
          <p:nvPr/>
        </p:nvSpPr>
        <p:spPr>
          <a:xfrm>
            <a:off x="3562472" y="4886070"/>
            <a:ext cx="1420949" cy="1538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Semibold"/>
                <a:ea typeface="+mn-ea"/>
                <a:cs typeface="+mn-cs"/>
              </a:rPr>
              <a:t>Copilot in Outlook</a:t>
            </a:r>
          </a:p>
        </p:txBody>
      </p:sp>
      <p:sp>
        <p:nvSpPr>
          <p:cNvPr id="9" name="TextBox 8">
            <a:extLst>
              <a:ext uri="{FF2B5EF4-FFF2-40B4-BE49-F238E27FC236}">
                <a16:creationId xmlns:a16="http://schemas.microsoft.com/office/drawing/2014/main" id="{25DCB099-E6AA-C09C-F822-940184DA2DE3}"/>
              </a:ext>
              <a:ext uri="{C183D7F6-B498-43B3-948B-1728B52AA6E4}">
                <adec:decorative xmlns:adec="http://schemas.microsoft.com/office/drawing/2017/decorative" val="0"/>
              </a:ext>
            </a:extLst>
          </p:cNvPr>
          <p:cNvSpPr txBox="1">
            <a:spLocks/>
          </p:cNvSpPr>
          <p:nvPr/>
        </p:nvSpPr>
        <p:spPr>
          <a:xfrm>
            <a:off x="9328927" y="4886070"/>
            <a:ext cx="1830524" cy="1538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Semibold"/>
                <a:ea typeface="+mn-ea"/>
                <a:cs typeface="+mn-cs"/>
              </a:rPr>
              <a:t>PowerPoint Agent</a:t>
            </a:r>
            <a:endParaRPr kumimoji="0" lang="en-US" sz="1000" b="0" i="0" u="none" strike="noStrike" kern="1200" cap="none" spc="0" normalizeH="0" baseline="30000" noProof="0" dirty="0">
              <a:ln>
                <a:noFill/>
              </a:ln>
              <a:solidFill>
                <a:srgbClr val="000000"/>
              </a:solidFill>
              <a:effectLst/>
              <a:uLnTx/>
              <a:uFillTx/>
              <a:latin typeface="Segoe UI Semibold"/>
              <a:ea typeface="+mn-ea"/>
              <a:cs typeface="+mn-cs"/>
            </a:endParaRPr>
          </a:p>
        </p:txBody>
      </p:sp>
      <p:pic>
        <p:nvPicPr>
          <p:cNvPr id="49" name="Picture 50">
            <a:hlinkClick r:id="rId7"/>
            <a:extLst>
              <a:ext uri="{FF2B5EF4-FFF2-40B4-BE49-F238E27FC236}">
                <a16:creationId xmlns:a16="http://schemas.microsoft.com/office/drawing/2014/main" id="{F9416253-187D-285F-6471-FBAD04830D7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077340" y="2242688"/>
            <a:ext cx="242374" cy="242374"/>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descr="Word logo">
            <a:extLst>
              <a:ext uri="{FF2B5EF4-FFF2-40B4-BE49-F238E27FC236}">
                <a16:creationId xmlns:a16="http://schemas.microsoft.com/office/drawing/2014/main" id="{300F58DD-8260-82EB-2D3F-6B2C7D71DC3D}"/>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8965063" y="2226803"/>
            <a:ext cx="246576" cy="246576"/>
          </a:xfrm>
          <a:prstGeom prst="ellipse">
            <a:avLst/>
          </a:prstGeom>
          <a:solidFill>
            <a:srgbClr val="FFFFFF"/>
          </a:solidFill>
        </p:spPr>
      </p:pic>
      <p:pic>
        <p:nvPicPr>
          <p:cNvPr id="5" name="Picture 4" descr="Outlook logo">
            <a:extLst>
              <a:ext uri="{FF2B5EF4-FFF2-40B4-BE49-F238E27FC236}">
                <a16:creationId xmlns:a16="http://schemas.microsoft.com/office/drawing/2014/main" id="{2C191DF8-23EE-8297-6A90-A863C2CCFCEC}"/>
              </a:ext>
            </a:extLst>
          </p:cNvPr>
          <p:cNvPicPr>
            <a:picLocks noChangeAspect="1"/>
          </p:cNvPicPr>
          <p:nvPr/>
        </p:nvPicPr>
        <p:blipFill>
          <a:blip r:embed="rId10"/>
          <a:stretch>
            <a:fillRect/>
          </a:stretch>
        </p:blipFill>
        <p:spPr>
          <a:xfrm>
            <a:off x="3164820" y="4833693"/>
            <a:ext cx="265176" cy="265176"/>
          </a:xfrm>
          <a:prstGeom prst="rect">
            <a:avLst/>
          </a:prstGeom>
        </p:spPr>
      </p:pic>
      <p:pic>
        <p:nvPicPr>
          <p:cNvPr id="7" name="Picture 6" descr="PowerPoint logo">
            <a:extLst>
              <a:ext uri="{FF2B5EF4-FFF2-40B4-BE49-F238E27FC236}">
                <a16:creationId xmlns:a16="http://schemas.microsoft.com/office/drawing/2014/main" id="{F869A542-B721-7A20-20B6-429CB38933B7}"/>
              </a:ext>
            </a:extLst>
          </p:cNvPr>
          <p:cNvPicPr>
            <a:picLocks noChangeAspect="1"/>
          </p:cNvPicPr>
          <p:nvPr/>
        </p:nvPicPr>
        <p:blipFill>
          <a:blip r:embed="rId11"/>
          <a:stretch>
            <a:fillRect/>
          </a:stretch>
        </p:blipFill>
        <p:spPr>
          <a:xfrm>
            <a:off x="8946463" y="4819490"/>
            <a:ext cx="265176" cy="265176"/>
          </a:xfrm>
          <a:prstGeom prst="rect">
            <a:avLst/>
          </a:prstGeom>
        </p:spPr>
      </p:pic>
    </p:spTree>
    <p:extLst>
      <p:ext uri="{BB962C8B-B14F-4D97-AF65-F5344CB8AC3E}">
        <p14:creationId xmlns:p14="http://schemas.microsoft.com/office/powerpoint/2010/main" val="2811478184"/>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7" name="Text Placeholder 416">
            <a:extLst>
              <a:ext uri="{FF2B5EF4-FFF2-40B4-BE49-F238E27FC236}">
                <a16:creationId xmlns:a16="http://schemas.microsoft.com/office/drawing/2014/main" id="{AAA4513F-3815-58B2-A324-DAEEFA88C15E}"/>
              </a:ext>
            </a:extLst>
          </p:cNvPr>
          <p:cNvSpPr>
            <a:spLocks noGrp="1"/>
          </p:cNvSpPr>
          <p:nvPr>
            <p:ph type="body" sz="quarter" idx="32"/>
          </p:nvPr>
        </p:nvSpPr>
        <p:spPr>
          <a:xfrm>
            <a:off x="311388" y="1026303"/>
            <a:ext cx="2431246" cy="1131079"/>
          </a:xfrm>
        </p:spPr>
        <p:txBody>
          <a:bodyPr/>
          <a:lstStyle/>
          <a:p>
            <a:r>
              <a:rPr lang="en-US" noProof="0" dirty="0"/>
              <a:t>Copilot for Finance and AI Agents can help analysts access data, analyze it, and present the results.</a:t>
            </a:r>
          </a:p>
        </p:txBody>
      </p:sp>
      <p:sp>
        <p:nvSpPr>
          <p:cNvPr id="265" name="Text Placeholder 264">
            <a:extLst>
              <a:ext uri="{FF2B5EF4-FFF2-40B4-BE49-F238E27FC236}">
                <a16:creationId xmlns:a16="http://schemas.microsoft.com/office/drawing/2014/main" id="{71C25960-3EDE-502B-B930-A25EF556F936}"/>
              </a:ext>
            </a:extLst>
          </p:cNvPr>
          <p:cNvSpPr>
            <a:spLocks noGrp="1"/>
          </p:cNvSpPr>
          <p:nvPr>
            <p:ph type="body" sz="quarter" idx="33"/>
          </p:nvPr>
        </p:nvSpPr>
        <p:spPr>
          <a:xfrm>
            <a:off x="304796" y="413987"/>
            <a:ext cx="2057403" cy="307777"/>
          </a:xfrm>
        </p:spPr>
        <p:txBody>
          <a:bodyPr/>
          <a:lstStyle/>
          <a:p>
            <a:r>
              <a:rPr lang="en-US" noProof="0" dirty="0"/>
              <a:t>Finance</a:t>
            </a:r>
          </a:p>
        </p:txBody>
      </p:sp>
      <p:sp>
        <p:nvSpPr>
          <p:cNvPr id="263" name="Text Placeholder 262">
            <a:extLst>
              <a:ext uri="{FF2B5EF4-FFF2-40B4-BE49-F238E27FC236}">
                <a16:creationId xmlns:a16="http://schemas.microsoft.com/office/drawing/2014/main" id="{ECA6EC1F-A719-1E74-55E7-176E87F053F6}"/>
              </a:ext>
            </a:extLst>
          </p:cNvPr>
          <p:cNvSpPr>
            <a:spLocks noGrp="1"/>
          </p:cNvSpPr>
          <p:nvPr>
            <p:ph type="body" sz="quarter" idx="30"/>
          </p:nvPr>
        </p:nvSpPr>
        <p:spPr>
          <a:xfrm>
            <a:off x="10430351" y="521099"/>
            <a:ext cx="1456966" cy="175614"/>
          </a:xfrm>
        </p:spPr>
        <p:txBody>
          <a:bodyPr/>
          <a:lstStyle/>
          <a:p>
            <a:r>
              <a:rPr lang="en-US" noProof="0" dirty="0"/>
              <a:t>Buy</a:t>
            </a:r>
          </a:p>
        </p:txBody>
      </p:sp>
      <p:sp>
        <p:nvSpPr>
          <p:cNvPr id="261" name="Text Placeholder 260">
            <a:extLst>
              <a:ext uri="{FF2B5EF4-FFF2-40B4-BE49-F238E27FC236}">
                <a16:creationId xmlns:a16="http://schemas.microsoft.com/office/drawing/2014/main" id="{390C20EC-A12C-35F3-B39F-1392CCB96637}"/>
              </a:ext>
            </a:extLst>
          </p:cNvPr>
          <p:cNvSpPr>
            <a:spLocks noGrp="1"/>
          </p:cNvSpPr>
          <p:nvPr>
            <p:ph type="body" sz="quarter" idx="17"/>
          </p:nvPr>
        </p:nvSpPr>
        <p:spPr>
          <a:xfrm>
            <a:off x="7811879" y="521100"/>
            <a:ext cx="2307166" cy="169277"/>
          </a:xfrm>
        </p:spPr>
        <p:txBody>
          <a:bodyPr/>
          <a:lstStyle/>
          <a:p>
            <a:r>
              <a:rPr lang="en-US" noProof="0" dirty="0"/>
              <a:t>Microsoft 365 Copilot</a:t>
            </a:r>
          </a:p>
        </p:txBody>
      </p:sp>
      <p:sp>
        <p:nvSpPr>
          <p:cNvPr id="209" name="Title 208">
            <a:extLst>
              <a:ext uri="{FF2B5EF4-FFF2-40B4-BE49-F238E27FC236}">
                <a16:creationId xmlns:a16="http://schemas.microsoft.com/office/drawing/2014/main" id="{79834FE6-80B1-67C7-BDA8-686AA9D67A80}"/>
              </a:ext>
            </a:extLst>
          </p:cNvPr>
          <p:cNvSpPr>
            <a:spLocks noGrp="1"/>
          </p:cNvSpPr>
          <p:nvPr>
            <p:ph type="title"/>
          </p:nvPr>
        </p:nvSpPr>
        <p:spPr>
          <a:xfrm>
            <a:off x="2492556" y="429376"/>
            <a:ext cx="4144817" cy="276999"/>
          </a:xfrm>
        </p:spPr>
        <p:txBody>
          <a:bodyPr/>
          <a:lstStyle/>
          <a:p>
            <a:r>
              <a:rPr lang="en-US" noProof="0" dirty="0"/>
              <a:t>Financial insights</a:t>
            </a:r>
          </a:p>
        </p:txBody>
      </p:sp>
      <p:sp>
        <p:nvSpPr>
          <p:cNvPr id="278" name="Text Placeholder 277">
            <a:extLst>
              <a:ext uri="{FF2B5EF4-FFF2-40B4-BE49-F238E27FC236}">
                <a16:creationId xmlns:a16="http://schemas.microsoft.com/office/drawing/2014/main" id="{18C9802A-37B2-B145-AF88-64D503D1DF18}"/>
              </a:ext>
            </a:extLst>
          </p:cNvPr>
          <p:cNvSpPr>
            <a:spLocks noGrp="1"/>
          </p:cNvSpPr>
          <p:nvPr>
            <p:ph type="body" sz="quarter" idx="69"/>
          </p:nvPr>
        </p:nvSpPr>
        <p:spPr>
          <a:xfrm>
            <a:off x="3182890" y="2725494"/>
            <a:ext cx="2572262" cy="712876"/>
          </a:xfrm>
        </p:spPr>
        <p:txBody>
          <a:bodyPr/>
          <a:lstStyle/>
          <a:p>
            <a:r>
              <a:rPr lang="en-US" noProof="0" dirty="0"/>
              <a:t>Benefit: </a:t>
            </a:r>
            <a:r>
              <a:rPr lang="en-US" noProof="0" dirty="0">
                <a:latin typeface="+mj-lt"/>
              </a:rPr>
              <a:t>Create a unified view </a:t>
            </a:r>
            <a:r>
              <a:rPr lang="en-US" noProof="0" dirty="0"/>
              <a:t>of financial information that is crucial for accurate analysis.</a:t>
            </a:r>
          </a:p>
        </p:txBody>
      </p:sp>
      <p:sp>
        <p:nvSpPr>
          <p:cNvPr id="260" name="Text Placeholder 259">
            <a:extLst>
              <a:ext uri="{FF2B5EF4-FFF2-40B4-BE49-F238E27FC236}">
                <a16:creationId xmlns:a16="http://schemas.microsoft.com/office/drawing/2014/main" id="{47AD6E47-5792-20A1-B29E-A9BFA36991C1}"/>
              </a:ext>
            </a:extLst>
          </p:cNvPr>
          <p:cNvSpPr>
            <a:spLocks noGrp="1"/>
          </p:cNvSpPr>
          <p:nvPr>
            <p:ph type="body" sz="quarter" idx="11"/>
          </p:nvPr>
        </p:nvSpPr>
        <p:spPr>
          <a:xfrm>
            <a:off x="3182890" y="1112478"/>
            <a:ext cx="2572262" cy="153888"/>
          </a:xfrm>
        </p:spPr>
        <p:txBody>
          <a:bodyPr/>
          <a:lstStyle/>
          <a:p>
            <a:r>
              <a:rPr lang="en-US" noProof="0" dirty="0"/>
              <a:t>Payment reconciliation</a:t>
            </a:r>
          </a:p>
        </p:txBody>
      </p:sp>
      <p:sp>
        <p:nvSpPr>
          <p:cNvPr id="262" name="Text Placeholder 261">
            <a:extLst>
              <a:ext uri="{FF2B5EF4-FFF2-40B4-BE49-F238E27FC236}">
                <a16:creationId xmlns:a16="http://schemas.microsoft.com/office/drawing/2014/main" id="{F9382E6D-D4B5-E8CB-1BA0-7AD8EA2F7130}"/>
              </a:ext>
            </a:extLst>
          </p:cNvPr>
          <p:cNvSpPr>
            <a:spLocks noGrp="1"/>
          </p:cNvSpPr>
          <p:nvPr>
            <p:ph type="body" sz="quarter" idx="18"/>
          </p:nvPr>
        </p:nvSpPr>
        <p:spPr>
          <a:xfrm>
            <a:off x="3182890" y="1438715"/>
            <a:ext cx="2572262" cy="626701"/>
          </a:xfrm>
        </p:spPr>
        <p:txBody>
          <a:bodyPr/>
          <a:lstStyle/>
          <a:p>
            <a:r>
              <a:rPr lang="en-US" noProof="0" dirty="0"/>
              <a:t>In Excel, use Copilot for Finance to gather financial data from SAP or Dynamics 365 to reconcile data entries across systems.</a:t>
            </a:r>
          </a:p>
        </p:txBody>
      </p:sp>
      <p:sp>
        <p:nvSpPr>
          <p:cNvPr id="267" name="Text Placeholder 266">
            <a:extLst>
              <a:ext uri="{FF2B5EF4-FFF2-40B4-BE49-F238E27FC236}">
                <a16:creationId xmlns:a16="http://schemas.microsoft.com/office/drawing/2014/main" id="{CC16C1B2-CE5C-9904-BE7F-B7E36033C362}"/>
              </a:ext>
            </a:extLst>
          </p:cNvPr>
          <p:cNvSpPr>
            <a:spLocks noGrp="1"/>
          </p:cNvSpPr>
          <p:nvPr>
            <p:ph type="body" sz="quarter" idx="42"/>
          </p:nvPr>
        </p:nvSpPr>
        <p:spPr>
          <a:xfrm>
            <a:off x="6066682" y="1112478"/>
            <a:ext cx="2572262" cy="153888"/>
          </a:xfrm>
        </p:spPr>
        <p:txBody>
          <a:bodyPr/>
          <a:lstStyle/>
          <a:p>
            <a:r>
              <a:rPr lang="en-US" noProof="0" dirty="0"/>
              <a:t>Natural language queries</a:t>
            </a:r>
          </a:p>
        </p:txBody>
      </p:sp>
      <p:sp>
        <p:nvSpPr>
          <p:cNvPr id="268" name="Text Placeholder 267">
            <a:extLst>
              <a:ext uri="{FF2B5EF4-FFF2-40B4-BE49-F238E27FC236}">
                <a16:creationId xmlns:a16="http://schemas.microsoft.com/office/drawing/2014/main" id="{C61112B6-40A2-5706-1E78-E7BD6154F3F8}"/>
              </a:ext>
            </a:extLst>
          </p:cNvPr>
          <p:cNvSpPr>
            <a:spLocks noGrp="1"/>
          </p:cNvSpPr>
          <p:nvPr>
            <p:ph type="body" sz="quarter" idx="43"/>
          </p:nvPr>
        </p:nvSpPr>
        <p:spPr>
          <a:xfrm>
            <a:off x="6066682" y="1438715"/>
            <a:ext cx="2572262" cy="626701"/>
          </a:xfrm>
        </p:spPr>
        <p:txBody>
          <a:bodyPr/>
          <a:lstStyle/>
          <a:p>
            <a:r>
              <a:rPr lang="en-US" noProof="0" dirty="0"/>
              <a:t>Use Analyst to gain deeper insights into the data pulled from the ERP system and produce detailed charts to aid understanding.</a:t>
            </a:r>
            <a:endParaRPr lang="en-US" noProof="0" dirty="0">
              <a:highlight>
                <a:srgbClr val="FFFF00"/>
              </a:highlight>
            </a:endParaRPr>
          </a:p>
          <a:p>
            <a:endParaRPr lang="en-US" noProof="0" dirty="0"/>
          </a:p>
        </p:txBody>
      </p:sp>
      <p:sp>
        <p:nvSpPr>
          <p:cNvPr id="342" name="Text Placeholder 341">
            <a:extLst>
              <a:ext uri="{FF2B5EF4-FFF2-40B4-BE49-F238E27FC236}">
                <a16:creationId xmlns:a16="http://schemas.microsoft.com/office/drawing/2014/main" id="{0F7DE221-61B6-D757-6766-68C40F7D1F13}"/>
              </a:ext>
            </a:extLst>
          </p:cNvPr>
          <p:cNvSpPr>
            <a:spLocks noGrp="1"/>
          </p:cNvSpPr>
          <p:nvPr>
            <p:ph type="body" sz="quarter" idx="68"/>
          </p:nvPr>
        </p:nvSpPr>
        <p:spPr>
          <a:xfrm>
            <a:off x="8950475" y="2725494"/>
            <a:ext cx="2572262" cy="712876"/>
          </a:xfrm>
        </p:spPr>
        <p:txBody>
          <a:bodyPr/>
          <a:lstStyle/>
          <a:p>
            <a:r>
              <a:rPr lang="en-US" noProof="0" dirty="0"/>
              <a:t>Benefit: </a:t>
            </a:r>
            <a:r>
              <a:rPr lang="en-US" noProof="0" dirty="0">
                <a:latin typeface="+mj-lt"/>
              </a:rPr>
              <a:t>Identify potential risks</a:t>
            </a:r>
            <a:r>
              <a:rPr lang="en-US" noProof="0" dirty="0"/>
              <a:t>, providing insights that enable proactive risk management.</a:t>
            </a:r>
          </a:p>
        </p:txBody>
      </p:sp>
      <p:sp>
        <p:nvSpPr>
          <p:cNvPr id="270" name="Text Placeholder 269">
            <a:extLst>
              <a:ext uri="{FF2B5EF4-FFF2-40B4-BE49-F238E27FC236}">
                <a16:creationId xmlns:a16="http://schemas.microsoft.com/office/drawing/2014/main" id="{3B1B4785-3E1A-2919-7547-D0E98B9A915A}"/>
              </a:ext>
            </a:extLst>
          </p:cNvPr>
          <p:cNvSpPr>
            <a:spLocks noGrp="1"/>
          </p:cNvSpPr>
          <p:nvPr>
            <p:ph type="body" sz="quarter" idx="45"/>
          </p:nvPr>
        </p:nvSpPr>
        <p:spPr>
          <a:xfrm>
            <a:off x="8950475" y="1112478"/>
            <a:ext cx="2572262" cy="153888"/>
          </a:xfrm>
        </p:spPr>
        <p:txBody>
          <a:bodyPr/>
          <a:lstStyle/>
          <a:p>
            <a:r>
              <a:rPr lang="en-US" noProof="0" dirty="0"/>
              <a:t>Risk assessment</a:t>
            </a:r>
          </a:p>
        </p:txBody>
      </p:sp>
      <p:sp>
        <p:nvSpPr>
          <p:cNvPr id="271" name="Text Placeholder 270">
            <a:extLst>
              <a:ext uri="{FF2B5EF4-FFF2-40B4-BE49-F238E27FC236}">
                <a16:creationId xmlns:a16="http://schemas.microsoft.com/office/drawing/2014/main" id="{27BCB9B0-C56B-76BA-A246-C9CC42F8AD64}"/>
              </a:ext>
            </a:extLst>
          </p:cNvPr>
          <p:cNvSpPr>
            <a:spLocks noGrp="1"/>
          </p:cNvSpPr>
          <p:nvPr>
            <p:ph type="body" sz="quarter" idx="46"/>
          </p:nvPr>
        </p:nvSpPr>
        <p:spPr>
          <a:xfrm>
            <a:off x="8950475" y="1438715"/>
            <a:ext cx="2572262" cy="626701"/>
          </a:xfrm>
        </p:spPr>
        <p:txBody>
          <a:bodyPr/>
          <a:lstStyle/>
          <a:p>
            <a:r>
              <a:rPr lang="en-US" noProof="0" dirty="0"/>
              <a:t>Leverage Copilot to inquire about any potential risks due to recent regulatory changes around privacy and local laws.</a:t>
            </a:r>
          </a:p>
          <a:p>
            <a:endParaRPr lang="en-US" noProof="0" dirty="0"/>
          </a:p>
        </p:txBody>
      </p:sp>
      <p:sp>
        <p:nvSpPr>
          <p:cNvPr id="281" name="Text Placeholder 280">
            <a:extLst>
              <a:ext uri="{FF2B5EF4-FFF2-40B4-BE49-F238E27FC236}">
                <a16:creationId xmlns:a16="http://schemas.microsoft.com/office/drawing/2014/main" id="{C469C20E-1354-2D3F-FE65-7BACF7F5F9B9}"/>
              </a:ext>
            </a:extLst>
          </p:cNvPr>
          <p:cNvSpPr>
            <a:spLocks noGrp="1"/>
          </p:cNvSpPr>
          <p:nvPr>
            <p:ph type="body" sz="quarter" idx="70"/>
          </p:nvPr>
        </p:nvSpPr>
        <p:spPr>
          <a:xfrm>
            <a:off x="6066682" y="2725494"/>
            <a:ext cx="2572262" cy="712876"/>
          </a:xfrm>
        </p:spPr>
        <p:txBody>
          <a:bodyPr/>
          <a:lstStyle/>
          <a:p>
            <a:r>
              <a:rPr lang="en-US" noProof="0" dirty="0"/>
              <a:t>Benefit: </a:t>
            </a:r>
            <a:r>
              <a:rPr lang="en-US" noProof="0" dirty="0">
                <a:latin typeface="+mj-lt"/>
              </a:rPr>
              <a:t>Allow users to interact with financial data</a:t>
            </a:r>
            <a:r>
              <a:rPr lang="en-US" noProof="0" dirty="0"/>
              <a:t> intuitively, making complex data analysis more accessible.</a:t>
            </a:r>
          </a:p>
          <a:p>
            <a:r>
              <a:rPr lang="en-US" u="sng" dirty="0">
                <a:hlinkClick r:id="rId3"/>
              </a:rPr>
              <a:t>Get started with Analyst</a:t>
            </a:r>
            <a:endParaRPr lang="en-US" noProof="0" dirty="0"/>
          </a:p>
        </p:txBody>
      </p:sp>
      <p:sp>
        <p:nvSpPr>
          <p:cNvPr id="273" name="Text Placeholder 272">
            <a:extLst>
              <a:ext uri="{FF2B5EF4-FFF2-40B4-BE49-F238E27FC236}">
                <a16:creationId xmlns:a16="http://schemas.microsoft.com/office/drawing/2014/main" id="{A7A3CF05-1DEE-A6C7-3006-470B21084375}"/>
              </a:ext>
            </a:extLst>
          </p:cNvPr>
          <p:cNvSpPr>
            <a:spLocks noGrp="1"/>
          </p:cNvSpPr>
          <p:nvPr>
            <p:ph type="body" sz="quarter" idx="48"/>
          </p:nvPr>
        </p:nvSpPr>
        <p:spPr>
          <a:xfrm>
            <a:off x="3182890" y="5334522"/>
            <a:ext cx="2572262" cy="712876"/>
          </a:xfrm>
        </p:spPr>
        <p:txBody>
          <a:bodyPr/>
          <a:lstStyle/>
          <a:p>
            <a:r>
              <a:rPr lang="en-US" noProof="0" dirty="0"/>
              <a:t>Benefit: </a:t>
            </a:r>
            <a:r>
              <a:rPr lang="en-US" noProof="0" dirty="0">
                <a:latin typeface="+mj-lt"/>
              </a:rPr>
              <a:t>Model financial outcomes </a:t>
            </a:r>
            <a:r>
              <a:rPr lang="en-US" noProof="0" dirty="0"/>
              <a:t>based on various scenarios, providing valuable support for decision-makers.</a:t>
            </a:r>
          </a:p>
        </p:txBody>
      </p:sp>
      <p:sp>
        <p:nvSpPr>
          <p:cNvPr id="274" name="Text Placeholder 273">
            <a:extLst>
              <a:ext uri="{FF2B5EF4-FFF2-40B4-BE49-F238E27FC236}">
                <a16:creationId xmlns:a16="http://schemas.microsoft.com/office/drawing/2014/main" id="{F031E1E1-02A7-36C7-CA4D-4F07E74FD2DB}"/>
              </a:ext>
            </a:extLst>
          </p:cNvPr>
          <p:cNvSpPr>
            <a:spLocks noGrp="1"/>
          </p:cNvSpPr>
          <p:nvPr>
            <p:ph type="body" sz="quarter" idx="49"/>
          </p:nvPr>
        </p:nvSpPr>
        <p:spPr>
          <a:xfrm>
            <a:off x="3182890" y="3725103"/>
            <a:ext cx="2572262" cy="153888"/>
          </a:xfrm>
        </p:spPr>
        <p:txBody>
          <a:bodyPr/>
          <a:lstStyle/>
          <a:p>
            <a:r>
              <a:rPr lang="en-US" noProof="0" dirty="0"/>
              <a:t>Decision support</a:t>
            </a:r>
          </a:p>
        </p:txBody>
      </p:sp>
      <p:sp>
        <p:nvSpPr>
          <p:cNvPr id="275" name="Text Placeholder 274">
            <a:extLst>
              <a:ext uri="{FF2B5EF4-FFF2-40B4-BE49-F238E27FC236}">
                <a16:creationId xmlns:a16="http://schemas.microsoft.com/office/drawing/2014/main" id="{2073738F-AD25-BBE6-E27B-65680EED863D}"/>
              </a:ext>
            </a:extLst>
          </p:cNvPr>
          <p:cNvSpPr>
            <a:spLocks noGrp="1"/>
          </p:cNvSpPr>
          <p:nvPr>
            <p:ph type="body" sz="quarter" idx="50"/>
          </p:nvPr>
        </p:nvSpPr>
        <p:spPr>
          <a:xfrm>
            <a:off x="3182890" y="4050957"/>
            <a:ext cx="2572262" cy="626701"/>
          </a:xfrm>
        </p:spPr>
        <p:txBody>
          <a:bodyPr/>
          <a:lstStyle/>
          <a:p>
            <a:r>
              <a:rPr lang="en-US" noProof="0" dirty="0"/>
              <a:t>After the meeting, summarize the leadership team’s feedback using Copilot in Teams and then use Copilot in Word to quickly update policy documents.</a:t>
            </a:r>
          </a:p>
          <a:p>
            <a:endParaRPr lang="en-US" noProof="0" dirty="0"/>
          </a:p>
        </p:txBody>
      </p:sp>
      <p:sp>
        <p:nvSpPr>
          <p:cNvPr id="276" name="Text Placeholder 275">
            <a:extLst>
              <a:ext uri="{FF2B5EF4-FFF2-40B4-BE49-F238E27FC236}">
                <a16:creationId xmlns:a16="http://schemas.microsoft.com/office/drawing/2014/main" id="{A4F9AEBA-72D4-65ED-D778-A9B2470DDAA7}"/>
              </a:ext>
            </a:extLst>
          </p:cNvPr>
          <p:cNvSpPr>
            <a:spLocks noGrp="1"/>
          </p:cNvSpPr>
          <p:nvPr>
            <p:ph type="body" sz="quarter" idx="51"/>
          </p:nvPr>
        </p:nvSpPr>
        <p:spPr>
          <a:xfrm>
            <a:off x="6066682" y="3725103"/>
            <a:ext cx="2572262" cy="153888"/>
          </a:xfrm>
        </p:spPr>
        <p:txBody>
          <a:bodyPr/>
          <a:lstStyle/>
          <a:p>
            <a:r>
              <a:rPr lang="en-US" noProof="0" dirty="0"/>
              <a:t>Reporting</a:t>
            </a:r>
          </a:p>
        </p:txBody>
      </p:sp>
      <p:sp>
        <p:nvSpPr>
          <p:cNvPr id="277" name="Text Placeholder 276">
            <a:extLst>
              <a:ext uri="{FF2B5EF4-FFF2-40B4-BE49-F238E27FC236}">
                <a16:creationId xmlns:a16="http://schemas.microsoft.com/office/drawing/2014/main" id="{70E7BDFC-7D04-BCDD-807E-B7ED595E1448}"/>
              </a:ext>
            </a:extLst>
          </p:cNvPr>
          <p:cNvSpPr>
            <a:spLocks noGrp="1"/>
          </p:cNvSpPr>
          <p:nvPr>
            <p:ph type="body" sz="quarter" idx="52"/>
          </p:nvPr>
        </p:nvSpPr>
        <p:spPr>
          <a:xfrm>
            <a:off x="6066682" y="4050957"/>
            <a:ext cx="2572262" cy="626701"/>
          </a:xfrm>
        </p:spPr>
        <p:txBody>
          <a:bodyPr/>
          <a:lstStyle/>
          <a:p>
            <a:r>
              <a:rPr lang="en-US" noProof="0" dirty="0"/>
              <a:t>Turn the Word document into a PowerPoint presentation for a leadership team meeting using </a:t>
            </a:r>
            <a:r>
              <a:rPr lang="en-US" dirty="0"/>
              <a:t>PowerPoint</a:t>
            </a:r>
            <a:r>
              <a:rPr lang="en-US" noProof="0" dirty="0"/>
              <a:t> Agent.</a:t>
            </a:r>
          </a:p>
          <a:p>
            <a:endParaRPr lang="en-US" noProof="0" dirty="0"/>
          </a:p>
        </p:txBody>
      </p:sp>
      <p:sp>
        <p:nvSpPr>
          <p:cNvPr id="266" name="Text Placeholder 265">
            <a:extLst>
              <a:ext uri="{FF2B5EF4-FFF2-40B4-BE49-F238E27FC236}">
                <a16:creationId xmlns:a16="http://schemas.microsoft.com/office/drawing/2014/main" id="{B62D3F63-A15B-2837-C2E9-BE8BA9E3FF9F}"/>
              </a:ext>
            </a:extLst>
          </p:cNvPr>
          <p:cNvSpPr>
            <a:spLocks noGrp="1"/>
          </p:cNvSpPr>
          <p:nvPr>
            <p:ph type="body" sz="quarter" idx="66"/>
          </p:nvPr>
        </p:nvSpPr>
        <p:spPr>
          <a:xfrm>
            <a:off x="8950475" y="5334522"/>
            <a:ext cx="2572262" cy="712876"/>
          </a:xfrm>
        </p:spPr>
        <p:txBody>
          <a:bodyPr/>
          <a:lstStyle/>
          <a:p>
            <a:r>
              <a:rPr lang="en-US" noProof="0" dirty="0"/>
              <a:t>Benefit: </a:t>
            </a:r>
            <a:r>
              <a:rPr lang="en-US" noProof="0" dirty="0">
                <a:latin typeface="+mj-lt"/>
              </a:rPr>
              <a:t>Create clear financial reports</a:t>
            </a:r>
            <a:r>
              <a:rPr lang="en-US" noProof="0" dirty="0"/>
              <a:t>, saving time and ensuring that key insights are communicated effectively.</a:t>
            </a:r>
          </a:p>
          <a:p>
            <a:r>
              <a:rPr lang="en-US" u="sng" dirty="0">
                <a:hlinkClick r:id="rId4"/>
              </a:rPr>
              <a:t>Get started with Word, Excel, and PowerPoint Agents</a:t>
            </a:r>
            <a:endParaRPr lang="en-US" noProof="0" dirty="0"/>
          </a:p>
        </p:txBody>
      </p:sp>
      <p:sp>
        <p:nvSpPr>
          <p:cNvPr id="279" name="Text Placeholder 278">
            <a:extLst>
              <a:ext uri="{FF2B5EF4-FFF2-40B4-BE49-F238E27FC236}">
                <a16:creationId xmlns:a16="http://schemas.microsoft.com/office/drawing/2014/main" id="{401C27A7-7972-0383-A3C7-563393D59C81}"/>
              </a:ext>
            </a:extLst>
          </p:cNvPr>
          <p:cNvSpPr>
            <a:spLocks noGrp="1"/>
          </p:cNvSpPr>
          <p:nvPr>
            <p:ph type="body" sz="quarter" idx="54"/>
          </p:nvPr>
        </p:nvSpPr>
        <p:spPr>
          <a:xfrm>
            <a:off x="8950475" y="3725103"/>
            <a:ext cx="2572262" cy="153888"/>
          </a:xfrm>
        </p:spPr>
        <p:txBody>
          <a:bodyPr/>
          <a:lstStyle/>
          <a:p>
            <a:r>
              <a:rPr lang="en-US" noProof="0" dirty="0"/>
              <a:t>Insight generation</a:t>
            </a:r>
          </a:p>
        </p:txBody>
      </p:sp>
      <p:sp>
        <p:nvSpPr>
          <p:cNvPr id="280" name="Text Placeholder 279">
            <a:extLst>
              <a:ext uri="{FF2B5EF4-FFF2-40B4-BE49-F238E27FC236}">
                <a16:creationId xmlns:a16="http://schemas.microsoft.com/office/drawing/2014/main" id="{6509FA34-C0AE-1084-E746-F7482264D7D3}"/>
              </a:ext>
            </a:extLst>
          </p:cNvPr>
          <p:cNvSpPr>
            <a:spLocks noGrp="1"/>
          </p:cNvSpPr>
          <p:nvPr>
            <p:ph type="body" sz="quarter" idx="55"/>
          </p:nvPr>
        </p:nvSpPr>
        <p:spPr>
          <a:xfrm>
            <a:off x="8950475" y="4050957"/>
            <a:ext cx="2572262" cy="626701"/>
          </a:xfrm>
        </p:spPr>
        <p:txBody>
          <a:bodyPr/>
          <a:lstStyle/>
          <a:p>
            <a:r>
              <a:rPr lang="en-US" noProof="0" dirty="0"/>
              <a:t>Use </a:t>
            </a:r>
            <a:r>
              <a:rPr lang="en-US" dirty="0"/>
              <a:t>Word Agent</a:t>
            </a:r>
            <a:r>
              <a:rPr lang="en-US" noProof="0" dirty="0"/>
              <a:t> to generate a white paper in Word on new regulatory risks and recommended responses.</a:t>
            </a:r>
          </a:p>
          <a:p>
            <a:endParaRPr lang="en-US" noProof="0" dirty="0"/>
          </a:p>
        </p:txBody>
      </p:sp>
      <p:sp>
        <p:nvSpPr>
          <p:cNvPr id="341" name="Text Placeholder 340">
            <a:extLst>
              <a:ext uri="{FF2B5EF4-FFF2-40B4-BE49-F238E27FC236}">
                <a16:creationId xmlns:a16="http://schemas.microsoft.com/office/drawing/2014/main" id="{20E3F7F3-DEFD-987D-23F4-CF62FF1438C4}"/>
              </a:ext>
            </a:extLst>
          </p:cNvPr>
          <p:cNvSpPr>
            <a:spLocks noGrp="1"/>
          </p:cNvSpPr>
          <p:nvPr>
            <p:ph type="body" sz="quarter" idx="67"/>
          </p:nvPr>
        </p:nvSpPr>
        <p:spPr>
          <a:xfrm>
            <a:off x="6066682" y="5334522"/>
            <a:ext cx="2572262" cy="712876"/>
          </a:xfrm>
        </p:spPr>
        <p:txBody>
          <a:bodyPr/>
          <a:lstStyle/>
          <a:p>
            <a:r>
              <a:rPr lang="en-US" noProof="0" dirty="0"/>
              <a:t>Benefit: </a:t>
            </a:r>
            <a:r>
              <a:rPr lang="en-US" noProof="0" dirty="0">
                <a:latin typeface="+mj-lt"/>
              </a:rPr>
              <a:t>Quickly create presentations </a:t>
            </a:r>
            <a:r>
              <a:rPr lang="en-US" noProof="0" dirty="0"/>
              <a:t>using Copilot to make a first draft.</a:t>
            </a:r>
          </a:p>
          <a:p>
            <a:r>
              <a:rPr lang="en-US" u="sng" dirty="0">
                <a:hlinkClick r:id="rId4"/>
              </a:rPr>
              <a:t>Get started with Word, Excel, and PowerPoint Agents</a:t>
            </a:r>
            <a:endParaRPr lang="en-US" noProof="0" dirty="0"/>
          </a:p>
        </p:txBody>
      </p:sp>
      <p:sp>
        <p:nvSpPr>
          <p:cNvPr id="282" name="Text Placeholder 281">
            <a:extLst>
              <a:ext uri="{FF2B5EF4-FFF2-40B4-BE49-F238E27FC236}">
                <a16:creationId xmlns:a16="http://schemas.microsoft.com/office/drawing/2014/main" id="{F173F606-DAF1-2218-863D-C4BC69E86E88}"/>
              </a:ext>
            </a:extLst>
          </p:cNvPr>
          <p:cNvSpPr>
            <a:spLocks noGrp="1"/>
          </p:cNvSpPr>
          <p:nvPr>
            <p:ph type="body" sz="quarter" idx="64"/>
          </p:nvPr>
        </p:nvSpPr>
        <p:spPr>
          <a:xfrm>
            <a:off x="320721" y="4709762"/>
            <a:ext cx="1131651" cy="219456"/>
          </a:xfrm>
        </p:spPr>
        <p:txBody>
          <a:bodyPr/>
          <a:lstStyle/>
          <a:p>
            <a:pPr lvl="0"/>
            <a:r>
              <a:rPr lang="en-US" noProof="0" dirty="0"/>
              <a:t>Value benefit</a:t>
            </a:r>
          </a:p>
        </p:txBody>
      </p:sp>
      <p:sp>
        <p:nvSpPr>
          <p:cNvPr id="283" name="Text Placeholder 282">
            <a:extLst>
              <a:ext uri="{FF2B5EF4-FFF2-40B4-BE49-F238E27FC236}">
                <a16:creationId xmlns:a16="http://schemas.microsoft.com/office/drawing/2014/main" id="{E2D4C957-9496-451E-F01A-85BEEECD5F27}"/>
              </a:ext>
            </a:extLst>
          </p:cNvPr>
          <p:cNvSpPr>
            <a:spLocks noGrp="1"/>
          </p:cNvSpPr>
          <p:nvPr>
            <p:ph type="body" sz="quarter" idx="65"/>
          </p:nvPr>
        </p:nvSpPr>
        <p:spPr>
          <a:xfrm>
            <a:off x="320721" y="3467940"/>
            <a:ext cx="1131650" cy="219456"/>
          </a:xfrm>
        </p:spPr>
        <p:txBody>
          <a:bodyPr/>
          <a:lstStyle/>
          <a:p>
            <a:pPr lvl="0"/>
            <a:r>
              <a:rPr lang="en-US" noProof="0" dirty="0"/>
              <a:t>KPIs impacted</a:t>
            </a:r>
          </a:p>
        </p:txBody>
      </p:sp>
      <p:grpSp>
        <p:nvGrpSpPr>
          <p:cNvPr id="284" name="Group 283">
            <a:extLst>
              <a:ext uri="{FF2B5EF4-FFF2-40B4-BE49-F238E27FC236}">
                <a16:creationId xmlns:a16="http://schemas.microsoft.com/office/drawing/2014/main" id="{369F3602-3D6B-B79C-5888-1A6AF6B2BF89}"/>
              </a:ext>
            </a:extLst>
          </p:cNvPr>
          <p:cNvGrpSpPr>
            <a:grpSpLocks/>
          </p:cNvGrpSpPr>
          <p:nvPr/>
        </p:nvGrpSpPr>
        <p:grpSpPr>
          <a:xfrm>
            <a:off x="320719" y="5020658"/>
            <a:ext cx="1771605" cy="216000"/>
            <a:chOff x="320721" y="4517211"/>
            <a:chExt cx="1771605" cy="216000"/>
          </a:xfrm>
        </p:grpSpPr>
        <p:sp>
          <p:nvSpPr>
            <p:cNvPr id="285" name="Rectangle: Rounded Corners 6">
              <a:extLst>
                <a:ext uri="{FF2B5EF4-FFF2-40B4-BE49-F238E27FC236}">
                  <a16:creationId xmlns:a16="http://schemas.microsoft.com/office/drawing/2014/main" id="{361CB1E3-A005-30EC-AF78-4136C3BE1D3A}"/>
                </a:ext>
                <a:ext uri="{C183D7F6-B498-43B3-948B-1728B52AA6E4}">
                  <adec:decorative xmlns:adec="http://schemas.microsoft.com/office/drawing/2017/decorative" val="1"/>
                </a:ext>
              </a:extLst>
            </p:cNvPr>
            <p:cNvSpPr>
              <a:spLocks/>
            </p:cNvSpPr>
            <p:nvPr/>
          </p:nvSpPr>
          <p:spPr bwMode="auto">
            <a:xfrm>
              <a:off x="320721" y="4517211"/>
              <a:ext cx="1771605" cy="216000"/>
            </a:xfrm>
            <a:prstGeom prst="roundRect">
              <a:avLst>
                <a:gd name="adj" fmla="val 50000"/>
              </a:avLst>
            </a:prstGeom>
            <a:solidFill>
              <a:srgbClr val="FFFFFF"/>
            </a:solidFill>
            <a:ln w="12700">
              <a:solidFill>
                <a:srgbClr val="C03BC4"/>
              </a:solidFill>
              <a:headEnd type="none" w="med" len="med"/>
              <a:tailEnd type="none" w="med" len="med"/>
            </a:ln>
            <a:effectLst>
              <a:outerShdw blurRad="63500" dist="63500" dir="2700000"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16000" tIns="36576" rIns="36000" bIns="36000" numCol="1" spcCol="0" rtlCol="0" fromWordArt="0" anchor="ctr" anchorCtr="0" forceAA="0" compatLnSpc="1">
              <a:prstTxWarp prst="textNoShape">
                <a:avLst/>
              </a:prstTxWarp>
              <a:noAutofit/>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C03BC4"/>
                  </a:solidFill>
                  <a:effectLst/>
                  <a:uLnTx/>
                  <a:uFillTx/>
                  <a:latin typeface="Segoe UI Semibold"/>
                  <a:ea typeface="+mn-ea"/>
                  <a:cs typeface="Segoe UI Semibold" panose="020B0702040204020203" pitchFamily="34" charset="0"/>
                </a:rPr>
                <a:t>Cost savings</a:t>
              </a:r>
            </a:p>
          </p:txBody>
        </p:sp>
        <p:pic>
          <p:nvPicPr>
            <p:cNvPr id="286" name="Graphic 285">
              <a:extLst>
                <a:ext uri="{FF2B5EF4-FFF2-40B4-BE49-F238E27FC236}">
                  <a16:creationId xmlns:a16="http://schemas.microsoft.com/office/drawing/2014/main" id="{B20C5EDE-4D3B-B21E-6392-F456CB52D3F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67507" y="4554345"/>
              <a:ext cx="144000" cy="141732"/>
            </a:xfrm>
            <a:prstGeom prst="rect">
              <a:avLst/>
            </a:prstGeom>
          </p:spPr>
        </p:pic>
      </p:grpSp>
      <p:grpSp>
        <p:nvGrpSpPr>
          <p:cNvPr id="287" name="Group 286">
            <a:extLst>
              <a:ext uri="{FF2B5EF4-FFF2-40B4-BE49-F238E27FC236}">
                <a16:creationId xmlns:a16="http://schemas.microsoft.com/office/drawing/2014/main" id="{FE300B37-337A-A038-6270-82DD3727E352}"/>
              </a:ext>
            </a:extLst>
          </p:cNvPr>
          <p:cNvGrpSpPr>
            <a:grpSpLocks/>
          </p:cNvGrpSpPr>
          <p:nvPr/>
        </p:nvGrpSpPr>
        <p:grpSpPr>
          <a:xfrm>
            <a:off x="320721" y="5309272"/>
            <a:ext cx="1771605" cy="216000"/>
            <a:chOff x="320719" y="4224856"/>
            <a:chExt cx="1771605" cy="219456"/>
          </a:xfrm>
        </p:grpSpPr>
        <p:sp>
          <p:nvSpPr>
            <p:cNvPr id="288" name="Rectangle: Rounded Corners 6">
              <a:extLst>
                <a:ext uri="{FF2B5EF4-FFF2-40B4-BE49-F238E27FC236}">
                  <a16:creationId xmlns:a16="http://schemas.microsoft.com/office/drawing/2014/main" id="{266DFC6E-B70A-7EED-0312-58346319D23C}"/>
                </a:ext>
                <a:ext uri="{C183D7F6-B498-43B3-948B-1728B52AA6E4}">
                  <adec:decorative xmlns:adec="http://schemas.microsoft.com/office/drawing/2017/decorative" val="1"/>
                </a:ext>
              </a:extLst>
            </p:cNvPr>
            <p:cNvSpPr/>
            <p:nvPr/>
          </p:nvSpPr>
          <p:spPr bwMode="auto">
            <a:xfrm>
              <a:off x="320719" y="4224856"/>
              <a:ext cx="1771605" cy="219456"/>
            </a:xfrm>
            <a:prstGeom prst="roundRect">
              <a:avLst>
                <a:gd name="adj" fmla="val 50000"/>
              </a:avLst>
            </a:prstGeom>
            <a:solidFill>
              <a:srgbClr val="FFFFFF"/>
            </a:solidFill>
            <a:ln w="12700">
              <a:solidFill>
                <a:srgbClr val="C03BC4"/>
              </a:solidFill>
              <a:headEnd type="none" w="med" len="med"/>
              <a:tailEnd type="none" w="med" len="med"/>
            </a:ln>
            <a:effectLst>
              <a:outerShdw blurRad="63500" dist="63500" dir="2700000"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16000" tIns="36576" rIns="36000" bIns="36000" numCol="1" spcCol="0" rtlCol="0" fromWordArt="0" anchor="ctr" anchorCtr="0" forceAA="0" compatLnSpc="1">
              <a:prstTxWarp prst="textNoShape">
                <a:avLst/>
              </a:prstTxWarp>
              <a:noAutofit/>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C03BC4"/>
                  </a:solidFill>
                  <a:effectLst/>
                  <a:uLnTx/>
                  <a:uFillTx/>
                  <a:latin typeface="Segoe UI Semibold"/>
                  <a:ea typeface="+mn-ea"/>
                  <a:cs typeface="Segoe UI Semibold" panose="020B0702040204020203" pitchFamily="34" charset="0"/>
                </a:rPr>
                <a:t>Employee experience</a:t>
              </a:r>
            </a:p>
          </p:txBody>
        </p:sp>
        <p:pic>
          <p:nvPicPr>
            <p:cNvPr id="289" name="Graphic 288">
              <a:extLst>
                <a:ext uri="{FF2B5EF4-FFF2-40B4-BE49-F238E27FC236}">
                  <a16:creationId xmlns:a16="http://schemas.microsoft.com/office/drawing/2014/main" id="{F4B886DD-002B-8D75-FABE-F63431AA819A}"/>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367506" y="4262584"/>
              <a:ext cx="144000" cy="144000"/>
            </a:xfrm>
            <a:prstGeom prst="rect">
              <a:avLst/>
            </a:prstGeom>
          </p:spPr>
        </p:pic>
      </p:grpSp>
      <p:grpSp>
        <p:nvGrpSpPr>
          <p:cNvPr id="290" name="Group 289">
            <a:extLst>
              <a:ext uri="{FF2B5EF4-FFF2-40B4-BE49-F238E27FC236}">
                <a16:creationId xmlns:a16="http://schemas.microsoft.com/office/drawing/2014/main" id="{5C1ED961-B2F1-AE24-7E08-DEAB1295181E}"/>
              </a:ext>
            </a:extLst>
          </p:cNvPr>
          <p:cNvGrpSpPr/>
          <p:nvPr/>
        </p:nvGrpSpPr>
        <p:grpSpPr>
          <a:xfrm>
            <a:off x="320719" y="3778836"/>
            <a:ext cx="1771605" cy="216000"/>
            <a:chOff x="320719" y="4224856"/>
            <a:chExt cx="1771605" cy="219456"/>
          </a:xfrm>
        </p:grpSpPr>
        <p:sp>
          <p:nvSpPr>
            <p:cNvPr id="291" name="Rectangle: Rounded Corners 6">
              <a:extLst>
                <a:ext uri="{FF2B5EF4-FFF2-40B4-BE49-F238E27FC236}">
                  <a16:creationId xmlns:a16="http://schemas.microsoft.com/office/drawing/2014/main" id="{19095A70-8C93-FF10-8DE6-E0D01E991665}"/>
                </a:ext>
                <a:ext uri="{C183D7F6-B498-43B3-948B-1728B52AA6E4}">
                  <adec:decorative xmlns:adec="http://schemas.microsoft.com/office/drawing/2017/decorative" val="1"/>
                </a:ext>
              </a:extLst>
            </p:cNvPr>
            <p:cNvSpPr/>
            <p:nvPr/>
          </p:nvSpPr>
          <p:spPr bwMode="auto">
            <a:xfrm>
              <a:off x="320719" y="4224856"/>
              <a:ext cx="1771605" cy="219456"/>
            </a:xfrm>
            <a:prstGeom prst="roundRect">
              <a:avLst>
                <a:gd name="adj" fmla="val 50000"/>
              </a:avLst>
            </a:prstGeom>
            <a:solidFill>
              <a:srgbClr val="FFFFFF"/>
            </a:solidFill>
            <a:ln w="12700">
              <a:solidFill>
                <a:srgbClr val="0078D4"/>
              </a:solidFill>
              <a:headEnd type="none" w="med" len="med"/>
              <a:tailEnd type="none" w="med" len="med"/>
            </a:ln>
            <a:effectLst>
              <a:outerShdw blurRad="63500" dist="63500" dir="2700000"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16000" tIns="36576" rIns="36000" bIns="36000" numCol="1" spcCol="0" rtlCol="0" fromWordArt="0" anchor="ctr" anchorCtr="0" forceAA="0" compatLnSpc="1">
              <a:prstTxWarp prst="textNoShape">
                <a:avLst/>
              </a:prstTxWarp>
              <a:noAutofit/>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78D4"/>
                  </a:solidFill>
                  <a:effectLst/>
                  <a:uLnTx/>
                  <a:uFillTx/>
                  <a:latin typeface="Segoe UI Semibold"/>
                  <a:ea typeface="+mn-ea"/>
                  <a:cs typeface="Segoe UI Semibold" panose="020B0702040204020203" pitchFamily="34" charset="0"/>
                </a:rPr>
                <a:t>Outsourcing spend</a:t>
              </a:r>
            </a:p>
          </p:txBody>
        </p:sp>
        <p:pic>
          <p:nvPicPr>
            <p:cNvPr id="292" name="Graphic 291">
              <a:extLst>
                <a:ext uri="{FF2B5EF4-FFF2-40B4-BE49-F238E27FC236}">
                  <a16:creationId xmlns:a16="http://schemas.microsoft.com/office/drawing/2014/main" id="{BE4369F7-F259-A622-0BA0-0389A21707CD}"/>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367506" y="4262584"/>
              <a:ext cx="144000" cy="144000"/>
            </a:xfrm>
            <a:prstGeom prst="rect">
              <a:avLst/>
            </a:prstGeom>
          </p:spPr>
        </p:pic>
      </p:grpSp>
      <p:sp>
        <p:nvSpPr>
          <p:cNvPr id="425" name="TextBox 424">
            <a:extLst>
              <a:ext uri="{FF2B5EF4-FFF2-40B4-BE49-F238E27FC236}">
                <a16:creationId xmlns:a16="http://schemas.microsoft.com/office/drawing/2014/main" id="{492AD16F-2FAC-A8BD-2B15-09C97222C3C6}"/>
              </a:ext>
              <a:ext uri="{C183D7F6-B498-43B3-948B-1728B52AA6E4}">
                <adec:decorative xmlns:adec="http://schemas.microsoft.com/office/drawing/2017/decorative" val="0"/>
              </a:ext>
            </a:extLst>
          </p:cNvPr>
          <p:cNvSpPr txBox="1"/>
          <p:nvPr/>
        </p:nvSpPr>
        <p:spPr>
          <a:xfrm>
            <a:off x="9328927" y="2286931"/>
            <a:ext cx="763029" cy="153888"/>
          </a:xfrm>
          <a:prstGeom prst="rect">
            <a:avLst/>
          </a:prstGeom>
          <a:noFill/>
        </p:spPr>
        <p:txBody>
          <a:bodyPr wrap="non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Semibold"/>
                <a:ea typeface="+mn-ea"/>
                <a:cs typeface="+mn-cs"/>
              </a:rPr>
              <a:t>Copilot Chat</a:t>
            </a:r>
            <a:r>
              <a:rPr kumimoji="0" lang="en-US" sz="1000" b="0" i="0" u="none" strike="noStrike" kern="1200" cap="none" spc="0" normalizeH="0" baseline="30000" noProof="0" dirty="0">
                <a:ln>
                  <a:noFill/>
                </a:ln>
                <a:solidFill>
                  <a:srgbClr val="000000"/>
                </a:solidFill>
                <a:effectLst/>
                <a:uLnTx/>
                <a:uFillTx/>
                <a:latin typeface="Segoe UI Semibold"/>
                <a:ea typeface="+mn-ea"/>
                <a:cs typeface="+mn-cs"/>
              </a:rPr>
              <a:t>1</a:t>
            </a:r>
          </a:p>
        </p:txBody>
      </p:sp>
      <p:pic>
        <p:nvPicPr>
          <p:cNvPr id="426" name="Picture 50">
            <a:hlinkClick r:id="rId7"/>
            <a:extLst>
              <a:ext uri="{FF2B5EF4-FFF2-40B4-BE49-F238E27FC236}">
                <a16:creationId xmlns:a16="http://schemas.microsoft.com/office/drawing/2014/main" id="{ADDAC866-812F-DA22-662A-31C49688914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950475" y="2242688"/>
            <a:ext cx="242374" cy="242374"/>
          </a:xfrm>
          <a:prstGeom prst="rect">
            <a:avLst/>
          </a:prstGeom>
          <a:noFill/>
          <a:extLst>
            <a:ext uri="{909E8E84-426E-40DD-AFC4-6F175D3DCCD1}">
              <a14:hiddenFill xmlns:a14="http://schemas.microsoft.com/office/drawing/2010/main">
                <a:solidFill>
                  <a:srgbClr val="FFFFFF"/>
                </a:solidFill>
              </a14:hiddenFill>
            </a:ext>
          </a:extLst>
        </p:spPr>
      </p:pic>
      <p:sp>
        <p:nvSpPr>
          <p:cNvPr id="431" name="TextBox 430">
            <a:extLst>
              <a:ext uri="{FF2B5EF4-FFF2-40B4-BE49-F238E27FC236}">
                <a16:creationId xmlns:a16="http://schemas.microsoft.com/office/drawing/2014/main" id="{1FCA3783-6A3E-C453-12BD-455CD43F4496}"/>
              </a:ext>
              <a:ext uri="{C183D7F6-B498-43B3-948B-1728B52AA6E4}">
                <adec:decorative xmlns:adec="http://schemas.microsoft.com/office/drawing/2017/decorative" val="0"/>
              </a:ext>
            </a:extLst>
          </p:cNvPr>
          <p:cNvSpPr txBox="1"/>
          <p:nvPr/>
        </p:nvSpPr>
        <p:spPr>
          <a:xfrm>
            <a:off x="3562472" y="4809125"/>
            <a:ext cx="763892" cy="307777"/>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Semibold"/>
                <a:ea typeface="+mn-ea"/>
                <a:cs typeface="+mn-cs"/>
              </a:rPr>
              <a:t>Copilot in Teams</a:t>
            </a:r>
          </a:p>
        </p:txBody>
      </p:sp>
      <p:pic>
        <p:nvPicPr>
          <p:cNvPr id="432" name="Picture 6">
            <a:extLst>
              <a:ext uri="{FF2B5EF4-FFF2-40B4-BE49-F238E27FC236}">
                <a16:creationId xmlns:a16="http://schemas.microsoft.com/office/drawing/2014/main" id="{76FB4EB0-37E2-F3A3-7E29-484E51D01CD3}"/>
              </a:ext>
            </a:extLst>
          </p:cNvPr>
          <p:cNvPicPr>
            <a:picLocks noChangeAspect="1" noChangeArrowheads="1"/>
          </p:cNvPicPr>
          <p:nvPr/>
        </p:nvPicPr>
        <p:blipFill>
          <a:blip r:embed="rId9">
            <a:extLst>
              <a:ext uri="{28A0092B-C50C-407E-A947-70E740481C1C}">
                <a14:useLocalDpi xmlns:a14="http://schemas.microsoft.com/office/drawing/2010/main" val="0"/>
              </a:ext>
            </a:extLst>
          </a:blip>
          <a:srcRect t="5571" b="5571"/>
          <a:stretch/>
        </p:blipFill>
        <p:spPr bwMode="auto">
          <a:xfrm>
            <a:off x="3182890" y="4851353"/>
            <a:ext cx="245612" cy="223322"/>
          </a:xfrm>
          <a:prstGeom prst="rect">
            <a:avLst/>
          </a:prstGeom>
          <a:noFill/>
          <a:extLst>
            <a:ext uri="{909E8E84-426E-40DD-AFC4-6F175D3DCCD1}">
              <a14:hiddenFill xmlns:a14="http://schemas.microsoft.com/office/drawing/2010/main">
                <a:solidFill>
                  <a:srgbClr val="FFFFFF"/>
                </a:solidFill>
              </a14:hiddenFill>
            </a:ext>
          </a:extLst>
        </p:spPr>
      </p:pic>
      <p:sp>
        <p:nvSpPr>
          <p:cNvPr id="434" name="TextBox 433">
            <a:extLst>
              <a:ext uri="{FF2B5EF4-FFF2-40B4-BE49-F238E27FC236}">
                <a16:creationId xmlns:a16="http://schemas.microsoft.com/office/drawing/2014/main" id="{203F5FD0-39DD-7ACE-F562-631BBDE1E7F7}"/>
              </a:ext>
              <a:ext uri="{C183D7F6-B498-43B3-948B-1728B52AA6E4}">
                <adec:decorative xmlns:adec="http://schemas.microsoft.com/office/drawing/2017/decorative" val="0"/>
              </a:ext>
            </a:extLst>
          </p:cNvPr>
          <p:cNvSpPr txBox="1"/>
          <p:nvPr/>
        </p:nvSpPr>
        <p:spPr>
          <a:xfrm>
            <a:off x="4803950" y="4809125"/>
            <a:ext cx="768367" cy="307777"/>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Semibold"/>
                <a:ea typeface="+mn-ea"/>
                <a:cs typeface="+mn-cs"/>
              </a:rPr>
              <a:t>Copilot in Word</a:t>
            </a:r>
          </a:p>
        </p:txBody>
      </p:sp>
      <p:sp>
        <p:nvSpPr>
          <p:cNvPr id="440" name="TextBox 439">
            <a:extLst>
              <a:ext uri="{FF2B5EF4-FFF2-40B4-BE49-F238E27FC236}">
                <a16:creationId xmlns:a16="http://schemas.microsoft.com/office/drawing/2014/main" id="{94E3F3A4-6E66-D652-279B-C9269F383DB7}"/>
              </a:ext>
              <a:ext uri="{C183D7F6-B498-43B3-948B-1728B52AA6E4}">
                <adec:decorative xmlns:adec="http://schemas.microsoft.com/office/drawing/2017/decorative" val="0"/>
              </a:ext>
            </a:extLst>
          </p:cNvPr>
          <p:cNvSpPr txBox="1"/>
          <p:nvPr/>
        </p:nvSpPr>
        <p:spPr>
          <a:xfrm>
            <a:off x="6446958" y="4886070"/>
            <a:ext cx="1771605" cy="1538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Semibold"/>
                <a:ea typeface="+mn-ea"/>
                <a:cs typeface="+mn-cs"/>
              </a:rPr>
              <a:t>PowerPoint Agent</a:t>
            </a:r>
            <a:endParaRPr kumimoji="0" lang="en-US" sz="1000" b="0" i="0" u="none" strike="noStrike" kern="1200" cap="none" spc="0" normalizeH="0" baseline="30000" noProof="0" dirty="0">
              <a:ln>
                <a:noFill/>
              </a:ln>
              <a:solidFill>
                <a:srgbClr val="000000"/>
              </a:solidFill>
              <a:effectLst/>
              <a:uLnTx/>
              <a:uFillTx/>
              <a:latin typeface="Segoe UI Semibold"/>
              <a:ea typeface="+mn-ea"/>
              <a:cs typeface="+mn-cs"/>
            </a:endParaRPr>
          </a:p>
        </p:txBody>
      </p:sp>
      <p:sp>
        <p:nvSpPr>
          <p:cNvPr id="3" name="TextBox 2">
            <a:extLst>
              <a:ext uri="{FF2B5EF4-FFF2-40B4-BE49-F238E27FC236}">
                <a16:creationId xmlns:a16="http://schemas.microsoft.com/office/drawing/2014/main" id="{91E288C4-82A6-A0B7-69FA-BCAE4F64B7F4}"/>
              </a:ext>
              <a:ext uri="{C183D7F6-B498-43B3-948B-1728B52AA6E4}">
                <adec:decorative xmlns:adec="http://schemas.microsoft.com/office/drawing/2017/decorative" val="0"/>
              </a:ext>
            </a:extLst>
          </p:cNvPr>
          <p:cNvSpPr txBox="1"/>
          <p:nvPr/>
        </p:nvSpPr>
        <p:spPr>
          <a:xfrm>
            <a:off x="3562472" y="2217681"/>
            <a:ext cx="1810029" cy="2923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Segoe UI Semibold"/>
                <a:ea typeface="+mn-ea"/>
                <a:cs typeface="+mn-cs"/>
              </a:rPr>
              <a:t>Copilot in Excel</a:t>
            </a:r>
          </a:p>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78D4"/>
                </a:solidFill>
                <a:effectLst/>
                <a:uLnTx/>
                <a:uFillTx/>
                <a:latin typeface="Segoe UI Semibold"/>
                <a:ea typeface="+mn-ea"/>
                <a:cs typeface="+mn-cs"/>
              </a:rPr>
              <a:t>+ Copilot for Finance </a:t>
            </a:r>
            <a:r>
              <a:rPr kumimoji="0" lang="en-US" sz="900" b="0" i="1" u="none" strike="noStrike" kern="1200" cap="none" spc="0" normalizeH="0" baseline="0" noProof="0" dirty="0">
                <a:ln>
                  <a:noFill/>
                </a:ln>
                <a:solidFill>
                  <a:srgbClr val="0078D4"/>
                </a:solidFill>
                <a:effectLst/>
                <a:uLnTx/>
                <a:uFillTx/>
                <a:latin typeface="Segoe UI Semibold"/>
                <a:ea typeface="+mn-ea"/>
                <a:cs typeface="+mn-cs"/>
              </a:rPr>
              <a:t>Preview</a:t>
            </a:r>
          </a:p>
        </p:txBody>
      </p:sp>
      <p:sp>
        <p:nvSpPr>
          <p:cNvPr id="6" name="TextBox 5">
            <a:extLst>
              <a:ext uri="{FF2B5EF4-FFF2-40B4-BE49-F238E27FC236}">
                <a16:creationId xmlns:a16="http://schemas.microsoft.com/office/drawing/2014/main" id="{B65659B7-A345-0E30-38E6-B920CC59D107}"/>
              </a:ext>
              <a:ext uri="{C183D7F6-B498-43B3-948B-1728B52AA6E4}">
                <adec:decorative xmlns:adec="http://schemas.microsoft.com/office/drawing/2017/decorative" val="0"/>
              </a:ext>
            </a:extLst>
          </p:cNvPr>
          <p:cNvSpPr txBox="1"/>
          <p:nvPr/>
        </p:nvSpPr>
        <p:spPr>
          <a:xfrm>
            <a:off x="9328927" y="4886069"/>
            <a:ext cx="1669273" cy="1538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Semibold"/>
                <a:ea typeface="+mn-ea"/>
                <a:cs typeface="+mn-cs"/>
              </a:rPr>
              <a:t>Word Agent</a:t>
            </a:r>
          </a:p>
        </p:txBody>
      </p:sp>
      <p:sp>
        <p:nvSpPr>
          <p:cNvPr id="2" name="TextBox 1">
            <a:extLst>
              <a:ext uri="{FF2B5EF4-FFF2-40B4-BE49-F238E27FC236}">
                <a16:creationId xmlns:a16="http://schemas.microsoft.com/office/drawing/2014/main" id="{4B3D801E-F80D-4448-B19C-91D75B25AED0}"/>
              </a:ext>
              <a:ext uri="{C183D7F6-B498-43B3-948B-1728B52AA6E4}">
                <adec:decorative xmlns:adec="http://schemas.microsoft.com/office/drawing/2017/decorative" val="0"/>
              </a:ext>
            </a:extLst>
          </p:cNvPr>
          <p:cNvSpPr txBox="1"/>
          <p:nvPr/>
        </p:nvSpPr>
        <p:spPr>
          <a:xfrm>
            <a:off x="6486644" y="2284873"/>
            <a:ext cx="1830524" cy="1538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Semibold"/>
                <a:ea typeface="+mn-ea"/>
                <a:cs typeface="+mn-cs"/>
              </a:rPr>
              <a:t>Analyst</a:t>
            </a:r>
            <a:endParaRPr kumimoji="0" lang="en-US" sz="1000" b="0" i="0" u="none" strike="noStrike" kern="1200" cap="none" spc="0" normalizeH="0" baseline="30000" noProof="0" dirty="0">
              <a:ln>
                <a:noFill/>
              </a:ln>
              <a:solidFill>
                <a:srgbClr val="000000"/>
              </a:solidFill>
              <a:effectLst/>
              <a:uLnTx/>
              <a:uFillTx/>
              <a:latin typeface="Segoe UI Semibold"/>
              <a:ea typeface="+mn-ea"/>
              <a:cs typeface="+mn-cs"/>
            </a:endParaRPr>
          </a:p>
        </p:txBody>
      </p:sp>
      <p:pic>
        <p:nvPicPr>
          <p:cNvPr id="4" name="Picture 3">
            <a:extLst>
              <a:ext uri="{FF2B5EF4-FFF2-40B4-BE49-F238E27FC236}">
                <a16:creationId xmlns:a16="http://schemas.microsoft.com/office/drawing/2014/main" id="{FB1372B8-20F5-8092-69FB-580A093500A4}"/>
              </a:ext>
            </a:extLst>
          </p:cNvPr>
          <p:cNvPicPr>
            <a:picLocks noChangeAspect="1"/>
          </p:cNvPicPr>
          <p:nvPr/>
        </p:nvPicPr>
        <p:blipFill>
          <a:blip r:embed="rId10"/>
          <a:stretch>
            <a:fillRect/>
          </a:stretch>
        </p:blipFill>
        <p:spPr>
          <a:xfrm>
            <a:off x="6096000" y="2190610"/>
            <a:ext cx="346240" cy="270236"/>
          </a:xfrm>
          <a:prstGeom prst="rect">
            <a:avLst/>
          </a:prstGeom>
        </p:spPr>
      </p:pic>
      <p:pic>
        <p:nvPicPr>
          <p:cNvPr id="5" name="Picture 4" descr="Excel logo">
            <a:extLst>
              <a:ext uri="{FF2B5EF4-FFF2-40B4-BE49-F238E27FC236}">
                <a16:creationId xmlns:a16="http://schemas.microsoft.com/office/drawing/2014/main" id="{5F7B3F9D-2436-8CF3-BC09-077D973F07BB}"/>
              </a:ext>
            </a:extLst>
          </p:cNvPr>
          <p:cNvPicPr>
            <a:picLocks noChangeAspect="1"/>
          </p:cNvPicPr>
          <p:nvPr/>
        </p:nvPicPr>
        <p:blipFill>
          <a:blip r:embed="rId11">
            <a:extLst>
              <a:ext uri="{28A0092B-C50C-407E-A947-70E740481C1C}">
                <a14:useLocalDpi xmlns:a14="http://schemas.microsoft.com/office/drawing/2010/main" val="0"/>
              </a:ext>
            </a:extLst>
          </a:blip>
          <a:srcRect/>
          <a:stretch/>
        </p:blipFill>
        <p:spPr>
          <a:xfrm>
            <a:off x="3182890" y="2180284"/>
            <a:ext cx="275670" cy="275670"/>
          </a:xfrm>
          <a:prstGeom prst="ellipse">
            <a:avLst/>
          </a:prstGeom>
          <a:solidFill>
            <a:schemeClr val="bg1"/>
          </a:solidFill>
        </p:spPr>
      </p:pic>
      <p:pic>
        <p:nvPicPr>
          <p:cNvPr id="8" name="Picture 7" descr="Word logo">
            <a:extLst>
              <a:ext uri="{FF2B5EF4-FFF2-40B4-BE49-F238E27FC236}">
                <a16:creationId xmlns:a16="http://schemas.microsoft.com/office/drawing/2014/main" id="{41BD06BD-DDCB-3B98-8EBC-45598BB42E4F}"/>
              </a:ext>
            </a:extLst>
          </p:cNvPr>
          <p:cNvPicPr>
            <a:picLocks noChangeAspect="1"/>
          </p:cNvPicPr>
          <p:nvPr/>
        </p:nvPicPr>
        <p:blipFill>
          <a:blip r:embed="rId12">
            <a:extLst>
              <a:ext uri="{28A0092B-C50C-407E-A947-70E740481C1C}">
                <a14:useLocalDpi xmlns:a14="http://schemas.microsoft.com/office/drawing/2010/main" val="0"/>
              </a:ext>
            </a:extLst>
          </a:blip>
          <a:srcRect/>
          <a:stretch/>
        </p:blipFill>
        <p:spPr>
          <a:xfrm>
            <a:off x="4460334" y="4870326"/>
            <a:ext cx="246576" cy="246576"/>
          </a:xfrm>
          <a:prstGeom prst="ellipse">
            <a:avLst/>
          </a:prstGeom>
          <a:solidFill>
            <a:srgbClr val="FFFFFF"/>
          </a:solidFill>
        </p:spPr>
      </p:pic>
      <p:pic>
        <p:nvPicPr>
          <p:cNvPr id="10" name="Picture 9" descr="Word logo">
            <a:extLst>
              <a:ext uri="{FF2B5EF4-FFF2-40B4-BE49-F238E27FC236}">
                <a16:creationId xmlns:a16="http://schemas.microsoft.com/office/drawing/2014/main" id="{24BF9592-163B-DCC3-E53E-447FA681F3ED}"/>
              </a:ext>
            </a:extLst>
          </p:cNvPr>
          <p:cNvPicPr>
            <a:picLocks noChangeAspect="1"/>
          </p:cNvPicPr>
          <p:nvPr/>
        </p:nvPicPr>
        <p:blipFill>
          <a:blip r:embed="rId12">
            <a:extLst>
              <a:ext uri="{28A0092B-C50C-407E-A947-70E740481C1C}">
                <a14:useLocalDpi xmlns:a14="http://schemas.microsoft.com/office/drawing/2010/main" val="0"/>
              </a:ext>
            </a:extLst>
          </a:blip>
          <a:srcRect/>
          <a:stretch/>
        </p:blipFill>
        <p:spPr>
          <a:xfrm>
            <a:off x="8946273" y="4870326"/>
            <a:ext cx="246576" cy="246576"/>
          </a:xfrm>
          <a:prstGeom prst="ellipse">
            <a:avLst/>
          </a:prstGeom>
          <a:solidFill>
            <a:srgbClr val="FFFFFF"/>
          </a:solidFill>
        </p:spPr>
      </p:pic>
      <p:pic>
        <p:nvPicPr>
          <p:cNvPr id="7" name="Picture 6" descr="PowerPoint logo">
            <a:extLst>
              <a:ext uri="{FF2B5EF4-FFF2-40B4-BE49-F238E27FC236}">
                <a16:creationId xmlns:a16="http://schemas.microsoft.com/office/drawing/2014/main" id="{07146A04-3CC4-88D8-EA68-D6BDCED0CC90}"/>
              </a:ext>
            </a:extLst>
          </p:cNvPr>
          <p:cNvPicPr>
            <a:picLocks noChangeAspect="1"/>
          </p:cNvPicPr>
          <p:nvPr/>
        </p:nvPicPr>
        <p:blipFill>
          <a:blip r:embed="rId13"/>
          <a:stretch>
            <a:fillRect/>
          </a:stretch>
        </p:blipFill>
        <p:spPr>
          <a:xfrm>
            <a:off x="6003944" y="4849624"/>
            <a:ext cx="265176" cy="265176"/>
          </a:xfrm>
          <a:prstGeom prst="rect">
            <a:avLst/>
          </a:prstGeom>
        </p:spPr>
      </p:pic>
    </p:spTree>
    <p:extLst>
      <p:ext uri="{BB962C8B-B14F-4D97-AF65-F5344CB8AC3E}">
        <p14:creationId xmlns:p14="http://schemas.microsoft.com/office/powerpoint/2010/main" val="2447475088"/>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 name="Text Placeholder 266">
            <a:extLst>
              <a:ext uri="{FF2B5EF4-FFF2-40B4-BE49-F238E27FC236}">
                <a16:creationId xmlns:a16="http://schemas.microsoft.com/office/drawing/2014/main" id="{08B2D9DE-54EF-18F7-C286-9EDD1B3368C0}"/>
              </a:ext>
            </a:extLst>
          </p:cNvPr>
          <p:cNvSpPr>
            <a:spLocks noGrp="1"/>
          </p:cNvSpPr>
          <p:nvPr>
            <p:ph type="body" sz="quarter" idx="42"/>
          </p:nvPr>
        </p:nvSpPr>
        <p:spPr>
          <a:xfrm>
            <a:off x="311388" y="1026303"/>
            <a:ext cx="2431246" cy="1131079"/>
          </a:xfrm>
        </p:spPr>
        <p:txBody>
          <a:bodyPr/>
          <a:lstStyle/>
          <a:p>
            <a:r>
              <a:rPr lang="en-US" noProof="0" dirty="0"/>
              <a:t>AI can help Finance teams reduce costs by helping analyze spending variances and then collaborating on adjustments.</a:t>
            </a:r>
          </a:p>
        </p:txBody>
      </p:sp>
      <p:sp>
        <p:nvSpPr>
          <p:cNvPr id="172" name="Text Placeholder 171">
            <a:extLst>
              <a:ext uri="{FF2B5EF4-FFF2-40B4-BE49-F238E27FC236}">
                <a16:creationId xmlns:a16="http://schemas.microsoft.com/office/drawing/2014/main" id="{BE3C69CB-9F5D-137A-DBDB-C1B8635E1EAA}"/>
              </a:ext>
            </a:extLst>
          </p:cNvPr>
          <p:cNvSpPr>
            <a:spLocks noGrp="1"/>
          </p:cNvSpPr>
          <p:nvPr>
            <p:ph type="body" sz="quarter" idx="43"/>
          </p:nvPr>
        </p:nvSpPr>
        <p:spPr>
          <a:xfrm>
            <a:off x="10430351" y="521099"/>
            <a:ext cx="1456966" cy="175614"/>
          </a:xfrm>
        </p:spPr>
        <p:txBody>
          <a:bodyPr/>
          <a:lstStyle/>
          <a:p>
            <a:r>
              <a:rPr lang="en-US" noProof="0" dirty="0"/>
              <a:t>Buy</a:t>
            </a:r>
          </a:p>
        </p:txBody>
      </p:sp>
      <p:sp>
        <p:nvSpPr>
          <p:cNvPr id="173" name="Text Placeholder 172">
            <a:extLst>
              <a:ext uri="{FF2B5EF4-FFF2-40B4-BE49-F238E27FC236}">
                <a16:creationId xmlns:a16="http://schemas.microsoft.com/office/drawing/2014/main" id="{BE6208FD-310F-A1FA-EF83-180143CB9967}"/>
              </a:ext>
            </a:extLst>
          </p:cNvPr>
          <p:cNvSpPr>
            <a:spLocks noGrp="1"/>
          </p:cNvSpPr>
          <p:nvPr>
            <p:ph type="body" sz="quarter" idx="44"/>
          </p:nvPr>
        </p:nvSpPr>
        <p:spPr>
          <a:xfrm>
            <a:off x="7149557" y="521100"/>
            <a:ext cx="2969488" cy="169277"/>
          </a:xfrm>
        </p:spPr>
        <p:txBody>
          <a:bodyPr/>
          <a:lstStyle/>
          <a:p>
            <a:r>
              <a:rPr lang="en-US" noProof="0" dirty="0"/>
              <a:t>Microsoft 365 Copilot</a:t>
            </a:r>
          </a:p>
        </p:txBody>
      </p:sp>
      <p:sp>
        <p:nvSpPr>
          <p:cNvPr id="196" name="Text Placeholder 195">
            <a:extLst>
              <a:ext uri="{FF2B5EF4-FFF2-40B4-BE49-F238E27FC236}">
                <a16:creationId xmlns:a16="http://schemas.microsoft.com/office/drawing/2014/main" id="{38D80106-7EF5-D8FB-490B-D1F272CF9A17}"/>
              </a:ext>
            </a:extLst>
          </p:cNvPr>
          <p:cNvSpPr>
            <a:spLocks noGrp="1"/>
          </p:cNvSpPr>
          <p:nvPr>
            <p:ph type="body" sz="quarter" idx="46"/>
          </p:nvPr>
        </p:nvSpPr>
        <p:spPr>
          <a:xfrm>
            <a:off x="3182889" y="2725494"/>
            <a:ext cx="2572262" cy="712876"/>
          </a:xfrm>
        </p:spPr>
        <p:txBody>
          <a:bodyPr/>
          <a:lstStyle/>
          <a:p>
            <a:r>
              <a:rPr lang="en-US" noProof="0" dirty="0"/>
              <a:t>Benefit: </a:t>
            </a:r>
            <a:r>
              <a:rPr lang="en-US" noProof="0" dirty="0">
                <a:latin typeface="+mj-lt"/>
              </a:rPr>
              <a:t>Streamline contract review</a:t>
            </a:r>
            <a:r>
              <a:rPr lang="en-US" noProof="0" dirty="0"/>
              <a:t> processes, Reduce manual effort, and ensure compliance.</a:t>
            </a:r>
          </a:p>
        </p:txBody>
      </p:sp>
      <p:sp>
        <p:nvSpPr>
          <p:cNvPr id="197" name="Text Placeholder 196">
            <a:extLst>
              <a:ext uri="{FF2B5EF4-FFF2-40B4-BE49-F238E27FC236}">
                <a16:creationId xmlns:a16="http://schemas.microsoft.com/office/drawing/2014/main" id="{3C98BC42-269B-BB4C-55C1-05DE1232C1E4}"/>
              </a:ext>
            </a:extLst>
          </p:cNvPr>
          <p:cNvSpPr>
            <a:spLocks noGrp="1"/>
          </p:cNvSpPr>
          <p:nvPr>
            <p:ph type="body" sz="quarter" idx="47"/>
          </p:nvPr>
        </p:nvSpPr>
        <p:spPr>
          <a:xfrm>
            <a:off x="3182890" y="1112478"/>
            <a:ext cx="2572262" cy="153888"/>
          </a:xfrm>
        </p:spPr>
        <p:txBody>
          <a:bodyPr/>
          <a:lstStyle/>
          <a:p>
            <a:r>
              <a:rPr lang="en-US" noProof="0" dirty="0"/>
              <a:t>Collaborative document review</a:t>
            </a:r>
          </a:p>
        </p:txBody>
      </p:sp>
      <p:sp>
        <p:nvSpPr>
          <p:cNvPr id="198" name="Text Placeholder 197">
            <a:extLst>
              <a:ext uri="{FF2B5EF4-FFF2-40B4-BE49-F238E27FC236}">
                <a16:creationId xmlns:a16="http://schemas.microsoft.com/office/drawing/2014/main" id="{465D3CFA-1D62-9193-757B-9A8318493C6B}"/>
              </a:ext>
            </a:extLst>
          </p:cNvPr>
          <p:cNvSpPr>
            <a:spLocks noGrp="1"/>
          </p:cNvSpPr>
          <p:nvPr>
            <p:ph type="body" sz="quarter" idx="48"/>
          </p:nvPr>
        </p:nvSpPr>
        <p:spPr>
          <a:xfrm>
            <a:off x="3182890" y="1438715"/>
            <a:ext cx="2572262" cy="626701"/>
          </a:xfrm>
        </p:spPr>
        <p:txBody>
          <a:bodyPr/>
          <a:lstStyle/>
          <a:p>
            <a:r>
              <a:rPr lang="en-US" noProof="0" dirty="0"/>
              <a:t>Utilize Copilot for Finance in Excel to check for spending variances versus product deliverables.</a:t>
            </a:r>
          </a:p>
        </p:txBody>
      </p:sp>
      <p:sp>
        <p:nvSpPr>
          <p:cNvPr id="199" name="Text Placeholder 198">
            <a:extLst>
              <a:ext uri="{FF2B5EF4-FFF2-40B4-BE49-F238E27FC236}">
                <a16:creationId xmlns:a16="http://schemas.microsoft.com/office/drawing/2014/main" id="{E8512F50-3BFF-84EB-3517-0B6763F9F5DA}"/>
              </a:ext>
            </a:extLst>
          </p:cNvPr>
          <p:cNvSpPr>
            <a:spLocks noGrp="1"/>
          </p:cNvSpPr>
          <p:nvPr>
            <p:ph type="body" sz="quarter" idx="49"/>
          </p:nvPr>
        </p:nvSpPr>
        <p:spPr>
          <a:xfrm>
            <a:off x="6066682" y="1112478"/>
            <a:ext cx="2572262" cy="153888"/>
          </a:xfrm>
        </p:spPr>
        <p:txBody>
          <a:bodyPr/>
          <a:lstStyle/>
          <a:p>
            <a:r>
              <a:rPr lang="en-US" noProof="0" dirty="0"/>
              <a:t>Prepare for a meeting</a:t>
            </a:r>
          </a:p>
        </p:txBody>
      </p:sp>
      <p:sp>
        <p:nvSpPr>
          <p:cNvPr id="200" name="Text Placeholder 199">
            <a:extLst>
              <a:ext uri="{FF2B5EF4-FFF2-40B4-BE49-F238E27FC236}">
                <a16:creationId xmlns:a16="http://schemas.microsoft.com/office/drawing/2014/main" id="{2177F1C7-7835-2B53-0790-19E75F56E42C}"/>
              </a:ext>
            </a:extLst>
          </p:cNvPr>
          <p:cNvSpPr>
            <a:spLocks noGrp="1"/>
          </p:cNvSpPr>
          <p:nvPr>
            <p:ph type="body" sz="quarter" idx="50"/>
          </p:nvPr>
        </p:nvSpPr>
        <p:spPr>
          <a:xfrm>
            <a:off x="6066682" y="1438715"/>
            <a:ext cx="2572262" cy="626701"/>
          </a:xfrm>
        </p:spPr>
        <p:txBody>
          <a:bodyPr/>
          <a:lstStyle/>
          <a:p>
            <a:r>
              <a:rPr lang="en-US" noProof="0" dirty="0"/>
              <a:t>In Outlook, use Copilot for Finance to display information about prior contracts and supplier payments to be confident you are negotiating with the latest info.</a:t>
            </a:r>
          </a:p>
        </p:txBody>
      </p:sp>
      <p:sp>
        <p:nvSpPr>
          <p:cNvPr id="204" name="Text Placeholder 203">
            <a:extLst>
              <a:ext uri="{FF2B5EF4-FFF2-40B4-BE49-F238E27FC236}">
                <a16:creationId xmlns:a16="http://schemas.microsoft.com/office/drawing/2014/main" id="{2A3599EE-97D4-A875-F97F-A41CDC3A36EE}"/>
              </a:ext>
            </a:extLst>
          </p:cNvPr>
          <p:cNvSpPr>
            <a:spLocks noGrp="1"/>
          </p:cNvSpPr>
          <p:nvPr>
            <p:ph type="body" sz="quarter" idx="67"/>
          </p:nvPr>
        </p:nvSpPr>
        <p:spPr>
          <a:xfrm>
            <a:off x="8950475" y="2725494"/>
            <a:ext cx="2572262" cy="712876"/>
          </a:xfrm>
        </p:spPr>
        <p:txBody>
          <a:bodyPr/>
          <a:lstStyle/>
          <a:p>
            <a:r>
              <a:rPr lang="en-US" noProof="0" dirty="0"/>
              <a:t>Benefit: </a:t>
            </a:r>
            <a:r>
              <a:rPr lang="en-US" noProof="0" dirty="0">
                <a:latin typeface="+mj-lt"/>
              </a:rPr>
              <a:t>Improve meeting efficiency</a:t>
            </a:r>
            <a:r>
              <a:rPr lang="en-US" noProof="0" dirty="0"/>
              <a:t>, capture essential points, and facilitate follow-up actions. </a:t>
            </a:r>
          </a:p>
        </p:txBody>
      </p:sp>
      <p:sp>
        <p:nvSpPr>
          <p:cNvPr id="202" name="Text Placeholder 201">
            <a:extLst>
              <a:ext uri="{FF2B5EF4-FFF2-40B4-BE49-F238E27FC236}">
                <a16:creationId xmlns:a16="http://schemas.microsoft.com/office/drawing/2014/main" id="{1D014796-191D-CCFE-15C7-5D5C2B24D0C0}"/>
              </a:ext>
            </a:extLst>
          </p:cNvPr>
          <p:cNvSpPr>
            <a:spLocks noGrp="1"/>
          </p:cNvSpPr>
          <p:nvPr>
            <p:ph type="body" sz="quarter" idx="52"/>
          </p:nvPr>
        </p:nvSpPr>
        <p:spPr>
          <a:xfrm>
            <a:off x="8950475" y="1112478"/>
            <a:ext cx="2572262" cy="153888"/>
          </a:xfrm>
        </p:spPr>
        <p:txBody>
          <a:bodyPr/>
          <a:lstStyle/>
          <a:p>
            <a:r>
              <a:rPr lang="en-US" noProof="0" dirty="0"/>
              <a:t>Efficient meeting summaries</a:t>
            </a:r>
          </a:p>
        </p:txBody>
      </p:sp>
      <p:sp>
        <p:nvSpPr>
          <p:cNvPr id="203" name="Text Placeholder 202">
            <a:extLst>
              <a:ext uri="{FF2B5EF4-FFF2-40B4-BE49-F238E27FC236}">
                <a16:creationId xmlns:a16="http://schemas.microsoft.com/office/drawing/2014/main" id="{B53C0BC5-3B1E-3610-3E96-1C04C44ED401}"/>
              </a:ext>
            </a:extLst>
          </p:cNvPr>
          <p:cNvSpPr>
            <a:spLocks noGrp="1"/>
          </p:cNvSpPr>
          <p:nvPr>
            <p:ph type="body" sz="quarter" idx="53"/>
          </p:nvPr>
        </p:nvSpPr>
        <p:spPr>
          <a:xfrm>
            <a:off x="8950475" y="1438715"/>
            <a:ext cx="2572262" cy="626701"/>
          </a:xfrm>
        </p:spPr>
        <p:txBody>
          <a:bodyPr/>
          <a:lstStyle/>
          <a:p>
            <a:r>
              <a:rPr lang="en-US" noProof="0" dirty="0"/>
              <a:t>In the Supplier meetings, use Copilot in Teams to summarize agreements on deliverables and capabilities. Next, assign a rating based on established criteria.</a:t>
            </a:r>
          </a:p>
        </p:txBody>
      </p:sp>
      <p:sp>
        <p:nvSpPr>
          <p:cNvPr id="201" name="Text Placeholder 200">
            <a:extLst>
              <a:ext uri="{FF2B5EF4-FFF2-40B4-BE49-F238E27FC236}">
                <a16:creationId xmlns:a16="http://schemas.microsoft.com/office/drawing/2014/main" id="{D6DDC9C3-8CBC-0345-7EBA-877663F30C20}"/>
              </a:ext>
            </a:extLst>
          </p:cNvPr>
          <p:cNvSpPr>
            <a:spLocks noGrp="1"/>
          </p:cNvSpPr>
          <p:nvPr>
            <p:ph type="body" sz="quarter" idx="66"/>
          </p:nvPr>
        </p:nvSpPr>
        <p:spPr>
          <a:xfrm>
            <a:off x="6066682" y="2725494"/>
            <a:ext cx="2572262" cy="712876"/>
          </a:xfrm>
        </p:spPr>
        <p:txBody>
          <a:bodyPr/>
          <a:lstStyle/>
          <a:p>
            <a:r>
              <a:rPr lang="en-US" noProof="0" dirty="0"/>
              <a:t>Benefit: </a:t>
            </a:r>
            <a:r>
              <a:rPr lang="en-US" noProof="0" dirty="0">
                <a:latin typeface="+mj-lt"/>
              </a:rPr>
              <a:t>Simplify</a:t>
            </a:r>
            <a:r>
              <a:rPr lang="en-US" noProof="0" dirty="0"/>
              <a:t> the process of finding customer information to prepare for a meeting.</a:t>
            </a:r>
          </a:p>
        </p:txBody>
      </p:sp>
      <p:sp>
        <p:nvSpPr>
          <p:cNvPr id="205" name="Text Placeholder 204">
            <a:extLst>
              <a:ext uri="{FF2B5EF4-FFF2-40B4-BE49-F238E27FC236}">
                <a16:creationId xmlns:a16="http://schemas.microsoft.com/office/drawing/2014/main" id="{F420E858-39C7-B70C-1A4F-00F316C14B54}"/>
              </a:ext>
            </a:extLst>
          </p:cNvPr>
          <p:cNvSpPr>
            <a:spLocks noGrp="1"/>
          </p:cNvSpPr>
          <p:nvPr>
            <p:ph type="body" sz="quarter" idx="58"/>
          </p:nvPr>
        </p:nvSpPr>
        <p:spPr>
          <a:xfrm>
            <a:off x="4036409" y="3725103"/>
            <a:ext cx="3161734" cy="153888"/>
          </a:xfrm>
        </p:spPr>
        <p:txBody>
          <a:bodyPr/>
          <a:lstStyle/>
          <a:p>
            <a:r>
              <a:rPr lang="en-US" noProof="0" dirty="0"/>
              <a:t>Customized process documentation</a:t>
            </a:r>
          </a:p>
        </p:txBody>
      </p:sp>
      <p:sp>
        <p:nvSpPr>
          <p:cNvPr id="206" name="Text Placeholder 205">
            <a:extLst>
              <a:ext uri="{FF2B5EF4-FFF2-40B4-BE49-F238E27FC236}">
                <a16:creationId xmlns:a16="http://schemas.microsoft.com/office/drawing/2014/main" id="{AD44F534-F28F-9F6A-39F4-7FE9E09ECC68}"/>
              </a:ext>
            </a:extLst>
          </p:cNvPr>
          <p:cNvSpPr>
            <a:spLocks noGrp="1"/>
          </p:cNvSpPr>
          <p:nvPr>
            <p:ph type="body" sz="quarter" idx="59"/>
          </p:nvPr>
        </p:nvSpPr>
        <p:spPr>
          <a:xfrm>
            <a:off x="4036409" y="4050957"/>
            <a:ext cx="3161734" cy="626701"/>
          </a:xfrm>
        </p:spPr>
        <p:txBody>
          <a:bodyPr/>
          <a:lstStyle/>
          <a:p>
            <a:r>
              <a:rPr lang="en-US" dirty="0"/>
              <a:t>Use Copilot in Word to generate new supplier contract terms and recommendations for updated preferred vendor lists.</a:t>
            </a:r>
            <a:endParaRPr lang="en-US" noProof="0" dirty="0"/>
          </a:p>
        </p:txBody>
      </p:sp>
      <p:sp>
        <p:nvSpPr>
          <p:cNvPr id="210" name="Text Placeholder 209">
            <a:extLst>
              <a:ext uri="{FF2B5EF4-FFF2-40B4-BE49-F238E27FC236}">
                <a16:creationId xmlns:a16="http://schemas.microsoft.com/office/drawing/2014/main" id="{ACA649F8-61B6-2784-0362-DE8AEDD16EBC}"/>
              </a:ext>
            </a:extLst>
          </p:cNvPr>
          <p:cNvSpPr>
            <a:spLocks noGrp="1"/>
          </p:cNvSpPr>
          <p:nvPr>
            <p:ph type="body" sz="quarter" idx="69"/>
          </p:nvPr>
        </p:nvSpPr>
        <p:spPr>
          <a:xfrm>
            <a:off x="7507483" y="5338502"/>
            <a:ext cx="3161734" cy="712876"/>
          </a:xfrm>
        </p:spPr>
        <p:txBody>
          <a:bodyPr/>
          <a:lstStyle/>
          <a:p>
            <a:r>
              <a:rPr lang="en-US" noProof="0" dirty="0"/>
              <a:t>Benefit: </a:t>
            </a:r>
            <a:r>
              <a:rPr lang="en-US" noProof="0" dirty="0">
                <a:latin typeface="+mj-lt"/>
              </a:rPr>
              <a:t>Boost creativity</a:t>
            </a:r>
            <a:r>
              <a:rPr lang="en-US" noProof="0" dirty="0"/>
              <a:t>, foster collaboration, and generate innovative solutions.</a:t>
            </a:r>
          </a:p>
        </p:txBody>
      </p:sp>
      <p:sp>
        <p:nvSpPr>
          <p:cNvPr id="208" name="Text Placeholder 207">
            <a:extLst>
              <a:ext uri="{FF2B5EF4-FFF2-40B4-BE49-F238E27FC236}">
                <a16:creationId xmlns:a16="http://schemas.microsoft.com/office/drawing/2014/main" id="{D5FCC0B9-983A-1D33-7DC6-C7E261108EC5}"/>
              </a:ext>
            </a:extLst>
          </p:cNvPr>
          <p:cNvSpPr>
            <a:spLocks noGrp="1"/>
          </p:cNvSpPr>
          <p:nvPr>
            <p:ph type="body" sz="quarter" idx="61"/>
          </p:nvPr>
        </p:nvSpPr>
        <p:spPr>
          <a:xfrm>
            <a:off x="7507483" y="3725103"/>
            <a:ext cx="3161734" cy="153888"/>
          </a:xfrm>
        </p:spPr>
        <p:txBody>
          <a:bodyPr/>
          <a:lstStyle/>
          <a:p>
            <a:r>
              <a:rPr lang="en-US" noProof="0" dirty="0"/>
              <a:t>Interactive brainstorming</a:t>
            </a:r>
          </a:p>
        </p:txBody>
      </p:sp>
      <p:sp>
        <p:nvSpPr>
          <p:cNvPr id="209" name="Text Placeholder 208">
            <a:extLst>
              <a:ext uri="{FF2B5EF4-FFF2-40B4-BE49-F238E27FC236}">
                <a16:creationId xmlns:a16="http://schemas.microsoft.com/office/drawing/2014/main" id="{A98B658A-8EDF-B8E5-DE63-06A3B8C6D33F}"/>
              </a:ext>
            </a:extLst>
          </p:cNvPr>
          <p:cNvSpPr>
            <a:spLocks noGrp="1"/>
          </p:cNvSpPr>
          <p:nvPr>
            <p:ph type="body" sz="quarter" idx="62"/>
          </p:nvPr>
        </p:nvSpPr>
        <p:spPr>
          <a:xfrm>
            <a:off x="7507483" y="4050957"/>
            <a:ext cx="3161734" cy="626701"/>
          </a:xfrm>
        </p:spPr>
        <p:txBody>
          <a:bodyPr/>
          <a:lstStyle/>
          <a:p>
            <a:r>
              <a:rPr lang="en-US" noProof="0" dirty="0"/>
              <a:t>Have Copilot search data from contracts, meetings and emails to create a table of various suppliers organized by service delivered with a detailed assessment.</a:t>
            </a:r>
          </a:p>
        </p:txBody>
      </p:sp>
      <p:sp>
        <p:nvSpPr>
          <p:cNvPr id="207" name="Text Placeholder 206">
            <a:extLst>
              <a:ext uri="{FF2B5EF4-FFF2-40B4-BE49-F238E27FC236}">
                <a16:creationId xmlns:a16="http://schemas.microsoft.com/office/drawing/2014/main" id="{332D8D5E-45E7-C9FA-3A0F-234290DE495C}"/>
              </a:ext>
            </a:extLst>
          </p:cNvPr>
          <p:cNvSpPr>
            <a:spLocks noGrp="1"/>
          </p:cNvSpPr>
          <p:nvPr>
            <p:ph type="body" sz="quarter" idx="68"/>
          </p:nvPr>
        </p:nvSpPr>
        <p:spPr>
          <a:xfrm>
            <a:off x="4036409" y="5338502"/>
            <a:ext cx="3161734" cy="712876"/>
          </a:xfrm>
        </p:spPr>
        <p:txBody>
          <a:bodyPr/>
          <a:lstStyle/>
          <a:p>
            <a:r>
              <a:rPr lang="en-US" noProof="0" dirty="0"/>
              <a:t>Benefit: </a:t>
            </a:r>
            <a:r>
              <a:rPr lang="en-US" noProof="0" dirty="0">
                <a:latin typeface="+mj-lt"/>
              </a:rPr>
              <a:t>Standardize procedures</a:t>
            </a:r>
            <a:r>
              <a:rPr lang="en-US" noProof="0" dirty="0"/>
              <a:t>, reduce errors, and empower team members with comprehensive reference material.</a:t>
            </a:r>
          </a:p>
        </p:txBody>
      </p:sp>
      <p:sp>
        <p:nvSpPr>
          <p:cNvPr id="211" name="Text Placeholder 210">
            <a:extLst>
              <a:ext uri="{FF2B5EF4-FFF2-40B4-BE49-F238E27FC236}">
                <a16:creationId xmlns:a16="http://schemas.microsoft.com/office/drawing/2014/main" id="{14E7206E-9031-71BA-6B9F-EF3D4DC921FD}"/>
              </a:ext>
            </a:extLst>
          </p:cNvPr>
          <p:cNvSpPr>
            <a:spLocks noGrp="1"/>
          </p:cNvSpPr>
          <p:nvPr>
            <p:ph type="body" sz="quarter" idx="64"/>
          </p:nvPr>
        </p:nvSpPr>
        <p:spPr>
          <a:xfrm>
            <a:off x="320721" y="4709762"/>
            <a:ext cx="1131651" cy="219456"/>
          </a:xfrm>
        </p:spPr>
        <p:txBody>
          <a:bodyPr/>
          <a:lstStyle/>
          <a:p>
            <a:r>
              <a:rPr lang="en-US" noProof="0" dirty="0"/>
              <a:t>Value benefit</a:t>
            </a:r>
          </a:p>
        </p:txBody>
      </p:sp>
      <p:sp>
        <p:nvSpPr>
          <p:cNvPr id="212" name="Text Placeholder 211">
            <a:extLst>
              <a:ext uri="{FF2B5EF4-FFF2-40B4-BE49-F238E27FC236}">
                <a16:creationId xmlns:a16="http://schemas.microsoft.com/office/drawing/2014/main" id="{27F47DB4-7448-88D7-A0E6-4501E3B055F5}"/>
              </a:ext>
            </a:extLst>
          </p:cNvPr>
          <p:cNvSpPr>
            <a:spLocks noGrp="1"/>
          </p:cNvSpPr>
          <p:nvPr>
            <p:ph type="body" sz="quarter" idx="65"/>
          </p:nvPr>
        </p:nvSpPr>
        <p:spPr>
          <a:xfrm>
            <a:off x="320721" y="3467940"/>
            <a:ext cx="1131650" cy="219456"/>
          </a:xfrm>
        </p:spPr>
        <p:txBody>
          <a:bodyPr/>
          <a:lstStyle/>
          <a:p>
            <a:r>
              <a:rPr lang="en-US" noProof="0" dirty="0"/>
              <a:t>KPIs impacted</a:t>
            </a:r>
          </a:p>
        </p:txBody>
      </p:sp>
      <p:sp>
        <p:nvSpPr>
          <p:cNvPr id="126" name="Text Placeholder 125">
            <a:extLst>
              <a:ext uri="{FF2B5EF4-FFF2-40B4-BE49-F238E27FC236}">
                <a16:creationId xmlns:a16="http://schemas.microsoft.com/office/drawing/2014/main" id="{912760EC-8CF7-26ED-4B06-9E25CBA75D48}"/>
              </a:ext>
            </a:extLst>
          </p:cNvPr>
          <p:cNvSpPr>
            <a:spLocks noGrp="1"/>
          </p:cNvSpPr>
          <p:nvPr>
            <p:ph type="body" sz="quarter" idx="33"/>
          </p:nvPr>
        </p:nvSpPr>
        <p:spPr>
          <a:xfrm>
            <a:off x="304796" y="413987"/>
            <a:ext cx="1941119" cy="307777"/>
          </a:xfrm>
        </p:spPr>
        <p:txBody>
          <a:bodyPr/>
          <a:lstStyle/>
          <a:p>
            <a:r>
              <a:rPr lang="en-US" noProof="0" dirty="0"/>
              <a:t>Finance</a:t>
            </a:r>
          </a:p>
        </p:txBody>
      </p:sp>
      <p:sp>
        <p:nvSpPr>
          <p:cNvPr id="125" name="Title 124">
            <a:extLst>
              <a:ext uri="{FF2B5EF4-FFF2-40B4-BE49-F238E27FC236}">
                <a16:creationId xmlns:a16="http://schemas.microsoft.com/office/drawing/2014/main" id="{499547DD-5965-DEA0-A800-23A7D864C9B0}"/>
              </a:ext>
            </a:extLst>
          </p:cNvPr>
          <p:cNvSpPr>
            <a:spLocks noGrp="1"/>
          </p:cNvSpPr>
          <p:nvPr>
            <p:ph type="title"/>
          </p:nvPr>
        </p:nvSpPr>
        <p:spPr>
          <a:xfrm>
            <a:off x="2492556" y="429376"/>
            <a:ext cx="4144817" cy="276999"/>
          </a:xfrm>
        </p:spPr>
        <p:txBody>
          <a:bodyPr/>
          <a:lstStyle/>
          <a:p>
            <a:r>
              <a:rPr lang="en-US" noProof="0" dirty="0"/>
              <a:t>Procurement insight acceleration</a:t>
            </a:r>
          </a:p>
        </p:txBody>
      </p:sp>
      <p:grpSp>
        <p:nvGrpSpPr>
          <p:cNvPr id="215" name="Group 214">
            <a:extLst>
              <a:ext uri="{FF2B5EF4-FFF2-40B4-BE49-F238E27FC236}">
                <a16:creationId xmlns:a16="http://schemas.microsoft.com/office/drawing/2014/main" id="{EA78BCC8-87C8-920D-8AF5-94CDCF02F787}"/>
              </a:ext>
            </a:extLst>
          </p:cNvPr>
          <p:cNvGrpSpPr>
            <a:grpSpLocks/>
          </p:cNvGrpSpPr>
          <p:nvPr/>
        </p:nvGrpSpPr>
        <p:grpSpPr>
          <a:xfrm>
            <a:off x="320719" y="5020658"/>
            <a:ext cx="1771605" cy="216000"/>
            <a:chOff x="320721" y="4517211"/>
            <a:chExt cx="1771605" cy="216000"/>
          </a:xfrm>
        </p:grpSpPr>
        <p:sp>
          <p:nvSpPr>
            <p:cNvPr id="216" name="Rectangle: Rounded Corners 6">
              <a:extLst>
                <a:ext uri="{FF2B5EF4-FFF2-40B4-BE49-F238E27FC236}">
                  <a16:creationId xmlns:a16="http://schemas.microsoft.com/office/drawing/2014/main" id="{C42FDD03-C40E-6155-1986-302650216E7A}"/>
                </a:ext>
                <a:ext uri="{C183D7F6-B498-43B3-948B-1728B52AA6E4}">
                  <adec:decorative xmlns:adec="http://schemas.microsoft.com/office/drawing/2017/decorative" val="1"/>
                </a:ext>
              </a:extLst>
            </p:cNvPr>
            <p:cNvSpPr>
              <a:spLocks/>
            </p:cNvSpPr>
            <p:nvPr/>
          </p:nvSpPr>
          <p:spPr bwMode="auto">
            <a:xfrm>
              <a:off x="320721" y="4517211"/>
              <a:ext cx="1771605" cy="216000"/>
            </a:xfrm>
            <a:prstGeom prst="roundRect">
              <a:avLst>
                <a:gd name="adj" fmla="val 50000"/>
              </a:avLst>
            </a:prstGeom>
            <a:solidFill>
              <a:srgbClr val="FFFFFF"/>
            </a:solidFill>
            <a:ln w="12700">
              <a:solidFill>
                <a:srgbClr val="C03BC4"/>
              </a:solidFill>
              <a:headEnd type="none" w="med" len="med"/>
              <a:tailEnd type="none" w="med" len="med"/>
            </a:ln>
            <a:effectLst>
              <a:outerShdw blurRad="63500" dist="63500" dir="2700000"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16000" tIns="36576" rIns="36000" bIns="36000" numCol="1" spcCol="0" rtlCol="0" fromWordArt="0" anchor="ctr" anchorCtr="0" forceAA="0" compatLnSpc="1">
              <a:prstTxWarp prst="textNoShape">
                <a:avLst/>
              </a:prstTxWarp>
              <a:noAutofit/>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C03BC4"/>
                  </a:solidFill>
                  <a:effectLst/>
                  <a:uLnTx/>
                  <a:uFillTx/>
                  <a:latin typeface="Segoe UI Semibold"/>
                  <a:ea typeface="+mn-ea"/>
                  <a:cs typeface="Segoe UI Semibold" panose="020B0702040204020203" pitchFamily="34" charset="0"/>
                </a:rPr>
                <a:t>Cost savings</a:t>
              </a:r>
            </a:p>
          </p:txBody>
        </p:sp>
        <p:pic>
          <p:nvPicPr>
            <p:cNvPr id="217" name="Graphic 216">
              <a:extLst>
                <a:ext uri="{FF2B5EF4-FFF2-40B4-BE49-F238E27FC236}">
                  <a16:creationId xmlns:a16="http://schemas.microsoft.com/office/drawing/2014/main" id="{4BD60F2B-48E9-5719-BC62-D423AA87313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67507" y="4554345"/>
              <a:ext cx="144000" cy="141732"/>
            </a:xfrm>
            <a:prstGeom prst="rect">
              <a:avLst/>
            </a:prstGeom>
          </p:spPr>
        </p:pic>
      </p:grpSp>
      <p:grpSp>
        <p:nvGrpSpPr>
          <p:cNvPr id="221" name="Group 220">
            <a:extLst>
              <a:ext uri="{FF2B5EF4-FFF2-40B4-BE49-F238E27FC236}">
                <a16:creationId xmlns:a16="http://schemas.microsoft.com/office/drawing/2014/main" id="{A9CDECD4-DA80-260D-158D-79F5FAED490A}"/>
              </a:ext>
            </a:extLst>
          </p:cNvPr>
          <p:cNvGrpSpPr/>
          <p:nvPr/>
        </p:nvGrpSpPr>
        <p:grpSpPr>
          <a:xfrm>
            <a:off x="320719" y="3778836"/>
            <a:ext cx="1771605" cy="216000"/>
            <a:chOff x="320719" y="4224856"/>
            <a:chExt cx="1771605" cy="219456"/>
          </a:xfrm>
        </p:grpSpPr>
        <p:sp>
          <p:nvSpPr>
            <p:cNvPr id="222" name="Rectangle: Rounded Corners 6">
              <a:extLst>
                <a:ext uri="{FF2B5EF4-FFF2-40B4-BE49-F238E27FC236}">
                  <a16:creationId xmlns:a16="http://schemas.microsoft.com/office/drawing/2014/main" id="{2FC53B6F-0D23-9F1B-7E89-6848931BF335}"/>
                </a:ext>
                <a:ext uri="{C183D7F6-B498-43B3-948B-1728B52AA6E4}">
                  <adec:decorative xmlns:adec="http://schemas.microsoft.com/office/drawing/2017/decorative" val="1"/>
                </a:ext>
              </a:extLst>
            </p:cNvPr>
            <p:cNvSpPr/>
            <p:nvPr/>
          </p:nvSpPr>
          <p:spPr bwMode="auto">
            <a:xfrm>
              <a:off x="320719" y="4224856"/>
              <a:ext cx="1771605" cy="219456"/>
            </a:xfrm>
            <a:prstGeom prst="roundRect">
              <a:avLst>
                <a:gd name="adj" fmla="val 50000"/>
              </a:avLst>
            </a:prstGeom>
            <a:solidFill>
              <a:srgbClr val="FFFFFF"/>
            </a:solidFill>
            <a:ln w="12700">
              <a:solidFill>
                <a:srgbClr val="0078D4"/>
              </a:solidFill>
              <a:headEnd type="none" w="med" len="med"/>
              <a:tailEnd type="none" w="med" len="med"/>
            </a:ln>
            <a:effectLst>
              <a:outerShdw blurRad="63500" dist="63500" dir="2700000"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16000" tIns="36576" rIns="36000" bIns="36000" numCol="1" spcCol="0" rtlCol="0" fromWordArt="0" anchor="ctr" anchorCtr="0" forceAA="0" compatLnSpc="1">
              <a:prstTxWarp prst="textNoShape">
                <a:avLst/>
              </a:prstTxWarp>
              <a:noAutofit/>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78D4"/>
                  </a:solidFill>
                  <a:effectLst/>
                  <a:uLnTx/>
                  <a:uFillTx/>
                  <a:latin typeface="Segoe UI Semibold" panose="020B0702040204020203" pitchFamily="34" charset="0"/>
                  <a:ea typeface="+mn-ea"/>
                  <a:cs typeface="Segoe UI Semibold" panose="020B0702040204020203" pitchFamily="34" charset="0"/>
                </a:rPr>
                <a:t>Supply chain costs</a:t>
              </a:r>
            </a:p>
          </p:txBody>
        </p:sp>
        <p:pic>
          <p:nvPicPr>
            <p:cNvPr id="223" name="Graphic 222">
              <a:extLst>
                <a:ext uri="{FF2B5EF4-FFF2-40B4-BE49-F238E27FC236}">
                  <a16:creationId xmlns:a16="http://schemas.microsoft.com/office/drawing/2014/main" id="{4DC9ED21-430F-B23B-DF32-19DC18528D85}"/>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67506" y="4262584"/>
              <a:ext cx="144000" cy="144000"/>
            </a:xfrm>
            <a:prstGeom prst="rect">
              <a:avLst/>
            </a:prstGeom>
          </p:spPr>
        </p:pic>
      </p:grpSp>
      <p:pic>
        <p:nvPicPr>
          <p:cNvPr id="288" name="Picture 50">
            <a:hlinkClick r:id="rId4"/>
            <a:extLst>
              <a:ext uri="{FF2B5EF4-FFF2-40B4-BE49-F238E27FC236}">
                <a16:creationId xmlns:a16="http://schemas.microsoft.com/office/drawing/2014/main" id="{653E23A6-537A-CBAE-463C-26DED76A432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07288" y="4840802"/>
            <a:ext cx="242374" cy="242374"/>
          </a:xfrm>
          <a:prstGeom prst="rect">
            <a:avLst/>
          </a:prstGeom>
          <a:noFill/>
          <a:extLst>
            <a:ext uri="{909E8E84-426E-40DD-AFC4-6F175D3DCCD1}">
              <a14:hiddenFill xmlns:a14="http://schemas.microsoft.com/office/drawing/2010/main">
                <a:solidFill>
                  <a:srgbClr val="FFFFFF"/>
                </a:solidFill>
              </a14:hiddenFill>
            </a:ext>
          </a:extLst>
        </p:spPr>
      </p:pic>
      <p:sp>
        <p:nvSpPr>
          <p:cNvPr id="287" name="TextBox 286">
            <a:extLst>
              <a:ext uri="{FF2B5EF4-FFF2-40B4-BE49-F238E27FC236}">
                <a16:creationId xmlns:a16="http://schemas.microsoft.com/office/drawing/2014/main" id="{A456A79E-BFBE-812B-E313-C6DD790152F2}"/>
              </a:ext>
              <a:ext uri="{C183D7F6-B498-43B3-948B-1728B52AA6E4}">
                <adec:decorative xmlns:adec="http://schemas.microsoft.com/office/drawing/2017/decorative" val="0"/>
              </a:ext>
            </a:extLst>
          </p:cNvPr>
          <p:cNvSpPr txBox="1">
            <a:spLocks/>
          </p:cNvSpPr>
          <p:nvPr/>
        </p:nvSpPr>
        <p:spPr>
          <a:xfrm>
            <a:off x="7887016" y="4886070"/>
            <a:ext cx="1830524" cy="153888"/>
          </a:xfrm>
          <a:prstGeom prst="rect">
            <a:avLst/>
          </a:prstGeom>
          <a:noFill/>
        </p:spPr>
        <p:txBody>
          <a:bodyPr wrap="non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Semibold"/>
                <a:ea typeface="+mn-ea"/>
                <a:cs typeface="+mn-cs"/>
              </a:rPr>
              <a:t>Copilot Chat</a:t>
            </a:r>
            <a:r>
              <a:rPr kumimoji="0" lang="en-US" sz="1000" b="0" i="0" u="none" strike="noStrike" kern="1200" cap="none" spc="0" normalizeH="0" baseline="30000" noProof="0" dirty="0">
                <a:ln>
                  <a:noFill/>
                </a:ln>
                <a:solidFill>
                  <a:srgbClr val="000000"/>
                </a:solidFill>
                <a:effectLst/>
                <a:uLnTx/>
                <a:uFillTx/>
                <a:latin typeface="Segoe UI Semibold"/>
                <a:ea typeface="+mn-ea"/>
                <a:cs typeface="+mn-cs"/>
              </a:rPr>
              <a:t>2</a:t>
            </a:r>
          </a:p>
        </p:txBody>
      </p:sp>
      <p:sp>
        <p:nvSpPr>
          <p:cNvPr id="284" name="TextBox 283">
            <a:extLst>
              <a:ext uri="{FF2B5EF4-FFF2-40B4-BE49-F238E27FC236}">
                <a16:creationId xmlns:a16="http://schemas.microsoft.com/office/drawing/2014/main" id="{805CBC5B-A14A-51BB-223C-E03724F22A9C}"/>
              </a:ext>
              <a:ext uri="{C183D7F6-B498-43B3-948B-1728B52AA6E4}">
                <adec:decorative xmlns:adec="http://schemas.microsoft.com/office/drawing/2017/decorative" val="0"/>
              </a:ext>
            </a:extLst>
          </p:cNvPr>
          <p:cNvSpPr txBox="1">
            <a:spLocks/>
          </p:cNvSpPr>
          <p:nvPr/>
        </p:nvSpPr>
        <p:spPr>
          <a:xfrm>
            <a:off x="4397907" y="4886070"/>
            <a:ext cx="929742" cy="153888"/>
          </a:xfrm>
          <a:prstGeom prst="rect">
            <a:avLst/>
          </a:prstGeom>
          <a:noFill/>
        </p:spPr>
        <p:txBody>
          <a:bodyPr wrap="non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Semibold"/>
                <a:ea typeface="+mn-ea"/>
                <a:cs typeface="+mn-cs"/>
              </a:rPr>
              <a:t>Copilot in Word</a:t>
            </a:r>
          </a:p>
        </p:txBody>
      </p:sp>
      <p:sp>
        <p:nvSpPr>
          <p:cNvPr id="271" name="TextBox 270">
            <a:extLst>
              <a:ext uri="{FF2B5EF4-FFF2-40B4-BE49-F238E27FC236}">
                <a16:creationId xmlns:a16="http://schemas.microsoft.com/office/drawing/2014/main" id="{229DA159-6E1A-E1DD-8B7B-117A4B8C08C8}"/>
              </a:ext>
              <a:ext uri="{C183D7F6-B498-43B3-948B-1728B52AA6E4}">
                <adec:decorative xmlns:adec="http://schemas.microsoft.com/office/drawing/2017/decorative" val="0"/>
              </a:ext>
            </a:extLst>
          </p:cNvPr>
          <p:cNvSpPr txBox="1">
            <a:spLocks/>
          </p:cNvSpPr>
          <p:nvPr/>
        </p:nvSpPr>
        <p:spPr>
          <a:xfrm>
            <a:off x="3562471" y="2217682"/>
            <a:ext cx="1830524" cy="2923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Segoe UI Semibold"/>
                <a:ea typeface="+mn-ea"/>
                <a:cs typeface="+mn-cs"/>
              </a:rPr>
              <a:t>Copilot in Excel</a:t>
            </a:r>
          </a:p>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78D4"/>
                </a:solidFill>
                <a:effectLst/>
                <a:uLnTx/>
                <a:uFillTx/>
                <a:latin typeface="Segoe UI Semibold"/>
                <a:ea typeface="+mn-ea"/>
                <a:cs typeface="+mn-cs"/>
              </a:rPr>
              <a:t>+ Copilot for Finance</a:t>
            </a:r>
            <a:endParaRPr kumimoji="0" lang="en-US" sz="900" b="0" i="1" u="none" strike="noStrike" kern="1200" cap="none" spc="0" normalizeH="0" baseline="0" noProof="0" dirty="0">
              <a:ln>
                <a:noFill/>
              </a:ln>
              <a:solidFill>
                <a:srgbClr val="0078D4"/>
              </a:solidFill>
              <a:effectLst/>
              <a:uLnTx/>
              <a:uFillTx/>
              <a:latin typeface="Segoe UI Semibold"/>
              <a:ea typeface="+mn-ea"/>
              <a:cs typeface="+mn-cs"/>
            </a:endParaRPr>
          </a:p>
        </p:txBody>
      </p:sp>
      <p:sp>
        <p:nvSpPr>
          <p:cNvPr id="269" name="TextBox 268">
            <a:extLst>
              <a:ext uri="{FF2B5EF4-FFF2-40B4-BE49-F238E27FC236}">
                <a16:creationId xmlns:a16="http://schemas.microsoft.com/office/drawing/2014/main" id="{3C273D10-B05D-9089-DDED-91BB1D051E9D}"/>
              </a:ext>
              <a:ext uri="{C183D7F6-B498-43B3-948B-1728B52AA6E4}">
                <adec:decorative xmlns:adec="http://schemas.microsoft.com/office/drawing/2017/decorative" val="0"/>
              </a:ext>
            </a:extLst>
          </p:cNvPr>
          <p:cNvSpPr txBox="1">
            <a:spLocks/>
          </p:cNvSpPr>
          <p:nvPr/>
        </p:nvSpPr>
        <p:spPr>
          <a:xfrm>
            <a:off x="6446958" y="2217682"/>
            <a:ext cx="1830524" cy="2923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Semibold"/>
                <a:ea typeface="+mn-ea"/>
                <a:cs typeface="+mn-cs"/>
              </a:rPr>
              <a:t>Copilot Outlook</a:t>
            </a:r>
          </a:p>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78D4"/>
                </a:solidFill>
                <a:effectLst/>
                <a:uLnTx/>
                <a:uFillTx/>
                <a:latin typeface="Segoe UI Semibold"/>
                <a:ea typeface="+mn-ea"/>
                <a:cs typeface="+mn-cs"/>
              </a:rPr>
              <a:t>+ Copilot for Finance</a:t>
            </a:r>
            <a:endParaRPr kumimoji="0" lang="en-US" sz="900" b="0" i="1" u="none" strike="noStrike" kern="1200" cap="none" spc="0" normalizeH="0" baseline="0" noProof="0" dirty="0">
              <a:ln>
                <a:noFill/>
              </a:ln>
              <a:solidFill>
                <a:srgbClr val="0078D4"/>
              </a:solidFill>
              <a:effectLst/>
              <a:uLnTx/>
              <a:uFillTx/>
              <a:latin typeface="Segoe UI Semibold"/>
              <a:ea typeface="+mn-ea"/>
              <a:cs typeface="+mn-cs"/>
            </a:endParaRPr>
          </a:p>
        </p:txBody>
      </p:sp>
      <p:sp>
        <p:nvSpPr>
          <p:cNvPr id="274" name="TextBox 273">
            <a:extLst>
              <a:ext uri="{FF2B5EF4-FFF2-40B4-BE49-F238E27FC236}">
                <a16:creationId xmlns:a16="http://schemas.microsoft.com/office/drawing/2014/main" id="{E0C7919D-97A6-3A2D-5B2F-DAAC2E485A53}"/>
              </a:ext>
              <a:ext uri="{C183D7F6-B498-43B3-948B-1728B52AA6E4}">
                <adec:decorative xmlns:adec="http://schemas.microsoft.com/office/drawing/2017/decorative" val="0"/>
              </a:ext>
            </a:extLst>
          </p:cNvPr>
          <p:cNvSpPr txBox="1">
            <a:spLocks/>
          </p:cNvSpPr>
          <p:nvPr/>
        </p:nvSpPr>
        <p:spPr>
          <a:xfrm>
            <a:off x="9328927" y="2286931"/>
            <a:ext cx="1420949" cy="1538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Semibold"/>
                <a:ea typeface="+mn-ea"/>
                <a:cs typeface="+mn-cs"/>
              </a:rPr>
              <a:t>Copilot in Teams</a:t>
            </a:r>
          </a:p>
        </p:txBody>
      </p:sp>
      <p:pic>
        <p:nvPicPr>
          <p:cNvPr id="39" name="Picture 6">
            <a:extLst>
              <a:ext uri="{FF2B5EF4-FFF2-40B4-BE49-F238E27FC236}">
                <a16:creationId xmlns:a16="http://schemas.microsoft.com/office/drawing/2014/main" id="{12A381BF-DE00-8763-9130-686904876CF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t="5571" b="5571"/>
          <a:stretch/>
        </p:blipFill>
        <p:spPr bwMode="auto">
          <a:xfrm>
            <a:off x="8965632" y="2252214"/>
            <a:ext cx="245612" cy="223322"/>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Excel logo">
            <a:extLst>
              <a:ext uri="{FF2B5EF4-FFF2-40B4-BE49-F238E27FC236}">
                <a16:creationId xmlns:a16="http://schemas.microsoft.com/office/drawing/2014/main" id="{46AB1D6D-4B5F-F617-E162-30E2EBA15AF8}"/>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3182889" y="2199780"/>
            <a:ext cx="275670" cy="275670"/>
          </a:xfrm>
          <a:prstGeom prst="ellipse">
            <a:avLst/>
          </a:prstGeom>
          <a:solidFill>
            <a:schemeClr val="bg1"/>
          </a:solidFill>
        </p:spPr>
      </p:pic>
      <p:pic>
        <p:nvPicPr>
          <p:cNvPr id="4" name="Picture 3" descr="Word logo">
            <a:extLst>
              <a:ext uri="{FF2B5EF4-FFF2-40B4-BE49-F238E27FC236}">
                <a16:creationId xmlns:a16="http://schemas.microsoft.com/office/drawing/2014/main" id="{134972FA-3342-B000-32FE-61F8243F34D0}"/>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4013977" y="4852914"/>
            <a:ext cx="246576" cy="246576"/>
          </a:xfrm>
          <a:prstGeom prst="ellipse">
            <a:avLst/>
          </a:prstGeom>
          <a:solidFill>
            <a:srgbClr val="FFFFFF"/>
          </a:solidFill>
        </p:spPr>
      </p:pic>
      <p:pic>
        <p:nvPicPr>
          <p:cNvPr id="2" name="Picture 1" descr="Outlook logo">
            <a:extLst>
              <a:ext uri="{FF2B5EF4-FFF2-40B4-BE49-F238E27FC236}">
                <a16:creationId xmlns:a16="http://schemas.microsoft.com/office/drawing/2014/main" id="{4932BAC6-14F4-1A47-57EF-C8EBAE3FCEEB}"/>
              </a:ext>
            </a:extLst>
          </p:cNvPr>
          <p:cNvPicPr>
            <a:picLocks noChangeAspect="1"/>
          </p:cNvPicPr>
          <p:nvPr/>
        </p:nvPicPr>
        <p:blipFill>
          <a:blip r:embed="rId9"/>
          <a:stretch>
            <a:fillRect/>
          </a:stretch>
        </p:blipFill>
        <p:spPr>
          <a:xfrm>
            <a:off x="6064099" y="2208224"/>
            <a:ext cx="265176" cy="265176"/>
          </a:xfrm>
          <a:prstGeom prst="rect">
            <a:avLst/>
          </a:prstGeom>
        </p:spPr>
      </p:pic>
    </p:spTree>
    <p:extLst>
      <p:ext uri="{BB962C8B-B14F-4D97-AF65-F5344CB8AC3E}">
        <p14:creationId xmlns:p14="http://schemas.microsoft.com/office/powerpoint/2010/main" val="326408873"/>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3BE9C6-D821-CB85-7F76-35113FE236E6}"/>
            </a:ext>
          </a:extLst>
        </p:cNvPr>
        <p:cNvGrpSpPr/>
        <p:nvPr/>
      </p:nvGrpSpPr>
      <p:grpSpPr>
        <a:xfrm>
          <a:off x="0" y="0"/>
          <a:ext cx="0" cy="0"/>
          <a:chOff x="0" y="0"/>
          <a:chExt cx="0" cy="0"/>
        </a:xfrm>
      </p:grpSpPr>
      <p:sp>
        <p:nvSpPr>
          <p:cNvPr id="209" name="Text Placeholder 208">
            <a:extLst>
              <a:ext uri="{FF2B5EF4-FFF2-40B4-BE49-F238E27FC236}">
                <a16:creationId xmlns:a16="http://schemas.microsoft.com/office/drawing/2014/main" id="{CCE856DB-376D-4D78-FD7E-0951D8ABF70A}"/>
              </a:ext>
            </a:extLst>
          </p:cNvPr>
          <p:cNvSpPr>
            <a:spLocks noGrp="1"/>
          </p:cNvSpPr>
          <p:nvPr>
            <p:ph type="body" sz="quarter" idx="32"/>
          </p:nvPr>
        </p:nvSpPr>
        <p:spPr>
          <a:xfrm>
            <a:off x="311388" y="1026303"/>
            <a:ext cx="2431246" cy="1131079"/>
          </a:xfrm>
        </p:spPr>
        <p:txBody>
          <a:bodyPr/>
          <a:lstStyle/>
          <a:p>
            <a:r>
              <a:rPr lang="en-US" noProof="0" dirty="0"/>
              <a:t>AI agents can reduce the workload on a Finance team by providing a self-service option for employees to get answers to questions.</a:t>
            </a:r>
          </a:p>
        </p:txBody>
      </p:sp>
      <p:sp>
        <p:nvSpPr>
          <p:cNvPr id="210" name="Text Placeholder 209">
            <a:extLst>
              <a:ext uri="{FF2B5EF4-FFF2-40B4-BE49-F238E27FC236}">
                <a16:creationId xmlns:a16="http://schemas.microsoft.com/office/drawing/2014/main" id="{1A7F6855-1253-4D8C-74C9-7D6B1EE8E282}"/>
              </a:ext>
            </a:extLst>
          </p:cNvPr>
          <p:cNvSpPr>
            <a:spLocks noGrp="1"/>
          </p:cNvSpPr>
          <p:nvPr>
            <p:ph type="body" sz="quarter" idx="33"/>
          </p:nvPr>
        </p:nvSpPr>
        <p:spPr>
          <a:xfrm>
            <a:off x="304796" y="413987"/>
            <a:ext cx="2057403" cy="307777"/>
          </a:xfrm>
        </p:spPr>
        <p:txBody>
          <a:bodyPr/>
          <a:lstStyle/>
          <a:p>
            <a:r>
              <a:rPr lang="en-US" noProof="0" dirty="0"/>
              <a:t>Finance</a:t>
            </a:r>
          </a:p>
        </p:txBody>
      </p:sp>
      <p:sp>
        <p:nvSpPr>
          <p:cNvPr id="208" name="Text Placeholder 207">
            <a:extLst>
              <a:ext uri="{FF2B5EF4-FFF2-40B4-BE49-F238E27FC236}">
                <a16:creationId xmlns:a16="http://schemas.microsoft.com/office/drawing/2014/main" id="{BCAB8EA0-B2FC-7EAB-00DA-C5CA59FE37EF}"/>
              </a:ext>
            </a:extLst>
          </p:cNvPr>
          <p:cNvSpPr>
            <a:spLocks noGrp="1"/>
          </p:cNvSpPr>
          <p:nvPr>
            <p:ph type="body" sz="quarter" idx="30"/>
          </p:nvPr>
        </p:nvSpPr>
        <p:spPr>
          <a:xfrm>
            <a:off x="10430351" y="521099"/>
            <a:ext cx="1456966" cy="175614"/>
          </a:xfrm>
        </p:spPr>
        <p:txBody>
          <a:bodyPr/>
          <a:lstStyle/>
          <a:p>
            <a:r>
              <a:rPr lang="en-US" noProof="0" dirty="0"/>
              <a:t>Extend</a:t>
            </a:r>
          </a:p>
        </p:txBody>
      </p:sp>
      <p:sp>
        <p:nvSpPr>
          <p:cNvPr id="206" name="Text Placeholder 205">
            <a:extLst>
              <a:ext uri="{FF2B5EF4-FFF2-40B4-BE49-F238E27FC236}">
                <a16:creationId xmlns:a16="http://schemas.microsoft.com/office/drawing/2014/main" id="{74E5680D-2C4C-F74C-4CF4-E7F98BCA8035}"/>
              </a:ext>
            </a:extLst>
          </p:cNvPr>
          <p:cNvSpPr>
            <a:spLocks noGrp="1"/>
          </p:cNvSpPr>
          <p:nvPr>
            <p:ph type="body" sz="quarter" idx="17"/>
          </p:nvPr>
        </p:nvSpPr>
        <p:spPr>
          <a:xfrm>
            <a:off x="7149557" y="521100"/>
            <a:ext cx="2969488" cy="169277"/>
          </a:xfrm>
        </p:spPr>
        <p:txBody>
          <a:bodyPr/>
          <a:lstStyle/>
          <a:p>
            <a:r>
              <a:rPr lang="en-US" noProof="0" dirty="0"/>
              <a:t>Microsoft 365 Copilot Chat and Copilot Studio</a:t>
            </a:r>
          </a:p>
        </p:txBody>
      </p:sp>
      <p:sp>
        <p:nvSpPr>
          <p:cNvPr id="129" name="Title 128">
            <a:extLst>
              <a:ext uri="{FF2B5EF4-FFF2-40B4-BE49-F238E27FC236}">
                <a16:creationId xmlns:a16="http://schemas.microsoft.com/office/drawing/2014/main" id="{E432D146-B1FF-6306-9B70-22120E07BB3B}"/>
              </a:ext>
            </a:extLst>
          </p:cNvPr>
          <p:cNvSpPr>
            <a:spLocks noGrp="1"/>
          </p:cNvSpPr>
          <p:nvPr>
            <p:ph type="title"/>
          </p:nvPr>
        </p:nvSpPr>
        <p:spPr>
          <a:xfrm>
            <a:off x="2492556" y="429376"/>
            <a:ext cx="4144817" cy="276999"/>
          </a:xfrm>
        </p:spPr>
        <p:txBody>
          <a:bodyPr/>
          <a:lstStyle/>
          <a:p>
            <a:r>
              <a:rPr lang="en-US" noProof="0" dirty="0"/>
              <a:t>Automate financial query management</a:t>
            </a:r>
          </a:p>
        </p:txBody>
      </p:sp>
      <p:sp>
        <p:nvSpPr>
          <p:cNvPr id="25" name="Text Placeholder 24">
            <a:extLst>
              <a:ext uri="{FF2B5EF4-FFF2-40B4-BE49-F238E27FC236}">
                <a16:creationId xmlns:a16="http://schemas.microsoft.com/office/drawing/2014/main" id="{48D9D20F-AF54-A77D-D569-9E5C6B71EEE5}"/>
              </a:ext>
            </a:extLst>
          </p:cNvPr>
          <p:cNvSpPr>
            <a:spLocks noGrp="1"/>
          </p:cNvSpPr>
          <p:nvPr>
            <p:ph type="body" sz="quarter" idx="69"/>
          </p:nvPr>
        </p:nvSpPr>
        <p:spPr/>
        <p:txBody>
          <a:bodyPr/>
          <a:lstStyle/>
          <a:p>
            <a:r>
              <a:rPr lang="en-US" noProof="0" dirty="0"/>
              <a:t>Benefit: </a:t>
            </a:r>
            <a:r>
              <a:rPr lang="en-US" noProof="0" dirty="0">
                <a:latin typeface="+mj-lt"/>
              </a:rPr>
              <a:t>Ensures that all internal queries are captured </a:t>
            </a:r>
            <a:r>
              <a:rPr lang="en-US" noProof="0" dirty="0"/>
              <a:t>and properly categorized for efficient handling.</a:t>
            </a:r>
          </a:p>
        </p:txBody>
      </p:sp>
      <p:sp>
        <p:nvSpPr>
          <p:cNvPr id="205" name="Text Placeholder 204">
            <a:extLst>
              <a:ext uri="{FF2B5EF4-FFF2-40B4-BE49-F238E27FC236}">
                <a16:creationId xmlns:a16="http://schemas.microsoft.com/office/drawing/2014/main" id="{AC36E273-2940-50E3-C2FF-E798CC640FFC}"/>
              </a:ext>
            </a:extLst>
          </p:cNvPr>
          <p:cNvSpPr>
            <a:spLocks noGrp="1"/>
          </p:cNvSpPr>
          <p:nvPr>
            <p:ph type="body" sz="quarter" idx="11"/>
          </p:nvPr>
        </p:nvSpPr>
        <p:spPr>
          <a:xfrm>
            <a:off x="3182890" y="1112478"/>
            <a:ext cx="2572262" cy="153888"/>
          </a:xfrm>
        </p:spPr>
        <p:txBody>
          <a:bodyPr/>
          <a:lstStyle/>
          <a:p>
            <a:r>
              <a:rPr lang="en-US" noProof="0" dirty="0"/>
              <a:t>Query collection</a:t>
            </a:r>
          </a:p>
        </p:txBody>
      </p:sp>
      <p:sp>
        <p:nvSpPr>
          <p:cNvPr id="207" name="Text Placeholder 206">
            <a:extLst>
              <a:ext uri="{FF2B5EF4-FFF2-40B4-BE49-F238E27FC236}">
                <a16:creationId xmlns:a16="http://schemas.microsoft.com/office/drawing/2014/main" id="{BF19F0EB-EBF9-A27E-A5CC-611BF79ACF99}"/>
              </a:ext>
            </a:extLst>
          </p:cNvPr>
          <p:cNvSpPr>
            <a:spLocks noGrp="1"/>
          </p:cNvSpPr>
          <p:nvPr>
            <p:ph type="body" sz="quarter" idx="18"/>
          </p:nvPr>
        </p:nvSpPr>
        <p:spPr>
          <a:xfrm>
            <a:off x="3182890" y="1438715"/>
            <a:ext cx="2572262" cy="626701"/>
          </a:xfrm>
        </p:spPr>
        <p:txBody>
          <a:bodyPr/>
          <a:lstStyle/>
          <a:p>
            <a:r>
              <a:rPr lang="en-US" noProof="0" dirty="0"/>
              <a:t>Use Copilot Studio to create an agent that answers common Finance questions from employees at your organization and logs items to a quality control database.</a:t>
            </a:r>
          </a:p>
          <a:p>
            <a:endParaRPr lang="en-US" noProof="0" dirty="0"/>
          </a:p>
        </p:txBody>
      </p:sp>
      <p:sp>
        <p:nvSpPr>
          <p:cNvPr id="212" name="Text Placeholder 211">
            <a:extLst>
              <a:ext uri="{FF2B5EF4-FFF2-40B4-BE49-F238E27FC236}">
                <a16:creationId xmlns:a16="http://schemas.microsoft.com/office/drawing/2014/main" id="{877B8D2E-3FFF-C2C7-13AD-6C6D4D1EE266}"/>
              </a:ext>
            </a:extLst>
          </p:cNvPr>
          <p:cNvSpPr>
            <a:spLocks noGrp="1"/>
          </p:cNvSpPr>
          <p:nvPr>
            <p:ph type="body" sz="quarter" idx="42"/>
          </p:nvPr>
        </p:nvSpPr>
        <p:spPr>
          <a:xfrm>
            <a:off x="6066682" y="1112478"/>
            <a:ext cx="2572262" cy="153888"/>
          </a:xfrm>
        </p:spPr>
        <p:txBody>
          <a:bodyPr/>
          <a:lstStyle/>
          <a:p>
            <a:r>
              <a:rPr lang="en-US" noProof="0" dirty="0"/>
              <a:t>Knowledge base integration</a:t>
            </a:r>
          </a:p>
        </p:txBody>
      </p:sp>
      <p:sp>
        <p:nvSpPr>
          <p:cNvPr id="213" name="Text Placeholder 212">
            <a:extLst>
              <a:ext uri="{FF2B5EF4-FFF2-40B4-BE49-F238E27FC236}">
                <a16:creationId xmlns:a16="http://schemas.microsoft.com/office/drawing/2014/main" id="{0A2FCBF4-2E1E-0100-B106-973F4DC6CF32}"/>
              </a:ext>
            </a:extLst>
          </p:cNvPr>
          <p:cNvSpPr>
            <a:spLocks noGrp="1"/>
          </p:cNvSpPr>
          <p:nvPr>
            <p:ph type="body" sz="quarter" idx="43"/>
          </p:nvPr>
        </p:nvSpPr>
        <p:spPr>
          <a:xfrm>
            <a:off x="6066682" y="1438715"/>
            <a:ext cx="2572262" cy="626701"/>
          </a:xfrm>
        </p:spPr>
        <p:txBody>
          <a:bodyPr/>
          <a:lstStyle/>
          <a:p>
            <a:r>
              <a:rPr lang="en-US" noProof="0" dirty="0"/>
              <a:t>Empower the agent to respond to questions using a custom copilot trained on knowledge base documents.</a:t>
            </a:r>
          </a:p>
          <a:p>
            <a:endParaRPr lang="en-US" noProof="0" dirty="0"/>
          </a:p>
        </p:txBody>
      </p:sp>
      <p:sp>
        <p:nvSpPr>
          <p:cNvPr id="226" name="Text Placeholder 225">
            <a:extLst>
              <a:ext uri="{FF2B5EF4-FFF2-40B4-BE49-F238E27FC236}">
                <a16:creationId xmlns:a16="http://schemas.microsoft.com/office/drawing/2014/main" id="{81081F47-9EF4-D886-C895-99407F344BF2}"/>
              </a:ext>
            </a:extLst>
          </p:cNvPr>
          <p:cNvSpPr>
            <a:spLocks noGrp="1"/>
          </p:cNvSpPr>
          <p:nvPr>
            <p:ph type="body" sz="quarter" idx="68"/>
          </p:nvPr>
        </p:nvSpPr>
        <p:spPr>
          <a:xfrm>
            <a:off x="8950475" y="2725494"/>
            <a:ext cx="2572262" cy="712876"/>
          </a:xfrm>
        </p:spPr>
        <p:txBody>
          <a:bodyPr/>
          <a:lstStyle/>
          <a:p>
            <a:r>
              <a:rPr lang="en-US" noProof="0" dirty="0"/>
              <a:t>Benefit: </a:t>
            </a:r>
            <a:r>
              <a:rPr lang="en-US" noProof="0" dirty="0">
                <a:latin typeface="+mj-lt"/>
              </a:rPr>
              <a:t>Gather user feedback </a:t>
            </a:r>
            <a:r>
              <a:rPr lang="en-US" noProof="0" dirty="0"/>
              <a:t>to refine the knowledge base and response mechanisms.</a:t>
            </a:r>
          </a:p>
        </p:txBody>
      </p:sp>
      <p:sp>
        <p:nvSpPr>
          <p:cNvPr id="215" name="Text Placeholder 214">
            <a:extLst>
              <a:ext uri="{FF2B5EF4-FFF2-40B4-BE49-F238E27FC236}">
                <a16:creationId xmlns:a16="http://schemas.microsoft.com/office/drawing/2014/main" id="{A1632E0A-6A1E-490A-60D2-77FAE7684E63}"/>
              </a:ext>
            </a:extLst>
          </p:cNvPr>
          <p:cNvSpPr>
            <a:spLocks noGrp="1"/>
          </p:cNvSpPr>
          <p:nvPr>
            <p:ph type="body" sz="quarter" idx="45"/>
          </p:nvPr>
        </p:nvSpPr>
        <p:spPr>
          <a:xfrm>
            <a:off x="8950475" y="1112478"/>
            <a:ext cx="2572262" cy="153888"/>
          </a:xfrm>
        </p:spPr>
        <p:txBody>
          <a:bodyPr/>
          <a:lstStyle/>
          <a:p>
            <a:r>
              <a:rPr lang="en-US" noProof="0" dirty="0"/>
              <a:t>Automated feedback</a:t>
            </a:r>
          </a:p>
        </p:txBody>
      </p:sp>
      <p:sp>
        <p:nvSpPr>
          <p:cNvPr id="216" name="Text Placeholder 215">
            <a:extLst>
              <a:ext uri="{FF2B5EF4-FFF2-40B4-BE49-F238E27FC236}">
                <a16:creationId xmlns:a16="http://schemas.microsoft.com/office/drawing/2014/main" id="{3B12558F-9946-DDF2-7D42-256F9A944D3E}"/>
              </a:ext>
            </a:extLst>
          </p:cNvPr>
          <p:cNvSpPr>
            <a:spLocks noGrp="1"/>
          </p:cNvSpPr>
          <p:nvPr>
            <p:ph type="body" sz="quarter" idx="46"/>
          </p:nvPr>
        </p:nvSpPr>
        <p:spPr>
          <a:xfrm>
            <a:off x="8950475" y="1438715"/>
            <a:ext cx="2572262" cy="626701"/>
          </a:xfrm>
        </p:spPr>
        <p:txBody>
          <a:bodyPr/>
          <a:lstStyle/>
          <a:p>
            <a:r>
              <a:rPr lang="en-US" noProof="0" dirty="0"/>
              <a:t>Utilize the agent to prompt employees to give feedback on the information provided. </a:t>
            </a:r>
          </a:p>
          <a:p>
            <a:endParaRPr lang="en-US" noProof="0" dirty="0"/>
          </a:p>
        </p:txBody>
      </p:sp>
      <p:sp>
        <p:nvSpPr>
          <p:cNvPr id="26" name="Text Placeholder 25">
            <a:extLst>
              <a:ext uri="{FF2B5EF4-FFF2-40B4-BE49-F238E27FC236}">
                <a16:creationId xmlns:a16="http://schemas.microsoft.com/office/drawing/2014/main" id="{38D61C8A-CE55-B0D3-6BB4-FA3265B60272}"/>
              </a:ext>
            </a:extLst>
          </p:cNvPr>
          <p:cNvSpPr>
            <a:spLocks noGrp="1"/>
          </p:cNvSpPr>
          <p:nvPr>
            <p:ph type="body" sz="quarter" idx="70"/>
          </p:nvPr>
        </p:nvSpPr>
        <p:spPr/>
        <p:txBody>
          <a:bodyPr/>
          <a:lstStyle/>
          <a:p>
            <a:r>
              <a:rPr lang="en-US" noProof="0" dirty="0"/>
              <a:t>Benefit: </a:t>
            </a:r>
            <a:r>
              <a:rPr lang="en-US" noProof="0" dirty="0">
                <a:latin typeface="+mj-lt"/>
              </a:rPr>
              <a:t>Access to a comprehensive knowledge base </a:t>
            </a:r>
            <a:r>
              <a:rPr lang="en-US" noProof="0" dirty="0"/>
              <a:t>ensures accurate and consistent information is used in responses.</a:t>
            </a:r>
          </a:p>
        </p:txBody>
      </p:sp>
      <p:sp>
        <p:nvSpPr>
          <p:cNvPr id="218" name="Text Placeholder 217">
            <a:extLst>
              <a:ext uri="{FF2B5EF4-FFF2-40B4-BE49-F238E27FC236}">
                <a16:creationId xmlns:a16="http://schemas.microsoft.com/office/drawing/2014/main" id="{0F34BA77-E124-DCC7-7332-A433311FF65A}"/>
              </a:ext>
            </a:extLst>
          </p:cNvPr>
          <p:cNvSpPr>
            <a:spLocks noGrp="1"/>
          </p:cNvSpPr>
          <p:nvPr>
            <p:ph type="body" sz="quarter" idx="48"/>
          </p:nvPr>
        </p:nvSpPr>
        <p:spPr>
          <a:xfrm>
            <a:off x="3182890" y="5334522"/>
            <a:ext cx="2572262" cy="712876"/>
          </a:xfrm>
        </p:spPr>
        <p:txBody>
          <a:bodyPr/>
          <a:lstStyle/>
          <a:p>
            <a:r>
              <a:rPr kumimoji="0" lang="en-US" sz="900" i="0" u="none" strike="noStrike" kern="0" cap="none" spc="0" normalizeH="0" baseline="0" noProof="0" dirty="0">
                <a:ln>
                  <a:noFill/>
                </a:ln>
                <a:solidFill>
                  <a:srgbClr val="1A1A1A"/>
                </a:solidFill>
                <a:effectLst/>
                <a:uLnTx/>
                <a:uFillTx/>
                <a:latin typeface="Segoe UI"/>
                <a:ea typeface="+mn-ea"/>
                <a:cs typeface="+mn-cs"/>
              </a:rPr>
              <a:t>Prompt:</a:t>
            </a:r>
            <a:r>
              <a:rPr kumimoji="0" lang="en-US" sz="900" b="1" i="0" u="none" strike="noStrike" kern="0" cap="none" spc="0" normalizeH="0" baseline="0" noProof="0" dirty="0">
                <a:ln>
                  <a:noFill/>
                </a:ln>
                <a:solidFill>
                  <a:srgbClr val="1A1A1A"/>
                </a:solidFill>
                <a:effectLst/>
                <a:uLnTx/>
                <a:uFillTx/>
                <a:latin typeface="Segoe UI"/>
                <a:ea typeface="+mn-ea"/>
                <a:cs typeface="+mn-cs"/>
              </a:rPr>
              <a:t> </a:t>
            </a:r>
            <a:r>
              <a:rPr kumimoji="0" lang="en-US" sz="900" b="0" i="0" u="none" strike="noStrike" kern="0" cap="none" spc="0" normalizeH="0" baseline="0" noProof="0" dirty="0">
                <a:ln>
                  <a:noFill/>
                </a:ln>
                <a:solidFill>
                  <a:srgbClr val="1A1A1A"/>
                </a:solidFill>
                <a:effectLst/>
                <a:uLnTx/>
                <a:uFillTx/>
                <a:latin typeface="Segoe UI"/>
                <a:ea typeface="+mn-ea"/>
                <a:cs typeface="+mn-cs"/>
              </a:rPr>
              <a:t>Generate a summary that provides insights into the current state of the steel industry based on recent financial news, stock market data, and economic indicators.</a:t>
            </a:r>
          </a:p>
        </p:txBody>
      </p:sp>
      <p:sp>
        <p:nvSpPr>
          <p:cNvPr id="219" name="Text Placeholder 218">
            <a:extLst>
              <a:ext uri="{FF2B5EF4-FFF2-40B4-BE49-F238E27FC236}">
                <a16:creationId xmlns:a16="http://schemas.microsoft.com/office/drawing/2014/main" id="{12142FD0-567A-9248-D691-F80B91BA3344}"/>
              </a:ext>
            </a:extLst>
          </p:cNvPr>
          <p:cNvSpPr>
            <a:spLocks noGrp="1"/>
          </p:cNvSpPr>
          <p:nvPr>
            <p:ph type="body" sz="quarter" idx="49"/>
          </p:nvPr>
        </p:nvSpPr>
        <p:spPr>
          <a:xfrm>
            <a:off x="3182890" y="3725103"/>
            <a:ext cx="2572262" cy="153888"/>
          </a:xfrm>
        </p:spPr>
        <p:txBody>
          <a:bodyPr/>
          <a:lstStyle/>
          <a:p>
            <a:r>
              <a:rPr lang="en-US" noProof="0" dirty="0"/>
              <a:t>Gather information</a:t>
            </a:r>
          </a:p>
        </p:txBody>
      </p:sp>
      <p:sp>
        <p:nvSpPr>
          <p:cNvPr id="220" name="Text Placeholder 219">
            <a:extLst>
              <a:ext uri="{FF2B5EF4-FFF2-40B4-BE49-F238E27FC236}">
                <a16:creationId xmlns:a16="http://schemas.microsoft.com/office/drawing/2014/main" id="{054ED45B-A10D-B87E-2F14-D4C4889F4933}"/>
              </a:ext>
            </a:extLst>
          </p:cNvPr>
          <p:cNvSpPr>
            <a:spLocks noGrp="1"/>
          </p:cNvSpPr>
          <p:nvPr>
            <p:ph type="body" sz="quarter" idx="50"/>
          </p:nvPr>
        </p:nvSpPr>
        <p:spPr>
          <a:xfrm>
            <a:off x="3182890" y="4050957"/>
            <a:ext cx="2572262" cy="626701"/>
          </a:xfrm>
        </p:spPr>
        <p:txBody>
          <a:bodyPr/>
          <a:lstStyle/>
          <a:p>
            <a:r>
              <a:rPr lang="en-US" noProof="0" dirty="0"/>
              <a:t>Make sure you’re caught up with the latest industry news and trends by asking Copilot for a summary. </a:t>
            </a:r>
          </a:p>
          <a:p>
            <a:endParaRPr lang="en-US" noProof="0" dirty="0"/>
          </a:p>
        </p:txBody>
      </p:sp>
      <p:sp>
        <p:nvSpPr>
          <p:cNvPr id="221" name="Text Placeholder 220">
            <a:extLst>
              <a:ext uri="{FF2B5EF4-FFF2-40B4-BE49-F238E27FC236}">
                <a16:creationId xmlns:a16="http://schemas.microsoft.com/office/drawing/2014/main" id="{5E6CB002-7914-DB58-6997-257961921415}"/>
              </a:ext>
            </a:extLst>
          </p:cNvPr>
          <p:cNvSpPr>
            <a:spLocks noGrp="1"/>
          </p:cNvSpPr>
          <p:nvPr>
            <p:ph type="body" sz="quarter" idx="51"/>
          </p:nvPr>
        </p:nvSpPr>
        <p:spPr>
          <a:xfrm>
            <a:off x="6066682" y="3725103"/>
            <a:ext cx="2572262" cy="153888"/>
          </a:xfrm>
        </p:spPr>
        <p:txBody>
          <a:bodyPr/>
          <a:lstStyle/>
          <a:p>
            <a:r>
              <a:rPr lang="en-US" noProof="0" dirty="0"/>
              <a:t>Clarify terms</a:t>
            </a:r>
          </a:p>
        </p:txBody>
      </p:sp>
      <p:sp>
        <p:nvSpPr>
          <p:cNvPr id="222" name="Text Placeholder 221">
            <a:extLst>
              <a:ext uri="{FF2B5EF4-FFF2-40B4-BE49-F238E27FC236}">
                <a16:creationId xmlns:a16="http://schemas.microsoft.com/office/drawing/2014/main" id="{9DB1FE93-AE3E-155C-899C-A9FC54AA787C}"/>
              </a:ext>
            </a:extLst>
          </p:cNvPr>
          <p:cNvSpPr>
            <a:spLocks noGrp="1"/>
          </p:cNvSpPr>
          <p:nvPr>
            <p:ph type="body" sz="quarter" idx="52"/>
          </p:nvPr>
        </p:nvSpPr>
        <p:spPr>
          <a:xfrm>
            <a:off x="6066682" y="4050957"/>
            <a:ext cx="2572262" cy="626701"/>
          </a:xfrm>
        </p:spPr>
        <p:txBody>
          <a:bodyPr/>
          <a:lstStyle/>
          <a:p>
            <a:r>
              <a:rPr lang="en-US" noProof="0" dirty="0"/>
              <a:t>Using Copilot to better understand financial terms or redraft financial jargon into common language to help with Finance-related discussions.</a:t>
            </a:r>
          </a:p>
          <a:p>
            <a:endParaRPr lang="en-US" noProof="0" dirty="0"/>
          </a:p>
        </p:txBody>
      </p:sp>
      <p:sp>
        <p:nvSpPr>
          <p:cNvPr id="217" name="Text Placeholder 216">
            <a:extLst>
              <a:ext uri="{FF2B5EF4-FFF2-40B4-BE49-F238E27FC236}">
                <a16:creationId xmlns:a16="http://schemas.microsoft.com/office/drawing/2014/main" id="{C284E1F3-8CBB-BF7F-1FA2-B42E40B329DA}"/>
              </a:ext>
            </a:extLst>
          </p:cNvPr>
          <p:cNvSpPr>
            <a:spLocks noGrp="1"/>
          </p:cNvSpPr>
          <p:nvPr>
            <p:ph type="body" sz="quarter" idx="66"/>
          </p:nvPr>
        </p:nvSpPr>
        <p:spPr>
          <a:xfrm>
            <a:off x="8950475" y="5334522"/>
            <a:ext cx="2572262" cy="712876"/>
          </a:xfrm>
        </p:spPr>
        <p:txBody>
          <a:bodyPr/>
          <a:lstStyle/>
          <a:p>
            <a:r>
              <a:rPr lang="en-US" noProof="0" dirty="0"/>
              <a:t>Benefit: </a:t>
            </a:r>
            <a:r>
              <a:rPr lang="en-US" b="1" noProof="0" dirty="0">
                <a:latin typeface="+mj-lt"/>
              </a:rPr>
              <a:t>Direct complex issues </a:t>
            </a:r>
            <a:r>
              <a:rPr lang="en-US" noProof="0" dirty="0"/>
              <a:t>to the right experts, ensuring high-quality support.</a:t>
            </a:r>
          </a:p>
        </p:txBody>
      </p:sp>
      <p:sp>
        <p:nvSpPr>
          <p:cNvPr id="224" name="Text Placeholder 223">
            <a:extLst>
              <a:ext uri="{FF2B5EF4-FFF2-40B4-BE49-F238E27FC236}">
                <a16:creationId xmlns:a16="http://schemas.microsoft.com/office/drawing/2014/main" id="{C7A76A40-8FD9-E6F3-0F35-8D0ED696CA16}"/>
              </a:ext>
            </a:extLst>
          </p:cNvPr>
          <p:cNvSpPr>
            <a:spLocks noGrp="1"/>
          </p:cNvSpPr>
          <p:nvPr>
            <p:ph type="body" sz="quarter" idx="54"/>
          </p:nvPr>
        </p:nvSpPr>
        <p:spPr>
          <a:xfrm>
            <a:off x="8950475" y="3725103"/>
            <a:ext cx="2572262" cy="153888"/>
          </a:xfrm>
        </p:spPr>
        <p:txBody>
          <a:bodyPr/>
          <a:lstStyle/>
          <a:p>
            <a:r>
              <a:rPr lang="en-US" noProof="0" dirty="0"/>
              <a:t>Case escalation</a:t>
            </a:r>
          </a:p>
        </p:txBody>
      </p:sp>
      <p:sp>
        <p:nvSpPr>
          <p:cNvPr id="225" name="Text Placeholder 224">
            <a:extLst>
              <a:ext uri="{FF2B5EF4-FFF2-40B4-BE49-F238E27FC236}">
                <a16:creationId xmlns:a16="http://schemas.microsoft.com/office/drawing/2014/main" id="{615938CB-DF94-F321-0C9F-AAAE9953D3C2}"/>
              </a:ext>
            </a:extLst>
          </p:cNvPr>
          <p:cNvSpPr>
            <a:spLocks noGrp="1"/>
          </p:cNvSpPr>
          <p:nvPr>
            <p:ph type="body" sz="quarter" idx="55"/>
          </p:nvPr>
        </p:nvSpPr>
        <p:spPr>
          <a:xfrm>
            <a:off x="8950475" y="4050957"/>
            <a:ext cx="2572262" cy="626701"/>
          </a:xfrm>
        </p:spPr>
        <p:txBody>
          <a:bodyPr/>
          <a:lstStyle/>
          <a:p>
            <a:r>
              <a:rPr lang="en-US" noProof="0" dirty="0"/>
              <a:t>Have the agent escalate via e-mail when the feedback indicates further action is required.</a:t>
            </a:r>
          </a:p>
          <a:p>
            <a:endParaRPr lang="en-US" noProof="0" dirty="0"/>
          </a:p>
        </p:txBody>
      </p:sp>
      <p:sp>
        <p:nvSpPr>
          <p:cNvPr id="223" name="Text Placeholder 222">
            <a:extLst>
              <a:ext uri="{FF2B5EF4-FFF2-40B4-BE49-F238E27FC236}">
                <a16:creationId xmlns:a16="http://schemas.microsoft.com/office/drawing/2014/main" id="{F44F7166-1B00-A29D-68FF-88B13A320DED}"/>
              </a:ext>
            </a:extLst>
          </p:cNvPr>
          <p:cNvSpPr>
            <a:spLocks noGrp="1"/>
          </p:cNvSpPr>
          <p:nvPr>
            <p:ph type="body" sz="quarter" idx="67"/>
          </p:nvPr>
        </p:nvSpPr>
        <p:spPr>
          <a:xfrm>
            <a:off x="6066682" y="5334522"/>
            <a:ext cx="2572262" cy="712876"/>
          </a:xfrm>
        </p:spPr>
        <p:txBody>
          <a:bodyPr/>
          <a:lstStyle/>
          <a:p>
            <a:r>
              <a:rPr lang="en-US" noProof="0" dirty="0"/>
              <a:t>Benefit: </a:t>
            </a:r>
            <a:r>
              <a:rPr lang="en-US" noProof="0" dirty="0">
                <a:latin typeface="+mj-lt"/>
              </a:rPr>
              <a:t>Get clear explanations </a:t>
            </a:r>
            <a:r>
              <a:rPr lang="en-US" noProof="0" dirty="0"/>
              <a:t>of terms and equations to expand financial knowledge in the organization.</a:t>
            </a:r>
          </a:p>
        </p:txBody>
      </p:sp>
      <p:sp>
        <p:nvSpPr>
          <p:cNvPr id="211" name="Text Placeholder 210">
            <a:extLst>
              <a:ext uri="{FF2B5EF4-FFF2-40B4-BE49-F238E27FC236}">
                <a16:creationId xmlns:a16="http://schemas.microsoft.com/office/drawing/2014/main" id="{079F2E93-8E06-A19F-5710-A45BB4F18963}"/>
              </a:ext>
            </a:extLst>
          </p:cNvPr>
          <p:cNvSpPr>
            <a:spLocks noGrp="1"/>
          </p:cNvSpPr>
          <p:nvPr>
            <p:ph type="body" sz="quarter" idx="64"/>
          </p:nvPr>
        </p:nvSpPr>
        <p:spPr>
          <a:xfrm>
            <a:off x="320721" y="4709762"/>
            <a:ext cx="1131651" cy="219456"/>
          </a:xfrm>
        </p:spPr>
        <p:txBody>
          <a:bodyPr/>
          <a:lstStyle/>
          <a:p>
            <a:r>
              <a:rPr lang="en-US" noProof="0" dirty="0"/>
              <a:t>Value benefit</a:t>
            </a:r>
          </a:p>
        </p:txBody>
      </p:sp>
      <p:sp>
        <p:nvSpPr>
          <p:cNvPr id="214" name="Text Placeholder 213">
            <a:extLst>
              <a:ext uri="{FF2B5EF4-FFF2-40B4-BE49-F238E27FC236}">
                <a16:creationId xmlns:a16="http://schemas.microsoft.com/office/drawing/2014/main" id="{E96CD56A-9A69-D575-3D59-BC5EF6DCCB95}"/>
              </a:ext>
            </a:extLst>
          </p:cNvPr>
          <p:cNvSpPr>
            <a:spLocks noGrp="1"/>
          </p:cNvSpPr>
          <p:nvPr>
            <p:ph type="body" sz="quarter" idx="65"/>
          </p:nvPr>
        </p:nvSpPr>
        <p:spPr>
          <a:xfrm>
            <a:off x="320721" y="3467940"/>
            <a:ext cx="1131650" cy="219456"/>
          </a:xfrm>
        </p:spPr>
        <p:txBody>
          <a:bodyPr/>
          <a:lstStyle/>
          <a:p>
            <a:r>
              <a:rPr lang="en-US" noProof="0" dirty="0"/>
              <a:t>KPIs impacted</a:t>
            </a:r>
          </a:p>
        </p:txBody>
      </p:sp>
      <p:grpSp>
        <p:nvGrpSpPr>
          <p:cNvPr id="229" name="Group 228">
            <a:extLst>
              <a:ext uri="{FF2B5EF4-FFF2-40B4-BE49-F238E27FC236}">
                <a16:creationId xmlns:a16="http://schemas.microsoft.com/office/drawing/2014/main" id="{4CA05F1F-B186-D5F4-518B-9D4384EA767B}"/>
              </a:ext>
            </a:extLst>
          </p:cNvPr>
          <p:cNvGrpSpPr>
            <a:grpSpLocks/>
          </p:cNvGrpSpPr>
          <p:nvPr/>
        </p:nvGrpSpPr>
        <p:grpSpPr>
          <a:xfrm>
            <a:off x="320719" y="5020658"/>
            <a:ext cx="1771605" cy="216000"/>
            <a:chOff x="320721" y="4517211"/>
            <a:chExt cx="1771605" cy="216000"/>
          </a:xfrm>
        </p:grpSpPr>
        <p:sp>
          <p:nvSpPr>
            <p:cNvPr id="230" name="Rectangle: Rounded Corners 6">
              <a:extLst>
                <a:ext uri="{FF2B5EF4-FFF2-40B4-BE49-F238E27FC236}">
                  <a16:creationId xmlns:a16="http://schemas.microsoft.com/office/drawing/2014/main" id="{6A76B86E-C932-AC79-6427-3E198DF8CA85}"/>
                </a:ext>
                <a:ext uri="{C183D7F6-B498-43B3-948B-1728B52AA6E4}">
                  <adec:decorative xmlns:adec="http://schemas.microsoft.com/office/drawing/2017/decorative" val="1"/>
                </a:ext>
              </a:extLst>
            </p:cNvPr>
            <p:cNvSpPr>
              <a:spLocks/>
            </p:cNvSpPr>
            <p:nvPr/>
          </p:nvSpPr>
          <p:spPr bwMode="auto">
            <a:xfrm>
              <a:off x="320721" y="4517211"/>
              <a:ext cx="1771605" cy="216000"/>
            </a:xfrm>
            <a:prstGeom prst="roundRect">
              <a:avLst>
                <a:gd name="adj" fmla="val 50000"/>
              </a:avLst>
            </a:prstGeom>
            <a:solidFill>
              <a:srgbClr val="FFFFFF"/>
            </a:solidFill>
            <a:ln w="12700">
              <a:solidFill>
                <a:srgbClr val="C03BC4"/>
              </a:solidFill>
              <a:headEnd type="none" w="med" len="med"/>
              <a:tailEnd type="none" w="med" len="med"/>
            </a:ln>
            <a:effectLst>
              <a:outerShdw blurRad="63500" dist="63500" dir="2700000"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16000" tIns="36576" rIns="36000" bIns="36000" numCol="1" spcCol="0" rtlCol="0" fromWordArt="0" anchor="ctr" anchorCtr="0" forceAA="0" compatLnSpc="1">
              <a:prstTxWarp prst="textNoShape">
                <a:avLst/>
              </a:prstTxWarp>
              <a:noAutofit/>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C03BC4"/>
                  </a:solidFill>
                  <a:effectLst/>
                  <a:uLnTx/>
                  <a:uFillTx/>
                  <a:latin typeface="Segoe UI Semibold"/>
                  <a:ea typeface="+mn-ea"/>
                  <a:cs typeface="Segoe UI Semibold" panose="020B0702040204020203" pitchFamily="34" charset="0"/>
                </a:rPr>
                <a:t>Cost savings</a:t>
              </a:r>
            </a:p>
          </p:txBody>
        </p:sp>
        <p:pic>
          <p:nvPicPr>
            <p:cNvPr id="231" name="Graphic 230">
              <a:extLst>
                <a:ext uri="{FF2B5EF4-FFF2-40B4-BE49-F238E27FC236}">
                  <a16:creationId xmlns:a16="http://schemas.microsoft.com/office/drawing/2014/main" id="{D58FE9CF-E9B3-2691-14DD-A891DABAA06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67507" y="4554345"/>
              <a:ext cx="144000" cy="141732"/>
            </a:xfrm>
            <a:prstGeom prst="rect">
              <a:avLst/>
            </a:prstGeom>
          </p:spPr>
        </p:pic>
      </p:grpSp>
      <p:grpSp>
        <p:nvGrpSpPr>
          <p:cNvPr id="232" name="Group 231">
            <a:extLst>
              <a:ext uri="{FF2B5EF4-FFF2-40B4-BE49-F238E27FC236}">
                <a16:creationId xmlns:a16="http://schemas.microsoft.com/office/drawing/2014/main" id="{EF50A641-9097-428F-FA02-E44A92CB6946}"/>
              </a:ext>
            </a:extLst>
          </p:cNvPr>
          <p:cNvGrpSpPr>
            <a:grpSpLocks/>
          </p:cNvGrpSpPr>
          <p:nvPr/>
        </p:nvGrpSpPr>
        <p:grpSpPr>
          <a:xfrm>
            <a:off x="320721" y="5309272"/>
            <a:ext cx="1771605" cy="216000"/>
            <a:chOff x="320719" y="4224856"/>
            <a:chExt cx="1771605" cy="219456"/>
          </a:xfrm>
        </p:grpSpPr>
        <p:sp>
          <p:nvSpPr>
            <p:cNvPr id="233" name="Rectangle: Rounded Corners 6">
              <a:extLst>
                <a:ext uri="{FF2B5EF4-FFF2-40B4-BE49-F238E27FC236}">
                  <a16:creationId xmlns:a16="http://schemas.microsoft.com/office/drawing/2014/main" id="{78A6485A-85B5-E2A6-795C-71F34D0BDA1F}"/>
                </a:ext>
                <a:ext uri="{C183D7F6-B498-43B3-948B-1728B52AA6E4}">
                  <adec:decorative xmlns:adec="http://schemas.microsoft.com/office/drawing/2017/decorative" val="1"/>
                </a:ext>
              </a:extLst>
            </p:cNvPr>
            <p:cNvSpPr/>
            <p:nvPr/>
          </p:nvSpPr>
          <p:spPr bwMode="auto">
            <a:xfrm>
              <a:off x="320719" y="4224856"/>
              <a:ext cx="1771605" cy="219456"/>
            </a:xfrm>
            <a:prstGeom prst="roundRect">
              <a:avLst>
                <a:gd name="adj" fmla="val 50000"/>
              </a:avLst>
            </a:prstGeom>
            <a:solidFill>
              <a:srgbClr val="FFFFFF"/>
            </a:solidFill>
            <a:ln w="12700">
              <a:solidFill>
                <a:srgbClr val="C03BC4"/>
              </a:solidFill>
              <a:headEnd type="none" w="med" len="med"/>
              <a:tailEnd type="none" w="med" len="med"/>
            </a:ln>
            <a:effectLst>
              <a:outerShdw blurRad="63500" dist="63500" dir="2700000"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16000" tIns="36576" rIns="36000" bIns="36000" numCol="1" spcCol="0" rtlCol="0" fromWordArt="0" anchor="ctr" anchorCtr="0" forceAA="0" compatLnSpc="1">
              <a:prstTxWarp prst="textNoShape">
                <a:avLst/>
              </a:prstTxWarp>
              <a:noAutofit/>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C03BC4"/>
                  </a:solidFill>
                  <a:effectLst/>
                  <a:uLnTx/>
                  <a:uFillTx/>
                  <a:latin typeface="Segoe UI Semibold"/>
                  <a:ea typeface="+mn-ea"/>
                  <a:cs typeface="Segoe UI Semibold" panose="020B0702040204020203" pitchFamily="34" charset="0"/>
                </a:rPr>
                <a:t>Employee experience</a:t>
              </a:r>
            </a:p>
          </p:txBody>
        </p:sp>
        <p:pic>
          <p:nvPicPr>
            <p:cNvPr id="234" name="Graphic 233">
              <a:extLst>
                <a:ext uri="{FF2B5EF4-FFF2-40B4-BE49-F238E27FC236}">
                  <a16:creationId xmlns:a16="http://schemas.microsoft.com/office/drawing/2014/main" id="{A9326A38-5AF0-6DD9-ECFA-240B4CE8566C}"/>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67506" y="4262584"/>
              <a:ext cx="144000" cy="144000"/>
            </a:xfrm>
            <a:prstGeom prst="rect">
              <a:avLst/>
            </a:prstGeom>
          </p:spPr>
        </p:pic>
      </p:grpSp>
      <p:grpSp>
        <p:nvGrpSpPr>
          <p:cNvPr id="235" name="Group 234">
            <a:extLst>
              <a:ext uri="{FF2B5EF4-FFF2-40B4-BE49-F238E27FC236}">
                <a16:creationId xmlns:a16="http://schemas.microsoft.com/office/drawing/2014/main" id="{1A8CE9F4-C292-D493-8CED-776B10F4C72D}"/>
              </a:ext>
            </a:extLst>
          </p:cNvPr>
          <p:cNvGrpSpPr/>
          <p:nvPr/>
        </p:nvGrpSpPr>
        <p:grpSpPr>
          <a:xfrm>
            <a:off x="320719" y="3778836"/>
            <a:ext cx="1771605" cy="216000"/>
            <a:chOff x="320719" y="4224856"/>
            <a:chExt cx="1771605" cy="219456"/>
          </a:xfrm>
        </p:grpSpPr>
        <p:sp>
          <p:nvSpPr>
            <p:cNvPr id="236" name="Rectangle: Rounded Corners 6">
              <a:extLst>
                <a:ext uri="{FF2B5EF4-FFF2-40B4-BE49-F238E27FC236}">
                  <a16:creationId xmlns:a16="http://schemas.microsoft.com/office/drawing/2014/main" id="{B51724E1-835B-16D2-C6B4-DDB150DBB0C0}"/>
                </a:ext>
                <a:ext uri="{C183D7F6-B498-43B3-948B-1728B52AA6E4}">
                  <adec:decorative xmlns:adec="http://schemas.microsoft.com/office/drawing/2017/decorative" val="1"/>
                </a:ext>
              </a:extLst>
            </p:cNvPr>
            <p:cNvSpPr/>
            <p:nvPr/>
          </p:nvSpPr>
          <p:spPr bwMode="auto">
            <a:xfrm>
              <a:off x="320719" y="4224856"/>
              <a:ext cx="1771605" cy="219456"/>
            </a:xfrm>
            <a:prstGeom prst="roundRect">
              <a:avLst>
                <a:gd name="adj" fmla="val 50000"/>
              </a:avLst>
            </a:prstGeom>
            <a:solidFill>
              <a:srgbClr val="FFFFFF"/>
            </a:solidFill>
            <a:ln w="12700">
              <a:solidFill>
                <a:srgbClr val="0078D4"/>
              </a:solidFill>
              <a:headEnd type="none" w="med" len="med"/>
              <a:tailEnd type="none" w="med" len="med"/>
            </a:ln>
            <a:effectLst>
              <a:outerShdw blurRad="63500" dist="63500" dir="2700000"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16000" tIns="36576" rIns="36000" bIns="36000" numCol="1" spcCol="0" rtlCol="0" fromWordArt="0" anchor="ctr" anchorCtr="0" forceAA="0" compatLnSpc="1">
              <a:prstTxWarp prst="textNoShape">
                <a:avLst/>
              </a:prstTxWarp>
              <a:noAutofit/>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78D4"/>
                  </a:solidFill>
                  <a:effectLst/>
                  <a:uLnTx/>
                  <a:uFillTx/>
                  <a:latin typeface="Segoe UI Semibold"/>
                  <a:ea typeface="+mn-ea"/>
                  <a:cs typeface="Segoe UI Semibold" panose="020B0702040204020203" pitchFamily="34" charset="0"/>
                </a:rPr>
                <a:t>Spend on systems</a:t>
              </a:r>
            </a:p>
          </p:txBody>
        </p:sp>
        <p:pic>
          <p:nvPicPr>
            <p:cNvPr id="237" name="Graphic 236">
              <a:extLst>
                <a:ext uri="{FF2B5EF4-FFF2-40B4-BE49-F238E27FC236}">
                  <a16:creationId xmlns:a16="http://schemas.microsoft.com/office/drawing/2014/main" id="{29EC5F12-38D6-7AB2-84B8-66534EB569C9}"/>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67506" y="4262584"/>
              <a:ext cx="144000" cy="144000"/>
            </a:xfrm>
            <a:prstGeom prst="rect">
              <a:avLst/>
            </a:prstGeom>
          </p:spPr>
        </p:pic>
      </p:grpSp>
      <p:pic>
        <p:nvPicPr>
          <p:cNvPr id="249" name="Picture 50">
            <a:hlinkClick r:id="rId4"/>
            <a:extLst>
              <a:ext uri="{FF2B5EF4-FFF2-40B4-BE49-F238E27FC236}">
                <a16:creationId xmlns:a16="http://schemas.microsoft.com/office/drawing/2014/main" id="{C1BDD0EB-A002-4DAE-935D-90609C9CF22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89328" y="4848229"/>
            <a:ext cx="242374" cy="242374"/>
          </a:xfrm>
          <a:prstGeom prst="rect">
            <a:avLst/>
          </a:prstGeom>
          <a:noFill/>
          <a:extLst>
            <a:ext uri="{909E8E84-426E-40DD-AFC4-6F175D3DCCD1}">
              <a14:hiddenFill xmlns:a14="http://schemas.microsoft.com/office/drawing/2010/main">
                <a:solidFill>
                  <a:srgbClr val="FFFFFF"/>
                </a:solidFill>
              </a14:hiddenFill>
            </a:ext>
          </a:extLst>
        </p:spPr>
      </p:pic>
      <p:pic>
        <p:nvPicPr>
          <p:cNvPr id="252" name="Picture 50">
            <a:hlinkClick r:id="rId4"/>
            <a:extLst>
              <a:ext uri="{FF2B5EF4-FFF2-40B4-BE49-F238E27FC236}">
                <a16:creationId xmlns:a16="http://schemas.microsoft.com/office/drawing/2014/main" id="{949B179D-EF1E-8070-9C28-0642F6FB507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74256" y="4841827"/>
            <a:ext cx="242374" cy="242374"/>
          </a:xfrm>
          <a:prstGeom prst="rect">
            <a:avLst/>
          </a:prstGeom>
          <a:noFill/>
          <a:extLst>
            <a:ext uri="{909E8E84-426E-40DD-AFC4-6F175D3DCCD1}">
              <a14:hiddenFill xmlns:a14="http://schemas.microsoft.com/office/drawing/2010/main">
                <a:solidFill>
                  <a:srgbClr val="FFFFFF"/>
                </a:solidFill>
              </a14:hiddenFill>
            </a:ext>
          </a:extLst>
        </p:spPr>
      </p:pic>
      <p:sp>
        <p:nvSpPr>
          <p:cNvPr id="242" name="TextBox 241">
            <a:extLst>
              <a:ext uri="{FF2B5EF4-FFF2-40B4-BE49-F238E27FC236}">
                <a16:creationId xmlns:a16="http://schemas.microsoft.com/office/drawing/2014/main" id="{A0DB57EE-16E1-DF56-4EB0-B12E06A5F2BD}"/>
              </a:ext>
              <a:ext uri="{C183D7F6-B498-43B3-948B-1728B52AA6E4}">
                <adec:decorative xmlns:adec="http://schemas.microsoft.com/office/drawing/2017/decorative" val="0"/>
              </a:ext>
            </a:extLst>
          </p:cNvPr>
          <p:cNvSpPr txBox="1">
            <a:spLocks/>
          </p:cNvSpPr>
          <p:nvPr/>
        </p:nvSpPr>
        <p:spPr>
          <a:xfrm>
            <a:off x="3562471" y="2217682"/>
            <a:ext cx="1830524" cy="2923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Semibold"/>
                <a:ea typeface="+mn-ea"/>
                <a:cs typeface="+mn-cs"/>
              </a:rPr>
              <a:t>AI Agent</a:t>
            </a:r>
            <a:r>
              <a:rPr kumimoji="0" lang="en-US" sz="1000" b="0" i="0" u="none" strike="noStrike" kern="1200" cap="none" spc="0" normalizeH="0" baseline="30000" noProof="0" dirty="0">
                <a:ln>
                  <a:noFill/>
                </a:ln>
                <a:solidFill>
                  <a:srgbClr val="000000"/>
                </a:solidFill>
                <a:effectLst/>
                <a:uLnTx/>
                <a:uFillTx/>
                <a:latin typeface="Segoe UI Semibold"/>
                <a:ea typeface="+mn-ea"/>
                <a:cs typeface="+mn-cs"/>
              </a:rPr>
              <a:t>3</a:t>
            </a:r>
          </a:p>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78D4"/>
                </a:solidFill>
                <a:effectLst/>
                <a:uLnTx/>
                <a:uFillTx/>
                <a:latin typeface="Segoe UI Semibold"/>
                <a:ea typeface="+mn-ea"/>
                <a:cs typeface="+mn-cs"/>
              </a:rPr>
              <a:t>+ Connection to SharePoint</a:t>
            </a:r>
          </a:p>
        </p:txBody>
      </p:sp>
      <p:sp>
        <p:nvSpPr>
          <p:cNvPr id="266" name="TextBox 265">
            <a:extLst>
              <a:ext uri="{FF2B5EF4-FFF2-40B4-BE49-F238E27FC236}">
                <a16:creationId xmlns:a16="http://schemas.microsoft.com/office/drawing/2014/main" id="{934F9FA3-E7FA-6EA1-BB85-B97A77F3C2C1}"/>
              </a:ext>
              <a:ext uri="{C183D7F6-B498-43B3-948B-1728B52AA6E4}">
                <adec:decorative xmlns:adec="http://schemas.microsoft.com/office/drawing/2017/decorative" val="0"/>
              </a:ext>
            </a:extLst>
          </p:cNvPr>
          <p:cNvSpPr txBox="1">
            <a:spLocks/>
          </p:cNvSpPr>
          <p:nvPr/>
        </p:nvSpPr>
        <p:spPr>
          <a:xfrm>
            <a:off x="6446958" y="2217682"/>
            <a:ext cx="1830524" cy="2923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Semibold"/>
                <a:ea typeface="+mn-ea"/>
                <a:cs typeface="+mn-cs"/>
              </a:rPr>
              <a:t>AI Agent</a:t>
            </a:r>
            <a:r>
              <a:rPr kumimoji="0" lang="en-US" sz="1000" b="0" i="0" u="none" strike="noStrike" kern="1200" cap="none" spc="0" normalizeH="0" baseline="30000" noProof="0" dirty="0">
                <a:ln>
                  <a:noFill/>
                </a:ln>
                <a:solidFill>
                  <a:srgbClr val="000000"/>
                </a:solidFill>
                <a:effectLst/>
                <a:uLnTx/>
                <a:uFillTx/>
                <a:latin typeface="Segoe UI Semibold"/>
                <a:ea typeface="+mn-ea"/>
                <a:cs typeface="+mn-cs"/>
              </a:rPr>
              <a:t>3</a:t>
            </a:r>
          </a:p>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78D4"/>
                </a:solidFill>
                <a:effectLst/>
                <a:uLnTx/>
                <a:uFillTx/>
                <a:latin typeface="Segoe UI Semibold"/>
                <a:ea typeface="+mn-ea"/>
                <a:cs typeface="+mn-cs"/>
              </a:rPr>
              <a:t>+ Connection to SharePoint</a:t>
            </a:r>
          </a:p>
        </p:txBody>
      </p:sp>
      <p:sp>
        <p:nvSpPr>
          <p:cNvPr id="269" name="TextBox 268">
            <a:extLst>
              <a:ext uri="{FF2B5EF4-FFF2-40B4-BE49-F238E27FC236}">
                <a16:creationId xmlns:a16="http://schemas.microsoft.com/office/drawing/2014/main" id="{83D40C90-952A-E7BF-538C-78AC6B29B399}"/>
              </a:ext>
              <a:ext uri="{C183D7F6-B498-43B3-948B-1728B52AA6E4}">
                <adec:decorative xmlns:adec="http://schemas.microsoft.com/office/drawing/2017/decorative" val="0"/>
              </a:ext>
            </a:extLst>
          </p:cNvPr>
          <p:cNvSpPr txBox="1">
            <a:spLocks/>
          </p:cNvSpPr>
          <p:nvPr/>
        </p:nvSpPr>
        <p:spPr>
          <a:xfrm>
            <a:off x="9328927" y="2217681"/>
            <a:ext cx="1689593" cy="2923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Semibold"/>
                <a:ea typeface="+mn-ea"/>
                <a:cs typeface="+mn-cs"/>
              </a:rPr>
              <a:t>AI Agent</a:t>
            </a:r>
            <a:r>
              <a:rPr kumimoji="0" lang="en-US" sz="1000" b="0" i="0" u="none" strike="noStrike" kern="1200" cap="none" spc="0" normalizeH="0" baseline="30000" noProof="0" dirty="0">
                <a:ln>
                  <a:noFill/>
                </a:ln>
                <a:solidFill>
                  <a:srgbClr val="000000"/>
                </a:solidFill>
                <a:effectLst/>
                <a:uLnTx/>
                <a:uFillTx/>
                <a:latin typeface="Segoe UI Semibold"/>
                <a:ea typeface="+mn-ea"/>
                <a:cs typeface="+mn-cs"/>
              </a:rPr>
              <a:t>3</a:t>
            </a:r>
          </a:p>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78D4"/>
                </a:solidFill>
                <a:effectLst/>
                <a:uLnTx/>
                <a:uFillTx/>
                <a:latin typeface="Segoe UI Semibold"/>
                <a:ea typeface="+mn-ea"/>
                <a:cs typeface="+mn-cs"/>
              </a:rPr>
              <a:t>+ Connection to SharePoint</a:t>
            </a:r>
          </a:p>
        </p:txBody>
      </p:sp>
      <p:sp>
        <p:nvSpPr>
          <p:cNvPr id="251" name="TextBox 250">
            <a:extLst>
              <a:ext uri="{FF2B5EF4-FFF2-40B4-BE49-F238E27FC236}">
                <a16:creationId xmlns:a16="http://schemas.microsoft.com/office/drawing/2014/main" id="{2BDDFD71-F41A-82CF-5E5D-13A2F8E3FE78}"/>
              </a:ext>
              <a:ext uri="{C183D7F6-B498-43B3-948B-1728B52AA6E4}">
                <adec:decorative xmlns:adec="http://schemas.microsoft.com/office/drawing/2017/decorative" val="0"/>
              </a:ext>
            </a:extLst>
          </p:cNvPr>
          <p:cNvSpPr txBox="1">
            <a:spLocks/>
          </p:cNvSpPr>
          <p:nvPr/>
        </p:nvSpPr>
        <p:spPr>
          <a:xfrm>
            <a:off x="6446959" y="4886070"/>
            <a:ext cx="1420949" cy="153888"/>
          </a:xfrm>
          <a:prstGeom prst="rect">
            <a:avLst/>
          </a:prstGeom>
          <a:noFill/>
        </p:spPr>
        <p:txBody>
          <a:bodyPr wrap="non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Semibold"/>
                <a:ea typeface="+mn-ea"/>
                <a:cs typeface="+mn-cs"/>
              </a:rPr>
              <a:t>Copilot Chat</a:t>
            </a:r>
            <a:r>
              <a:rPr kumimoji="0" lang="en-US" sz="1000" b="0" i="0" u="none" strike="noStrike" kern="1200" cap="none" spc="0" normalizeH="0" baseline="30000" noProof="0" dirty="0">
                <a:ln>
                  <a:noFill/>
                </a:ln>
                <a:solidFill>
                  <a:srgbClr val="000000"/>
                </a:solidFill>
                <a:effectLst/>
                <a:uLnTx/>
                <a:uFillTx/>
                <a:latin typeface="Segoe UI Semibold"/>
                <a:ea typeface="+mn-ea"/>
                <a:cs typeface="+mn-cs"/>
              </a:rPr>
              <a:t>1</a:t>
            </a:r>
          </a:p>
        </p:txBody>
      </p:sp>
      <p:sp>
        <p:nvSpPr>
          <p:cNvPr id="248" name="TextBox 247">
            <a:extLst>
              <a:ext uri="{FF2B5EF4-FFF2-40B4-BE49-F238E27FC236}">
                <a16:creationId xmlns:a16="http://schemas.microsoft.com/office/drawing/2014/main" id="{D497DD26-8E0A-CE19-4189-84A1D5BADC1C}"/>
              </a:ext>
              <a:ext uri="{C183D7F6-B498-43B3-948B-1728B52AA6E4}">
                <adec:decorative xmlns:adec="http://schemas.microsoft.com/office/drawing/2017/decorative" val="0"/>
              </a:ext>
            </a:extLst>
          </p:cNvPr>
          <p:cNvSpPr txBox="1">
            <a:spLocks/>
          </p:cNvSpPr>
          <p:nvPr/>
        </p:nvSpPr>
        <p:spPr>
          <a:xfrm>
            <a:off x="3562472" y="4886070"/>
            <a:ext cx="1420949" cy="153888"/>
          </a:xfrm>
          <a:prstGeom prst="rect">
            <a:avLst/>
          </a:prstGeom>
          <a:noFill/>
        </p:spPr>
        <p:txBody>
          <a:bodyPr wrap="non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Semibold"/>
                <a:ea typeface="+mn-ea"/>
                <a:cs typeface="+mn-cs"/>
              </a:rPr>
              <a:t>Copilot Chat</a:t>
            </a:r>
            <a:r>
              <a:rPr kumimoji="0" lang="en-US" sz="1000" b="0" i="0" u="none" strike="noStrike" kern="1200" cap="none" spc="0" normalizeH="0" baseline="30000" noProof="0" dirty="0">
                <a:ln>
                  <a:noFill/>
                </a:ln>
                <a:solidFill>
                  <a:srgbClr val="000000"/>
                </a:solidFill>
                <a:effectLst/>
                <a:uLnTx/>
                <a:uFillTx/>
                <a:latin typeface="Segoe UI Semibold"/>
                <a:ea typeface="+mn-ea"/>
                <a:cs typeface="+mn-cs"/>
              </a:rPr>
              <a:t>1</a:t>
            </a:r>
          </a:p>
        </p:txBody>
      </p:sp>
      <p:sp>
        <p:nvSpPr>
          <p:cNvPr id="272" name="TextBox 271">
            <a:extLst>
              <a:ext uri="{FF2B5EF4-FFF2-40B4-BE49-F238E27FC236}">
                <a16:creationId xmlns:a16="http://schemas.microsoft.com/office/drawing/2014/main" id="{A41FC249-0839-250C-0261-321D75565A9E}"/>
              </a:ext>
              <a:ext uri="{C183D7F6-B498-43B3-948B-1728B52AA6E4}">
                <adec:decorative xmlns:adec="http://schemas.microsoft.com/office/drawing/2017/decorative" val="0"/>
              </a:ext>
            </a:extLst>
          </p:cNvPr>
          <p:cNvSpPr txBox="1">
            <a:spLocks/>
          </p:cNvSpPr>
          <p:nvPr/>
        </p:nvSpPr>
        <p:spPr>
          <a:xfrm>
            <a:off x="9328926" y="4816821"/>
            <a:ext cx="1830524" cy="2923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Semibold"/>
                <a:ea typeface="+mn-ea"/>
                <a:cs typeface="+mn-cs"/>
              </a:rPr>
              <a:t>AI Agent</a:t>
            </a:r>
            <a:r>
              <a:rPr kumimoji="0" lang="en-US" sz="1000" b="0" i="0" u="none" strike="noStrike" kern="1200" cap="none" spc="0" normalizeH="0" baseline="30000" noProof="0" dirty="0">
                <a:ln>
                  <a:noFill/>
                </a:ln>
                <a:solidFill>
                  <a:srgbClr val="000000"/>
                </a:solidFill>
                <a:effectLst/>
                <a:uLnTx/>
                <a:uFillTx/>
                <a:latin typeface="Segoe UI Semibold"/>
                <a:ea typeface="+mn-ea"/>
                <a:cs typeface="+mn-cs"/>
              </a:rPr>
              <a:t>3</a:t>
            </a:r>
          </a:p>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78D4"/>
                </a:solidFill>
                <a:effectLst/>
                <a:uLnTx/>
                <a:uFillTx/>
                <a:latin typeface="Segoe UI Semibold"/>
                <a:ea typeface="+mn-ea"/>
                <a:cs typeface="+mn-cs"/>
              </a:rPr>
              <a:t>+ Connection to Outlook</a:t>
            </a:r>
          </a:p>
        </p:txBody>
      </p:sp>
      <p:pic>
        <p:nvPicPr>
          <p:cNvPr id="2" name="Picture 1">
            <a:extLst>
              <a:ext uri="{FF2B5EF4-FFF2-40B4-BE49-F238E27FC236}">
                <a16:creationId xmlns:a16="http://schemas.microsoft.com/office/drawing/2014/main" id="{7FAAA856-F0F3-31EA-F3EF-4530108E9EF3}"/>
              </a:ext>
            </a:extLst>
          </p:cNvPr>
          <p:cNvPicPr>
            <a:picLocks noChangeAspect="1"/>
          </p:cNvPicPr>
          <p:nvPr/>
        </p:nvPicPr>
        <p:blipFill>
          <a:blip r:embed="rId6"/>
          <a:stretch>
            <a:fillRect/>
          </a:stretch>
        </p:blipFill>
        <p:spPr>
          <a:xfrm>
            <a:off x="3189769" y="2233943"/>
            <a:ext cx="273674" cy="239465"/>
          </a:xfrm>
          <a:prstGeom prst="rect">
            <a:avLst/>
          </a:prstGeom>
        </p:spPr>
      </p:pic>
      <p:pic>
        <p:nvPicPr>
          <p:cNvPr id="3" name="Picture 2">
            <a:extLst>
              <a:ext uri="{FF2B5EF4-FFF2-40B4-BE49-F238E27FC236}">
                <a16:creationId xmlns:a16="http://schemas.microsoft.com/office/drawing/2014/main" id="{E9E3FCD7-CEFB-DB67-6813-601259152585}"/>
              </a:ext>
            </a:extLst>
          </p:cNvPr>
          <p:cNvPicPr>
            <a:picLocks noChangeAspect="1"/>
          </p:cNvPicPr>
          <p:nvPr/>
        </p:nvPicPr>
        <p:blipFill>
          <a:blip r:embed="rId6"/>
          <a:stretch>
            <a:fillRect/>
          </a:stretch>
        </p:blipFill>
        <p:spPr>
          <a:xfrm>
            <a:off x="6074256" y="2223761"/>
            <a:ext cx="273674" cy="239465"/>
          </a:xfrm>
          <a:prstGeom prst="rect">
            <a:avLst/>
          </a:prstGeom>
        </p:spPr>
      </p:pic>
      <p:pic>
        <p:nvPicPr>
          <p:cNvPr id="4" name="Picture 3">
            <a:extLst>
              <a:ext uri="{FF2B5EF4-FFF2-40B4-BE49-F238E27FC236}">
                <a16:creationId xmlns:a16="http://schemas.microsoft.com/office/drawing/2014/main" id="{D0E44248-7A5C-6432-9FF9-C518844B563E}"/>
              </a:ext>
            </a:extLst>
          </p:cNvPr>
          <p:cNvPicPr>
            <a:picLocks noChangeAspect="1"/>
          </p:cNvPicPr>
          <p:nvPr/>
        </p:nvPicPr>
        <p:blipFill>
          <a:blip r:embed="rId6"/>
          <a:stretch>
            <a:fillRect/>
          </a:stretch>
        </p:blipFill>
        <p:spPr>
          <a:xfrm>
            <a:off x="8955945" y="2280314"/>
            <a:ext cx="273674" cy="239465"/>
          </a:xfrm>
          <a:prstGeom prst="rect">
            <a:avLst/>
          </a:prstGeom>
        </p:spPr>
      </p:pic>
      <p:pic>
        <p:nvPicPr>
          <p:cNvPr id="5" name="Picture 4">
            <a:extLst>
              <a:ext uri="{FF2B5EF4-FFF2-40B4-BE49-F238E27FC236}">
                <a16:creationId xmlns:a16="http://schemas.microsoft.com/office/drawing/2014/main" id="{E531A9E0-BE52-8399-E106-280B0C00C0CB}"/>
              </a:ext>
            </a:extLst>
          </p:cNvPr>
          <p:cNvPicPr>
            <a:picLocks noChangeAspect="1"/>
          </p:cNvPicPr>
          <p:nvPr/>
        </p:nvPicPr>
        <p:blipFill>
          <a:blip r:embed="rId6"/>
          <a:stretch>
            <a:fillRect/>
          </a:stretch>
        </p:blipFill>
        <p:spPr>
          <a:xfrm>
            <a:off x="8946290" y="4819886"/>
            <a:ext cx="273674" cy="239465"/>
          </a:xfrm>
          <a:prstGeom prst="rect">
            <a:avLst/>
          </a:prstGeom>
        </p:spPr>
      </p:pic>
    </p:spTree>
    <p:extLst>
      <p:ext uri="{BB962C8B-B14F-4D97-AF65-F5344CB8AC3E}">
        <p14:creationId xmlns:p14="http://schemas.microsoft.com/office/powerpoint/2010/main" val="1960731779"/>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8" name="think-cell data - do not delete" hidden="1">
            <a:extLst>
              <a:ext uri="{FF2B5EF4-FFF2-40B4-BE49-F238E27FC236}">
                <a16:creationId xmlns:a16="http://schemas.microsoft.com/office/drawing/2014/main" id="{CD084B43-9007-8915-A2E0-8F51F44E2355}"/>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32" imgH="533" progId="TCLayout.ActiveDocument.1">
                  <p:embed/>
                </p:oleObj>
              </mc:Choice>
              <mc:Fallback>
                <p:oleObj name="think-cell Slide" r:id="rId3" imgW="532" imgH="533" progId="TCLayout.ActiveDocument.1">
                  <p:embed/>
                  <p:pic>
                    <p:nvPicPr>
                      <p:cNvPr id="28" name="think-cell data - do not delete" hidden="1">
                        <a:extLst>
                          <a:ext uri="{FF2B5EF4-FFF2-40B4-BE49-F238E27FC236}">
                            <a16:creationId xmlns:a16="http://schemas.microsoft.com/office/drawing/2014/main" id="{CD084B43-9007-8915-A2E0-8F51F44E235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61" name="Text Placeholder 260">
            <a:extLst>
              <a:ext uri="{FF2B5EF4-FFF2-40B4-BE49-F238E27FC236}">
                <a16:creationId xmlns:a16="http://schemas.microsoft.com/office/drawing/2014/main" id="{44E27A59-739E-065D-919B-27C99B19808E}"/>
              </a:ext>
            </a:extLst>
          </p:cNvPr>
          <p:cNvSpPr>
            <a:spLocks noGrp="1"/>
          </p:cNvSpPr>
          <p:nvPr>
            <p:ph type="body" sz="quarter" idx="32"/>
          </p:nvPr>
        </p:nvSpPr>
        <p:spPr>
          <a:xfrm>
            <a:off x="311388" y="1026303"/>
            <a:ext cx="2431246" cy="1131079"/>
          </a:xfrm>
        </p:spPr>
        <p:txBody>
          <a:bodyPr/>
          <a:lstStyle/>
          <a:p>
            <a:r>
              <a:rPr lang="en-US" noProof="0" dirty="0"/>
              <a:t>Copilot can assist analysts with understanding the proposal and the analysis required to produce a comprehensive business case to facilitate investment decisions.</a:t>
            </a:r>
          </a:p>
        </p:txBody>
      </p:sp>
      <p:sp>
        <p:nvSpPr>
          <p:cNvPr id="262" name="Text Placeholder 261">
            <a:extLst>
              <a:ext uri="{FF2B5EF4-FFF2-40B4-BE49-F238E27FC236}">
                <a16:creationId xmlns:a16="http://schemas.microsoft.com/office/drawing/2014/main" id="{CDE3243D-18E6-3373-4AFA-11EFF8A515AD}"/>
              </a:ext>
            </a:extLst>
          </p:cNvPr>
          <p:cNvSpPr>
            <a:spLocks noGrp="1"/>
          </p:cNvSpPr>
          <p:nvPr>
            <p:ph type="body" sz="quarter" idx="33"/>
          </p:nvPr>
        </p:nvSpPr>
        <p:spPr>
          <a:xfrm>
            <a:off x="304796" y="413987"/>
            <a:ext cx="2057403" cy="307777"/>
          </a:xfrm>
        </p:spPr>
        <p:txBody>
          <a:bodyPr/>
          <a:lstStyle/>
          <a:p>
            <a:r>
              <a:rPr lang="en-US" noProof="0" dirty="0"/>
              <a:t>Finance</a:t>
            </a:r>
          </a:p>
        </p:txBody>
      </p:sp>
      <p:sp>
        <p:nvSpPr>
          <p:cNvPr id="260" name="Text Placeholder 259">
            <a:extLst>
              <a:ext uri="{FF2B5EF4-FFF2-40B4-BE49-F238E27FC236}">
                <a16:creationId xmlns:a16="http://schemas.microsoft.com/office/drawing/2014/main" id="{8B0B7C46-3FDB-7DA1-3C89-D4398944B5BF}"/>
              </a:ext>
            </a:extLst>
          </p:cNvPr>
          <p:cNvSpPr>
            <a:spLocks noGrp="1"/>
          </p:cNvSpPr>
          <p:nvPr>
            <p:ph type="body" sz="quarter" idx="30"/>
          </p:nvPr>
        </p:nvSpPr>
        <p:spPr>
          <a:xfrm>
            <a:off x="10430351" y="521099"/>
            <a:ext cx="1456966" cy="175614"/>
          </a:xfrm>
        </p:spPr>
        <p:txBody>
          <a:bodyPr/>
          <a:lstStyle/>
          <a:p>
            <a:r>
              <a:rPr lang="en-US" noProof="0" dirty="0"/>
              <a:t>Extend</a:t>
            </a:r>
          </a:p>
        </p:txBody>
      </p:sp>
      <p:sp>
        <p:nvSpPr>
          <p:cNvPr id="258" name="Text Placeholder 257">
            <a:extLst>
              <a:ext uri="{FF2B5EF4-FFF2-40B4-BE49-F238E27FC236}">
                <a16:creationId xmlns:a16="http://schemas.microsoft.com/office/drawing/2014/main" id="{7A416483-F119-80B5-BFA2-6AFD112993A7}"/>
              </a:ext>
            </a:extLst>
          </p:cNvPr>
          <p:cNvSpPr>
            <a:spLocks noGrp="1"/>
          </p:cNvSpPr>
          <p:nvPr>
            <p:ph type="body" sz="quarter" idx="17"/>
          </p:nvPr>
        </p:nvSpPr>
        <p:spPr>
          <a:xfrm>
            <a:off x="7149557" y="521100"/>
            <a:ext cx="2969488" cy="169277"/>
          </a:xfrm>
        </p:spPr>
        <p:txBody>
          <a:bodyPr/>
          <a:lstStyle/>
          <a:p>
            <a:r>
              <a:rPr lang="en-US" noProof="0" dirty="0"/>
              <a:t>Microsoft 365 Copilot and Copilot Studio</a:t>
            </a:r>
          </a:p>
        </p:txBody>
      </p:sp>
      <p:sp>
        <p:nvSpPr>
          <p:cNvPr id="256" name="Title 255">
            <a:extLst>
              <a:ext uri="{FF2B5EF4-FFF2-40B4-BE49-F238E27FC236}">
                <a16:creationId xmlns:a16="http://schemas.microsoft.com/office/drawing/2014/main" id="{7EA9AC25-41DD-2C3A-E057-3C623107DAFE}"/>
              </a:ext>
            </a:extLst>
          </p:cNvPr>
          <p:cNvSpPr>
            <a:spLocks noGrp="1"/>
          </p:cNvSpPr>
          <p:nvPr>
            <p:ph type="title"/>
          </p:nvPr>
        </p:nvSpPr>
        <p:spPr>
          <a:xfrm>
            <a:off x="2492556" y="429376"/>
            <a:ext cx="4144817" cy="276999"/>
          </a:xfrm>
        </p:spPr>
        <p:txBody>
          <a:bodyPr vert="horz"/>
          <a:lstStyle/>
          <a:p>
            <a:r>
              <a:rPr lang="en-US" noProof="0" dirty="0"/>
              <a:t>Build a business case</a:t>
            </a:r>
          </a:p>
        </p:txBody>
      </p:sp>
      <p:sp>
        <p:nvSpPr>
          <p:cNvPr id="275" name="Text Placeholder 274">
            <a:extLst>
              <a:ext uri="{FF2B5EF4-FFF2-40B4-BE49-F238E27FC236}">
                <a16:creationId xmlns:a16="http://schemas.microsoft.com/office/drawing/2014/main" id="{6B7C963C-F336-9986-0939-8F2A664E936C}"/>
              </a:ext>
            </a:extLst>
          </p:cNvPr>
          <p:cNvSpPr>
            <a:spLocks noGrp="1"/>
          </p:cNvSpPr>
          <p:nvPr>
            <p:ph type="body" sz="quarter" idx="69"/>
          </p:nvPr>
        </p:nvSpPr>
        <p:spPr>
          <a:xfrm>
            <a:off x="3182890" y="2725494"/>
            <a:ext cx="2572262" cy="712876"/>
          </a:xfrm>
        </p:spPr>
        <p:txBody>
          <a:bodyPr/>
          <a:lstStyle/>
          <a:p>
            <a:r>
              <a:rPr lang="en-US" noProof="0" dirty="0"/>
              <a:t>Benefit: </a:t>
            </a:r>
            <a:r>
              <a:rPr lang="en-US" noProof="0" dirty="0">
                <a:latin typeface="+mj-lt"/>
              </a:rPr>
              <a:t>Streamline the review process</a:t>
            </a:r>
            <a:r>
              <a:rPr lang="en-US" noProof="0" dirty="0"/>
              <a:t> and quickly understand key issues to be addressed with the potential investment.</a:t>
            </a:r>
          </a:p>
        </p:txBody>
      </p:sp>
      <p:sp>
        <p:nvSpPr>
          <p:cNvPr id="257" name="Text Placeholder 256">
            <a:extLst>
              <a:ext uri="{FF2B5EF4-FFF2-40B4-BE49-F238E27FC236}">
                <a16:creationId xmlns:a16="http://schemas.microsoft.com/office/drawing/2014/main" id="{3061A368-66BD-4254-823C-D43305840207}"/>
              </a:ext>
            </a:extLst>
          </p:cNvPr>
          <p:cNvSpPr>
            <a:spLocks noGrp="1"/>
          </p:cNvSpPr>
          <p:nvPr>
            <p:ph type="body" sz="quarter" idx="11"/>
          </p:nvPr>
        </p:nvSpPr>
        <p:spPr>
          <a:xfrm>
            <a:off x="3182890" y="1112478"/>
            <a:ext cx="2572262" cy="153888"/>
          </a:xfrm>
        </p:spPr>
        <p:txBody>
          <a:bodyPr/>
          <a:lstStyle/>
          <a:p>
            <a:r>
              <a:rPr lang="en-US" noProof="0" dirty="0"/>
              <a:t>Define investment opportunity</a:t>
            </a:r>
          </a:p>
        </p:txBody>
      </p:sp>
      <p:sp>
        <p:nvSpPr>
          <p:cNvPr id="259" name="Text Placeholder 258">
            <a:extLst>
              <a:ext uri="{FF2B5EF4-FFF2-40B4-BE49-F238E27FC236}">
                <a16:creationId xmlns:a16="http://schemas.microsoft.com/office/drawing/2014/main" id="{CBB20262-CCDB-3DD3-64B0-94C385B8321A}"/>
              </a:ext>
            </a:extLst>
          </p:cNvPr>
          <p:cNvSpPr>
            <a:spLocks noGrp="1"/>
          </p:cNvSpPr>
          <p:nvPr>
            <p:ph type="body" sz="quarter" idx="18"/>
          </p:nvPr>
        </p:nvSpPr>
        <p:spPr>
          <a:xfrm>
            <a:off x="3182890" y="1438715"/>
            <a:ext cx="2572262" cy="626701"/>
          </a:xfrm>
        </p:spPr>
        <p:txBody>
          <a:bodyPr/>
          <a:lstStyle/>
          <a:p>
            <a:r>
              <a:rPr lang="en-US" noProof="0" dirty="0"/>
              <a:t>Ask Copilot to create a project brief including data from emails, competitive research, and financial records pulled from AI Agents. Copy the brief into Word and further edit using Copilot in Word.</a:t>
            </a:r>
          </a:p>
        </p:txBody>
      </p:sp>
      <p:sp>
        <p:nvSpPr>
          <p:cNvPr id="264" name="Text Placeholder 263">
            <a:extLst>
              <a:ext uri="{FF2B5EF4-FFF2-40B4-BE49-F238E27FC236}">
                <a16:creationId xmlns:a16="http://schemas.microsoft.com/office/drawing/2014/main" id="{A931C41F-1EBB-40BF-C009-F1D18A448DE4}"/>
              </a:ext>
            </a:extLst>
          </p:cNvPr>
          <p:cNvSpPr>
            <a:spLocks noGrp="1"/>
          </p:cNvSpPr>
          <p:nvPr>
            <p:ph type="body" sz="quarter" idx="42"/>
          </p:nvPr>
        </p:nvSpPr>
        <p:spPr>
          <a:xfrm>
            <a:off x="6066682" y="1112478"/>
            <a:ext cx="2572262" cy="153888"/>
          </a:xfrm>
        </p:spPr>
        <p:txBody>
          <a:bodyPr/>
          <a:lstStyle/>
          <a:p>
            <a:r>
              <a:rPr lang="en-US" noProof="0" dirty="0"/>
              <a:t>Gather project information</a:t>
            </a:r>
          </a:p>
        </p:txBody>
      </p:sp>
      <p:sp>
        <p:nvSpPr>
          <p:cNvPr id="265" name="Text Placeholder 264">
            <a:extLst>
              <a:ext uri="{FF2B5EF4-FFF2-40B4-BE49-F238E27FC236}">
                <a16:creationId xmlns:a16="http://schemas.microsoft.com/office/drawing/2014/main" id="{05551418-9E6D-BFD8-4CBE-7E1FD0832634}"/>
              </a:ext>
            </a:extLst>
          </p:cNvPr>
          <p:cNvSpPr>
            <a:spLocks noGrp="1"/>
          </p:cNvSpPr>
          <p:nvPr>
            <p:ph type="body" sz="quarter" idx="43"/>
          </p:nvPr>
        </p:nvSpPr>
        <p:spPr>
          <a:xfrm>
            <a:off x="6066682" y="1438715"/>
            <a:ext cx="2572262" cy="626701"/>
          </a:xfrm>
        </p:spPr>
        <p:txBody>
          <a:bodyPr/>
          <a:lstStyle/>
          <a:p>
            <a:r>
              <a:rPr lang="en-US" noProof="0" dirty="0"/>
              <a:t>Meet with the business development team to learn about the various options available and gather financial information. Use Copilot in Teams to suggest questions and summarize the meeting.</a:t>
            </a:r>
          </a:p>
        </p:txBody>
      </p:sp>
      <p:sp>
        <p:nvSpPr>
          <p:cNvPr id="269" name="Text Placeholder 268">
            <a:extLst>
              <a:ext uri="{FF2B5EF4-FFF2-40B4-BE49-F238E27FC236}">
                <a16:creationId xmlns:a16="http://schemas.microsoft.com/office/drawing/2014/main" id="{2305A713-4472-2148-09A5-5D1F489E4B48}"/>
              </a:ext>
            </a:extLst>
          </p:cNvPr>
          <p:cNvSpPr>
            <a:spLocks noGrp="1"/>
          </p:cNvSpPr>
          <p:nvPr>
            <p:ph type="body" sz="quarter" idx="68"/>
          </p:nvPr>
        </p:nvSpPr>
        <p:spPr>
          <a:xfrm>
            <a:off x="8950475" y="2725494"/>
            <a:ext cx="2572262" cy="712876"/>
          </a:xfrm>
        </p:spPr>
        <p:txBody>
          <a:bodyPr/>
          <a:lstStyle/>
          <a:p>
            <a:r>
              <a:rPr lang="en-US" noProof="0" dirty="0"/>
              <a:t>Benefit: </a:t>
            </a:r>
            <a:r>
              <a:rPr lang="en-US" noProof="0" dirty="0">
                <a:latin typeface="+mj-lt"/>
              </a:rPr>
              <a:t>Eliminate time</a:t>
            </a:r>
            <a:r>
              <a:rPr lang="en-US" noProof="0" dirty="0"/>
              <a:t> spent searching for data and information from across complex systems.</a:t>
            </a:r>
          </a:p>
        </p:txBody>
      </p:sp>
      <p:sp>
        <p:nvSpPr>
          <p:cNvPr id="267" name="Text Placeholder 266">
            <a:extLst>
              <a:ext uri="{FF2B5EF4-FFF2-40B4-BE49-F238E27FC236}">
                <a16:creationId xmlns:a16="http://schemas.microsoft.com/office/drawing/2014/main" id="{187EE2F7-33C2-C710-B764-EC8DA50C941C}"/>
              </a:ext>
            </a:extLst>
          </p:cNvPr>
          <p:cNvSpPr>
            <a:spLocks noGrp="1"/>
          </p:cNvSpPr>
          <p:nvPr>
            <p:ph type="body" sz="quarter" idx="45"/>
          </p:nvPr>
        </p:nvSpPr>
        <p:spPr>
          <a:xfrm>
            <a:off x="8950475" y="1112478"/>
            <a:ext cx="2572262" cy="153888"/>
          </a:xfrm>
        </p:spPr>
        <p:txBody>
          <a:bodyPr/>
          <a:lstStyle/>
          <a:p>
            <a:r>
              <a:rPr lang="en-US" noProof="0" dirty="0"/>
              <a:t>Gather financial data</a:t>
            </a:r>
          </a:p>
        </p:txBody>
      </p:sp>
      <p:sp>
        <p:nvSpPr>
          <p:cNvPr id="268" name="Text Placeholder 267">
            <a:extLst>
              <a:ext uri="{FF2B5EF4-FFF2-40B4-BE49-F238E27FC236}">
                <a16:creationId xmlns:a16="http://schemas.microsoft.com/office/drawing/2014/main" id="{DED81AA6-36B4-B0D7-CD24-5AFAE08EB4F6}"/>
              </a:ext>
            </a:extLst>
          </p:cNvPr>
          <p:cNvSpPr>
            <a:spLocks noGrp="1"/>
          </p:cNvSpPr>
          <p:nvPr>
            <p:ph type="body" sz="quarter" idx="46"/>
          </p:nvPr>
        </p:nvSpPr>
        <p:spPr>
          <a:xfrm>
            <a:off x="8950475" y="1438715"/>
            <a:ext cx="2572262" cy="626701"/>
          </a:xfrm>
        </p:spPr>
        <p:txBody>
          <a:bodyPr/>
          <a:lstStyle/>
          <a:p>
            <a:r>
              <a:rPr lang="en-US" noProof="0" dirty="0"/>
              <a:t>Analyze financial data with Copilot in Excel. Use Copilot for Finance to pull in ERP system insights. The use Copilot in Excel to make suggestions and provide guidance like how to use the FORECAST function.</a:t>
            </a:r>
          </a:p>
        </p:txBody>
      </p:sp>
      <p:sp>
        <p:nvSpPr>
          <p:cNvPr id="278" name="Text Placeholder 277">
            <a:extLst>
              <a:ext uri="{FF2B5EF4-FFF2-40B4-BE49-F238E27FC236}">
                <a16:creationId xmlns:a16="http://schemas.microsoft.com/office/drawing/2014/main" id="{ABF1693A-8DD1-D598-E54B-14956322CAAB}"/>
              </a:ext>
            </a:extLst>
          </p:cNvPr>
          <p:cNvSpPr>
            <a:spLocks noGrp="1"/>
          </p:cNvSpPr>
          <p:nvPr>
            <p:ph type="body" sz="quarter" idx="70"/>
          </p:nvPr>
        </p:nvSpPr>
        <p:spPr>
          <a:xfrm>
            <a:off x="6066682" y="2725494"/>
            <a:ext cx="2572262" cy="712876"/>
          </a:xfrm>
        </p:spPr>
        <p:txBody>
          <a:bodyPr/>
          <a:lstStyle/>
          <a:p>
            <a:r>
              <a:rPr lang="en-US" noProof="0" dirty="0"/>
              <a:t>Benefit: </a:t>
            </a:r>
            <a:r>
              <a:rPr lang="en-US" noProof="0" dirty="0">
                <a:latin typeface="+mj-lt"/>
              </a:rPr>
              <a:t>Ensure a productive meeting</a:t>
            </a:r>
            <a:r>
              <a:rPr lang="en-US" noProof="0" dirty="0"/>
              <a:t> by using Copilot in Teams to suggest questions and clarify what people said. Use the recap for a summary and action items.</a:t>
            </a:r>
          </a:p>
        </p:txBody>
      </p:sp>
      <p:sp>
        <p:nvSpPr>
          <p:cNvPr id="270" name="Text Placeholder 269">
            <a:extLst>
              <a:ext uri="{FF2B5EF4-FFF2-40B4-BE49-F238E27FC236}">
                <a16:creationId xmlns:a16="http://schemas.microsoft.com/office/drawing/2014/main" id="{26238633-67B6-760E-7425-76B71765FBDD}"/>
              </a:ext>
            </a:extLst>
          </p:cNvPr>
          <p:cNvSpPr>
            <a:spLocks noGrp="1"/>
          </p:cNvSpPr>
          <p:nvPr>
            <p:ph type="body" sz="quarter" idx="48"/>
          </p:nvPr>
        </p:nvSpPr>
        <p:spPr>
          <a:xfrm>
            <a:off x="3182890" y="5334522"/>
            <a:ext cx="2572262" cy="712876"/>
          </a:xfrm>
        </p:spPr>
        <p:txBody>
          <a:bodyPr/>
          <a:lstStyle/>
          <a:p>
            <a:r>
              <a:rPr lang="en-US" noProof="0" dirty="0"/>
              <a:t>Benefit: </a:t>
            </a:r>
            <a:r>
              <a:rPr lang="en-US" noProof="0" dirty="0">
                <a:latin typeface="+mj-lt"/>
              </a:rPr>
              <a:t>Speed analysis </a:t>
            </a:r>
            <a:r>
              <a:rPr lang="en-US" noProof="0" dirty="0"/>
              <a:t>by using Copilot for Finance to accelerate variance analyses.</a:t>
            </a:r>
          </a:p>
        </p:txBody>
      </p:sp>
      <p:sp>
        <p:nvSpPr>
          <p:cNvPr id="271" name="Text Placeholder 270">
            <a:extLst>
              <a:ext uri="{FF2B5EF4-FFF2-40B4-BE49-F238E27FC236}">
                <a16:creationId xmlns:a16="http://schemas.microsoft.com/office/drawing/2014/main" id="{E7E3F834-7A98-8508-0D84-FE41B058CE0B}"/>
              </a:ext>
            </a:extLst>
          </p:cNvPr>
          <p:cNvSpPr>
            <a:spLocks noGrp="1"/>
          </p:cNvSpPr>
          <p:nvPr>
            <p:ph type="body" sz="quarter" idx="49"/>
          </p:nvPr>
        </p:nvSpPr>
        <p:spPr>
          <a:xfrm>
            <a:off x="3182890" y="3725103"/>
            <a:ext cx="2572262" cy="153888"/>
          </a:xfrm>
        </p:spPr>
        <p:txBody>
          <a:bodyPr/>
          <a:lstStyle/>
          <a:p>
            <a:r>
              <a:rPr lang="en-US" noProof="0" dirty="0"/>
              <a:t>Test the business case</a:t>
            </a:r>
          </a:p>
        </p:txBody>
      </p:sp>
      <p:sp>
        <p:nvSpPr>
          <p:cNvPr id="272" name="Text Placeholder 271">
            <a:extLst>
              <a:ext uri="{FF2B5EF4-FFF2-40B4-BE49-F238E27FC236}">
                <a16:creationId xmlns:a16="http://schemas.microsoft.com/office/drawing/2014/main" id="{09DC7F09-172B-9077-AF75-0B8D02FBAB37}"/>
              </a:ext>
            </a:extLst>
          </p:cNvPr>
          <p:cNvSpPr>
            <a:spLocks noGrp="1"/>
          </p:cNvSpPr>
          <p:nvPr>
            <p:ph type="body" sz="quarter" idx="50"/>
          </p:nvPr>
        </p:nvSpPr>
        <p:spPr>
          <a:xfrm>
            <a:off x="3182890" y="4050957"/>
            <a:ext cx="2572262" cy="626701"/>
          </a:xfrm>
        </p:spPr>
        <p:txBody>
          <a:bodyPr/>
          <a:lstStyle/>
          <a:p>
            <a:r>
              <a:rPr lang="en-US" noProof="0" dirty="0"/>
              <a:t>After the business case has been implemented </a:t>
            </a:r>
            <a:br>
              <a:rPr lang="en-US" noProof="0" dirty="0"/>
            </a:br>
            <a:r>
              <a:rPr lang="en-US" noProof="0" dirty="0"/>
              <a:t>for 6 months, use Copilot for Finance to conduct </a:t>
            </a:r>
            <a:br>
              <a:rPr lang="en-US" noProof="0" dirty="0"/>
            </a:br>
            <a:r>
              <a:rPr lang="en-US" noProof="0" dirty="0"/>
              <a:t>a variance analysis and capture project KPIs.</a:t>
            </a:r>
          </a:p>
        </p:txBody>
      </p:sp>
      <p:sp>
        <p:nvSpPr>
          <p:cNvPr id="273" name="Text Placeholder 272">
            <a:extLst>
              <a:ext uri="{FF2B5EF4-FFF2-40B4-BE49-F238E27FC236}">
                <a16:creationId xmlns:a16="http://schemas.microsoft.com/office/drawing/2014/main" id="{FE865AAB-AB7B-E019-0688-B2D7059CD04D}"/>
              </a:ext>
            </a:extLst>
          </p:cNvPr>
          <p:cNvSpPr>
            <a:spLocks noGrp="1"/>
          </p:cNvSpPr>
          <p:nvPr>
            <p:ph type="body" sz="quarter" idx="51"/>
          </p:nvPr>
        </p:nvSpPr>
        <p:spPr>
          <a:xfrm>
            <a:off x="6066682" y="3725103"/>
            <a:ext cx="2572262" cy="153888"/>
          </a:xfrm>
        </p:spPr>
        <p:txBody>
          <a:bodyPr/>
          <a:lstStyle/>
          <a:p>
            <a:r>
              <a:rPr lang="en-US" noProof="0" dirty="0"/>
              <a:t>Produce summary report</a:t>
            </a:r>
          </a:p>
        </p:txBody>
      </p:sp>
      <p:sp>
        <p:nvSpPr>
          <p:cNvPr id="274" name="Text Placeholder 273">
            <a:extLst>
              <a:ext uri="{FF2B5EF4-FFF2-40B4-BE49-F238E27FC236}">
                <a16:creationId xmlns:a16="http://schemas.microsoft.com/office/drawing/2014/main" id="{1142F7E6-BFCF-CF15-92D9-0205C19629D3}"/>
              </a:ext>
            </a:extLst>
          </p:cNvPr>
          <p:cNvSpPr>
            <a:spLocks noGrp="1"/>
          </p:cNvSpPr>
          <p:nvPr>
            <p:ph type="body" sz="quarter" idx="52"/>
          </p:nvPr>
        </p:nvSpPr>
        <p:spPr>
          <a:xfrm>
            <a:off x="6066682" y="4050957"/>
            <a:ext cx="2572262" cy="626701"/>
          </a:xfrm>
        </p:spPr>
        <p:txBody>
          <a:bodyPr/>
          <a:lstStyle/>
          <a:p>
            <a:r>
              <a:rPr lang="en-US" noProof="0" dirty="0"/>
              <a:t>Once the business case analysis is complete, use </a:t>
            </a:r>
            <a:r>
              <a:rPr lang="en-US" dirty="0"/>
              <a:t>PowerPoint </a:t>
            </a:r>
            <a:r>
              <a:rPr lang="en-US" noProof="0" dirty="0"/>
              <a:t>Agent to turn the project brief into a set of PowerPoint slides for the executive presentation.</a:t>
            </a:r>
          </a:p>
        </p:txBody>
      </p:sp>
      <p:sp>
        <p:nvSpPr>
          <p:cNvPr id="263" name="Text Placeholder 262">
            <a:extLst>
              <a:ext uri="{FF2B5EF4-FFF2-40B4-BE49-F238E27FC236}">
                <a16:creationId xmlns:a16="http://schemas.microsoft.com/office/drawing/2014/main" id="{35E3CECB-5AA0-4DD0-F2DF-0D793AAB5B44}"/>
              </a:ext>
            </a:extLst>
          </p:cNvPr>
          <p:cNvSpPr>
            <a:spLocks noGrp="1"/>
          </p:cNvSpPr>
          <p:nvPr>
            <p:ph type="body" sz="quarter" idx="66"/>
          </p:nvPr>
        </p:nvSpPr>
        <p:spPr>
          <a:xfrm>
            <a:off x="8950475" y="5334522"/>
            <a:ext cx="2572262" cy="712876"/>
          </a:xfrm>
        </p:spPr>
        <p:txBody>
          <a:bodyPr/>
          <a:lstStyle/>
          <a:p>
            <a:r>
              <a:rPr lang="en-US" noProof="0" dirty="0"/>
              <a:t>Benefit: </a:t>
            </a:r>
            <a:r>
              <a:rPr lang="en-US" noProof="0" dirty="0">
                <a:latin typeface="+mj-lt"/>
              </a:rPr>
              <a:t>Collaborate effectively across teams and functions</a:t>
            </a:r>
            <a:r>
              <a:rPr lang="en-US" noProof="0" dirty="0"/>
              <a:t> (e.g., legal, transportation) in a secure way. Use data for decision making in meetings and discussion. </a:t>
            </a:r>
          </a:p>
        </p:txBody>
      </p:sp>
      <p:sp>
        <p:nvSpPr>
          <p:cNvPr id="276" name="Text Placeholder 275">
            <a:extLst>
              <a:ext uri="{FF2B5EF4-FFF2-40B4-BE49-F238E27FC236}">
                <a16:creationId xmlns:a16="http://schemas.microsoft.com/office/drawing/2014/main" id="{59E23F21-7688-069C-3711-4AB73FAA3297}"/>
              </a:ext>
            </a:extLst>
          </p:cNvPr>
          <p:cNvSpPr>
            <a:spLocks noGrp="1"/>
          </p:cNvSpPr>
          <p:nvPr>
            <p:ph type="body" sz="quarter" idx="54"/>
          </p:nvPr>
        </p:nvSpPr>
        <p:spPr>
          <a:xfrm>
            <a:off x="8950475" y="3725103"/>
            <a:ext cx="2572262" cy="153888"/>
          </a:xfrm>
        </p:spPr>
        <p:txBody>
          <a:bodyPr/>
          <a:lstStyle/>
          <a:p>
            <a:r>
              <a:rPr lang="en-US" noProof="0" dirty="0"/>
              <a:t>Produce forecast trends</a:t>
            </a:r>
          </a:p>
        </p:txBody>
      </p:sp>
      <p:sp>
        <p:nvSpPr>
          <p:cNvPr id="277" name="Text Placeholder 276">
            <a:extLst>
              <a:ext uri="{FF2B5EF4-FFF2-40B4-BE49-F238E27FC236}">
                <a16:creationId xmlns:a16="http://schemas.microsoft.com/office/drawing/2014/main" id="{3B3C571F-6463-2AAE-F3A7-32DA73BE09BF}"/>
              </a:ext>
            </a:extLst>
          </p:cNvPr>
          <p:cNvSpPr>
            <a:spLocks noGrp="1"/>
          </p:cNvSpPr>
          <p:nvPr>
            <p:ph type="body" sz="quarter" idx="55"/>
          </p:nvPr>
        </p:nvSpPr>
        <p:spPr>
          <a:xfrm>
            <a:off x="8950475" y="4050957"/>
            <a:ext cx="2572262" cy="626701"/>
          </a:xfrm>
        </p:spPr>
        <p:txBody>
          <a:bodyPr/>
          <a:lstStyle/>
          <a:p>
            <a:r>
              <a:rPr lang="en-US" noProof="0" dirty="0"/>
              <a:t>Prompt Copilot to get the latest sales forecasts from your email. Use Copilot in Excel to filter the information and produce trend charts. Update the project brief in Word with the latest charts and tables.</a:t>
            </a:r>
          </a:p>
        </p:txBody>
      </p:sp>
      <p:sp>
        <p:nvSpPr>
          <p:cNvPr id="266" name="Text Placeholder 265">
            <a:extLst>
              <a:ext uri="{FF2B5EF4-FFF2-40B4-BE49-F238E27FC236}">
                <a16:creationId xmlns:a16="http://schemas.microsoft.com/office/drawing/2014/main" id="{953174F2-FB7B-D110-32C5-DFEB6A4416EC}"/>
              </a:ext>
            </a:extLst>
          </p:cNvPr>
          <p:cNvSpPr>
            <a:spLocks noGrp="1"/>
          </p:cNvSpPr>
          <p:nvPr>
            <p:ph type="body" sz="quarter" idx="67"/>
          </p:nvPr>
        </p:nvSpPr>
        <p:spPr>
          <a:xfrm>
            <a:off x="6066682" y="5334522"/>
            <a:ext cx="2572262" cy="712876"/>
          </a:xfrm>
        </p:spPr>
        <p:txBody>
          <a:bodyPr/>
          <a:lstStyle/>
          <a:p>
            <a:r>
              <a:rPr lang="en-US" noProof="0" dirty="0"/>
              <a:t>Benefit: </a:t>
            </a:r>
            <a:r>
              <a:rPr lang="en-US" noProof="0" dirty="0">
                <a:latin typeface="+mj-lt"/>
              </a:rPr>
              <a:t>Save time </a:t>
            </a:r>
            <a:r>
              <a:rPr lang="en-US" noProof="0" dirty="0"/>
              <a:t>by using </a:t>
            </a:r>
            <a:r>
              <a:rPr lang="en-US" dirty="0"/>
              <a:t>PowerPoint Agent</a:t>
            </a:r>
            <a:r>
              <a:rPr lang="en-US" noProof="0" dirty="0"/>
              <a:t> to </a:t>
            </a:r>
            <a:r>
              <a:rPr lang="en-US" dirty="0"/>
              <a:t>create and organize a slide deck</a:t>
            </a:r>
            <a:r>
              <a:rPr lang="en-US" noProof="0" dirty="0"/>
              <a:t>.</a:t>
            </a:r>
          </a:p>
          <a:p>
            <a:r>
              <a:rPr lang="en-US" u="sng" dirty="0">
                <a:hlinkClick r:id="rId5"/>
              </a:rPr>
              <a:t>Get started with Word, Excel, and PowerPoint Agents</a:t>
            </a:r>
            <a:endParaRPr lang="en-US" noProof="0" dirty="0"/>
          </a:p>
        </p:txBody>
      </p:sp>
      <p:sp>
        <p:nvSpPr>
          <p:cNvPr id="318" name="Text Placeholder 317">
            <a:extLst>
              <a:ext uri="{FF2B5EF4-FFF2-40B4-BE49-F238E27FC236}">
                <a16:creationId xmlns:a16="http://schemas.microsoft.com/office/drawing/2014/main" id="{FA597816-1F24-A220-5F50-3FA650E57686}"/>
              </a:ext>
            </a:extLst>
          </p:cNvPr>
          <p:cNvSpPr>
            <a:spLocks noGrp="1"/>
          </p:cNvSpPr>
          <p:nvPr>
            <p:ph type="body" sz="quarter" idx="64"/>
          </p:nvPr>
        </p:nvSpPr>
        <p:spPr>
          <a:xfrm>
            <a:off x="320721" y="4709762"/>
            <a:ext cx="1131651" cy="219456"/>
          </a:xfrm>
        </p:spPr>
        <p:txBody>
          <a:bodyPr/>
          <a:lstStyle/>
          <a:p>
            <a:r>
              <a:rPr lang="en-US" noProof="0" dirty="0"/>
              <a:t>Value benefit</a:t>
            </a:r>
          </a:p>
        </p:txBody>
      </p:sp>
      <p:sp>
        <p:nvSpPr>
          <p:cNvPr id="320" name="Text Placeholder 319">
            <a:extLst>
              <a:ext uri="{FF2B5EF4-FFF2-40B4-BE49-F238E27FC236}">
                <a16:creationId xmlns:a16="http://schemas.microsoft.com/office/drawing/2014/main" id="{D341D025-BECA-30D2-F126-F76C29142416}"/>
              </a:ext>
            </a:extLst>
          </p:cNvPr>
          <p:cNvSpPr>
            <a:spLocks noGrp="1"/>
          </p:cNvSpPr>
          <p:nvPr>
            <p:ph type="body" sz="quarter" idx="65"/>
          </p:nvPr>
        </p:nvSpPr>
        <p:spPr>
          <a:xfrm>
            <a:off x="320721" y="3467940"/>
            <a:ext cx="1131650" cy="219456"/>
          </a:xfrm>
        </p:spPr>
        <p:txBody>
          <a:bodyPr/>
          <a:lstStyle/>
          <a:p>
            <a:r>
              <a:rPr lang="en-US" noProof="0" dirty="0"/>
              <a:t>KPIs impacted</a:t>
            </a:r>
          </a:p>
        </p:txBody>
      </p:sp>
      <p:pic>
        <p:nvPicPr>
          <p:cNvPr id="302" name="Picture 6">
            <a:extLst>
              <a:ext uri="{FF2B5EF4-FFF2-40B4-BE49-F238E27FC236}">
                <a16:creationId xmlns:a16="http://schemas.microsoft.com/office/drawing/2014/main" id="{B5C6C97C-B4A6-5C70-0A21-0867706F599B}"/>
              </a:ext>
            </a:extLst>
          </p:cNvPr>
          <p:cNvPicPr>
            <a:picLocks noChangeArrowheads="1"/>
          </p:cNvPicPr>
          <p:nvPr/>
        </p:nvPicPr>
        <p:blipFill>
          <a:blip r:embed="rId6">
            <a:extLst>
              <a:ext uri="{28A0092B-C50C-407E-A947-70E740481C1C}">
                <a14:useLocalDpi xmlns:a14="http://schemas.microsoft.com/office/drawing/2010/main" val="0"/>
              </a:ext>
            </a:extLst>
          </a:blip>
          <a:srcRect t="5571" b="5571"/>
          <a:stretch/>
        </p:blipFill>
        <p:spPr bwMode="auto">
          <a:xfrm>
            <a:off x="6089011" y="2236820"/>
            <a:ext cx="245612" cy="223322"/>
          </a:xfrm>
          <a:prstGeom prst="rect">
            <a:avLst/>
          </a:prstGeom>
          <a:noFill/>
          <a:extLst>
            <a:ext uri="{909E8E84-426E-40DD-AFC4-6F175D3DCCD1}">
              <a14:hiddenFill xmlns:a14="http://schemas.microsoft.com/office/drawing/2010/main">
                <a:solidFill>
                  <a:srgbClr val="FFFFFF"/>
                </a:solidFill>
              </a14:hiddenFill>
            </a:ext>
          </a:extLst>
        </p:spPr>
      </p:pic>
      <p:pic>
        <p:nvPicPr>
          <p:cNvPr id="299" name="Picture 50">
            <a:hlinkClick r:id="rId7"/>
            <a:extLst>
              <a:ext uri="{FF2B5EF4-FFF2-40B4-BE49-F238E27FC236}">
                <a16:creationId xmlns:a16="http://schemas.microsoft.com/office/drawing/2014/main" id="{BEE9954A-7DEB-DFAB-A542-3AFBE2311E63}"/>
              </a:ext>
            </a:extLst>
          </p:cNvPr>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973821" y="4852829"/>
            <a:ext cx="242374" cy="242374"/>
          </a:xfrm>
          <a:prstGeom prst="rect">
            <a:avLst/>
          </a:prstGeom>
          <a:noFill/>
          <a:extLst>
            <a:ext uri="{909E8E84-426E-40DD-AFC4-6F175D3DCCD1}">
              <a14:hiddenFill xmlns:a14="http://schemas.microsoft.com/office/drawing/2010/main">
                <a:solidFill>
                  <a:srgbClr val="FFFFFF"/>
                </a:solidFill>
              </a14:hiddenFill>
            </a:ext>
          </a:extLst>
        </p:spPr>
      </p:pic>
      <p:grpSp>
        <p:nvGrpSpPr>
          <p:cNvPr id="303" name="Group 302">
            <a:extLst>
              <a:ext uri="{FF2B5EF4-FFF2-40B4-BE49-F238E27FC236}">
                <a16:creationId xmlns:a16="http://schemas.microsoft.com/office/drawing/2014/main" id="{2C8CE546-DF2B-841E-5589-CC88EF1ED2DA}"/>
              </a:ext>
            </a:extLst>
          </p:cNvPr>
          <p:cNvGrpSpPr/>
          <p:nvPr/>
        </p:nvGrpSpPr>
        <p:grpSpPr>
          <a:xfrm>
            <a:off x="320719" y="3778836"/>
            <a:ext cx="1771607" cy="504622"/>
            <a:chOff x="320719" y="4228589"/>
            <a:chExt cx="1771607" cy="504622"/>
          </a:xfrm>
        </p:grpSpPr>
        <p:grpSp>
          <p:nvGrpSpPr>
            <p:cNvPr id="304" name="Group 303">
              <a:extLst>
                <a:ext uri="{FF2B5EF4-FFF2-40B4-BE49-F238E27FC236}">
                  <a16:creationId xmlns:a16="http://schemas.microsoft.com/office/drawing/2014/main" id="{E03A5A1D-6676-0EFC-AA07-3679F3DE6F54}"/>
                </a:ext>
              </a:extLst>
            </p:cNvPr>
            <p:cNvGrpSpPr/>
            <p:nvPr/>
          </p:nvGrpSpPr>
          <p:grpSpPr>
            <a:xfrm>
              <a:off x="320719" y="4228589"/>
              <a:ext cx="1771605" cy="216000"/>
              <a:chOff x="320719" y="4224848"/>
              <a:chExt cx="1771605" cy="219456"/>
            </a:xfrm>
          </p:grpSpPr>
          <p:sp>
            <p:nvSpPr>
              <p:cNvPr id="308" name="Rectangle: Rounded Corners 6">
                <a:extLst>
                  <a:ext uri="{FF2B5EF4-FFF2-40B4-BE49-F238E27FC236}">
                    <a16:creationId xmlns:a16="http://schemas.microsoft.com/office/drawing/2014/main" id="{6D5BDD03-FF40-7305-BBA1-3F4E6D333432}"/>
                  </a:ext>
                  <a:ext uri="{C183D7F6-B498-43B3-948B-1728B52AA6E4}">
                    <adec:decorative xmlns:adec="http://schemas.microsoft.com/office/drawing/2017/decorative" val="1"/>
                  </a:ext>
                </a:extLst>
              </p:cNvPr>
              <p:cNvSpPr/>
              <p:nvPr/>
            </p:nvSpPr>
            <p:spPr bwMode="auto">
              <a:xfrm>
                <a:off x="320719" y="4224848"/>
                <a:ext cx="1771605" cy="219456"/>
              </a:xfrm>
              <a:prstGeom prst="roundRect">
                <a:avLst>
                  <a:gd name="adj" fmla="val 50000"/>
                </a:avLst>
              </a:prstGeom>
              <a:solidFill>
                <a:srgbClr val="FFFFFF"/>
              </a:solidFill>
              <a:ln w="12700">
                <a:solidFill>
                  <a:srgbClr val="0078D4"/>
                </a:solidFill>
                <a:headEnd type="none" w="med" len="med"/>
                <a:tailEnd type="none" w="med" len="med"/>
              </a:ln>
              <a:effectLst>
                <a:outerShdw blurRad="63500" dist="63500" dir="2700000"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16000" tIns="36576" rIns="36000" bIns="36000" numCol="1" spcCol="0" rtlCol="0" fromWordArt="0" anchor="ctr" anchorCtr="0" forceAA="0" compatLnSpc="1">
                <a:prstTxWarp prst="textNoShape">
                  <a:avLst/>
                </a:prstTxWarp>
                <a:noAutofit/>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78D4"/>
                    </a:solidFill>
                    <a:effectLst/>
                    <a:uLnTx/>
                    <a:uFillTx/>
                    <a:latin typeface="Segoe UI Semibold"/>
                    <a:ea typeface="+mn-ea"/>
                    <a:cs typeface="Segoe UI Semibold" panose="020B0702040204020203" pitchFamily="34" charset="0"/>
                  </a:rPr>
                  <a:t>Reduce spending</a:t>
                </a:r>
              </a:p>
            </p:txBody>
          </p:sp>
          <p:pic>
            <p:nvPicPr>
              <p:cNvPr id="309" name="Graphic 308">
                <a:extLst>
                  <a:ext uri="{FF2B5EF4-FFF2-40B4-BE49-F238E27FC236}">
                    <a16:creationId xmlns:a16="http://schemas.microsoft.com/office/drawing/2014/main" id="{6C4808B6-6F90-AC6E-B171-077324970456}"/>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367506" y="4260849"/>
                <a:ext cx="144000" cy="144000"/>
              </a:xfrm>
              <a:prstGeom prst="rect">
                <a:avLst/>
              </a:prstGeom>
            </p:spPr>
          </p:pic>
        </p:grpSp>
        <p:grpSp>
          <p:nvGrpSpPr>
            <p:cNvPr id="305" name="Group 304">
              <a:extLst>
                <a:ext uri="{FF2B5EF4-FFF2-40B4-BE49-F238E27FC236}">
                  <a16:creationId xmlns:a16="http://schemas.microsoft.com/office/drawing/2014/main" id="{B82AD082-B9FF-A467-C3E6-CB04BF528021}"/>
                </a:ext>
              </a:extLst>
            </p:cNvPr>
            <p:cNvGrpSpPr/>
            <p:nvPr/>
          </p:nvGrpSpPr>
          <p:grpSpPr>
            <a:xfrm>
              <a:off x="320721" y="4517211"/>
              <a:ext cx="1771605" cy="216000"/>
              <a:chOff x="320721" y="4517211"/>
              <a:chExt cx="1771605" cy="216000"/>
            </a:xfrm>
          </p:grpSpPr>
          <p:sp>
            <p:nvSpPr>
              <p:cNvPr id="306" name="Rectangle: Rounded Corners 6">
                <a:extLst>
                  <a:ext uri="{FF2B5EF4-FFF2-40B4-BE49-F238E27FC236}">
                    <a16:creationId xmlns:a16="http://schemas.microsoft.com/office/drawing/2014/main" id="{881F5FC1-8324-040C-00ED-686C27FA9158}"/>
                  </a:ext>
                  <a:ext uri="{C183D7F6-B498-43B3-948B-1728B52AA6E4}">
                    <adec:decorative xmlns:adec="http://schemas.microsoft.com/office/drawing/2017/decorative" val="1"/>
                  </a:ext>
                </a:extLst>
              </p:cNvPr>
              <p:cNvSpPr>
                <a:spLocks/>
              </p:cNvSpPr>
              <p:nvPr/>
            </p:nvSpPr>
            <p:spPr bwMode="auto">
              <a:xfrm>
                <a:off x="320721" y="4517211"/>
                <a:ext cx="1771605" cy="216000"/>
              </a:xfrm>
              <a:prstGeom prst="roundRect">
                <a:avLst>
                  <a:gd name="adj" fmla="val 50000"/>
                </a:avLst>
              </a:prstGeom>
              <a:solidFill>
                <a:srgbClr val="FFFFFF"/>
              </a:solidFill>
              <a:ln w="12700">
                <a:solidFill>
                  <a:srgbClr val="0078D4"/>
                </a:solidFill>
                <a:headEnd type="none" w="med" len="med"/>
                <a:tailEnd type="none" w="med" len="med"/>
              </a:ln>
              <a:effectLst>
                <a:outerShdw blurRad="63500" dist="63500" dir="2700000"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16000" tIns="36576" rIns="36000" bIns="36000" numCol="1" spcCol="0" rtlCol="0" fromWordArt="0" anchor="ctr" anchorCtr="0" forceAA="0" compatLnSpc="1">
                <a:prstTxWarp prst="textNoShape">
                  <a:avLst/>
                </a:prstTxWarp>
                <a:noAutofit/>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78D4"/>
                    </a:solidFill>
                    <a:effectLst/>
                    <a:uLnTx/>
                    <a:uFillTx/>
                    <a:latin typeface="Segoe UI Semibold"/>
                    <a:ea typeface="+mn-ea"/>
                    <a:cs typeface="Segoe UI Semibold"/>
                  </a:rPr>
                  <a:t>Risk management</a:t>
                </a:r>
              </a:p>
            </p:txBody>
          </p:sp>
          <p:pic>
            <p:nvPicPr>
              <p:cNvPr id="307" name="Graphic 306">
                <a:extLst>
                  <a:ext uri="{FF2B5EF4-FFF2-40B4-BE49-F238E27FC236}">
                    <a16:creationId xmlns:a16="http://schemas.microsoft.com/office/drawing/2014/main" id="{9E633387-6188-63D7-E9AA-B9C16F514C13}"/>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367507" y="4552645"/>
                <a:ext cx="144000" cy="141732"/>
              </a:xfrm>
              <a:prstGeom prst="rect">
                <a:avLst/>
              </a:prstGeom>
            </p:spPr>
          </p:pic>
        </p:grpSp>
      </p:grpSp>
      <p:grpSp>
        <p:nvGrpSpPr>
          <p:cNvPr id="310" name="Group 309">
            <a:extLst>
              <a:ext uri="{FF2B5EF4-FFF2-40B4-BE49-F238E27FC236}">
                <a16:creationId xmlns:a16="http://schemas.microsoft.com/office/drawing/2014/main" id="{E5EBD331-4762-2DD6-20EF-1D8DD8ADD99B}"/>
              </a:ext>
            </a:extLst>
          </p:cNvPr>
          <p:cNvGrpSpPr/>
          <p:nvPr/>
        </p:nvGrpSpPr>
        <p:grpSpPr>
          <a:xfrm>
            <a:off x="320719" y="5020658"/>
            <a:ext cx="1771607" cy="504622"/>
            <a:chOff x="320719" y="5293823"/>
            <a:chExt cx="1771607" cy="504622"/>
          </a:xfrm>
        </p:grpSpPr>
        <p:grpSp>
          <p:nvGrpSpPr>
            <p:cNvPr id="311" name="Group 310">
              <a:extLst>
                <a:ext uri="{FF2B5EF4-FFF2-40B4-BE49-F238E27FC236}">
                  <a16:creationId xmlns:a16="http://schemas.microsoft.com/office/drawing/2014/main" id="{7CDB36F9-CF38-FAFF-1514-A8FA3CBF4C87}"/>
                </a:ext>
              </a:extLst>
            </p:cNvPr>
            <p:cNvGrpSpPr/>
            <p:nvPr/>
          </p:nvGrpSpPr>
          <p:grpSpPr>
            <a:xfrm>
              <a:off x="320719" y="5293823"/>
              <a:ext cx="1771605" cy="216000"/>
              <a:chOff x="320719" y="5270676"/>
              <a:chExt cx="1771605" cy="216000"/>
            </a:xfrm>
          </p:grpSpPr>
          <p:sp>
            <p:nvSpPr>
              <p:cNvPr id="315" name="Rectangle: Rounded Corners 6">
                <a:extLst>
                  <a:ext uri="{FF2B5EF4-FFF2-40B4-BE49-F238E27FC236}">
                    <a16:creationId xmlns:a16="http://schemas.microsoft.com/office/drawing/2014/main" id="{F05F54EA-12A6-48F4-B3AC-FC26ACA5F3F2}"/>
                  </a:ext>
                  <a:ext uri="{C183D7F6-B498-43B3-948B-1728B52AA6E4}">
                    <adec:decorative xmlns:adec="http://schemas.microsoft.com/office/drawing/2017/decorative" val="1"/>
                  </a:ext>
                </a:extLst>
              </p:cNvPr>
              <p:cNvSpPr>
                <a:spLocks/>
              </p:cNvSpPr>
              <p:nvPr/>
            </p:nvSpPr>
            <p:spPr bwMode="auto">
              <a:xfrm>
                <a:off x="320719" y="5270676"/>
                <a:ext cx="1771605" cy="216000"/>
              </a:xfrm>
              <a:prstGeom prst="roundRect">
                <a:avLst>
                  <a:gd name="adj" fmla="val 50000"/>
                </a:avLst>
              </a:prstGeom>
              <a:solidFill>
                <a:srgbClr val="FFFFFF"/>
              </a:solidFill>
              <a:ln w="12700">
                <a:solidFill>
                  <a:srgbClr val="C03BC4"/>
                </a:solidFill>
                <a:headEnd type="none" w="med" len="med"/>
                <a:tailEnd type="none" w="med" len="med"/>
              </a:ln>
              <a:effectLst>
                <a:outerShdw blurRad="63500" dist="63500" dir="2700000"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16000" tIns="36576" rIns="36000" bIns="36000" numCol="1" spcCol="0" rtlCol="0" fromWordArt="0" anchor="ctr" anchorCtr="0" forceAA="0" compatLnSpc="1">
                <a:prstTxWarp prst="textNoShape">
                  <a:avLst/>
                </a:prstTxWarp>
                <a:noAutofit/>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C03BC4"/>
                    </a:solidFill>
                    <a:effectLst/>
                    <a:uLnTx/>
                    <a:uFillTx/>
                    <a:latin typeface="Segoe UI Semibold"/>
                    <a:ea typeface="+mn-ea"/>
                    <a:cs typeface="Segoe UI Semibold" panose="020B0702040204020203" pitchFamily="34" charset="0"/>
                  </a:rPr>
                  <a:t>Cost savings</a:t>
                </a:r>
              </a:p>
            </p:txBody>
          </p:sp>
          <p:pic>
            <p:nvPicPr>
              <p:cNvPr id="316" name="Graphic 315">
                <a:extLst>
                  <a:ext uri="{FF2B5EF4-FFF2-40B4-BE49-F238E27FC236}">
                    <a16:creationId xmlns:a16="http://schemas.microsoft.com/office/drawing/2014/main" id="{46135705-8B34-5EDF-CFA2-762E5E0759C9}"/>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367505" y="5306676"/>
                <a:ext cx="144000" cy="144000"/>
              </a:xfrm>
              <a:prstGeom prst="rect">
                <a:avLst/>
              </a:prstGeom>
            </p:spPr>
          </p:pic>
        </p:grpSp>
        <p:grpSp>
          <p:nvGrpSpPr>
            <p:cNvPr id="312" name="Group 311">
              <a:extLst>
                <a:ext uri="{FF2B5EF4-FFF2-40B4-BE49-F238E27FC236}">
                  <a16:creationId xmlns:a16="http://schemas.microsoft.com/office/drawing/2014/main" id="{2D861510-E458-7ED9-1A0D-55E9A488F8A7}"/>
                </a:ext>
              </a:extLst>
            </p:cNvPr>
            <p:cNvGrpSpPr/>
            <p:nvPr/>
          </p:nvGrpSpPr>
          <p:grpSpPr>
            <a:xfrm>
              <a:off x="320721" y="5582445"/>
              <a:ext cx="1771605" cy="216000"/>
              <a:chOff x="320721" y="5582445"/>
              <a:chExt cx="1771605" cy="216000"/>
            </a:xfrm>
          </p:grpSpPr>
          <p:sp>
            <p:nvSpPr>
              <p:cNvPr id="313" name="Rectangle: Rounded Corners 312">
                <a:extLst>
                  <a:ext uri="{FF2B5EF4-FFF2-40B4-BE49-F238E27FC236}">
                    <a16:creationId xmlns:a16="http://schemas.microsoft.com/office/drawing/2014/main" id="{8F306A59-1906-4DC8-1DAE-6A93DDF9846A}"/>
                  </a:ext>
                  <a:ext uri="{C183D7F6-B498-43B3-948B-1728B52AA6E4}">
                    <adec:decorative xmlns:adec="http://schemas.microsoft.com/office/drawing/2017/decorative" val="1"/>
                  </a:ext>
                </a:extLst>
              </p:cNvPr>
              <p:cNvSpPr>
                <a:spLocks/>
              </p:cNvSpPr>
              <p:nvPr/>
            </p:nvSpPr>
            <p:spPr bwMode="auto">
              <a:xfrm>
                <a:off x="320721" y="5582445"/>
                <a:ext cx="1771605" cy="216000"/>
              </a:xfrm>
              <a:prstGeom prst="roundRect">
                <a:avLst>
                  <a:gd name="adj" fmla="val 50000"/>
                </a:avLst>
              </a:prstGeom>
              <a:solidFill>
                <a:srgbClr val="FFFFFF"/>
              </a:solidFill>
              <a:ln w="12700">
                <a:solidFill>
                  <a:srgbClr val="C03BC4"/>
                </a:solidFill>
                <a:headEnd type="none" w="med" len="med"/>
                <a:tailEnd type="none" w="med" len="med"/>
              </a:ln>
              <a:effectLst>
                <a:outerShdw blurRad="63500" dist="63500" dir="2700000"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16000" tIns="36576" rIns="36000" bIns="36000" numCol="1" spcCol="0" rtlCol="0" fromWordArt="0" anchor="ctr" anchorCtr="0" forceAA="0" compatLnSpc="1">
                <a:prstTxWarp prst="textNoShape">
                  <a:avLst/>
                </a:prstTxWarp>
                <a:noAutofit/>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C03BC4"/>
                    </a:solidFill>
                    <a:effectLst/>
                    <a:uLnTx/>
                    <a:uFillTx/>
                    <a:latin typeface="Segoe UI Semibold"/>
                    <a:ea typeface="+mn-ea"/>
                    <a:cs typeface="Segoe UI Semibold" panose="020B0702040204020203" pitchFamily="34" charset="0"/>
                  </a:rPr>
                  <a:t>Revenue Growth</a:t>
                </a:r>
              </a:p>
            </p:txBody>
          </p:sp>
          <p:pic>
            <p:nvPicPr>
              <p:cNvPr id="314" name="Graphic 313">
                <a:extLst>
                  <a:ext uri="{FF2B5EF4-FFF2-40B4-BE49-F238E27FC236}">
                    <a16:creationId xmlns:a16="http://schemas.microsoft.com/office/drawing/2014/main" id="{6ACCCBF1-D2BC-A001-D0C8-9D8AB8232EA2}"/>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367505" y="5618445"/>
                <a:ext cx="144000" cy="144000"/>
              </a:xfrm>
              <a:prstGeom prst="rect">
                <a:avLst/>
              </a:prstGeom>
            </p:spPr>
          </p:pic>
        </p:grpSp>
      </p:grpSp>
      <p:sp>
        <p:nvSpPr>
          <p:cNvPr id="2" name="Graphic 2">
            <a:hlinkClick r:id="rId11"/>
            <a:extLst>
              <a:ext uri="{FF2B5EF4-FFF2-40B4-BE49-F238E27FC236}">
                <a16:creationId xmlns:a16="http://schemas.microsoft.com/office/drawing/2014/main" id="{AD778CA7-2893-71C1-869E-4E1F61BBEAE8}"/>
              </a:ext>
            </a:extLst>
          </p:cNvPr>
          <p:cNvSpPr>
            <a:spLocks/>
          </p:cNvSpPr>
          <p:nvPr/>
        </p:nvSpPr>
        <p:spPr>
          <a:xfrm>
            <a:off x="6304100" y="424490"/>
            <a:ext cx="321844" cy="286083"/>
          </a:xfrm>
          <a:custGeom>
            <a:avLst/>
            <a:gdLst>
              <a:gd name="connsiteX0" fmla="*/ 41203 w 228200"/>
              <a:gd name="connsiteY0" fmla="*/ 0 h 202844"/>
              <a:gd name="connsiteX1" fmla="*/ 186997 w 228200"/>
              <a:gd name="connsiteY1" fmla="*/ 0 h 202844"/>
              <a:gd name="connsiteX2" fmla="*/ 228137 w 228200"/>
              <a:gd name="connsiteY2" fmla="*/ 38870 h 202844"/>
              <a:gd name="connsiteX3" fmla="*/ 228200 w 228200"/>
              <a:gd name="connsiteY3" fmla="*/ 41203 h 202844"/>
              <a:gd name="connsiteX4" fmla="*/ 228200 w 228200"/>
              <a:gd name="connsiteY4" fmla="*/ 161642 h 202844"/>
              <a:gd name="connsiteX5" fmla="*/ 189330 w 228200"/>
              <a:gd name="connsiteY5" fmla="*/ 202781 h 202844"/>
              <a:gd name="connsiteX6" fmla="*/ 186997 w 228200"/>
              <a:gd name="connsiteY6" fmla="*/ 202845 h 202844"/>
              <a:gd name="connsiteX7" fmla="*/ 41203 w 228200"/>
              <a:gd name="connsiteY7" fmla="*/ 202845 h 202844"/>
              <a:gd name="connsiteX8" fmla="*/ 63 w 228200"/>
              <a:gd name="connsiteY8" fmla="*/ 163975 h 202844"/>
              <a:gd name="connsiteX9" fmla="*/ 0 w 228200"/>
              <a:gd name="connsiteY9" fmla="*/ 161642 h 202844"/>
              <a:gd name="connsiteX10" fmla="*/ 0 w 228200"/>
              <a:gd name="connsiteY10" fmla="*/ 41203 h 202844"/>
              <a:gd name="connsiteX11" fmla="*/ 38870 w 228200"/>
              <a:gd name="connsiteY11" fmla="*/ 63 h 202844"/>
              <a:gd name="connsiteX12" fmla="*/ 41203 w 228200"/>
              <a:gd name="connsiteY12" fmla="*/ 0 h 202844"/>
              <a:gd name="connsiteX13" fmla="*/ 186997 w 228200"/>
              <a:gd name="connsiteY13" fmla="*/ 0 h 202844"/>
              <a:gd name="connsiteX14" fmla="*/ 41203 w 228200"/>
              <a:gd name="connsiteY14" fmla="*/ 0 h 202844"/>
              <a:gd name="connsiteX15" fmla="*/ 89416 w 228200"/>
              <a:gd name="connsiteY15" fmla="*/ 70805 h 202844"/>
              <a:gd name="connsiteX16" fmla="*/ 88745 w 228200"/>
              <a:gd name="connsiteY16" fmla="*/ 73658 h 202844"/>
              <a:gd name="connsiteX17" fmla="*/ 88745 w 228200"/>
              <a:gd name="connsiteY17" fmla="*/ 129212 h 202844"/>
              <a:gd name="connsiteX18" fmla="*/ 95083 w 228200"/>
              <a:gd name="connsiteY18" fmla="*/ 135551 h 202844"/>
              <a:gd name="connsiteX19" fmla="*/ 97923 w 228200"/>
              <a:gd name="connsiteY19" fmla="*/ 134879 h 202844"/>
              <a:gd name="connsiteX20" fmla="*/ 153477 w 228200"/>
              <a:gd name="connsiteY20" fmla="*/ 107115 h 202844"/>
              <a:gd name="connsiteX21" fmla="*/ 156324 w 228200"/>
              <a:gd name="connsiteY21" fmla="*/ 98614 h 202844"/>
              <a:gd name="connsiteX22" fmla="*/ 153477 w 228200"/>
              <a:gd name="connsiteY22" fmla="*/ 95768 h 202844"/>
              <a:gd name="connsiteX23" fmla="*/ 97923 w 228200"/>
              <a:gd name="connsiteY23" fmla="*/ 67991 h 202844"/>
              <a:gd name="connsiteX24" fmla="*/ 89416 w 228200"/>
              <a:gd name="connsiteY24" fmla="*/ 70818 h 202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28200" h="202844">
                <a:moveTo>
                  <a:pt x="41203" y="0"/>
                </a:moveTo>
                <a:lnTo>
                  <a:pt x="186997" y="0"/>
                </a:lnTo>
                <a:cubicBezTo>
                  <a:pt x="208848" y="-1"/>
                  <a:pt x="226900" y="17055"/>
                  <a:pt x="228137" y="38870"/>
                </a:cubicBezTo>
                <a:lnTo>
                  <a:pt x="228200" y="41203"/>
                </a:lnTo>
                <a:lnTo>
                  <a:pt x="228200" y="161642"/>
                </a:lnTo>
                <a:cubicBezTo>
                  <a:pt x="228202" y="183492"/>
                  <a:pt x="211146" y="201544"/>
                  <a:pt x="189330" y="202781"/>
                </a:cubicBezTo>
                <a:lnTo>
                  <a:pt x="186997" y="202845"/>
                </a:lnTo>
                <a:lnTo>
                  <a:pt x="41203" y="202845"/>
                </a:lnTo>
                <a:cubicBezTo>
                  <a:pt x="19352" y="202846"/>
                  <a:pt x="1300" y="185791"/>
                  <a:pt x="63" y="163975"/>
                </a:cubicBezTo>
                <a:lnTo>
                  <a:pt x="0" y="161642"/>
                </a:lnTo>
                <a:lnTo>
                  <a:pt x="0" y="41203"/>
                </a:lnTo>
                <a:cubicBezTo>
                  <a:pt x="-1" y="19352"/>
                  <a:pt x="17055" y="1300"/>
                  <a:pt x="38870" y="63"/>
                </a:cubicBezTo>
                <a:lnTo>
                  <a:pt x="41203" y="0"/>
                </a:lnTo>
                <a:lnTo>
                  <a:pt x="186997" y="0"/>
                </a:lnTo>
                <a:lnTo>
                  <a:pt x="41203" y="0"/>
                </a:lnTo>
                <a:close/>
                <a:moveTo>
                  <a:pt x="89416" y="70805"/>
                </a:moveTo>
                <a:cubicBezTo>
                  <a:pt x="88973" y="71691"/>
                  <a:pt x="88743" y="72668"/>
                  <a:pt x="88745" y="73658"/>
                </a:cubicBezTo>
                <a:lnTo>
                  <a:pt x="88745" y="129212"/>
                </a:lnTo>
                <a:cubicBezTo>
                  <a:pt x="88745" y="132712"/>
                  <a:pt x="91583" y="135551"/>
                  <a:pt x="95083" y="135551"/>
                </a:cubicBezTo>
                <a:cubicBezTo>
                  <a:pt x="96070" y="135551"/>
                  <a:pt x="97042" y="135320"/>
                  <a:pt x="97923" y="134879"/>
                </a:cubicBezTo>
                <a:lnTo>
                  <a:pt x="153477" y="107115"/>
                </a:lnTo>
                <a:cubicBezTo>
                  <a:pt x="156610" y="105553"/>
                  <a:pt x="157884" y="101747"/>
                  <a:pt x="156324" y="98614"/>
                </a:cubicBezTo>
                <a:cubicBezTo>
                  <a:pt x="155709" y="97381"/>
                  <a:pt x="154710" y="96383"/>
                  <a:pt x="153477" y="95768"/>
                </a:cubicBezTo>
                <a:lnTo>
                  <a:pt x="97923" y="67991"/>
                </a:lnTo>
                <a:cubicBezTo>
                  <a:pt x="94793" y="66423"/>
                  <a:pt x="90985" y="67689"/>
                  <a:pt x="89416" y="70818"/>
                </a:cubicBezTo>
                <a:close/>
              </a:path>
            </a:pathLst>
          </a:custGeom>
          <a:gradFill>
            <a:gsLst>
              <a:gs pos="73000">
                <a:srgbClr val="0078D4"/>
              </a:gs>
              <a:gs pos="12000">
                <a:srgbClr val="C03BC4"/>
              </a:gs>
            </a:gsLst>
            <a:path path="circle">
              <a:fillToRect l="100000" t="100000"/>
            </a:path>
          </a:gradFill>
          <a:ln w="12303" cap="flat">
            <a:noFill/>
            <a:prstDash val="solid"/>
            <a:miter/>
          </a:ln>
          <a:effectLst>
            <a:outerShdw blurRad="63500" dist="63500" dir="3000000" algn="tl" rotWithShape="0">
              <a:srgbClr val="454142">
                <a:alpha val="15000"/>
              </a:srgb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282" name="TextBox 281">
            <a:extLst>
              <a:ext uri="{FF2B5EF4-FFF2-40B4-BE49-F238E27FC236}">
                <a16:creationId xmlns:a16="http://schemas.microsoft.com/office/drawing/2014/main" id="{5539B4EE-B9C6-59AD-4ADE-3FBF80B36EE1}"/>
              </a:ext>
              <a:ext uri="{C183D7F6-B498-43B3-948B-1728B52AA6E4}">
                <adec:decorative xmlns:adec="http://schemas.microsoft.com/office/drawing/2017/decorative" val="0"/>
              </a:ext>
            </a:extLst>
          </p:cNvPr>
          <p:cNvSpPr txBox="1">
            <a:spLocks/>
          </p:cNvSpPr>
          <p:nvPr/>
        </p:nvSpPr>
        <p:spPr>
          <a:xfrm>
            <a:off x="3562468" y="2217682"/>
            <a:ext cx="1830524" cy="2923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Semibold"/>
                <a:ea typeface="+mn-ea"/>
                <a:cs typeface="+mn-cs"/>
              </a:rPr>
              <a:t>AI Agent</a:t>
            </a:r>
            <a:r>
              <a:rPr kumimoji="0" lang="en-US" sz="1000" b="0" i="0" u="none" strike="noStrike" kern="1200" cap="none" spc="0" normalizeH="0" baseline="30000" noProof="0" dirty="0">
                <a:ln>
                  <a:noFill/>
                </a:ln>
                <a:solidFill>
                  <a:srgbClr val="000000"/>
                </a:solidFill>
                <a:effectLst/>
                <a:uLnTx/>
                <a:uFillTx/>
                <a:latin typeface="Segoe UI Semibold"/>
                <a:ea typeface="+mn-ea"/>
                <a:cs typeface="+mn-cs"/>
              </a:rPr>
              <a:t>3</a:t>
            </a:r>
            <a:endParaRPr kumimoji="0" lang="en-US" sz="1000" b="0" i="0" u="none" strike="noStrike" kern="1200" cap="none" spc="0" normalizeH="0" baseline="0" noProof="0" dirty="0">
              <a:ln>
                <a:noFill/>
              </a:ln>
              <a:solidFill>
                <a:srgbClr val="000000"/>
              </a:solidFill>
              <a:effectLst/>
              <a:uLnTx/>
              <a:uFillTx/>
              <a:latin typeface="Segoe UI Semibold"/>
              <a:ea typeface="+mn-ea"/>
              <a:cs typeface="+mn-cs"/>
            </a:endParaRPr>
          </a:p>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78D4"/>
                </a:solidFill>
                <a:effectLst/>
                <a:uLnTx/>
                <a:uFillTx/>
                <a:latin typeface="Segoe UI Semibold"/>
                <a:ea typeface="+mn-ea"/>
                <a:cs typeface="+mn-cs"/>
              </a:rPr>
              <a:t>+ Connection to ERP system</a:t>
            </a:r>
          </a:p>
        </p:txBody>
      </p:sp>
      <p:sp>
        <p:nvSpPr>
          <p:cNvPr id="285" name="TextBox 284">
            <a:extLst>
              <a:ext uri="{FF2B5EF4-FFF2-40B4-BE49-F238E27FC236}">
                <a16:creationId xmlns:a16="http://schemas.microsoft.com/office/drawing/2014/main" id="{A36BE941-3DC8-C388-4B95-21B378EB6A11}"/>
              </a:ext>
              <a:ext uri="{C183D7F6-B498-43B3-948B-1728B52AA6E4}">
                <adec:decorative xmlns:adec="http://schemas.microsoft.com/office/drawing/2017/decorative" val="0"/>
              </a:ext>
            </a:extLst>
          </p:cNvPr>
          <p:cNvSpPr txBox="1">
            <a:spLocks/>
          </p:cNvSpPr>
          <p:nvPr/>
        </p:nvSpPr>
        <p:spPr>
          <a:xfrm>
            <a:off x="6446958" y="2286931"/>
            <a:ext cx="1830524" cy="1538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Semibold"/>
                <a:ea typeface="+mn-ea"/>
                <a:cs typeface="+mn-cs"/>
              </a:rPr>
              <a:t>Copilot in Teams</a:t>
            </a:r>
          </a:p>
        </p:txBody>
      </p:sp>
      <p:sp>
        <p:nvSpPr>
          <p:cNvPr id="297" name="TextBox 296">
            <a:extLst>
              <a:ext uri="{FF2B5EF4-FFF2-40B4-BE49-F238E27FC236}">
                <a16:creationId xmlns:a16="http://schemas.microsoft.com/office/drawing/2014/main" id="{0C263524-8598-2B67-74F7-0DCFE1E7EA22}"/>
              </a:ext>
              <a:ext uri="{C183D7F6-B498-43B3-948B-1728B52AA6E4}">
                <adec:decorative xmlns:adec="http://schemas.microsoft.com/office/drawing/2017/decorative" val="0"/>
              </a:ext>
            </a:extLst>
          </p:cNvPr>
          <p:cNvSpPr txBox="1">
            <a:spLocks/>
          </p:cNvSpPr>
          <p:nvPr/>
        </p:nvSpPr>
        <p:spPr>
          <a:xfrm>
            <a:off x="9328928" y="2217681"/>
            <a:ext cx="1672447" cy="2923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Semibold"/>
                <a:ea typeface="+mn-ea"/>
                <a:cs typeface="+mn-cs"/>
              </a:rPr>
              <a:t>Copilot in Excel</a:t>
            </a:r>
          </a:p>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78D4"/>
                </a:solidFill>
                <a:effectLst/>
                <a:uLnTx/>
                <a:uFillTx/>
                <a:latin typeface="Segoe UI Semibold"/>
                <a:ea typeface="+mn-ea"/>
                <a:cs typeface="+mn-cs"/>
              </a:rPr>
              <a:t>+ Copilot for Finance</a:t>
            </a:r>
            <a:endParaRPr kumimoji="0" lang="en-US" sz="900" b="0" i="1" u="none" strike="noStrike" kern="1200" cap="none" spc="0" normalizeH="0" baseline="0" noProof="0" dirty="0">
              <a:ln>
                <a:noFill/>
              </a:ln>
              <a:solidFill>
                <a:srgbClr val="0078D4"/>
              </a:solidFill>
              <a:effectLst/>
              <a:uLnTx/>
              <a:uFillTx/>
              <a:latin typeface="Segoe UI Semibold"/>
              <a:ea typeface="+mn-ea"/>
              <a:cs typeface="+mn-cs"/>
            </a:endParaRPr>
          </a:p>
        </p:txBody>
      </p:sp>
      <p:sp>
        <p:nvSpPr>
          <p:cNvPr id="288" name="TextBox 287">
            <a:extLst>
              <a:ext uri="{FF2B5EF4-FFF2-40B4-BE49-F238E27FC236}">
                <a16:creationId xmlns:a16="http://schemas.microsoft.com/office/drawing/2014/main" id="{B7E5A028-91D0-9016-AB05-187A90DDB130}"/>
              </a:ext>
              <a:ext uri="{C183D7F6-B498-43B3-948B-1728B52AA6E4}">
                <adec:decorative xmlns:adec="http://schemas.microsoft.com/office/drawing/2017/decorative" val="0"/>
              </a:ext>
            </a:extLst>
          </p:cNvPr>
          <p:cNvSpPr txBox="1">
            <a:spLocks/>
          </p:cNvSpPr>
          <p:nvPr/>
        </p:nvSpPr>
        <p:spPr>
          <a:xfrm>
            <a:off x="6446959" y="4886070"/>
            <a:ext cx="1992191" cy="1538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Semibold"/>
                <a:ea typeface="+mn-ea"/>
                <a:cs typeface="+mn-cs"/>
              </a:rPr>
              <a:t>PowerPoint Agent</a:t>
            </a:r>
          </a:p>
        </p:txBody>
      </p:sp>
      <p:sp>
        <p:nvSpPr>
          <p:cNvPr id="32" name="TextBox 31">
            <a:extLst>
              <a:ext uri="{FF2B5EF4-FFF2-40B4-BE49-F238E27FC236}">
                <a16:creationId xmlns:a16="http://schemas.microsoft.com/office/drawing/2014/main" id="{2EA641F7-05E2-2E0F-3CB0-BDEAC0F2DD9E}"/>
              </a:ext>
              <a:ext uri="{C183D7F6-B498-43B3-948B-1728B52AA6E4}">
                <adec:decorative xmlns:adec="http://schemas.microsoft.com/office/drawing/2017/decorative" val="0"/>
              </a:ext>
            </a:extLst>
          </p:cNvPr>
          <p:cNvSpPr txBox="1">
            <a:spLocks/>
          </p:cNvSpPr>
          <p:nvPr/>
        </p:nvSpPr>
        <p:spPr>
          <a:xfrm>
            <a:off x="3562473" y="4816820"/>
            <a:ext cx="1693896" cy="2923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Semibold"/>
                <a:ea typeface="+mn-ea"/>
                <a:cs typeface="+mn-cs"/>
              </a:rPr>
              <a:t>Copilot in Excel</a:t>
            </a:r>
          </a:p>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78D4"/>
                </a:solidFill>
                <a:effectLst/>
                <a:uLnTx/>
                <a:uFillTx/>
                <a:latin typeface="Segoe UI Semibold"/>
                <a:ea typeface="+mn-ea"/>
                <a:cs typeface="+mn-cs"/>
              </a:rPr>
              <a:t>+ Copilot for Finance</a:t>
            </a:r>
            <a:endParaRPr kumimoji="0" lang="en-US" sz="900" b="0" i="1" u="none" strike="noStrike" kern="1200" cap="none" spc="0" normalizeH="0" baseline="0" noProof="0" dirty="0">
              <a:ln>
                <a:noFill/>
              </a:ln>
              <a:solidFill>
                <a:srgbClr val="0078D4"/>
              </a:solidFill>
              <a:effectLst/>
              <a:uLnTx/>
              <a:uFillTx/>
              <a:latin typeface="Segoe UI Semibold"/>
              <a:ea typeface="+mn-ea"/>
              <a:cs typeface="+mn-cs"/>
            </a:endParaRPr>
          </a:p>
        </p:txBody>
      </p:sp>
      <p:sp>
        <p:nvSpPr>
          <p:cNvPr id="294" name="TextBox 293">
            <a:extLst>
              <a:ext uri="{FF2B5EF4-FFF2-40B4-BE49-F238E27FC236}">
                <a16:creationId xmlns:a16="http://schemas.microsoft.com/office/drawing/2014/main" id="{BD458ECA-0281-B885-3C1B-5F57A31C9FD3}"/>
              </a:ext>
              <a:ext uri="{C183D7F6-B498-43B3-948B-1728B52AA6E4}">
                <adec:decorative xmlns:adec="http://schemas.microsoft.com/office/drawing/2017/decorative" val="0"/>
              </a:ext>
            </a:extLst>
          </p:cNvPr>
          <p:cNvSpPr txBox="1">
            <a:spLocks/>
          </p:cNvSpPr>
          <p:nvPr/>
        </p:nvSpPr>
        <p:spPr>
          <a:xfrm>
            <a:off x="9328925" y="4809126"/>
            <a:ext cx="562856" cy="307777"/>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Semibold"/>
                <a:ea typeface="+mn-ea"/>
                <a:cs typeface="+mn-cs"/>
              </a:rPr>
              <a:t>Copilot Chat</a:t>
            </a:r>
            <a:r>
              <a:rPr kumimoji="0" lang="en-US" sz="1000" b="0" i="0" u="none" strike="noStrike" kern="1200" cap="none" spc="0" normalizeH="0" baseline="30000" noProof="0" dirty="0">
                <a:ln>
                  <a:noFill/>
                </a:ln>
                <a:solidFill>
                  <a:srgbClr val="000000"/>
                </a:solidFill>
                <a:effectLst/>
                <a:uLnTx/>
                <a:uFillTx/>
                <a:latin typeface="Segoe UI Semibold"/>
                <a:ea typeface="+mn-ea"/>
                <a:cs typeface="+mn-cs"/>
              </a:rPr>
              <a:t>2</a:t>
            </a:r>
          </a:p>
        </p:txBody>
      </p:sp>
      <p:sp>
        <p:nvSpPr>
          <p:cNvPr id="291" name="TextBox 290">
            <a:extLst>
              <a:ext uri="{FF2B5EF4-FFF2-40B4-BE49-F238E27FC236}">
                <a16:creationId xmlns:a16="http://schemas.microsoft.com/office/drawing/2014/main" id="{FAF9ED8B-FE78-E69F-9DE4-E37F3F35DF15}"/>
              </a:ext>
              <a:ext uri="{C183D7F6-B498-43B3-948B-1728B52AA6E4}">
                <adec:decorative xmlns:adec="http://schemas.microsoft.com/office/drawing/2017/decorative" val="0"/>
              </a:ext>
            </a:extLst>
          </p:cNvPr>
          <p:cNvSpPr txBox="1">
            <a:spLocks/>
          </p:cNvSpPr>
          <p:nvPr/>
        </p:nvSpPr>
        <p:spPr>
          <a:xfrm>
            <a:off x="10707926" y="4809126"/>
            <a:ext cx="814811" cy="307777"/>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Semibold"/>
                <a:ea typeface="+mn-ea"/>
                <a:cs typeface="+mn-cs"/>
              </a:rPr>
              <a:t>Copilot</a:t>
            </a:r>
            <a:br>
              <a:rPr kumimoji="0" lang="en-US" sz="1000" b="0" i="0" u="none" strike="noStrike" kern="1200" cap="none" spc="0" normalizeH="0" baseline="0" noProof="0" dirty="0">
                <a:ln>
                  <a:noFill/>
                </a:ln>
                <a:solidFill>
                  <a:srgbClr val="000000"/>
                </a:solidFill>
                <a:effectLst/>
                <a:uLnTx/>
                <a:uFillTx/>
                <a:latin typeface="Segoe UI Semibold"/>
                <a:ea typeface="+mn-ea"/>
                <a:cs typeface="+mn-cs"/>
              </a:rPr>
            </a:br>
            <a:r>
              <a:rPr kumimoji="0" lang="en-US" sz="1000" b="0" i="0" u="none" strike="noStrike" kern="1200" cap="none" spc="0" normalizeH="0" baseline="0" noProof="0" dirty="0">
                <a:ln>
                  <a:noFill/>
                </a:ln>
                <a:solidFill>
                  <a:srgbClr val="000000"/>
                </a:solidFill>
                <a:effectLst/>
                <a:uLnTx/>
                <a:uFillTx/>
                <a:latin typeface="Segoe UI Semibold"/>
                <a:ea typeface="+mn-ea"/>
                <a:cs typeface="+mn-cs"/>
              </a:rPr>
              <a:t>in Excel</a:t>
            </a:r>
          </a:p>
        </p:txBody>
      </p:sp>
      <p:pic>
        <p:nvPicPr>
          <p:cNvPr id="3" name="Picture 2">
            <a:extLst>
              <a:ext uri="{FF2B5EF4-FFF2-40B4-BE49-F238E27FC236}">
                <a16:creationId xmlns:a16="http://schemas.microsoft.com/office/drawing/2014/main" id="{17DDB5D7-E27C-E7EC-1DB0-B8FC872AABE5}"/>
              </a:ext>
            </a:extLst>
          </p:cNvPr>
          <p:cNvPicPr>
            <a:picLocks noChangeAspect="1"/>
          </p:cNvPicPr>
          <p:nvPr/>
        </p:nvPicPr>
        <p:blipFill>
          <a:blip r:embed="rId12"/>
          <a:stretch>
            <a:fillRect/>
          </a:stretch>
        </p:blipFill>
        <p:spPr>
          <a:xfrm>
            <a:off x="3182890" y="2233642"/>
            <a:ext cx="273674" cy="239465"/>
          </a:xfrm>
          <a:prstGeom prst="rect">
            <a:avLst/>
          </a:prstGeom>
        </p:spPr>
      </p:pic>
      <p:pic>
        <p:nvPicPr>
          <p:cNvPr id="4" name="Picture 3" descr="Excel logo">
            <a:extLst>
              <a:ext uri="{FF2B5EF4-FFF2-40B4-BE49-F238E27FC236}">
                <a16:creationId xmlns:a16="http://schemas.microsoft.com/office/drawing/2014/main" id="{EB2B9D82-4A8D-5DC5-BD09-6A89BB3C2394}"/>
              </a:ext>
            </a:extLst>
          </p:cNvPr>
          <p:cNvPicPr>
            <a:picLocks noChangeAspect="1"/>
          </p:cNvPicPr>
          <p:nvPr/>
        </p:nvPicPr>
        <p:blipFill>
          <a:blip r:embed="rId13">
            <a:extLst>
              <a:ext uri="{28A0092B-C50C-407E-A947-70E740481C1C}">
                <a14:useLocalDpi xmlns:a14="http://schemas.microsoft.com/office/drawing/2010/main" val="0"/>
              </a:ext>
            </a:extLst>
          </a:blip>
          <a:srcRect/>
          <a:stretch/>
        </p:blipFill>
        <p:spPr>
          <a:xfrm>
            <a:off x="3192859" y="4782122"/>
            <a:ext cx="275670" cy="275670"/>
          </a:xfrm>
          <a:prstGeom prst="ellipse">
            <a:avLst/>
          </a:prstGeom>
          <a:solidFill>
            <a:schemeClr val="bg1"/>
          </a:solidFill>
        </p:spPr>
      </p:pic>
      <p:pic>
        <p:nvPicPr>
          <p:cNvPr id="5" name="Picture 4" descr="Excel logo">
            <a:extLst>
              <a:ext uri="{FF2B5EF4-FFF2-40B4-BE49-F238E27FC236}">
                <a16:creationId xmlns:a16="http://schemas.microsoft.com/office/drawing/2014/main" id="{9B4B4373-8259-9F21-8447-EA1F256C7217}"/>
              </a:ext>
            </a:extLst>
          </p:cNvPr>
          <p:cNvPicPr>
            <a:picLocks noChangeAspect="1"/>
          </p:cNvPicPr>
          <p:nvPr/>
        </p:nvPicPr>
        <p:blipFill>
          <a:blip r:embed="rId13">
            <a:extLst>
              <a:ext uri="{28A0092B-C50C-407E-A947-70E740481C1C}">
                <a14:useLocalDpi xmlns:a14="http://schemas.microsoft.com/office/drawing/2010/main" val="0"/>
              </a:ext>
            </a:extLst>
          </a:blip>
          <a:srcRect/>
          <a:stretch/>
        </p:blipFill>
        <p:spPr>
          <a:xfrm>
            <a:off x="8958989" y="2216759"/>
            <a:ext cx="275670" cy="275670"/>
          </a:xfrm>
          <a:prstGeom prst="ellipse">
            <a:avLst/>
          </a:prstGeom>
          <a:solidFill>
            <a:schemeClr val="bg1"/>
          </a:solidFill>
        </p:spPr>
      </p:pic>
      <p:pic>
        <p:nvPicPr>
          <p:cNvPr id="6" name="Picture 5" descr="Excel logo">
            <a:extLst>
              <a:ext uri="{FF2B5EF4-FFF2-40B4-BE49-F238E27FC236}">
                <a16:creationId xmlns:a16="http://schemas.microsoft.com/office/drawing/2014/main" id="{05C4C461-4330-6DF6-38A9-A17F72DA7EE6}"/>
              </a:ext>
            </a:extLst>
          </p:cNvPr>
          <p:cNvPicPr>
            <a:picLocks noChangeAspect="1"/>
          </p:cNvPicPr>
          <p:nvPr/>
        </p:nvPicPr>
        <p:blipFill>
          <a:blip r:embed="rId13">
            <a:extLst>
              <a:ext uri="{28A0092B-C50C-407E-A947-70E740481C1C}">
                <a14:useLocalDpi xmlns:a14="http://schemas.microsoft.com/office/drawing/2010/main" val="0"/>
              </a:ext>
            </a:extLst>
          </a:blip>
          <a:srcRect/>
          <a:stretch/>
        </p:blipFill>
        <p:spPr>
          <a:xfrm>
            <a:off x="10292516" y="4833538"/>
            <a:ext cx="275670" cy="275670"/>
          </a:xfrm>
          <a:prstGeom prst="ellipse">
            <a:avLst/>
          </a:prstGeom>
          <a:solidFill>
            <a:schemeClr val="bg1"/>
          </a:solidFill>
        </p:spPr>
      </p:pic>
      <p:pic>
        <p:nvPicPr>
          <p:cNvPr id="7" name="Picture 6" descr="PowerPoint logo">
            <a:extLst>
              <a:ext uri="{FF2B5EF4-FFF2-40B4-BE49-F238E27FC236}">
                <a16:creationId xmlns:a16="http://schemas.microsoft.com/office/drawing/2014/main" id="{76BE3BA3-5363-54DF-32CA-B065DDD1FC05}"/>
              </a:ext>
            </a:extLst>
          </p:cNvPr>
          <p:cNvPicPr>
            <a:picLocks noChangeAspect="1"/>
          </p:cNvPicPr>
          <p:nvPr/>
        </p:nvPicPr>
        <p:blipFill>
          <a:blip r:embed="rId14"/>
          <a:stretch>
            <a:fillRect/>
          </a:stretch>
        </p:blipFill>
        <p:spPr>
          <a:xfrm>
            <a:off x="6066682" y="4796630"/>
            <a:ext cx="265176" cy="265176"/>
          </a:xfrm>
          <a:prstGeom prst="rect">
            <a:avLst/>
          </a:prstGeom>
        </p:spPr>
      </p:pic>
    </p:spTree>
    <p:extLst>
      <p:ext uri="{BB962C8B-B14F-4D97-AF65-F5344CB8AC3E}">
        <p14:creationId xmlns:p14="http://schemas.microsoft.com/office/powerpoint/2010/main" val="1956823055"/>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 name="Text Placeholder 154">
            <a:extLst>
              <a:ext uri="{FF2B5EF4-FFF2-40B4-BE49-F238E27FC236}">
                <a16:creationId xmlns:a16="http://schemas.microsoft.com/office/drawing/2014/main" id="{44F0D618-8FE0-9307-D983-FC95C89DBA1F}"/>
              </a:ext>
            </a:extLst>
          </p:cNvPr>
          <p:cNvSpPr>
            <a:spLocks noGrp="1"/>
          </p:cNvSpPr>
          <p:nvPr>
            <p:ph type="body" sz="quarter" idx="32"/>
          </p:nvPr>
        </p:nvSpPr>
        <p:spPr>
          <a:xfrm>
            <a:off x="311388" y="1026303"/>
            <a:ext cx="2431246" cy="1131079"/>
          </a:xfrm>
        </p:spPr>
        <p:txBody>
          <a:bodyPr/>
          <a:lstStyle/>
          <a:p>
            <a:r>
              <a:rPr lang="en-US" noProof="0" dirty="0"/>
              <a:t>For a Finance team launching an application requires coordination and AI can help. Copilot can assist with planning and collaboration throughout the process as well as content creation for the launch.</a:t>
            </a:r>
          </a:p>
        </p:txBody>
      </p:sp>
      <p:sp>
        <p:nvSpPr>
          <p:cNvPr id="29" name="Text Placeholder 28">
            <a:extLst>
              <a:ext uri="{FF2B5EF4-FFF2-40B4-BE49-F238E27FC236}">
                <a16:creationId xmlns:a16="http://schemas.microsoft.com/office/drawing/2014/main" id="{69AA5071-584B-A563-271B-953E6CA63EAE}"/>
              </a:ext>
            </a:extLst>
          </p:cNvPr>
          <p:cNvSpPr>
            <a:spLocks noGrp="1"/>
          </p:cNvSpPr>
          <p:nvPr>
            <p:ph type="body" sz="quarter" idx="33"/>
          </p:nvPr>
        </p:nvSpPr>
        <p:spPr>
          <a:xfrm>
            <a:off x="304796" y="413987"/>
            <a:ext cx="2057403" cy="307777"/>
          </a:xfrm>
        </p:spPr>
        <p:txBody>
          <a:bodyPr/>
          <a:lstStyle/>
          <a:p>
            <a:r>
              <a:rPr lang="en-US" noProof="0" dirty="0"/>
              <a:t>Finance</a:t>
            </a:r>
          </a:p>
        </p:txBody>
      </p:sp>
      <p:sp>
        <p:nvSpPr>
          <p:cNvPr id="27" name="Text Placeholder 26">
            <a:extLst>
              <a:ext uri="{FF2B5EF4-FFF2-40B4-BE49-F238E27FC236}">
                <a16:creationId xmlns:a16="http://schemas.microsoft.com/office/drawing/2014/main" id="{D7C4057C-8A4A-6224-064A-A89A5D36EB99}"/>
              </a:ext>
            </a:extLst>
          </p:cNvPr>
          <p:cNvSpPr>
            <a:spLocks noGrp="1"/>
          </p:cNvSpPr>
          <p:nvPr>
            <p:ph type="body" sz="quarter" idx="30"/>
          </p:nvPr>
        </p:nvSpPr>
        <p:spPr>
          <a:xfrm>
            <a:off x="10430351" y="521099"/>
            <a:ext cx="1456966" cy="175614"/>
          </a:xfrm>
        </p:spPr>
        <p:txBody>
          <a:bodyPr/>
          <a:lstStyle/>
          <a:p>
            <a:r>
              <a:rPr lang="en-US" noProof="0" dirty="0"/>
              <a:t>Buy</a:t>
            </a:r>
          </a:p>
        </p:txBody>
      </p:sp>
      <p:sp>
        <p:nvSpPr>
          <p:cNvPr id="25" name="Text Placeholder 24">
            <a:extLst>
              <a:ext uri="{FF2B5EF4-FFF2-40B4-BE49-F238E27FC236}">
                <a16:creationId xmlns:a16="http://schemas.microsoft.com/office/drawing/2014/main" id="{47031A17-4236-5760-8A2F-6FD8ED0A5199}"/>
              </a:ext>
            </a:extLst>
          </p:cNvPr>
          <p:cNvSpPr>
            <a:spLocks noGrp="1"/>
          </p:cNvSpPr>
          <p:nvPr>
            <p:ph type="body" sz="quarter" idx="17"/>
          </p:nvPr>
        </p:nvSpPr>
        <p:spPr>
          <a:xfrm>
            <a:off x="7149557" y="521100"/>
            <a:ext cx="2969488" cy="169277"/>
          </a:xfrm>
        </p:spPr>
        <p:txBody>
          <a:bodyPr/>
          <a:lstStyle/>
          <a:p>
            <a:r>
              <a:rPr lang="en-US" noProof="0" dirty="0"/>
              <a:t>Microsoft 365 Copilot</a:t>
            </a:r>
          </a:p>
        </p:txBody>
      </p:sp>
      <p:sp>
        <p:nvSpPr>
          <p:cNvPr id="23" name="Title 22">
            <a:extLst>
              <a:ext uri="{FF2B5EF4-FFF2-40B4-BE49-F238E27FC236}">
                <a16:creationId xmlns:a16="http://schemas.microsoft.com/office/drawing/2014/main" id="{4913BEB6-3C6F-6464-5332-D4E9789C4F0F}"/>
              </a:ext>
            </a:extLst>
          </p:cNvPr>
          <p:cNvSpPr>
            <a:spLocks noGrp="1"/>
          </p:cNvSpPr>
          <p:nvPr>
            <p:ph type="title"/>
          </p:nvPr>
        </p:nvSpPr>
        <p:spPr>
          <a:xfrm>
            <a:off x="2492556" y="429376"/>
            <a:ext cx="4144817" cy="276999"/>
          </a:xfrm>
        </p:spPr>
        <p:txBody>
          <a:bodyPr/>
          <a:lstStyle/>
          <a:p>
            <a:r>
              <a:rPr lang="en-US" noProof="0" dirty="0"/>
              <a:t>Launch a new Accounting app</a:t>
            </a:r>
          </a:p>
        </p:txBody>
      </p:sp>
      <p:sp>
        <p:nvSpPr>
          <p:cNvPr id="49" name="Text Placeholder 48">
            <a:extLst>
              <a:ext uri="{FF2B5EF4-FFF2-40B4-BE49-F238E27FC236}">
                <a16:creationId xmlns:a16="http://schemas.microsoft.com/office/drawing/2014/main" id="{C5194D63-B415-7850-60BF-736817447AE3}"/>
              </a:ext>
            </a:extLst>
          </p:cNvPr>
          <p:cNvSpPr>
            <a:spLocks noGrp="1"/>
          </p:cNvSpPr>
          <p:nvPr>
            <p:ph type="body" sz="quarter" idx="69"/>
          </p:nvPr>
        </p:nvSpPr>
        <p:spPr>
          <a:xfrm>
            <a:off x="3182890" y="2725494"/>
            <a:ext cx="2572262" cy="712876"/>
          </a:xfrm>
        </p:spPr>
        <p:txBody>
          <a:bodyPr/>
          <a:lstStyle/>
          <a:p>
            <a:r>
              <a:rPr lang="en-US" noProof="0" dirty="0"/>
              <a:t>Action: </a:t>
            </a:r>
            <a:r>
              <a:rPr lang="en-US" noProof="0" dirty="0">
                <a:latin typeface="+mj-lt"/>
              </a:rPr>
              <a:t>Review the main topics discussed.</a:t>
            </a:r>
          </a:p>
        </p:txBody>
      </p:sp>
      <p:sp>
        <p:nvSpPr>
          <p:cNvPr id="24" name="Text Placeholder 23">
            <a:extLst>
              <a:ext uri="{FF2B5EF4-FFF2-40B4-BE49-F238E27FC236}">
                <a16:creationId xmlns:a16="http://schemas.microsoft.com/office/drawing/2014/main" id="{2045DCEE-D959-8BCC-4785-77798A6C8F3A}"/>
              </a:ext>
            </a:extLst>
          </p:cNvPr>
          <p:cNvSpPr>
            <a:spLocks noGrp="1"/>
          </p:cNvSpPr>
          <p:nvPr>
            <p:ph type="body" sz="quarter" idx="11"/>
          </p:nvPr>
        </p:nvSpPr>
        <p:spPr>
          <a:xfrm>
            <a:off x="3182890" y="1112478"/>
            <a:ext cx="2572262" cy="153888"/>
          </a:xfrm>
        </p:spPr>
        <p:txBody>
          <a:bodyPr/>
          <a:lstStyle/>
          <a:p>
            <a:r>
              <a:rPr lang="en-US" noProof="0" dirty="0"/>
              <a:t>Recap meeting</a:t>
            </a:r>
          </a:p>
        </p:txBody>
      </p:sp>
      <p:sp>
        <p:nvSpPr>
          <p:cNvPr id="26" name="Text Placeholder 25">
            <a:extLst>
              <a:ext uri="{FF2B5EF4-FFF2-40B4-BE49-F238E27FC236}">
                <a16:creationId xmlns:a16="http://schemas.microsoft.com/office/drawing/2014/main" id="{96999A1B-34A3-7234-B169-3940088B95D5}"/>
              </a:ext>
            </a:extLst>
          </p:cNvPr>
          <p:cNvSpPr>
            <a:spLocks noGrp="1"/>
          </p:cNvSpPr>
          <p:nvPr>
            <p:ph type="body" sz="quarter" idx="18"/>
          </p:nvPr>
        </p:nvSpPr>
        <p:spPr>
          <a:xfrm>
            <a:off x="3182890" y="1438715"/>
            <a:ext cx="2572262" cy="626701"/>
          </a:xfrm>
        </p:spPr>
        <p:txBody>
          <a:bodyPr/>
          <a:lstStyle/>
          <a:p>
            <a:r>
              <a:rPr lang="en-US" noProof="0" dirty="0"/>
              <a:t>Catch up on a missed meeting where a new financial work tool was demoed to the department.</a:t>
            </a:r>
          </a:p>
          <a:p>
            <a:endParaRPr lang="en-US" noProof="0" dirty="0"/>
          </a:p>
        </p:txBody>
      </p:sp>
      <p:sp>
        <p:nvSpPr>
          <p:cNvPr id="31" name="Text Placeholder 30">
            <a:extLst>
              <a:ext uri="{FF2B5EF4-FFF2-40B4-BE49-F238E27FC236}">
                <a16:creationId xmlns:a16="http://schemas.microsoft.com/office/drawing/2014/main" id="{762FC686-C49A-C470-2E10-AC11030B2C74}"/>
              </a:ext>
            </a:extLst>
          </p:cNvPr>
          <p:cNvSpPr>
            <a:spLocks noGrp="1"/>
          </p:cNvSpPr>
          <p:nvPr>
            <p:ph type="body" sz="quarter" idx="42"/>
          </p:nvPr>
        </p:nvSpPr>
        <p:spPr>
          <a:xfrm>
            <a:off x="6066682" y="1112478"/>
            <a:ext cx="2572262" cy="153888"/>
          </a:xfrm>
        </p:spPr>
        <p:txBody>
          <a:bodyPr/>
          <a:lstStyle/>
          <a:p>
            <a:r>
              <a:rPr lang="en-US" noProof="0" dirty="0"/>
              <a:t>Discover documents</a:t>
            </a:r>
          </a:p>
        </p:txBody>
      </p:sp>
      <p:sp>
        <p:nvSpPr>
          <p:cNvPr id="32" name="Text Placeholder 31">
            <a:extLst>
              <a:ext uri="{FF2B5EF4-FFF2-40B4-BE49-F238E27FC236}">
                <a16:creationId xmlns:a16="http://schemas.microsoft.com/office/drawing/2014/main" id="{82DCC597-8FF5-2DA7-7EA5-26AC493E18F7}"/>
              </a:ext>
            </a:extLst>
          </p:cNvPr>
          <p:cNvSpPr>
            <a:spLocks noGrp="1"/>
          </p:cNvSpPr>
          <p:nvPr>
            <p:ph type="body" sz="quarter" idx="43"/>
          </p:nvPr>
        </p:nvSpPr>
        <p:spPr>
          <a:xfrm>
            <a:off x="6066682" y="1438715"/>
            <a:ext cx="2572262" cy="626701"/>
          </a:xfrm>
        </p:spPr>
        <p:txBody>
          <a:bodyPr/>
          <a:lstStyle/>
          <a:p>
            <a:r>
              <a:rPr lang="en-US" noProof="0" dirty="0"/>
              <a:t>Ask Copilot to identify all documents associated with the new financial tool and summarize the relevant documents to be used in a self-serve training presentation.</a:t>
            </a:r>
          </a:p>
          <a:p>
            <a:endParaRPr lang="en-US" noProof="0" dirty="0"/>
          </a:p>
        </p:txBody>
      </p:sp>
      <p:sp>
        <p:nvSpPr>
          <p:cNvPr id="36" name="Text Placeholder 35">
            <a:extLst>
              <a:ext uri="{FF2B5EF4-FFF2-40B4-BE49-F238E27FC236}">
                <a16:creationId xmlns:a16="http://schemas.microsoft.com/office/drawing/2014/main" id="{B3141EF7-04BC-BDEC-64E0-534B554DA12E}"/>
              </a:ext>
            </a:extLst>
          </p:cNvPr>
          <p:cNvSpPr>
            <a:spLocks noGrp="1"/>
          </p:cNvSpPr>
          <p:nvPr>
            <p:ph type="body" sz="quarter" idx="68"/>
          </p:nvPr>
        </p:nvSpPr>
        <p:spPr>
          <a:xfrm>
            <a:off x="8950475" y="2725494"/>
            <a:ext cx="2572262" cy="712876"/>
          </a:xfrm>
        </p:spPr>
        <p:txBody>
          <a:bodyPr/>
          <a:lstStyle/>
          <a:p>
            <a:r>
              <a:rPr lang="en-US" noProof="0" dirty="0"/>
              <a:t>Example prompt: </a:t>
            </a:r>
            <a:r>
              <a:rPr lang="en-US" noProof="0" dirty="0">
                <a:latin typeface="+mj-lt"/>
              </a:rPr>
              <a:t>Draft a training document </a:t>
            </a:r>
            <a:r>
              <a:rPr lang="en-US" noProof="0" dirty="0"/>
              <a:t>for the specified audience that covers topics associated with user onboarding and adoption.</a:t>
            </a:r>
          </a:p>
        </p:txBody>
      </p:sp>
      <p:sp>
        <p:nvSpPr>
          <p:cNvPr id="34" name="Text Placeholder 33">
            <a:extLst>
              <a:ext uri="{FF2B5EF4-FFF2-40B4-BE49-F238E27FC236}">
                <a16:creationId xmlns:a16="http://schemas.microsoft.com/office/drawing/2014/main" id="{CA59A528-9F31-0A37-439E-D299687FD7CA}"/>
              </a:ext>
            </a:extLst>
          </p:cNvPr>
          <p:cNvSpPr>
            <a:spLocks noGrp="1"/>
          </p:cNvSpPr>
          <p:nvPr>
            <p:ph type="body" sz="quarter" idx="45"/>
          </p:nvPr>
        </p:nvSpPr>
        <p:spPr>
          <a:xfrm>
            <a:off x="8950475" y="1112478"/>
            <a:ext cx="2572262" cy="153888"/>
          </a:xfrm>
        </p:spPr>
        <p:txBody>
          <a:bodyPr/>
          <a:lstStyle/>
          <a:p>
            <a:r>
              <a:rPr lang="en-US" noProof="0" dirty="0"/>
              <a:t>Create training document</a:t>
            </a:r>
          </a:p>
        </p:txBody>
      </p:sp>
      <p:sp>
        <p:nvSpPr>
          <p:cNvPr id="35" name="Text Placeholder 34">
            <a:extLst>
              <a:ext uri="{FF2B5EF4-FFF2-40B4-BE49-F238E27FC236}">
                <a16:creationId xmlns:a16="http://schemas.microsoft.com/office/drawing/2014/main" id="{AF98DC7C-3245-1044-521C-0A523D8DA6C5}"/>
              </a:ext>
            </a:extLst>
          </p:cNvPr>
          <p:cNvSpPr>
            <a:spLocks noGrp="1"/>
          </p:cNvSpPr>
          <p:nvPr>
            <p:ph type="body" sz="quarter" idx="46"/>
          </p:nvPr>
        </p:nvSpPr>
        <p:spPr>
          <a:xfrm>
            <a:off x="8950475" y="1438715"/>
            <a:ext cx="2572262" cy="626701"/>
          </a:xfrm>
        </p:spPr>
        <p:txBody>
          <a:bodyPr/>
          <a:lstStyle/>
          <a:p>
            <a:r>
              <a:rPr lang="en-US" noProof="0" dirty="0"/>
              <a:t>Have Copilot generate a training outline and draft content associated with the tool documentation.</a:t>
            </a:r>
          </a:p>
          <a:p>
            <a:endParaRPr lang="en-US" noProof="0" dirty="0"/>
          </a:p>
        </p:txBody>
      </p:sp>
      <p:sp>
        <p:nvSpPr>
          <p:cNvPr id="52" name="Text Placeholder 51">
            <a:extLst>
              <a:ext uri="{FF2B5EF4-FFF2-40B4-BE49-F238E27FC236}">
                <a16:creationId xmlns:a16="http://schemas.microsoft.com/office/drawing/2014/main" id="{73B89115-2316-B930-E6A4-DF7519A4A201}"/>
              </a:ext>
            </a:extLst>
          </p:cNvPr>
          <p:cNvSpPr>
            <a:spLocks noGrp="1"/>
          </p:cNvSpPr>
          <p:nvPr>
            <p:ph type="body" sz="quarter" idx="70"/>
          </p:nvPr>
        </p:nvSpPr>
        <p:spPr>
          <a:xfrm>
            <a:off x="6066682" y="2725494"/>
            <a:ext cx="2572262" cy="712876"/>
          </a:xfrm>
        </p:spPr>
        <p:txBody>
          <a:bodyPr/>
          <a:lstStyle/>
          <a:p>
            <a:r>
              <a:rPr lang="en-US" noProof="0" dirty="0"/>
              <a:t>Example prompt: </a:t>
            </a:r>
            <a:r>
              <a:rPr lang="en-US" noProof="0" dirty="0">
                <a:latin typeface="+mj-lt"/>
              </a:rPr>
              <a:t>Summarize</a:t>
            </a:r>
            <a:r>
              <a:rPr lang="en-US" noProof="0" dirty="0"/>
              <a:t> the relevant documents and topics associated with the new tool. </a:t>
            </a:r>
          </a:p>
        </p:txBody>
      </p:sp>
      <p:sp>
        <p:nvSpPr>
          <p:cNvPr id="37" name="Text Placeholder 36">
            <a:extLst>
              <a:ext uri="{FF2B5EF4-FFF2-40B4-BE49-F238E27FC236}">
                <a16:creationId xmlns:a16="http://schemas.microsoft.com/office/drawing/2014/main" id="{D173C868-119F-B252-5277-E48FB68EED8A}"/>
              </a:ext>
            </a:extLst>
          </p:cNvPr>
          <p:cNvSpPr>
            <a:spLocks noGrp="1"/>
          </p:cNvSpPr>
          <p:nvPr>
            <p:ph type="body" sz="quarter" idx="48"/>
          </p:nvPr>
        </p:nvSpPr>
        <p:spPr>
          <a:xfrm>
            <a:off x="3182890" y="5334522"/>
            <a:ext cx="2572262" cy="712876"/>
          </a:xfrm>
        </p:spPr>
        <p:txBody>
          <a:bodyPr/>
          <a:lstStyle/>
          <a:p>
            <a:r>
              <a:rPr lang="en-US" noProof="0" dirty="0"/>
              <a:t>Example prompt: </a:t>
            </a:r>
            <a:r>
              <a:rPr lang="en-US" noProof="0" dirty="0">
                <a:latin typeface="+mj-lt"/>
              </a:rPr>
              <a:t>Drafting with Copilot</a:t>
            </a:r>
            <a:r>
              <a:rPr lang="en-US" noProof="0" dirty="0"/>
              <a:t>: Draft an email notifying users of the new training content and ask them for feedback by the end of the week.</a:t>
            </a:r>
          </a:p>
        </p:txBody>
      </p:sp>
      <p:sp>
        <p:nvSpPr>
          <p:cNvPr id="38" name="Text Placeholder 37">
            <a:extLst>
              <a:ext uri="{FF2B5EF4-FFF2-40B4-BE49-F238E27FC236}">
                <a16:creationId xmlns:a16="http://schemas.microsoft.com/office/drawing/2014/main" id="{4CA0BD18-EE20-5754-ACE4-F103337BC640}"/>
              </a:ext>
            </a:extLst>
          </p:cNvPr>
          <p:cNvSpPr>
            <a:spLocks noGrp="1"/>
          </p:cNvSpPr>
          <p:nvPr>
            <p:ph type="body" sz="quarter" idx="49"/>
          </p:nvPr>
        </p:nvSpPr>
        <p:spPr>
          <a:xfrm>
            <a:off x="3182890" y="3725103"/>
            <a:ext cx="2572262" cy="153888"/>
          </a:xfrm>
        </p:spPr>
        <p:txBody>
          <a:bodyPr/>
          <a:lstStyle/>
          <a:p>
            <a:r>
              <a:rPr lang="en-US" noProof="0" dirty="0"/>
              <a:t>Draft an email</a:t>
            </a:r>
          </a:p>
        </p:txBody>
      </p:sp>
      <p:sp>
        <p:nvSpPr>
          <p:cNvPr id="39" name="Text Placeholder 38">
            <a:extLst>
              <a:ext uri="{FF2B5EF4-FFF2-40B4-BE49-F238E27FC236}">
                <a16:creationId xmlns:a16="http://schemas.microsoft.com/office/drawing/2014/main" id="{211CEA97-5B35-4464-927C-1499D829488F}"/>
              </a:ext>
            </a:extLst>
          </p:cNvPr>
          <p:cNvSpPr>
            <a:spLocks noGrp="1"/>
          </p:cNvSpPr>
          <p:nvPr>
            <p:ph type="body" sz="quarter" idx="50"/>
          </p:nvPr>
        </p:nvSpPr>
        <p:spPr>
          <a:xfrm>
            <a:off x="3182890" y="4050957"/>
            <a:ext cx="2572262" cy="626701"/>
          </a:xfrm>
        </p:spPr>
        <p:txBody>
          <a:bodyPr/>
          <a:lstStyle/>
          <a:p>
            <a:r>
              <a:rPr lang="en-US" noProof="0" dirty="0"/>
              <a:t>Solicit feedback from a small group of users to refine the training presentation.</a:t>
            </a:r>
          </a:p>
          <a:p>
            <a:endParaRPr lang="en-US" noProof="0" dirty="0"/>
          </a:p>
        </p:txBody>
      </p:sp>
      <p:sp>
        <p:nvSpPr>
          <p:cNvPr id="47" name="Text Placeholder 46">
            <a:extLst>
              <a:ext uri="{FF2B5EF4-FFF2-40B4-BE49-F238E27FC236}">
                <a16:creationId xmlns:a16="http://schemas.microsoft.com/office/drawing/2014/main" id="{BE5FAACE-D28E-CDF6-E05B-B1D7B135C0D1}"/>
              </a:ext>
            </a:extLst>
          </p:cNvPr>
          <p:cNvSpPr>
            <a:spLocks noGrp="1"/>
          </p:cNvSpPr>
          <p:nvPr>
            <p:ph type="body" sz="quarter" idx="51"/>
          </p:nvPr>
        </p:nvSpPr>
        <p:spPr>
          <a:xfrm>
            <a:off x="6066682" y="3725103"/>
            <a:ext cx="2572262" cy="153888"/>
          </a:xfrm>
        </p:spPr>
        <p:txBody>
          <a:bodyPr/>
          <a:lstStyle/>
          <a:p>
            <a:r>
              <a:rPr lang="en-US" noProof="0" dirty="0"/>
              <a:t>Generate a training presentation</a:t>
            </a:r>
          </a:p>
        </p:txBody>
      </p:sp>
      <p:sp>
        <p:nvSpPr>
          <p:cNvPr id="48" name="Text Placeholder 47">
            <a:extLst>
              <a:ext uri="{FF2B5EF4-FFF2-40B4-BE49-F238E27FC236}">
                <a16:creationId xmlns:a16="http://schemas.microsoft.com/office/drawing/2014/main" id="{7DB289BE-FA76-A006-C814-036DC37ED4D4}"/>
              </a:ext>
            </a:extLst>
          </p:cNvPr>
          <p:cNvSpPr>
            <a:spLocks noGrp="1"/>
          </p:cNvSpPr>
          <p:nvPr>
            <p:ph type="body" sz="quarter" idx="52"/>
          </p:nvPr>
        </p:nvSpPr>
        <p:spPr>
          <a:xfrm>
            <a:off x="6066682" y="4050957"/>
            <a:ext cx="2572262" cy="626701"/>
          </a:xfrm>
        </p:spPr>
        <p:txBody>
          <a:bodyPr/>
          <a:lstStyle/>
          <a:p>
            <a:r>
              <a:rPr lang="en-US" noProof="0" dirty="0"/>
              <a:t>Turn the Microsoft Word document into a thorough training </a:t>
            </a:r>
            <a:r>
              <a:rPr lang="en-US" dirty="0"/>
              <a:t>PowerPoint </a:t>
            </a:r>
            <a:r>
              <a:rPr lang="en-US" noProof="0" dirty="0"/>
              <a:t>presentation that includes relevant visualizations and images using </a:t>
            </a:r>
            <a:r>
              <a:rPr lang="en-US" dirty="0"/>
              <a:t>PowerPoint</a:t>
            </a:r>
            <a:r>
              <a:rPr lang="en-US" noProof="0" dirty="0"/>
              <a:t> Agent.</a:t>
            </a:r>
          </a:p>
          <a:p>
            <a:endParaRPr lang="en-US" noProof="0" dirty="0"/>
          </a:p>
        </p:txBody>
      </p:sp>
      <p:sp>
        <p:nvSpPr>
          <p:cNvPr id="30" name="Text Placeholder 29">
            <a:extLst>
              <a:ext uri="{FF2B5EF4-FFF2-40B4-BE49-F238E27FC236}">
                <a16:creationId xmlns:a16="http://schemas.microsoft.com/office/drawing/2014/main" id="{2AEC2FDB-1262-0060-0BFB-687590485A91}"/>
              </a:ext>
            </a:extLst>
          </p:cNvPr>
          <p:cNvSpPr>
            <a:spLocks noGrp="1"/>
          </p:cNvSpPr>
          <p:nvPr>
            <p:ph type="body" sz="quarter" idx="66"/>
          </p:nvPr>
        </p:nvSpPr>
        <p:spPr>
          <a:xfrm>
            <a:off x="8950475" y="5334522"/>
            <a:ext cx="2572262" cy="712876"/>
          </a:xfrm>
        </p:spPr>
        <p:txBody>
          <a:bodyPr/>
          <a:lstStyle/>
          <a:p>
            <a:r>
              <a:rPr lang="en-US" noProof="0" dirty="0"/>
              <a:t>Example prompt: </a:t>
            </a:r>
            <a:r>
              <a:rPr lang="en-US" noProof="0" dirty="0">
                <a:latin typeface="+mj-lt"/>
              </a:rPr>
              <a:t>Brainstorm </a:t>
            </a:r>
            <a:r>
              <a:rPr lang="en-US" noProof="0" dirty="0"/>
              <a:t>frequently asked questions for a new financial work tool.</a:t>
            </a:r>
          </a:p>
        </p:txBody>
      </p:sp>
      <p:sp>
        <p:nvSpPr>
          <p:cNvPr id="50" name="Text Placeholder 49">
            <a:extLst>
              <a:ext uri="{FF2B5EF4-FFF2-40B4-BE49-F238E27FC236}">
                <a16:creationId xmlns:a16="http://schemas.microsoft.com/office/drawing/2014/main" id="{0BF6C07F-F509-4D54-96AA-B3C69DB7A3BA}"/>
              </a:ext>
            </a:extLst>
          </p:cNvPr>
          <p:cNvSpPr>
            <a:spLocks noGrp="1"/>
          </p:cNvSpPr>
          <p:nvPr>
            <p:ph type="body" sz="quarter" idx="54"/>
          </p:nvPr>
        </p:nvSpPr>
        <p:spPr>
          <a:xfrm>
            <a:off x="8950475" y="3725103"/>
            <a:ext cx="2572262" cy="153888"/>
          </a:xfrm>
        </p:spPr>
        <p:txBody>
          <a:bodyPr/>
          <a:lstStyle/>
          <a:p>
            <a:r>
              <a:rPr lang="en-US" noProof="0" dirty="0"/>
              <a:t>Brainstorm FAQs</a:t>
            </a:r>
          </a:p>
        </p:txBody>
      </p:sp>
      <p:sp>
        <p:nvSpPr>
          <p:cNvPr id="51" name="Text Placeholder 50">
            <a:extLst>
              <a:ext uri="{FF2B5EF4-FFF2-40B4-BE49-F238E27FC236}">
                <a16:creationId xmlns:a16="http://schemas.microsoft.com/office/drawing/2014/main" id="{BC04C50B-F65D-10DF-4C1E-00002722C1C3}"/>
              </a:ext>
            </a:extLst>
          </p:cNvPr>
          <p:cNvSpPr>
            <a:spLocks noGrp="1"/>
          </p:cNvSpPr>
          <p:nvPr>
            <p:ph type="body" sz="quarter" idx="55"/>
          </p:nvPr>
        </p:nvSpPr>
        <p:spPr>
          <a:xfrm>
            <a:off x="8950475" y="4050957"/>
            <a:ext cx="2572262" cy="626701"/>
          </a:xfrm>
        </p:spPr>
        <p:txBody>
          <a:bodyPr/>
          <a:lstStyle/>
          <a:p>
            <a:r>
              <a:rPr lang="en-US" noProof="0" dirty="0"/>
              <a:t>Use Copilot to create a FAQ section to address potential blockers and common issues a new user may encounter. Add this to the MS Word document.</a:t>
            </a:r>
          </a:p>
          <a:p>
            <a:endParaRPr lang="en-US" noProof="0" dirty="0"/>
          </a:p>
        </p:txBody>
      </p:sp>
      <p:sp>
        <p:nvSpPr>
          <p:cNvPr id="33" name="Text Placeholder 32">
            <a:extLst>
              <a:ext uri="{FF2B5EF4-FFF2-40B4-BE49-F238E27FC236}">
                <a16:creationId xmlns:a16="http://schemas.microsoft.com/office/drawing/2014/main" id="{E0F14765-4701-9711-47EB-42C820C1F07B}"/>
              </a:ext>
            </a:extLst>
          </p:cNvPr>
          <p:cNvSpPr>
            <a:spLocks noGrp="1"/>
          </p:cNvSpPr>
          <p:nvPr>
            <p:ph type="body" sz="quarter" idx="67"/>
          </p:nvPr>
        </p:nvSpPr>
        <p:spPr>
          <a:xfrm>
            <a:off x="6066682" y="5334522"/>
            <a:ext cx="2572262" cy="712876"/>
          </a:xfrm>
        </p:spPr>
        <p:txBody>
          <a:bodyPr/>
          <a:lstStyle/>
          <a:p>
            <a:r>
              <a:rPr lang="en-US" noProof="0" dirty="0"/>
              <a:t>Example prompt: </a:t>
            </a:r>
            <a:r>
              <a:rPr lang="en-US" noProof="0" dirty="0">
                <a:latin typeface="+mj-lt"/>
              </a:rPr>
              <a:t>Create a presentation from </a:t>
            </a:r>
            <a:r>
              <a:rPr lang="en-US" noProof="0" dirty="0"/>
              <a:t>[tooltraining.docx]. Then, </a:t>
            </a:r>
            <a:r>
              <a:rPr lang="en-US" noProof="0" dirty="0">
                <a:latin typeface="+mj-lt"/>
              </a:rPr>
              <a:t>add an image of</a:t>
            </a:r>
            <a:r>
              <a:rPr lang="en-US" noProof="0" dirty="0"/>
              <a:t> the process to illustrate the workflow.</a:t>
            </a:r>
          </a:p>
          <a:p>
            <a:r>
              <a:rPr lang="en-US" u="sng" dirty="0">
                <a:hlinkClick r:id="rId3"/>
              </a:rPr>
              <a:t>Get started with Word, Excel, and PowerPoint Agents</a:t>
            </a:r>
            <a:endParaRPr lang="en-US" noProof="0" dirty="0"/>
          </a:p>
        </p:txBody>
      </p:sp>
      <p:sp>
        <p:nvSpPr>
          <p:cNvPr id="129" name="Text Placeholder 128">
            <a:extLst>
              <a:ext uri="{FF2B5EF4-FFF2-40B4-BE49-F238E27FC236}">
                <a16:creationId xmlns:a16="http://schemas.microsoft.com/office/drawing/2014/main" id="{A8453C07-8E54-A1FF-A22E-33D3CB380339}"/>
              </a:ext>
            </a:extLst>
          </p:cNvPr>
          <p:cNvSpPr>
            <a:spLocks noGrp="1"/>
          </p:cNvSpPr>
          <p:nvPr>
            <p:ph type="body" sz="quarter" idx="64"/>
          </p:nvPr>
        </p:nvSpPr>
        <p:spPr>
          <a:xfrm>
            <a:off x="320721" y="4709762"/>
            <a:ext cx="1131651" cy="219456"/>
          </a:xfrm>
        </p:spPr>
        <p:txBody>
          <a:bodyPr/>
          <a:lstStyle/>
          <a:p>
            <a:pPr lvl="0"/>
            <a:r>
              <a:rPr lang="en-US" noProof="0" dirty="0"/>
              <a:t>Value benefit</a:t>
            </a:r>
          </a:p>
        </p:txBody>
      </p:sp>
      <p:sp>
        <p:nvSpPr>
          <p:cNvPr id="130" name="Text Placeholder 129">
            <a:extLst>
              <a:ext uri="{FF2B5EF4-FFF2-40B4-BE49-F238E27FC236}">
                <a16:creationId xmlns:a16="http://schemas.microsoft.com/office/drawing/2014/main" id="{B0DA8A50-E10A-BCE5-FC9B-94A6CFE49B83}"/>
              </a:ext>
            </a:extLst>
          </p:cNvPr>
          <p:cNvSpPr>
            <a:spLocks noGrp="1"/>
          </p:cNvSpPr>
          <p:nvPr>
            <p:ph type="body" sz="quarter" idx="65"/>
          </p:nvPr>
        </p:nvSpPr>
        <p:spPr>
          <a:xfrm>
            <a:off x="320721" y="3467940"/>
            <a:ext cx="1131650" cy="219456"/>
          </a:xfrm>
        </p:spPr>
        <p:txBody>
          <a:bodyPr/>
          <a:lstStyle/>
          <a:p>
            <a:pPr lvl="0"/>
            <a:r>
              <a:rPr lang="en-US" noProof="0" dirty="0"/>
              <a:t>KPIs impacted</a:t>
            </a:r>
          </a:p>
        </p:txBody>
      </p:sp>
      <p:grpSp>
        <p:nvGrpSpPr>
          <p:cNvPr id="156" name="Group 155">
            <a:extLst>
              <a:ext uri="{FF2B5EF4-FFF2-40B4-BE49-F238E27FC236}">
                <a16:creationId xmlns:a16="http://schemas.microsoft.com/office/drawing/2014/main" id="{D291B640-2F86-18B6-3A93-69E89E1D44D5}"/>
              </a:ext>
            </a:extLst>
          </p:cNvPr>
          <p:cNvGrpSpPr/>
          <p:nvPr/>
        </p:nvGrpSpPr>
        <p:grpSpPr>
          <a:xfrm>
            <a:off x="320719" y="5020658"/>
            <a:ext cx="1771605" cy="216000"/>
            <a:chOff x="320719" y="4224856"/>
            <a:chExt cx="1771605" cy="219456"/>
          </a:xfrm>
        </p:grpSpPr>
        <p:sp>
          <p:nvSpPr>
            <p:cNvPr id="157" name="Rectangle: Rounded Corners 6">
              <a:extLst>
                <a:ext uri="{FF2B5EF4-FFF2-40B4-BE49-F238E27FC236}">
                  <a16:creationId xmlns:a16="http://schemas.microsoft.com/office/drawing/2014/main" id="{8C59F670-7EE9-8DBC-032A-D541A40F9D1F}"/>
                </a:ext>
                <a:ext uri="{C183D7F6-B498-43B3-948B-1728B52AA6E4}">
                  <adec:decorative xmlns:adec="http://schemas.microsoft.com/office/drawing/2017/decorative" val="1"/>
                </a:ext>
              </a:extLst>
            </p:cNvPr>
            <p:cNvSpPr/>
            <p:nvPr/>
          </p:nvSpPr>
          <p:spPr bwMode="auto">
            <a:xfrm>
              <a:off x="320719" y="4224856"/>
              <a:ext cx="1771605" cy="219456"/>
            </a:xfrm>
            <a:prstGeom prst="roundRect">
              <a:avLst>
                <a:gd name="adj" fmla="val 50000"/>
              </a:avLst>
            </a:prstGeom>
            <a:solidFill>
              <a:srgbClr val="FFFFFF"/>
            </a:solidFill>
            <a:ln w="12700">
              <a:solidFill>
                <a:srgbClr val="C03BC4"/>
              </a:solidFill>
              <a:headEnd type="none" w="med" len="med"/>
              <a:tailEnd type="none" w="med" len="med"/>
            </a:ln>
            <a:effectLst>
              <a:outerShdw blurRad="63500" dist="63500" dir="2700000"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16000" tIns="36576" rIns="36000" bIns="36000" numCol="1" spcCol="0" rtlCol="0" fromWordArt="0" anchor="ctr" anchorCtr="0" forceAA="0" compatLnSpc="1">
              <a:prstTxWarp prst="textNoShape">
                <a:avLst/>
              </a:prstTxWarp>
              <a:noAutofit/>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C03BC4"/>
                  </a:solidFill>
                  <a:effectLst/>
                  <a:uLnTx/>
                  <a:uFillTx/>
                  <a:latin typeface="Segoe UI Semibold"/>
                  <a:ea typeface="+mn-ea"/>
                  <a:cs typeface="Segoe UI Semibold" panose="020B0702040204020203" pitchFamily="34" charset="0"/>
                </a:rPr>
                <a:t>Cost savings</a:t>
              </a:r>
            </a:p>
          </p:txBody>
        </p:sp>
        <p:pic>
          <p:nvPicPr>
            <p:cNvPr id="158" name="Graphic 157">
              <a:extLst>
                <a:ext uri="{FF2B5EF4-FFF2-40B4-BE49-F238E27FC236}">
                  <a16:creationId xmlns:a16="http://schemas.microsoft.com/office/drawing/2014/main" id="{B7D4B67B-EF4E-CDB5-22BA-F7971D126085}"/>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367506" y="4260849"/>
              <a:ext cx="144000" cy="144000"/>
            </a:xfrm>
            <a:prstGeom prst="rect">
              <a:avLst/>
            </a:prstGeom>
          </p:spPr>
        </p:pic>
      </p:grpSp>
      <p:grpSp>
        <p:nvGrpSpPr>
          <p:cNvPr id="159" name="Group 158">
            <a:extLst>
              <a:ext uri="{FF2B5EF4-FFF2-40B4-BE49-F238E27FC236}">
                <a16:creationId xmlns:a16="http://schemas.microsoft.com/office/drawing/2014/main" id="{ACBB279E-4177-B95B-E3E0-4A6A5E9F92FD}"/>
              </a:ext>
            </a:extLst>
          </p:cNvPr>
          <p:cNvGrpSpPr/>
          <p:nvPr/>
        </p:nvGrpSpPr>
        <p:grpSpPr>
          <a:xfrm>
            <a:off x="320721" y="5309272"/>
            <a:ext cx="1771605" cy="216000"/>
            <a:chOff x="320721" y="4517211"/>
            <a:chExt cx="1771605" cy="216000"/>
          </a:xfrm>
        </p:grpSpPr>
        <p:sp>
          <p:nvSpPr>
            <p:cNvPr id="160" name="Rectangle: Rounded Corners 6">
              <a:extLst>
                <a:ext uri="{FF2B5EF4-FFF2-40B4-BE49-F238E27FC236}">
                  <a16:creationId xmlns:a16="http://schemas.microsoft.com/office/drawing/2014/main" id="{2CB59125-BA8A-94E3-A978-DFD94EBDC434}"/>
                </a:ext>
                <a:ext uri="{C183D7F6-B498-43B3-948B-1728B52AA6E4}">
                  <adec:decorative xmlns:adec="http://schemas.microsoft.com/office/drawing/2017/decorative" val="1"/>
                </a:ext>
              </a:extLst>
            </p:cNvPr>
            <p:cNvSpPr>
              <a:spLocks/>
            </p:cNvSpPr>
            <p:nvPr/>
          </p:nvSpPr>
          <p:spPr bwMode="auto">
            <a:xfrm>
              <a:off x="320721" y="4517211"/>
              <a:ext cx="1771605" cy="216000"/>
            </a:xfrm>
            <a:prstGeom prst="roundRect">
              <a:avLst>
                <a:gd name="adj" fmla="val 50000"/>
              </a:avLst>
            </a:prstGeom>
            <a:solidFill>
              <a:srgbClr val="FFFFFF"/>
            </a:solidFill>
            <a:ln w="12700">
              <a:solidFill>
                <a:srgbClr val="C03BC4"/>
              </a:solidFill>
              <a:headEnd type="none" w="med" len="med"/>
              <a:tailEnd type="none" w="med" len="med"/>
            </a:ln>
            <a:effectLst>
              <a:outerShdw blurRad="63500" dist="63500" dir="2700000"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16000" tIns="36576" rIns="36000" bIns="36000" numCol="1" spcCol="0" rtlCol="0" fromWordArt="0" anchor="ctr" anchorCtr="0" forceAA="0" compatLnSpc="1">
              <a:prstTxWarp prst="textNoShape">
                <a:avLst/>
              </a:prstTxWarp>
              <a:noAutofit/>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C03BC4"/>
                  </a:solidFill>
                  <a:effectLst/>
                  <a:uLnTx/>
                  <a:uFillTx/>
                  <a:latin typeface="Segoe UI Semibold"/>
                  <a:ea typeface="+mn-ea"/>
                  <a:cs typeface="Segoe UI Semibold" panose="020B0702040204020203" pitchFamily="34" charset="0"/>
                </a:rPr>
                <a:t>Employee experience</a:t>
              </a:r>
            </a:p>
          </p:txBody>
        </p:sp>
        <p:pic>
          <p:nvPicPr>
            <p:cNvPr id="161" name="Graphic 160">
              <a:extLst>
                <a:ext uri="{FF2B5EF4-FFF2-40B4-BE49-F238E27FC236}">
                  <a16:creationId xmlns:a16="http://schemas.microsoft.com/office/drawing/2014/main" id="{4079ADD6-7381-3B06-4E74-8A803DBCA31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67507" y="4552645"/>
              <a:ext cx="144000" cy="141732"/>
            </a:xfrm>
            <a:prstGeom prst="rect">
              <a:avLst/>
            </a:prstGeom>
          </p:spPr>
        </p:pic>
      </p:grpSp>
      <p:grpSp>
        <p:nvGrpSpPr>
          <p:cNvPr id="165" name="Group 164">
            <a:extLst>
              <a:ext uri="{FF2B5EF4-FFF2-40B4-BE49-F238E27FC236}">
                <a16:creationId xmlns:a16="http://schemas.microsoft.com/office/drawing/2014/main" id="{E67703F4-ABE9-5BB8-D54C-43D10E970A40}"/>
              </a:ext>
            </a:extLst>
          </p:cNvPr>
          <p:cNvGrpSpPr/>
          <p:nvPr/>
        </p:nvGrpSpPr>
        <p:grpSpPr>
          <a:xfrm>
            <a:off x="320719" y="3778836"/>
            <a:ext cx="1771605" cy="216000"/>
            <a:chOff x="320719" y="4224856"/>
            <a:chExt cx="1771605" cy="219456"/>
          </a:xfrm>
        </p:grpSpPr>
        <p:sp>
          <p:nvSpPr>
            <p:cNvPr id="166" name="Rectangle: Rounded Corners 6">
              <a:extLst>
                <a:ext uri="{FF2B5EF4-FFF2-40B4-BE49-F238E27FC236}">
                  <a16:creationId xmlns:a16="http://schemas.microsoft.com/office/drawing/2014/main" id="{4B78544A-2C46-267B-F04B-1FB012B6ECAA}"/>
                </a:ext>
                <a:ext uri="{C183D7F6-B498-43B3-948B-1728B52AA6E4}">
                  <adec:decorative xmlns:adec="http://schemas.microsoft.com/office/drawing/2017/decorative" val="1"/>
                </a:ext>
              </a:extLst>
            </p:cNvPr>
            <p:cNvSpPr/>
            <p:nvPr/>
          </p:nvSpPr>
          <p:spPr bwMode="auto">
            <a:xfrm>
              <a:off x="320719" y="4224856"/>
              <a:ext cx="1771605" cy="219456"/>
            </a:xfrm>
            <a:prstGeom prst="roundRect">
              <a:avLst>
                <a:gd name="adj" fmla="val 50000"/>
              </a:avLst>
            </a:prstGeom>
            <a:solidFill>
              <a:srgbClr val="FFFFFF"/>
            </a:solidFill>
            <a:ln w="12700">
              <a:solidFill>
                <a:srgbClr val="0078D4"/>
              </a:solidFill>
              <a:headEnd type="none" w="med" len="med"/>
              <a:tailEnd type="none" w="med" len="med"/>
            </a:ln>
            <a:effectLst>
              <a:outerShdw blurRad="63500" dist="63500" dir="2700000"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16000" tIns="36576" rIns="36000" bIns="36000" numCol="1" spcCol="0" rtlCol="0" fromWordArt="0" anchor="ctr" anchorCtr="0" forceAA="0" compatLnSpc="1">
              <a:prstTxWarp prst="textNoShape">
                <a:avLst/>
              </a:prstTxWarp>
              <a:noAutofit/>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78D4"/>
                  </a:solidFill>
                  <a:effectLst/>
                  <a:uLnTx/>
                  <a:uFillTx/>
                  <a:latin typeface="Segoe UI Semibold"/>
                  <a:ea typeface="+mn-ea"/>
                  <a:cs typeface="Segoe UI Semibold" panose="020B0702040204020203" pitchFamily="34" charset="0"/>
                </a:rPr>
                <a:t>Reduce spending</a:t>
              </a:r>
            </a:p>
          </p:txBody>
        </p:sp>
        <p:pic>
          <p:nvPicPr>
            <p:cNvPr id="180" name="Graphic 179">
              <a:extLst>
                <a:ext uri="{FF2B5EF4-FFF2-40B4-BE49-F238E27FC236}">
                  <a16:creationId xmlns:a16="http://schemas.microsoft.com/office/drawing/2014/main" id="{166BDC9B-E93D-7BBA-9FAE-FFF85F5800C0}"/>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367506" y="4260849"/>
              <a:ext cx="144000" cy="144000"/>
            </a:xfrm>
            <a:prstGeom prst="rect">
              <a:avLst/>
            </a:prstGeom>
          </p:spPr>
        </p:pic>
      </p:grpSp>
      <p:pic>
        <p:nvPicPr>
          <p:cNvPr id="183" name="Picture 50">
            <a:hlinkClick r:id="rId6"/>
            <a:extLst>
              <a:ext uri="{FF2B5EF4-FFF2-40B4-BE49-F238E27FC236}">
                <a16:creationId xmlns:a16="http://schemas.microsoft.com/office/drawing/2014/main" id="{B9D9D931-E1AD-CCCB-E4BC-457240C1FDC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076638" y="2236817"/>
            <a:ext cx="242374" cy="242374"/>
          </a:xfrm>
          <a:prstGeom prst="rect">
            <a:avLst/>
          </a:prstGeom>
          <a:noFill/>
          <a:extLst>
            <a:ext uri="{909E8E84-426E-40DD-AFC4-6F175D3DCCD1}">
              <a14:hiddenFill xmlns:a14="http://schemas.microsoft.com/office/drawing/2010/main">
                <a:solidFill>
                  <a:srgbClr val="FFFFFF"/>
                </a:solidFill>
              </a14:hiddenFill>
            </a:ext>
          </a:extLst>
        </p:spPr>
      </p:pic>
      <p:pic>
        <p:nvPicPr>
          <p:cNvPr id="187" name="Picture 50">
            <a:hlinkClick r:id="rId6"/>
            <a:extLst>
              <a:ext uri="{FF2B5EF4-FFF2-40B4-BE49-F238E27FC236}">
                <a16:creationId xmlns:a16="http://schemas.microsoft.com/office/drawing/2014/main" id="{A8158008-95F4-C379-2E7E-413126199B8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994775" y="2231260"/>
            <a:ext cx="242374" cy="242374"/>
          </a:xfrm>
          <a:prstGeom prst="rect">
            <a:avLst/>
          </a:prstGeom>
          <a:noFill/>
          <a:extLst>
            <a:ext uri="{909E8E84-426E-40DD-AFC4-6F175D3DCCD1}">
              <a14:hiddenFill xmlns:a14="http://schemas.microsoft.com/office/drawing/2010/main">
                <a:solidFill>
                  <a:srgbClr val="FFFFFF"/>
                </a:solidFill>
              </a14:hiddenFill>
            </a:ext>
          </a:extLst>
        </p:spPr>
      </p:pic>
      <p:pic>
        <p:nvPicPr>
          <p:cNvPr id="193" name="Picture 6">
            <a:extLst>
              <a:ext uri="{FF2B5EF4-FFF2-40B4-BE49-F238E27FC236}">
                <a16:creationId xmlns:a16="http://schemas.microsoft.com/office/drawing/2014/main" id="{06FDED34-09D7-F5FF-19B5-954778A8106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t="5571" b="5571"/>
          <a:stretch/>
        </p:blipFill>
        <p:spPr bwMode="auto">
          <a:xfrm>
            <a:off x="3180841" y="2236818"/>
            <a:ext cx="245612" cy="223322"/>
          </a:xfrm>
          <a:prstGeom prst="rect">
            <a:avLst/>
          </a:prstGeom>
          <a:noFill/>
          <a:extLst>
            <a:ext uri="{909E8E84-426E-40DD-AFC4-6F175D3DCCD1}">
              <a14:hiddenFill xmlns:a14="http://schemas.microsoft.com/office/drawing/2010/main">
                <a:solidFill>
                  <a:srgbClr val="FFFFFF"/>
                </a:solidFill>
              </a14:hiddenFill>
            </a:ext>
          </a:extLst>
        </p:spPr>
      </p:pic>
      <p:pic>
        <p:nvPicPr>
          <p:cNvPr id="196" name="Picture 50">
            <a:hlinkClick r:id="rId6"/>
            <a:extLst>
              <a:ext uri="{FF2B5EF4-FFF2-40B4-BE49-F238E27FC236}">
                <a16:creationId xmlns:a16="http://schemas.microsoft.com/office/drawing/2014/main" id="{81C12D05-8E9C-8B4E-A0C6-E6E9BE251AA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970386" y="4849099"/>
            <a:ext cx="242374" cy="242374"/>
          </a:xfrm>
          <a:prstGeom prst="rect">
            <a:avLst/>
          </a:prstGeom>
          <a:noFill/>
          <a:extLst>
            <a:ext uri="{909E8E84-426E-40DD-AFC4-6F175D3DCCD1}">
              <a14:hiddenFill xmlns:a14="http://schemas.microsoft.com/office/drawing/2010/main">
                <a:solidFill>
                  <a:srgbClr val="FFFFFF"/>
                </a:solidFill>
              </a14:hiddenFill>
            </a:ext>
          </a:extLst>
        </p:spPr>
      </p:pic>
      <p:sp>
        <p:nvSpPr>
          <p:cNvPr id="192" name="TextBox 191">
            <a:extLst>
              <a:ext uri="{FF2B5EF4-FFF2-40B4-BE49-F238E27FC236}">
                <a16:creationId xmlns:a16="http://schemas.microsoft.com/office/drawing/2014/main" id="{C25D1713-9EFC-AF48-32E0-67DE3F2A6566}"/>
              </a:ext>
              <a:ext uri="{C183D7F6-B498-43B3-948B-1728B52AA6E4}">
                <adec:decorative xmlns:adec="http://schemas.microsoft.com/office/drawing/2017/decorative" val="0"/>
              </a:ext>
            </a:extLst>
          </p:cNvPr>
          <p:cNvSpPr txBox="1">
            <a:spLocks/>
          </p:cNvSpPr>
          <p:nvPr/>
        </p:nvSpPr>
        <p:spPr>
          <a:xfrm>
            <a:off x="3562471" y="2286931"/>
            <a:ext cx="1830524" cy="1538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Semibold"/>
                <a:ea typeface="+mn-ea"/>
                <a:cs typeface="+mn-cs"/>
              </a:rPr>
              <a:t>Copilot in Teams</a:t>
            </a:r>
          </a:p>
        </p:txBody>
      </p:sp>
      <p:sp>
        <p:nvSpPr>
          <p:cNvPr id="182" name="TextBox 181">
            <a:extLst>
              <a:ext uri="{FF2B5EF4-FFF2-40B4-BE49-F238E27FC236}">
                <a16:creationId xmlns:a16="http://schemas.microsoft.com/office/drawing/2014/main" id="{13AE1910-F119-63A1-22EE-FAF073E14C32}"/>
              </a:ext>
              <a:ext uri="{C183D7F6-B498-43B3-948B-1728B52AA6E4}">
                <adec:decorative xmlns:adec="http://schemas.microsoft.com/office/drawing/2017/decorative" val="0"/>
              </a:ext>
            </a:extLst>
          </p:cNvPr>
          <p:cNvSpPr txBox="1">
            <a:spLocks/>
          </p:cNvSpPr>
          <p:nvPr/>
        </p:nvSpPr>
        <p:spPr>
          <a:xfrm>
            <a:off x="6446958" y="2286931"/>
            <a:ext cx="1830524" cy="1538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Semibold"/>
                <a:ea typeface="+mn-ea"/>
                <a:cs typeface="+mn-cs"/>
              </a:rPr>
              <a:t>Copilot Chat</a:t>
            </a:r>
            <a:r>
              <a:rPr kumimoji="0" lang="en-US" sz="1000" b="0" i="0" u="none" strike="noStrike" kern="1200" cap="none" spc="0" normalizeH="0" baseline="30000" noProof="0" dirty="0">
                <a:ln>
                  <a:noFill/>
                </a:ln>
                <a:solidFill>
                  <a:srgbClr val="000000"/>
                </a:solidFill>
                <a:effectLst/>
                <a:uLnTx/>
                <a:uFillTx/>
                <a:latin typeface="Segoe UI Semibold"/>
                <a:ea typeface="+mn-ea"/>
                <a:cs typeface="+mn-cs"/>
              </a:rPr>
              <a:t>2</a:t>
            </a:r>
          </a:p>
        </p:txBody>
      </p:sp>
      <p:sp>
        <p:nvSpPr>
          <p:cNvPr id="185" name="TextBox 184">
            <a:extLst>
              <a:ext uri="{FF2B5EF4-FFF2-40B4-BE49-F238E27FC236}">
                <a16:creationId xmlns:a16="http://schemas.microsoft.com/office/drawing/2014/main" id="{62D4FE21-C7E8-4834-D715-0373D4AED4D5}"/>
              </a:ext>
              <a:ext uri="{C183D7F6-B498-43B3-948B-1728B52AA6E4}">
                <adec:decorative xmlns:adec="http://schemas.microsoft.com/office/drawing/2017/decorative" val="0"/>
              </a:ext>
            </a:extLst>
          </p:cNvPr>
          <p:cNvSpPr txBox="1">
            <a:spLocks/>
          </p:cNvSpPr>
          <p:nvPr/>
        </p:nvSpPr>
        <p:spPr>
          <a:xfrm>
            <a:off x="9328928" y="2286931"/>
            <a:ext cx="1420949" cy="1538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Semibold"/>
                <a:ea typeface="+mn-ea"/>
                <a:cs typeface="+mn-cs"/>
              </a:rPr>
              <a:t>Copilot Chat</a:t>
            </a:r>
            <a:r>
              <a:rPr kumimoji="0" lang="en-US" sz="1000" b="0" i="0" u="none" strike="noStrike" kern="1200" cap="none" spc="0" normalizeH="0" baseline="30000" noProof="0" dirty="0">
                <a:ln>
                  <a:noFill/>
                </a:ln>
                <a:solidFill>
                  <a:srgbClr val="000000"/>
                </a:solidFill>
                <a:effectLst/>
                <a:uLnTx/>
                <a:uFillTx/>
                <a:latin typeface="Segoe UI Semibold"/>
                <a:ea typeface="+mn-ea"/>
                <a:cs typeface="+mn-cs"/>
              </a:rPr>
              <a:t>2</a:t>
            </a:r>
          </a:p>
        </p:txBody>
      </p:sp>
      <p:sp>
        <p:nvSpPr>
          <p:cNvPr id="189" name="TextBox 188">
            <a:extLst>
              <a:ext uri="{FF2B5EF4-FFF2-40B4-BE49-F238E27FC236}">
                <a16:creationId xmlns:a16="http://schemas.microsoft.com/office/drawing/2014/main" id="{31CFB9D4-AF5B-8AD0-2C01-29107919522C}"/>
              </a:ext>
              <a:ext uri="{C183D7F6-B498-43B3-948B-1728B52AA6E4}">
                <adec:decorative xmlns:adec="http://schemas.microsoft.com/office/drawing/2017/decorative" val="0"/>
              </a:ext>
            </a:extLst>
          </p:cNvPr>
          <p:cNvSpPr txBox="1">
            <a:spLocks/>
          </p:cNvSpPr>
          <p:nvPr/>
        </p:nvSpPr>
        <p:spPr>
          <a:xfrm>
            <a:off x="6446960" y="4886070"/>
            <a:ext cx="1830522" cy="1538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Semibold"/>
                <a:ea typeface="+mn-ea"/>
                <a:cs typeface="+mn-cs"/>
              </a:rPr>
              <a:t>PowerPoint Agent</a:t>
            </a:r>
            <a:endParaRPr kumimoji="0" lang="en-US" sz="1000" b="0" i="0" u="none" strike="noStrike" kern="1200" cap="none" spc="0" normalizeH="0" baseline="30000" noProof="0" dirty="0">
              <a:ln>
                <a:noFill/>
              </a:ln>
              <a:solidFill>
                <a:srgbClr val="000000"/>
              </a:solidFill>
              <a:effectLst/>
              <a:uLnTx/>
              <a:uFillTx/>
              <a:latin typeface="Segoe UI Semibold"/>
              <a:ea typeface="+mn-ea"/>
              <a:cs typeface="+mn-cs"/>
            </a:endParaRPr>
          </a:p>
        </p:txBody>
      </p:sp>
      <p:sp>
        <p:nvSpPr>
          <p:cNvPr id="198" name="TextBox 197">
            <a:extLst>
              <a:ext uri="{FF2B5EF4-FFF2-40B4-BE49-F238E27FC236}">
                <a16:creationId xmlns:a16="http://schemas.microsoft.com/office/drawing/2014/main" id="{67BBF7D8-F16C-FC21-A639-7B1F7C9A9F9B}"/>
              </a:ext>
              <a:ext uri="{C183D7F6-B498-43B3-948B-1728B52AA6E4}">
                <adec:decorative xmlns:adec="http://schemas.microsoft.com/office/drawing/2017/decorative" val="0"/>
              </a:ext>
            </a:extLst>
          </p:cNvPr>
          <p:cNvSpPr txBox="1">
            <a:spLocks/>
          </p:cNvSpPr>
          <p:nvPr/>
        </p:nvSpPr>
        <p:spPr>
          <a:xfrm>
            <a:off x="3562473" y="4886070"/>
            <a:ext cx="1420949" cy="1538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Semibold"/>
                <a:ea typeface="+mn-ea"/>
                <a:cs typeface="+mn-cs"/>
              </a:rPr>
              <a:t>Copilot in Outlook</a:t>
            </a:r>
          </a:p>
        </p:txBody>
      </p:sp>
      <p:sp>
        <p:nvSpPr>
          <p:cNvPr id="195" name="TextBox 194">
            <a:extLst>
              <a:ext uri="{FF2B5EF4-FFF2-40B4-BE49-F238E27FC236}">
                <a16:creationId xmlns:a16="http://schemas.microsoft.com/office/drawing/2014/main" id="{F9B9B4BE-783E-6F17-D221-070E59DDA313}"/>
              </a:ext>
              <a:ext uri="{C183D7F6-B498-43B3-948B-1728B52AA6E4}">
                <adec:decorative xmlns:adec="http://schemas.microsoft.com/office/drawing/2017/decorative" val="0"/>
              </a:ext>
            </a:extLst>
          </p:cNvPr>
          <p:cNvSpPr txBox="1">
            <a:spLocks/>
          </p:cNvSpPr>
          <p:nvPr/>
        </p:nvSpPr>
        <p:spPr>
          <a:xfrm>
            <a:off x="9328926" y="4886070"/>
            <a:ext cx="1830524" cy="1538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Semibold"/>
                <a:ea typeface="+mn-ea"/>
                <a:cs typeface="+mn-cs"/>
              </a:rPr>
              <a:t>Copilot Chat</a:t>
            </a:r>
            <a:r>
              <a:rPr kumimoji="0" lang="en-US" sz="1000" b="0" i="0" u="none" strike="noStrike" kern="1200" cap="none" spc="0" normalizeH="0" baseline="30000" noProof="0" dirty="0">
                <a:ln>
                  <a:noFill/>
                </a:ln>
                <a:solidFill>
                  <a:srgbClr val="000000"/>
                </a:solidFill>
                <a:effectLst/>
                <a:uLnTx/>
                <a:uFillTx/>
                <a:latin typeface="Segoe UI Semibold"/>
                <a:ea typeface="+mn-ea"/>
                <a:cs typeface="+mn-cs"/>
              </a:rPr>
              <a:t>1</a:t>
            </a:r>
          </a:p>
        </p:txBody>
      </p:sp>
      <p:pic>
        <p:nvPicPr>
          <p:cNvPr id="2" name="Picture 1" descr="Outlook logo">
            <a:extLst>
              <a:ext uri="{FF2B5EF4-FFF2-40B4-BE49-F238E27FC236}">
                <a16:creationId xmlns:a16="http://schemas.microsoft.com/office/drawing/2014/main" id="{F49A250A-B6E4-3E2E-A147-9233A2C2606C}"/>
              </a:ext>
            </a:extLst>
          </p:cNvPr>
          <p:cNvPicPr>
            <a:picLocks noChangeAspect="1"/>
          </p:cNvPicPr>
          <p:nvPr/>
        </p:nvPicPr>
        <p:blipFill>
          <a:blip r:embed="rId9"/>
          <a:stretch>
            <a:fillRect/>
          </a:stretch>
        </p:blipFill>
        <p:spPr>
          <a:xfrm>
            <a:off x="3171059" y="4837698"/>
            <a:ext cx="265176" cy="265176"/>
          </a:xfrm>
          <a:prstGeom prst="rect">
            <a:avLst/>
          </a:prstGeom>
        </p:spPr>
      </p:pic>
      <p:pic>
        <p:nvPicPr>
          <p:cNvPr id="3" name="Picture 2" descr="PowerPoint logo">
            <a:extLst>
              <a:ext uri="{FF2B5EF4-FFF2-40B4-BE49-F238E27FC236}">
                <a16:creationId xmlns:a16="http://schemas.microsoft.com/office/drawing/2014/main" id="{D1BD8024-C7C3-42F9-4204-5A8FAAD41792}"/>
              </a:ext>
            </a:extLst>
          </p:cNvPr>
          <p:cNvPicPr>
            <a:picLocks noChangeAspect="1"/>
          </p:cNvPicPr>
          <p:nvPr/>
        </p:nvPicPr>
        <p:blipFill>
          <a:blip r:embed="rId10"/>
          <a:stretch>
            <a:fillRect/>
          </a:stretch>
        </p:blipFill>
        <p:spPr>
          <a:xfrm>
            <a:off x="6096000" y="4819490"/>
            <a:ext cx="265176" cy="265176"/>
          </a:xfrm>
          <a:prstGeom prst="rect">
            <a:avLst/>
          </a:prstGeom>
        </p:spPr>
      </p:pic>
    </p:spTree>
    <p:extLst>
      <p:ext uri="{BB962C8B-B14F-4D97-AF65-F5344CB8AC3E}">
        <p14:creationId xmlns:p14="http://schemas.microsoft.com/office/powerpoint/2010/main" val="1608768955"/>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E8115F-0246-AEF9-C3EC-532BF79A7A18}"/>
            </a:ext>
          </a:extLst>
        </p:cNvPr>
        <p:cNvGrpSpPr/>
        <p:nvPr/>
      </p:nvGrpSpPr>
      <p:grpSpPr>
        <a:xfrm>
          <a:off x="0" y="0"/>
          <a:ext cx="0" cy="0"/>
          <a:chOff x="0" y="0"/>
          <a:chExt cx="0" cy="0"/>
        </a:xfrm>
      </p:grpSpPr>
      <p:sp>
        <p:nvSpPr>
          <p:cNvPr id="110" name="Title 109">
            <a:extLst>
              <a:ext uri="{FF2B5EF4-FFF2-40B4-BE49-F238E27FC236}">
                <a16:creationId xmlns:a16="http://schemas.microsoft.com/office/drawing/2014/main" id="{34BF6FE0-6274-D599-C844-3B3FF80A8710}"/>
              </a:ext>
            </a:extLst>
          </p:cNvPr>
          <p:cNvSpPr>
            <a:spLocks noGrp="1"/>
          </p:cNvSpPr>
          <p:nvPr>
            <p:ph type="title"/>
          </p:nvPr>
        </p:nvSpPr>
        <p:spPr/>
        <p:txBody>
          <a:bodyPr/>
          <a:lstStyle/>
          <a:p>
            <a:r>
              <a:rPr lang="en-US" noProof="0" dirty="0"/>
              <a:t>Finance Q&amp;A agent</a:t>
            </a:r>
          </a:p>
        </p:txBody>
      </p:sp>
      <p:sp>
        <p:nvSpPr>
          <p:cNvPr id="55" name="Text Placeholder 54">
            <a:extLst>
              <a:ext uri="{FF2B5EF4-FFF2-40B4-BE49-F238E27FC236}">
                <a16:creationId xmlns:a16="http://schemas.microsoft.com/office/drawing/2014/main" id="{FE27D0FE-6755-61BE-7BE8-2D338EF6B482}"/>
              </a:ext>
            </a:extLst>
          </p:cNvPr>
          <p:cNvSpPr>
            <a:spLocks noGrp="1"/>
          </p:cNvSpPr>
          <p:nvPr>
            <p:ph type="body" sz="quarter" idx="33"/>
          </p:nvPr>
        </p:nvSpPr>
        <p:spPr/>
        <p:txBody>
          <a:bodyPr/>
          <a:lstStyle/>
          <a:p>
            <a:r>
              <a:rPr lang="en-US" dirty="0"/>
              <a:t>Finance</a:t>
            </a:r>
          </a:p>
        </p:txBody>
      </p:sp>
      <p:sp>
        <p:nvSpPr>
          <p:cNvPr id="114" name="Text Placeholder 113">
            <a:extLst>
              <a:ext uri="{FF2B5EF4-FFF2-40B4-BE49-F238E27FC236}">
                <a16:creationId xmlns:a16="http://schemas.microsoft.com/office/drawing/2014/main" id="{E6B8E2FA-EA98-406E-CF44-FDE65319DF66}"/>
              </a:ext>
            </a:extLst>
          </p:cNvPr>
          <p:cNvSpPr>
            <a:spLocks noGrp="1"/>
          </p:cNvSpPr>
          <p:nvPr>
            <p:ph type="body" sz="quarter" idx="44"/>
          </p:nvPr>
        </p:nvSpPr>
        <p:spPr/>
        <p:txBody>
          <a:bodyPr/>
          <a:lstStyle/>
          <a:p>
            <a:r>
              <a:rPr lang="en-US" noProof="0" dirty="0"/>
              <a:t>Copilot Studio</a:t>
            </a:r>
          </a:p>
        </p:txBody>
      </p:sp>
      <p:sp>
        <p:nvSpPr>
          <p:cNvPr id="113" name="Text Placeholder 112">
            <a:extLst>
              <a:ext uri="{FF2B5EF4-FFF2-40B4-BE49-F238E27FC236}">
                <a16:creationId xmlns:a16="http://schemas.microsoft.com/office/drawing/2014/main" id="{05F32D6E-2799-308E-7FAC-F788DDE8BA09}"/>
              </a:ext>
            </a:extLst>
          </p:cNvPr>
          <p:cNvSpPr>
            <a:spLocks noGrp="1"/>
          </p:cNvSpPr>
          <p:nvPr>
            <p:ph type="body" sz="quarter" idx="43"/>
          </p:nvPr>
        </p:nvSpPr>
        <p:spPr/>
        <p:txBody>
          <a:bodyPr/>
          <a:lstStyle/>
          <a:p>
            <a:r>
              <a:rPr lang="en-US" noProof="0" dirty="0"/>
              <a:t>Build</a:t>
            </a:r>
          </a:p>
        </p:txBody>
      </p:sp>
      <p:sp>
        <p:nvSpPr>
          <p:cNvPr id="2" name="Text Placeholder 1">
            <a:extLst>
              <a:ext uri="{FF2B5EF4-FFF2-40B4-BE49-F238E27FC236}">
                <a16:creationId xmlns:a16="http://schemas.microsoft.com/office/drawing/2014/main" id="{44F8F815-0BFC-0A39-041B-663B9C463CC5}"/>
              </a:ext>
            </a:extLst>
          </p:cNvPr>
          <p:cNvSpPr>
            <a:spLocks noGrp="1"/>
          </p:cNvSpPr>
          <p:nvPr>
            <p:ph type="body" sz="quarter" idx="42"/>
          </p:nvPr>
        </p:nvSpPr>
        <p:spPr/>
        <p:txBody>
          <a:bodyPr/>
          <a:lstStyle/>
          <a:p>
            <a:pPr lvl="0" defTabSz="914400">
              <a:buSzTx/>
              <a:defRPr/>
            </a:pPr>
            <a:r>
              <a:rPr lang="en-US" dirty="0"/>
              <a:t>AI-powered solution that automates finance-related query resolution, ensures real-time data access, handles complex queries, and maintains compliance alignment.</a:t>
            </a:r>
            <a:endParaRPr lang="en-US" kern="1200" dirty="0">
              <a:solidFill>
                <a:prstClr val="black"/>
              </a:solidFill>
              <a:latin typeface="Graphik" panose="020B0503030202060203" pitchFamily="34" charset="0"/>
            </a:endParaRPr>
          </a:p>
          <a:p>
            <a:endParaRPr lang="en-US" dirty="0"/>
          </a:p>
          <a:p>
            <a:r>
              <a:rPr lang="en-US" kern="1200" dirty="0">
                <a:solidFill>
                  <a:srgbClr val="000000"/>
                </a:solidFill>
                <a:latin typeface="Segoe UI Semibold"/>
              </a:rPr>
              <a:t>Implementation information: </a:t>
            </a:r>
            <a:r>
              <a:rPr lang="en-US" kern="1200" dirty="0">
                <a:solidFill>
                  <a:srgbClr val="000000"/>
                </a:solidFill>
                <a:hlinkClick r:id="rId3"/>
              </a:rPr>
              <a:t>Finance Q&amp;A agent</a:t>
            </a:r>
            <a:endParaRPr lang="en-US" kern="1200" dirty="0">
              <a:solidFill>
                <a:srgbClr val="000000"/>
              </a:solidFill>
            </a:endParaRPr>
          </a:p>
          <a:p>
            <a:endParaRPr lang="en-US" dirty="0"/>
          </a:p>
        </p:txBody>
      </p:sp>
      <p:sp>
        <p:nvSpPr>
          <p:cNvPr id="131" name="Text Placeholder 130">
            <a:extLst>
              <a:ext uri="{FF2B5EF4-FFF2-40B4-BE49-F238E27FC236}">
                <a16:creationId xmlns:a16="http://schemas.microsoft.com/office/drawing/2014/main" id="{2A697F4A-6254-D968-ECDD-B9EB6B6856FC}"/>
              </a:ext>
            </a:extLst>
          </p:cNvPr>
          <p:cNvSpPr>
            <a:spLocks noGrp="1"/>
          </p:cNvSpPr>
          <p:nvPr>
            <p:ph type="body" sz="quarter" idx="65"/>
          </p:nvPr>
        </p:nvSpPr>
        <p:spPr/>
        <p:txBody>
          <a:bodyPr/>
          <a:lstStyle/>
          <a:p>
            <a:pPr lvl="0"/>
            <a:r>
              <a:rPr lang="en-US" noProof="0" dirty="0"/>
              <a:t>KPIs impacted</a:t>
            </a:r>
          </a:p>
        </p:txBody>
      </p:sp>
      <p:sp>
        <p:nvSpPr>
          <p:cNvPr id="130" name="Text Placeholder 129">
            <a:extLst>
              <a:ext uri="{FF2B5EF4-FFF2-40B4-BE49-F238E27FC236}">
                <a16:creationId xmlns:a16="http://schemas.microsoft.com/office/drawing/2014/main" id="{7D03E3D0-2AA1-1474-2DC4-EF0D8530A71B}"/>
              </a:ext>
            </a:extLst>
          </p:cNvPr>
          <p:cNvSpPr>
            <a:spLocks noGrp="1"/>
          </p:cNvSpPr>
          <p:nvPr>
            <p:ph type="body" sz="quarter" idx="64"/>
          </p:nvPr>
        </p:nvSpPr>
        <p:spPr/>
        <p:txBody>
          <a:bodyPr/>
          <a:lstStyle/>
          <a:p>
            <a:pPr lvl="0"/>
            <a:r>
              <a:rPr lang="en-US" noProof="0" dirty="0"/>
              <a:t>Value benefit</a:t>
            </a:r>
          </a:p>
        </p:txBody>
      </p:sp>
      <p:sp>
        <p:nvSpPr>
          <p:cNvPr id="116" name="Text Placeholder 115">
            <a:extLst>
              <a:ext uri="{FF2B5EF4-FFF2-40B4-BE49-F238E27FC236}">
                <a16:creationId xmlns:a16="http://schemas.microsoft.com/office/drawing/2014/main" id="{0D271F42-2C1F-1AF7-F361-3B9BC066AC6A}"/>
              </a:ext>
            </a:extLst>
          </p:cNvPr>
          <p:cNvSpPr>
            <a:spLocks noGrp="1"/>
          </p:cNvSpPr>
          <p:nvPr>
            <p:ph type="body" sz="quarter" idx="47"/>
          </p:nvPr>
        </p:nvSpPr>
        <p:spPr/>
        <p:txBody>
          <a:bodyPr/>
          <a:lstStyle/>
          <a:p>
            <a:r>
              <a:rPr lang="en-US" noProof="0" dirty="0"/>
              <a:t>Handle queries</a:t>
            </a:r>
          </a:p>
        </p:txBody>
      </p:sp>
      <p:sp>
        <p:nvSpPr>
          <p:cNvPr id="117" name="Text Placeholder 116">
            <a:extLst>
              <a:ext uri="{FF2B5EF4-FFF2-40B4-BE49-F238E27FC236}">
                <a16:creationId xmlns:a16="http://schemas.microsoft.com/office/drawing/2014/main" id="{9F022D86-6643-8C1C-F75A-9BE563FD8568}"/>
              </a:ext>
            </a:extLst>
          </p:cNvPr>
          <p:cNvSpPr>
            <a:spLocks noGrp="1"/>
          </p:cNvSpPr>
          <p:nvPr>
            <p:ph type="body" sz="quarter" idx="48"/>
          </p:nvPr>
        </p:nvSpPr>
        <p:spPr/>
        <p:txBody>
          <a:bodyPr/>
          <a:lstStyle/>
          <a:p>
            <a:pPr lvl="0" defTabSz="914400" fontAlgn="base">
              <a:spcBef>
                <a:spcPct val="0"/>
              </a:spcBef>
              <a:spcAft>
                <a:spcPct val="0"/>
              </a:spcAft>
              <a:buSzTx/>
              <a:defRPr/>
            </a:pPr>
            <a:r>
              <a:rPr lang="en-US" kern="0" dirty="0">
                <a:solidFill>
                  <a:srgbClr val="000000"/>
                </a:solidFill>
                <a:ea typeface="DM Sans 14pt"/>
                <a:cs typeface="DM Sans 14pt"/>
                <a:sym typeface="DM Sans"/>
              </a:rPr>
              <a:t>Employees ask Finance-related questions and receive responses based on </a:t>
            </a:r>
            <a:r>
              <a:rPr lang="en-US" dirty="0"/>
              <a:t>data from ERP, policy documents, and FAQs and ensures accurate and consistent information.</a:t>
            </a:r>
            <a:endParaRPr lang="en-GB" kern="0" dirty="0">
              <a:solidFill>
                <a:srgbClr val="000000"/>
              </a:solidFill>
              <a:ea typeface="DM Sans 14pt"/>
              <a:cs typeface="DM Sans 14pt"/>
              <a:sym typeface="DM Sans"/>
            </a:endParaRPr>
          </a:p>
          <a:p>
            <a:endParaRPr lang="en-US" noProof="0" dirty="0"/>
          </a:p>
        </p:txBody>
      </p:sp>
      <p:sp>
        <p:nvSpPr>
          <p:cNvPr id="217" name="Text Placeholder 216">
            <a:extLst>
              <a:ext uri="{FF2B5EF4-FFF2-40B4-BE49-F238E27FC236}">
                <a16:creationId xmlns:a16="http://schemas.microsoft.com/office/drawing/2014/main" id="{64708913-F846-4B7A-C62F-3B838EC24F7C}"/>
              </a:ext>
            </a:extLst>
          </p:cNvPr>
          <p:cNvSpPr>
            <a:spLocks noGrp="1"/>
          </p:cNvSpPr>
          <p:nvPr>
            <p:ph type="body" sz="quarter" idx="46"/>
          </p:nvPr>
        </p:nvSpPr>
        <p:spPr/>
        <p:txBody>
          <a:bodyPr/>
          <a:lstStyle/>
          <a:p>
            <a:r>
              <a:rPr lang="en-US" noProof="0" dirty="0"/>
              <a:t>Benefit: The agent Instantly responds to finance-related queries (invoice status, payments, expense tracking) using AI-based NLP.</a:t>
            </a:r>
          </a:p>
        </p:txBody>
      </p:sp>
      <p:sp>
        <p:nvSpPr>
          <p:cNvPr id="118" name="Text Placeholder 117">
            <a:extLst>
              <a:ext uri="{FF2B5EF4-FFF2-40B4-BE49-F238E27FC236}">
                <a16:creationId xmlns:a16="http://schemas.microsoft.com/office/drawing/2014/main" id="{FB38D1D0-74F9-487B-A4DE-9873A372D2B5}"/>
              </a:ext>
            </a:extLst>
          </p:cNvPr>
          <p:cNvSpPr>
            <a:spLocks noGrp="1"/>
          </p:cNvSpPr>
          <p:nvPr>
            <p:ph type="body" sz="quarter" idx="49"/>
          </p:nvPr>
        </p:nvSpPr>
        <p:spPr/>
        <p:txBody>
          <a:bodyPr/>
          <a:lstStyle/>
          <a:p>
            <a:r>
              <a:rPr lang="en-US" dirty="0"/>
              <a:t> Route complex queries</a:t>
            </a:r>
          </a:p>
        </p:txBody>
      </p:sp>
      <p:sp>
        <p:nvSpPr>
          <p:cNvPr id="119" name="Text Placeholder 118">
            <a:extLst>
              <a:ext uri="{FF2B5EF4-FFF2-40B4-BE49-F238E27FC236}">
                <a16:creationId xmlns:a16="http://schemas.microsoft.com/office/drawing/2014/main" id="{FEEBE46E-34E2-0230-8B3F-C3E23FBF275B}"/>
              </a:ext>
            </a:extLst>
          </p:cNvPr>
          <p:cNvSpPr>
            <a:spLocks noGrp="1"/>
          </p:cNvSpPr>
          <p:nvPr>
            <p:ph type="body" sz="quarter" idx="50"/>
          </p:nvPr>
        </p:nvSpPr>
        <p:spPr/>
        <p:txBody>
          <a:bodyPr/>
          <a:lstStyle/>
          <a:p>
            <a:pPr defTabSz="914400" fontAlgn="base">
              <a:spcBef>
                <a:spcPct val="0"/>
              </a:spcBef>
              <a:spcAft>
                <a:spcPct val="0"/>
              </a:spcAft>
              <a:defRPr/>
            </a:pPr>
            <a:r>
              <a:rPr lang="en-US" dirty="0"/>
              <a:t>The agent routes complex queries to the appropriate authority or triggers workflow actions.</a:t>
            </a:r>
          </a:p>
          <a:p>
            <a:endParaRPr lang="en-US" noProof="0" dirty="0"/>
          </a:p>
        </p:txBody>
      </p:sp>
      <p:sp>
        <p:nvSpPr>
          <p:cNvPr id="120" name="Text Placeholder 119">
            <a:extLst>
              <a:ext uri="{FF2B5EF4-FFF2-40B4-BE49-F238E27FC236}">
                <a16:creationId xmlns:a16="http://schemas.microsoft.com/office/drawing/2014/main" id="{BE421ABB-D4C3-057D-9E1E-FB9A43F8C642}"/>
              </a:ext>
            </a:extLst>
          </p:cNvPr>
          <p:cNvSpPr>
            <a:spLocks noGrp="1"/>
          </p:cNvSpPr>
          <p:nvPr>
            <p:ph type="body" sz="quarter" idx="66"/>
          </p:nvPr>
        </p:nvSpPr>
        <p:spPr/>
        <p:txBody>
          <a:bodyPr/>
          <a:lstStyle/>
          <a:p>
            <a:pPr defTabSz="914400" fontAlgn="base">
              <a:spcBef>
                <a:spcPct val="0"/>
              </a:spcBef>
              <a:spcAft>
                <a:spcPct val="0"/>
              </a:spcAft>
              <a:defRPr/>
            </a:pPr>
            <a:r>
              <a:rPr lang="en-US" noProof="0" dirty="0"/>
              <a:t>Benefit: Helps to ensure that questions are answered by triggering a workflow with Finance subject matter experts.</a:t>
            </a:r>
            <a:endParaRPr lang="en-GB" kern="0" dirty="0">
              <a:solidFill>
                <a:srgbClr val="000000"/>
              </a:solidFill>
              <a:ea typeface="DM Sans 14pt"/>
              <a:cs typeface="DM Sans 14pt"/>
              <a:sym typeface="DM Sans"/>
            </a:endParaRPr>
          </a:p>
          <a:p>
            <a:endParaRPr lang="en-US" noProof="0" dirty="0"/>
          </a:p>
        </p:txBody>
      </p:sp>
      <p:sp>
        <p:nvSpPr>
          <p:cNvPr id="121" name="Text Placeholder 120">
            <a:extLst>
              <a:ext uri="{FF2B5EF4-FFF2-40B4-BE49-F238E27FC236}">
                <a16:creationId xmlns:a16="http://schemas.microsoft.com/office/drawing/2014/main" id="{F4346B24-2E77-B1EF-C65C-06D4D258BF26}"/>
              </a:ext>
            </a:extLst>
          </p:cNvPr>
          <p:cNvSpPr>
            <a:spLocks noGrp="1"/>
          </p:cNvSpPr>
          <p:nvPr>
            <p:ph type="body" sz="quarter" idx="52"/>
          </p:nvPr>
        </p:nvSpPr>
        <p:spPr/>
        <p:txBody>
          <a:bodyPr/>
          <a:lstStyle/>
          <a:p>
            <a:r>
              <a:rPr lang="en-US" dirty="0"/>
              <a:t>Manager reporting</a:t>
            </a:r>
          </a:p>
        </p:txBody>
      </p:sp>
      <p:sp>
        <p:nvSpPr>
          <p:cNvPr id="122" name="Text Placeholder 121">
            <a:extLst>
              <a:ext uri="{FF2B5EF4-FFF2-40B4-BE49-F238E27FC236}">
                <a16:creationId xmlns:a16="http://schemas.microsoft.com/office/drawing/2014/main" id="{76590C03-BCED-CE08-3C11-EC323381EFF1}"/>
              </a:ext>
            </a:extLst>
          </p:cNvPr>
          <p:cNvSpPr>
            <a:spLocks noGrp="1"/>
          </p:cNvSpPr>
          <p:nvPr>
            <p:ph type="body" sz="quarter" idx="53"/>
          </p:nvPr>
        </p:nvSpPr>
        <p:spPr/>
        <p:txBody>
          <a:bodyPr/>
          <a:lstStyle/>
          <a:p>
            <a:pPr defTabSz="914400" fontAlgn="base">
              <a:spcBef>
                <a:spcPct val="0"/>
              </a:spcBef>
              <a:spcAft>
                <a:spcPct val="0"/>
              </a:spcAft>
              <a:defRPr/>
            </a:pPr>
            <a:r>
              <a:rPr lang="en-US" dirty="0"/>
              <a:t>The agent logs queries and responses and then generates regular reports to provide feedback for the Finance team on recommended document updates or training requirements.</a:t>
            </a:r>
          </a:p>
          <a:p>
            <a:pPr defTabSz="914400" fontAlgn="base">
              <a:spcBef>
                <a:spcPct val="0"/>
              </a:spcBef>
              <a:spcAft>
                <a:spcPct val="0"/>
              </a:spcAft>
              <a:defRPr/>
            </a:pPr>
            <a:endParaRPr lang="en-GB" kern="0" dirty="0">
              <a:solidFill>
                <a:srgbClr val="000000"/>
              </a:solidFill>
              <a:ea typeface="DM Sans 14pt"/>
              <a:cs typeface="DM Sans 14pt"/>
              <a:sym typeface="DM Sans"/>
            </a:endParaRPr>
          </a:p>
          <a:p>
            <a:endParaRPr lang="en-US" noProof="0" dirty="0"/>
          </a:p>
        </p:txBody>
      </p:sp>
      <p:sp>
        <p:nvSpPr>
          <p:cNvPr id="123" name="Text Placeholder 122">
            <a:extLst>
              <a:ext uri="{FF2B5EF4-FFF2-40B4-BE49-F238E27FC236}">
                <a16:creationId xmlns:a16="http://schemas.microsoft.com/office/drawing/2014/main" id="{42402B7B-2987-0491-8BAC-E6556E28CC8D}"/>
              </a:ext>
            </a:extLst>
          </p:cNvPr>
          <p:cNvSpPr>
            <a:spLocks noGrp="1"/>
          </p:cNvSpPr>
          <p:nvPr>
            <p:ph type="body" sz="quarter" idx="67"/>
          </p:nvPr>
        </p:nvSpPr>
        <p:spPr/>
        <p:txBody>
          <a:bodyPr/>
          <a:lstStyle/>
          <a:p>
            <a:r>
              <a:rPr lang="en-US" noProof="0" dirty="0"/>
              <a:t>Benefit: The Finance team receives clear feedback on common questions and areas of improvement</a:t>
            </a:r>
            <a:r>
              <a:rPr lang="en-US" dirty="0"/>
              <a:t> for Finance policy documentation</a:t>
            </a:r>
            <a:r>
              <a:rPr lang="en-US" noProof="0" dirty="0"/>
              <a:t>.</a:t>
            </a:r>
          </a:p>
        </p:txBody>
      </p:sp>
      <p:grpSp>
        <p:nvGrpSpPr>
          <p:cNvPr id="179" name="Group 178">
            <a:extLst>
              <a:ext uri="{FF2B5EF4-FFF2-40B4-BE49-F238E27FC236}">
                <a16:creationId xmlns:a16="http://schemas.microsoft.com/office/drawing/2014/main" id="{6E2C55EB-390B-8F74-7011-A88E1E19BFF6}"/>
              </a:ext>
            </a:extLst>
          </p:cNvPr>
          <p:cNvGrpSpPr/>
          <p:nvPr/>
        </p:nvGrpSpPr>
        <p:grpSpPr>
          <a:xfrm>
            <a:off x="320719" y="5020658"/>
            <a:ext cx="1771605" cy="216000"/>
            <a:chOff x="320719" y="4224856"/>
            <a:chExt cx="1771605" cy="219456"/>
          </a:xfrm>
        </p:grpSpPr>
        <p:sp>
          <p:nvSpPr>
            <p:cNvPr id="180" name="Rectangle: Rounded Corners 6">
              <a:extLst>
                <a:ext uri="{FF2B5EF4-FFF2-40B4-BE49-F238E27FC236}">
                  <a16:creationId xmlns:a16="http://schemas.microsoft.com/office/drawing/2014/main" id="{98578E12-D51B-3238-E09D-8BD909EAE0A4}"/>
                </a:ext>
                <a:ext uri="{C183D7F6-B498-43B3-948B-1728B52AA6E4}">
                  <adec:decorative xmlns:adec="http://schemas.microsoft.com/office/drawing/2017/decorative" val="1"/>
                </a:ext>
              </a:extLst>
            </p:cNvPr>
            <p:cNvSpPr/>
            <p:nvPr/>
          </p:nvSpPr>
          <p:spPr bwMode="auto">
            <a:xfrm>
              <a:off x="320719" y="4224856"/>
              <a:ext cx="1771605" cy="219456"/>
            </a:xfrm>
            <a:prstGeom prst="roundRect">
              <a:avLst>
                <a:gd name="adj" fmla="val 50000"/>
              </a:avLst>
            </a:prstGeom>
            <a:solidFill>
              <a:srgbClr val="FFFFFF"/>
            </a:solidFill>
            <a:ln w="12700">
              <a:solidFill>
                <a:srgbClr val="C03BC4"/>
              </a:solidFill>
              <a:headEnd type="none" w="med" len="med"/>
              <a:tailEnd type="none" w="med" len="med"/>
            </a:ln>
            <a:effectLst>
              <a:outerShdw blurRad="63500" dist="63500" dir="2700000"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16000" tIns="36576" rIns="36000" bIns="36000" numCol="1" spcCol="0" rtlCol="0" fromWordArt="0" anchor="ctr" anchorCtr="0" forceAA="0" compatLnSpc="1">
              <a:prstTxWarp prst="textNoShape">
                <a:avLst/>
              </a:prstTxWarp>
              <a:noAutofit/>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C03BC4"/>
                  </a:solidFill>
                  <a:effectLst/>
                  <a:uLnTx/>
                  <a:uFillTx/>
                  <a:latin typeface="Segoe UI Semibold"/>
                  <a:ea typeface="+mn-ea"/>
                  <a:cs typeface="Segoe UI Semibold" panose="020B0702040204020203" pitchFamily="34" charset="0"/>
                </a:rPr>
                <a:t>Employee experience</a:t>
              </a:r>
            </a:p>
          </p:txBody>
        </p:sp>
        <p:pic>
          <p:nvPicPr>
            <p:cNvPr id="181" name="Graphic 180">
              <a:extLst>
                <a:ext uri="{FF2B5EF4-FFF2-40B4-BE49-F238E27FC236}">
                  <a16:creationId xmlns:a16="http://schemas.microsoft.com/office/drawing/2014/main" id="{72AF6FBF-246C-DD3B-69F9-FA0C8898E3FE}"/>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367506" y="4260849"/>
              <a:ext cx="144000" cy="144000"/>
            </a:xfrm>
            <a:prstGeom prst="rect">
              <a:avLst/>
            </a:prstGeom>
          </p:spPr>
        </p:pic>
      </p:grpSp>
      <p:grpSp>
        <p:nvGrpSpPr>
          <p:cNvPr id="182" name="Group 181">
            <a:extLst>
              <a:ext uri="{FF2B5EF4-FFF2-40B4-BE49-F238E27FC236}">
                <a16:creationId xmlns:a16="http://schemas.microsoft.com/office/drawing/2014/main" id="{C8E53B79-2B83-4A07-BD41-3FAB7F9206C5}"/>
              </a:ext>
            </a:extLst>
          </p:cNvPr>
          <p:cNvGrpSpPr/>
          <p:nvPr/>
        </p:nvGrpSpPr>
        <p:grpSpPr>
          <a:xfrm>
            <a:off x="320719" y="3778836"/>
            <a:ext cx="1771605" cy="216000"/>
            <a:chOff x="320719" y="4224856"/>
            <a:chExt cx="1771605" cy="219456"/>
          </a:xfrm>
        </p:grpSpPr>
        <p:sp>
          <p:nvSpPr>
            <p:cNvPr id="183" name="Rectangle: Rounded Corners 6">
              <a:extLst>
                <a:ext uri="{FF2B5EF4-FFF2-40B4-BE49-F238E27FC236}">
                  <a16:creationId xmlns:a16="http://schemas.microsoft.com/office/drawing/2014/main" id="{0FEBE047-4A89-034E-6DCD-9D3C23C2959B}"/>
                </a:ext>
                <a:ext uri="{C183D7F6-B498-43B3-948B-1728B52AA6E4}">
                  <adec:decorative xmlns:adec="http://schemas.microsoft.com/office/drawing/2017/decorative" val="1"/>
                </a:ext>
              </a:extLst>
            </p:cNvPr>
            <p:cNvSpPr/>
            <p:nvPr/>
          </p:nvSpPr>
          <p:spPr bwMode="auto">
            <a:xfrm>
              <a:off x="320719" y="4224856"/>
              <a:ext cx="1771605" cy="219456"/>
            </a:xfrm>
            <a:prstGeom prst="roundRect">
              <a:avLst>
                <a:gd name="adj" fmla="val 50000"/>
              </a:avLst>
            </a:prstGeom>
            <a:solidFill>
              <a:srgbClr val="FFFFFF"/>
            </a:solidFill>
            <a:ln w="12700">
              <a:solidFill>
                <a:srgbClr val="0078D4"/>
              </a:solidFill>
              <a:headEnd type="none" w="med" len="med"/>
              <a:tailEnd type="none" w="med" len="med"/>
            </a:ln>
            <a:effectLst>
              <a:outerShdw blurRad="63500" dist="63500" dir="2700000"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16000" tIns="36576" rIns="36000" bIns="36000" numCol="1" spcCol="0" rtlCol="0" fromWordArt="0" anchor="ctr" anchorCtr="0" forceAA="0" compatLnSpc="1">
              <a:prstTxWarp prst="textNoShape">
                <a:avLst/>
              </a:prstTxWarp>
              <a:noAutofit/>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78D4"/>
                  </a:solidFill>
                  <a:effectLst/>
                  <a:uLnTx/>
                  <a:uFillTx/>
                  <a:latin typeface="Segoe UI Semibold"/>
                  <a:ea typeface="+mn-ea"/>
                  <a:cs typeface="Segoe UI Semibold" panose="020B0702040204020203" pitchFamily="34" charset="0"/>
                </a:rPr>
                <a:t>Cost per analysis request</a:t>
              </a:r>
            </a:p>
          </p:txBody>
        </p:sp>
        <p:pic>
          <p:nvPicPr>
            <p:cNvPr id="184" name="Graphic 183">
              <a:extLst>
                <a:ext uri="{FF2B5EF4-FFF2-40B4-BE49-F238E27FC236}">
                  <a16:creationId xmlns:a16="http://schemas.microsoft.com/office/drawing/2014/main" id="{83B77472-6B93-467E-3D95-5EE15E5AF049}"/>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367506" y="4260849"/>
              <a:ext cx="144000" cy="144000"/>
            </a:xfrm>
            <a:prstGeom prst="rect">
              <a:avLst/>
            </a:prstGeom>
          </p:spPr>
        </p:pic>
      </p:grpSp>
      <p:grpSp>
        <p:nvGrpSpPr>
          <p:cNvPr id="3" name="Group 2">
            <a:extLst>
              <a:ext uri="{FF2B5EF4-FFF2-40B4-BE49-F238E27FC236}">
                <a16:creationId xmlns:a16="http://schemas.microsoft.com/office/drawing/2014/main" id="{2652FFB5-A598-C5F3-FECF-566B177AB862}"/>
              </a:ext>
            </a:extLst>
          </p:cNvPr>
          <p:cNvGrpSpPr/>
          <p:nvPr/>
        </p:nvGrpSpPr>
        <p:grpSpPr>
          <a:xfrm>
            <a:off x="320719" y="5338502"/>
            <a:ext cx="1771605" cy="216000"/>
            <a:chOff x="320719" y="4224856"/>
            <a:chExt cx="1771605" cy="219456"/>
          </a:xfrm>
        </p:grpSpPr>
        <p:sp>
          <p:nvSpPr>
            <p:cNvPr id="4" name="Rectangle: Rounded Corners 6">
              <a:extLst>
                <a:ext uri="{FF2B5EF4-FFF2-40B4-BE49-F238E27FC236}">
                  <a16:creationId xmlns:a16="http://schemas.microsoft.com/office/drawing/2014/main" id="{53D8CD07-0DDB-C1D8-7EB3-43DF6A19F55E}"/>
                </a:ext>
                <a:ext uri="{C183D7F6-B498-43B3-948B-1728B52AA6E4}">
                  <adec:decorative xmlns:adec="http://schemas.microsoft.com/office/drawing/2017/decorative" val="1"/>
                </a:ext>
              </a:extLst>
            </p:cNvPr>
            <p:cNvSpPr/>
            <p:nvPr/>
          </p:nvSpPr>
          <p:spPr bwMode="auto">
            <a:xfrm>
              <a:off x="320719" y="4224856"/>
              <a:ext cx="1771605" cy="219456"/>
            </a:xfrm>
            <a:prstGeom prst="roundRect">
              <a:avLst>
                <a:gd name="adj" fmla="val 50000"/>
              </a:avLst>
            </a:prstGeom>
            <a:solidFill>
              <a:srgbClr val="FFFFFF"/>
            </a:solidFill>
            <a:ln w="12700">
              <a:solidFill>
                <a:srgbClr val="C03BC4"/>
              </a:solidFill>
              <a:headEnd type="none" w="med" len="med"/>
              <a:tailEnd type="none" w="med" len="med"/>
            </a:ln>
            <a:effectLst>
              <a:outerShdw blurRad="63500" dist="63500" dir="2700000"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16000" tIns="36576" rIns="36000" bIns="36000" numCol="1" spcCol="0" rtlCol="0" fromWordArt="0" anchor="ctr" anchorCtr="0" forceAA="0" compatLnSpc="1">
              <a:prstTxWarp prst="textNoShape">
                <a:avLst/>
              </a:prstTxWarp>
              <a:noAutofit/>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C03BC4"/>
                  </a:solidFill>
                  <a:effectLst/>
                  <a:uLnTx/>
                  <a:uFillTx/>
                  <a:latin typeface="Segoe UI Semibold"/>
                  <a:ea typeface="+mn-ea"/>
                  <a:cs typeface="Segoe UI Semibold" panose="020B0702040204020203" pitchFamily="34" charset="0"/>
                </a:rPr>
                <a:t>Cost savings</a:t>
              </a:r>
            </a:p>
          </p:txBody>
        </p:sp>
        <p:pic>
          <p:nvPicPr>
            <p:cNvPr id="5" name="Graphic 4">
              <a:extLst>
                <a:ext uri="{FF2B5EF4-FFF2-40B4-BE49-F238E27FC236}">
                  <a16:creationId xmlns:a16="http://schemas.microsoft.com/office/drawing/2014/main" id="{656FFE21-8A0E-6B79-5007-F7825A76255E}"/>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367506" y="4260849"/>
              <a:ext cx="144000" cy="144000"/>
            </a:xfrm>
            <a:prstGeom prst="rect">
              <a:avLst/>
            </a:prstGeom>
          </p:spPr>
        </p:pic>
      </p:grpSp>
      <p:sp>
        <p:nvSpPr>
          <p:cNvPr id="7" name="TextBox 6">
            <a:extLst>
              <a:ext uri="{FF2B5EF4-FFF2-40B4-BE49-F238E27FC236}">
                <a16:creationId xmlns:a16="http://schemas.microsoft.com/office/drawing/2014/main" id="{DE087EBA-0664-8EDD-9F28-F58B30E8BAC7}"/>
              </a:ext>
              <a:ext uri="{C183D7F6-B498-43B3-948B-1728B52AA6E4}">
                <adec:decorative xmlns:adec="http://schemas.microsoft.com/office/drawing/2017/decorative" val="0"/>
              </a:ext>
            </a:extLst>
          </p:cNvPr>
          <p:cNvSpPr txBox="1"/>
          <p:nvPr/>
        </p:nvSpPr>
        <p:spPr>
          <a:xfrm>
            <a:off x="6423076" y="2081108"/>
            <a:ext cx="2217309" cy="276999"/>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Semibold"/>
                <a:ea typeface="+mn-ea"/>
                <a:cs typeface="+mn-cs"/>
              </a:rPr>
              <a:t>AI Agent</a:t>
            </a:r>
            <a:r>
              <a:rPr kumimoji="0" lang="en-US" sz="1000" b="0" i="0" u="none" strike="noStrike" kern="1200" cap="none" spc="0" normalizeH="0" baseline="30000" noProof="0" dirty="0">
                <a:ln>
                  <a:noFill/>
                </a:ln>
                <a:solidFill>
                  <a:srgbClr val="000000"/>
                </a:solidFill>
                <a:effectLst/>
                <a:uLnTx/>
                <a:uFillTx/>
                <a:latin typeface="Segoe UI Semibold"/>
                <a:ea typeface="+mn-ea"/>
                <a:cs typeface="+mn-cs"/>
              </a:rPr>
              <a:t>3</a:t>
            </a:r>
            <a:endParaRPr kumimoji="0" lang="en-US" sz="1000" b="0" i="0" u="none" strike="noStrike" kern="1200" cap="none" spc="0" normalizeH="0" baseline="0" noProof="0" dirty="0">
              <a:ln>
                <a:noFill/>
              </a:ln>
              <a:solidFill>
                <a:srgbClr val="000000"/>
              </a:solidFill>
              <a:effectLst/>
              <a:uLnTx/>
              <a:uFillTx/>
              <a:latin typeface="Segoe UI Semibold"/>
              <a:ea typeface="+mn-ea"/>
              <a:cs typeface="+mn-cs"/>
            </a:endParaRPr>
          </a:p>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78D4"/>
                </a:solidFill>
                <a:effectLst/>
                <a:uLnTx/>
                <a:uFillTx/>
                <a:latin typeface="Segoe UI Semibold"/>
                <a:ea typeface="+mn-ea"/>
                <a:cs typeface="+mn-cs"/>
              </a:rPr>
              <a:t>+ Connection to Power Automate</a:t>
            </a:r>
          </a:p>
        </p:txBody>
      </p:sp>
      <p:sp>
        <p:nvSpPr>
          <p:cNvPr id="10" name="TextBox 9">
            <a:extLst>
              <a:ext uri="{FF2B5EF4-FFF2-40B4-BE49-F238E27FC236}">
                <a16:creationId xmlns:a16="http://schemas.microsoft.com/office/drawing/2014/main" id="{CEB5BE23-7B0B-F9CD-F5AB-454A40C8A94E}"/>
              </a:ext>
              <a:ext uri="{C183D7F6-B498-43B3-948B-1728B52AA6E4}">
                <adec:decorative xmlns:adec="http://schemas.microsoft.com/office/drawing/2017/decorative" val="0"/>
              </a:ext>
            </a:extLst>
          </p:cNvPr>
          <p:cNvSpPr txBox="1"/>
          <p:nvPr/>
        </p:nvSpPr>
        <p:spPr>
          <a:xfrm>
            <a:off x="3483225" y="2086974"/>
            <a:ext cx="2332230" cy="646331"/>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Semibold"/>
                <a:ea typeface="+mn-ea"/>
                <a:cs typeface="+mn-cs"/>
              </a:rPr>
              <a:t>AI Agent</a:t>
            </a:r>
            <a:r>
              <a:rPr kumimoji="0" lang="en-US" sz="1000" b="0" i="0" u="none" strike="noStrike" kern="1200" cap="none" spc="0" normalizeH="0" baseline="30000" noProof="0" dirty="0">
                <a:ln>
                  <a:noFill/>
                </a:ln>
                <a:solidFill>
                  <a:srgbClr val="000000"/>
                </a:solidFill>
                <a:effectLst/>
                <a:uLnTx/>
                <a:uFillTx/>
                <a:latin typeface="Segoe UI Semibold"/>
                <a:ea typeface="+mn-ea"/>
                <a:cs typeface="+mn-cs"/>
              </a:rPr>
              <a:t>3</a:t>
            </a:r>
            <a:endParaRPr kumimoji="0" lang="en-US" sz="1000" b="0" i="0" u="none" strike="noStrike" kern="1200" cap="none" spc="0" normalizeH="0" baseline="0" noProof="0" dirty="0">
              <a:ln>
                <a:noFill/>
              </a:ln>
              <a:solidFill>
                <a:srgbClr val="000000"/>
              </a:solidFill>
              <a:effectLst/>
              <a:uLnTx/>
              <a:uFillTx/>
              <a:latin typeface="Segoe UI Semibold"/>
              <a:ea typeface="+mn-ea"/>
              <a:cs typeface="+mn-cs"/>
            </a:endParaRPr>
          </a:p>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78D4"/>
                </a:solidFill>
                <a:effectLst/>
                <a:uLnTx/>
                <a:uFillTx/>
                <a:latin typeface="Segoe UI Semibold"/>
                <a:ea typeface="+mn-ea"/>
                <a:cs typeface="+mn-cs"/>
              </a:rPr>
              <a:t>+ Connection to ERP System (General Ledger, Intercompany records)</a:t>
            </a:r>
          </a:p>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78D4"/>
                </a:solidFill>
                <a:effectLst/>
                <a:uLnTx/>
                <a:uFillTx/>
                <a:latin typeface="Segoe UI Semibold"/>
                <a:ea typeface="+mn-ea"/>
                <a:cs typeface="+mn-cs"/>
              </a:rPr>
              <a:t>+ Connection to Knowledge Base (SharePoint) for FAQs, documentation, etc.</a:t>
            </a:r>
          </a:p>
        </p:txBody>
      </p:sp>
      <p:sp>
        <p:nvSpPr>
          <p:cNvPr id="13" name="TextBox 12">
            <a:extLst>
              <a:ext uri="{FF2B5EF4-FFF2-40B4-BE49-F238E27FC236}">
                <a16:creationId xmlns:a16="http://schemas.microsoft.com/office/drawing/2014/main" id="{ED517AC9-60A6-050D-4DDF-9EC281D43099}"/>
              </a:ext>
              <a:ext uri="{C183D7F6-B498-43B3-948B-1728B52AA6E4}">
                <adec:decorative xmlns:adec="http://schemas.microsoft.com/office/drawing/2017/decorative" val="0"/>
              </a:ext>
            </a:extLst>
          </p:cNvPr>
          <p:cNvSpPr txBox="1"/>
          <p:nvPr/>
        </p:nvSpPr>
        <p:spPr>
          <a:xfrm>
            <a:off x="9309270" y="2081108"/>
            <a:ext cx="2213467" cy="400110"/>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Semibold"/>
                <a:ea typeface="+mn-ea"/>
                <a:cs typeface="+mn-cs"/>
              </a:rPr>
              <a:t>AI Agent</a:t>
            </a:r>
            <a:r>
              <a:rPr kumimoji="0" lang="en-US" sz="1000" b="0" i="0" u="none" strike="noStrike" kern="1200" cap="none" spc="0" normalizeH="0" baseline="30000" noProof="0" dirty="0">
                <a:ln>
                  <a:noFill/>
                </a:ln>
                <a:solidFill>
                  <a:srgbClr val="000000"/>
                </a:solidFill>
                <a:effectLst/>
                <a:uLnTx/>
                <a:uFillTx/>
                <a:latin typeface="Segoe UI Semibold"/>
                <a:ea typeface="+mn-ea"/>
                <a:cs typeface="+mn-cs"/>
              </a:rPr>
              <a:t>3</a:t>
            </a:r>
          </a:p>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78D4"/>
                </a:solidFill>
                <a:effectLst/>
                <a:uLnTx/>
                <a:uFillTx/>
                <a:latin typeface="Segoe UI Semibold"/>
                <a:ea typeface="+mn-ea"/>
                <a:cs typeface="+mn-cs"/>
              </a:rPr>
              <a:t>+ Connection to logging database</a:t>
            </a:r>
          </a:p>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dirty="0">
              <a:ln>
                <a:noFill/>
              </a:ln>
              <a:solidFill>
                <a:srgbClr val="0078D4"/>
              </a:solidFill>
              <a:effectLst/>
              <a:uLnTx/>
              <a:uFillTx/>
              <a:latin typeface="Segoe UI Semibold"/>
              <a:ea typeface="+mn-ea"/>
              <a:cs typeface="+mn-cs"/>
            </a:endParaRPr>
          </a:p>
        </p:txBody>
      </p:sp>
      <p:pic>
        <p:nvPicPr>
          <p:cNvPr id="15" name="Picture 14">
            <a:extLst>
              <a:ext uri="{FF2B5EF4-FFF2-40B4-BE49-F238E27FC236}">
                <a16:creationId xmlns:a16="http://schemas.microsoft.com/office/drawing/2014/main" id="{F6FB8C21-FC4B-154A-FFAE-698AC7482A76}"/>
              </a:ext>
            </a:extLst>
          </p:cNvPr>
          <p:cNvPicPr>
            <a:picLocks noChangeAspect="1"/>
          </p:cNvPicPr>
          <p:nvPr/>
        </p:nvPicPr>
        <p:blipFill>
          <a:blip r:embed="rId6"/>
          <a:stretch>
            <a:fillRect/>
          </a:stretch>
        </p:blipFill>
        <p:spPr>
          <a:xfrm>
            <a:off x="3095161" y="2180198"/>
            <a:ext cx="273674" cy="239465"/>
          </a:xfrm>
          <a:prstGeom prst="rect">
            <a:avLst/>
          </a:prstGeom>
        </p:spPr>
      </p:pic>
      <p:pic>
        <p:nvPicPr>
          <p:cNvPr id="16" name="Picture 15">
            <a:extLst>
              <a:ext uri="{FF2B5EF4-FFF2-40B4-BE49-F238E27FC236}">
                <a16:creationId xmlns:a16="http://schemas.microsoft.com/office/drawing/2014/main" id="{1A0F268B-3CE3-B07C-26E0-7590A8B7F482}"/>
              </a:ext>
            </a:extLst>
          </p:cNvPr>
          <p:cNvPicPr>
            <a:picLocks noChangeAspect="1"/>
          </p:cNvPicPr>
          <p:nvPr/>
        </p:nvPicPr>
        <p:blipFill>
          <a:blip r:embed="rId6"/>
          <a:stretch>
            <a:fillRect/>
          </a:stretch>
        </p:blipFill>
        <p:spPr>
          <a:xfrm>
            <a:off x="6013781" y="2180198"/>
            <a:ext cx="273674" cy="239465"/>
          </a:xfrm>
          <a:prstGeom prst="rect">
            <a:avLst/>
          </a:prstGeom>
        </p:spPr>
      </p:pic>
      <p:pic>
        <p:nvPicPr>
          <p:cNvPr id="17" name="Picture 16">
            <a:extLst>
              <a:ext uri="{FF2B5EF4-FFF2-40B4-BE49-F238E27FC236}">
                <a16:creationId xmlns:a16="http://schemas.microsoft.com/office/drawing/2014/main" id="{4781BC39-053C-93E1-4A6D-99BFEDB6FED2}"/>
              </a:ext>
            </a:extLst>
          </p:cNvPr>
          <p:cNvPicPr>
            <a:picLocks noChangeAspect="1"/>
          </p:cNvPicPr>
          <p:nvPr/>
        </p:nvPicPr>
        <p:blipFill>
          <a:blip r:embed="rId6"/>
          <a:stretch>
            <a:fillRect/>
          </a:stretch>
        </p:blipFill>
        <p:spPr>
          <a:xfrm>
            <a:off x="8950475" y="2180198"/>
            <a:ext cx="273674" cy="239465"/>
          </a:xfrm>
          <a:prstGeom prst="rect">
            <a:avLst/>
          </a:prstGeom>
        </p:spPr>
      </p:pic>
    </p:spTree>
    <p:extLst>
      <p:ext uri="{BB962C8B-B14F-4D97-AF65-F5344CB8AC3E}">
        <p14:creationId xmlns:p14="http://schemas.microsoft.com/office/powerpoint/2010/main" val="1453595555"/>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Title 37">
            <a:extLst>
              <a:ext uri="{FF2B5EF4-FFF2-40B4-BE49-F238E27FC236}">
                <a16:creationId xmlns:a16="http://schemas.microsoft.com/office/drawing/2014/main" id="{23F16038-3ECA-5B93-BFF2-67AAFF1E240D}"/>
              </a:ext>
            </a:extLst>
          </p:cNvPr>
          <p:cNvSpPr>
            <a:spLocks noGrp="1"/>
          </p:cNvSpPr>
          <p:nvPr>
            <p:ph type="title"/>
          </p:nvPr>
        </p:nvSpPr>
        <p:spPr>
          <a:xfrm>
            <a:off x="584200" y="387766"/>
            <a:ext cx="5672544" cy="526298"/>
          </a:xfrm>
        </p:spPr>
        <p:txBody>
          <a:bodyPr/>
          <a:lstStyle/>
          <a:p>
            <a:r>
              <a:rPr lang="en-US" noProof="0" dirty="0"/>
              <a:t>A day in the life of an Income Tax Compliance Manager</a:t>
            </a:r>
          </a:p>
        </p:txBody>
      </p:sp>
      <p:sp>
        <p:nvSpPr>
          <p:cNvPr id="17" name="Text Placeholder 16">
            <a:extLst>
              <a:ext uri="{FF2B5EF4-FFF2-40B4-BE49-F238E27FC236}">
                <a16:creationId xmlns:a16="http://schemas.microsoft.com/office/drawing/2014/main" id="{AA5A3349-46DB-88EB-B2E1-A6D640F40A19}"/>
              </a:ext>
            </a:extLst>
          </p:cNvPr>
          <p:cNvSpPr>
            <a:spLocks noGrp="1"/>
          </p:cNvSpPr>
          <p:nvPr>
            <p:ph type="body" sz="quarter" idx="37"/>
          </p:nvPr>
        </p:nvSpPr>
        <p:spPr>
          <a:xfrm>
            <a:off x="10430234" y="521099"/>
            <a:ext cx="1456966" cy="175614"/>
          </a:xfrm>
        </p:spPr>
        <p:txBody>
          <a:bodyPr/>
          <a:lstStyle/>
          <a:p>
            <a:r>
              <a:rPr lang="en-US" noProof="0" dirty="0"/>
              <a:t>Extend</a:t>
            </a:r>
          </a:p>
        </p:txBody>
      </p:sp>
      <p:sp>
        <p:nvSpPr>
          <p:cNvPr id="125" name="Text Placeholder 124">
            <a:extLst>
              <a:ext uri="{FF2B5EF4-FFF2-40B4-BE49-F238E27FC236}">
                <a16:creationId xmlns:a16="http://schemas.microsoft.com/office/drawing/2014/main" id="{64378299-3226-F8AA-1A31-4D7A041A6D42}"/>
              </a:ext>
            </a:extLst>
          </p:cNvPr>
          <p:cNvSpPr>
            <a:spLocks noGrp="1"/>
          </p:cNvSpPr>
          <p:nvPr>
            <p:ph type="body" sz="quarter" idx="17"/>
          </p:nvPr>
        </p:nvSpPr>
        <p:spPr>
          <a:xfrm>
            <a:off x="6519107" y="521099"/>
            <a:ext cx="3599821" cy="169277"/>
          </a:xfrm>
        </p:spPr>
        <p:txBody>
          <a:bodyPr/>
          <a:lstStyle/>
          <a:p>
            <a:pPr lvl="0"/>
            <a:r>
              <a:rPr lang="en-US" noProof="0" dirty="0"/>
              <a:t>Microsoft 365 Copilot</a:t>
            </a:r>
          </a:p>
        </p:txBody>
      </p:sp>
      <p:sp>
        <p:nvSpPr>
          <p:cNvPr id="40" name="Text Placeholder 39">
            <a:extLst>
              <a:ext uri="{FF2B5EF4-FFF2-40B4-BE49-F238E27FC236}">
                <a16:creationId xmlns:a16="http://schemas.microsoft.com/office/drawing/2014/main" id="{379D624F-A860-9CE9-D756-825F40761990}"/>
              </a:ext>
            </a:extLst>
          </p:cNvPr>
          <p:cNvSpPr>
            <a:spLocks noGrp="1"/>
          </p:cNvSpPr>
          <p:nvPr>
            <p:ph type="body" sz="quarter" idx="11"/>
          </p:nvPr>
        </p:nvSpPr>
        <p:spPr>
          <a:xfrm>
            <a:off x="584200" y="1684713"/>
            <a:ext cx="2808000" cy="345600"/>
          </a:xfrm>
        </p:spPr>
        <p:txBody>
          <a:bodyPr/>
          <a:lstStyle/>
          <a:p>
            <a:r>
              <a:rPr lang="en-US" noProof="0" dirty="0"/>
              <a:t>8:00 am – Summarize emails</a:t>
            </a:r>
          </a:p>
        </p:txBody>
      </p:sp>
      <p:sp>
        <p:nvSpPr>
          <p:cNvPr id="20" name="Text Placeholder 19">
            <a:extLst>
              <a:ext uri="{FF2B5EF4-FFF2-40B4-BE49-F238E27FC236}">
                <a16:creationId xmlns:a16="http://schemas.microsoft.com/office/drawing/2014/main" id="{40B84EA2-608A-E69B-2AA1-85373E34BB84}"/>
              </a:ext>
            </a:extLst>
          </p:cNvPr>
          <p:cNvSpPr>
            <a:spLocks noGrp="1"/>
          </p:cNvSpPr>
          <p:nvPr>
            <p:ph type="body" sz="quarter" idx="18"/>
          </p:nvPr>
        </p:nvSpPr>
        <p:spPr>
          <a:xfrm>
            <a:off x="584200" y="2128438"/>
            <a:ext cx="2808000" cy="626701"/>
          </a:xfrm>
        </p:spPr>
        <p:txBody>
          <a:bodyPr/>
          <a:lstStyle/>
          <a:p>
            <a:r>
              <a:rPr lang="en-US" noProof="0" dirty="0"/>
              <a:t>Emma has several new emails from 3rd parties in relation to tax returns. Instead of reading through each email, she uses Copilot to summarize recent emails about tax returns.</a:t>
            </a:r>
          </a:p>
          <a:p>
            <a:endParaRPr lang="en-US" noProof="0" dirty="0"/>
          </a:p>
        </p:txBody>
      </p:sp>
      <p:sp>
        <p:nvSpPr>
          <p:cNvPr id="147" name="Text Placeholder 146">
            <a:extLst>
              <a:ext uri="{FF2B5EF4-FFF2-40B4-BE49-F238E27FC236}">
                <a16:creationId xmlns:a16="http://schemas.microsoft.com/office/drawing/2014/main" id="{23E5A124-2111-A026-9A96-B0F98862CBC8}"/>
              </a:ext>
            </a:extLst>
          </p:cNvPr>
          <p:cNvSpPr>
            <a:spLocks noGrp="1"/>
          </p:cNvSpPr>
          <p:nvPr>
            <p:ph type="body" sz="quarter" idx="21"/>
          </p:nvPr>
        </p:nvSpPr>
        <p:spPr>
          <a:xfrm>
            <a:off x="584200" y="3304510"/>
            <a:ext cx="2808000" cy="626701"/>
          </a:xfrm>
        </p:spPr>
        <p:txBody>
          <a:bodyPr/>
          <a:lstStyle/>
          <a:p>
            <a:r>
              <a:rPr lang="en-US" noProof="0" dirty="0"/>
              <a:t>Example prompt: </a:t>
            </a:r>
            <a:r>
              <a:rPr lang="en-US" noProof="0" dirty="0">
                <a:latin typeface="+mj-lt"/>
              </a:rPr>
              <a:t>Summarize recent email threads </a:t>
            </a:r>
            <a:r>
              <a:rPr lang="en-US" noProof="0" dirty="0"/>
              <a:t>about tax returns and list action items.</a:t>
            </a:r>
          </a:p>
        </p:txBody>
      </p:sp>
      <p:sp>
        <p:nvSpPr>
          <p:cNvPr id="43" name="Text Placeholder 42">
            <a:extLst>
              <a:ext uri="{FF2B5EF4-FFF2-40B4-BE49-F238E27FC236}">
                <a16:creationId xmlns:a16="http://schemas.microsoft.com/office/drawing/2014/main" id="{F786ECC7-0497-8250-7086-DCE4E9C52A03}"/>
              </a:ext>
            </a:extLst>
          </p:cNvPr>
          <p:cNvSpPr>
            <a:spLocks noGrp="1"/>
          </p:cNvSpPr>
          <p:nvPr>
            <p:ph type="body" sz="quarter" idx="22"/>
          </p:nvPr>
        </p:nvSpPr>
        <p:spPr>
          <a:xfrm>
            <a:off x="3776898" y="1684713"/>
            <a:ext cx="2808000" cy="345600"/>
          </a:xfrm>
        </p:spPr>
        <p:txBody>
          <a:bodyPr/>
          <a:lstStyle/>
          <a:p>
            <a:r>
              <a:rPr lang="en-US" noProof="0" dirty="0"/>
              <a:t>8:30 am – Explain a formula</a:t>
            </a:r>
          </a:p>
        </p:txBody>
      </p:sp>
      <p:sp>
        <p:nvSpPr>
          <p:cNvPr id="22" name="Text Placeholder 21">
            <a:extLst>
              <a:ext uri="{FF2B5EF4-FFF2-40B4-BE49-F238E27FC236}">
                <a16:creationId xmlns:a16="http://schemas.microsoft.com/office/drawing/2014/main" id="{B06D00D9-EB2E-0BBA-34EA-58523DD63D78}"/>
              </a:ext>
            </a:extLst>
          </p:cNvPr>
          <p:cNvSpPr>
            <a:spLocks noGrp="1"/>
          </p:cNvSpPr>
          <p:nvPr>
            <p:ph type="body" sz="quarter" idx="23"/>
          </p:nvPr>
        </p:nvSpPr>
        <p:spPr>
          <a:xfrm>
            <a:off x="3776898" y="2128438"/>
            <a:ext cx="2808000" cy="626701"/>
          </a:xfrm>
        </p:spPr>
        <p:txBody>
          <a:bodyPr/>
          <a:lstStyle/>
          <a:p>
            <a:r>
              <a:rPr lang="en-US" noProof="0" dirty="0"/>
              <a:t>Emma reviews the final tax analysis using Copilot for Finance in Excel to check for any inconsistent formulas. </a:t>
            </a:r>
          </a:p>
          <a:p>
            <a:endParaRPr lang="en-US" noProof="0" dirty="0"/>
          </a:p>
        </p:txBody>
      </p:sp>
      <p:sp>
        <p:nvSpPr>
          <p:cNvPr id="148" name="Text Placeholder 147">
            <a:extLst>
              <a:ext uri="{FF2B5EF4-FFF2-40B4-BE49-F238E27FC236}">
                <a16:creationId xmlns:a16="http://schemas.microsoft.com/office/drawing/2014/main" id="{8A145720-68F0-7830-0F57-C75E14311332}"/>
              </a:ext>
            </a:extLst>
          </p:cNvPr>
          <p:cNvSpPr>
            <a:spLocks noGrp="1"/>
          </p:cNvSpPr>
          <p:nvPr>
            <p:ph type="body" sz="quarter" idx="24"/>
          </p:nvPr>
        </p:nvSpPr>
        <p:spPr>
          <a:xfrm>
            <a:off x="3776898" y="3304510"/>
            <a:ext cx="2808000" cy="626701"/>
          </a:xfrm>
        </p:spPr>
        <p:txBody>
          <a:bodyPr/>
          <a:lstStyle/>
          <a:p>
            <a:r>
              <a:rPr lang="en-US" noProof="0" dirty="0"/>
              <a:t>Example prompt: </a:t>
            </a:r>
            <a:r>
              <a:rPr lang="en-US" noProof="0" dirty="0">
                <a:latin typeface="+mj-lt"/>
              </a:rPr>
              <a:t>Explain the formula </a:t>
            </a:r>
            <a:r>
              <a:rPr lang="en-US" noProof="0" dirty="0"/>
              <a:t>used to calculate deprecation for Contoso.</a:t>
            </a:r>
          </a:p>
        </p:txBody>
      </p:sp>
      <p:sp>
        <p:nvSpPr>
          <p:cNvPr id="46" name="Text Placeholder 45">
            <a:extLst>
              <a:ext uri="{FF2B5EF4-FFF2-40B4-BE49-F238E27FC236}">
                <a16:creationId xmlns:a16="http://schemas.microsoft.com/office/drawing/2014/main" id="{B711834C-1181-E54E-3F35-4A3D37910D88}"/>
              </a:ext>
            </a:extLst>
          </p:cNvPr>
          <p:cNvSpPr>
            <a:spLocks noGrp="1"/>
          </p:cNvSpPr>
          <p:nvPr>
            <p:ph type="body" sz="quarter" idx="25"/>
          </p:nvPr>
        </p:nvSpPr>
        <p:spPr>
          <a:xfrm>
            <a:off x="6969125" y="1684338"/>
            <a:ext cx="2808288" cy="346075"/>
          </a:xfrm>
        </p:spPr>
        <p:txBody>
          <a:bodyPr/>
          <a:lstStyle/>
          <a:p>
            <a:r>
              <a:rPr lang="en-US" noProof="0" dirty="0"/>
              <a:t>9:00 am – Summarize a topic</a:t>
            </a:r>
          </a:p>
        </p:txBody>
      </p:sp>
      <p:sp>
        <p:nvSpPr>
          <p:cNvPr id="35" name="Text Placeholder 34">
            <a:extLst>
              <a:ext uri="{FF2B5EF4-FFF2-40B4-BE49-F238E27FC236}">
                <a16:creationId xmlns:a16="http://schemas.microsoft.com/office/drawing/2014/main" id="{1A519B11-3017-D745-EBDE-E0BBCC312AAD}"/>
              </a:ext>
            </a:extLst>
          </p:cNvPr>
          <p:cNvSpPr>
            <a:spLocks noGrp="1"/>
          </p:cNvSpPr>
          <p:nvPr>
            <p:ph type="body" sz="quarter" idx="26"/>
          </p:nvPr>
        </p:nvSpPr>
        <p:spPr>
          <a:xfrm>
            <a:off x="6969125" y="2128838"/>
            <a:ext cx="2808288" cy="627062"/>
          </a:xfrm>
        </p:spPr>
        <p:txBody>
          <a:bodyPr vert="horz" wrap="square" lIns="0" tIns="0" rIns="0" bIns="0" rtlCol="0">
            <a:noAutofit/>
          </a:bodyPr>
          <a:lstStyle/>
          <a:p>
            <a:r>
              <a:rPr lang="en-US" noProof="0" dirty="0"/>
              <a:t>Emma requests Copilot to create a list of all the emails and chats related to the Contoso tax return. She uses Copilot in Outlook to draft replies to an email thread with the tax preparation team.</a:t>
            </a:r>
          </a:p>
        </p:txBody>
      </p:sp>
      <p:sp>
        <p:nvSpPr>
          <p:cNvPr id="149" name="Text Placeholder 148">
            <a:extLst>
              <a:ext uri="{FF2B5EF4-FFF2-40B4-BE49-F238E27FC236}">
                <a16:creationId xmlns:a16="http://schemas.microsoft.com/office/drawing/2014/main" id="{1A053F06-E0A0-8C81-AC3F-ED44941EDA80}"/>
              </a:ext>
            </a:extLst>
          </p:cNvPr>
          <p:cNvSpPr>
            <a:spLocks noGrp="1"/>
          </p:cNvSpPr>
          <p:nvPr>
            <p:ph type="body" sz="quarter" idx="27"/>
          </p:nvPr>
        </p:nvSpPr>
        <p:spPr>
          <a:xfrm>
            <a:off x="6969595" y="3304510"/>
            <a:ext cx="2808000" cy="626701"/>
          </a:xfrm>
        </p:spPr>
        <p:txBody>
          <a:bodyPr/>
          <a:lstStyle/>
          <a:p>
            <a:r>
              <a:rPr lang="en-US" noProof="0" dirty="0"/>
              <a:t>Example prompt: </a:t>
            </a:r>
            <a:r>
              <a:rPr lang="en-US" dirty="0">
                <a:latin typeface="+mj-lt"/>
              </a:rPr>
              <a:t>Summarize all the conversations </a:t>
            </a:r>
            <a:r>
              <a:rPr lang="en-US" noProof="0" dirty="0"/>
              <a:t>about the Contoso return in my emails and Teams messages.</a:t>
            </a:r>
          </a:p>
        </p:txBody>
      </p:sp>
      <p:sp>
        <p:nvSpPr>
          <p:cNvPr id="55" name="Text Placeholder 54">
            <a:extLst>
              <a:ext uri="{FF2B5EF4-FFF2-40B4-BE49-F238E27FC236}">
                <a16:creationId xmlns:a16="http://schemas.microsoft.com/office/drawing/2014/main" id="{A0F9A379-1E39-4C5C-CC0A-EE3070586169}"/>
              </a:ext>
            </a:extLst>
          </p:cNvPr>
          <p:cNvSpPr>
            <a:spLocks noGrp="1"/>
          </p:cNvSpPr>
          <p:nvPr>
            <p:ph type="body" sz="quarter" idx="34"/>
          </p:nvPr>
        </p:nvSpPr>
        <p:spPr>
          <a:xfrm>
            <a:off x="6969595" y="4137995"/>
            <a:ext cx="2808000" cy="345600"/>
          </a:xfrm>
        </p:spPr>
        <p:txBody>
          <a:bodyPr/>
          <a:lstStyle/>
          <a:p>
            <a:r>
              <a:rPr lang="en-US" noProof="0" dirty="0"/>
              <a:t>11:00 am – Extract information</a:t>
            </a:r>
          </a:p>
        </p:txBody>
      </p:sp>
      <p:sp>
        <p:nvSpPr>
          <p:cNvPr id="121" name="Text Placeholder 120">
            <a:extLst>
              <a:ext uri="{FF2B5EF4-FFF2-40B4-BE49-F238E27FC236}">
                <a16:creationId xmlns:a16="http://schemas.microsoft.com/office/drawing/2014/main" id="{EC8892D0-3FA1-BE26-AD21-396B4890FC1C}"/>
              </a:ext>
            </a:extLst>
          </p:cNvPr>
          <p:cNvSpPr>
            <a:spLocks noGrp="1"/>
          </p:cNvSpPr>
          <p:nvPr>
            <p:ph type="body" sz="quarter" idx="35"/>
          </p:nvPr>
        </p:nvSpPr>
        <p:spPr>
          <a:xfrm>
            <a:off x="6969125" y="4584700"/>
            <a:ext cx="2808288" cy="627063"/>
          </a:xfrm>
        </p:spPr>
        <p:txBody>
          <a:bodyPr>
            <a:noAutofit/>
          </a:bodyPr>
          <a:lstStyle/>
          <a:p>
            <a:r>
              <a:rPr lang="en-US" noProof="0" dirty="0"/>
              <a:t>Emma receives an email to say the Tax Returns are ready for her review. Emma verifies the accuracy of tax return data using an OCR model she built in AI Builder instead of manually retyping it.</a:t>
            </a:r>
          </a:p>
          <a:p>
            <a:endParaRPr lang="en-US" noProof="0" dirty="0"/>
          </a:p>
        </p:txBody>
      </p:sp>
      <p:sp>
        <p:nvSpPr>
          <p:cNvPr id="152" name="Text Placeholder 151">
            <a:extLst>
              <a:ext uri="{FF2B5EF4-FFF2-40B4-BE49-F238E27FC236}">
                <a16:creationId xmlns:a16="http://schemas.microsoft.com/office/drawing/2014/main" id="{B2F1DC1F-6A57-150A-63D2-30F48F606FA7}"/>
              </a:ext>
            </a:extLst>
          </p:cNvPr>
          <p:cNvSpPr>
            <a:spLocks noGrp="1"/>
          </p:cNvSpPr>
          <p:nvPr>
            <p:ph type="body" sz="quarter" idx="36"/>
          </p:nvPr>
        </p:nvSpPr>
        <p:spPr>
          <a:xfrm>
            <a:off x="6969595" y="5681038"/>
            <a:ext cx="2808000" cy="626701"/>
          </a:xfrm>
        </p:spPr>
        <p:txBody>
          <a:bodyPr/>
          <a:lstStyle/>
          <a:p>
            <a:r>
              <a:rPr lang="en-US" noProof="0" dirty="0"/>
              <a:t>Example prompt: </a:t>
            </a:r>
            <a:r>
              <a:rPr lang="en-US" dirty="0">
                <a:latin typeface="+mj-lt"/>
              </a:rPr>
              <a:t>Extract the information </a:t>
            </a:r>
            <a:r>
              <a:rPr lang="en-US" noProof="0" dirty="0"/>
              <a:t>from a structured document.</a:t>
            </a:r>
          </a:p>
          <a:p>
            <a:endParaRPr lang="en-US" noProof="0" dirty="0"/>
          </a:p>
        </p:txBody>
      </p:sp>
      <p:sp>
        <p:nvSpPr>
          <p:cNvPr id="52" name="Text Placeholder 51">
            <a:extLst>
              <a:ext uri="{FF2B5EF4-FFF2-40B4-BE49-F238E27FC236}">
                <a16:creationId xmlns:a16="http://schemas.microsoft.com/office/drawing/2014/main" id="{D4F50D37-8419-C7C8-D6C1-C4A6598A5269}"/>
              </a:ext>
            </a:extLst>
          </p:cNvPr>
          <p:cNvSpPr>
            <a:spLocks noGrp="1"/>
          </p:cNvSpPr>
          <p:nvPr>
            <p:ph type="body" sz="quarter" idx="31"/>
          </p:nvPr>
        </p:nvSpPr>
        <p:spPr>
          <a:xfrm>
            <a:off x="3776898" y="4137995"/>
            <a:ext cx="2808000" cy="345600"/>
          </a:xfrm>
        </p:spPr>
        <p:txBody>
          <a:bodyPr/>
          <a:lstStyle/>
          <a:p>
            <a:r>
              <a:rPr lang="en-US" noProof="0" dirty="0"/>
              <a:t>2:00 pm – Add a calculation</a:t>
            </a:r>
          </a:p>
        </p:txBody>
      </p:sp>
      <p:sp>
        <p:nvSpPr>
          <p:cNvPr id="119" name="Text Placeholder 118">
            <a:extLst>
              <a:ext uri="{FF2B5EF4-FFF2-40B4-BE49-F238E27FC236}">
                <a16:creationId xmlns:a16="http://schemas.microsoft.com/office/drawing/2014/main" id="{D8C712DF-9BE5-1927-A8E8-2D9D41CDD3EC}"/>
              </a:ext>
            </a:extLst>
          </p:cNvPr>
          <p:cNvSpPr>
            <a:spLocks noGrp="1"/>
          </p:cNvSpPr>
          <p:nvPr>
            <p:ph type="body" sz="quarter" idx="32"/>
          </p:nvPr>
        </p:nvSpPr>
        <p:spPr>
          <a:xfrm>
            <a:off x="3776898" y="4584616"/>
            <a:ext cx="2808000" cy="626701"/>
          </a:xfrm>
        </p:spPr>
        <p:txBody>
          <a:bodyPr/>
          <a:lstStyle/>
          <a:p>
            <a:r>
              <a:rPr lang="en-US" noProof="0" dirty="0"/>
              <a:t>Emma uses Copilot for Finance in Excel to highlight any differences between the financial analysis and tax return. She asks it to highlight the variances and then adds the table to an email. </a:t>
            </a:r>
          </a:p>
          <a:p>
            <a:endParaRPr lang="en-US" noProof="0" dirty="0"/>
          </a:p>
        </p:txBody>
      </p:sp>
      <p:sp>
        <p:nvSpPr>
          <p:cNvPr id="151" name="Text Placeholder 150">
            <a:extLst>
              <a:ext uri="{FF2B5EF4-FFF2-40B4-BE49-F238E27FC236}">
                <a16:creationId xmlns:a16="http://schemas.microsoft.com/office/drawing/2014/main" id="{D1BF1120-F3A1-E168-E486-70450145FD09}"/>
              </a:ext>
            </a:extLst>
          </p:cNvPr>
          <p:cNvSpPr>
            <a:spLocks noGrp="1"/>
          </p:cNvSpPr>
          <p:nvPr>
            <p:ph type="body" sz="quarter" idx="33"/>
          </p:nvPr>
        </p:nvSpPr>
        <p:spPr>
          <a:xfrm>
            <a:off x="3776898" y="5681038"/>
            <a:ext cx="2808000" cy="626701"/>
          </a:xfrm>
        </p:spPr>
        <p:txBody>
          <a:bodyPr/>
          <a:lstStyle/>
          <a:p>
            <a:r>
              <a:rPr lang="en-US" noProof="0" dirty="0"/>
              <a:t>Example prompt: </a:t>
            </a:r>
            <a:r>
              <a:rPr lang="en-US" dirty="0">
                <a:latin typeface="+mj-lt"/>
              </a:rPr>
              <a:t>Add a formula column </a:t>
            </a:r>
            <a:r>
              <a:rPr lang="en-US" noProof="0" dirty="0"/>
              <a:t>in ‘Section D: Total Assets’ showing the difference between the financial analysis and tax return data.</a:t>
            </a:r>
          </a:p>
        </p:txBody>
      </p:sp>
      <p:sp>
        <p:nvSpPr>
          <p:cNvPr id="49" name="Text Placeholder 48">
            <a:extLst>
              <a:ext uri="{FF2B5EF4-FFF2-40B4-BE49-F238E27FC236}">
                <a16:creationId xmlns:a16="http://schemas.microsoft.com/office/drawing/2014/main" id="{B9B71A71-82A6-309C-41D4-38ECA93CF523}"/>
              </a:ext>
            </a:extLst>
          </p:cNvPr>
          <p:cNvSpPr>
            <a:spLocks noGrp="1"/>
          </p:cNvSpPr>
          <p:nvPr>
            <p:ph type="body" sz="quarter" idx="28"/>
          </p:nvPr>
        </p:nvSpPr>
        <p:spPr>
          <a:xfrm>
            <a:off x="584200" y="4137995"/>
            <a:ext cx="2808000" cy="345600"/>
          </a:xfrm>
        </p:spPr>
        <p:txBody>
          <a:bodyPr/>
          <a:lstStyle/>
          <a:p>
            <a:r>
              <a:rPr lang="en-US" noProof="0" dirty="0"/>
              <a:t>4:00 pm – Search for information </a:t>
            </a:r>
          </a:p>
        </p:txBody>
      </p:sp>
      <p:sp>
        <p:nvSpPr>
          <p:cNvPr id="117" name="Text Placeholder 116">
            <a:extLst>
              <a:ext uri="{FF2B5EF4-FFF2-40B4-BE49-F238E27FC236}">
                <a16:creationId xmlns:a16="http://schemas.microsoft.com/office/drawing/2014/main" id="{CD3BC732-3BFE-6E63-5B0C-F48FFBF2FECF}"/>
              </a:ext>
            </a:extLst>
          </p:cNvPr>
          <p:cNvSpPr>
            <a:spLocks noGrp="1"/>
          </p:cNvSpPr>
          <p:nvPr>
            <p:ph type="body" sz="quarter" idx="29"/>
          </p:nvPr>
        </p:nvSpPr>
        <p:spPr>
          <a:xfrm>
            <a:off x="584200" y="4584700"/>
            <a:ext cx="2808288" cy="627063"/>
          </a:xfrm>
        </p:spPr>
        <p:txBody>
          <a:bodyPr/>
          <a:lstStyle/>
          <a:p>
            <a:r>
              <a:rPr lang="en-US" noProof="0" dirty="0"/>
              <a:t>Emma uses Copilot in SharePoint to get answers about previous tax returns without having to open the large pdf files. </a:t>
            </a:r>
          </a:p>
          <a:p>
            <a:endParaRPr lang="en-US" noProof="0" dirty="0"/>
          </a:p>
        </p:txBody>
      </p:sp>
      <p:sp>
        <p:nvSpPr>
          <p:cNvPr id="150" name="Text Placeholder 149">
            <a:extLst>
              <a:ext uri="{FF2B5EF4-FFF2-40B4-BE49-F238E27FC236}">
                <a16:creationId xmlns:a16="http://schemas.microsoft.com/office/drawing/2014/main" id="{BF9E464B-214B-3736-9F63-83B1CFC8D43A}"/>
              </a:ext>
            </a:extLst>
          </p:cNvPr>
          <p:cNvSpPr>
            <a:spLocks noGrp="1"/>
          </p:cNvSpPr>
          <p:nvPr>
            <p:ph type="body" sz="quarter" idx="30"/>
          </p:nvPr>
        </p:nvSpPr>
        <p:spPr>
          <a:xfrm>
            <a:off x="584200" y="5681038"/>
            <a:ext cx="2808000" cy="626701"/>
          </a:xfrm>
        </p:spPr>
        <p:txBody>
          <a:bodyPr/>
          <a:lstStyle/>
          <a:p>
            <a:r>
              <a:rPr lang="en-US" noProof="0" dirty="0"/>
              <a:t>Example prompt: </a:t>
            </a:r>
            <a:r>
              <a:rPr lang="en-US" dirty="0">
                <a:latin typeface="+mj-lt"/>
              </a:rPr>
              <a:t>What was the opening cash balance </a:t>
            </a:r>
            <a:r>
              <a:rPr lang="en-US" noProof="0" dirty="0"/>
              <a:t>on the US income tax return for Contoso?</a:t>
            </a:r>
          </a:p>
        </p:txBody>
      </p:sp>
      <p:sp>
        <p:nvSpPr>
          <p:cNvPr id="56" name="TextBox 55">
            <a:extLst>
              <a:ext uri="{FF2B5EF4-FFF2-40B4-BE49-F238E27FC236}">
                <a16:creationId xmlns:a16="http://schemas.microsoft.com/office/drawing/2014/main" id="{37214391-A987-6AB8-2A0D-A379E348139E}"/>
              </a:ext>
            </a:extLst>
          </p:cNvPr>
          <p:cNvSpPr txBox="1"/>
          <p:nvPr/>
        </p:nvSpPr>
        <p:spPr>
          <a:xfrm>
            <a:off x="10123962" y="1684338"/>
            <a:ext cx="1905067" cy="861774"/>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C03BC4"/>
                </a:solidFill>
                <a:effectLst/>
                <a:uLnTx/>
                <a:uFillTx/>
                <a:latin typeface="Segoe UI Semibold"/>
                <a:ea typeface="+mn-ea"/>
                <a:cs typeface="+mn-cs"/>
              </a:rPr>
              <a:t>Emma</a:t>
            </a:r>
            <a:br>
              <a:rPr kumimoji="0" lang="en-US" sz="2400" b="0" i="0" u="none" strike="noStrike" kern="1200" cap="none" spc="0" normalizeH="0" baseline="0" noProof="0" dirty="0">
                <a:ln>
                  <a:noFill/>
                </a:ln>
                <a:solidFill>
                  <a:srgbClr val="C03BC4"/>
                </a:solidFill>
                <a:effectLst/>
                <a:uLnTx/>
                <a:uFillTx/>
                <a:latin typeface="Segoe UI Semibold"/>
                <a:ea typeface="+mn-ea"/>
                <a:cs typeface="+mn-cs"/>
              </a:rPr>
            </a:br>
            <a:r>
              <a:rPr kumimoji="0" lang="en-US" sz="1600" b="0" i="0" u="none" strike="noStrike" kern="1200" cap="none" spc="0" normalizeH="0" baseline="0" noProof="0" dirty="0">
                <a:ln>
                  <a:noFill/>
                </a:ln>
                <a:solidFill>
                  <a:srgbClr val="C03BC4"/>
                </a:solidFill>
                <a:effectLst/>
                <a:uLnTx/>
                <a:uFillTx/>
                <a:latin typeface="Segoe UI"/>
                <a:ea typeface="+mn-ea"/>
                <a:cs typeface="Segoe UI" panose="020B0502040204020203" pitchFamily="34" charset="0"/>
              </a:rPr>
              <a:t>works in Tax &amp; Customs.</a:t>
            </a:r>
          </a:p>
        </p:txBody>
      </p:sp>
      <p:pic>
        <p:nvPicPr>
          <p:cNvPr id="191" name="Picture 190" descr="A person with a colorful scarf&#10;&#10;Description automatically generated">
            <a:extLst>
              <a:ext uri="{FF2B5EF4-FFF2-40B4-BE49-F238E27FC236}">
                <a16:creationId xmlns:a16="http://schemas.microsoft.com/office/drawing/2014/main" id="{4B752D7F-AD30-208E-E899-DB80ADC3EB0F}"/>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t="4853" b="22359"/>
          <a:stretch/>
        </p:blipFill>
        <p:spPr>
          <a:xfrm>
            <a:off x="9998671" y="3344294"/>
            <a:ext cx="2193329" cy="3513706"/>
          </a:xfrm>
          <a:prstGeom prst="rect">
            <a:avLst/>
          </a:prstGeom>
        </p:spPr>
      </p:pic>
      <p:sp>
        <p:nvSpPr>
          <p:cNvPr id="18" name="Rectangle: Rounded Corners 6">
            <a:extLst>
              <a:ext uri="{FF2B5EF4-FFF2-40B4-BE49-F238E27FC236}">
                <a16:creationId xmlns:a16="http://schemas.microsoft.com/office/drawing/2014/main" id="{1AB6CFD6-71E5-DB35-1787-7CDEDD368868}"/>
              </a:ext>
              <a:ext uri="{C183D7F6-B498-43B3-948B-1728B52AA6E4}">
                <adec:decorative xmlns:adec="http://schemas.microsoft.com/office/drawing/2017/decorative" val="1"/>
              </a:ext>
            </a:extLst>
          </p:cNvPr>
          <p:cNvSpPr/>
          <p:nvPr/>
        </p:nvSpPr>
        <p:spPr bwMode="auto">
          <a:xfrm>
            <a:off x="576356" y="1134767"/>
            <a:ext cx="659514" cy="216000"/>
          </a:xfrm>
          <a:prstGeom prst="roundRect">
            <a:avLst>
              <a:gd name="adj" fmla="val 50000"/>
            </a:avLst>
          </a:prstGeom>
          <a:solidFill>
            <a:srgbClr val="FFA38B"/>
          </a:solidFill>
          <a:ln w="12700">
            <a:solidFill>
              <a:srgbClr val="FFA38B"/>
            </a:solidFill>
            <a:headEnd type="none" w="med" len="med"/>
            <a:tailEnd type="none" w="med" len="med"/>
          </a:ln>
          <a:effectLst>
            <a:outerShdw blurRad="63500" dist="63500" dir="2700000"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8288" rIns="0" bIns="36000" numCol="1" spcCol="0" rtlCol="0" fromWordArt="0" anchor="ctr" anchorCtr="0" forceAA="0" compatLnSpc="1">
            <a:prstTxWarp prst="textNoShape">
              <a:avLst/>
            </a:prstTxWarp>
            <a:noAutofit/>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Segoe UI Semibold"/>
                <a:ea typeface="+mn-ea"/>
                <a:cs typeface="Segoe UI Semibold" panose="020B0702040204020203" pitchFamily="34" charset="0"/>
              </a:rPr>
              <a:t>Benefits</a:t>
            </a:r>
          </a:p>
        </p:txBody>
      </p:sp>
      <p:grpSp>
        <p:nvGrpSpPr>
          <p:cNvPr id="19" name="Group 18">
            <a:extLst>
              <a:ext uri="{FF2B5EF4-FFF2-40B4-BE49-F238E27FC236}">
                <a16:creationId xmlns:a16="http://schemas.microsoft.com/office/drawing/2014/main" id="{75AF6C81-A7C3-FC68-D4B9-211CA0F95658}"/>
              </a:ext>
            </a:extLst>
          </p:cNvPr>
          <p:cNvGrpSpPr/>
          <p:nvPr/>
        </p:nvGrpSpPr>
        <p:grpSpPr>
          <a:xfrm>
            <a:off x="1286540" y="1134767"/>
            <a:ext cx="1571031" cy="216000"/>
            <a:chOff x="1372194" y="969899"/>
            <a:chExt cx="1571031" cy="216000"/>
          </a:xfrm>
        </p:grpSpPr>
        <p:sp>
          <p:nvSpPr>
            <p:cNvPr id="21" name="Rectangle: Rounded Corners 6">
              <a:extLst>
                <a:ext uri="{FF2B5EF4-FFF2-40B4-BE49-F238E27FC236}">
                  <a16:creationId xmlns:a16="http://schemas.microsoft.com/office/drawing/2014/main" id="{3B60AB55-6DAD-E3DE-9C67-899B6D2A4106}"/>
                </a:ext>
                <a:ext uri="{C183D7F6-B498-43B3-948B-1728B52AA6E4}">
                  <adec:decorative xmlns:adec="http://schemas.microsoft.com/office/drawing/2017/decorative" val="1"/>
                </a:ext>
              </a:extLst>
            </p:cNvPr>
            <p:cNvSpPr/>
            <p:nvPr/>
          </p:nvSpPr>
          <p:spPr bwMode="auto">
            <a:xfrm>
              <a:off x="1372194" y="969899"/>
              <a:ext cx="1571031" cy="216000"/>
            </a:xfrm>
            <a:prstGeom prst="roundRect">
              <a:avLst>
                <a:gd name="adj" fmla="val 50000"/>
              </a:avLst>
            </a:prstGeom>
            <a:solidFill>
              <a:srgbClr val="FFFFFF"/>
            </a:solidFill>
            <a:ln w="12700">
              <a:solidFill>
                <a:srgbClr val="FFA38B"/>
              </a:solidFill>
              <a:headEnd type="none" w="med" len="med"/>
              <a:tailEnd type="none" w="med" len="med"/>
            </a:ln>
            <a:effectLst>
              <a:outerShdw blurRad="63500" dist="63500" dir="2700000"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16000" tIns="18288" rIns="36000" bIns="36000" numCol="1" spcCol="0" rtlCol="0" fromWordArt="0" anchor="ctr" anchorCtr="0" forceAA="0" compatLnSpc="1">
              <a:prstTxWarp prst="textNoShape">
                <a:avLst/>
              </a:prstTxWarp>
              <a:noAutofit/>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73391D"/>
                  </a:solidFill>
                  <a:effectLst/>
                  <a:uLnTx/>
                  <a:uFillTx/>
                  <a:latin typeface="Segoe UI Semibold"/>
                  <a:ea typeface="+mn-ea"/>
                  <a:cs typeface="Segoe UI Semibold" panose="020B0702040204020203" pitchFamily="34" charset="0"/>
                </a:rPr>
                <a:t>~1 hour per week</a:t>
              </a:r>
            </a:p>
          </p:txBody>
        </p:sp>
        <p:pic>
          <p:nvPicPr>
            <p:cNvPr id="24" name="Graphic 23">
              <a:extLst>
                <a:ext uri="{FF2B5EF4-FFF2-40B4-BE49-F238E27FC236}">
                  <a16:creationId xmlns:a16="http://schemas.microsoft.com/office/drawing/2014/main" id="{26C4ACBD-C904-3B3A-2790-B5E439D13497}"/>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421924" y="1005899"/>
              <a:ext cx="144000" cy="144000"/>
            </a:xfrm>
            <a:prstGeom prst="rect">
              <a:avLst/>
            </a:prstGeom>
          </p:spPr>
        </p:pic>
      </p:grpSp>
      <p:grpSp>
        <p:nvGrpSpPr>
          <p:cNvPr id="25" name="Group 24">
            <a:extLst>
              <a:ext uri="{FF2B5EF4-FFF2-40B4-BE49-F238E27FC236}">
                <a16:creationId xmlns:a16="http://schemas.microsoft.com/office/drawing/2014/main" id="{B15787DC-8ABC-BBA5-DD4B-99D31723D8CD}"/>
              </a:ext>
            </a:extLst>
          </p:cNvPr>
          <p:cNvGrpSpPr/>
          <p:nvPr/>
        </p:nvGrpSpPr>
        <p:grpSpPr>
          <a:xfrm>
            <a:off x="5754503" y="1134767"/>
            <a:ext cx="2325078" cy="216000"/>
            <a:chOff x="6235579" y="969899"/>
            <a:chExt cx="2325078" cy="216000"/>
          </a:xfrm>
        </p:grpSpPr>
        <p:sp>
          <p:nvSpPr>
            <p:cNvPr id="26" name="Rectangle: Rounded Corners 6">
              <a:extLst>
                <a:ext uri="{FF2B5EF4-FFF2-40B4-BE49-F238E27FC236}">
                  <a16:creationId xmlns:a16="http://schemas.microsoft.com/office/drawing/2014/main" id="{4C5B6971-B398-5DD3-FB7E-208BFC378648}"/>
                </a:ext>
                <a:ext uri="{C183D7F6-B498-43B3-948B-1728B52AA6E4}">
                  <adec:decorative xmlns:adec="http://schemas.microsoft.com/office/drawing/2017/decorative" val="1"/>
                </a:ext>
              </a:extLst>
            </p:cNvPr>
            <p:cNvSpPr/>
            <p:nvPr/>
          </p:nvSpPr>
          <p:spPr bwMode="auto">
            <a:xfrm>
              <a:off x="6235579" y="969899"/>
              <a:ext cx="2325078" cy="216000"/>
            </a:xfrm>
            <a:prstGeom prst="roundRect">
              <a:avLst>
                <a:gd name="adj" fmla="val 50000"/>
              </a:avLst>
            </a:prstGeom>
            <a:solidFill>
              <a:srgbClr val="FFFFFF"/>
            </a:solidFill>
            <a:ln w="12700">
              <a:solidFill>
                <a:srgbClr val="FFA38B"/>
              </a:solidFill>
              <a:headEnd type="none" w="med" len="med"/>
              <a:tailEnd type="none" w="med" len="med"/>
            </a:ln>
            <a:effectLst>
              <a:outerShdw blurRad="63500" dist="63500" dir="2700000"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16000" tIns="18288" rIns="36000" bIns="36000" numCol="1" spcCol="0" rtlCol="0" fromWordArt="0" anchor="ctr" anchorCtr="0" forceAA="0" compatLnSpc="1">
              <a:prstTxWarp prst="textNoShape">
                <a:avLst/>
              </a:prstTxWarp>
              <a:noAutofit/>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73391D"/>
                  </a:solidFill>
                  <a:effectLst/>
                  <a:uLnTx/>
                  <a:uFillTx/>
                  <a:latin typeface="Segoe UI Semibold"/>
                  <a:ea typeface="+mn-ea"/>
                  <a:cs typeface="Segoe UI Semibold" panose="020B0702040204020203" pitchFamily="34" charset="0"/>
                </a:rPr>
                <a:t>Focus on improving accuracy</a:t>
              </a:r>
            </a:p>
          </p:txBody>
        </p:sp>
        <p:pic>
          <p:nvPicPr>
            <p:cNvPr id="27" name="Graphic 26">
              <a:extLst>
                <a:ext uri="{FF2B5EF4-FFF2-40B4-BE49-F238E27FC236}">
                  <a16:creationId xmlns:a16="http://schemas.microsoft.com/office/drawing/2014/main" id="{F262C115-B759-CB71-BB68-812FBF712052}"/>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6282712" y="1005899"/>
              <a:ext cx="144000" cy="144000"/>
            </a:xfrm>
            <a:prstGeom prst="rect">
              <a:avLst/>
            </a:prstGeom>
          </p:spPr>
        </p:pic>
      </p:grpSp>
      <p:grpSp>
        <p:nvGrpSpPr>
          <p:cNvPr id="28" name="Group 27">
            <a:extLst>
              <a:ext uri="{FF2B5EF4-FFF2-40B4-BE49-F238E27FC236}">
                <a16:creationId xmlns:a16="http://schemas.microsoft.com/office/drawing/2014/main" id="{916616BD-4243-35BB-01BF-B7CF3F40DF2A}"/>
              </a:ext>
            </a:extLst>
          </p:cNvPr>
          <p:cNvGrpSpPr/>
          <p:nvPr/>
        </p:nvGrpSpPr>
        <p:grpSpPr>
          <a:xfrm>
            <a:off x="2908241" y="1134767"/>
            <a:ext cx="2795593" cy="216000"/>
            <a:chOff x="3133720" y="969899"/>
            <a:chExt cx="2795593" cy="216000"/>
          </a:xfrm>
        </p:grpSpPr>
        <p:sp>
          <p:nvSpPr>
            <p:cNvPr id="29" name="Rectangle: Rounded Corners 6">
              <a:extLst>
                <a:ext uri="{FF2B5EF4-FFF2-40B4-BE49-F238E27FC236}">
                  <a16:creationId xmlns:a16="http://schemas.microsoft.com/office/drawing/2014/main" id="{885CE9A6-1D7E-DB69-EC5D-C3B44F5CECDB}"/>
                </a:ext>
                <a:ext uri="{C183D7F6-B498-43B3-948B-1728B52AA6E4}">
                  <adec:decorative xmlns:adec="http://schemas.microsoft.com/office/drawing/2017/decorative" val="1"/>
                </a:ext>
              </a:extLst>
            </p:cNvPr>
            <p:cNvSpPr/>
            <p:nvPr/>
          </p:nvSpPr>
          <p:spPr bwMode="auto">
            <a:xfrm>
              <a:off x="3133720" y="969899"/>
              <a:ext cx="2795593" cy="216000"/>
            </a:xfrm>
            <a:prstGeom prst="roundRect">
              <a:avLst>
                <a:gd name="adj" fmla="val 50000"/>
              </a:avLst>
            </a:prstGeom>
            <a:solidFill>
              <a:srgbClr val="FFFFFF"/>
            </a:solidFill>
            <a:ln w="12700">
              <a:solidFill>
                <a:srgbClr val="FFA38B"/>
              </a:solidFill>
              <a:headEnd type="none" w="med" len="med"/>
              <a:tailEnd type="none" w="med" len="med"/>
            </a:ln>
            <a:effectLst>
              <a:outerShdw blurRad="63500" dist="63500" dir="2700000"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16000" tIns="18288" rIns="36000" bIns="36000" numCol="1" spcCol="0" rtlCol="0" fromWordArt="0" anchor="ctr" anchorCtr="0" forceAA="0" compatLnSpc="1">
              <a:prstTxWarp prst="textNoShape">
                <a:avLst/>
              </a:prstTxWarp>
              <a:noAutofit/>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73391D"/>
                  </a:solidFill>
                  <a:effectLst/>
                  <a:uLnTx/>
                  <a:uFillTx/>
                  <a:latin typeface="Segoe UI Semibold"/>
                  <a:ea typeface="+mn-ea"/>
                  <a:cs typeface="Segoe UI Semibold" panose="020B0702040204020203" pitchFamily="34" charset="0"/>
                </a:rPr>
                <a:t>Areas of investment: Learning new skills</a:t>
              </a:r>
            </a:p>
          </p:txBody>
        </p:sp>
        <p:pic>
          <p:nvPicPr>
            <p:cNvPr id="30" name="Graphic 29">
              <a:extLst>
                <a:ext uri="{FF2B5EF4-FFF2-40B4-BE49-F238E27FC236}">
                  <a16:creationId xmlns:a16="http://schemas.microsoft.com/office/drawing/2014/main" id="{F59F6F3A-9E2A-8C22-773A-FA5164789AAB}"/>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3193555" y="1005899"/>
              <a:ext cx="144000" cy="144000"/>
            </a:xfrm>
            <a:prstGeom prst="rect">
              <a:avLst/>
            </a:prstGeom>
          </p:spPr>
        </p:pic>
      </p:grpSp>
      <p:sp>
        <p:nvSpPr>
          <p:cNvPr id="72" name="TextBox 71">
            <a:extLst>
              <a:ext uri="{FF2B5EF4-FFF2-40B4-BE49-F238E27FC236}">
                <a16:creationId xmlns:a16="http://schemas.microsoft.com/office/drawing/2014/main" id="{B0F72E85-1759-1410-7091-F52051A79191}"/>
              </a:ext>
              <a:ext uri="{C183D7F6-B498-43B3-948B-1728B52AA6E4}">
                <adec:decorative xmlns:adec="http://schemas.microsoft.com/office/drawing/2017/decorative" val="0"/>
              </a:ext>
            </a:extLst>
          </p:cNvPr>
          <p:cNvSpPr txBox="1"/>
          <p:nvPr/>
        </p:nvSpPr>
        <p:spPr>
          <a:xfrm>
            <a:off x="1043151" y="5300520"/>
            <a:ext cx="1892184" cy="2923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Semibold"/>
                <a:ea typeface="+mn-ea"/>
                <a:cs typeface="+mn-cs"/>
              </a:rPr>
              <a:t>AI Agent</a:t>
            </a:r>
            <a:r>
              <a:rPr kumimoji="0" lang="en-US" sz="1000" b="0" i="0" u="none" strike="noStrike" kern="1200" cap="none" spc="0" normalizeH="0" baseline="30000" noProof="0" dirty="0">
                <a:ln>
                  <a:noFill/>
                </a:ln>
                <a:solidFill>
                  <a:srgbClr val="000000"/>
                </a:solidFill>
                <a:effectLst/>
                <a:uLnTx/>
                <a:uFillTx/>
                <a:latin typeface="Segoe UI Semibold"/>
                <a:ea typeface="+mn-ea"/>
                <a:cs typeface="+mn-cs"/>
              </a:rPr>
              <a:t>3</a:t>
            </a:r>
          </a:p>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78D4"/>
                </a:solidFill>
                <a:effectLst/>
                <a:uLnTx/>
                <a:uFillTx/>
                <a:latin typeface="Segoe UI Semibold"/>
                <a:ea typeface="+mn-ea"/>
                <a:cs typeface="+mn-cs"/>
              </a:rPr>
              <a:t>+ Connection to SharePoint</a:t>
            </a:r>
          </a:p>
        </p:txBody>
      </p:sp>
      <p:sp>
        <p:nvSpPr>
          <p:cNvPr id="75" name="TextBox 74">
            <a:extLst>
              <a:ext uri="{FF2B5EF4-FFF2-40B4-BE49-F238E27FC236}">
                <a16:creationId xmlns:a16="http://schemas.microsoft.com/office/drawing/2014/main" id="{0D8CDBB4-BC00-900F-21A6-373D3D30168D}"/>
              </a:ext>
              <a:ext uri="{C183D7F6-B498-43B3-948B-1728B52AA6E4}">
                <adec:decorative xmlns:adec="http://schemas.microsoft.com/office/drawing/2017/decorative" val="0"/>
              </a:ext>
            </a:extLst>
          </p:cNvPr>
          <p:cNvSpPr txBox="1"/>
          <p:nvPr/>
        </p:nvSpPr>
        <p:spPr>
          <a:xfrm>
            <a:off x="4236084" y="2953593"/>
            <a:ext cx="1892184" cy="1538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Segoe UI Semibold"/>
                <a:ea typeface="+mn-ea"/>
                <a:cs typeface="+mn-cs"/>
              </a:rPr>
              <a:t>Copilot in Excel</a:t>
            </a:r>
            <a:endParaRPr kumimoji="0" lang="en-US" sz="1000" b="0" i="0" u="none" strike="noStrike" kern="1200" cap="none" spc="0" normalizeH="0" baseline="30000" noProof="0" dirty="0">
              <a:ln>
                <a:noFill/>
              </a:ln>
              <a:solidFill>
                <a:prstClr val="black"/>
              </a:solidFill>
              <a:effectLst/>
              <a:uLnTx/>
              <a:uFillTx/>
              <a:latin typeface="Segoe UI Semibold"/>
              <a:ea typeface="+mn-ea"/>
              <a:cs typeface="+mn-cs"/>
            </a:endParaRPr>
          </a:p>
        </p:txBody>
      </p:sp>
      <p:sp>
        <p:nvSpPr>
          <p:cNvPr id="78" name="TextBox 89">
            <a:extLst>
              <a:ext uri="{FF2B5EF4-FFF2-40B4-BE49-F238E27FC236}">
                <a16:creationId xmlns:a16="http://schemas.microsoft.com/office/drawing/2014/main" id="{C38EFA24-33F3-0A0A-4E3D-503A52DE58E9}"/>
              </a:ext>
              <a:ext uri="{C183D7F6-B498-43B3-948B-1728B52AA6E4}">
                <adec:decorative xmlns:adec="http://schemas.microsoft.com/office/drawing/2017/decorative" val="0"/>
              </a:ext>
            </a:extLst>
          </p:cNvPr>
          <p:cNvSpPr txBox="1"/>
          <p:nvPr/>
        </p:nvSpPr>
        <p:spPr>
          <a:xfrm>
            <a:off x="8994892" y="2876649"/>
            <a:ext cx="782521" cy="307777"/>
          </a:xfrm>
          <a:prstGeom prst="rect">
            <a:avLst/>
          </a:prstGeom>
          <a:noFill/>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Segoe UI Semibold"/>
                <a:ea typeface="+mn-ea"/>
                <a:cs typeface="+mn-cs"/>
              </a:rPr>
              <a:t>Copilot in </a:t>
            </a:r>
            <a:br>
              <a:rPr kumimoji="0" lang="en-US" sz="1000" b="0" i="0" u="none" strike="noStrike" kern="1200" cap="none" spc="0" normalizeH="0" baseline="0" noProof="0" dirty="0">
                <a:ln>
                  <a:noFill/>
                </a:ln>
                <a:solidFill>
                  <a:prstClr val="black"/>
                </a:solidFill>
                <a:effectLst/>
                <a:uLnTx/>
                <a:uFillTx/>
                <a:latin typeface="Segoe UI Semibold"/>
                <a:ea typeface="+mn-ea"/>
                <a:cs typeface="+mn-cs"/>
              </a:rPr>
            </a:br>
            <a:r>
              <a:rPr kumimoji="0" lang="en-US" sz="1000" b="0" i="0" u="none" strike="noStrike" kern="1200" cap="none" spc="0" normalizeH="0" baseline="0" noProof="0" dirty="0">
                <a:ln>
                  <a:noFill/>
                </a:ln>
                <a:solidFill>
                  <a:prstClr val="black"/>
                </a:solidFill>
                <a:effectLst/>
                <a:uLnTx/>
                <a:uFillTx/>
                <a:latin typeface="Segoe UI Semibold"/>
                <a:ea typeface="+mn-ea"/>
                <a:cs typeface="+mn-cs"/>
              </a:rPr>
              <a:t>Outlook</a:t>
            </a:r>
            <a:endParaRPr kumimoji="0" lang="en-US" sz="1000" b="0" i="0" u="none" strike="noStrike" kern="1200" cap="none" spc="0" normalizeH="0" baseline="30000" noProof="0" dirty="0">
              <a:ln>
                <a:noFill/>
              </a:ln>
              <a:solidFill>
                <a:prstClr val="black"/>
              </a:solidFill>
              <a:effectLst/>
              <a:uLnTx/>
              <a:uFillTx/>
              <a:latin typeface="Segoe UI Semibold"/>
              <a:ea typeface="+mn-ea"/>
              <a:cs typeface="+mn-cs"/>
            </a:endParaRPr>
          </a:p>
        </p:txBody>
      </p:sp>
      <p:grpSp>
        <p:nvGrpSpPr>
          <p:cNvPr id="79" name="Group 78">
            <a:extLst>
              <a:ext uri="{FF2B5EF4-FFF2-40B4-BE49-F238E27FC236}">
                <a16:creationId xmlns:a16="http://schemas.microsoft.com/office/drawing/2014/main" id="{4310669A-699C-9ADD-0B0C-8D4BF579E0A7}"/>
              </a:ext>
            </a:extLst>
          </p:cNvPr>
          <p:cNvGrpSpPr/>
          <p:nvPr/>
        </p:nvGrpSpPr>
        <p:grpSpPr>
          <a:xfrm>
            <a:off x="584200" y="2850537"/>
            <a:ext cx="2351135" cy="360000"/>
            <a:chOff x="588263" y="1217924"/>
            <a:chExt cx="2351135" cy="360000"/>
          </a:xfrm>
        </p:grpSpPr>
        <p:pic>
          <p:nvPicPr>
            <p:cNvPr id="80" name="Picture 79" descr="Zip Co logo SVG free download, id: 101874 - Brandlogos.net">
              <a:hlinkClick r:id="rId6"/>
              <a:extLst>
                <a:ext uri="{FF2B5EF4-FFF2-40B4-BE49-F238E27FC236}">
                  <a16:creationId xmlns:a16="http://schemas.microsoft.com/office/drawing/2014/main" id="{8B62E7AB-4323-AC72-4BA5-21C6ECFB26EB}"/>
                </a:ext>
              </a:extLst>
            </p:cNvPr>
            <p:cNvPicPr>
              <a:picLocks noChangeAspect="1" noChangeArrowheads="1"/>
            </p:cNvPicPr>
            <p:nvPr/>
          </p:nvPicPr>
          <p:blipFill rotWithShape="1">
            <a:blip r:embed="rId7" cstate="screen">
              <a:extLst>
                <a:ext uri="{28A0092B-C50C-407E-A947-70E740481C1C}">
                  <a14:useLocalDpi xmlns:a14="http://schemas.microsoft.com/office/drawing/2010/main"/>
                </a:ext>
              </a:extLst>
            </a:blip>
            <a:srcRect l="-43278" t="-53646" r="-43278" b="-53646"/>
            <a:stretch/>
          </p:blipFill>
          <p:spPr bwMode="auto">
            <a:xfrm>
              <a:off x="588263" y="1217924"/>
              <a:ext cx="360000" cy="360000"/>
            </a:xfrm>
            <a:prstGeom prst="ellipse">
              <a:avLst/>
            </a:prstGeom>
            <a:solidFill>
              <a:srgbClr val="FFFFFF"/>
            </a:solidFill>
          </p:spPr>
        </p:pic>
        <p:sp>
          <p:nvSpPr>
            <p:cNvPr id="81" name="TextBox 80">
              <a:extLst>
                <a:ext uri="{FF2B5EF4-FFF2-40B4-BE49-F238E27FC236}">
                  <a16:creationId xmlns:a16="http://schemas.microsoft.com/office/drawing/2014/main" id="{C29220AF-3EF5-1140-FDBA-AF0AA108F2CD}"/>
                </a:ext>
                <a:ext uri="{C183D7F6-B498-43B3-948B-1728B52AA6E4}">
                  <adec:decorative xmlns:adec="http://schemas.microsoft.com/office/drawing/2017/decorative" val="0"/>
                </a:ext>
              </a:extLst>
            </p:cNvPr>
            <p:cNvSpPr txBox="1"/>
            <p:nvPr/>
          </p:nvSpPr>
          <p:spPr>
            <a:xfrm>
              <a:off x="1047214" y="1320981"/>
              <a:ext cx="1892184" cy="1538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Semibold"/>
                  <a:ea typeface="+mn-ea"/>
                  <a:cs typeface="+mn-cs"/>
                </a:rPr>
                <a:t>Copilot Chat</a:t>
              </a:r>
              <a:r>
                <a:rPr kumimoji="0" lang="en-US" sz="1000" b="0" i="0" u="none" strike="noStrike" kern="0" cap="none" spc="0" normalizeH="0" baseline="30000" noProof="0" dirty="0">
                  <a:ln>
                    <a:noFill/>
                  </a:ln>
                  <a:solidFill>
                    <a:srgbClr val="000000"/>
                  </a:solidFill>
                  <a:effectLst/>
                  <a:uLnTx/>
                  <a:uFillTx/>
                  <a:latin typeface="Segoe UI Semibold"/>
                  <a:ea typeface="+mn-ea"/>
                  <a:cs typeface="Segoe UI" pitchFamily="34" charset="0"/>
                </a:rPr>
                <a:t>2</a:t>
              </a:r>
              <a:endParaRPr kumimoji="0" lang="en-US" sz="1000" b="0" i="0" u="none" strike="noStrike" kern="1200" cap="none" spc="0" normalizeH="0" baseline="0" noProof="0" dirty="0">
                <a:ln>
                  <a:noFill/>
                </a:ln>
                <a:solidFill>
                  <a:srgbClr val="000000"/>
                </a:solidFill>
                <a:effectLst/>
                <a:uLnTx/>
                <a:uFillTx/>
                <a:latin typeface="Segoe UI Semibold"/>
                <a:ea typeface="+mn-ea"/>
                <a:cs typeface="+mn-cs"/>
              </a:endParaRPr>
            </a:p>
          </p:txBody>
        </p:sp>
      </p:grpSp>
      <p:grpSp>
        <p:nvGrpSpPr>
          <p:cNvPr id="85" name="Group 84">
            <a:extLst>
              <a:ext uri="{FF2B5EF4-FFF2-40B4-BE49-F238E27FC236}">
                <a16:creationId xmlns:a16="http://schemas.microsoft.com/office/drawing/2014/main" id="{DBF2453C-082C-DD37-3A3A-AB50569BDB77}"/>
              </a:ext>
            </a:extLst>
          </p:cNvPr>
          <p:cNvGrpSpPr/>
          <p:nvPr/>
        </p:nvGrpSpPr>
        <p:grpSpPr>
          <a:xfrm>
            <a:off x="6969125" y="5266713"/>
            <a:ext cx="2351135" cy="360000"/>
            <a:chOff x="6969125" y="5266713"/>
            <a:chExt cx="2351135" cy="360000"/>
          </a:xfrm>
        </p:grpSpPr>
        <p:pic>
          <p:nvPicPr>
            <p:cNvPr id="240" name="Picture 239">
              <a:extLst>
                <a:ext uri="{FF2B5EF4-FFF2-40B4-BE49-F238E27FC236}">
                  <a16:creationId xmlns:a16="http://schemas.microsoft.com/office/drawing/2014/main" id="{D39E7D2A-4464-A14F-CD5D-4D4FC76ACD37}"/>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6969125" y="5266713"/>
              <a:ext cx="360000" cy="360000"/>
            </a:xfrm>
            <a:prstGeom prst="ellipse">
              <a:avLst/>
            </a:prstGeom>
            <a:solidFill>
              <a:schemeClr val="bg1"/>
            </a:solidFill>
          </p:spPr>
        </p:pic>
        <p:sp>
          <p:nvSpPr>
            <p:cNvPr id="84" name="TextBox 89">
              <a:extLst>
                <a:ext uri="{FF2B5EF4-FFF2-40B4-BE49-F238E27FC236}">
                  <a16:creationId xmlns:a16="http://schemas.microsoft.com/office/drawing/2014/main" id="{93420B75-C5B4-35F4-2F45-EF1DC9E7861F}"/>
                </a:ext>
                <a:ext uri="{C183D7F6-B498-43B3-948B-1728B52AA6E4}">
                  <adec:decorative xmlns:adec="http://schemas.microsoft.com/office/drawing/2017/decorative" val="0"/>
                </a:ext>
              </a:extLst>
            </p:cNvPr>
            <p:cNvSpPr txBox="1"/>
            <p:nvPr/>
          </p:nvSpPr>
          <p:spPr>
            <a:xfrm>
              <a:off x="7428076" y="5369769"/>
              <a:ext cx="1892184" cy="153888"/>
            </a:xfrm>
            <a:prstGeom prst="rect">
              <a:avLst/>
            </a:prstGeom>
            <a:noFill/>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Segoe UI Semibold"/>
                  <a:ea typeface="+mn-ea"/>
                  <a:cs typeface="+mn-cs"/>
                </a:rPr>
                <a:t>Copilot in Power Automate</a:t>
              </a:r>
            </a:p>
          </p:txBody>
        </p:sp>
      </p:grpSp>
      <p:grpSp>
        <p:nvGrpSpPr>
          <p:cNvPr id="86" name="Group 85">
            <a:extLst>
              <a:ext uri="{FF2B5EF4-FFF2-40B4-BE49-F238E27FC236}">
                <a16:creationId xmlns:a16="http://schemas.microsoft.com/office/drawing/2014/main" id="{8AA94AE7-85C6-3A1C-1D9E-761FB9FC218F}"/>
              </a:ext>
            </a:extLst>
          </p:cNvPr>
          <p:cNvGrpSpPr/>
          <p:nvPr/>
        </p:nvGrpSpPr>
        <p:grpSpPr>
          <a:xfrm>
            <a:off x="6969125" y="2850537"/>
            <a:ext cx="1245335" cy="360000"/>
            <a:chOff x="588263" y="1217924"/>
            <a:chExt cx="1245335" cy="360000"/>
          </a:xfrm>
        </p:grpSpPr>
        <p:pic>
          <p:nvPicPr>
            <p:cNvPr id="87" name="Picture 86" descr="Zip Co logo SVG free download, id: 101874 - Brandlogos.net">
              <a:hlinkClick r:id="rId6"/>
              <a:extLst>
                <a:ext uri="{FF2B5EF4-FFF2-40B4-BE49-F238E27FC236}">
                  <a16:creationId xmlns:a16="http://schemas.microsoft.com/office/drawing/2014/main" id="{5DA5214C-BDFE-DA79-FE52-49ABCFCE561C}"/>
                </a:ext>
              </a:extLst>
            </p:cNvPr>
            <p:cNvPicPr>
              <a:picLocks noChangeAspect="1" noChangeArrowheads="1"/>
            </p:cNvPicPr>
            <p:nvPr/>
          </p:nvPicPr>
          <p:blipFill rotWithShape="1">
            <a:blip r:embed="rId7" cstate="screen">
              <a:extLst>
                <a:ext uri="{28A0092B-C50C-407E-A947-70E740481C1C}">
                  <a14:useLocalDpi xmlns:a14="http://schemas.microsoft.com/office/drawing/2010/main"/>
                </a:ext>
              </a:extLst>
            </a:blip>
            <a:srcRect l="-43278" t="-53646" r="-43278" b="-53646"/>
            <a:stretch/>
          </p:blipFill>
          <p:spPr bwMode="auto">
            <a:xfrm>
              <a:off x="588263" y="1217924"/>
              <a:ext cx="360000" cy="360000"/>
            </a:xfrm>
            <a:prstGeom prst="ellipse">
              <a:avLst/>
            </a:prstGeom>
            <a:solidFill>
              <a:srgbClr val="FFFFFF"/>
            </a:solidFill>
          </p:spPr>
        </p:pic>
        <p:sp>
          <p:nvSpPr>
            <p:cNvPr id="88" name="TextBox 87">
              <a:extLst>
                <a:ext uri="{FF2B5EF4-FFF2-40B4-BE49-F238E27FC236}">
                  <a16:creationId xmlns:a16="http://schemas.microsoft.com/office/drawing/2014/main" id="{682405F5-50D5-5380-CA02-3CA4022426C6}"/>
                </a:ext>
                <a:ext uri="{C183D7F6-B498-43B3-948B-1728B52AA6E4}">
                  <adec:decorative xmlns:adec="http://schemas.microsoft.com/office/drawing/2017/decorative" val="0"/>
                </a:ext>
              </a:extLst>
            </p:cNvPr>
            <p:cNvSpPr txBox="1"/>
            <p:nvPr/>
          </p:nvSpPr>
          <p:spPr>
            <a:xfrm>
              <a:off x="1047214" y="1244037"/>
              <a:ext cx="786384" cy="307777"/>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Semibold"/>
                  <a:ea typeface="+mn-ea"/>
                  <a:cs typeface="+mn-cs"/>
                </a:rPr>
                <a:t>Copilot </a:t>
              </a:r>
              <a:br>
                <a:rPr kumimoji="0" lang="en-US" sz="1000" b="0" i="0" u="none" strike="noStrike" kern="1200" cap="none" spc="0" normalizeH="0" baseline="0" noProof="0" dirty="0">
                  <a:ln>
                    <a:noFill/>
                  </a:ln>
                  <a:solidFill>
                    <a:srgbClr val="000000"/>
                  </a:solidFill>
                  <a:effectLst/>
                  <a:uLnTx/>
                  <a:uFillTx/>
                  <a:latin typeface="Segoe UI Semibold"/>
                  <a:ea typeface="+mn-ea"/>
                  <a:cs typeface="+mn-cs"/>
                </a:rPr>
              </a:br>
              <a:r>
                <a:rPr kumimoji="0" lang="en-US" sz="1000" b="0" i="0" u="none" strike="noStrike" kern="1200" cap="none" spc="0" normalizeH="0" baseline="0" noProof="0" dirty="0">
                  <a:ln>
                    <a:noFill/>
                  </a:ln>
                  <a:solidFill>
                    <a:srgbClr val="000000"/>
                  </a:solidFill>
                  <a:effectLst/>
                  <a:uLnTx/>
                  <a:uFillTx/>
                  <a:latin typeface="Segoe UI Semibold"/>
                  <a:ea typeface="+mn-ea"/>
                  <a:cs typeface="+mn-cs"/>
                </a:rPr>
                <a:t>Chat</a:t>
              </a:r>
              <a:r>
                <a:rPr kumimoji="0" lang="en-US" sz="1000" b="0" i="0" u="none" strike="noStrike" kern="0" cap="none" spc="0" normalizeH="0" baseline="30000" noProof="0" dirty="0">
                  <a:ln>
                    <a:noFill/>
                  </a:ln>
                  <a:solidFill>
                    <a:srgbClr val="000000"/>
                  </a:solidFill>
                  <a:effectLst/>
                  <a:uLnTx/>
                  <a:uFillTx/>
                  <a:latin typeface="Segoe UI Semibold"/>
                  <a:ea typeface="+mn-ea"/>
                  <a:cs typeface="Segoe UI" pitchFamily="34" charset="0"/>
                </a:rPr>
                <a:t>2</a:t>
              </a:r>
              <a:endParaRPr kumimoji="0" lang="en-US" sz="1000" b="0" i="0" u="none" strike="noStrike" kern="1200" cap="none" spc="0" normalizeH="0" baseline="0" noProof="0" dirty="0">
                <a:ln>
                  <a:noFill/>
                </a:ln>
                <a:solidFill>
                  <a:srgbClr val="000000"/>
                </a:solidFill>
                <a:effectLst/>
                <a:uLnTx/>
                <a:uFillTx/>
                <a:latin typeface="Segoe UI Semibold"/>
                <a:ea typeface="+mn-ea"/>
                <a:cs typeface="+mn-cs"/>
              </a:endParaRPr>
            </a:p>
          </p:txBody>
        </p:sp>
      </p:grpSp>
      <p:sp>
        <p:nvSpPr>
          <p:cNvPr id="91" name="TextBox 90">
            <a:extLst>
              <a:ext uri="{FF2B5EF4-FFF2-40B4-BE49-F238E27FC236}">
                <a16:creationId xmlns:a16="http://schemas.microsoft.com/office/drawing/2014/main" id="{8016E036-0D62-DA73-A88F-781529E49511}"/>
              </a:ext>
              <a:ext uri="{C183D7F6-B498-43B3-948B-1728B52AA6E4}">
                <adec:decorative xmlns:adec="http://schemas.microsoft.com/office/drawing/2017/decorative" val="0"/>
              </a:ext>
            </a:extLst>
          </p:cNvPr>
          <p:cNvSpPr txBox="1"/>
          <p:nvPr/>
        </p:nvSpPr>
        <p:spPr>
          <a:xfrm>
            <a:off x="4236084" y="5300519"/>
            <a:ext cx="1892184" cy="2923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Segoe UI Semibold"/>
                <a:ea typeface="+mn-ea"/>
                <a:cs typeface="+mn-cs"/>
              </a:rPr>
              <a:t>Copilot in Excel</a:t>
            </a:r>
            <a:br>
              <a:rPr kumimoji="0" lang="en-US" sz="1000" b="0" i="0" u="none" strike="noStrike" kern="1200" cap="none" spc="0" normalizeH="0" baseline="0" noProof="0" dirty="0">
                <a:ln>
                  <a:noFill/>
                </a:ln>
                <a:solidFill>
                  <a:prstClr val="black"/>
                </a:solidFill>
                <a:effectLst/>
                <a:uLnTx/>
                <a:uFillTx/>
                <a:latin typeface="Segoe UI Semibold"/>
                <a:ea typeface="+mn-ea"/>
                <a:cs typeface="+mn-cs"/>
              </a:rPr>
            </a:br>
            <a:r>
              <a:rPr kumimoji="0" lang="en-US" sz="900" b="0" i="0" u="none" strike="noStrike" kern="1200" cap="none" spc="0" normalizeH="0" baseline="0" noProof="0" dirty="0">
                <a:ln>
                  <a:noFill/>
                </a:ln>
                <a:solidFill>
                  <a:srgbClr val="0078D4"/>
                </a:solidFill>
                <a:effectLst/>
                <a:uLnTx/>
                <a:uFillTx/>
                <a:latin typeface="Segoe UI Semibold"/>
                <a:ea typeface="+mn-ea"/>
                <a:cs typeface="+mn-cs"/>
              </a:rPr>
              <a:t>+ Copilot for Finance</a:t>
            </a:r>
            <a:endParaRPr kumimoji="0" lang="en-US" sz="900" b="0" i="1" u="none" strike="noStrike" kern="1200" cap="none" spc="0" normalizeH="0" baseline="0" noProof="0" dirty="0">
              <a:ln>
                <a:noFill/>
              </a:ln>
              <a:solidFill>
                <a:srgbClr val="0078D4"/>
              </a:solidFill>
              <a:effectLst/>
              <a:uLnTx/>
              <a:uFillTx/>
              <a:latin typeface="Segoe UI Semibold"/>
              <a:ea typeface="+mn-ea"/>
              <a:cs typeface="+mn-cs"/>
            </a:endParaRPr>
          </a:p>
        </p:txBody>
      </p:sp>
      <p:pic>
        <p:nvPicPr>
          <p:cNvPr id="92" name="Graphic 91">
            <a:extLst>
              <a:ext uri="{FF2B5EF4-FFF2-40B4-BE49-F238E27FC236}">
                <a16:creationId xmlns:a16="http://schemas.microsoft.com/office/drawing/2014/main" id="{B57262C3-9AED-19D8-BDBD-98A6FA516400}"/>
              </a:ext>
              <a:ext uri="{C183D7F6-B498-43B3-948B-1728B52AA6E4}">
                <adec:decorative xmlns:adec="http://schemas.microsoft.com/office/drawing/2017/decorative" val="1"/>
              </a:ext>
            </a:extLst>
          </p:cNvPr>
          <p:cNvPicPr>
            <a:picLocks noChangeAspect="1"/>
          </p:cNvPicPr>
          <p:nvPr/>
        </p:nvPicPr>
        <p:blipFill>
          <a:blip>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rot="10800000">
            <a:off x="10939101" y="2929728"/>
            <a:ext cx="274790" cy="274790"/>
          </a:xfrm>
          <a:prstGeom prst="rect">
            <a:avLst/>
          </a:prstGeom>
        </p:spPr>
      </p:pic>
      <p:pic>
        <p:nvPicPr>
          <p:cNvPr id="2" name="Picture 1">
            <a:extLst>
              <a:ext uri="{FF2B5EF4-FFF2-40B4-BE49-F238E27FC236}">
                <a16:creationId xmlns:a16="http://schemas.microsoft.com/office/drawing/2014/main" id="{039CD676-0D06-40FB-E59D-AF200DE09019}"/>
              </a:ext>
            </a:extLst>
          </p:cNvPr>
          <p:cNvPicPr>
            <a:picLocks noChangeAspect="1"/>
          </p:cNvPicPr>
          <p:nvPr/>
        </p:nvPicPr>
        <p:blipFill>
          <a:blip r:embed="rId10"/>
          <a:stretch>
            <a:fillRect/>
          </a:stretch>
        </p:blipFill>
        <p:spPr>
          <a:xfrm>
            <a:off x="582930" y="5326668"/>
            <a:ext cx="273674" cy="239465"/>
          </a:xfrm>
          <a:prstGeom prst="rect">
            <a:avLst/>
          </a:prstGeom>
        </p:spPr>
      </p:pic>
      <p:pic>
        <p:nvPicPr>
          <p:cNvPr id="3" name="Picture 2" descr="Excel logo">
            <a:extLst>
              <a:ext uri="{FF2B5EF4-FFF2-40B4-BE49-F238E27FC236}">
                <a16:creationId xmlns:a16="http://schemas.microsoft.com/office/drawing/2014/main" id="{9408D5EC-CCBB-D598-E589-EC91241A82BA}"/>
              </a:ext>
            </a:extLst>
          </p:cNvPr>
          <p:cNvPicPr>
            <a:picLocks noChangeAspect="1"/>
          </p:cNvPicPr>
          <p:nvPr/>
        </p:nvPicPr>
        <p:blipFill>
          <a:blip r:embed="rId11">
            <a:extLst>
              <a:ext uri="{28A0092B-C50C-407E-A947-70E740481C1C}">
                <a14:useLocalDpi xmlns:a14="http://schemas.microsoft.com/office/drawing/2010/main" val="0"/>
              </a:ext>
            </a:extLst>
          </a:blip>
          <a:srcRect/>
          <a:stretch/>
        </p:blipFill>
        <p:spPr>
          <a:xfrm>
            <a:off x="3821353" y="2876649"/>
            <a:ext cx="275670" cy="275670"/>
          </a:xfrm>
          <a:prstGeom prst="ellipse">
            <a:avLst/>
          </a:prstGeom>
          <a:solidFill>
            <a:schemeClr val="bg1"/>
          </a:solidFill>
        </p:spPr>
      </p:pic>
      <p:pic>
        <p:nvPicPr>
          <p:cNvPr id="4" name="Picture 3" descr="Excel logo">
            <a:extLst>
              <a:ext uri="{FF2B5EF4-FFF2-40B4-BE49-F238E27FC236}">
                <a16:creationId xmlns:a16="http://schemas.microsoft.com/office/drawing/2014/main" id="{3332A52A-64A7-37E1-7948-926BDC4A6F44}"/>
              </a:ext>
            </a:extLst>
          </p:cNvPr>
          <p:cNvPicPr>
            <a:picLocks noChangeAspect="1"/>
          </p:cNvPicPr>
          <p:nvPr/>
        </p:nvPicPr>
        <p:blipFill>
          <a:blip r:embed="rId11">
            <a:extLst>
              <a:ext uri="{28A0092B-C50C-407E-A947-70E740481C1C}">
                <a14:useLocalDpi xmlns:a14="http://schemas.microsoft.com/office/drawing/2010/main" val="0"/>
              </a:ext>
            </a:extLst>
          </a:blip>
          <a:srcRect/>
          <a:stretch/>
        </p:blipFill>
        <p:spPr>
          <a:xfrm>
            <a:off x="3821353" y="5299448"/>
            <a:ext cx="275670" cy="275670"/>
          </a:xfrm>
          <a:prstGeom prst="ellipse">
            <a:avLst/>
          </a:prstGeom>
          <a:solidFill>
            <a:schemeClr val="bg1"/>
          </a:solidFill>
        </p:spPr>
      </p:pic>
      <p:pic>
        <p:nvPicPr>
          <p:cNvPr id="5" name="Picture 4" descr="Outlook logo">
            <a:extLst>
              <a:ext uri="{FF2B5EF4-FFF2-40B4-BE49-F238E27FC236}">
                <a16:creationId xmlns:a16="http://schemas.microsoft.com/office/drawing/2014/main" id="{6394D952-2544-DC3F-777E-D58678E278F2}"/>
              </a:ext>
            </a:extLst>
          </p:cNvPr>
          <p:cNvPicPr>
            <a:picLocks noChangeAspect="1"/>
          </p:cNvPicPr>
          <p:nvPr/>
        </p:nvPicPr>
        <p:blipFill>
          <a:blip r:embed="rId12"/>
          <a:stretch>
            <a:fillRect/>
          </a:stretch>
        </p:blipFill>
        <p:spPr>
          <a:xfrm>
            <a:off x="8625134" y="2887143"/>
            <a:ext cx="265176" cy="265176"/>
          </a:xfrm>
          <a:prstGeom prst="rect">
            <a:avLst/>
          </a:prstGeom>
        </p:spPr>
      </p:pic>
    </p:spTree>
    <p:extLst>
      <p:ext uri="{BB962C8B-B14F-4D97-AF65-F5344CB8AC3E}">
        <p14:creationId xmlns:p14="http://schemas.microsoft.com/office/powerpoint/2010/main" val="3729922987"/>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Title 37">
            <a:extLst>
              <a:ext uri="{FF2B5EF4-FFF2-40B4-BE49-F238E27FC236}">
                <a16:creationId xmlns:a16="http://schemas.microsoft.com/office/drawing/2014/main" id="{23F16038-3ECA-5B93-BFF2-67AAFF1E240D}"/>
              </a:ext>
            </a:extLst>
          </p:cNvPr>
          <p:cNvSpPr>
            <a:spLocks noGrp="1"/>
          </p:cNvSpPr>
          <p:nvPr>
            <p:ph type="title"/>
          </p:nvPr>
        </p:nvSpPr>
        <p:spPr>
          <a:xfrm>
            <a:off x="584200" y="387766"/>
            <a:ext cx="5672544" cy="526298"/>
          </a:xfrm>
        </p:spPr>
        <p:txBody>
          <a:bodyPr/>
          <a:lstStyle/>
          <a:p>
            <a:r>
              <a:rPr lang="en-US" noProof="0" dirty="0"/>
              <a:t>A day in the life of an Audit, Risk and Compliance (ARC) Data Solution Manager</a:t>
            </a:r>
          </a:p>
        </p:txBody>
      </p:sp>
      <p:sp>
        <p:nvSpPr>
          <p:cNvPr id="19" name="Text Placeholder 18">
            <a:extLst>
              <a:ext uri="{FF2B5EF4-FFF2-40B4-BE49-F238E27FC236}">
                <a16:creationId xmlns:a16="http://schemas.microsoft.com/office/drawing/2014/main" id="{49971CD7-9180-98EB-C45A-2AFB6715190E}"/>
              </a:ext>
            </a:extLst>
          </p:cNvPr>
          <p:cNvSpPr>
            <a:spLocks noGrp="1"/>
          </p:cNvSpPr>
          <p:nvPr>
            <p:ph type="body" sz="quarter" idx="37"/>
          </p:nvPr>
        </p:nvSpPr>
        <p:spPr>
          <a:xfrm>
            <a:off x="10430234" y="521099"/>
            <a:ext cx="1456966" cy="175614"/>
          </a:xfrm>
        </p:spPr>
        <p:txBody>
          <a:bodyPr/>
          <a:lstStyle/>
          <a:p>
            <a:r>
              <a:rPr lang="en-US" noProof="0" dirty="0"/>
              <a:t>Buy</a:t>
            </a:r>
          </a:p>
        </p:txBody>
      </p:sp>
      <p:sp>
        <p:nvSpPr>
          <p:cNvPr id="17" name="Text Placeholder 16">
            <a:extLst>
              <a:ext uri="{FF2B5EF4-FFF2-40B4-BE49-F238E27FC236}">
                <a16:creationId xmlns:a16="http://schemas.microsoft.com/office/drawing/2014/main" id="{0E0FDD84-DB35-7D64-024A-9E569870CCF9}"/>
              </a:ext>
            </a:extLst>
          </p:cNvPr>
          <p:cNvSpPr>
            <a:spLocks noGrp="1"/>
          </p:cNvSpPr>
          <p:nvPr>
            <p:ph type="body" sz="quarter" idx="17"/>
          </p:nvPr>
        </p:nvSpPr>
        <p:spPr>
          <a:xfrm>
            <a:off x="6519107" y="521099"/>
            <a:ext cx="3599821" cy="169277"/>
          </a:xfrm>
        </p:spPr>
        <p:txBody>
          <a:bodyPr/>
          <a:lstStyle/>
          <a:p>
            <a:pPr lvl="0"/>
            <a:r>
              <a:rPr lang="en-US" noProof="0" dirty="0"/>
              <a:t>Microsoft 365 Copilot</a:t>
            </a:r>
          </a:p>
        </p:txBody>
      </p:sp>
      <p:sp>
        <p:nvSpPr>
          <p:cNvPr id="75" name="Text Placeholder 74">
            <a:extLst>
              <a:ext uri="{FF2B5EF4-FFF2-40B4-BE49-F238E27FC236}">
                <a16:creationId xmlns:a16="http://schemas.microsoft.com/office/drawing/2014/main" id="{2DBE432D-63F9-F448-8774-8300DF7C95E0}"/>
              </a:ext>
            </a:extLst>
          </p:cNvPr>
          <p:cNvSpPr>
            <a:spLocks noGrp="1"/>
          </p:cNvSpPr>
          <p:nvPr>
            <p:ph type="body" sz="quarter" idx="11"/>
          </p:nvPr>
        </p:nvSpPr>
        <p:spPr>
          <a:xfrm>
            <a:off x="584200" y="1684713"/>
            <a:ext cx="2808000" cy="345600"/>
          </a:xfrm>
        </p:spPr>
        <p:txBody>
          <a:bodyPr/>
          <a:lstStyle/>
          <a:p>
            <a:r>
              <a:rPr lang="en-US" noProof="0" dirty="0"/>
              <a:t>8:00 am – Plan your day</a:t>
            </a:r>
          </a:p>
        </p:txBody>
      </p:sp>
      <p:sp>
        <p:nvSpPr>
          <p:cNvPr id="76" name="Text Placeholder 75">
            <a:extLst>
              <a:ext uri="{FF2B5EF4-FFF2-40B4-BE49-F238E27FC236}">
                <a16:creationId xmlns:a16="http://schemas.microsoft.com/office/drawing/2014/main" id="{462B520C-88B1-A5D9-DCF3-EE9C64A66AE0}"/>
              </a:ext>
            </a:extLst>
          </p:cNvPr>
          <p:cNvSpPr>
            <a:spLocks noGrp="1"/>
          </p:cNvSpPr>
          <p:nvPr>
            <p:ph type="body" sz="quarter" idx="18"/>
          </p:nvPr>
        </p:nvSpPr>
        <p:spPr>
          <a:xfrm>
            <a:off x="584200" y="2128438"/>
            <a:ext cx="2808000" cy="626701"/>
          </a:xfrm>
        </p:spPr>
        <p:txBody>
          <a:bodyPr>
            <a:normAutofit/>
          </a:bodyPr>
          <a:lstStyle/>
          <a:p>
            <a:r>
              <a:rPr lang="en-US" noProof="0" dirty="0"/>
              <a:t>Shali starts her day using Copilot to catch up on action items from the previous day. She also asks Copilot to prepare her for her upcoming meeting.</a:t>
            </a:r>
          </a:p>
          <a:p>
            <a:endParaRPr lang="en-US" noProof="0" dirty="0"/>
          </a:p>
        </p:txBody>
      </p:sp>
      <p:sp>
        <p:nvSpPr>
          <p:cNvPr id="128" name="Text Placeholder 127">
            <a:extLst>
              <a:ext uri="{FF2B5EF4-FFF2-40B4-BE49-F238E27FC236}">
                <a16:creationId xmlns:a16="http://schemas.microsoft.com/office/drawing/2014/main" id="{704BDAC4-568E-86F6-14D8-399F27A7D564}"/>
              </a:ext>
            </a:extLst>
          </p:cNvPr>
          <p:cNvSpPr>
            <a:spLocks noGrp="1"/>
          </p:cNvSpPr>
          <p:nvPr>
            <p:ph type="body" sz="quarter" idx="21"/>
          </p:nvPr>
        </p:nvSpPr>
        <p:spPr>
          <a:xfrm>
            <a:off x="584200" y="3304510"/>
            <a:ext cx="2808000" cy="626701"/>
          </a:xfrm>
        </p:spPr>
        <p:txBody>
          <a:bodyPr>
            <a:normAutofit/>
          </a:bodyPr>
          <a:lstStyle/>
          <a:p>
            <a:pPr lvl="0"/>
            <a:r>
              <a:rPr lang="en-US" noProof="0" dirty="0"/>
              <a:t>Example prompt: </a:t>
            </a:r>
            <a:r>
              <a:rPr lang="en-US" dirty="0">
                <a:latin typeface="+mj-lt"/>
              </a:rPr>
              <a:t>Help me prep for my upcoming meetings I have today; </a:t>
            </a:r>
            <a:r>
              <a:rPr lang="en-US" noProof="0" dirty="0"/>
              <a:t>including action items from the meeting. Draft follow up meeting agenda from meeting.</a:t>
            </a:r>
          </a:p>
        </p:txBody>
      </p:sp>
      <p:sp>
        <p:nvSpPr>
          <p:cNvPr id="78" name="Text Placeholder 77">
            <a:extLst>
              <a:ext uri="{FF2B5EF4-FFF2-40B4-BE49-F238E27FC236}">
                <a16:creationId xmlns:a16="http://schemas.microsoft.com/office/drawing/2014/main" id="{CD2DCC08-6A94-B36A-BB32-A6808C6207DF}"/>
              </a:ext>
            </a:extLst>
          </p:cNvPr>
          <p:cNvSpPr>
            <a:spLocks noGrp="1"/>
          </p:cNvSpPr>
          <p:nvPr>
            <p:ph type="body" sz="quarter" idx="22"/>
          </p:nvPr>
        </p:nvSpPr>
        <p:spPr>
          <a:xfrm>
            <a:off x="3776898" y="1684713"/>
            <a:ext cx="2808000" cy="345600"/>
          </a:xfrm>
        </p:spPr>
        <p:txBody>
          <a:bodyPr/>
          <a:lstStyle/>
          <a:p>
            <a:r>
              <a:rPr lang="en-US" noProof="0" dirty="0"/>
              <a:t>9:30 am – Draft a project proposal</a:t>
            </a:r>
          </a:p>
        </p:txBody>
      </p:sp>
      <p:sp>
        <p:nvSpPr>
          <p:cNvPr id="79" name="Text Placeholder 78">
            <a:extLst>
              <a:ext uri="{FF2B5EF4-FFF2-40B4-BE49-F238E27FC236}">
                <a16:creationId xmlns:a16="http://schemas.microsoft.com/office/drawing/2014/main" id="{B278A912-31C9-EF83-28AE-346513459D04}"/>
              </a:ext>
            </a:extLst>
          </p:cNvPr>
          <p:cNvSpPr>
            <a:spLocks noGrp="1"/>
          </p:cNvSpPr>
          <p:nvPr>
            <p:ph type="body" sz="quarter" idx="23"/>
          </p:nvPr>
        </p:nvSpPr>
        <p:spPr>
          <a:xfrm>
            <a:off x="3776663" y="2128838"/>
            <a:ext cx="2808287" cy="627062"/>
          </a:xfrm>
        </p:spPr>
        <p:txBody>
          <a:bodyPr>
            <a:normAutofit/>
          </a:bodyPr>
          <a:lstStyle/>
          <a:p>
            <a:r>
              <a:rPr lang="en-US" noProof="0" dirty="0"/>
              <a:t>Shali later starts drafting a proposal for senior leadership review using the Meeting Recap and relevant files. She uses Copilot in Word to revise the draft to be more concise.</a:t>
            </a:r>
          </a:p>
          <a:p>
            <a:endParaRPr lang="en-US" noProof="0" dirty="0"/>
          </a:p>
        </p:txBody>
      </p:sp>
      <p:sp>
        <p:nvSpPr>
          <p:cNvPr id="129" name="Text Placeholder 128">
            <a:extLst>
              <a:ext uri="{FF2B5EF4-FFF2-40B4-BE49-F238E27FC236}">
                <a16:creationId xmlns:a16="http://schemas.microsoft.com/office/drawing/2014/main" id="{F180D3FB-B055-CF3A-76DF-3FACE038B6CD}"/>
              </a:ext>
            </a:extLst>
          </p:cNvPr>
          <p:cNvSpPr>
            <a:spLocks noGrp="1"/>
          </p:cNvSpPr>
          <p:nvPr>
            <p:ph type="body" sz="quarter" idx="24"/>
          </p:nvPr>
        </p:nvSpPr>
        <p:spPr>
          <a:xfrm>
            <a:off x="3776898" y="3304510"/>
            <a:ext cx="2808000" cy="626701"/>
          </a:xfrm>
        </p:spPr>
        <p:txBody>
          <a:bodyPr>
            <a:normAutofit/>
          </a:bodyPr>
          <a:lstStyle/>
          <a:p>
            <a:r>
              <a:rPr lang="en-US" noProof="0" dirty="0"/>
              <a:t>Example prompt: </a:t>
            </a:r>
            <a:r>
              <a:rPr lang="en-US" dirty="0">
                <a:latin typeface="+mj-lt"/>
              </a:rPr>
              <a:t>Write a project proposal </a:t>
            </a:r>
            <a:r>
              <a:rPr lang="en-US" noProof="0" dirty="0"/>
              <a:t>using meeting notes in concise tone. List the pros and cons of solution from meeting notes. Visualize as a table.</a:t>
            </a:r>
          </a:p>
        </p:txBody>
      </p:sp>
      <p:sp>
        <p:nvSpPr>
          <p:cNvPr id="81" name="Text Placeholder 80">
            <a:extLst>
              <a:ext uri="{FF2B5EF4-FFF2-40B4-BE49-F238E27FC236}">
                <a16:creationId xmlns:a16="http://schemas.microsoft.com/office/drawing/2014/main" id="{1FE7855D-979F-8AF5-3177-7528B0295236}"/>
              </a:ext>
            </a:extLst>
          </p:cNvPr>
          <p:cNvSpPr>
            <a:spLocks noGrp="1"/>
          </p:cNvSpPr>
          <p:nvPr>
            <p:ph type="body" sz="quarter" idx="25"/>
          </p:nvPr>
        </p:nvSpPr>
        <p:spPr>
          <a:xfrm>
            <a:off x="6969125" y="1684338"/>
            <a:ext cx="2808288" cy="346075"/>
          </a:xfrm>
        </p:spPr>
        <p:txBody>
          <a:bodyPr/>
          <a:lstStyle/>
          <a:p>
            <a:r>
              <a:rPr lang="en-US" noProof="0" dirty="0"/>
              <a:t>10:00 am – Create a dashboard</a:t>
            </a:r>
          </a:p>
        </p:txBody>
      </p:sp>
      <p:sp>
        <p:nvSpPr>
          <p:cNvPr id="82" name="Text Placeholder 81">
            <a:extLst>
              <a:ext uri="{FF2B5EF4-FFF2-40B4-BE49-F238E27FC236}">
                <a16:creationId xmlns:a16="http://schemas.microsoft.com/office/drawing/2014/main" id="{684FFD43-E6EA-B245-C93B-DB9312BD531E}"/>
              </a:ext>
            </a:extLst>
          </p:cNvPr>
          <p:cNvSpPr>
            <a:spLocks noGrp="1"/>
          </p:cNvSpPr>
          <p:nvPr>
            <p:ph type="body" sz="quarter" idx="26"/>
          </p:nvPr>
        </p:nvSpPr>
        <p:spPr>
          <a:xfrm>
            <a:off x="6969125" y="2128838"/>
            <a:ext cx="2808288" cy="627062"/>
          </a:xfrm>
        </p:spPr>
        <p:txBody>
          <a:bodyPr>
            <a:normAutofit/>
          </a:bodyPr>
          <a:lstStyle/>
          <a:p>
            <a:r>
              <a:rPr lang="en-US" noProof="0" dirty="0"/>
              <a:t>Shali updates the reporting for stakeholders. She asks Copilot in Power BI to create an Intro tab and additional insights tab for her to explore other ideas.</a:t>
            </a:r>
          </a:p>
          <a:p>
            <a:endParaRPr lang="en-US" noProof="0" dirty="0"/>
          </a:p>
        </p:txBody>
      </p:sp>
      <p:sp>
        <p:nvSpPr>
          <p:cNvPr id="130" name="Text Placeholder 129">
            <a:extLst>
              <a:ext uri="{FF2B5EF4-FFF2-40B4-BE49-F238E27FC236}">
                <a16:creationId xmlns:a16="http://schemas.microsoft.com/office/drawing/2014/main" id="{5B89D116-919E-BB3F-2155-F02E9CDF1448}"/>
              </a:ext>
            </a:extLst>
          </p:cNvPr>
          <p:cNvSpPr>
            <a:spLocks noGrp="1"/>
          </p:cNvSpPr>
          <p:nvPr>
            <p:ph type="body" sz="quarter" idx="27"/>
          </p:nvPr>
        </p:nvSpPr>
        <p:spPr>
          <a:xfrm>
            <a:off x="6969595" y="3304510"/>
            <a:ext cx="2651760" cy="626701"/>
          </a:xfrm>
        </p:spPr>
        <p:txBody>
          <a:bodyPr>
            <a:normAutofit/>
          </a:bodyPr>
          <a:lstStyle/>
          <a:p>
            <a:r>
              <a:rPr lang="en-US" noProof="0" dirty="0"/>
              <a:t>Example prompt: </a:t>
            </a:r>
            <a:r>
              <a:rPr lang="en-US" dirty="0">
                <a:latin typeface="+mj-lt"/>
              </a:rPr>
              <a:t>Create a page to monitor the project scheduled hours, </a:t>
            </a:r>
            <a:r>
              <a:rPr lang="en-US" noProof="0" dirty="0"/>
              <a:t>resource availability, and identify any gaps or overloads. Create DAX measure in Suggestions with Copilot.</a:t>
            </a:r>
          </a:p>
        </p:txBody>
      </p:sp>
      <p:sp>
        <p:nvSpPr>
          <p:cNvPr id="90" name="Text Placeholder 89">
            <a:extLst>
              <a:ext uri="{FF2B5EF4-FFF2-40B4-BE49-F238E27FC236}">
                <a16:creationId xmlns:a16="http://schemas.microsoft.com/office/drawing/2014/main" id="{505A7D98-4C3C-10CC-727E-FD8A3624A03B}"/>
              </a:ext>
            </a:extLst>
          </p:cNvPr>
          <p:cNvSpPr>
            <a:spLocks noGrp="1"/>
          </p:cNvSpPr>
          <p:nvPr>
            <p:ph type="body" sz="quarter" idx="34"/>
          </p:nvPr>
        </p:nvSpPr>
        <p:spPr>
          <a:xfrm>
            <a:off x="6969595" y="4137995"/>
            <a:ext cx="2808000" cy="345600"/>
          </a:xfrm>
        </p:spPr>
        <p:txBody>
          <a:bodyPr/>
          <a:lstStyle/>
          <a:p>
            <a:r>
              <a:rPr lang="en-US" noProof="0" dirty="0"/>
              <a:t>11:00 am – Get a SQL query</a:t>
            </a:r>
          </a:p>
        </p:txBody>
      </p:sp>
      <p:sp>
        <p:nvSpPr>
          <p:cNvPr id="91" name="Text Placeholder 90">
            <a:extLst>
              <a:ext uri="{FF2B5EF4-FFF2-40B4-BE49-F238E27FC236}">
                <a16:creationId xmlns:a16="http://schemas.microsoft.com/office/drawing/2014/main" id="{D9319625-C6CD-2052-73ED-21401DCB0FC2}"/>
              </a:ext>
            </a:extLst>
          </p:cNvPr>
          <p:cNvSpPr>
            <a:spLocks noGrp="1"/>
          </p:cNvSpPr>
          <p:nvPr>
            <p:ph type="body" sz="quarter" idx="35"/>
          </p:nvPr>
        </p:nvSpPr>
        <p:spPr>
          <a:xfrm>
            <a:off x="6969125" y="4584700"/>
            <a:ext cx="2808288" cy="627063"/>
          </a:xfrm>
        </p:spPr>
        <p:txBody>
          <a:bodyPr>
            <a:noAutofit/>
          </a:bodyPr>
          <a:lstStyle/>
          <a:p>
            <a:r>
              <a:rPr lang="en-US" noProof="0" dirty="0"/>
              <a:t>After reviewing the reporting, Shali wants to set up automated alerts for potential overloads. She asks Copilot in Power Automate to create a flow to automate the process and analyze the automation activities.</a:t>
            </a:r>
          </a:p>
          <a:p>
            <a:endParaRPr lang="en-US" noProof="0" dirty="0"/>
          </a:p>
        </p:txBody>
      </p:sp>
      <p:sp>
        <p:nvSpPr>
          <p:cNvPr id="133" name="Text Placeholder 132">
            <a:extLst>
              <a:ext uri="{FF2B5EF4-FFF2-40B4-BE49-F238E27FC236}">
                <a16:creationId xmlns:a16="http://schemas.microsoft.com/office/drawing/2014/main" id="{D71C746C-BD83-CB55-25B7-BDDF717C5BD7}"/>
              </a:ext>
            </a:extLst>
          </p:cNvPr>
          <p:cNvSpPr>
            <a:spLocks noGrp="1"/>
          </p:cNvSpPr>
          <p:nvPr>
            <p:ph type="body" sz="quarter" idx="36"/>
          </p:nvPr>
        </p:nvSpPr>
        <p:spPr>
          <a:xfrm>
            <a:off x="6969595" y="5681038"/>
            <a:ext cx="2808000" cy="626701"/>
          </a:xfrm>
        </p:spPr>
        <p:txBody>
          <a:bodyPr>
            <a:noAutofit/>
          </a:bodyPr>
          <a:lstStyle/>
          <a:p>
            <a:r>
              <a:rPr lang="en-US" noProof="0" dirty="0"/>
              <a:t>Example prompt: </a:t>
            </a:r>
            <a:r>
              <a:rPr lang="en-US" dirty="0">
                <a:latin typeface="+mj-lt"/>
              </a:rPr>
              <a:t>Write a SQL query to list all the audit projects </a:t>
            </a:r>
            <a:r>
              <a:rPr lang="en-US" noProof="0" dirty="0"/>
              <a:t>in FY24.Create an automate flow that send alerts to users about Power BI reporting. Ask Copilot about which flow had the most run failures today?</a:t>
            </a:r>
          </a:p>
        </p:txBody>
      </p:sp>
      <p:sp>
        <p:nvSpPr>
          <p:cNvPr id="87" name="Text Placeholder 86">
            <a:extLst>
              <a:ext uri="{FF2B5EF4-FFF2-40B4-BE49-F238E27FC236}">
                <a16:creationId xmlns:a16="http://schemas.microsoft.com/office/drawing/2014/main" id="{26136EF7-C6F6-FD1C-ED72-566525ED7A9C}"/>
              </a:ext>
            </a:extLst>
          </p:cNvPr>
          <p:cNvSpPr>
            <a:spLocks noGrp="1"/>
          </p:cNvSpPr>
          <p:nvPr>
            <p:ph type="body" sz="quarter" idx="31"/>
          </p:nvPr>
        </p:nvSpPr>
        <p:spPr>
          <a:xfrm>
            <a:off x="3776898" y="4137995"/>
            <a:ext cx="2808000" cy="345600"/>
          </a:xfrm>
        </p:spPr>
        <p:txBody>
          <a:bodyPr/>
          <a:lstStyle/>
          <a:p>
            <a:r>
              <a:rPr lang="en-US" noProof="0" dirty="0"/>
              <a:t>2:00 pm – Create a Power App</a:t>
            </a:r>
          </a:p>
        </p:txBody>
      </p:sp>
      <p:sp>
        <p:nvSpPr>
          <p:cNvPr id="88" name="Text Placeholder 87">
            <a:extLst>
              <a:ext uri="{FF2B5EF4-FFF2-40B4-BE49-F238E27FC236}">
                <a16:creationId xmlns:a16="http://schemas.microsoft.com/office/drawing/2014/main" id="{400E06A4-B683-F842-1E7E-47BB3D447E47}"/>
              </a:ext>
            </a:extLst>
          </p:cNvPr>
          <p:cNvSpPr>
            <a:spLocks noGrp="1"/>
          </p:cNvSpPr>
          <p:nvPr>
            <p:ph type="body" sz="quarter" idx="32"/>
          </p:nvPr>
        </p:nvSpPr>
        <p:spPr>
          <a:xfrm>
            <a:off x="3776663" y="4584700"/>
            <a:ext cx="2808287" cy="627063"/>
          </a:xfrm>
        </p:spPr>
        <p:txBody>
          <a:bodyPr>
            <a:noAutofit/>
          </a:bodyPr>
          <a:lstStyle/>
          <a:p>
            <a:r>
              <a:rPr lang="en-US" noProof="0" dirty="0"/>
              <a:t>She uses Power Apps to collect insights from various sources either text input or uploaded files. She asks Copilot in Power Apps to first suggest relevant fields then create an app based on the ask.</a:t>
            </a:r>
          </a:p>
        </p:txBody>
      </p:sp>
      <p:sp>
        <p:nvSpPr>
          <p:cNvPr id="132" name="Text Placeholder 131">
            <a:extLst>
              <a:ext uri="{FF2B5EF4-FFF2-40B4-BE49-F238E27FC236}">
                <a16:creationId xmlns:a16="http://schemas.microsoft.com/office/drawing/2014/main" id="{C34F0736-17AC-3DA6-5652-40486A159561}"/>
              </a:ext>
            </a:extLst>
          </p:cNvPr>
          <p:cNvSpPr>
            <a:spLocks noGrp="1"/>
          </p:cNvSpPr>
          <p:nvPr>
            <p:ph type="body" sz="quarter" idx="33"/>
          </p:nvPr>
        </p:nvSpPr>
        <p:spPr>
          <a:xfrm>
            <a:off x="3776898" y="5681038"/>
            <a:ext cx="2808000" cy="626701"/>
          </a:xfrm>
        </p:spPr>
        <p:txBody>
          <a:bodyPr>
            <a:normAutofit/>
          </a:bodyPr>
          <a:lstStyle/>
          <a:p>
            <a:r>
              <a:rPr lang="en-US" noProof="0" dirty="0"/>
              <a:t>Example prompt: </a:t>
            </a:r>
            <a:r>
              <a:rPr lang="en-US" dirty="0">
                <a:latin typeface="+mj-lt"/>
              </a:rPr>
              <a:t>Create an app to collect insights </a:t>
            </a:r>
            <a:r>
              <a:rPr lang="en-US" noProof="0" dirty="0"/>
              <a:t>from files or text input box. Add a screen to display all insights with dropdown boxes on submitter.</a:t>
            </a:r>
          </a:p>
        </p:txBody>
      </p:sp>
      <p:sp>
        <p:nvSpPr>
          <p:cNvPr id="84" name="Text Placeholder 83">
            <a:extLst>
              <a:ext uri="{FF2B5EF4-FFF2-40B4-BE49-F238E27FC236}">
                <a16:creationId xmlns:a16="http://schemas.microsoft.com/office/drawing/2014/main" id="{D44A8339-6E88-C231-8B78-86B8400802CD}"/>
              </a:ext>
            </a:extLst>
          </p:cNvPr>
          <p:cNvSpPr>
            <a:spLocks noGrp="1"/>
          </p:cNvSpPr>
          <p:nvPr>
            <p:ph type="body" sz="quarter" idx="28"/>
          </p:nvPr>
        </p:nvSpPr>
        <p:spPr>
          <a:xfrm>
            <a:off x="584200" y="4137995"/>
            <a:ext cx="2808000" cy="345600"/>
          </a:xfrm>
        </p:spPr>
        <p:txBody>
          <a:bodyPr/>
          <a:lstStyle/>
          <a:p>
            <a:r>
              <a:rPr lang="en-US" noProof="0" dirty="0"/>
              <a:t>4:00 pm – Summarize emails</a:t>
            </a:r>
          </a:p>
        </p:txBody>
      </p:sp>
      <p:sp>
        <p:nvSpPr>
          <p:cNvPr id="85" name="Text Placeholder 84">
            <a:extLst>
              <a:ext uri="{FF2B5EF4-FFF2-40B4-BE49-F238E27FC236}">
                <a16:creationId xmlns:a16="http://schemas.microsoft.com/office/drawing/2014/main" id="{E916D823-6DA6-CCA0-3548-E5E7DD092567}"/>
              </a:ext>
            </a:extLst>
          </p:cNvPr>
          <p:cNvSpPr>
            <a:spLocks noGrp="1"/>
          </p:cNvSpPr>
          <p:nvPr>
            <p:ph type="body" sz="quarter" idx="29"/>
          </p:nvPr>
        </p:nvSpPr>
        <p:spPr>
          <a:xfrm>
            <a:off x="584200" y="4584616"/>
            <a:ext cx="2808000" cy="626701"/>
          </a:xfrm>
        </p:spPr>
        <p:txBody>
          <a:bodyPr>
            <a:normAutofit/>
          </a:bodyPr>
          <a:lstStyle/>
          <a:p>
            <a:r>
              <a:rPr lang="en-US" noProof="0" dirty="0"/>
              <a:t>Shali uses Copilot in Outlook to summarize new emails and draft the project status update emails to the stakeholders.</a:t>
            </a:r>
          </a:p>
          <a:p>
            <a:endParaRPr lang="en-US" noProof="0" dirty="0"/>
          </a:p>
        </p:txBody>
      </p:sp>
      <p:sp>
        <p:nvSpPr>
          <p:cNvPr id="131" name="Text Placeholder 130">
            <a:extLst>
              <a:ext uri="{FF2B5EF4-FFF2-40B4-BE49-F238E27FC236}">
                <a16:creationId xmlns:a16="http://schemas.microsoft.com/office/drawing/2014/main" id="{D968C369-6A74-55B9-F4D4-C903B7E6F938}"/>
              </a:ext>
            </a:extLst>
          </p:cNvPr>
          <p:cNvSpPr>
            <a:spLocks noGrp="1"/>
          </p:cNvSpPr>
          <p:nvPr>
            <p:ph type="body" sz="quarter" idx="30"/>
          </p:nvPr>
        </p:nvSpPr>
        <p:spPr>
          <a:xfrm>
            <a:off x="584200" y="5681038"/>
            <a:ext cx="2808000" cy="626701"/>
          </a:xfrm>
        </p:spPr>
        <p:txBody>
          <a:bodyPr>
            <a:normAutofit/>
          </a:bodyPr>
          <a:lstStyle/>
          <a:p>
            <a:r>
              <a:rPr lang="en-US" noProof="0" dirty="0"/>
              <a:t>Example prompt: </a:t>
            </a:r>
            <a:r>
              <a:rPr lang="en-US" dirty="0">
                <a:latin typeface="+mj-lt"/>
              </a:rPr>
              <a:t>Summarize the email </a:t>
            </a:r>
            <a:r>
              <a:rPr lang="en-US" noProof="0" dirty="0"/>
              <a:t>and reply to confirm action items. Coaching with Copilot.</a:t>
            </a:r>
          </a:p>
        </p:txBody>
      </p:sp>
      <p:sp>
        <p:nvSpPr>
          <p:cNvPr id="56" name="TextBox 55">
            <a:extLst>
              <a:ext uri="{FF2B5EF4-FFF2-40B4-BE49-F238E27FC236}">
                <a16:creationId xmlns:a16="http://schemas.microsoft.com/office/drawing/2014/main" id="{37214391-A987-6AB8-2A0D-A379E348139E}"/>
              </a:ext>
            </a:extLst>
          </p:cNvPr>
          <p:cNvSpPr txBox="1">
            <a:spLocks/>
          </p:cNvSpPr>
          <p:nvPr/>
        </p:nvSpPr>
        <p:spPr>
          <a:xfrm>
            <a:off x="10123962" y="1684338"/>
            <a:ext cx="1905067" cy="861774"/>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C03BC4"/>
                </a:solidFill>
                <a:effectLst/>
                <a:uLnTx/>
                <a:uFillTx/>
                <a:latin typeface="Segoe UI Semibold"/>
                <a:ea typeface="+mn-ea"/>
                <a:cs typeface="+mn-cs"/>
              </a:rPr>
              <a:t>Shali</a:t>
            </a:r>
            <a:br>
              <a:rPr kumimoji="0" lang="en-US" sz="2400" b="0" i="0" u="none" strike="noStrike" kern="1200" cap="none" spc="0" normalizeH="0" baseline="0" noProof="0" dirty="0">
                <a:ln>
                  <a:noFill/>
                </a:ln>
                <a:solidFill>
                  <a:srgbClr val="C03BC4"/>
                </a:solidFill>
                <a:effectLst/>
                <a:uLnTx/>
                <a:uFillTx/>
                <a:latin typeface="Segoe UI Semibold"/>
                <a:ea typeface="+mn-ea"/>
                <a:cs typeface="+mn-cs"/>
              </a:rPr>
            </a:br>
            <a:r>
              <a:rPr kumimoji="0" lang="en-US" sz="1600" b="0" i="0" u="none" strike="noStrike" kern="1200" cap="none" spc="0" normalizeH="0" baseline="0" noProof="0" dirty="0">
                <a:ln>
                  <a:noFill/>
                </a:ln>
                <a:solidFill>
                  <a:srgbClr val="C03BC4"/>
                </a:solidFill>
                <a:effectLst/>
                <a:uLnTx/>
                <a:uFillTx/>
                <a:latin typeface="Segoe UI" panose="020B0502040204020203" pitchFamily="34" charset="0"/>
                <a:ea typeface="+mn-ea"/>
                <a:cs typeface="Segoe UI" panose="020B0502040204020203" pitchFamily="34" charset="0"/>
              </a:rPr>
              <a:t>is an ARC Data Solution Manager.</a:t>
            </a:r>
          </a:p>
        </p:txBody>
      </p:sp>
      <p:pic>
        <p:nvPicPr>
          <p:cNvPr id="145" name="Picture 144">
            <a:extLst>
              <a:ext uri="{FF2B5EF4-FFF2-40B4-BE49-F238E27FC236}">
                <a16:creationId xmlns:a16="http://schemas.microsoft.com/office/drawing/2014/main" id="{875C28FC-02CA-E72F-6FA8-28824B727D49}"/>
              </a:ext>
              <a:ext uri="{C183D7F6-B498-43B3-948B-1728B52AA6E4}">
                <adec:decorative xmlns:adec="http://schemas.microsoft.com/office/drawing/2017/decorative" val="1"/>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t="9952" b="9952"/>
          <a:stretch/>
        </p:blipFill>
        <p:spPr>
          <a:xfrm>
            <a:off x="9990599" y="3226682"/>
            <a:ext cx="2201402" cy="3631318"/>
          </a:xfrm>
          <a:prstGeom prst="rect">
            <a:avLst/>
          </a:prstGeom>
        </p:spPr>
      </p:pic>
      <p:sp>
        <p:nvSpPr>
          <p:cNvPr id="20" name="Rectangle: Rounded Corners 6">
            <a:extLst>
              <a:ext uri="{FF2B5EF4-FFF2-40B4-BE49-F238E27FC236}">
                <a16:creationId xmlns:a16="http://schemas.microsoft.com/office/drawing/2014/main" id="{328C0040-E472-2D53-5CF2-27927529517F}"/>
              </a:ext>
              <a:ext uri="{C183D7F6-B498-43B3-948B-1728B52AA6E4}">
                <adec:decorative xmlns:adec="http://schemas.microsoft.com/office/drawing/2017/decorative" val="1"/>
              </a:ext>
            </a:extLst>
          </p:cNvPr>
          <p:cNvSpPr/>
          <p:nvPr/>
        </p:nvSpPr>
        <p:spPr bwMode="auto">
          <a:xfrm>
            <a:off x="576356" y="1134767"/>
            <a:ext cx="659514" cy="216000"/>
          </a:xfrm>
          <a:prstGeom prst="roundRect">
            <a:avLst>
              <a:gd name="adj" fmla="val 50000"/>
            </a:avLst>
          </a:prstGeom>
          <a:solidFill>
            <a:srgbClr val="FFA38B"/>
          </a:solidFill>
          <a:ln w="12700">
            <a:solidFill>
              <a:srgbClr val="FFA38B"/>
            </a:solidFill>
            <a:headEnd type="none" w="med" len="med"/>
            <a:tailEnd type="none" w="med" len="med"/>
          </a:ln>
          <a:effectLst>
            <a:outerShdw blurRad="63500" dist="63500" dir="2700000"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8288" rIns="0" bIns="36000" numCol="1" spcCol="0" rtlCol="0" fromWordArt="0" anchor="ctr" anchorCtr="0" forceAA="0" compatLnSpc="1">
            <a:prstTxWarp prst="textNoShape">
              <a:avLst/>
            </a:prstTxWarp>
            <a:noAutofit/>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Segoe UI Semibold" panose="020B0702040204020203" pitchFamily="34" charset="0"/>
                <a:ea typeface="+mn-ea"/>
                <a:cs typeface="Segoe UI Semibold" panose="020B0702040204020203" pitchFamily="34" charset="0"/>
              </a:rPr>
              <a:t>Benefits</a:t>
            </a:r>
          </a:p>
        </p:txBody>
      </p:sp>
      <p:grpSp>
        <p:nvGrpSpPr>
          <p:cNvPr id="21" name="Group 20">
            <a:extLst>
              <a:ext uri="{FF2B5EF4-FFF2-40B4-BE49-F238E27FC236}">
                <a16:creationId xmlns:a16="http://schemas.microsoft.com/office/drawing/2014/main" id="{514911C9-2473-A21A-730E-5A524C5D6B35}"/>
              </a:ext>
            </a:extLst>
          </p:cNvPr>
          <p:cNvGrpSpPr/>
          <p:nvPr/>
        </p:nvGrpSpPr>
        <p:grpSpPr>
          <a:xfrm>
            <a:off x="1286540" y="1134767"/>
            <a:ext cx="1571031" cy="216000"/>
            <a:chOff x="1372194" y="969899"/>
            <a:chExt cx="1571031" cy="216000"/>
          </a:xfrm>
        </p:grpSpPr>
        <p:sp>
          <p:nvSpPr>
            <p:cNvPr id="22" name="Rectangle: Rounded Corners 6">
              <a:extLst>
                <a:ext uri="{FF2B5EF4-FFF2-40B4-BE49-F238E27FC236}">
                  <a16:creationId xmlns:a16="http://schemas.microsoft.com/office/drawing/2014/main" id="{021D53ED-91E6-B724-28F9-22E7942F7ECE}"/>
                </a:ext>
                <a:ext uri="{C183D7F6-B498-43B3-948B-1728B52AA6E4}">
                  <adec:decorative xmlns:adec="http://schemas.microsoft.com/office/drawing/2017/decorative" val="1"/>
                </a:ext>
              </a:extLst>
            </p:cNvPr>
            <p:cNvSpPr/>
            <p:nvPr/>
          </p:nvSpPr>
          <p:spPr bwMode="auto">
            <a:xfrm>
              <a:off x="1372194" y="969899"/>
              <a:ext cx="1571031" cy="216000"/>
            </a:xfrm>
            <a:prstGeom prst="roundRect">
              <a:avLst>
                <a:gd name="adj" fmla="val 50000"/>
              </a:avLst>
            </a:prstGeom>
            <a:solidFill>
              <a:srgbClr val="FFFFFF"/>
            </a:solidFill>
            <a:ln w="12700">
              <a:solidFill>
                <a:srgbClr val="FFA38B"/>
              </a:solidFill>
              <a:headEnd type="none" w="med" len="med"/>
              <a:tailEnd type="none" w="med" len="med"/>
            </a:ln>
            <a:effectLst>
              <a:outerShdw blurRad="63500" dist="63500" dir="2700000"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16000" tIns="18288" rIns="36000" bIns="36000" numCol="1" spcCol="0" rtlCol="0" fromWordArt="0" anchor="ctr" anchorCtr="0" forceAA="0" compatLnSpc="1">
              <a:prstTxWarp prst="textNoShape">
                <a:avLst/>
              </a:prstTxWarp>
              <a:noAutofit/>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73391D"/>
                  </a:solidFill>
                  <a:effectLst/>
                  <a:uLnTx/>
                  <a:uFillTx/>
                  <a:latin typeface="Segoe UI Semibold" panose="020B0702040204020203" pitchFamily="34" charset="0"/>
                  <a:ea typeface="+mn-ea"/>
                  <a:cs typeface="Segoe UI Semibold" panose="020B0702040204020203" pitchFamily="34" charset="0"/>
                </a:rPr>
                <a:t>~1 hour per week</a:t>
              </a:r>
            </a:p>
          </p:txBody>
        </p:sp>
        <p:pic>
          <p:nvPicPr>
            <p:cNvPr id="24" name="Graphic 23">
              <a:extLst>
                <a:ext uri="{FF2B5EF4-FFF2-40B4-BE49-F238E27FC236}">
                  <a16:creationId xmlns:a16="http://schemas.microsoft.com/office/drawing/2014/main" id="{261B4185-23F9-3F47-5D11-62ABDDE23473}"/>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421924" y="1005899"/>
              <a:ext cx="144000" cy="144000"/>
            </a:xfrm>
            <a:prstGeom prst="rect">
              <a:avLst/>
            </a:prstGeom>
          </p:spPr>
        </p:pic>
      </p:grpSp>
      <p:grpSp>
        <p:nvGrpSpPr>
          <p:cNvPr id="25" name="Group 24">
            <a:extLst>
              <a:ext uri="{FF2B5EF4-FFF2-40B4-BE49-F238E27FC236}">
                <a16:creationId xmlns:a16="http://schemas.microsoft.com/office/drawing/2014/main" id="{8D0DC17B-8868-2439-9948-37D5DEF8244E}"/>
              </a:ext>
            </a:extLst>
          </p:cNvPr>
          <p:cNvGrpSpPr/>
          <p:nvPr/>
        </p:nvGrpSpPr>
        <p:grpSpPr>
          <a:xfrm>
            <a:off x="5754503" y="1134767"/>
            <a:ext cx="2325078" cy="216000"/>
            <a:chOff x="6235579" y="969899"/>
            <a:chExt cx="2325078" cy="216000"/>
          </a:xfrm>
        </p:grpSpPr>
        <p:sp>
          <p:nvSpPr>
            <p:cNvPr id="26" name="Rectangle: Rounded Corners 6">
              <a:extLst>
                <a:ext uri="{FF2B5EF4-FFF2-40B4-BE49-F238E27FC236}">
                  <a16:creationId xmlns:a16="http://schemas.microsoft.com/office/drawing/2014/main" id="{4AA24027-A7A7-40E8-8305-40190B046CFA}"/>
                </a:ext>
                <a:ext uri="{C183D7F6-B498-43B3-948B-1728B52AA6E4}">
                  <adec:decorative xmlns:adec="http://schemas.microsoft.com/office/drawing/2017/decorative" val="1"/>
                </a:ext>
              </a:extLst>
            </p:cNvPr>
            <p:cNvSpPr/>
            <p:nvPr/>
          </p:nvSpPr>
          <p:spPr bwMode="auto">
            <a:xfrm>
              <a:off x="6235579" y="969899"/>
              <a:ext cx="2325078" cy="216000"/>
            </a:xfrm>
            <a:prstGeom prst="roundRect">
              <a:avLst>
                <a:gd name="adj" fmla="val 50000"/>
              </a:avLst>
            </a:prstGeom>
            <a:solidFill>
              <a:srgbClr val="FFFFFF"/>
            </a:solidFill>
            <a:ln w="12700">
              <a:solidFill>
                <a:srgbClr val="FFA38B"/>
              </a:solidFill>
              <a:headEnd type="none" w="med" len="med"/>
              <a:tailEnd type="none" w="med" len="med"/>
            </a:ln>
            <a:effectLst>
              <a:outerShdw blurRad="63500" dist="63500" dir="2700000"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16000" tIns="18288" rIns="36000" bIns="36000" numCol="1" spcCol="0" rtlCol="0" fromWordArt="0" anchor="ctr" anchorCtr="0" forceAA="0" compatLnSpc="1">
              <a:prstTxWarp prst="textNoShape">
                <a:avLst/>
              </a:prstTxWarp>
              <a:noAutofit/>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73391D"/>
                  </a:solidFill>
                  <a:effectLst/>
                  <a:uLnTx/>
                  <a:uFillTx/>
                  <a:latin typeface="Segoe UI Semibold" panose="020B0702040204020203" pitchFamily="34" charset="0"/>
                  <a:ea typeface="+mn-ea"/>
                  <a:cs typeface="Segoe UI Semibold" panose="020B0702040204020203" pitchFamily="34" charset="0"/>
                </a:rPr>
                <a:t>Conducting more audits</a:t>
              </a:r>
            </a:p>
          </p:txBody>
        </p:sp>
        <p:pic>
          <p:nvPicPr>
            <p:cNvPr id="27" name="Graphic 26">
              <a:extLst>
                <a:ext uri="{FF2B5EF4-FFF2-40B4-BE49-F238E27FC236}">
                  <a16:creationId xmlns:a16="http://schemas.microsoft.com/office/drawing/2014/main" id="{A39DB8E2-D1C1-FF3D-474F-00620BA3DD62}"/>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6282712" y="1005899"/>
              <a:ext cx="144000" cy="144000"/>
            </a:xfrm>
            <a:prstGeom prst="rect">
              <a:avLst/>
            </a:prstGeom>
          </p:spPr>
        </p:pic>
      </p:grpSp>
      <p:grpSp>
        <p:nvGrpSpPr>
          <p:cNvPr id="28" name="Group 27">
            <a:extLst>
              <a:ext uri="{FF2B5EF4-FFF2-40B4-BE49-F238E27FC236}">
                <a16:creationId xmlns:a16="http://schemas.microsoft.com/office/drawing/2014/main" id="{B996E8A8-FB12-A4A5-5AC3-FC0B830624BD}"/>
              </a:ext>
            </a:extLst>
          </p:cNvPr>
          <p:cNvGrpSpPr/>
          <p:nvPr/>
        </p:nvGrpSpPr>
        <p:grpSpPr>
          <a:xfrm>
            <a:off x="2908241" y="1134767"/>
            <a:ext cx="2795593" cy="216000"/>
            <a:chOff x="3133720" y="969899"/>
            <a:chExt cx="2795593" cy="216000"/>
          </a:xfrm>
        </p:grpSpPr>
        <p:sp>
          <p:nvSpPr>
            <p:cNvPr id="29" name="Rectangle: Rounded Corners 6">
              <a:extLst>
                <a:ext uri="{FF2B5EF4-FFF2-40B4-BE49-F238E27FC236}">
                  <a16:creationId xmlns:a16="http://schemas.microsoft.com/office/drawing/2014/main" id="{FCAE86DE-A279-570D-E10E-83901DC33006}"/>
                </a:ext>
                <a:ext uri="{C183D7F6-B498-43B3-948B-1728B52AA6E4}">
                  <adec:decorative xmlns:adec="http://schemas.microsoft.com/office/drawing/2017/decorative" val="1"/>
                </a:ext>
              </a:extLst>
            </p:cNvPr>
            <p:cNvSpPr/>
            <p:nvPr/>
          </p:nvSpPr>
          <p:spPr bwMode="auto">
            <a:xfrm>
              <a:off x="3133720" y="969899"/>
              <a:ext cx="2795593" cy="216000"/>
            </a:xfrm>
            <a:prstGeom prst="roundRect">
              <a:avLst>
                <a:gd name="adj" fmla="val 50000"/>
              </a:avLst>
            </a:prstGeom>
            <a:solidFill>
              <a:srgbClr val="FFFFFF"/>
            </a:solidFill>
            <a:ln w="12700">
              <a:solidFill>
                <a:srgbClr val="FFA38B"/>
              </a:solidFill>
              <a:headEnd type="none" w="med" len="med"/>
              <a:tailEnd type="none" w="med" len="med"/>
            </a:ln>
            <a:effectLst>
              <a:outerShdw blurRad="63500" dist="63500" dir="2700000"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16000" tIns="18288" rIns="36000" bIns="36000" numCol="1" spcCol="0" rtlCol="0" fromWordArt="0" anchor="ctr" anchorCtr="0" forceAA="0" compatLnSpc="1">
              <a:prstTxWarp prst="textNoShape">
                <a:avLst/>
              </a:prstTxWarp>
              <a:noAutofit/>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73391D"/>
                  </a:solidFill>
                  <a:effectLst/>
                  <a:uLnTx/>
                  <a:uFillTx/>
                  <a:latin typeface="Segoe UI Semibold" panose="020B0702040204020203" pitchFamily="34" charset="0"/>
                  <a:ea typeface="+mn-ea"/>
                  <a:cs typeface="Segoe UI Semibold" panose="020B0702040204020203" pitchFamily="34" charset="0"/>
                </a:rPr>
                <a:t>Areas of investment: Automation</a:t>
              </a:r>
            </a:p>
          </p:txBody>
        </p:sp>
        <p:pic>
          <p:nvPicPr>
            <p:cNvPr id="30" name="Graphic 29">
              <a:extLst>
                <a:ext uri="{FF2B5EF4-FFF2-40B4-BE49-F238E27FC236}">
                  <a16:creationId xmlns:a16="http://schemas.microsoft.com/office/drawing/2014/main" id="{AA9D093C-A6CE-41DC-0EB0-59A079E491C2}"/>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3193555" y="1005899"/>
              <a:ext cx="144000" cy="144000"/>
            </a:xfrm>
            <a:prstGeom prst="rect">
              <a:avLst/>
            </a:prstGeom>
          </p:spPr>
        </p:pic>
      </p:grpSp>
      <p:grpSp>
        <p:nvGrpSpPr>
          <p:cNvPr id="35" name="Group 34">
            <a:extLst>
              <a:ext uri="{FF2B5EF4-FFF2-40B4-BE49-F238E27FC236}">
                <a16:creationId xmlns:a16="http://schemas.microsoft.com/office/drawing/2014/main" id="{E100F9F7-A30A-26C7-600C-8981E69C0C00}"/>
              </a:ext>
            </a:extLst>
          </p:cNvPr>
          <p:cNvGrpSpPr/>
          <p:nvPr/>
        </p:nvGrpSpPr>
        <p:grpSpPr>
          <a:xfrm>
            <a:off x="584200" y="2850538"/>
            <a:ext cx="2351135" cy="360000"/>
            <a:chOff x="588263" y="1217924"/>
            <a:chExt cx="2351135" cy="360000"/>
          </a:xfrm>
        </p:grpSpPr>
        <p:pic>
          <p:nvPicPr>
            <p:cNvPr id="36" name="Picture 35" descr="Zip Co logo SVG free download, id: 101874 - Brandlogos.net">
              <a:hlinkClick r:id="rId6"/>
              <a:extLst>
                <a:ext uri="{FF2B5EF4-FFF2-40B4-BE49-F238E27FC236}">
                  <a16:creationId xmlns:a16="http://schemas.microsoft.com/office/drawing/2014/main" id="{7AC5B0F9-F2CB-ABF1-C213-A3E767F95F3C}"/>
                </a:ext>
              </a:extLst>
            </p:cNvPr>
            <p:cNvPicPr>
              <a:picLocks noChangeAspect="1" noChangeArrowheads="1"/>
            </p:cNvPicPr>
            <p:nvPr/>
          </p:nvPicPr>
          <p:blipFill rotWithShape="1">
            <a:blip r:embed="rId7" cstate="screen">
              <a:extLst>
                <a:ext uri="{28A0092B-C50C-407E-A947-70E740481C1C}">
                  <a14:useLocalDpi xmlns:a14="http://schemas.microsoft.com/office/drawing/2010/main"/>
                </a:ext>
              </a:extLst>
            </a:blip>
            <a:srcRect l="-43278" t="-53646" r="-43278" b="-53646"/>
            <a:stretch/>
          </p:blipFill>
          <p:spPr bwMode="auto">
            <a:xfrm>
              <a:off x="588263" y="1217924"/>
              <a:ext cx="360000" cy="360000"/>
            </a:xfrm>
            <a:prstGeom prst="ellipse">
              <a:avLst/>
            </a:prstGeom>
            <a:solidFill>
              <a:srgbClr val="FFFFFF"/>
            </a:solidFill>
          </p:spPr>
        </p:pic>
        <p:sp>
          <p:nvSpPr>
            <p:cNvPr id="37" name="TextBox 36">
              <a:extLst>
                <a:ext uri="{FF2B5EF4-FFF2-40B4-BE49-F238E27FC236}">
                  <a16:creationId xmlns:a16="http://schemas.microsoft.com/office/drawing/2014/main" id="{43CA1B6A-A700-3CD4-7208-C43F354E4526}"/>
                </a:ext>
                <a:ext uri="{C183D7F6-B498-43B3-948B-1728B52AA6E4}">
                  <adec:decorative xmlns:adec="http://schemas.microsoft.com/office/drawing/2017/decorative" val="0"/>
                </a:ext>
              </a:extLst>
            </p:cNvPr>
            <p:cNvSpPr txBox="1"/>
            <p:nvPr/>
          </p:nvSpPr>
          <p:spPr>
            <a:xfrm>
              <a:off x="1047214" y="1320981"/>
              <a:ext cx="1892184" cy="1538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Semibold"/>
                  <a:ea typeface="+mn-ea"/>
                  <a:cs typeface="+mn-cs"/>
                </a:rPr>
                <a:t>Copilot Chat</a:t>
              </a:r>
              <a:r>
                <a:rPr kumimoji="0" lang="en-US" sz="1000" b="0" i="0" u="none" strike="noStrike" kern="0" cap="none" spc="0" normalizeH="0" baseline="30000" noProof="0" dirty="0">
                  <a:ln>
                    <a:noFill/>
                  </a:ln>
                  <a:solidFill>
                    <a:srgbClr val="000000"/>
                  </a:solidFill>
                  <a:effectLst/>
                  <a:uLnTx/>
                  <a:uFillTx/>
                  <a:latin typeface="Segoe UI Semibold"/>
                  <a:ea typeface="+mn-ea"/>
                  <a:cs typeface="Segoe UI" pitchFamily="34" charset="0"/>
                </a:rPr>
                <a:t>2</a:t>
              </a:r>
              <a:endParaRPr kumimoji="0" lang="en-US" sz="1000" b="0" i="0" u="none" strike="noStrike" kern="1200" cap="none" spc="0" normalizeH="0" baseline="0" noProof="0" dirty="0">
                <a:ln>
                  <a:noFill/>
                </a:ln>
                <a:solidFill>
                  <a:srgbClr val="000000"/>
                </a:solidFill>
                <a:effectLst/>
                <a:uLnTx/>
                <a:uFillTx/>
                <a:latin typeface="Segoe UI Semibold"/>
                <a:ea typeface="+mn-ea"/>
                <a:cs typeface="+mn-cs"/>
              </a:endParaRPr>
            </a:p>
          </p:txBody>
        </p:sp>
      </p:grpSp>
      <p:sp>
        <p:nvSpPr>
          <p:cNvPr id="44" name="TextBox 89">
            <a:extLst>
              <a:ext uri="{FF2B5EF4-FFF2-40B4-BE49-F238E27FC236}">
                <a16:creationId xmlns:a16="http://schemas.microsoft.com/office/drawing/2014/main" id="{8043C257-23D3-7EDB-149C-DBAA1B829B98}"/>
              </a:ext>
              <a:ext uri="{C183D7F6-B498-43B3-948B-1728B52AA6E4}">
                <adec:decorative xmlns:adec="http://schemas.microsoft.com/office/drawing/2017/decorative" val="0"/>
              </a:ext>
            </a:extLst>
          </p:cNvPr>
          <p:cNvSpPr txBox="1"/>
          <p:nvPr/>
        </p:nvSpPr>
        <p:spPr>
          <a:xfrm>
            <a:off x="1043151" y="5369769"/>
            <a:ext cx="1892184" cy="153888"/>
          </a:xfrm>
          <a:prstGeom prst="rect">
            <a:avLst/>
          </a:prstGeom>
          <a:noFill/>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Segoe UI Semibold"/>
                <a:ea typeface="+mn-ea"/>
                <a:cs typeface="+mn-cs"/>
              </a:rPr>
              <a:t>Copilot in Outlook</a:t>
            </a:r>
            <a:endParaRPr kumimoji="0" lang="en-US" sz="1000" b="0" i="0" u="none" strike="noStrike" kern="1200" cap="none" spc="0" normalizeH="0" baseline="30000" noProof="0" dirty="0">
              <a:ln>
                <a:noFill/>
              </a:ln>
              <a:solidFill>
                <a:prstClr val="black"/>
              </a:solidFill>
              <a:effectLst/>
              <a:uLnTx/>
              <a:uFillTx/>
              <a:latin typeface="Segoe UI Semibold"/>
              <a:ea typeface="+mn-ea"/>
              <a:cs typeface="+mn-cs"/>
            </a:endParaRPr>
          </a:p>
        </p:txBody>
      </p:sp>
      <p:grpSp>
        <p:nvGrpSpPr>
          <p:cNvPr id="50" name="Group 49">
            <a:extLst>
              <a:ext uri="{FF2B5EF4-FFF2-40B4-BE49-F238E27FC236}">
                <a16:creationId xmlns:a16="http://schemas.microsoft.com/office/drawing/2014/main" id="{74BF6D89-8BAB-85BF-B0AD-2EDC7A3056B4}"/>
              </a:ext>
            </a:extLst>
          </p:cNvPr>
          <p:cNvGrpSpPr/>
          <p:nvPr/>
        </p:nvGrpSpPr>
        <p:grpSpPr>
          <a:xfrm>
            <a:off x="3776663" y="5266713"/>
            <a:ext cx="2255978" cy="360000"/>
            <a:chOff x="6969125" y="5266713"/>
            <a:chExt cx="2255978" cy="360000"/>
          </a:xfrm>
        </p:grpSpPr>
        <p:sp>
          <p:nvSpPr>
            <p:cNvPr id="51" name="TextBox 50">
              <a:extLst>
                <a:ext uri="{FF2B5EF4-FFF2-40B4-BE49-F238E27FC236}">
                  <a16:creationId xmlns:a16="http://schemas.microsoft.com/office/drawing/2014/main" id="{5B01122B-545E-4D5E-5200-B05DCE772463}"/>
                </a:ext>
                <a:ext uri="{C183D7F6-B498-43B3-948B-1728B52AA6E4}">
                  <adec:decorative xmlns:adec="http://schemas.microsoft.com/office/drawing/2017/decorative" val="0"/>
                </a:ext>
              </a:extLst>
            </p:cNvPr>
            <p:cNvSpPr txBox="1"/>
            <p:nvPr/>
          </p:nvSpPr>
          <p:spPr>
            <a:xfrm>
              <a:off x="7428311" y="5369768"/>
              <a:ext cx="1796792" cy="1538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Segoe UI Semibold"/>
                  <a:ea typeface="+mn-ea"/>
                  <a:cs typeface="+mn-cs"/>
                </a:rPr>
                <a:t>Copilot in Power Apps</a:t>
              </a:r>
              <a:endParaRPr kumimoji="0" lang="en-US" sz="1000" b="0" i="0" u="none" strike="noStrike" kern="1200" cap="none" spc="0" normalizeH="0" baseline="30000" noProof="0" dirty="0">
                <a:ln>
                  <a:noFill/>
                </a:ln>
                <a:solidFill>
                  <a:prstClr val="black"/>
                </a:solidFill>
                <a:effectLst/>
                <a:uLnTx/>
                <a:uFillTx/>
                <a:latin typeface="Segoe UI Semibold"/>
                <a:ea typeface="+mn-ea"/>
                <a:cs typeface="+mn-cs"/>
              </a:endParaRPr>
            </a:p>
          </p:txBody>
        </p:sp>
        <p:pic>
          <p:nvPicPr>
            <p:cNvPr id="52" name="Picture 51">
              <a:extLst>
                <a:ext uri="{FF2B5EF4-FFF2-40B4-BE49-F238E27FC236}">
                  <a16:creationId xmlns:a16="http://schemas.microsoft.com/office/drawing/2014/main" id="{A3F0B5FD-1759-E963-1AA5-C6B53C84966A}"/>
                </a:ext>
              </a:extLst>
            </p:cNvPr>
            <p:cNvPicPr>
              <a:picLocks/>
            </p:cNvPicPr>
            <p:nvPr/>
          </p:nvPicPr>
          <p:blipFill>
            <a:blip r:embed="rId8" cstate="screen">
              <a:extLst>
                <a:ext uri="{28A0092B-C50C-407E-A947-70E740481C1C}">
                  <a14:useLocalDpi xmlns:a14="http://schemas.microsoft.com/office/drawing/2010/main"/>
                </a:ext>
              </a:extLst>
            </a:blip>
            <a:stretch>
              <a:fillRect/>
            </a:stretch>
          </p:blipFill>
          <p:spPr>
            <a:xfrm>
              <a:off x="6969125" y="5266713"/>
              <a:ext cx="360000" cy="360000"/>
            </a:xfrm>
            <a:prstGeom prst="ellipse">
              <a:avLst/>
            </a:prstGeom>
            <a:solidFill>
              <a:schemeClr val="bg1"/>
            </a:solidFill>
          </p:spPr>
        </p:pic>
      </p:grpSp>
      <p:grpSp>
        <p:nvGrpSpPr>
          <p:cNvPr id="61" name="Group 60">
            <a:extLst>
              <a:ext uri="{FF2B5EF4-FFF2-40B4-BE49-F238E27FC236}">
                <a16:creationId xmlns:a16="http://schemas.microsoft.com/office/drawing/2014/main" id="{9B698D66-0D9F-BA2A-FEA5-8DABDE0081F6}"/>
              </a:ext>
            </a:extLst>
          </p:cNvPr>
          <p:cNvGrpSpPr/>
          <p:nvPr/>
        </p:nvGrpSpPr>
        <p:grpSpPr>
          <a:xfrm>
            <a:off x="6969125" y="5266713"/>
            <a:ext cx="2255978" cy="360000"/>
            <a:chOff x="6969125" y="5266713"/>
            <a:chExt cx="2255978" cy="360000"/>
          </a:xfrm>
        </p:grpSpPr>
        <p:sp>
          <p:nvSpPr>
            <p:cNvPr id="55" name="TextBox 54">
              <a:extLst>
                <a:ext uri="{FF2B5EF4-FFF2-40B4-BE49-F238E27FC236}">
                  <a16:creationId xmlns:a16="http://schemas.microsoft.com/office/drawing/2014/main" id="{B4087E87-C4D0-4C71-471A-468CB04ED70F}"/>
                </a:ext>
                <a:ext uri="{C183D7F6-B498-43B3-948B-1728B52AA6E4}">
                  <adec:decorative xmlns:adec="http://schemas.microsoft.com/office/drawing/2017/decorative" val="0"/>
                </a:ext>
              </a:extLst>
            </p:cNvPr>
            <p:cNvSpPr txBox="1"/>
            <p:nvPr/>
          </p:nvSpPr>
          <p:spPr>
            <a:xfrm>
              <a:off x="7428311" y="5369768"/>
              <a:ext cx="1796792" cy="1538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Segoe UI Semibold"/>
                  <a:ea typeface="+mn-ea"/>
                  <a:cs typeface="+mn-cs"/>
                </a:rPr>
                <a:t>Copilot in Power Automate</a:t>
              </a:r>
              <a:endParaRPr kumimoji="0" lang="en-US" sz="1000" b="0" i="0" u="none" strike="noStrike" kern="1200" cap="none" spc="0" normalizeH="0" baseline="30000" noProof="0" dirty="0">
                <a:ln>
                  <a:noFill/>
                </a:ln>
                <a:solidFill>
                  <a:prstClr val="black"/>
                </a:solidFill>
                <a:effectLst/>
                <a:uLnTx/>
                <a:uFillTx/>
                <a:latin typeface="Segoe UI Semibold"/>
                <a:ea typeface="+mn-ea"/>
                <a:cs typeface="+mn-cs"/>
              </a:endParaRPr>
            </a:p>
          </p:txBody>
        </p:sp>
        <p:pic>
          <p:nvPicPr>
            <p:cNvPr id="60" name="Picture 59">
              <a:extLst>
                <a:ext uri="{FF2B5EF4-FFF2-40B4-BE49-F238E27FC236}">
                  <a16:creationId xmlns:a16="http://schemas.microsoft.com/office/drawing/2014/main" id="{FE037734-4F1A-EB3D-6CF9-E7F23BE57FD8}"/>
                </a:ext>
              </a:extLst>
            </p:cNvPr>
            <p:cNvPicPr>
              <a:picLocks/>
            </p:cNvPicPr>
            <p:nvPr/>
          </p:nvPicPr>
          <p:blipFill>
            <a:blip r:embed="rId9" cstate="screen">
              <a:extLst>
                <a:ext uri="{28A0092B-C50C-407E-A947-70E740481C1C}">
                  <a14:useLocalDpi xmlns:a14="http://schemas.microsoft.com/office/drawing/2010/main"/>
                </a:ext>
              </a:extLst>
            </a:blip>
            <a:stretch>
              <a:fillRect/>
            </a:stretch>
          </p:blipFill>
          <p:spPr>
            <a:xfrm>
              <a:off x="6969125" y="5266713"/>
              <a:ext cx="360000" cy="360000"/>
            </a:xfrm>
            <a:prstGeom prst="ellipse">
              <a:avLst/>
            </a:prstGeom>
            <a:solidFill>
              <a:schemeClr val="bg1"/>
            </a:solidFill>
          </p:spPr>
        </p:pic>
      </p:grpSp>
      <p:sp>
        <p:nvSpPr>
          <p:cNvPr id="64" name="TextBox 63">
            <a:extLst>
              <a:ext uri="{FF2B5EF4-FFF2-40B4-BE49-F238E27FC236}">
                <a16:creationId xmlns:a16="http://schemas.microsoft.com/office/drawing/2014/main" id="{D7D5637F-ADA8-2E09-4E36-1689E30C57EB}"/>
              </a:ext>
              <a:ext uri="{C183D7F6-B498-43B3-948B-1728B52AA6E4}">
                <adec:decorative xmlns:adec="http://schemas.microsoft.com/office/drawing/2017/decorative" val="0"/>
              </a:ext>
            </a:extLst>
          </p:cNvPr>
          <p:cNvSpPr txBox="1"/>
          <p:nvPr/>
        </p:nvSpPr>
        <p:spPr>
          <a:xfrm>
            <a:off x="4235614" y="2953593"/>
            <a:ext cx="1892184" cy="1538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Segoe UI Semibold"/>
                <a:ea typeface="+mn-ea"/>
                <a:cs typeface="+mn-cs"/>
              </a:rPr>
              <a:t>Copilot in Word</a:t>
            </a:r>
            <a:endParaRPr kumimoji="0" lang="en-US" sz="1000" b="0" i="0" u="none" strike="noStrike" kern="1200" cap="none" spc="0" normalizeH="0" baseline="30000" noProof="0" dirty="0">
              <a:ln>
                <a:noFill/>
              </a:ln>
              <a:solidFill>
                <a:prstClr val="black"/>
              </a:solidFill>
              <a:effectLst/>
              <a:uLnTx/>
              <a:uFillTx/>
              <a:latin typeface="Segoe UI Semibold"/>
              <a:ea typeface="+mn-ea"/>
              <a:cs typeface="+mn-cs"/>
            </a:endParaRPr>
          </a:p>
        </p:txBody>
      </p:sp>
      <p:grpSp>
        <p:nvGrpSpPr>
          <p:cNvPr id="68" name="Group 67">
            <a:extLst>
              <a:ext uri="{FF2B5EF4-FFF2-40B4-BE49-F238E27FC236}">
                <a16:creationId xmlns:a16="http://schemas.microsoft.com/office/drawing/2014/main" id="{BC10F592-891C-111A-3398-6ADEF2575260}"/>
              </a:ext>
            </a:extLst>
          </p:cNvPr>
          <p:cNvGrpSpPr/>
          <p:nvPr/>
        </p:nvGrpSpPr>
        <p:grpSpPr>
          <a:xfrm>
            <a:off x="6969125" y="2850537"/>
            <a:ext cx="2351135" cy="360000"/>
            <a:chOff x="6969125" y="2850537"/>
            <a:chExt cx="2351135" cy="360000"/>
          </a:xfrm>
        </p:grpSpPr>
        <p:pic>
          <p:nvPicPr>
            <p:cNvPr id="180" name="Picture 179">
              <a:extLst>
                <a:ext uri="{FF2B5EF4-FFF2-40B4-BE49-F238E27FC236}">
                  <a16:creationId xmlns:a16="http://schemas.microsoft.com/office/drawing/2014/main" id="{0C5DFDE3-0DD3-2E31-A241-2017C2DA7983}"/>
                </a:ext>
              </a:extLst>
            </p:cNvPr>
            <p:cNvPicPr>
              <a:picLocks/>
            </p:cNvPicPr>
            <p:nvPr/>
          </p:nvPicPr>
          <p:blipFill>
            <a:blip r:embed="rId10" cstate="screen">
              <a:extLst>
                <a:ext uri="{28A0092B-C50C-407E-A947-70E740481C1C}">
                  <a14:useLocalDpi xmlns:a14="http://schemas.microsoft.com/office/drawing/2010/main"/>
                </a:ext>
              </a:extLst>
            </a:blip>
            <a:stretch>
              <a:fillRect/>
            </a:stretch>
          </p:blipFill>
          <p:spPr>
            <a:xfrm>
              <a:off x="6969125" y="2850537"/>
              <a:ext cx="360000" cy="360000"/>
            </a:xfrm>
            <a:prstGeom prst="ellipse">
              <a:avLst/>
            </a:prstGeom>
            <a:solidFill>
              <a:schemeClr val="bg1"/>
            </a:solidFill>
          </p:spPr>
        </p:pic>
        <p:sp>
          <p:nvSpPr>
            <p:cNvPr id="67" name="TextBox 66">
              <a:extLst>
                <a:ext uri="{FF2B5EF4-FFF2-40B4-BE49-F238E27FC236}">
                  <a16:creationId xmlns:a16="http://schemas.microsoft.com/office/drawing/2014/main" id="{7DDE7A61-98DA-0922-B78B-C576EA18962E}"/>
                </a:ext>
                <a:ext uri="{C183D7F6-B498-43B3-948B-1728B52AA6E4}">
                  <adec:decorative xmlns:adec="http://schemas.microsoft.com/office/drawing/2017/decorative" val="0"/>
                </a:ext>
              </a:extLst>
            </p:cNvPr>
            <p:cNvSpPr txBox="1"/>
            <p:nvPr/>
          </p:nvSpPr>
          <p:spPr>
            <a:xfrm>
              <a:off x="7428076" y="2953593"/>
              <a:ext cx="1892184" cy="1538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Segoe UI Semibold"/>
                  <a:ea typeface="+mn-ea"/>
                  <a:cs typeface="+mn-cs"/>
                </a:rPr>
                <a:t>Copilot in Power BI</a:t>
              </a:r>
            </a:p>
          </p:txBody>
        </p:sp>
      </p:grpSp>
      <p:pic>
        <p:nvPicPr>
          <p:cNvPr id="70" name="Graphic 69">
            <a:extLst>
              <a:ext uri="{FF2B5EF4-FFF2-40B4-BE49-F238E27FC236}">
                <a16:creationId xmlns:a16="http://schemas.microsoft.com/office/drawing/2014/main" id="{9BE83B93-564A-7C8F-F3C0-B64E820A3966}"/>
              </a:ext>
              <a:ext uri="{C183D7F6-B498-43B3-948B-1728B52AA6E4}">
                <adec:decorative xmlns:adec="http://schemas.microsoft.com/office/drawing/2017/decorative" val="1"/>
              </a:ext>
            </a:extLst>
          </p:cNvPr>
          <p:cNvPicPr>
            <a:picLocks noChangeAspect="1"/>
          </p:cNvPicPr>
          <p:nvPr/>
        </p:nvPicPr>
        <p:blipFill>
          <a:blip>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rot="10800000">
            <a:off x="10939101" y="2929728"/>
            <a:ext cx="274790" cy="274790"/>
          </a:xfrm>
          <a:prstGeom prst="rect">
            <a:avLst/>
          </a:prstGeom>
        </p:spPr>
      </p:pic>
      <p:pic>
        <p:nvPicPr>
          <p:cNvPr id="2" name="Picture 1" descr="Word logo">
            <a:extLst>
              <a:ext uri="{FF2B5EF4-FFF2-40B4-BE49-F238E27FC236}">
                <a16:creationId xmlns:a16="http://schemas.microsoft.com/office/drawing/2014/main" id="{91775EA4-0B79-49A3-2C97-CAB13C00621E}"/>
              </a:ext>
            </a:extLst>
          </p:cNvPr>
          <p:cNvPicPr>
            <a:picLocks noChangeAspect="1"/>
          </p:cNvPicPr>
          <p:nvPr/>
        </p:nvPicPr>
        <p:blipFill>
          <a:blip r:embed="rId12">
            <a:extLst>
              <a:ext uri="{28A0092B-C50C-407E-A947-70E740481C1C}">
                <a14:useLocalDpi xmlns:a14="http://schemas.microsoft.com/office/drawing/2010/main" val="0"/>
              </a:ext>
            </a:extLst>
          </a:blip>
          <a:srcRect/>
          <a:stretch/>
        </p:blipFill>
        <p:spPr>
          <a:xfrm>
            <a:off x="3776662" y="2906917"/>
            <a:ext cx="246576" cy="246576"/>
          </a:xfrm>
          <a:prstGeom prst="ellipse">
            <a:avLst/>
          </a:prstGeom>
          <a:solidFill>
            <a:srgbClr val="FFFFFF"/>
          </a:solidFill>
        </p:spPr>
      </p:pic>
      <p:pic>
        <p:nvPicPr>
          <p:cNvPr id="3" name="Picture 2" descr="Outlook logo">
            <a:extLst>
              <a:ext uri="{FF2B5EF4-FFF2-40B4-BE49-F238E27FC236}">
                <a16:creationId xmlns:a16="http://schemas.microsoft.com/office/drawing/2014/main" id="{79505E15-0545-B6AB-1ED9-0F9735CD7DB8}"/>
              </a:ext>
            </a:extLst>
          </p:cNvPr>
          <p:cNvPicPr>
            <a:picLocks noChangeAspect="1"/>
          </p:cNvPicPr>
          <p:nvPr/>
        </p:nvPicPr>
        <p:blipFill>
          <a:blip r:embed="rId13"/>
          <a:stretch>
            <a:fillRect/>
          </a:stretch>
        </p:blipFill>
        <p:spPr>
          <a:xfrm>
            <a:off x="631612" y="5314124"/>
            <a:ext cx="265176" cy="265176"/>
          </a:xfrm>
          <a:prstGeom prst="rect">
            <a:avLst/>
          </a:prstGeom>
        </p:spPr>
      </p:pic>
    </p:spTree>
    <p:extLst>
      <p:ext uri="{BB962C8B-B14F-4D97-AF65-F5344CB8AC3E}">
        <p14:creationId xmlns:p14="http://schemas.microsoft.com/office/powerpoint/2010/main" val="2987705142"/>
      </p:ext>
    </p:extLst>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Title 37">
            <a:extLst>
              <a:ext uri="{FF2B5EF4-FFF2-40B4-BE49-F238E27FC236}">
                <a16:creationId xmlns:a16="http://schemas.microsoft.com/office/drawing/2014/main" id="{23F16038-3ECA-5B93-BFF2-67AAFF1E240D}"/>
              </a:ext>
            </a:extLst>
          </p:cNvPr>
          <p:cNvSpPr>
            <a:spLocks noGrp="1"/>
          </p:cNvSpPr>
          <p:nvPr>
            <p:ph type="title"/>
          </p:nvPr>
        </p:nvSpPr>
        <p:spPr>
          <a:xfrm>
            <a:off x="584200" y="387766"/>
            <a:ext cx="5672544" cy="526298"/>
          </a:xfrm>
        </p:spPr>
        <p:txBody>
          <a:bodyPr/>
          <a:lstStyle/>
          <a:p>
            <a:r>
              <a:rPr lang="en-US" noProof="0" dirty="0"/>
              <a:t>A day in the life of a Vendor Engagement Manager</a:t>
            </a:r>
          </a:p>
        </p:txBody>
      </p:sp>
      <p:sp>
        <p:nvSpPr>
          <p:cNvPr id="19" name="Text Placeholder 18">
            <a:extLst>
              <a:ext uri="{FF2B5EF4-FFF2-40B4-BE49-F238E27FC236}">
                <a16:creationId xmlns:a16="http://schemas.microsoft.com/office/drawing/2014/main" id="{461D9FCF-505E-2AA1-77AC-321D0393494D}"/>
              </a:ext>
            </a:extLst>
          </p:cNvPr>
          <p:cNvSpPr>
            <a:spLocks noGrp="1"/>
          </p:cNvSpPr>
          <p:nvPr>
            <p:ph type="body" sz="quarter" idx="37"/>
          </p:nvPr>
        </p:nvSpPr>
        <p:spPr>
          <a:xfrm>
            <a:off x="10430234" y="521099"/>
            <a:ext cx="1456966" cy="175614"/>
          </a:xfrm>
          <a:ln>
            <a:solidFill>
              <a:schemeClr val="bg1"/>
            </a:solidFill>
          </a:ln>
        </p:spPr>
        <p:txBody>
          <a:bodyPr/>
          <a:lstStyle/>
          <a:p>
            <a:r>
              <a:rPr lang="en-US" noProof="0" dirty="0"/>
              <a:t>Buy</a:t>
            </a:r>
          </a:p>
        </p:txBody>
      </p:sp>
      <p:sp>
        <p:nvSpPr>
          <p:cNvPr id="125" name="Text Placeholder 124">
            <a:extLst>
              <a:ext uri="{FF2B5EF4-FFF2-40B4-BE49-F238E27FC236}">
                <a16:creationId xmlns:a16="http://schemas.microsoft.com/office/drawing/2014/main" id="{64378299-3226-F8AA-1A31-4D7A041A6D42}"/>
              </a:ext>
            </a:extLst>
          </p:cNvPr>
          <p:cNvSpPr>
            <a:spLocks noGrp="1"/>
          </p:cNvSpPr>
          <p:nvPr>
            <p:ph type="body" sz="quarter" idx="17"/>
          </p:nvPr>
        </p:nvSpPr>
        <p:spPr>
          <a:xfrm>
            <a:off x="6519107" y="514749"/>
            <a:ext cx="3599821" cy="169277"/>
          </a:xfrm>
        </p:spPr>
        <p:txBody>
          <a:bodyPr/>
          <a:lstStyle/>
          <a:p>
            <a:pPr lvl="0"/>
            <a:r>
              <a:rPr lang="en-US" noProof="0" dirty="0"/>
              <a:t>Microsoft 365 Copilot</a:t>
            </a:r>
          </a:p>
        </p:txBody>
      </p:sp>
      <p:sp>
        <p:nvSpPr>
          <p:cNvPr id="40" name="Text Placeholder 39">
            <a:extLst>
              <a:ext uri="{FF2B5EF4-FFF2-40B4-BE49-F238E27FC236}">
                <a16:creationId xmlns:a16="http://schemas.microsoft.com/office/drawing/2014/main" id="{379D624F-A860-9CE9-D756-825F40761990}"/>
              </a:ext>
            </a:extLst>
          </p:cNvPr>
          <p:cNvSpPr>
            <a:spLocks noGrp="1"/>
          </p:cNvSpPr>
          <p:nvPr>
            <p:ph type="body" sz="quarter" idx="11"/>
          </p:nvPr>
        </p:nvSpPr>
        <p:spPr>
          <a:xfrm>
            <a:off x="584200" y="1684713"/>
            <a:ext cx="2808000" cy="345600"/>
          </a:xfrm>
        </p:spPr>
        <p:txBody>
          <a:bodyPr/>
          <a:lstStyle/>
          <a:p>
            <a:r>
              <a:rPr lang="en-US" noProof="0" dirty="0"/>
              <a:t>8:00 am – Summarize emails</a:t>
            </a:r>
          </a:p>
        </p:txBody>
      </p:sp>
      <p:sp>
        <p:nvSpPr>
          <p:cNvPr id="41" name="Text Placeholder 40">
            <a:extLst>
              <a:ext uri="{FF2B5EF4-FFF2-40B4-BE49-F238E27FC236}">
                <a16:creationId xmlns:a16="http://schemas.microsoft.com/office/drawing/2014/main" id="{57E3677D-D7BC-DC48-74A3-5AE759249BB3}"/>
              </a:ext>
            </a:extLst>
          </p:cNvPr>
          <p:cNvSpPr>
            <a:spLocks noGrp="1"/>
          </p:cNvSpPr>
          <p:nvPr>
            <p:ph type="body" sz="quarter" idx="18"/>
          </p:nvPr>
        </p:nvSpPr>
        <p:spPr>
          <a:xfrm>
            <a:off x="584200" y="2128438"/>
            <a:ext cx="2808000" cy="626701"/>
          </a:xfrm>
        </p:spPr>
        <p:txBody>
          <a:bodyPr/>
          <a:lstStyle/>
          <a:p>
            <a:r>
              <a:rPr lang="en-US" noProof="0" dirty="0"/>
              <a:t>Kim has several new emails from vendor companies and internal teams. Instead of reading through each email, he uses Copilot to summarize recent emails.</a:t>
            </a:r>
          </a:p>
        </p:txBody>
      </p:sp>
      <p:sp>
        <p:nvSpPr>
          <p:cNvPr id="65" name="Text Placeholder 64">
            <a:extLst>
              <a:ext uri="{FF2B5EF4-FFF2-40B4-BE49-F238E27FC236}">
                <a16:creationId xmlns:a16="http://schemas.microsoft.com/office/drawing/2014/main" id="{6D447962-2EA3-27A6-4C12-AC0B8337DCD7}"/>
              </a:ext>
            </a:extLst>
          </p:cNvPr>
          <p:cNvSpPr>
            <a:spLocks noGrp="1"/>
          </p:cNvSpPr>
          <p:nvPr>
            <p:ph type="body" sz="quarter" idx="21"/>
          </p:nvPr>
        </p:nvSpPr>
        <p:spPr>
          <a:xfrm>
            <a:off x="584200" y="3304510"/>
            <a:ext cx="2808000" cy="626701"/>
          </a:xfrm>
        </p:spPr>
        <p:txBody>
          <a:bodyPr/>
          <a:lstStyle/>
          <a:p>
            <a:r>
              <a:rPr lang="en-US" noProof="0" dirty="0"/>
              <a:t>Action: </a:t>
            </a:r>
            <a:r>
              <a:rPr lang="en-US" dirty="0">
                <a:latin typeface="+mj-lt"/>
              </a:rPr>
              <a:t>Summarize</a:t>
            </a:r>
            <a:r>
              <a:rPr lang="en-US" noProof="0" dirty="0"/>
              <a:t> this thread.</a:t>
            </a:r>
          </a:p>
        </p:txBody>
      </p:sp>
      <p:sp>
        <p:nvSpPr>
          <p:cNvPr id="43" name="Text Placeholder 42">
            <a:extLst>
              <a:ext uri="{FF2B5EF4-FFF2-40B4-BE49-F238E27FC236}">
                <a16:creationId xmlns:a16="http://schemas.microsoft.com/office/drawing/2014/main" id="{F786ECC7-0497-8250-7086-DCE4E9C52A03}"/>
              </a:ext>
            </a:extLst>
          </p:cNvPr>
          <p:cNvSpPr>
            <a:spLocks noGrp="1"/>
          </p:cNvSpPr>
          <p:nvPr>
            <p:ph type="body" sz="quarter" idx="22"/>
          </p:nvPr>
        </p:nvSpPr>
        <p:spPr>
          <a:xfrm>
            <a:off x="3776898" y="1684713"/>
            <a:ext cx="2808000" cy="345600"/>
          </a:xfrm>
        </p:spPr>
        <p:txBody>
          <a:bodyPr/>
          <a:lstStyle/>
          <a:p>
            <a:r>
              <a:rPr lang="en-US" noProof="0" dirty="0"/>
              <a:t>9:30 am – Suggest formulas</a:t>
            </a:r>
          </a:p>
        </p:txBody>
      </p:sp>
      <p:sp>
        <p:nvSpPr>
          <p:cNvPr id="66" name="Text Placeholder 65">
            <a:extLst>
              <a:ext uri="{FF2B5EF4-FFF2-40B4-BE49-F238E27FC236}">
                <a16:creationId xmlns:a16="http://schemas.microsoft.com/office/drawing/2014/main" id="{E3E72BF0-C30D-40CD-41EB-D3A34FDE0F19}"/>
              </a:ext>
            </a:extLst>
          </p:cNvPr>
          <p:cNvSpPr>
            <a:spLocks noGrp="1"/>
          </p:cNvSpPr>
          <p:nvPr>
            <p:ph type="body" sz="quarter" idx="23"/>
          </p:nvPr>
        </p:nvSpPr>
        <p:spPr>
          <a:xfrm>
            <a:off x="3776663" y="2128838"/>
            <a:ext cx="2808287" cy="627062"/>
          </a:xfrm>
        </p:spPr>
        <p:txBody>
          <a:bodyPr/>
          <a:lstStyle/>
          <a:p>
            <a:r>
              <a:rPr lang="en-US" noProof="0" dirty="0"/>
              <a:t>Kim uses Copilot for Finance in Excel to analyze a vendor’s compliance data. </a:t>
            </a:r>
          </a:p>
          <a:p>
            <a:endParaRPr lang="en-US" noProof="0" dirty="0"/>
          </a:p>
        </p:txBody>
      </p:sp>
      <p:sp>
        <p:nvSpPr>
          <p:cNvPr id="67" name="Text Placeholder 66">
            <a:extLst>
              <a:ext uri="{FF2B5EF4-FFF2-40B4-BE49-F238E27FC236}">
                <a16:creationId xmlns:a16="http://schemas.microsoft.com/office/drawing/2014/main" id="{F702B496-0FB9-3F42-192A-C3CD15695DB5}"/>
              </a:ext>
            </a:extLst>
          </p:cNvPr>
          <p:cNvSpPr>
            <a:spLocks noGrp="1"/>
          </p:cNvSpPr>
          <p:nvPr>
            <p:ph type="body" sz="quarter" idx="24"/>
          </p:nvPr>
        </p:nvSpPr>
        <p:spPr>
          <a:xfrm>
            <a:off x="3776898" y="3304510"/>
            <a:ext cx="2808000" cy="626701"/>
          </a:xfrm>
        </p:spPr>
        <p:txBody>
          <a:bodyPr/>
          <a:lstStyle/>
          <a:p>
            <a:pPr lvl="0"/>
            <a:r>
              <a:rPr lang="en-US" noProof="0" dirty="0"/>
              <a:t>Example prompt: </a:t>
            </a:r>
            <a:r>
              <a:rPr lang="en-US" dirty="0">
                <a:latin typeface="+mj-lt"/>
              </a:rPr>
              <a:t>Suggest formulas </a:t>
            </a:r>
            <a:r>
              <a:rPr lang="en-US" noProof="0" dirty="0"/>
              <a:t>for this column. Show insights in charts.</a:t>
            </a:r>
          </a:p>
        </p:txBody>
      </p:sp>
      <p:sp>
        <p:nvSpPr>
          <p:cNvPr id="46" name="Text Placeholder 45">
            <a:extLst>
              <a:ext uri="{FF2B5EF4-FFF2-40B4-BE49-F238E27FC236}">
                <a16:creationId xmlns:a16="http://schemas.microsoft.com/office/drawing/2014/main" id="{B711834C-1181-E54E-3F35-4A3D37910D88}"/>
              </a:ext>
            </a:extLst>
          </p:cNvPr>
          <p:cNvSpPr>
            <a:spLocks noGrp="1"/>
          </p:cNvSpPr>
          <p:nvPr>
            <p:ph type="body" sz="quarter" idx="25"/>
          </p:nvPr>
        </p:nvSpPr>
        <p:spPr>
          <a:xfrm>
            <a:off x="6969125" y="1684338"/>
            <a:ext cx="2808288" cy="346075"/>
          </a:xfrm>
        </p:spPr>
        <p:txBody>
          <a:bodyPr/>
          <a:lstStyle/>
          <a:p>
            <a:r>
              <a:rPr lang="en-US" noProof="0" dirty="0"/>
              <a:t>10:00 am – Get key points</a:t>
            </a:r>
          </a:p>
        </p:txBody>
      </p:sp>
      <p:sp>
        <p:nvSpPr>
          <p:cNvPr id="68" name="Text Placeholder 67">
            <a:extLst>
              <a:ext uri="{FF2B5EF4-FFF2-40B4-BE49-F238E27FC236}">
                <a16:creationId xmlns:a16="http://schemas.microsoft.com/office/drawing/2014/main" id="{C253FF40-C1D4-EBF1-54AF-11A127325B9F}"/>
              </a:ext>
            </a:extLst>
          </p:cNvPr>
          <p:cNvSpPr>
            <a:spLocks noGrp="1"/>
          </p:cNvSpPr>
          <p:nvPr>
            <p:ph type="body" sz="quarter" idx="26"/>
          </p:nvPr>
        </p:nvSpPr>
        <p:spPr>
          <a:xfrm>
            <a:off x="6969125" y="2128838"/>
            <a:ext cx="2808288" cy="627062"/>
          </a:xfrm>
        </p:spPr>
        <p:txBody>
          <a:bodyPr/>
          <a:lstStyle/>
          <a:p>
            <a:r>
              <a:rPr lang="en-US" noProof="0" dirty="0"/>
              <a:t>During a meeting with the vendor, Kim uses Copilot in Teams to keep track of the discussion. After the meeting, Copilot helps identify next steps.</a:t>
            </a:r>
          </a:p>
          <a:p>
            <a:endParaRPr lang="en-US" noProof="0" dirty="0"/>
          </a:p>
        </p:txBody>
      </p:sp>
      <p:sp>
        <p:nvSpPr>
          <p:cNvPr id="69" name="Text Placeholder 68">
            <a:extLst>
              <a:ext uri="{FF2B5EF4-FFF2-40B4-BE49-F238E27FC236}">
                <a16:creationId xmlns:a16="http://schemas.microsoft.com/office/drawing/2014/main" id="{E72C6CCA-33BC-0EBC-8E79-4098AE6B5D50}"/>
              </a:ext>
            </a:extLst>
          </p:cNvPr>
          <p:cNvSpPr>
            <a:spLocks noGrp="1"/>
          </p:cNvSpPr>
          <p:nvPr>
            <p:ph type="body" sz="quarter" idx="27"/>
          </p:nvPr>
        </p:nvSpPr>
        <p:spPr>
          <a:xfrm>
            <a:off x="6969595" y="3304510"/>
            <a:ext cx="2808000" cy="626701"/>
          </a:xfrm>
        </p:spPr>
        <p:txBody>
          <a:bodyPr/>
          <a:lstStyle/>
          <a:p>
            <a:r>
              <a:rPr lang="en-US" noProof="0" dirty="0"/>
              <a:t>Example prompt: </a:t>
            </a:r>
            <a:r>
              <a:rPr lang="en-US" dirty="0">
                <a:latin typeface="+mj-lt"/>
              </a:rPr>
              <a:t>Summarize key discussion points. </a:t>
            </a:r>
            <a:r>
              <a:rPr lang="en-US" noProof="0" dirty="0"/>
              <a:t>Identify agreed-upon next steps.</a:t>
            </a:r>
          </a:p>
        </p:txBody>
      </p:sp>
      <p:sp>
        <p:nvSpPr>
          <p:cNvPr id="55" name="Text Placeholder 54">
            <a:extLst>
              <a:ext uri="{FF2B5EF4-FFF2-40B4-BE49-F238E27FC236}">
                <a16:creationId xmlns:a16="http://schemas.microsoft.com/office/drawing/2014/main" id="{A0F9A379-1E39-4C5C-CC0A-EE3070586169}"/>
              </a:ext>
            </a:extLst>
          </p:cNvPr>
          <p:cNvSpPr>
            <a:spLocks noGrp="1"/>
          </p:cNvSpPr>
          <p:nvPr>
            <p:ph type="body" sz="quarter" idx="34"/>
          </p:nvPr>
        </p:nvSpPr>
        <p:spPr>
          <a:xfrm>
            <a:off x="6969595" y="4137995"/>
            <a:ext cx="2808000" cy="345600"/>
          </a:xfrm>
        </p:spPr>
        <p:txBody>
          <a:bodyPr/>
          <a:lstStyle/>
          <a:p>
            <a:r>
              <a:rPr lang="en-US" noProof="0" dirty="0"/>
              <a:t>11:00 am – Draft a report</a:t>
            </a:r>
          </a:p>
        </p:txBody>
      </p:sp>
      <p:sp>
        <p:nvSpPr>
          <p:cNvPr id="74" name="Text Placeholder 73">
            <a:extLst>
              <a:ext uri="{FF2B5EF4-FFF2-40B4-BE49-F238E27FC236}">
                <a16:creationId xmlns:a16="http://schemas.microsoft.com/office/drawing/2014/main" id="{06FB253F-8FDE-DD49-1D18-BF74B8D63B78}"/>
              </a:ext>
            </a:extLst>
          </p:cNvPr>
          <p:cNvSpPr>
            <a:spLocks noGrp="1"/>
          </p:cNvSpPr>
          <p:nvPr>
            <p:ph type="body" sz="quarter" idx="35"/>
          </p:nvPr>
        </p:nvSpPr>
        <p:spPr>
          <a:xfrm>
            <a:off x="6969595" y="4584616"/>
            <a:ext cx="2808000" cy="626701"/>
          </a:xfrm>
        </p:spPr>
        <p:txBody>
          <a:bodyPr>
            <a:noAutofit/>
          </a:bodyPr>
          <a:lstStyle/>
          <a:p>
            <a:r>
              <a:rPr lang="en-US" noProof="0" dirty="0"/>
              <a:t>Kim uses </a:t>
            </a:r>
            <a:r>
              <a:rPr lang="en-US" dirty="0"/>
              <a:t>Word Agent </a:t>
            </a:r>
            <a:r>
              <a:rPr lang="en-US" noProof="0" dirty="0"/>
              <a:t>to draft a report in Word, prompting it to bring in specific information from other documents. He then uses Copilot in Word to improve the clarity of his report.</a:t>
            </a:r>
          </a:p>
        </p:txBody>
      </p:sp>
      <p:sp>
        <p:nvSpPr>
          <p:cNvPr id="75" name="Text Placeholder 74">
            <a:extLst>
              <a:ext uri="{FF2B5EF4-FFF2-40B4-BE49-F238E27FC236}">
                <a16:creationId xmlns:a16="http://schemas.microsoft.com/office/drawing/2014/main" id="{2088F783-D659-448B-30A3-30A5ABF2A753}"/>
              </a:ext>
            </a:extLst>
          </p:cNvPr>
          <p:cNvSpPr>
            <a:spLocks noGrp="1"/>
          </p:cNvSpPr>
          <p:nvPr>
            <p:ph type="body" sz="quarter" idx="36"/>
          </p:nvPr>
        </p:nvSpPr>
        <p:spPr>
          <a:xfrm>
            <a:off x="6969595" y="5681038"/>
            <a:ext cx="2808000" cy="626701"/>
          </a:xfrm>
        </p:spPr>
        <p:txBody>
          <a:bodyPr/>
          <a:lstStyle/>
          <a:p>
            <a:pPr lvl="0"/>
            <a:r>
              <a:rPr lang="en-US" noProof="0" dirty="0"/>
              <a:t>Example prompt: </a:t>
            </a:r>
            <a:r>
              <a:rPr lang="en-US" dirty="0">
                <a:latin typeface="+mj-lt"/>
              </a:rPr>
              <a:t>Draft content</a:t>
            </a:r>
            <a:r>
              <a:rPr lang="en-US" noProof="0" dirty="0"/>
              <a:t> from these documents. Suggest ways to rewrite this content.</a:t>
            </a:r>
          </a:p>
          <a:p>
            <a:pPr lvl="0"/>
            <a:r>
              <a:rPr lang="en-US" u="sng" dirty="0">
                <a:hlinkClick r:id="rId3"/>
              </a:rPr>
              <a:t>Get started with Word, Excel, and PowerPoint Agents</a:t>
            </a:r>
            <a:endParaRPr lang="en-US" noProof="0" dirty="0"/>
          </a:p>
        </p:txBody>
      </p:sp>
      <p:sp>
        <p:nvSpPr>
          <p:cNvPr id="52" name="Text Placeholder 51">
            <a:extLst>
              <a:ext uri="{FF2B5EF4-FFF2-40B4-BE49-F238E27FC236}">
                <a16:creationId xmlns:a16="http://schemas.microsoft.com/office/drawing/2014/main" id="{D4F50D37-8419-C7C8-D6C1-C4A6598A5269}"/>
              </a:ext>
            </a:extLst>
          </p:cNvPr>
          <p:cNvSpPr>
            <a:spLocks noGrp="1"/>
          </p:cNvSpPr>
          <p:nvPr>
            <p:ph type="body" sz="quarter" idx="31"/>
          </p:nvPr>
        </p:nvSpPr>
        <p:spPr>
          <a:xfrm>
            <a:off x="3776898" y="4137995"/>
            <a:ext cx="2808000" cy="345600"/>
          </a:xfrm>
        </p:spPr>
        <p:txBody>
          <a:bodyPr/>
          <a:lstStyle/>
          <a:p>
            <a:r>
              <a:rPr lang="en-US" noProof="0" dirty="0"/>
              <a:t>2:00 pm – Create a presentation</a:t>
            </a:r>
          </a:p>
        </p:txBody>
      </p:sp>
      <p:sp>
        <p:nvSpPr>
          <p:cNvPr id="72" name="Text Placeholder 71">
            <a:extLst>
              <a:ext uri="{FF2B5EF4-FFF2-40B4-BE49-F238E27FC236}">
                <a16:creationId xmlns:a16="http://schemas.microsoft.com/office/drawing/2014/main" id="{1B9C61ED-256F-182F-051E-02EBC715E59D}"/>
              </a:ext>
            </a:extLst>
          </p:cNvPr>
          <p:cNvSpPr>
            <a:spLocks noGrp="1"/>
          </p:cNvSpPr>
          <p:nvPr>
            <p:ph type="body" sz="quarter" idx="32"/>
          </p:nvPr>
        </p:nvSpPr>
        <p:spPr>
          <a:xfrm>
            <a:off x="3776663" y="4584700"/>
            <a:ext cx="2808287" cy="627063"/>
          </a:xfrm>
        </p:spPr>
        <p:txBody>
          <a:bodyPr>
            <a:normAutofit lnSpcReduction="10000"/>
          </a:bodyPr>
          <a:lstStyle/>
          <a:p>
            <a:r>
              <a:rPr lang="en-US" noProof="0" dirty="0"/>
              <a:t>Kim needs to create a presentation for a potential vendor. He uses </a:t>
            </a:r>
            <a:r>
              <a:rPr lang="en-US" dirty="0"/>
              <a:t>PowerPoint Agent</a:t>
            </a:r>
            <a:r>
              <a:rPr lang="en-US" noProof="0" dirty="0"/>
              <a:t> to create a new</a:t>
            </a:r>
            <a:r>
              <a:rPr lang="en-US" dirty="0"/>
              <a:t> PowerPoint</a:t>
            </a:r>
            <a:r>
              <a:rPr lang="en-US" noProof="0" dirty="0"/>
              <a:t> presentation from this Word file, and he uses Copilot in PowerPoint to improve the layout of his slides.</a:t>
            </a:r>
          </a:p>
          <a:p>
            <a:endParaRPr lang="en-US" noProof="0" dirty="0"/>
          </a:p>
        </p:txBody>
      </p:sp>
      <p:sp>
        <p:nvSpPr>
          <p:cNvPr id="73" name="Text Placeholder 72">
            <a:extLst>
              <a:ext uri="{FF2B5EF4-FFF2-40B4-BE49-F238E27FC236}">
                <a16:creationId xmlns:a16="http://schemas.microsoft.com/office/drawing/2014/main" id="{93672461-862D-5F79-67CA-532C7FC75736}"/>
              </a:ext>
            </a:extLst>
          </p:cNvPr>
          <p:cNvSpPr>
            <a:spLocks noGrp="1"/>
          </p:cNvSpPr>
          <p:nvPr>
            <p:ph type="body" sz="quarter" idx="33"/>
          </p:nvPr>
        </p:nvSpPr>
        <p:spPr>
          <a:xfrm>
            <a:off x="3776898" y="5681038"/>
            <a:ext cx="2808000" cy="626701"/>
          </a:xfrm>
        </p:spPr>
        <p:txBody>
          <a:bodyPr/>
          <a:lstStyle/>
          <a:p>
            <a:r>
              <a:rPr lang="en-US" noProof="0" dirty="0"/>
              <a:t>Example prompt: </a:t>
            </a:r>
            <a:r>
              <a:rPr lang="en-US" dirty="0">
                <a:latin typeface="+mj-lt"/>
              </a:rPr>
              <a:t>Create a new presentation </a:t>
            </a:r>
            <a:r>
              <a:rPr lang="en-US" noProof="0" dirty="0"/>
              <a:t>from this Word file. </a:t>
            </a:r>
          </a:p>
          <a:p>
            <a:r>
              <a:rPr lang="en-US" u="sng" dirty="0">
                <a:hlinkClick r:id="rId3"/>
              </a:rPr>
              <a:t>Get started with Word, Excel, and PowerPoint Agents</a:t>
            </a:r>
            <a:endParaRPr lang="en-US" noProof="0" dirty="0"/>
          </a:p>
        </p:txBody>
      </p:sp>
      <p:sp>
        <p:nvSpPr>
          <p:cNvPr id="49" name="Text Placeholder 48">
            <a:extLst>
              <a:ext uri="{FF2B5EF4-FFF2-40B4-BE49-F238E27FC236}">
                <a16:creationId xmlns:a16="http://schemas.microsoft.com/office/drawing/2014/main" id="{B9B71A71-82A6-309C-41D4-38ECA93CF523}"/>
              </a:ext>
            </a:extLst>
          </p:cNvPr>
          <p:cNvSpPr>
            <a:spLocks noGrp="1"/>
          </p:cNvSpPr>
          <p:nvPr>
            <p:ph type="body" sz="quarter" idx="28"/>
          </p:nvPr>
        </p:nvSpPr>
        <p:spPr>
          <a:xfrm>
            <a:off x="584200" y="4137995"/>
            <a:ext cx="2808000" cy="345600"/>
          </a:xfrm>
        </p:spPr>
        <p:txBody>
          <a:bodyPr/>
          <a:lstStyle/>
          <a:p>
            <a:r>
              <a:rPr lang="en-US" noProof="0" dirty="0"/>
              <a:t>4:00 pm – Create an agenda</a:t>
            </a:r>
          </a:p>
        </p:txBody>
      </p:sp>
      <p:sp>
        <p:nvSpPr>
          <p:cNvPr id="70" name="Text Placeholder 69">
            <a:extLst>
              <a:ext uri="{FF2B5EF4-FFF2-40B4-BE49-F238E27FC236}">
                <a16:creationId xmlns:a16="http://schemas.microsoft.com/office/drawing/2014/main" id="{7B706FF5-A644-A717-9146-E1DDA1C21F50}"/>
              </a:ext>
            </a:extLst>
          </p:cNvPr>
          <p:cNvSpPr>
            <a:spLocks noGrp="1"/>
          </p:cNvSpPr>
          <p:nvPr>
            <p:ph type="body" sz="quarter" idx="29"/>
          </p:nvPr>
        </p:nvSpPr>
        <p:spPr>
          <a:xfrm>
            <a:off x="584200" y="4584616"/>
            <a:ext cx="2808000" cy="626701"/>
          </a:xfrm>
        </p:spPr>
        <p:txBody>
          <a:bodyPr/>
          <a:lstStyle/>
          <a:p>
            <a:r>
              <a:rPr lang="en-US" noProof="0" dirty="0"/>
              <a:t>Kim uses Copilot to manage his tasks. He creates a meeting agenda based on this chat history to prepare for his meetings. </a:t>
            </a:r>
          </a:p>
          <a:p>
            <a:endParaRPr lang="en-US" noProof="0" dirty="0"/>
          </a:p>
        </p:txBody>
      </p:sp>
      <p:sp>
        <p:nvSpPr>
          <p:cNvPr id="71" name="Text Placeholder 70">
            <a:extLst>
              <a:ext uri="{FF2B5EF4-FFF2-40B4-BE49-F238E27FC236}">
                <a16:creationId xmlns:a16="http://schemas.microsoft.com/office/drawing/2014/main" id="{D7801397-593E-B357-E1B6-056B2470593D}"/>
              </a:ext>
            </a:extLst>
          </p:cNvPr>
          <p:cNvSpPr>
            <a:spLocks noGrp="1"/>
          </p:cNvSpPr>
          <p:nvPr>
            <p:ph type="body" sz="quarter" idx="30"/>
          </p:nvPr>
        </p:nvSpPr>
        <p:spPr>
          <a:xfrm>
            <a:off x="584200" y="5681038"/>
            <a:ext cx="2808000" cy="626701"/>
          </a:xfrm>
        </p:spPr>
        <p:txBody>
          <a:bodyPr/>
          <a:lstStyle/>
          <a:p>
            <a:r>
              <a:rPr lang="en-US" noProof="0" dirty="0"/>
              <a:t>Example prompt: </a:t>
            </a:r>
            <a:r>
              <a:rPr lang="en-US" dirty="0">
                <a:latin typeface="+mj-lt"/>
              </a:rPr>
              <a:t>Create a meeting agenda </a:t>
            </a:r>
            <a:r>
              <a:rPr lang="en-US" noProof="0" dirty="0"/>
              <a:t>based on this chat history.</a:t>
            </a:r>
          </a:p>
        </p:txBody>
      </p:sp>
      <p:pic>
        <p:nvPicPr>
          <p:cNvPr id="86" name="Picture 85" descr="A person wearing a headset&#10;&#10;Description automatically generated">
            <a:extLst>
              <a:ext uri="{FF2B5EF4-FFF2-40B4-BE49-F238E27FC236}">
                <a16:creationId xmlns:a16="http://schemas.microsoft.com/office/drawing/2014/main" id="{366924EC-28B9-5229-17B2-BD22B6F7F9CD}"/>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l="90" r="90"/>
          <a:stretch/>
        </p:blipFill>
        <p:spPr>
          <a:xfrm>
            <a:off x="9797361" y="3749159"/>
            <a:ext cx="2394639" cy="3115877"/>
          </a:xfrm>
          <a:prstGeom prst="rect">
            <a:avLst/>
          </a:prstGeom>
        </p:spPr>
      </p:pic>
      <p:sp>
        <p:nvSpPr>
          <p:cNvPr id="56" name="TextBox 55">
            <a:extLst>
              <a:ext uri="{FF2B5EF4-FFF2-40B4-BE49-F238E27FC236}">
                <a16:creationId xmlns:a16="http://schemas.microsoft.com/office/drawing/2014/main" id="{37214391-A987-6AB8-2A0D-A379E348139E}"/>
              </a:ext>
            </a:extLst>
          </p:cNvPr>
          <p:cNvSpPr txBox="1">
            <a:spLocks/>
          </p:cNvSpPr>
          <p:nvPr/>
        </p:nvSpPr>
        <p:spPr>
          <a:xfrm>
            <a:off x="10048240" y="1684338"/>
            <a:ext cx="1843436" cy="1107996"/>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C03BC4"/>
                </a:solidFill>
                <a:effectLst/>
                <a:uLnTx/>
                <a:uFillTx/>
                <a:latin typeface="Segoe UI Semibold"/>
                <a:ea typeface="+mn-ea"/>
                <a:cs typeface="+mn-cs"/>
              </a:rPr>
              <a:t>Kim</a:t>
            </a:r>
            <a:br>
              <a:rPr kumimoji="0" lang="en-US" sz="2400" b="0" i="0" u="none" strike="noStrike" kern="1200" cap="none" spc="0" normalizeH="0" baseline="0" noProof="0" dirty="0">
                <a:ln>
                  <a:noFill/>
                </a:ln>
                <a:solidFill>
                  <a:srgbClr val="C03BC4"/>
                </a:solidFill>
                <a:effectLst/>
                <a:uLnTx/>
                <a:uFillTx/>
                <a:latin typeface="Segoe UI Semibold"/>
                <a:ea typeface="+mn-ea"/>
                <a:cs typeface="+mn-cs"/>
              </a:rPr>
            </a:br>
            <a:r>
              <a:rPr kumimoji="0" lang="en-US" sz="1600" b="0" i="0" u="none" strike="noStrike" kern="1200" cap="none" spc="0" normalizeH="0" baseline="0" noProof="0" dirty="0">
                <a:ln>
                  <a:noFill/>
                </a:ln>
                <a:solidFill>
                  <a:srgbClr val="C03BC4"/>
                </a:solidFill>
                <a:effectLst/>
                <a:uLnTx/>
                <a:uFillTx/>
                <a:latin typeface="Segoe UI"/>
                <a:ea typeface="+mn-ea"/>
                <a:cs typeface="Segoe UI" panose="020B0502040204020203" pitchFamily="34" charset="0"/>
              </a:rPr>
              <a:t>is a Vendor Engagement Manager in Finance.</a:t>
            </a:r>
          </a:p>
        </p:txBody>
      </p:sp>
      <p:sp>
        <p:nvSpPr>
          <p:cNvPr id="20" name="Rectangle: Rounded Corners 6">
            <a:extLst>
              <a:ext uri="{FF2B5EF4-FFF2-40B4-BE49-F238E27FC236}">
                <a16:creationId xmlns:a16="http://schemas.microsoft.com/office/drawing/2014/main" id="{7B91805E-7C48-3C94-7728-CF1FD578E2A9}"/>
              </a:ext>
              <a:ext uri="{C183D7F6-B498-43B3-948B-1728B52AA6E4}">
                <adec:decorative xmlns:adec="http://schemas.microsoft.com/office/drawing/2017/decorative" val="1"/>
              </a:ext>
            </a:extLst>
          </p:cNvPr>
          <p:cNvSpPr/>
          <p:nvPr/>
        </p:nvSpPr>
        <p:spPr bwMode="auto">
          <a:xfrm>
            <a:off x="576356" y="1134767"/>
            <a:ext cx="659514" cy="216000"/>
          </a:xfrm>
          <a:prstGeom prst="roundRect">
            <a:avLst>
              <a:gd name="adj" fmla="val 50000"/>
            </a:avLst>
          </a:prstGeom>
          <a:solidFill>
            <a:srgbClr val="FFA38B"/>
          </a:solidFill>
          <a:ln w="12700">
            <a:solidFill>
              <a:srgbClr val="FFA38B"/>
            </a:solidFill>
            <a:headEnd type="none" w="med" len="med"/>
            <a:tailEnd type="none" w="med" len="med"/>
          </a:ln>
          <a:effectLst>
            <a:outerShdw blurRad="63500" dist="63500" dir="2700000"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8288" rIns="0" bIns="36000" numCol="1" spcCol="0" rtlCol="0" fromWordArt="0" anchor="ctr" anchorCtr="0" forceAA="0" compatLnSpc="1">
            <a:prstTxWarp prst="textNoShape">
              <a:avLst/>
            </a:prstTxWarp>
            <a:noAutofit/>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Segoe UI Semibold"/>
                <a:ea typeface="+mn-ea"/>
                <a:cs typeface="Segoe UI Semibold" panose="020B0702040204020203" pitchFamily="34" charset="0"/>
              </a:rPr>
              <a:t>Benefits</a:t>
            </a:r>
          </a:p>
        </p:txBody>
      </p:sp>
      <p:grpSp>
        <p:nvGrpSpPr>
          <p:cNvPr id="21" name="Group 20">
            <a:extLst>
              <a:ext uri="{FF2B5EF4-FFF2-40B4-BE49-F238E27FC236}">
                <a16:creationId xmlns:a16="http://schemas.microsoft.com/office/drawing/2014/main" id="{AB1D61C6-F399-E774-1B46-71CF3C5D4089}"/>
              </a:ext>
            </a:extLst>
          </p:cNvPr>
          <p:cNvGrpSpPr/>
          <p:nvPr/>
        </p:nvGrpSpPr>
        <p:grpSpPr>
          <a:xfrm>
            <a:off x="1286540" y="1134767"/>
            <a:ext cx="1571031" cy="216000"/>
            <a:chOff x="1372194" y="969899"/>
            <a:chExt cx="1571031" cy="216000"/>
          </a:xfrm>
        </p:grpSpPr>
        <p:sp>
          <p:nvSpPr>
            <p:cNvPr id="22" name="Rectangle: Rounded Corners 6">
              <a:extLst>
                <a:ext uri="{FF2B5EF4-FFF2-40B4-BE49-F238E27FC236}">
                  <a16:creationId xmlns:a16="http://schemas.microsoft.com/office/drawing/2014/main" id="{31DA4F4B-3F87-34F2-8486-FF5F4768FBB7}"/>
                </a:ext>
                <a:ext uri="{C183D7F6-B498-43B3-948B-1728B52AA6E4}">
                  <adec:decorative xmlns:adec="http://schemas.microsoft.com/office/drawing/2017/decorative" val="1"/>
                </a:ext>
              </a:extLst>
            </p:cNvPr>
            <p:cNvSpPr/>
            <p:nvPr/>
          </p:nvSpPr>
          <p:spPr bwMode="auto">
            <a:xfrm>
              <a:off x="1372194" y="969899"/>
              <a:ext cx="1571031" cy="216000"/>
            </a:xfrm>
            <a:prstGeom prst="roundRect">
              <a:avLst>
                <a:gd name="adj" fmla="val 50000"/>
              </a:avLst>
            </a:prstGeom>
            <a:solidFill>
              <a:srgbClr val="FFFFFF"/>
            </a:solidFill>
            <a:ln w="12700">
              <a:solidFill>
                <a:srgbClr val="FFA38B"/>
              </a:solidFill>
              <a:headEnd type="none" w="med" len="med"/>
              <a:tailEnd type="none" w="med" len="med"/>
            </a:ln>
            <a:effectLst>
              <a:outerShdw blurRad="63500" dist="63500" dir="2700000"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16000" tIns="18288" rIns="36000" bIns="36000" numCol="1" spcCol="0" rtlCol="0" fromWordArt="0" anchor="ctr" anchorCtr="0" forceAA="0" compatLnSpc="1">
              <a:prstTxWarp prst="textNoShape">
                <a:avLst/>
              </a:prstTxWarp>
              <a:noAutofit/>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73391D"/>
                  </a:solidFill>
                  <a:effectLst/>
                  <a:uLnTx/>
                  <a:uFillTx/>
                  <a:latin typeface="Segoe UI Semibold"/>
                  <a:ea typeface="+mn-ea"/>
                  <a:cs typeface="Segoe UI Semibold" panose="020B0702040204020203" pitchFamily="34" charset="0"/>
                </a:rPr>
                <a:t>~1 hour per week</a:t>
              </a:r>
            </a:p>
          </p:txBody>
        </p:sp>
        <p:pic>
          <p:nvPicPr>
            <p:cNvPr id="24" name="Graphic 23">
              <a:extLst>
                <a:ext uri="{FF2B5EF4-FFF2-40B4-BE49-F238E27FC236}">
                  <a16:creationId xmlns:a16="http://schemas.microsoft.com/office/drawing/2014/main" id="{8D7EB886-ADF3-6A9A-5904-495BBB96B003}"/>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421924" y="1005899"/>
              <a:ext cx="144000" cy="144000"/>
            </a:xfrm>
            <a:prstGeom prst="rect">
              <a:avLst/>
            </a:prstGeom>
          </p:spPr>
        </p:pic>
      </p:grpSp>
      <p:grpSp>
        <p:nvGrpSpPr>
          <p:cNvPr id="25" name="Group 24">
            <a:extLst>
              <a:ext uri="{FF2B5EF4-FFF2-40B4-BE49-F238E27FC236}">
                <a16:creationId xmlns:a16="http://schemas.microsoft.com/office/drawing/2014/main" id="{8FB6E656-6722-D09C-07E5-72667566FFBE}"/>
              </a:ext>
            </a:extLst>
          </p:cNvPr>
          <p:cNvGrpSpPr/>
          <p:nvPr/>
        </p:nvGrpSpPr>
        <p:grpSpPr>
          <a:xfrm>
            <a:off x="5754503" y="1134767"/>
            <a:ext cx="2325078" cy="216000"/>
            <a:chOff x="6235579" y="969899"/>
            <a:chExt cx="2325078" cy="216000"/>
          </a:xfrm>
        </p:grpSpPr>
        <p:sp>
          <p:nvSpPr>
            <p:cNvPr id="26" name="Rectangle: Rounded Corners 6">
              <a:extLst>
                <a:ext uri="{FF2B5EF4-FFF2-40B4-BE49-F238E27FC236}">
                  <a16:creationId xmlns:a16="http://schemas.microsoft.com/office/drawing/2014/main" id="{D101F282-C381-865E-4741-033EED3EE733}"/>
                </a:ext>
                <a:ext uri="{C183D7F6-B498-43B3-948B-1728B52AA6E4}">
                  <adec:decorative xmlns:adec="http://schemas.microsoft.com/office/drawing/2017/decorative" val="1"/>
                </a:ext>
              </a:extLst>
            </p:cNvPr>
            <p:cNvSpPr/>
            <p:nvPr/>
          </p:nvSpPr>
          <p:spPr bwMode="auto">
            <a:xfrm>
              <a:off x="6235579" y="969899"/>
              <a:ext cx="2325078" cy="216000"/>
            </a:xfrm>
            <a:prstGeom prst="roundRect">
              <a:avLst>
                <a:gd name="adj" fmla="val 50000"/>
              </a:avLst>
            </a:prstGeom>
            <a:solidFill>
              <a:srgbClr val="FFFFFF"/>
            </a:solidFill>
            <a:ln w="12700">
              <a:solidFill>
                <a:srgbClr val="FFA38B"/>
              </a:solidFill>
              <a:headEnd type="none" w="med" len="med"/>
              <a:tailEnd type="none" w="med" len="med"/>
            </a:ln>
            <a:effectLst>
              <a:outerShdw blurRad="63500" dist="63500" dir="2700000"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16000" tIns="18288" rIns="36000" bIns="36000" numCol="1" spcCol="0" rtlCol="0" fromWordArt="0" anchor="ctr" anchorCtr="0" forceAA="0" compatLnSpc="1">
              <a:prstTxWarp prst="textNoShape">
                <a:avLst/>
              </a:prstTxWarp>
              <a:noAutofit/>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73391D"/>
                  </a:solidFill>
                  <a:effectLst/>
                  <a:uLnTx/>
                  <a:uFillTx/>
                  <a:latin typeface="Segoe UI Semibold"/>
                  <a:ea typeface="+mn-ea"/>
                  <a:cs typeface="Segoe UI Semibold" panose="020B0702040204020203" pitchFamily="34" charset="0"/>
                </a:rPr>
                <a:t>Vendor evaluations</a:t>
              </a:r>
            </a:p>
          </p:txBody>
        </p:sp>
        <p:pic>
          <p:nvPicPr>
            <p:cNvPr id="27" name="Graphic 26">
              <a:extLst>
                <a:ext uri="{FF2B5EF4-FFF2-40B4-BE49-F238E27FC236}">
                  <a16:creationId xmlns:a16="http://schemas.microsoft.com/office/drawing/2014/main" id="{7F069126-5892-C182-27C3-036C77C128A6}"/>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6282712" y="1005899"/>
              <a:ext cx="144000" cy="144000"/>
            </a:xfrm>
            <a:prstGeom prst="rect">
              <a:avLst/>
            </a:prstGeom>
          </p:spPr>
        </p:pic>
      </p:grpSp>
      <p:grpSp>
        <p:nvGrpSpPr>
          <p:cNvPr id="28" name="Group 27">
            <a:extLst>
              <a:ext uri="{FF2B5EF4-FFF2-40B4-BE49-F238E27FC236}">
                <a16:creationId xmlns:a16="http://schemas.microsoft.com/office/drawing/2014/main" id="{245ABCB7-E4E1-3E11-97E5-3776D5A8BB87}"/>
              </a:ext>
            </a:extLst>
          </p:cNvPr>
          <p:cNvGrpSpPr/>
          <p:nvPr/>
        </p:nvGrpSpPr>
        <p:grpSpPr>
          <a:xfrm>
            <a:off x="2908241" y="1134767"/>
            <a:ext cx="2795593" cy="216000"/>
            <a:chOff x="3133720" y="969899"/>
            <a:chExt cx="2795593" cy="216000"/>
          </a:xfrm>
        </p:grpSpPr>
        <p:sp>
          <p:nvSpPr>
            <p:cNvPr id="29" name="Rectangle: Rounded Corners 6">
              <a:extLst>
                <a:ext uri="{FF2B5EF4-FFF2-40B4-BE49-F238E27FC236}">
                  <a16:creationId xmlns:a16="http://schemas.microsoft.com/office/drawing/2014/main" id="{2E99FD51-96B2-93ED-D153-A0C12E2C533A}"/>
                </a:ext>
                <a:ext uri="{C183D7F6-B498-43B3-948B-1728B52AA6E4}">
                  <adec:decorative xmlns:adec="http://schemas.microsoft.com/office/drawing/2017/decorative" val="1"/>
                </a:ext>
              </a:extLst>
            </p:cNvPr>
            <p:cNvSpPr/>
            <p:nvPr/>
          </p:nvSpPr>
          <p:spPr bwMode="auto">
            <a:xfrm>
              <a:off x="3133720" y="969899"/>
              <a:ext cx="2795593" cy="216000"/>
            </a:xfrm>
            <a:prstGeom prst="roundRect">
              <a:avLst>
                <a:gd name="adj" fmla="val 50000"/>
              </a:avLst>
            </a:prstGeom>
            <a:solidFill>
              <a:srgbClr val="FFFFFF"/>
            </a:solidFill>
            <a:ln w="12700">
              <a:solidFill>
                <a:srgbClr val="FFA38B"/>
              </a:solidFill>
              <a:headEnd type="none" w="med" len="med"/>
              <a:tailEnd type="none" w="med" len="med"/>
            </a:ln>
            <a:effectLst>
              <a:outerShdw blurRad="63500" dist="63500" dir="2700000"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16000" tIns="18288" rIns="36000" bIns="36000" numCol="1" spcCol="0" rtlCol="0" fromWordArt="0" anchor="ctr" anchorCtr="0" forceAA="0" compatLnSpc="1">
              <a:prstTxWarp prst="textNoShape">
                <a:avLst/>
              </a:prstTxWarp>
              <a:noAutofit/>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73391D"/>
                  </a:solidFill>
                  <a:effectLst/>
                  <a:uLnTx/>
                  <a:uFillTx/>
                  <a:latin typeface="Segoe UI Semibold"/>
                  <a:ea typeface="+mn-ea"/>
                  <a:cs typeface="Segoe UI Semibold" panose="020B0702040204020203" pitchFamily="34" charset="0"/>
                </a:rPr>
                <a:t>Areas of investment: Vendor meetings</a:t>
              </a:r>
            </a:p>
          </p:txBody>
        </p:sp>
        <p:pic>
          <p:nvPicPr>
            <p:cNvPr id="30" name="Graphic 29">
              <a:extLst>
                <a:ext uri="{FF2B5EF4-FFF2-40B4-BE49-F238E27FC236}">
                  <a16:creationId xmlns:a16="http://schemas.microsoft.com/office/drawing/2014/main" id="{C575BAE1-8CB3-A699-6DEE-8DAE28BBEF20}"/>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3193555" y="1005899"/>
              <a:ext cx="144000" cy="144000"/>
            </a:xfrm>
            <a:prstGeom prst="rect">
              <a:avLst/>
            </a:prstGeom>
          </p:spPr>
        </p:pic>
      </p:grpSp>
      <p:sp>
        <p:nvSpPr>
          <p:cNvPr id="50" name="TextBox 49">
            <a:extLst>
              <a:ext uri="{FF2B5EF4-FFF2-40B4-BE49-F238E27FC236}">
                <a16:creationId xmlns:a16="http://schemas.microsoft.com/office/drawing/2014/main" id="{62B4F951-85A3-5124-12CA-F48478166D58}"/>
              </a:ext>
              <a:ext uri="{C183D7F6-B498-43B3-948B-1728B52AA6E4}">
                <adec:decorative xmlns:adec="http://schemas.microsoft.com/office/drawing/2017/decorative" val="0"/>
              </a:ext>
            </a:extLst>
          </p:cNvPr>
          <p:cNvSpPr txBox="1"/>
          <p:nvPr/>
        </p:nvSpPr>
        <p:spPr>
          <a:xfrm>
            <a:off x="7428168" y="5369769"/>
            <a:ext cx="1892562" cy="1538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Segoe UI Semibold"/>
                <a:ea typeface="+mn-ea"/>
                <a:cs typeface="+mn-cs"/>
              </a:rPr>
              <a:t>Word Agent</a:t>
            </a:r>
            <a:endParaRPr kumimoji="0" lang="en-US" sz="1000" b="0" i="0" u="none" strike="noStrike" kern="1200" cap="none" spc="0" normalizeH="0" baseline="30000" noProof="0" dirty="0">
              <a:ln>
                <a:noFill/>
              </a:ln>
              <a:solidFill>
                <a:prstClr val="black"/>
              </a:solidFill>
              <a:effectLst/>
              <a:uLnTx/>
              <a:uFillTx/>
              <a:latin typeface="Segoe UI Semibold"/>
              <a:ea typeface="+mn-ea"/>
              <a:cs typeface="+mn-cs"/>
            </a:endParaRPr>
          </a:p>
        </p:txBody>
      </p:sp>
      <p:grpSp>
        <p:nvGrpSpPr>
          <p:cNvPr id="42" name="Group 41">
            <a:extLst>
              <a:ext uri="{FF2B5EF4-FFF2-40B4-BE49-F238E27FC236}">
                <a16:creationId xmlns:a16="http://schemas.microsoft.com/office/drawing/2014/main" id="{156C37D1-94E3-7EB1-8A48-9AA4C5D0C811}"/>
              </a:ext>
            </a:extLst>
          </p:cNvPr>
          <p:cNvGrpSpPr/>
          <p:nvPr/>
        </p:nvGrpSpPr>
        <p:grpSpPr>
          <a:xfrm>
            <a:off x="584200" y="5266713"/>
            <a:ext cx="2351135" cy="360000"/>
            <a:chOff x="588263" y="1217924"/>
            <a:chExt cx="2351135" cy="360000"/>
          </a:xfrm>
        </p:grpSpPr>
        <p:pic>
          <p:nvPicPr>
            <p:cNvPr id="44" name="Picture 43" descr="Zip Co logo SVG free download, id: 101874 - Brandlogos.net">
              <a:hlinkClick r:id="rId8"/>
              <a:extLst>
                <a:ext uri="{FF2B5EF4-FFF2-40B4-BE49-F238E27FC236}">
                  <a16:creationId xmlns:a16="http://schemas.microsoft.com/office/drawing/2014/main" id="{33F66239-6C63-BEC9-4806-535AF42DCA1C}"/>
                </a:ext>
              </a:extLst>
            </p:cNvPr>
            <p:cNvPicPr>
              <a:picLocks noChangeAspect="1" noChangeArrowheads="1"/>
            </p:cNvPicPr>
            <p:nvPr/>
          </p:nvPicPr>
          <p:blipFill rotWithShape="1">
            <a:blip r:embed="rId9" cstate="screen">
              <a:extLst>
                <a:ext uri="{28A0092B-C50C-407E-A947-70E740481C1C}">
                  <a14:useLocalDpi xmlns:a14="http://schemas.microsoft.com/office/drawing/2010/main"/>
                </a:ext>
              </a:extLst>
            </a:blip>
            <a:srcRect l="-43278" t="-53646" r="-43278" b="-53646"/>
            <a:stretch/>
          </p:blipFill>
          <p:spPr bwMode="auto">
            <a:xfrm>
              <a:off x="588263" y="1217924"/>
              <a:ext cx="360000" cy="360000"/>
            </a:xfrm>
            <a:prstGeom prst="ellipse">
              <a:avLst/>
            </a:prstGeom>
            <a:solidFill>
              <a:srgbClr val="FFFFFF"/>
            </a:solidFill>
          </p:spPr>
        </p:pic>
        <p:sp>
          <p:nvSpPr>
            <p:cNvPr id="45" name="TextBox 44">
              <a:extLst>
                <a:ext uri="{FF2B5EF4-FFF2-40B4-BE49-F238E27FC236}">
                  <a16:creationId xmlns:a16="http://schemas.microsoft.com/office/drawing/2014/main" id="{79602010-946B-8CA4-A4B2-7E2D2D6A312C}"/>
                </a:ext>
                <a:ext uri="{C183D7F6-B498-43B3-948B-1728B52AA6E4}">
                  <adec:decorative xmlns:adec="http://schemas.microsoft.com/office/drawing/2017/decorative" val="0"/>
                </a:ext>
              </a:extLst>
            </p:cNvPr>
            <p:cNvSpPr txBox="1"/>
            <p:nvPr/>
          </p:nvSpPr>
          <p:spPr>
            <a:xfrm>
              <a:off x="1047214" y="1320981"/>
              <a:ext cx="1892184" cy="1538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Semibold"/>
                  <a:ea typeface="+mn-ea"/>
                  <a:cs typeface="+mn-cs"/>
                </a:rPr>
                <a:t>Copilot Chat</a:t>
              </a:r>
              <a:r>
                <a:rPr kumimoji="0" lang="en-US" sz="1000" b="0" i="0" u="none" strike="noStrike" kern="0" cap="none" spc="0" normalizeH="0" baseline="30000" noProof="0" dirty="0">
                  <a:ln>
                    <a:noFill/>
                  </a:ln>
                  <a:solidFill>
                    <a:srgbClr val="000000"/>
                  </a:solidFill>
                  <a:effectLst/>
                  <a:uLnTx/>
                  <a:uFillTx/>
                  <a:latin typeface="Segoe UI Semibold"/>
                  <a:ea typeface="+mn-ea"/>
                  <a:cs typeface="Segoe UI" pitchFamily="34" charset="0"/>
                </a:rPr>
                <a:t>2</a:t>
              </a:r>
              <a:endParaRPr kumimoji="0" lang="en-US" sz="1000" b="0" i="0" u="none" strike="noStrike" kern="1200" cap="none" spc="0" normalizeH="0" baseline="0" noProof="0" dirty="0">
                <a:ln>
                  <a:noFill/>
                </a:ln>
                <a:solidFill>
                  <a:srgbClr val="000000"/>
                </a:solidFill>
                <a:effectLst/>
                <a:uLnTx/>
                <a:uFillTx/>
                <a:latin typeface="Segoe UI Semibold"/>
                <a:ea typeface="+mn-ea"/>
                <a:cs typeface="+mn-cs"/>
              </a:endParaRPr>
            </a:p>
          </p:txBody>
        </p:sp>
      </p:grpSp>
      <p:grpSp>
        <p:nvGrpSpPr>
          <p:cNvPr id="51" name="Group 50">
            <a:extLst>
              <a:ext uri="{FF2B5EF4-FFF2-40B4-BE49-F238E27FC236}">
                <a16:creationId xmlns:a16="http://schemas.microsoft.com/office/drawing/2014/main" id="{C6F2D67A-E8A0-4373-1968-8DE48AE6DCA3}"/>
              </a:ext>
            </a:extLst>
          </p:cNvPr>
          <p:cNvGrpSpPr/>
          <p:nvPr/>
        </p:nvGrpSpPr>
        <p:grpSpPr>
          <a:xfrm>
            <a:off x="3776663" y="5266713"/>
            <a:ext cx="2255978" cy="360000"/>
            <a:chOff x="6969125" y="5260425"/>
            <a:chExt cx="2255978" cy="360000"/>
          </a:xfrm>
        </p:grpSpPr>
        <p:sp>
          <p:nvSpPr>
            <p:cNvPr id="53" name="TextBox 52">
              <a:extLst>
                <a:ext uri="{FF2B5EF4-FFF2-40B4-BE49-F238E27FC236}">
                  <a16:creationId xmlns:a16="http://schemas.microsoft.com/office/drawing/2014/main" id="{F0997B1E-90DB-6124-7CFE-C576EAB403A2}"/>
                </a:ext>
                <a:ext uri="{C183D7F6-B498-43B3-948B-1728B52AA6E4}">
                  <adec:decorative xmlns:adec="http://schemas.microsoft.com/office/drawing/2017/decorative" val="0"/>
                </a:ext>
              </a:extLst>
            </p:cNvPr>
            <p:cNvSpPr txBox="1"/>
            <p:nvPr/>
          </p:nvSpPr>
          <p:spPr>
            <a:xfrm>
              <a:off x="7428311" y="5363480"/>
              <a:ext cx="1796792" cy="1538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Semibold"/>
                  <a:ea typeface="+mn-ea"/>
                  <a:cs typeface="+mn-cs"/>
                </a:rPr>
                <a:t>PowerPoint Agent</a:t>
              </a:r>
            </a:p>
          </p:txBody>
        </p:sp>
        <p:sp>
          <p:nvSpPr>
            <p:cNvPr id="54" name="Oval 53">
              <a:extLst>
                <a:ext uri="{FF2B5EF4-FFF2-40B4-BE49-F238E27FC236}">
                  <a16:creationId xmlns:a16="http://schemas.microsoft.com/office/drawing/2014/main" id="{BAE60405-B74A-4A9D-2D88-5BCC4C6E92B6}"/>
                </a:ext>
              </a:extLst>
            </p:cNvPr>
            <p:cNvSpPr>
              <a:spLocks/>
            </p:cNvSpPr>
            <p:nvPr/>
          </p:nvSpPr>
          <p:spPr bwMode="auto">
            <a:xfrm>
              <a:off x="6969125" y="5260425"/>
              <a:ext cx="360000" cy="360000"/>
            </a:xfrm>
            <a:prstGeom prst="ellipse">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IN" sz="2000" b="0" i="0" u="none" strike="noStrike" kern="1200" cap="none" spc="0" normalizeH="0" baseline="0" noProof="0" dirty="0">
                <a:ln>
                  <a:noFill/>
                </a:ln>
                <a:solidFill>
                  <a:srgbClr val="FFFFFF"/>
                </a:solidFill>
                <a:effectLst/>
                <a:uLnTx/>
                <a:uFillTx/>
                <a:latin typeface="Segoe UI"/>
                <a:ea typeface="Segoe UI" pitchFamily="34" charset="0"/>
                <a:cs typeface="Segoe UI" pitchFamily="34" charset="0"/>
              </a:endParaRPr>
            </a:p>
          </p:txBody>
        </p:sp>
      </p:grpSp>
      <p:grpSp>
        <p:nvGrpSpPr>
          <p:cNvPr id="58" name="Group 57">
            <a:extLst>
              <a:ext uri="{FF2B5EF4-FFF2-40B4-BE49-F238E27FC236}">
                <a16:creationId xmlns:a16="http://schemas.microsoft.com/office/drawing/2014/main" id="{863EA409-EF70-B69E-EC26-981D327228C3}"/>
              </a:ext>
            </a:extLst>
          </p:cNvPr>
          <p:cNvGrpSpPr/>
          <p:nvPr/>
        </p:nvGrpSpPr>
        <p:grpSpPr>
          <a:xfrm>
            <a:off x="584200" y="2850537"/>
            <a:ext cx="2351135" cy="360000"/>
            <a:chOff x="588263" y="1217924"/>
            <a:chExt cx="2351135" cy="360000"/>
          </a:xfrm>
        </p:grpSpPr>
        <p:pic>
          <p:nvPicPr>
            <p:cNvPr id="59" name="Picture 58" descr="Zip Co logo SVG free download, id: 101874 - Brandlogos.net">
              <a:hlinkClick r:id="rId8"/>
              <a:extLst>
                <a:ext uri="{FF2B5EF4-FFF2-40B4-BE49-F238E27FC236}">
                  <a16:creationId xmlns:a16="http://schemas.microsoft.com/office/drawing/2014/main" id="{04E182EB-07BA-CC68-C6E0-695DAB262970}"/>
                </a:ext>
              </a:extLst>
            </p:cNvPr>
            <p:cNvPicPr>
              <a:picLocks noChangeAspect="1" noChangeArrowheads="1"/>
            </p:cNvPicPr>
            <p:nvPr/>
          </p:nvPicPr>
          <p:blipFill rotWithShape="1">
            <a:blip r:embed="rId9" cstate="screen">
              <a:extLst>
                <a:ext uri="{28A0092B-C50C-407E-A947-70E740481C1C}">
                  <a14:useLocalDpi xmlns:a14="http://schemas.microsoft.com/office/drawing/2010/main"/>
                </a:ext>
              </a:extLst>
            </a:blip>
            <a:srcRect l="-43278" t="-53646" r="-43278" b="-53646"/>
            <a:stretch/>
          </p:blipFill>
          <p:spPr bwMode="auto">
            <a:xfrm>
              <a:off x="588263" y="1217924"/>
              <a:ext cx="360000" cy="360000"/>
            </a:xfrm>
            <a:prstGeom prst="ellipse">
              <a:avLst/>
            </a:prstGeom>
            <a:solidFill>
              <a:srgbClr val="FFFFFF"/>
            </a:solidFill>
          </p:spPr>
        </p:pic>
        <p:sp>
          <p:nvSpPr>
            <p:cNvPr id="60" name="TextBox 59">
              <a:extLst>
                <a:ext uri="{FF2B5EF4-FFF2-40B4-BE49-F238E27FC236}">
                  <a16:creationId xmlns:a16="http://schemas.microsoft.com/office/drawing/2014/main" id="{C7272FBA-B0E3-792C-C4B9-7450E23A73EC}"/>
                </a:ext>
                <a:ext uri="{C183D7F6-B498-43B3-948B-1728B52AA6E4}">
                  <adec:decorative xmlns:adec="http://schemas.microsoft.com/office/drawing/2017/decorative" val="0"/>
                </a:ext>
              </a:extLst>
            </p:cNvPr>
            <p:cNvSpPr txBox="1"/>
            <p:nvPr/>
          </p:nvSpPr>
          <p:spPr>
            <a:xfrm>
              <a:off x="1047214" y="1320981"/>
              <a:ext cx="1892184" cy="1538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Semibold"/>
                  <a:ea typeface="+mn-ea"/>
                  <a:cs typeface="+mn-cs"/>
                </a:rPr>
                <a:t>Copilot Chat</a:t>
              </a:r>
              <a:r>
                <a:rPr kumimoji="0" lang="en-US" sz="1000" b="0" i="0" u="none" strike="noStrike" kern="0" cap="none" spc="0" normalizeH="0" baseline="30000" noProof="0" dirty="0">
                  <a:ln>
                    <a:noFill/>
                  </a:ln>
                  <a:solidFill>
                    <a:srgbClr val="000000"/>
                  </a:solidFill>
                  <a:effectLst/>
                  <a:uLnTx/>
                  <a:uFillTx/>
                  <a:latin typeface="Segoe UI Semibold"/>
                  <a:ea typeface="+mn-ea"/>
                  <a:cs typeface="Segoe UI" pitchFamily="34" charset="0"/>
                </a:rPr>
                <a:t>2</a:t>
              </a:r>
              <a:endParaRPr kumimoji="0" lang="en-US" sz="1000" b="0" i="0" u="none" strike="noStrike" kern="1200" cap="none" spc="0" normalizeH="0" baseline="0" noProof="0" dirty="0">
                <a:ln>
                  <a:noFill/>
                </a:ln>
                <a:solidFill>
                  <a:srgbClr val="000000"/>
                </a:solidFill>
                <a:effectLst/>
                <a:uLnTx/>
                <a:uFillTx/>
                <a:latin typeface="Segoe UI Semibold"/>
                <a:ea typeface="+mn-ea"/>
                <a:cs typeface="+mn-cs"/>
              </a:endParaRPr>
            </a:p>
          </p:txBody>
        </p:sp>
      </p:grpSp>
      <p:sp>
        <p:nvSpPr>
          <p:cNvPr id="63" name="TextBox 62">
            <a:extLst>
              <a:ext uri="{FF2B5EF4-FFF2-40B4-BE49-F238E27FC236}">
                <a16:creationId xmlns:a16="http://schemas.microsoft.com/office/drawing/2014/main" id="{96C38265-16A0-2801-4799-A4BDB8B5C1DD}"/>
              </a:ext>
              <a:ext uri="{C183D7F6-B498-43B3-948B-1728B52AA6E4}">
                <adec:decorative xmlns:adec="http://schemas.microsoft.com/office/drawing/2017/decorative" val="0"/>
              </a:ext>
            </a:extLst>
          </p:cNvPr>
          <p:cNvSpPr txBox="1"/>
          <p:nvPr/>
        </p:nvSpPr>
        <p:spPr>
          <a:xfrm>
            <a:off x="4235992" y="2953593"/>
            <a:ext cx="1891806" cy="1538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Segoe UI Semibold"/>
                <a:ea typeface="+mn-ea"/>
                <a:cs typeface="+mn-cs"/>
              </a:rPr>
              <a:t>Copilot in Excel</a:t>
            </a:r>
            <a:endParaRPr kumimoji="0" lang="en-US" sz="1000" b="0" i="0" u="none" strike="noStrike" kern="1200" cap="none" spc="0" normalizeH="0" baseline="30000" noProof="0" dirty="0">
              <a:ln>
                <a:noFill/>
              </a:ln>
              <a:solidFill>
                <a:prstClr val="black"/>
              </a:solidFill>
              <a:effectLst/>
              <a:uLnTx/>
              <a:uFillTx/>
              <a:latin typeface="Segoe UI Semibold"/>
              <a:ea typeface="+mn-ea"/>
              <a:cs typeface="+mn-cs"/>
            </a:endParaRPr>
          </a:p>
        </p:txBody>
      </p:sp>
      <p:sp>
        <p:nvSpPr>
          <p:cNvPr id="77" name="TextBox 76">
            <a:extLst>
              <a:ext uri="{FF2B5EF4-FFF2-40B4-BE49-F238E27FC236}">
                <a16:creationId xmlns:a16="http://schemas.microsoft.com/office/drawing/2014/main" id="{658D98E6-8915-E2AB-E579-03E16383DD8B}"/>
              </a:ext>
              <a:ext uri="{C183D7F6-B498-43B3-948B-1728B52AA6E4}">
                <adec:decorative xmlns:adec="http://schemas.microsoft.com/office/drawing/2017/decorative" val="0"/>
              </a:ext>
            </a:extLst>
          </p:cNvPr>
          <p:cNvSpPr txBox="1"/>
          <p:nvPr/>
        </p:nvSpPr>
        <p:spPr>
          <a:xfrm>
            <a:off x="7428076" y="2953593"/>
            <a:ext cx="1892184" cy="1538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Semibold"/>
                <a:ea typeface="+mn-ea"/>
                <a:cs typeface="+mn-cs"/>
              </a:rPr>
              <a:t>Copilot in Teams</a:t>
            </a:r>
          </a:p>
        </p:txBody>
      </p:sp>
      <p:pic>
        <p:nvPicPr>
          <p:cNvPr id="79" name="Graphic 78">
            <a:extLst>
              <a:ext uri="{FF2B5EF4-FFF2-40B4-BE49-F238E27FC236}">
                <a16:creationId xmlns:a16="http://schemas.microsoft.com/office/drawing/2014/main" id="{DF5F6882-EC30-8DDF-AE6C-592748B2B9F3}"/>
              </a:ext>
              <a:ext uri="{C183D7F6-B498-43B3-948B-1728B52AA6E4}">
                <adec:decorative xmlns:adec="http://schemas.microsoft.com/office/drawing/2017/decorative" val="1"/>
              </a:ext>
            </a:extLst>
          </p:cNvPr>
          <p:cNvPicPr>
            <a:picLocks noChangeAspect="1"/>
          </p:cNvPicPr>
          <p:nvPr/>
        </p:nvPicPr>
        <p:blipFill>
          <a:blip>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rot="10800000">
            <a:off x="10939101" y="2929728"/>
            <a:ext cx="274790" cy="274790"/>
          </a:xfrm>
          <a:prstGeom prst="rect">
            <a:avLst/>
          </a:prstGeom>
        </p:spPr>
      </p:pic>
      <p:pic>
        <p:nvPicPr>
          <p:cNvPr id="2" name="Picture 1" descr="Excel logo">
            <a:extLst>
              <a:ext uri="{FF2B5EF4-FFF2-40B4-BE49-F238E27FC236}">
                <a16:creationId xmlns:a16="http://schemas.microsoft.com/office/drawing/2014/main" id="{8AA07DC2-1E80-4873-0E3D-9E8198D9CAAE}"/>
              </a:ext>
            </a:extLst>
          </p:cNvPr>
          <p:cNvPicPr>
            <a:picLocks noChangeAspect="1"/>
          </p:cNvPicPr>
          <p:nvPr/>
        </p:nvPicPr>
        <p:blipFill>
          <a:blip r:embed="rId11">
            <a:extLst>
              <a:ext uri="{28A0092B-C50C-407E-A947-70E740481C1C}">
                <a14:useLocalDpi xmlns:a14="http://schemas.microsoft.com/office/drawing/2010/main" val="0"/>
              </a:ext>
            </a:extLst>
          </a:blip>
          <a:srcRect/>
          <a:stretch/>
        </p:blipFill>
        <p:spPr>
          <a:xfrm>
            <a:off x="3818827" y="2903897"/>
            <a:ext cx="275670" cy="275670"/>
          </a:xfrm>
          <a:prstGeom prst="ellipse">
            <a:avLst/>
          </a:prstGeom>
          <a:solidFill>
            <a:schemeClr val="bg1"/>
          </a:solidFill>
        </p:spPr>
      </p:pic>
      <p:pic>
        <p:nvPicPr>
          <p:cNvPr id="3" name="Picture 2" descr="Word logo">
            <a:extLst>
              <a:ext uri="{FF2B5EF4-FFF2-40B4-BE49-F238E27FC236}">
                <a16:creationId xmlns:a16="http://schemas.microsoft.com/office/drawing/2014/main" id="{C039EE53-E3FE-C69A-BC74-B0DE4785654B}"/>
              </a:ext>
            </a:extLst>
          </p:cNvPr>
          <p:cNvPicPr>
            <a:picLocks noChangeAspect="1"/>
          </p:cNvPicPr>
          <p:nvPr/>
        </p:nvPicPr>
        <p:blipFill>
          <a:blip r:embed="rId12">
            <a:extLst>
              <a:ext uri="{28A0092B-C50C-407E-A947-70E740481C1C}">
                <a14:useLocalDpi xmlns:a14="http://schemas.microsoft.com/office/drawing/2010/main" val="0"/>
              </a:ext>
            </a:extLst>
          </a:blip>
          <a:srcRect/>
          <a:stretch/>
        </p:blipFill>
        <p:spPr>
          <a:xfrm>
            <a:off x="7025142" y="5323424"/>
            <a:ext cx="246576" cy="246576"/>
          </a:xfrm>
          <a:prstGeom prst="ellipse">
            <a:avLst/>
          </a:prstGeom>
          <a:solidFill>
            <a:srgbClr val="FFFFFF"/>
          </a:solidFill>
        </p:spPr>
      </p:pic>
      <p:pic>
        <p:nvPicPr>
          <p:cNvPr id="4" name="Picture 3" descr="PowerPoint logo">
            <a:extLst>
              <a:ext uri="{FF2B5EF4-FFF2-40B4-BE49-F238E27FC236}">
                <a16:creationId xmlns:a16="http://schemas.microsoft.com/office/drawing/2014/main" id="{6113DC89-5E3C-1756-A2A4-DAD9251D8142}"/>
              </a:ext>
            </a:extLst>
          </p:cNvPr>
          <p:cNvPicPr>
            <a:picLocks noChangeAspect="1"/>
          </p:cNvPicPr>
          <p:nvPr/>
        </p:nvPicPr>
        <p:blipFill>
          <a:blip r:embed="rId13"/>
          <a:stretch>
            <a:fillRect/>
          </a:stretch>
        </p:blipFill>
        <p:spPr>
          <a:xfrm>
            <a:off x="3814223" y="5324924"/>
            <a:ext cx="265176" cy="265176"/>
          </a:xfrm>
          <a:prstGeom prst="rect">
            <a:avLst/>
          </a:prstGeom>
        </p:spPr>
      </p:pic>
      <p:pic>
        <p:nvPicPr>
          <p:cNvPr id="5" name="Picture 4" descr="Teams logo">
            <a:extLst>
              <a:ext uri="{FF2B5EF4-FFF2-40B4-BE49-F238E27FC236}">
                <a16:creationId xmlns:a16="http://schemas.microsoft.com/office/drawing/2014/main" id="{0C6FA088-2AF7-02A9-E639-17A696F5C6DB}"/>
              </a:ext>
            </a:extLst>
          </p:cNvPr>
          <p:cNvPicPr>
            <a:picLocks noChangeAspect="1"/>
          </p:cNvPicPr>
          <p:nvPr/>
        </p:nvPicPr>
        <p:blipFill>
          <a:blip r:embed="rId14"/>
          <a:stretch>
            <a:fillRect/>
          </a:stretch>
        </p:blipFill>
        <p:spPr>
          <a:xfrm>
            <a:off x="7015842" y="2909144"/>
            <a:ext cx="265176" cy="265176"/>
          </a:xfrm>
          <a:prstGeom prst="rect">
            <a:avLst/>
          </a:prstGeom>
        </p:spPr>
      </p:pic>
    </p:spTree>
    <p:extLst>
      <p:ext uri="{BB962C8B-B14F-4D97-AF65-F5344CB8AC3E}">
        <p14:creationId xmlns:p14="http://schemas.microsoft.com/office/powerpoint/2010/main" val="3520500838"/>
      </p:ext>
    </p:extLst>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Title 37">
            <a:extLst>
              <a:ext uri="{FF2B5EF4-FFF2-40B4-BE49-F238E27FC236}">
                <a16:creationId xmlns:a16="http://schemas.microsoft.com/office/drawing/2014/main" id="{23F16038-3ECA-5B93-BFF2-67AAFF1E240D}"/>
              </a:ext>
            </a:extLst>
          </p:cNvPr>
          <p:cNvSpPr>
            <a:spLocks noGrp="1"/>
          </p:cNvSpPr>
          <p:nvPr>
            <p:ph type="title"/>
          </p:nvPr>
        </p:nvSpPr>
        <p:spPr>
          <a:xfrm>
            <a:off x="584200" y="387766"/>
            <a:ext cx="5672544" cy="526298"/>
          </a:xfrm>
        </p:spPr>
        <p:txBody>
          <a:bodyPr/>
          <a:lstStyle/>
          <a:p>
            <a:r>
              <a:rPr lang="en-US" noProof="0" dirty="0"/>
              <a:t>A day in the life of a Financial Analyst</a:t>
            </a:r>
          </a:p>
        </p:txBody>
      </p:sp>
      <p:sp>
        <p:nvSpPr>
          <p:cNvPr id="51" name="Text Placeholder 50">
            <a:extLst>
              <a:ext uri="{FF2B5EF4-FFF2-40B4-BE49-F238E27FC236}">
                <a16:creationId xmlns:a16="http://schemas.microsoft.com/office/drawing/2014/main" id="{830B3C9F-A30A-4683-28EB-9F350FC90AC8}"/>
              </a:ext>
            </a:extLst>
          </p:cNvPr>
          <p:cNvSpPr>
            <a:spLocks noGrp="1"/>
          </p:cNvSpPr>
          <p:nvPr>
            <p:ph type="body" sz="quarter" idx="37"/>
          </p:nvPr>
        </p:nvSpPr>
        <p:spPr>
          <a:xfrm>
            <a:off x="10430234" y="521099"/>
            <a:ext cx="1456966" cy="175614"/>
          </a:xfrm>
          <a:ln>
            <a:solidFill>
              <a:schemeClr val="bg1"/>
            </a:solidFill>
          </a:ln>
        </p:spPr>
        <p:txBody>
          <a:bodyPr/>
          <a:lstStyle/>
          <a:p>
            <a:r>
              <a:rPr lang="en-US" dirty="0"/>
              <a:t>Buy</a:t>
            </a:r>
            <a:endParaRPr lang="en-US" noProof="0" dirty="0"/>
          </a:p>
        </p:txBody>
      </p:sp>
      <p:sp>
        <p:nvSpPr>
          <p:cNvPr id="125" name="Text Placeholder 124">
            <a:extLst>
              <a:ext uri="{FF2B5EF4-FFF2-40B4-BE49-F238E27FC236}">
                <a16:creationId xmlns:a16="http://schemas.microsoft.com/office/drawing/2014/main" id="{64378299-3226-F8AA-1A31-4D7A041A6D42}"/>
              </a:ext>
            </a:extLst>
          </p:cNvPr>
          <p:cNvSpPr>
            <a:spLocks noGrp="1"/>
          </p:cNvSpPr>
          <p:nvPr>
            <p:ph type="body" sz="quarter" idx="17"/>
          </p:nvPr>
        </p:nvSpPr>
        <p:spPr>
          <a:xfrm>
            <a:off x="6519107" y="521099"/>
            <a:ext cx="3599821" cy="169277"/>
          </a:xfrm>
        </p:spPr>
        <p:txBody>
          <a:bodyPr/>
          <a:lstStyle/>
          <a:p>
            <a:pPr lvl="0"/>
            <a:r>
              <a:rPr lang="en-US" noProof="0" dirty="0"/>
              <a:t>Microsoft 365 Copilot</a:t>
            </a:r>
          </a:p>
        </p:txBody>
      </p:sp>
      <p:sp>
        <p:nvSpPr>
          <p:cNvPr id="40" name="Text Placeholder 39">
            <a:extLst>
              <a:ext uri="{FF2B5EF4-FFF2-40B4-BE49-F238E27FC236}">
                <a16:creationId xmlns:a16="http://schemas.microsoft.com/office/drawing/2014/main" id="{379D624F-A860-9CE9-D756-825F40761990}"/>
              </a:ext>
            </a:extLst>
          </p:cNvPr>
          <p:cNvSpPr>
            <a:spLocks noGrp="1"/>
          </p:cNvSpPr>
          <p:nvPr>
            <p:ph type="body" sz="quarter" idx="11"/>
          </p:nvPr>
        </p:nvSpPr>
        <p:spPr>
          <a:xfrm>
            <a:off x="584200" y="1684713"/>
            <a:ext cx="2808000" cy="345600"/>
          </a:xfrm>
        </p:spPr>
        <p:txBody>
          <a:bodyPr/>
          <a:lstStyle/>
          <a:p>
            <a:r>
              <a:rPr lang="en-US" noProof="0" dirty="0"/>
              <a:t>8:00 am – Sort data</a:t>
            </a:r>
          </a:p>
        </p:txBody>
      </p:sp>
      <p:sp>
        <p:nvSpPr>
          <p:cNvPr id="20" name="Text Placeholder 19">
            <a:extLst>
              <a:ext uri="{FF2B5EF4-FFF2-40B4-BE49-F238E27FC236}">
                <a16:creationId xmlns:a16="http://schemas.microsoft.com/office/drawing/2014/main" id="{A6E7CE62-9456-8A45-25A4-FE8613EC70E7}"/>
              </a:ext>
            </a:extLst>
          </p:cNvPr>
          <p:cNvSpPr>
            <a:spLocks noGrp="1"/>
          </p:cNvSpPr>
          <p:nvPr>
            <p:ph type="body" sz="quarter" idx="18"/>
          </p:nvPr>
        </p:nvSpPr>
        <p:spPr>
          <a:xfrm>
            <a:off x="584200" y="2128838"/>
            <a:ext cx="2808288" cy="627062"/>
          </a:xfrm>
        </p:spPr>
        <p:txBody>
          <a:bodyPr/>
          <a:lstStyle/>
          <a:p>
            <a:r>
              <a:rPr lang="en-US" noProof="0" dirty="0"/>
              <a:t>Hillary begins her day using Agent Mode in Excel looking at the latest COGS estimates for a new product. She uses it to filter the data to get the view she wants. </a:t>
            </a:r>
          </a:p>
          <a:p>
            <a:endParaRPr lang="en-US" noProof="0" dirty="0"/>
          </a:p>
        </p:txBody>
      </p:sp>
      <p:sp>
        <p:nvSpPr>
          <p:cNvPr id="21" name="Text Placeholder 20">
            <a:extLst>
              <a:ext uri="{FF2B5EF4-FFF2-40B4-BE49-F238E27FC236}">
                <a16:creationId xmlns:a16="http://schemas.microsoft.com/office/drawing/2014/main" id="{07CDA869-35AA-7E6B-0059-7813F399035C}"/>
              </a:ext>
            </a:extLst>
          </p:cNvPr>
          <p:cNvSpPr>
            <a:spLocks noGrp="1"/>
          </p:cNvSpPr>
          <p:nvPr>
            <p:ph type="body" sz="quarter" idx="21"/>
          </p:nvPr>
        </p:nvSpPr>
        <p:spPr>
          <a:xfrm>
            <a:off x="584200" y="3304510"/>
            <a:ext cx="2808000" cy="626701"/>
          </a:xfrm>
        </p:spPr>
        <p:txBody>
          <a:bodyPr/>
          <a:lstStyle/>
          <a:p>
            <a:r>
              <a:rPr lang="en-US" noProof="0" dirty="0"/>
              <a:t>Example prompt: </a:t>
            </a:r>
            <a:r>
              <a:rPr lang="en-US" dirty="0">
                <a:latin typeface="+mj-lt"/>
              </a:rPr>
              <a:t>Sort the data </a:t>
            </a:r>
            <a:r>
              <a:rPr lang="en-US" noProof="0" dirty="0"/>
              <a:t>by product feature and then filter out the Priority 2 features.</a:t>
            </a:r>
          </a:p>
        </p:txBody>
      </p:sp>
      <p:sp>
        <p:nvSpPr>
          <p:cNvPr id="43" name="Text Placeholder 42">
            <a:extLst>
              <a:ext uri="{FF2B5EF4-FFF2-40B4-BE49-F238E27FC236}">
                <a16:creationId xmlns:a16="http://schemas.microsoft.com/office/drawing/2014/main" id="{F786ECC7-0497-8250-7086-DCE4E9C52A03}"/>
              </a:ext>
            </a:extLst>
          </p:cNvPr>
          <p:cNvSpPr>
            <a:spLocks noGrp="1"/>
          </p:cNvSpPr>
          <p:nvPr>
            <p:ph type="body" sz="quarter" idx="22"/>
          </p:nvPr>
        </p:nvSpPr>
        <p:spPr>
          <a:xfrm>
            <a:off x="3776898" y="1684713"/>
            <a:ext cx="2808000" cy="345600"/>
          </a:xfrm>
        </p:spPr>
        <p:txBody>
          <a:bodyPr/>
          <a:lstStyle/>
          <a:p>
            <a:r>
              <a:rPr lang="en-US" noProof="0" dirty="0"/>
              <a:t>9:30 am – Recap a meeting</a:t>
            </a:r>
          </a:p>
        </p:txBody>
      </p:sp>
      <p:sp>
        <p:nvSpPr>
          <p:cNvPr id="22" name="Text Placeholder 21">
            <a:extLst>
              <a:ext uri="{FF2B5EF4-FFF2-40B4-BE49-F238E27FC236}">
                <a16:creationId xmlns:a16="http://schemas.microsoft.com/office/drawing/2014/main" id="{DCB45C07-6CD9-1E53-4148-5F18F8A58007}"/>
              </a:ext>
            </a:extLst>
          </p:cNvPr>
          <p:cNvSpPr>
            <a:spLocks noGrp="1"/>
          </p:cNvSpPr>
          <p:nvPr>
            <p:ph type="body" sz="quarter" idx="23"/>
          </p:nvPr>
        </p:nvSpPr>
        <p:spPr>
          <a:xfrm>
            <a:off x="3776898" y="2128438"/>
            <a:ext cx="2808000" cy="626701"/>
          </a:xfrm>
        </p:spPr>
        <p:txBody>
          <a:bodyPr/>
          <a:lstStyle/>
          <a:p>
            <a:r>
              <a:rPr lang="en-US" noProof="0" dirty="0"/>
              <a:t>She later meets with her manager and IT to discuss reporting requirements updates from the sales organization. She asks Copilot in Teams to summarize the requirements.</a:t>
            </a:r>
          </a:p>
          <a:p>
            <a:endParaRPr lang="en-US" noProof="0" dirty="0"/>
          </a:p>
        </p:txBody>
      </p:sp>
      <p:sp>
        <p:nvSpPr>
          <p:cNvPr id="34" name="Text Placeholder 33">
            <a:extLst>
              <a:ext uri="{FF2B5EF4-FFF2-40B4-BE49-F238E27FC236}">
                <a16:creationId xmlns:a16="http://schemas.microsoft.com/office/drawing/2014/main" id="{8E53DE4B-5F69-1B6B-76BC-D02E95C7E1AA}"/>
              </a:ext>
            </a:extLst>
          </p:cNvPr>
          <p:cNvSpPr>
            <a:spLocks noGrp="1"/>
          </p:cNvSpPr>
          <p:nvPr>
            <p:ph type="body" sz="quarter" idx="24"/>
          </p:nvPr>
        </p:nvSpPr>
        <p:spPr>
          <a:xfrm>
            <a:off x="3776898" y="3304510"/>
            <a:ext cx="2808000" cy="626701"/>
          </a:xfrm>
        </p:spPr>
        <p:txBody>
          <a:bodyPr/>
          <a:lstStyle/>
          <a:p>
            <a:r>
              <a:rPr lang="en-US" noProof="0" dirty="0"/>
              <a:t>Example prompt: </a:t>
            </a:r>
            <a:r>
              <a:rPr lang="en-US" dirty="0">
                <a:latin typeface="+mj-lt"/>
              </a:rPr>
              <a:t>Summarize the meeting</a:t>
            </a:r>
            <a:r>
              <a:rPr lang="en-US" noProof="0" dirty="0"/>
              <a:t> and be sure to list all he reporting requirements that were mentioned.</a:t>
            </a:r>
          </a:p>
        </p:txBody>
      </p:sp>
      <p:sp>
        <p:nvSpPr>
          <p:cNvPr id="46" name="Text Placeholder 45">
            <a:extLst>
              <a:ext uri="{FF2B5EF4-FFF2-40B4-BE49-F238E27FC236}">
                <a16:creationId xmlns:a16="http://schemas.microsoft.com/office/drawing/2014/main" id="{B711834C-1181-E54E-3F35-4A3D37910D88}"/>
              </a:ext>
            </a:extLst>
          </p:cNvPr>
          <p:cNvSpPr>
            <a:spLocks noGrp="1"/>
          </p:cNvSpPr>
          <p:nvPr>
            <p:ph type="body" sz="quarter" idx="25"/>
          </p:nvPr>
        </p:nvSpPr>
        <p:spPr>
          <a:xfrm>
            <a:off x="6969595" y="1684713"/>
            <a:ext cx="2808000" cy="345600"/>
          </a:xfrm>
        </p:spPr>
        <p:txBody>
          <a:bodyPr/>
          <a:lstStyle/>
          <a:p>
            <a:r>
              <a:rPr lang="en-US" noProof="0" dirty="0"/>
              <a:t>10:00 am – Summarize a document</a:t>
            </a:r>
          </a:p>
        </p:txBody>
      </p:sp>
      <p:sp>
        <p:nvSpPr>
          <p:cNvPr id="35" name="Text Placeholder 34">
            <a:extLst>
              <a:ext uri="{FF2B5EF4-FFF2-40B4-BE49-F238E27FC236}">
                <a16:creationId xmlns:a16="http://schemas.microsoft.com/office/drawing/2014/main" id="{BCEC4F31-80AD-86CE-DE84-FD2792F309AF}"/>
              </a:ext>
            </a:extLst>
          </p:cNvPr>
          <p:cNvSpPr>
            <a:spLocks noGrp="1"/>
          </p:cNvSpPr>
          <p:nvPr>
            <p:ph type="body" sz="quarter" idx="26"/>
          </p:nvPr>
        </p:nvSpPr>
        <p:spPr>
          <a:xfrm>
            <a:off x="6969595" y="2128438"/>
            <a:ext cx="2808000" cy="626701"/>
          </a:xfrm>
        </p:spPr>
        <p:txBody>
          <a:bodyPr/>
          <a:lstStyle/>
          <a:p>
            <a:r>
              <a:rPr lang="en-US" noProof="0" dirty="0"/>
              <a:t>Hillary finally gets to her main project for the day and reviews the due diligence information on a potential acquisition target. She asks Copilot to create a summary of the content.</a:t>
            </a:r>
          </a:p>
          <a:p>
            <a:endParaRPr lang="en-US" noProof="0" dirty="0"/>
          </a:p>
        </p:txBody>
      </p:sp>
      <p:sp>
        <p:nvSpPr>
          <p:cNvPr id="36" name="Text Placeholder 35">
            <a:extLst>
              <a:ext uri="{FF2B5EF4-FFF2-40B4-BE49-F238E27FC236}">
                <a16:creationId xmlns:a16="http://schemas.microsoft.com/office/drawing/2014/main" id="{D3C16D3F-955F-942A-92C3-6ACCD5C511ED}"/>
              </a:ext>
            </a:extLst>
          </p:cNvPr>
          <p:cNvSpPr>
            <a:spLocks noGrp="1"/>
          </p:cNvSpPr>
          <p:nvPr>
            <p:ph type="body" sz="quarter" idx="27"/>
          </p:nvPr>
        </p:nvSpPr>
        <p:spPr>
          <a:xfrm>
            <a:off x="6969595" y="3304510"/>
            <a:ext cx="2808000" cy="626701"/>
          </a:xfrm>
        </p:spPr>
        <p:txBody>
          <a:bodyPr/>
          <a:lstStyle/>
          <a:p>
            <a:r>
              <a:rPr lang="en-US" noProof="0" dirty="0"/>
              <a:t>Example prompt: </a:t>
            </a:r>
            <a:r>
              <a:rPr lang="en-US" dirty="0">
                <a:latin typeface="+mj-lt"/>
              </a:rPr>
              <a:t>Summarize the information </a:t>
            </a:r>
            <a:r>
              <a:rPr lang="en-US" u="sng" dirty="0">
                <a:latin typeface="+mj-lt"/>
              </a:rPr>
              <a:t>in </a:t>
            </a:r>
            <a:r>
              <a:rPr lang="en-US" u="sng" noProof="0" dirty="0"/>
              <a:t>[Fabrikam financial data], [Fabrikam operations analysis], [Fabrikam integration plan].</a:t>
            </a:r>
          </a:p>
        </p:txBody>
      </p:sp>
      <p:sp>
        <p:nvSpPr>
          <p:cNvPr id="55" name="Text Placeholder 54">
            <a:extLst>
              <a:ext uri="{FF2B5EF4-FFF2-40B4-BE49-F238E27FC236}">
                <a16:creationId xmlns:a16="http://schemas.microsoft.com/office/drawing/2014/main" id="{A0F9A379-1E39-4C5C-CC0A-EE3070586169}"/>
              </a:ext>
            </a:extLst>
          </p:cNvPr>
          <p:cNvSpPr>
            <a:spLocks noGrp="1"/>
          </p:cNvSpPr>
          <p:nvPr>
            <p:ph type="body" sz="quarter" idx="34"/>
          </p:nvPr>
        </p:nvSpPr>
        <p:spPr>
          <a:xfrm>
            <a:off x="6969595" y="4137995"/>
            <a:ext cx="2808000" cy="345600"/>
          </a:xfrm>
        </p:spPr>
        <p:txBody>
          <a:bodyPr/>
          <a:lstStyle/>
          <a:p>
            <a:r>
              <a:rPr lang="en-US" noProof="0" dirty="0"/>
              <a:t>11:00 am – Create a presentation</a:t>
            </a:r>
          </a:p>
        </p:txBody>
      </p:sp>
      <p:sp>
        <p:nvSpPr>
          <p:cNvPr id="67" name="Text Placeholder 66">
            <a:extLst>
              <a:ext uri="{FF2B5EF4-FFF2-40B4-BE49-F238E27FC236}">
                <a16:creationId xmlns:a16="http://schemas.microsoft.com/office/drawing/2014/main" id="{1D2292E1-6B26-4906-C0E7-1205606EA1B9}"/>
              </a:ext>
            </a:extLst>
          </p:cNvPr>
          <p:cNvSpPr>
            <a:spLocks noGrp="1"/>
          </p:cNvSpPr>
          <p:nvPr>
            <p:ph type="body" sz="quarter" idx="35"/>
          </p:nvPr>
        </p:nvSpPr>
        <p:spPr>
          <a:xfrm>
            <a:off x="6969595" y="4584616"/>
            <a:ext cx="2808000" cy="626701"/>
          </a:xfrm>
        </p:spPr>
        <p:txBody>
          <a:bodyPr>
            <a:normAutofit/>
          </a:bodyPr>
          <a:lstStyle/>
          <a:p>
            <a:r>
              <a:rPr lang="en-US" noProof="0" dirty="0"/>
              <a:t>After creating an overview of the acquisition in Word, she asks </a:t>
            </a:r>
            <a:r>
              <a:rPr lang="en-US" dirty="0"/>
              <a:t>PowerPoint</a:t>
            </a:r>
            <a:r>
              <a:rPr lang="en-US" noProof="0" dirty="0"/>
              <a:t> Agent to turn the document into a</a:t>
            </a:r>
            <a:r>
              <a:rPr lang="en-US" dirty="0"/>
              <a:t> PowerPoint</a:t>
            </a:r>
            <a:r>
              <a:rPr lang="en-US" noProof="0" dirty="0"/>
              <a:t> presentation for the business development team.</a:t>
            </a:r>
          </a:p>
          <a:p>
            <a:endParaRPr lang="en-US" noProof="0" dirty="0"/>
          </a:p>
        </p:txBody>
      </p:sp>
      <p:sp>
        <p:nvSpPr>
          <p:cNvPr id="68" name="Text Placeholder 67">
            <a:extLst>
              <a:ext uri="{FF2B5EF4-FFF2-40B4-BE49-F238E27FC236}">
                <a16:creationId xmlns:a16="http://schemas.microsoft.com/office/drawing/2014/main" id="{6DB93325-38B4-7ECF-9C96-F6FBAD0F1927}"/>
              </a:ext>
            </a:extLst>
          </p:cNvPr>
          <p:cNvSpPr>
            <a:spLocks noGrp="1"/>
          </p:cNvSpPr>
          <p:nvPr>
            <p:ph type="body" sz="quarter" idx="36"/>
          </p:nvPr>
        </p:nvSpPr>
        <p:spPr>
          <a:xfrm>
            <a:off x="6969595" y="5681038"/>
            <a:ext cx="2808000" cy="626701"/>
          </a:xfrm>
        </p:spPr>
        <p:txBody>
          <a:bodyPr/>
          <a:lstStyle/>
          <a:p>
            <a:r>
              <a:rPr lang="en-US" noProof="0" dirty="0"/>
              <a:t>Example prompt: </a:t>
            </a:r>
            <a:r>
              <a:rPr lang="en-US" dirty="0">
                <a:latin typeface="+mj-lt"/>
              </a:rPr>
              <a:t>Create a presentation from</a:t>
            </a:r>
            <a:r>
              <a:rPr lang="en-US" noProof="0" dirty="0"/>
              <a:t> [Fabrikam acquisition overview.docx]</a:t>
            </a:r>
          </a:p>
          <a:p>
            <a:r>
              <a:rPr lang="en-US" u="sng" dirty="0">
                <a:hlinkClick r:id="rId3"/>
              </a:rPr>
              <a:t>Get started with Word, Excel, and PowerPoint Agents</a:t>
            </a:r>
            <a:endParaRPr lang="en-US" noProof="0" dirty="0"/>
          </a:p>
        </p:txBody>
      </p:sp>
      <p:sp>
        <p:nvSpPr>
          <p:cNvPr id="52" name="Text Placeholder 51">
            <a:extLst>
              <a:ext uri="{FF2B5EF4-FFF2-40B4-BE49-F238E27FC236}">
                <a16:creationId xmlns:a16="http://schemas.microsoft.com/office/drawing/2014/main" id="{D4F50D37-8419-C7C8-D6C1-C4A6598A5269}"/>
              </a:ext>
            </a:extLst>
          </p:cNvPr>
          <p:cNvSpPr>
            <a:spLocks noGrp="1"/>
          </p:cNvSpPr>
          <p:nvPr>
            <p:ph type="body" sz="quarter" idx="31"/>
          </p:nvPr>
        </p:nvSpPr>
        <p:spPr>
          <a:xfrm>
            <a:off x="3776898" y="4137995"/>
            <a:ext cx="2808000" cy="345600"/>
          </a:xfrm>
        </p:spPr>
        <p:txBody>
          <a:bodyPr/>
          <a:lstStyle/>
          <a:p>
            <a:r>
              <a:rPr lang="en-US" noProof="0" dirty="0"/>
              <a:t>2:00 pm – Summarize a chat</a:t>
            </a:r>
          </a:p>
        </p:txBody>
      </p:sp>
      <p:sp>
        <p:nvSpPr>
          <p:cNvPr id="65" name="Text Placeholder 64">
            <a:extLst>
              <a:ext uri="{FF2B5EF4-FFF2-40B4-BE49-F238E27FC236}">
                <a16:creationId xmlns:a16="http://schemas.microsoft.com/office/drawing/2014/main" id="{AB468DE7-B6D1-F1A0-0FD7-F1C9B4D01DF3}"/>
              </a:ext>
            </a:extLst>
          </p:cNvPr>
          <p:cNvSpPr>
            <a:spLocks noGrp="1"/>
          </p:cNvSpPr>
          <p:nvPr>
            <p:ph type="body" sz="quarter" idx="32"/>
          </p:nvPr>
        </p:nvSpPr>
        <p:spPr>
          <a:xfrm>
            <a:off x="3776663" y="4584700"/>
            <a:ext cx="2560320" cy="627063"/>
          </a:xfrm>
        </p:spPr>
        <p:txBody>
          <a:bodyPr/>
          <a:lstStyle/>
          <a:p>
            <a:r>
              <a:rPr lang="en-US" noProof="0" dirty="0"/>
              <a:t>Hillary needs to catch up on a chat she started in the morning. She prompts Copilot to summarize the thread.</a:t>
            </a:r>
          </a:p>
        </p:txBody>
      </p:sp>
      <p:sp>
        <p:nvSpPr>
          <p:cNvPr id="66" name="Text Placeholder 65">
            <a:extLst>
              <a:ext uri="{FF2B5EF4-FFF2-40B4-BE49-F238E27FC236}">
                <a16:creationId xmlns:a16="http://schemas.microsoft.com/office/drawing/2014/main" id="{38F08AFB-A062-D2DD-F924-36743ED802C4}"/>
              </a:ext>
            </a:extLst>
          </p:cNvPr>
          <p:cNvSpPr>
            <a:spLocks noGrp="1"/>
          </p:cNvSpPr>
          <p:nvPr>
            <p:ph type="body" sz="quarter" idx="33"/>
          </p:nvPr>
        </p:nvSpPr>
        <p:spPr>
          <a:xfrm>
            <a:off x="3776898" y="5681038"/>
            <a:ext cx="2808000" cy="626701"/>
          </a:xfrm>
        </p:spPr>
        <p:txBody>
          <a:bodyPr/>
          <a:lstStyle/>
          <a:p>
            <a:r>
              <a:rPr lang="en-US" noProof="0" dirty="0"/>
              <a:t>Example prompt: </a:t>
            </a:r>
            <a:r>
              <a:rPr lang="en-US" dirty="0">
                <a:latin typeface="+mj-lt"/>
              </a:rPr>
              <a:t>Summarize this thread </a:t>
            </a:r>
            <a:r>
              <a:rPr lang="en-US" noProof="0" dirty="0"/>
              <a:t>calling out where my name was mentioned and any action items for me.</a:t>
            </a:r>
          </a:p>
        </p:txBody>
      </p:sp>
      <p:sp>
        <p:nvSpPr>
          <p:cNvPr id="49" name="Text Placeholder 48">
            <a:extLst>
              <a:ext uri="{FF2B5EF4-FFF2-40B4-BE49-F238E27FC236}">
                <a16:creationId xmlns:a16="http://schemas.microsoft.com/office/drawing/2014/main" id="{B9B71A71-82A6-309C-41D4-38ECA93CF523}"/>
              </a:ext>
            </a:extLst>
          </p:cNvPr>
          <p:cNvSpPr>
            <a:spLocks noGrp="1"/>
          </p:cNvSpPr>
          <p:nvPr>
            <p:ph type="body" sz="quarter" idx="28"/>
          </p:nvPr>
        </p:nvSpPr>
        <p:spPr>
          <a:xfrm>
            <a:off x="584200" y="4137995"/>
            <a:ext cx="2808000" cy="345600"/>
          </a:xfrm>
        </p:spPr>
        <p:txBody>
          <a:bodyPr/>
          <a:lstStyle/>
          <a:p>
            <a:r>
              <a:rPr lang="en-US" noProof="0" dirty="0"/>
              <a:t>4:00 pm – Get insights</a:t>
            </a:r>
          </a:p>
        </p:txBody>
      </p:sp>
      <p:sp>
        <p:nvSpPr>
          <p:cNvPr id="37" name="Text Placeholder 36">
            <a:extLst>
              <a:ext uri="{FF2B5EF4-FFF2-40B4-BE49-F238E27FC236}">
                <a16:creationId xmlns:a16="http://schemas.microsoft.com/office/drawing/2014/main" id="{8591029F-36E2-575C-7E3A-BFF68DA24444}"/>
              </a:ext>
            </a:extLst>
          </p:cNvPr>
          <p:cNvSpPr>
            <a:spLocks noGrp="1"/>
          </p:cNvSpPr>
          <p:nvPr>
            <p:ph type="body" sz="quarter" idx="29"/>
          </p:nvPr>
        </p:nvSpPr>
        <p:spPr>
          <a:xfrm>
            <a:off x="584200" y="4584700"/>
            <a:ext cx="2808288" cy="627063"/>
          </a:xfrm>
        </p:spPr>
        <p:txBody>
          <a:bodyPr/>
          <a:lstStyle/>
          <a:p>
            <a:r>
              <a:rPr lang="en-US" noProof="0" dirty="0"/>
              <a:t>Hillary heads back into Agent Mode in Excel to update the acquisition numbers with the latest what-if scenarios and create some charts to go into the business planning presentation.</a:t>
            </a:r>
          </a:p>
          <a:p>
            <a:endParaRPr lang="en-US" noProof="0" dirty="0"/>
          </a:p>
        </p:txBody>
      </p:sp>
      <p:sp>
        <p:nvSpPr>
          <p:cNvPr id="64" name="Text Placeholder 63">
            <a:extLst>
              <a:ext uri="{FF2B5EF4-FFF2-40B4-BE49-F238E27FC236}">
                <a16:creationId xmlns:a16="http://schemas.microsoft.com/office/drawing/2014/main" id="{1A9E268B-A46C-1D8C-0436-B980DF49AA35}"/>
              </a:ext>
            </a:extLst>
          </p:cNvPr>
          <p:cNvSpPr>
            <a:spLocks noGrp="1"/>
          </p:cNvSpPr>
          <p:nvPr>
            <p:ph type="body" sz="quarter" idx="30"/>
          </p:nvPr>
        </p:nvSpPr>
        <p:spPr>
          <a:xfrm>
            <a:off x="584200" y="5681038"/>
            <a:ext cx="2808000" cy="626701"/>
          </a:xfrm>
        </p:spPr>
        <p:txBody>
          <a:bodyPr/>
          <a:lstStyle/>
          <a:p>
            <a:r>
              <a:rPr lang="en-US" noProof="0" dirty="0"/>
              <a:t>Example prompt: </a:t>
            </a:r>
            <a:r>
              <a:rPr lang="en-US" dirty="0">
                <a:latin typeface="+mj-lt"/>
              </a:rPr>
              <a:t>What is the impact of</a:t>
            </a:r>
            <a:r>
              <a:rPr lang="en-US" noProof="0" dirty="0"/>
              <a:t> doubling the IT integration budget on the revenue per month?</a:t>
            </a:r>
          </a:p>
        </p:txBody>
      </p:sp>
      <p:sp>
        <p:nvSpPr>
          <p:cNvPr id="56" name="TextBox 55">
            <a:extLst>
              <a:ext uri="{FF2B5EF4-FFF2-40B4-BE49-F238E27FC236}">
                <a16:creationId xmlns:a16="http://schemas.microsoft.com/office/drawing/2014/main" id="{37214391-A987-6AB8-2A0D-A379E348139E}"/>
              </a:ext>
            </a:extLst>
          </p:cNvPr>
          <p:cNvSpPr txBox="1">
            <a:spLocks/>
          </p:cNvSpPr>
          <p:nvPr/>
        </p:nvSpPr>
        <p:spPr>
          <a:xfrm>
            <a:off x="10123962" y="1462475"/>
            <a:ext cx="1905067" cy="861774"/>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C03BC4"/>
                </a:solidFill>
                <a:effectLst/>
                <a:uLnTx/>
                <a:uFillTx/>
                <a:latin typeface="Segoe UI Semibold"/>
                <a:ea typeface="+mn-ea"/>
                <a:cs typeface="+mn-cs"/>
              </a:rPr>
              <a:t>Hillary</a:t>
            </a:r>
            <a:br>
              <a:rPr kumimoji="0" lang="en-US" sz="2400" b="0" i="0" u="none" strike="noStrike" kern="1200" cap="none" spc="0" normalizeH="0" baseline="0" noProof="0" dirty="0">
                <a:ln>
                  <a:noFill/>
                </a:ln>
                <a:solidFill>
                  <a:srgbClr val="C03BC4"/>
                </a:solidFill>
                <a:effectLst/>
                <a:uLnTx/>
                <a:uFillTx/>
                <a:latin typeface="Segoe UI Semibold"/>
                <a:ea typeface="+mn-ea"/>
                <a:cs typeface="+mn-cs"/>
              </a:rPr>
            </a:br>
            <a:r>
              <a:rPr kumimoji="0" lang="en-US" sz="1600" b="0" i="0" u="none" strike="noStrike" kern="1200" cap="none" spc="0" normalizeH="0" baseline="0" noProof="0" dirty="0">
                <a:ln>
                  <a:noFill/>
                </a:ln>
                <a:solidFill>
                  <a:srgbClr val="C03BC4"/>
                </a:solidFill>
                <a:effectLst/>
                <a:uLnTx/>
                <a:uFillTx/>
                <a:latin typeface="Segoe UI"/>
                <a:ea typeface="+mn-ea"/>
                <a:cs typeface="Segoe UI" panose="020B0502040204020203" pitchFamily="34" charset="0"/>
              </a:rPr>
              <a:t>is a Financial Analyst at Contoso.</a:t>
            </a:r>
          </a:p>
        </p:txBody>
      </p:sp>
      <p:pic>
        <p:nvPicPr>
          <p:cNvPr id="86" name="Picture 85" descr="A person holding a computer&#10;&#10;Description automatically generated">
            <a:extLst>
              <a:ext uri="{FF2B5EF4-FFF2-40B4-BE49-F238E27FC236}">
                <a16:creationId xmlns:a16="http://schemas.microsoft.com/office/drawing/2014/main" id="{2F575DF5-3D0C-0DE5-0912-D8FC4DEEE20F}"/>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t="1327" b="1327"/>
          <a:stretch/>
        </p:blipFill>
        <p:spPr>
          <a:xfrm>
            <a:off x="10088090" y="3033741"/>
            <a:ext cx="2103909" cy="3824259"/>
          </a:xfrm>
          <a:prstGeom prst="rect">
            <a:avLst/>
          </a:prstGeom>
        </p:spPr>
      </p:pic>
      <p:sp>
        <p:nvSpPr>
          <p:cNvPr id="31" name="Rectangle: Rounded Corners 6">
            <a:extLst>
              <a:ext uri="{FF2B5EF4-FFF2-40B4-BE49-F238E27FC236}">
                <a16:creationId xmlns:a16="http://schemas.microsoft.com/office/drawing/2014/main" id="{22E16A87-C14B-5106-F5F7-7A8E322E8D38}"/>
              </a:ext>
              <a:ext uri="{C183D7F6-B498-43B3-948B-1728B52AA6E4}">
                <adec:decorative xmlns:adec="http://schemas.microsoft.com/office/drawing/2017/decorative" val="1"/>
              </a:ext>
            </a:extLst>
          </p:cNvPr>
          <p:cNvSpPr/>
          <p:nvPr/>
        </p:nvSpPr>
        <p:spPr bwMode="auto">
          <a:xfrm>
            <a:off x="576356" y="1134767"/>
            <a:ext cx="659514" cy="216000"/>
          </a:xfrm>
          <a:prstGeom prst="roundRect">
            <a:avLst>
              <a:gd name="adj" fmla="val 50000"/>
            </a:avLst>
          </a:prstGeom>
          <a:solidFill>
            <a:srgbClr val="FFA38B"/>
          </a:solidFill>
          <a:ln w="12700">
            <a:solidFill>
              <a:srgbClr val="FFA38B"/>
            </a:solidFill>
            <a:headEnd type="none" w="med" len="med"/>
            <a:tailEnd type="none" w="med" len="med"/>
          </a:ln>
          <a:effectLst>
            <a:outerShdw blurRad="63500" dist="63500" dir="2700000"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Segoe UI Semibold"/>
                <a:ea typeface="+mn-ea"/>
                <a:cs typeface="Segoe UI Semibold" panose="020B0702040204020203" pitchFamily="34" charset="0"/>
              </a:rPr>
              <a:t>Benefits</a:t>
            </a:r>
          </a:p>
        </p:txBody>
      </p:sp>
      <p:grpSp>
        <p:nvGrpSpPr>
          <p:cNvPr id="32" name="Group 31">
            <a:extLst>
              <a:ext uri="{FF2B5EF4-FFF2-40B4-BE49-F238E27FC236}">
                <a16:creationId xmlns:a16="http://schemas.microsoft.com/office/drawing/2014/main" id="{104F2E45-3353-2EF1-BC80-3E8A517E0F3A}"/>
              </a:ext>
            </a:extLst>
          </p:cNvPr>
          <p:cNvGrpSpPr/>
          <p:nvPr/>
        </p:nvGrpSpPr>
        <p:grpSpPr>
          <a:xfrm>
            <a:off x="1286540" y="1134767"/>
            <a:ext cx="1571031" cy="216000"/>
            <a:chOff x="1372194" y="969899"/>
            <a:chExt cx="1571031" cy="216000"/>
          </a:xfrm>
        </p:grpSpPr>
        <p:sp>
          <p:nvSpPr>
            <p:cNvPr id="33" name="Rectangle: Rounded Corners 6">
              <a:extLst>
                <a:ext uri="{FF2B5EF4-FFF2-40B4-BE49-F238E27FC236}">
                  <a16:creationId xmlns:a16="http://schemas.microsoft.com/office/drawing/2014/main" id="{6C846936-7E22-D04A-D7C5-867C11CD309D}"/>
                </a:ext>
                <a:ext uri="{C183D7F6-B498-43B3-948B-1728B52AA6E4}">
                  <adec:decorative xmlns:adec="http://schemas.microsoft.com/office/drawing/2017/decorative" val="1"/>
                </a:ext>
              </a:extLst>
            </p:cNvPr>
            <p:cNvSpPr/>
            <p:nvPr/>
          </p:nvSpPr>
          <p:spPr bwMode="auto">
            <a:xfrm>
              <a:off x="1372194" y="969899"/>
              <a:ext cx="1571031" cy="216000"/>
            </a:xfrm>
            <a:prstGeom prst="roundRect">
              <a:avLst>
                <a:gd name="adj" fmla="val 50000"/>
              </a:avLst>
            </a:prstGeom>
            <a:solidFill>
              <a:srgbClr val="FFFFFF"/>
            </a:solidFill>
            <a:ln w="12700">
              <a:solidFill>
                <a:srgbClr val="FFA38B"/>
              </a:solidFill>
              <a:headEnd type="none" w="med" len="med"/>
              <a:tailEnd type="none" w="med" len="med"/>
            </a:ln>
            <a:effectLst>
              <a:outerShdw blurRad="63500" dist="63500" dir="2700000"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16000" tIns="18288" rIns="36000" bIns="36000" numCol="1" spcCol="0" rtlCol="0" fromWordArt="0" anchor="ctr" anchorCtr="0" forceAA="0" compatLnSpc="1">
              <a:prstTxWarp prst="textNoShape">
                <a:avLst/>
              </a:prstTxWarp>
              <a:noAutofit/>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73391D"/>
                  </a:solidFill>
                  <a:effectLst/>
                  <a:uLnTx/>
                  <a:uFillTx/>
                  <a:latin typeface="Segoe UI Semibold"/>
                  <a:ea typeface="+mn-ea"/>
                  <a:cs typeface="Segoe UI Semibold" panose="020B0702040204020203" pitchFamily="34" charset="0"/>
                </a:rPr>
                <a:t>~1 hour per week</a:t>
              </a:r>
            </a:p>
          </p:txBody>
        </p:sp>
        <p:pic>
          <p:nvPicPr>
            <p:cNvPr id="39" name="Graphic 38">
              <a:extLst>
                <a:ext uri="{FF2B5EF4-FFF2-40B4-BE49-F238E27FC236}">
                  <a16:creationId xmlns:a16="http://schemas.microsoft.com/office/drawing/2014/main" id="{84AD5A27-2C54-BCAD-48A3-8EAAA00BFA60}"/>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421924" y="1005899"/>
              <a:ext cx="144000" cy="144000"/>
            </a:xfrm>
            <a:prstGeom prst="rect">
              <a:avLst/>
            </a:prstGeom>
          </p:spPr>
        </p:pic>
      </p:grpSp>
      <p:grpSp>
        <p:nvGrpSpPr>
          <p:cNvPr id="41" name="Group 40">
            <a:extLst>
              <a:ext uri="{FF2B5EF4-FFF2-40B4-BE49-F238E27FC236}">
                <a16:creationId xmlns:a16="http://schemas.microsoft.com/office/drawing/2014/main" id="{E1B7E68B-FD7E-7211-9C78-C3C9F48A1538}"/>
              </a:ext>
            </a:extLst>
          </p:cNvPr>
          <p:cNvGrpSpPr/>
          <p:nvPr/>
        </p:nvGrpSpPr>
        <p:grpSpPr>
          <a:xfrm>
            <a:off x="5754503" y="1134767"/>
            <a:ext cx="2325078" cy="216000"/>
            <a:chOff x="6235579" y="969899"/>
            <a:chExt cx="2325078" cy="216000"/>
          </a:xfrm>
        </p:grpSpPr>
        <p:sp>
          <p:nvSpPr>
            <p:cNvPr id="42" name="Rectangle: Rounded Corners 6">
              <a:extLst>
                <a:ext uri="{FF2B5EF4-FFF2-40B4-BE49-F238E27FC236}">
                  <a16:creationId xmlns:a16="http://schemas.microsoft.com/office/drawing/2014/main" id="{BA2C0A58-8FC5-6C01-FA30-418057ABAE31}"/>
                </a:ext>
                <a:ext uri="{C183D7F6-B498-43B3-948B-1728B52AA6E4}">
                  <adec:decorative xmlns:adec="http://schemas.microsoft.com/office/drawing/2017/decorative" val="1"/>
                </a:ext>
              </a:extLst>
            </p:cNvPr>
            <p:cNvSpPr/>
            <p:nvPr/>
          </p:nvSpPr>
          <p:spPr bwMode="auto">
            <a:xfrm>
              <a:off x="6235579" y="969899"/>
              <a:ext cx="2325078" cy="216000"/>
            </a:xfrm>
            <a:prstGeom prst="roundRect">
              <a:avLst>
                <a:gd name="adj" fmla="val 50000"/>
              </a:avLst>
            </a:prstGeom>
            <a:solidFill>
              <a:srgbClr val="FFFFFF"/>
            </a:solidFill>
            <a:ln w="12700">
              <a:solidFill>
                <a:srgbClr val="FFA38B"/>
              </a:solidFill>
              <a:headEnd type="none" w="med" len="med"/>
              <a:tailEnd type="none" w="med" len="med"/>
            </a:ln>
            <a:effectLst>
              <a:outerShdw blurRad="63500" dist="63500" dir="2700000"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16000" tIns="18288" rIns="36000" bIns="36000" numCol="1" spcCol="0" rtlCol="0" fromWordArt="0" anchor="ctr" anchorCtr="0" forceAA="0" compatLnSpc="1">
              <a:prstTxWarp prst="textNoShape">
                <a:avLst/>
              </a:prstTxWarp>
              <a:noAutofit/>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73391D"/>
                  </a:solidFill>
                  <a:effectLst/>
                  <a:uLnTx/>
                  <a:uFillTx/>
                  <a:latin typeface="Segoe UI Semibold"/>
                  <a:ea typeface="+mn-ea"/>
                  <a:cs typeface="Segoe UI Semibold" panose="020B0702040204020203" pitchFamily="34" charset="0"/>
                </a:rPr>
                <a:t>Handling more cases</a:t>
              </a:r>
            </a:p>
          </p:txBody>
        </p:sp>
        <p:pic>
          <p:nvPicPr>
            <p:cNvPr id="44" name="Graphic 43">
              <a:extLst>
                <a:ext uri="{FF2B5EF4-FFF2-40B4-BE49-F238E27FC236}">
                  <a16:creationId xmlns:a16="http://schemas.microsoft.com/office/drawing/2014/main" id="{094DBD6B-EC07-4049-EB3B-18B9F6CC73F7}"/>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6282712" y="1005899"/>
              <a:ext cx="144000" cy="144000"/>
            </a:xfrm>
            <a:prstGeom prst="rect">
              <a:avLst/>
            </a:prstGeom>
          </p:spPr>
        </p:pic>
      </p:grpSp>
      <p:grpSp>
        <p:nvGrpSpPr>
          <p:cNvPr id="45" name="Group 44">
            <a:extLst>
              <a:ext uri="{FF2B5EF4-FFF2-40B4-BE49-F238E27FC236}">
                <a16:creationId xmlns:a16="http://schemas.microsoft.com/office/drawing/2014/main" id="{B318B259-EAFD-E350-F95C-AA5BD28A5B0C}"/>
              </a:ext>
            </a:extLst>
          </p:cNvPr>
          <p:cNvGrpSpPr/>
          <p:nvPr/>
        </p:nvGrpSpPr>
        <p:grpSpPr>
          <a:xfrm>
            <a:off x="2908241" y="1134767"/>
            <a:ext cx="2795593" cy="216000"/>
            <a:chOff x="3133720" y="969899"/>
            <a:chExt cx="2795593" cy="216000"/>
          </a:xfrm>
        </p:grpSpPr>
        <p:sp>
          <p:nvSpPr>
            <p:cNvPr id="47" name="Rectangle: Rounded Corners 6">
              <a:extLst>
                <a:ext uri="{FF2B5EF4-FFF2-40B4-BE49-F238E27FC236}">
                  <a16:creationId xmlns:a16="http://schemas.microsoft.com/office/drawing/2014/main" id="{9EF8B6EE-1E59-B3D5-9FA1-76227FF4BD1E}"/>
                </a:ext>
                <a:ext uri="{C183D7F6-B498-43B3-948B-1728B52AA6E4}">
                  <adec:decorative xmlns:adec="http://schemas.microsoft.com/office/drawing/2017/decorative" val="1"/>
                </a:ext>
              </a:extLst>
            </p:cNvPr>
            <p:cNvSpPr/>
            <p:nvPr/>
          </p:nvSpPr>
          <p:spPr bwMode="auto">
            <a:xfrm>
              <a:off x="3133720" y="969899"/>
              <a:ext cx="2795593" cy="216000"/>
            </a:xfrm>
            <a:prstGeom prst="roundRect">
              <a:avLst>
                <a:gd name="adj" fmla="val 50000"/>
              </a:avLst>
            </a:prstGeom>
            <a:solidFill>
              <a:srgbClr val="FFFFFF"/>
            </a:solidFill>
            <a:ln w="12700">
              <a:solidFill>
                <a:srgbClr val="FFA38B"/>
              </a:solidFill>
              <a:headEnd type="none" w="med" len="med"/>
              <a:tailEnd type="none" w="med" len="med"/>
            </a:ln>
            <a:effectLst>
              <a:outerShdw blurRad="63500" dist="63500" dir="2700000"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16000" tIns="18288" rIns="36000" bIns="36000" numCol="1" spcCol="0" rtlCol="0" fromWordArt="0" anchor="ctr" anchorCtr="0" forceAA="0" compatLnSpc="1">
              <a:prstTxWarp prst="textNoShape">
                <a:avLst/>
              </a:prstTxWarp>
              <a:noAutofit/>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73391D"/>
                  </a:solidFill>
                  <a:effectLst/>
                  <a:uLnTx/>
                  <a:uFillTx/>
                  <a:latin typeface="Segoe UI Semibold"/>
                  <a:ea typeface="+mn-ea"/>
                  <a:cs typeface="Segoe UI Semibold" panose="020B0702040204020203" pitchFamily="34" charset="0"/>
                </a:rPr>
                <a:t>Areas of investment: Learning</a:t>
              </a:r>
            </a:p>
          </p:txBody>
        </p:sp>
        <p:pic>
          <p:nvPicPr>
            <p:cNvPr id="48" name="Graphic 47">
              <a:extLst>
                <a:ext uri="{FF2B5EF4-FFF2-40B4-BE49-F238E27FC236}">
                  <a16:creationId xmlns:a16="http://schemas.microsoft.com/office/drawing/2014/main" id="{B2B0BA32-3321-E97D-A22F-E8B480C1012A}"/>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3193555" y="1005899"/>
              <a:ext cx="144000" cy="144000"/>
            </a:xfrm>
            <a:prstGeom prst="rect">
              <a:avLst/>
            </a:prstGeom>
          </p:spPr>
        </p:pic>
      </p:grpSp>
      <p:sp>
        <p:nvSpPr>
          <p:cNvPr id="28" name="TextBox 27">
            <a:extLst>
              <a:ext uri="{FF2B5EF4-FFF2-40B4-BE49-F238E27FC236}">
                <a16:creationId xmlns:a16="http://schemas.microsoft.com/office/drawing/2014/main" id="{D485B8EE-43A5-34D0-AF59-FBC3F9A4A67C}"/>
              </a:ext>
              <a:ext uri="{C183D7F6-B498-43B3-948B-1728B52AA6E4}">
                <adec:decorative xmlns:adec="http://schemas.microsoft.com/office/drawing/2017/decorative" val="0"/>
              </a:ext>
            </a:extLst>
          </p:cNvPr>
          <p:cNvSpPr txBox="1"/>
          <p:nvPr/>
        </p:nvSpPr>
        <p:spPr>
          <a:xfrm>
            <a:off x="1043621" y="2953593"/>
            <a:ext cx="1892184" cy="1538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Segoe UI Semibold"/>
                <a:ea typeface="+mn-ea"/>
                <a:cs typeface="+mn-cs"/>
              </a:rPr>
              <a:t>Copilot in Excel</a:t>
            </a:r>
            <a:endParaRPr kumimoji="0" lang="en-US" sz="1000" b="0" i="0" u="none" strike="noStrike" kern="1200" cap="none" spc="0" normalizeH="0" baseline="30000" noProof="0" dirty="0">
              <a:ln>
                <a:noFill/>
              </a:ln>
              <a:solidFill>
                <a:prstClr val="black"/>
              </a:solidFill>
              <a:effectLst/>
              <a:uLnTx/>
              <a:uFillTx/>
              <a:latin typeface="Segoe UI Semibold"/>
              <a:ea typeface="+mn-ea"/>
              <a:cs typeface="+mn-cs"/>
            </a:endParaRPr>
          </a:p>
        </p:txBody>
      </p:sp>
      <p:grpSp>
        <p:nvGrpSpPr>
          <p:cNvPr id="29" name="Group 28">
            <a:extLst>
              <a:ext uri="{FF2B5EF4-FFF2-40B4-BE49-F238E27FC236}">
                <a16:creationId xmlns:a16="http://schemas.microsoft.com/office/drawing/2014/main" id="{8B1A22C1-420A-6C43-A213-5EEDAA2E09AB}"/>
              </a:ext>
            </a:extLst>
          </p:cNvPr>
          <p:cNvGrpSpPr/>
          <p:nvPr/>
        </p:nvGrpSpPr>
        <p:grpSpPr>
          <a:xfrm>
            <a:off x="6969595" y="2850537"/>
            <a:ext cx="2351135" cy="360000"/>
            <a:chOff x="588263" y="1217924"/>
            <a:chExt cx="2351135" cy="360000"/>
          </a:xfrm>
        </p:grpSpPr>
        <p:pic>
          <p:nvPicPr>
            <p:cNvPr id="30" name="Picture 29" descr="Zip Co logo SVG free download, id: 101874 - Brandlogos.net">
              <a:hlinkClick r:id="rId8"/>
              <a:extLst>
                <a:ext uri="{FF2B5EF4-FFF2-40B4-BE49-F238E27FC236}">
                  <a16:creationId xmlns:a16="http://schemas.microsoft.com/office/drawing/2014/main" id="{F73CBDC9-F34A-9131-1EF6-E122348D1D29}"/>
                </a:ext>
              </a:extLst>
            </p:cNvPr>
            <p:cNvPicPr>
              <a:picLocks noChangeAspect="1" noChangeArrowheads="1"/>
            </p:cNvPicPr>
            <p:nvPr/>
          </p:nvPicPr>
          <p:blipFill rotWithShape="1">
            <a:blip r:embed="rId9" cstate="screen">
              <a:extLst>
                <a:ext uri="{28A0092B-C50C-407E-A947-70E740481C1C}">
                  <a14:useLocalDpi xmlns:a14="http://schemas.microsoft.com/office/drawing/2010/main"/>
                </a:ext>
              </a:extLst>
            </a:blip>
            <a:srcRect l="-43278" t="-53646" r="-43278" b="-53646"/>
            <a:stretch/>
          </p:blipFill>
          <p:spPr bwMode="auto">
            <a:xfrm>
              <a:off x="588263" y="1217924"/>
              <a:ext cx="360000" cy="360000"/>
            </a:xfrm>
            <a:prstGeom prst="ellipse">
              <a:avLst/>
            </a:prstGeom>
            <a:solidFill>
              <a:srgbClr val="FFFFFF"/>
            </a:solidFill>
          </p:spPr>
        </p:pic>
        <p:sp>
          <p:nvSpPr>
            <p:cNvPr id="50" name="TextBox 49">
              <a:extLst>
                <a:ext uri="{FF2B5EF4-FFF2-40B4-BE49-F238E27FC236}">
                  <a16:creationId xmlns:a16="http://schemas.microsoft.com/office/drawing/2014/main" id="{44679320-6DAC-8DDA-98F0-8B387225DF16}"/>
                </a:ext>
                <a:ext uri="{C183D7F6-B498-43B3-948B-1728B52AA6E4}">
                  <adec:decorative xmlns:adec="http://schemas.microsoft.com/office/drawing/2017/decorative" val="0"/>
                </a:ext>
              </a:extLst>
            </p:cNvPr>
            <p:cNvSpPr txBox="1"/>
            <p:nvPr/>
          </p:nvSpPr>
          <p:spPr>
            <a:xfrm>
              <a:off x="1047214" y="1320981"/>
              <a:ext cx="1892184" cy="1538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Semibold"/>
                  <a:ea typeface="+mn-ea"/>
                  <a:cs typeface="+mn-cs"/>
                </a:rPr>
                <a:t>Copilot Chat</a:t>
              </a:r>
              <a:r>
                <a:rPr kumimoji="0" lang="en-US" sz="1000" b="0" i="0" u="none" strike="noStrike" kern="0" cap="none" spc="0" normalizeH="0" baseline="30000" noProof="0" dirty="0">
                  <a:ln>
                    <a:noFill/>
                  </a:ln>
                  <a:solidFill>
                    <a:srgbClr val="000000"/>
                  </a:solidFill>
                  <a:effectLst/>
                  <a:uLnTx/>
                  <a:uFillTx/>
                  <a:latin typeface="Segoe UI Semibold"/>
                  <a:ea typeface="+mn-ea"/>
                  <a:cs typeface="Segoe UI" pitchFamily="34" charset="0"/>
                </a:rPr>
                <a:t>2</a:t>
              </a:r>
              <a:endParaRPr kumimoji="0" lang="en-US" sz="1000" b="0" i="0" u="none" strike="noStrike" kern="1200" cap="none" spc="0" normalizeH="0" baseline="0" noProof="0" dirty="0">
                <a:ln>
                  <a:noFill/>
                </a:ln>
                <a:solidFill>
                  <a:srgbClr val="000000"/>
                </a:solidFill>
                <a:effectLst/>
                <a:uLnTx/>
                <a:uFillTx/>
                <a:latin typeface="Segoe UI Semibold"/>
                <a:ea typeface="+mn-ea"/>
                <a:cs typeface="+mn-cs"/>
              </a:endParaRPr>
            </a:p>
          </p:txBody>
        </p:sp>
      </p:grpSp>
      <p:sp>
        <p:nvSpPr>
          <p:cNvPr id="59" name="TextBox 58">
            <a:extLst>
              <a:ext uri="{FF2B5EF4-FFF2-40B4-BE49-F238E27FC236}">
                <a16:creationId xmlns:a16="http://schemas.microsoft.com/office/drawing/2014/main" id="{231F5D74-3D67-C060-E664-E299BC23F7C4}"/>
              </a:ext>
              <a:ext uri="{C183D7F6-B498-43B3-948B-1728B52AA6E4}">
                <adec:decorative xmlns:adec="http://schemas.microsoft.com/office/drawing/2017/decorative" val="0"/>
              </a:ext>
            </a:extLst>
          </p:cNvPr>
          <p:cNvSpPr txBox="1"/>
          <p:nvPr/>
        </p:nvSpPr>
        <p:spPr>
          <a:xfrm>
            <a:off x="4235614" y="2953593"/>
            <a:ext cx="1892184" cy="1538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Semibold"/>
                <a:ea typeface="+mn-ea"/>
                <a:cs typeface="+mn-cs"/>
              </a:rPr>
              <a:t>Copilot in Teams</a:t>
            </a:r>
          </a:p>
        </p:txBody>
      </p:sp>
      <p:sp>
        <p:nvSpPr>
          <p:cNvPr id="62" name="TextBox 61">
            <a:extLst>
              <a:ext uri="{FF2B5EF4-FFF2-40B4-BE49-F238E27FC236}">
                <a16:creationId xmlns:a16="http://schemas.microsoft.com/office/drawing/2014/main" id="{7E2D2853-941B-45B2-4B64-186914DC0449}"/>
              </a:ext>
              <a:ext uri="{C183D7F6-B498-43B3-948B-1728B52AA6E4}">
                <adec:decorative xmlns:adec="http://schemas.microsoft.com/office/drawing/2017/decorative" val="0"/>
              </a:ext>
            </a:extLst>
          </p:cNvPr>
          <p:cNvSpPr txBox="1"/>
          <p:nvPr/>
        </p:nvSpPr>
        <p:spPr>
          <a:xfrm>
            <a:off x="1043621" y="5369769"/>
            <a:ext cx="1892184" cy="1538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Segoe UI Semibold"/>
                <a:ea typeface="+mn-ea"/>
                <a:cs typeface="+mn-cs"/>
              </a:rPr>
              <a:t>Copilot in Excel</a:t>
            </a:r>
            <a:endParaRPr kumimoji="0" lang="en-US" sz="1000" b="0" i="0" u="none" strike="noStrike" kern="1200" cap="none" spc="0" normalizeH="0" baseline="30000" noProof="0" dirty="0">
              <a:ln>
                <a:noFill/>
              </a:ln>
              <a:solidFill>
                <a:prstClr val="black"/>
              </a:solidFill>
              <a:effectLst/>
              <a:uLnTx/>
              <a:uFillTx/>
              <a:latin typeface="Segoe UI Semibold"/>
              <a:ea typeface="+mn-ea"/>
              <a:cs typeface="+mn-cs"/>
            </a:endParaRPr>
          </a:p>
        </p:txBody>
      </p:sp>
      <p:grpSp>
        <p:nvGrpSpPr>
          <p:cNvPr id="63" name="Group 62">
            <a:extLst>
              <a:ext uri="{FF2B5EF4-FFF2-40B4-BE49-F238E27FC236}">
                <a16:creationId xmlns:a16="http://schemas.microsoft.com/office/drawing/2014/main" id="{FFB52BEC-75C1-7755-3A23-CF979FE47F6F}"/>
              </a:ext>
            </a:extLst>
          </p:cNvPr>
          <p:cNvGrpSpPr/>
          <p:nvPr/>
        </p:nvGrpSpPr>
        <p:grpSpPr>
          <a:xfrm>
            <a:off x="3776663" y="5266713"/>
            <a:ext cx="2351135" cy="360000"/>
            <a:chOff x="588263" y="1217924"/>
            <a:chExt cx="2351135" cy="360000"/>
          </a:xfrm>
        </p:grpSpPr>
        <p:pic>
          <p:nvPicPr>
            <p:cNvPr id="69" name="Picture 68" descr="Zip Co logo SVG free download, id: 101874 - Brandlogos.net">
              <a:hlinkClick r:id="rId8"/>
              <a:extLst>
                <a:ext uri="{FF2B5EF4-FFF2-40B4-BE49-F238E27FC236}">
                  <a16:creationId xmlns:a16="http://schemas.microsoft.com/office/drawing/2014/main" id="{2734B7D7-7DF3-A78F-1F32-8F7E85E957A9}"/>
                </a:ext>
              </a:extLst>
            </p:cNvPr>
            <p:cNvPicPr>
              <a:picLocks noChangeAspect="1" noChangeArrowheads="1"/>
            </p:cNvPicPr>
            <p:nvPr/>
          </p:nvPicPr>
          <p:blipFill rotWithShape="1">
            <a:blip r:embed="rId9" cstate="screen">
              <a:extLst>
                <a:ext uri="{28A0092B-C50C-407E-A947-70E740481C1C}">
                  <a14:useLocalDpi xmlns:a14="http://schemas.microsoft.com/office/drawing/2010/main"/>
                </a:ext>
              </a:extLst>
            </a:blip>
            <a:srcRect l="-43278" t="-53646" r="-43278" b="-53646"/>
            <a:stretch/>
          </p:blipFill>
          <p:spPr bwMode="auto">
            <a:xfrm>
              <a:off x="588263" y="1217924"/>
              <a:ext cx="360000" cy="360000"/>
            </a:xfrm>
            <a:prstGeom prst="ellipse">
              <a:avLst/>
            </a:prstGeom>
            <a:solidFill>
              <a:srgbClr val="FFFFFF"/>
            </a:solidFill>
          </p:spPr>
        </p:pic>
        <p:sp>
          <p:nvSpPr>
            <p:cNvPr id="70" name="TextBox 69">
              <a:extLst>
                <a:ext uri="{FF2B5EF4-FFF2-40B4-BE49-F238E27FC236}">
                  <a16:creationId xmlns:a16="http://schemas.microsoft.com/office/drawing/2014/main" id="{EE91E7DB-FEFB-6835-1C77-08B091543F91}"/>
                </a:ext>
                <a:ext uri="{C183D7F6-B498-43B3-948B-1728B52AA6E4}">
                  <adec:decorative xmlns:adec="http://schemas.microsoft.com/office/drawing/2017/decorative" val="0"/>
                </a:ext>
              </a:extLst>
            </p:cNvPr>
            <p:cNvSpPr txBox="1"/>
            <p:nvPr/>
          </p:nvSpPr>
          <p:spPr>
            <a:xfrm>
              <a:off x="1047214" y="1320981"/>
              <a:ext cx="1892184" cy="1538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Semibold"/>
                  <a:ea typeface="+mn-ea"/>
                  <a:cs typeface="+mn-cs"/>
                </a:rPr>
                <a:t>Copilot Chat</a:t>
              </a:r>
              <a:r>
                <a:rPr kumimoji="0" lang="en-US" sz="1000" b="0" i="0" u="none" strike="noStrike" kern="0" cap="none" spc="0" normalizeH="0" baseline="30000" noProof="0" dirty="0">
                  <a:ln>
                    <a:noFill/>
                  </a:ln>
                  <a:solidFill>
                    <a:srgbClr val="000000"/>
                  </a:solidFill>
                  <a:effectLst/>
                  <a:uLnTx/>
                  <a:uFillTx/>
                  <a:latin typeface="Segoe UI Semibold"/>
                  <a:ea typeface="+mn-ea"/>
                  <a:cs typeface="Segoe UI" pitchFamily="34" charset="0"/>
                </a:rPr>
                <a:t>2</a:t>
              </a:r>
              <a:endParaRPr kumimoji="0" lang="en-US" sz="1000" b="0" i="0" u="none" strike="noStrike" kern="1200" cap="none" spc="0" normalizeH="0" baseline="0" noProof="0" dirty="0">
                <a:ln>
                  <a:noFill/>
                </a:ln>
                <a:solidFill>
                  <a:srgbClr val="000000"/>
                </a:solidFill>
                <a:effectLst/>
                <a:uLnTx/>
                <a:uFillTx/>
                <a:latin typeface="Segoe UI Semibold"/>
                <a:ea typeface="+mn-ea"/>
                <a:cs typeface="+mn-cs"/>
              </a:endParaRPr>
            </a:p>
          </p:txBody>
        </p:sp>
      </p:grpSp>
      <p:grpSp>
        <p:nvGrpSpPr>
          <p:cNvPr id="71" name="Group 70">
            <a:extLst>
              <a:ext uri="{FF2B5EF4-FFF2-40B4-BE49-F238E27FC236}">
                <a16:creationId xmlns:a16="http://schemas.microsoft.com/office/drawing/2014/main" id="{BEF063E0-7DDC-B5B9-390F-E22140F4A73B}"/>
              </a:ext>
            </a:extLst>
          </p:cNvPr>
          <p:cNvGrpSpPr/>
          <p:nvPr/>
        </p:nvGrpSpPr>
        <p:grpSpPr>
          <a:xfrm>
            <a:off x="6969125" y="5266713"/>
            <a:ext cx="2255978" cy="360000"/>
            <a:chOff x="6969125" y="5260425"/>
            <a:chExt cx="2255978" cy="360000"/>
          </a:xfrm>
        </p:grpSpPr>
        <p:sp>
          <p:nvSpPr>
            <p:cNvPr id="72" name="TextBox 71">
              <a:extLst>
                <a:ext uri="{FF2B5EF4-FFF2-40B4-BE49-F238E27FC236}">
                  <a16:creationId xmlns:a16="http://schemas.microsoft.com/office/drawing/2014/main" id="{DDB94CCD-1394-2E6C-9BC1-3C82AE9C2177}"/>
                </a:ext>
                <a:ext uri="{C183D7F6-B498-43B3-948B-1728B52AA6E4}">
                  <adec:decorative xmlns:adec="http://schemas.microsoft.com/office/drawing/2017/decorative" val="0"/>
                </a:ext>
              </a:extLst>
            </p:cNvPr>
            <p:cNvSpPr txBox="1"/>
            <p:nvPr/>
          </p:nvSpPr>
          <p:spPr>
            <a:xfrm>
              <a:off x="7428311" y="5363480"/>
              <a:ext cx="1796792" cy="1538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Semibold"/>
                  <a:ea typeface="+mn-ea"/>
                  <a:cs typeface="+mn-cs"/>
                </a:rPr>
                <a:t>PowerPoint Agent</a:t>
              </a:r>
            </a:p>
          </p:txBody>
        </p:sp>
        <p:sp>
          <p:nvSpPr>
            <p:cNvPr id="73" name="Oval 72">
              <a:extLst>
                <a:ext uri="{FF2B5EF4-FFF2-40B4-BE49-F238E27FC236}">
                  <a16:creationId xmlns:a16="http://schemas.microsoft.com/office/drawing/2014/main" id="{E77D832D-4EC9-FBF8-DD54-4093ECCAA12C}"/>
                </a:ext>
              </a:extLst>
            </p:cNvPr>
            <p:cNvSpPr>
              <a:spLocks/>
            </p:cNvSpPr>
            <p:nvPr/>
          </p:nvSpPr>
          <p:spPr bwMode="auto">
            <a:xfrm>
              <a:off x="6969125" y="5260425"/>
              <a:ext cx="360000" cy="360000"/>
            </a:xfrm>
            <a:prstGeom prst="ellipse">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IN" sz="2000" b="0" i="0" u="none" strike="noStrike" kern="1200" cap="none" spc="0" normalizeH="0" baseline="0" noProof="0" dirty="0">
                <a:ln>
                  <a:noFill/>
                </a:ln>
                <a:solidFill>
                  <a:srgbClr val="FFFFFF"/>
                </a:solidFill>
                <a:effectLst/>
                <a:uLnTx/>
                <a:uFillTx/>
                <a:latin typeface="Segoe UI"/>
                <a:ea typeface="Segoe UI" pitchFamily="34" charset="0"/>
                <a:cs typeface="Segoe UI" pitchFamily="34" charset="0"/>
              </a:endParaRPr>
            </a:p>
          </p:txBody>
        </p:sp>
      </p:grpSp>
      <p:pic>
        <p:nvPicPr>
          <p:cNvPr id="78" name="Graphic 77">
            <a:extLst>
              <a:ext uri="{FF2B5EF4-FFF2-40B4-BE49-F238E27FC236}">
                <a16:creationId xmlns:a16="http://schemas.microsoft.com/office/drawing/2014/main" id="{81EBF952-29AC-C56B-76AE-D972ADE9DF92}"/>
              </a:ext>
              <a:ext uri="{C183D7F6-B498-43B3-948B-1728B52AA6E4}">
                <adec:decorative xmlns:adec="http://schemas.microsoft.com/office/drawing/2017/decorative" val="1"/>
              </a:ext>
            </a:extLst>
          </p:cNvPr>
          <p:cNvPicPr>
            <a:picLocks noChangeAspect="1"/>
          </p:cNvPicPr>
          <p:nvPr/>
        </p:nvPicPr>
        <p:blipFill>
          <a:blip>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rot="10800000">
            <a:off x="10939101" y="2929728"/>
            <a:ext cx="274790" cy="274790"/>
          </a:xfrm>
          <a:prstGeom prst="rect">
            <a:avLst/>
          </a:prstGeom>
        </p:spPr>
      </p:pic>
      <p:pic>
        <p:nvPicPr>
          <p:cNvPr id="2" name="Picture 1" descr="Excel logo">
            <a:extLst>
              <a:ext uri="{FF2B5EF4-FFF2-40B4-BE49-F238E27FC236}">
                <a16:creationId xmlns:a16="http://schemas.microsoft.com/office/drawing/2014/main" id="{1F8456AB-3DC5-4192-2352-8D410B7438E4}"/>
              </a:ext>
            </a:extLst>
          </p:cNvPr>
          <p:cNvPicPr>
            <a:picLocks noChangeAspect="1"/>
          </p:cNvPicPr>
          <p:nvPr/>
        </p:nvPicPr>
        <p:blipFill>
          <a:blip r:embed="rId11">
            <a:extLst>
              <a:ext uri="{28A0092B-C50C-407E-A947-70E740481C1C}">
                <a14:useLocalDpi xmlns:a14="http://schemas.microsoft.com/office/drawing/2010/main" val="0"/>
              </a:ext>
            </a:extLst>
          </a:blip>
          <a:srcRect/>
          <a:stretch/>
        </p:blipFill>
        <p:spPr>
          <a:xfrm>
            <a:off x="663115" y="2892370"/>
            <a:ext cx="254134" cy="254134"/>
          </a:xfrm>
          <a:prstGeom prst="ellipse">
            <a:avLst/>
          </a:prstGeom>
          <a:solidFill>
            <a:schemeClr val="bg1"/>
          </a:solidFill>
        </p:spPr>
      </p:pic>
      <p:pic>
        <p:nvPicPr>
          <p:cNvPr id="3" name="Picture 2" descr="Excel logo">
            <a:extLst>
              <a:ext uri="{FF2B5EF4-FFF2-40B4-BE49-F238E27FC236}">
                <a16:creationId xmlns:a16="http://schemas.microsoft.com/office/drawing/2014/main" id="{97D3A4E9-1037-F622-A902-2BF636136862}"/>
              </a:ext>
            </a:extLst>
          </p:cNvPr>
          <p:cNvPicPr>
            <a:picLocks noChangeAspect="1"/>
          </p:cNvPicPr>
          <p:nvPr/>
        </p:nvPicPr>
        <p:blipFill>
          <a:blip r:embed="rId11">
            <a:extLst>
              <a:ext uri="{28A0092B-C50C-407E-A947-70E740481C1C}">
                <a14:useLocalDpi xmlns:a14="http://schemas.microsoft.com/office/drawing/2010/main" val="0"/>
              </a:ext>
            </a:extLst>
          </a:blip>
          <a:srcRect/>
          <a:stretch/>
        </p:blipFill>
        <p:spPr>
          <a:xfrm>
            <a:off x="612827" y="5285829"/>
            <a:ext cx="254134" cy="254134"/>
          </a:xfrm>
          <a:prstGeom prst="ellipse">
            <a:avLst/>
          </a:prstGeom>
          <a:solidFill>
            <a:schemeClr val="bg1"/>
          </a:solidFill>
        </p:spPr>
      </p:pic>
      <p:pic>
        <p:nvPicPr>
          <p:cNvPr id="4" name="Picture 3" descr="PowerPoint logo">
            <a:extLst>
              <a:ext uri="{FF2B5EF4-FFF2-40B4-BE49-F238E27FC236}">
                <a16:creationId xmlns:a16="http://schemas.microsoft.com/office/drawing/2014/main" id="{0EBF798E-61F6-92E4-FFDE-BFA05FDE194F}"/>
              </a:ext>
            </a:extLst>
          </p:cNvPr>
          <p:cNvPicPr>
            <a:picLocks noChangeAspect="1"/>
          </p:cNvPicPr>
          <p:nvPr/>
        </p:nvPicPr>
        <p:blipFill>
          <a:blip r:embed="rId12"/>
          <a:stretch>
            <a:fillRect/>
          </a:stretch>
        </p:blipFill>
        <p:spPr>
          <a:xfrm>
            <a:off x="7016537" y="5274787"/>
            <a:ext cx="265176" cy="265176"/>
          </a:xfrm>
          <a:prstGeom prst="rect">
            <a:avLst/>
          </a:prstGeom>
        </p:spPr>
      </p:pic>
      <p:pic>
        <p:nvPicPr>
          <p:cNvPr id="5" name="Picture 4" descr="Teams logo">
            <a:extLst>
              <a:ext uri="{FF2B5EF4-FFF2-40B4-BE49-F238E27FC236}">
                <a16:creationId xmlns:a16="http://schemas.microsoft.com/office/drawing/2014/main" id="{5CC3848B-F519-6A3B-FF6D-4405B6C65F66}"/>
              </a:ext>
            </a:extLst>
          </p:cNvPr>
          <p:cNvPicPr>
            <a:picLocks noChangeAspect="1"/>
          </p:cNvPicPr>
          <p:nvPr/>
        </p:nvPicPr>
        <p:blipFill>
          <a:blip r:embed="rId13"/>
          <a:stretch>
            <a:fillRect/>
          </a:stretch>
        </p:blipFill>
        <p:spPr>
          <a:xfrm>
            <a:off x="3824075" y="2886849"/>
            <a:ext cx="265176" cy="265176"/>
          </a:xfrm>
          <a:prstGeom prst="rect">
            <a:avLst/>
          </a:prstGeom>
        </p:spPr>
      </p:pic>
    </p:spTree>
    <p:extLst>
      <p:ext uri="{BB962C8B-B14F-4D97-AF65-F5344CB8AC3E}">
        <p14:creationId xmlns:p14="http://schemas.microsoft.com/office/powerpoint/2010/main" val="81719923"/>
      </p:ext>
    </p:extLst>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Title 37">
            <a:extLst>
              <a:ext uri="{FF2B5EF4-FFF2-40B4-BE49-F238E27FC236}">
                <a16:creationId xmlns:a16="http://schemas.microsoft.com/office/drawing/2014/main" id="{23F16038-3ECA-5B93-BFF2-67AAFF1E240D}"/>
              </a:ext>
            </a:extLst>
          </p:cNvPr>
          <p:cNvSpPr>
            <a:spLocks noGrp="1"/>
          </p:cNvSpPr>
          <p:nvPr>
            <p:ph type="title"/>
          </p:nvPr>
        </p:nvSpPr>
        <p:spPr>
          <a:xfrm>
            <a:off x="584200" y="387766"/>
            <a:ext cx="5672544" cy="526298"/>
          </a:xfrm>
        </p:spPr>
        <p:txBody>
          <a:bodyPr/>
          <a:lstStyle/>
          <a:p>
            <a:r>
              <a:rPr lang="en-US" noProof="0" dirty="0"/>
              <a:t>A day in the life of a Finance Manager</a:t>
            </a:r>
          </a:p>
        </p:txBody>
      </p:sp>
      <p:sp>
        <p:nvSpPr>
          <p:cNvPr id="23" name="Text Placeholder 22">
            <a:extLst>
              <a:ext uri="{FF2B5EF4-FFF2-40B4-BE49-F238E27FC236}">
                <a16:creationId xmlns:a16="http://schemas.microsoft.com/office/drawing/2014/main" id="{1D916D14-9732-1289-3A7F-3CAE7C63F3F3}"/>
              </a:ext>
            </a:extLst>
          </p:cNvPr>
          <p:cNvSpPr>
            <a:spLocks noGrp="1"/>
          </p:cNvSpPr>
          <p:nvPr>
            <p:ph type="body" sz="quarter" idx="37"/>
          </p:nvPr>
        </p:nvSpPr>
        <p:spPr>
          <a:xfrm>
            <a:off x="10430234" y="521099"/>
            <a:ext cx="1456966" cy="175614"/>
          </a:xfrm>
        </p:spPr>
        <p:txBody>
          <a:bodyPr/>
          <a:lstStyle/>
          <a:p>
            <a:r>
              <a:rPr lang="en-US" noProof="0" dirty="0"/>
              <a:t>Extend</a:t>
            </a:r>
          </a:p>
        </p:txBody>
      </p:sp>
      <p:sp>
        <p:nvSpPr>
          <p:cNvPr id="125" name="Text Placeholder 124">
            <a:extLst>
              <a:ext uri="{FF2B5EF4-FFF2-40B4-BE49-F238E27FC236}">
                <a16:creationId xmlns:a16="http://schemas.microsoft.com/office/drawing/2014/main" id="{64378299-3226-F8AA-1A31-4D7A041A6D42}"/>
              </a:ext>
            </a:extLst>
          </p:cNvPr>
          <p:cNvSpPr>
            <a:spLocks noGrp="1"/>
          </p:cNvSpPr>
          <p:nvPr>
            <p:ph type="body" sz="quarter" idx="17"/>
          </p:nvPr>
        </p:nvSpPr>
        <p:spPr>
          <a:xfrm>
            <a:off x="6519107" y="521099"/>
            <a:ext cx="3599821" cy="169277"/>
          </a:xfrm>
        </p:spPr>
        <p:txBody>
          <a:bodyPr/>
          <a:lstStyle/>
          <a:p>
            <a:r>
              <a:rPr lang="en-US" noProof="0" dirty="0"/>
              <a:t>Microsoft 365 Copilot and Copilot Studio</a:t>
            </a:r>
          </a:p>
        </p:txBody>
      </p:sp>
      <p:sp>
        <p:nvSpPr>
          <p:cNvPr id="40" name="Text Placeholder 39">
            <a:extLst>
              <a:ext uri="{FF2B5EF4-FFF2-40B4-BE49-F238E27FC236}">
                <a16:creationId xmlns:a16="http://schemas.microsoft.com/office/drawing/2014/main" id="{379D624F-A860-9CE9-D756-825F40761990}"/>
              </a:ext>
            </a:extLst>
          </p:cNvPr>
          <p:cNvSpPr>
            <a:spLocks noGrp="1"/>
          </p:cNvSpPr>
          <p:nvPr>
            <p:ph type="body" sz="quarter" idx="11"/>
          </p:nvPr>
        </p:nvSpPr>
        <p:spPr>
          <a:xfrm>
            <a:off x="584200" y="1684713"/>
            <a:ext cx="2808000" cy="345600"/>
          </a:xfrm>
        </p:spPr>
        <p:txBody>
          <a:bodyPr/>
          <a:lstStyle/>
          <a:p>
            <a:r>
              <a:rPr lang="en-US" noProof="0" dirty="0"/>
              <a:t>8:00 am – Create a presentation</a:t>
            </a:r>
          </a:p>
        </p:txBody>
      </p:sp>
      <p:sp>
        <p:nvSpPr>
          <p:cNvPr id="22" name="Text Placeholder 21">
            <a:extLst>
              <a:ext uri="{FF2B5EF4-FFF2-40B4-BE49-F238E27FC236}">
                <a16:creationId xmlns:a16="http://schemas.microsoft.com/office/drawing/2014/main" id="{C8E0F4B9-BD03-23FF-3B64-BA48B1AEAF7A}"/>
              </a:ext>
            </a:extLst>
          </p:cNvPr>
          <p:cNvSpPr>
            <a:spLocks noGrp="1"/>
          </p:cNvSpPr>
          <p:nvPr>
            <p:ph type="body" sz="quarter" idx="18"/>
          </p:nvPr>
        </p:nvSpPr>
        <p:spPr>
          <a:xfrm>
            <a:off x="584200" y="2128838"/>
            <a:ext cx="2808288" cy="627062"/>
          </a:xfrm>
        </p:spPr>
        <p:txBody>
          <a:bodyPr/>
          <a:lstStyle/>
          <a:p>
            <a:r>
              <a:rPr lang="en-US" noProof="0" dirty="0"/>
              <a:t>Jack wants to deliver a presentation on the first quarter earning report to his team. </a:t>
            </a:r>
          </a:p>
          <a:p>
            <a:endParaRPr lang="en-US" noProof="0" dirty="0"/>
          </a:p>
        </p:txBody>
      </p:sp>
      <p:sp>
        <p:nvSpPr>
          <p:cNvPr id="34" name="Text Placeholder 33">
            <a:extLst>
              <a:ext uri="{FF2B5EF4-FFF2-40B4-BE49-F238E27FC236}">
                <a16:creationId xmlns:a16="http://schemas.microsoft.com/office/drawing/2014/main" id="{C2FEF066-432E-AA8F-BF20-39381B3DBE53}"/>
              </a:ext>
            </a:extLst>
          </p:cNvPr>
          <p:cNvSpPr>
            <a:spLocks noGrp="1"/>
          </p:cNvSpPr>
          <p:nvPr>
            <p:ph type="body" sz="quarter" idx="21"/>
          </p:nvPr>
        </p:nvSpPr>
        <p:spPr>
          <a:xfrm>
            <a:off x="584200" y="3304510"/>
            <a:ext cx="2808000" cy="626701"/>
          </a:xfrm>
        </p:spPr>
        <p:txBody>
          <a:bodyPr/>
          <a:lstStyle/>
          <a:p>
            <a:r>
              <a:rPr lang="en-US" noProof="0" dirty="0"/>
              <a:t>Example prompt: </a:t>
            </a:r>
            <a:r>
              <a:rPr lang="en-US" dirty="0">
                <a:latin typeface="+mj-lt"/>
              </a:rPr>
              <a:t>Create presentation </a:t>
            </a:r>
            <a:r>
              <a:rPr lang="en-US" noProof="0" dirty="0"/>
              <a:t>from [First quarter earnings report.docx]</a:t>
            </a:r>
          </a:p>
        </p:txBody>
      </p:sp>
      <p:sp>
        <p:nvSpPr>
          <p:cNvPr id="43" name="Text Placeholder 42">
            <a:extLst>
              <a:ext uri="{FF2B5EF4-FFF2-40B4-BE49-F238E27FC236}">
                <a16:creationId xmlns:a16="http://schemas.microsoft.com/office/drawing/2014/main" id="{F786ECC7-0497-8250-7086-DCE4E9C52A03}"/>
              </a:ext>
            </a:extLst>
          </p:cNvPr>
          <p:cNvSpPr>
            <a:spLocks noGrp="1"/>
          </p:cNvSpPr>
          <p:nvPr>
            <p:ph type="body" sz="quarter" idx="22"/>
          </p:nvPr>
        </p:nvSpPr>
        <p:spPr>
          <a:xfrm>
            <a:off x="3776898" y="1684713"/>
            <a:ext cx="2808000" cy="345600"/>
          </a:xfrm>
        </p:spPr>
        <p:txBody>
          <a:bodyPr/>
          <a:lstStyle/>
          <a:p>
            <a:r>
              <a:rPr lang="en-US" noProof="0" dirty="0"/>
              <a:t>8:30 am – Add a slide</a:t>
            </a:r>
          </a:p>
        </p:txBody>
      </p:sp>
      <p:sp>
        <p:nvSpPr>
          <p:cNvPr id="35" name="Text Placeholder 34">
            <a:extLst>
              <a:ext uri="{FF2B5EF4-FFF2-40B4-BE49-F238E27FC236}">
                <a16:creationId xmlns:a16="http://schemas.microsoft.com/office/drawing/2014/main" id="{F2EB92F4-A679-E99C-D3B7-75844714475A}"/>
              </a:ext>
            </a:extLst>
          </p:cNvPr>
          <p:cNvSpPr>
            <a:spLocks noGrp="1"/>
          </p:cNvSpPr>
          <p:nvPr>
            <p:ph type="body" sz="quarter" idx="23"/>
          </p:nvPr>
        </p:nvSpPr>
        <p:spPr>
          <a:xfrm>
            <a:off x="3776663" y="2128838"/>
            <a:ext cx="2808287" cy="627062"/>
          </a:xfrm>
        </p:spPr>
        <p:txBody>
          <a:bodyPr/>
          <a:lstStyle/>
          <a:p>
            <a:r>
              <a:rPr lang="en-US" noProof="0" dirty="0"/>
              <a:t>He wants to start with a slide that provides a short introduction to the organization.</a:t>
            </a:r>
          </a:p>
          <a:p>
            <a:endParaRPr lang="en-US" noProof="0" dirty="0"/>
          </a:p>
        </p:txBody>
      </p:sp>
      <p:sp>
        <p:nvSpPr>
          <p:cNvPr id="36" name="Text Placeholder 35">
            <a:extLst>
              <a:ext uri="{FF2B5EF4-FFF2-40B4-BE49-F238E27FC236}">
                <a16:creationId xmlns:a16="http://schemas.microsoft.com/office/drawing/2014/main" id="{BAFF5391-15EE-5466-E8E9-4D9E21B9D012}"/>
              </a:ext>
            </a:extLst>
          </p:cNvPr>
          <p:cNvSpPr>
            <a:spLocks noGrp="1"/>
          </p:cNvSpPr>
          <p:nvPr>
            <p:ph type="body" sz="quarter" idx="24"/>
          </p:nvPr>
        </p:nvSpPr>
        <p:spPr>
          <a:xfrm>
            <a:off x="3776898" y="3304510"/>
            <a:ext cx="2808000" cy="626701"/>
          </a:xfrm>
        </p:spPr>
        <p:txBody>
          <a:bodyPr/>
          <a:lstStyle/>
          <a:p>
            <a:r>
              <a:rPr lang="en-US" noProof="0" dirty="0"/>
              <a:t>Example prompt: </a:t>
            </a:r>
            <a:r>
              <a:rPr lang="en-US" dirty="0">
                <a:latin typeface="+mj-lt"/>
              </a:rPr>
              <a:t>Add a slide </a:t>
            </a:r>
            <a:r>
              <a:rPr lang="en-US" noProof="0" dirty="0"/>
              <a:t>with an organization overview</a:t>
            </a:r>
          </a:p>
        </p:txBody>
      </p:sp>
      <p:sp>
        <p:nvSpPr>
          <p:cNvPr id="46" name="Text Placeholder 45">
            <a:extLst>
              <a:ext uri="{FF2B5EF4-FFF2-40B4-BE49-F238E27FC236}">
                <a16:creationId xmlns:a16="http://schemas.microsoft.com/office/drawing/2014/main" id="{B711834C-1181-E54E-3F35-4A3D37910D88}"/>
              </a:ext>
            </a:extLst>
          </p:cNvPr>
          <p:cNvSpPr>
            <a:spLocks noGrp="1"/>
          </p:cNvSpPr>
          <p:nvPr>
            <p:ph type="body" sz="quarter" idx="25"/>
          </p:nvPr>
        </p:nvSpPr>
        <p:spPr>
          <a:xfrm>
            <a:off x="6969125" y="1684338"/>
            <a:ext cx="2808288" cy="346075"/>
          </a:xfrm>
        </p:spPr>
        <p:txBody>
          <a:bodyPr/>
          <a:lstStyle/>
          <a:p>
            <a:r>
              <a:rPr lang="en-US" noProof="0" dirty="0"/>
              <a:t>9:00 am – Summarize a document</a:t>
            </a:r>
          </a:p>
        </p:txBody>
      </p:sp>
      <p:sp>
        <p:nvSpPr>
          <p:cNvPr id="37" name="Text Placeholder 36">
            <a:extLst>
              <a:ext uri="{FF2B5EF4-FFF2-40B4-BE49-F238E27FC236}">
                <a16:creationId xmlns:a16="http://schemas.microsoft.com/office/drawing/2014/main" id="{C355C723-D533-BC17-0611-4C367DC5D349}"/>
              </a:ext>
            </a:extLst>
          </p:cNvPr>
          <p:cNvSpPr>
            <a:spLocks noGrp="1"/>
          </p:cNvSpPr>
          <p:nvPr>
            <p:ph type="body" sz="quarter" idx="26"/>
          </p:nvPr>
        </p:nvSpPr>
        <p:spPr>
          <a:xfrm>
            <a:off x="6969595" y="2128438"/>
            <a:ext cx="2808000" cy="626701"/>
          </a:xfrm>
        </p:spPr>
        <p:txBody>
          <a:bodyPr/>
          <a:lstStyle/>
          <a:p>
            <a:r>
              <a:rPr lang="en-US" noProof="0" dirty="0"/>
              <a:t>Jack is tasked with analyzing an earnings report from a key competitor.</a:t>
            </a:r>
          </a:p>
          <a:p>
            <a:endParaRPr lang="en-US" noProof="0" dirty="0"/>
          </a:p>
        </p:txBody>
      </p:sp>
      <p:sp>
        <p:nvSpPr>
          <p:cNvPr id="64" name="Text Placeholder 63">
            <a:extLst>
              <a:ext uri="{FF2B5EF4-FFF2-40B4-BE49-F238E27FC236}">
                <a16:creationId xmlns:a16="http://schemas.microsoft.com/office/drawing/2014/main" id="{4AEF5303-F6AB-957D-01D2-A1F36848C763}"/>
              </a:ext>
            </a:extLst>
          </p:cNvPr>
          <p:cNvSpPr>
            <a:spLocks noGrp="1"/>
          </p:cNvSpPr>
          <p:nvPr>
            <p:ph type="body" sz="quarter" idx="27"/>
          </p:nvPr>
        </p:nvSpPr>
        <p:spPr>
          <a:xfrm>
            <a:off x="6969595" y="3304510"/>
            <a:ext cx="2808000" cy="626701"/>
          </a:xfrm>
        </p:spPr>
        <p:txBody>
          <a:bodyPr/>
          <a:lstStyle/>
          <a:p>
            <a:r>
              <a:rPr lang="en-US" noProof="0" dirty="0"/>
              <a:t>Action: </a:t>
            </a:r>
            <a:r>
              <a:rPr lang="en-US" dirty="0">
                <a:latin typeface="+mj-lt"/>
              </a:rPr>
              <a:t>Summarize this document</a:t>
            </a:r>
          </a:p>
        </p:txBody>
      </p:sp>
      <p:sp>
        <p:nvSpPr>
          <p:cNvPr id="55" name="Text Placeholder 54">
            <a:extLst>
              <a:ext uri="{FF2B5EF4-FFF2-40B4-BE49-F238E27FC236}">
                <a16:creationId xmlns:a16="http://schemas.microsoft.com/office/drawing/2014/main" id="{A0F9A379-1E39-4C5C-CC0A-EE3070586169}"/>
              </a:ext>
            </a:extLst>
          </p:cNvPr>
          <p:cNvSpPr>
            <a:spLocks noGrp="1"/>
          </p:cNvSpPr>
          <p:nvPr>
            <p:ph type="body" sz="quarter" idx="34"/>
          </p:nvPr>
        </p:nvSpPr>
        <p:spPr>
          <a:xfrm>
            <a:off x="6969595" y="4137995"/>
            <a:ext cx="2808000" cy="345600"/>
          </a:xfrm>
        </p:spPr>
        <p:txBody>
          <a:bodyPr/>
          <a:lstStyle/>
          <a:p>
            <a:r>
              <a:rPr lang="en-US" noProof="0" dirty="0"/>
              <a:t>11:00 am – Add calculations</a:t>
            </a:r>
          </a:p>
        </p:txBody>
      </p:sp>
      <p:sp>
        <p:nvSpPr>
          <p:cNvPr id="69" name="Text Placeholder 68">
            <a:extLst>
              <a:ext uri="{FF2B5EF4-FFF2-40B4-BE49-F238E27FC236}">
                <a16:creationId xmlns:a16="http://schemas.microsoft.com/office/drawing/2014/main" id="{296F6C77-697D-0B00-8C67-C47FE342BD1C}"/>
              </a:ext>
            </a:extLst>
          </p:cNvPr>
          <p:cNvSpPr>
            <a:spLocks noGrp="1"/>
          </p:cNvSpPr>
          <p:nvPr>
            <p:ph type="body" sz="quarter" idx="35"/>
          </p:nvPr>
        </p:nvSpPr>
        <p:spPr>
          <a:xfrm>
            <a:off x="6969125" y="4584700"/>
            <a:ext cx="2808288" cy="627063"/>
          </a:xfrm>
        </p:spPr>
        <p:txBody>
          <a:bodyPr/>
          <a:lstStyle/>
          <a:p>
            <a:r>
              <a:rPr lang="en-US" noProof="0" dirty="0"/>
              <a:t>Jack needs to update some financial numbers that are in a table in Excel. He uses Copilot to add some calculations and make the data easier to read.</a:t>
            </a:r>
          </a:p>
          <a:p>
            <a:endParaRPr lang="en-US" noProof="0" dirty="0"/>
          </a:p>
        </p:txBody>
      </p:sp>
      <p:sp>
        <p:nvSpPr>
          <p:cNvPr id="70" name="Text Placeholder 69">
            <a:extLst>
              <a:ext uri="{FF2B5EF4-FFF2-40B4-BE49-F238E27FC236}">
                <a16:creationId xmlns:a16="http://schemas.microsoft.com/office/drawing/2014/main" id="{9158ECE9-6571-7EFB-79DF-DF81149DDD33}"/>
              </a:ext>
            </a:extLst>
          </p:cNvPr>
          <p:cNvSpPr>
            <a:spLocks noGrp="1"/>
          </p:cNvSpPr>
          <p:nvPr>
            <p:ph type="body" sz="quarter" idx="36"/>
          </p:nvPr>
        </p:nvSpPr>
        <p:spPr>
          <a:xfrm>
            <a:off x="6969595" y="5681038"/>
            <a:ext cx="2808000" cy="626701"/>
          </a:xfrm>
        </p:spPr>
        <p:txBody>
          <a:bodyPr/>
          <a:lstStyle/>
          <a:p>
            <a:r>
              <a:rPr lang="en-US" noProof="0" dirty="0"/>
              <a:t>Example prompt: </a:t>
            </a:r>
            <a:r>
              <a:rPr lang="en-US" dirty="0">
                <a:latin typeface="+mj-lt"/>
              </a:rPr>
              <a:t>Add a column for YoY sales increase and Add a color scale to the column</a:t>
            </a:r>
          </a:p>
        </p:txBody>
      </p:sp>
      <p:sp>
        <p:nvSpPr>
          <p:cNvPr id="52" name="Text Placeholder 51">
            <a:extLst>
              <a:ext uri="{FF2B5EF4-FFF2-40B4-BE49-F238E27FC236}">
                <a16:creationId xmlns:a16="http://schemas.microsoft.com/office/drawing/2014/main" id="{D4F50D37-8419-C7C8-D6C1-C4A6598A5269}"/>
              </a:ext>
            </a:extLst>
          </p:cNvPr>
          <p:cNvSpPr>
            <a:spLocks noGrp="1"/>
          </p:cNvSpPr>
          <p:nvPr>
            <p:ph type="body" sz="quarter" idx="31"/>
          </p:nvPr>
        </p:nvSpPr>
        <p:spPr>
          <a:xfrm>
            <a:off x="3776898" y="4137995"/>
            <a:ext cx="2808000" cy="345600"/>
          </a:xfrm>
        </p:spPr>
        <p:txBody>
          <a:bodyPr/>
          <a:lstStyle/>
          <a:p>
            <a:r>
              <a:rPr lang="en-US" noProof="0" dirty="0"/>
              <a:t>2:00 pm – Show insights</a:t>
            </a:r>
          </a:p>
        </p:txBody>
      </p:sp>
      <p:sp>
        <p:nvSpPr>
          <p:cNvPr id="67" name="Text Placeholder 66">
            <a:extLst>
              <a:ext uri="{FF2B5EF4-FFF2-40B4-BE49-F238E27FC236}">
                <a16:creationId xmlns:a16="http://schemas.microsoft.com/office/drawing/2014/main" id="{1F12D02D-254C-BE95-CA02-D4109395D5B1}"/>
              </a:ext>
            </a:extLst>
          </p:cNvPr>
          <p:cNvSpPr>
            <a:spLocks noGrp="1"/>
          </p:cNvSpPr>
          <p:nvPr>
            <p:ph type="body" sz="quarter" idx="32"/>
          </p:nvPr>
        </p:nvSpPr>
        <p:spPr>
          <a:xfrm>
            <a:off x="3776663" y="4584700"/>
            <a:ext cx="2808287" cy="627063"/>
          </a:xfrm>
        </p:spPr>
        <p:txBody>
          <a:bodyPr/>
          <a:lstStyle/>
          <a:p>
            <a:r>
              <a:rPr lang="en-US" noProof="0" dirty="0"/>
              <a:t>Jack new needs to create some charts for a presentation based on the data in the Excel.</a:t>
            </a:r>
          </a:p>
          <a:p>
            <a:endParaRPr lang="en-US" noProof="0" dirty="0"/>
          </a:p>
        </p:txBody>
      </p:sp>
      <p:sp>
        <p:nvSpPr>
          <p:cNvPr id="68" name="Text Placeholder 67">
            <a:extLst>
              <a:ext uri="{FF2B5EF4-FFF2-40B4-BE49-F238E27FC236}">
                <a16:creationId xmlns:a16="http://schemas.microsoft.com/office/drawing/2014/main" id="{A17BD0EE-5160-A871-D6AD-B14C216986DA}"/>
              </a:ext>
            </a:extLst>
          </p:cNvPr>
          <p:cNvSpPr>
            <a:spLocks noGrp="1"/>
          </p:cNvSpPr>
          <p:nvPr>
            <p:ph type="body" sz="quarter" idx="33"/>
          </p:nvPr>
        </p:nvSpPr>
        <p:spPr>
          <a:xfrm>
            <a:off x="3776898" y="5681038"/>
            <a:ext cx="2808000" cy="626701"/>
          </a:xfrm>
        </p:spPr>
        <p:txBody>
          <a:bodyPr/>
          <a:lstStyle/>
          <a:p>
            <a:r>
              <a:rPr lang="en-US" noProof="0" dirty="0"/>
              <a:t>Action: </a:t>
            </a:r>
            <a:r>
              <a:rPr lang="en-US" dirty="0">
                <a:latin typeface="+mj-lt"/>
              </a:rPr>
              <a:t>Show Insights</a:t>
            </a:r>
          </a:p>
        </p:txBody>
      </p:sp>
      <p:sp>
        <p:nvSpPr>
          <p:cNvPr id="49" name="Text Placeholder 48">
            <a:extLst>
              <a:ext uri="{FF2B5EF4-FFF2-40B4-BE49-F238E27FC236}">
                <a16:creationId xmlns:a16="http://schemas.microsoft.com/office/drawing/2014/main" id="{B9B71A71-82A6-309C-41D4-38ECA93CF523}"/>
              </a:ext>
            </a:extLst>
          </p:cNvPr>
          <p:cNvSpPr>
            <a:spLocks noGrp="1"/>
          </p:cNvSpPr>
          <p:nvPr>
            <p:ph type="body" sz="quarter" idx="28"/>
          </p:nvPr>
        </p:nvSpPr>
        <p:spPr>
          <a:xfrm>
            <a:off x="584200" y="4137995"/>
            <a:ext cx="2808000" cy="345600"/>
          </a:xfrm>
        </p:spPr>
        <p:txBody>
          <a:bodyPr/>
          <a:lstStyle/>
          <a:p>
            <a:r>
              <a:rPr lang="en-US" noProof="0" dirty="0"/>
              <a:t>4:00 pm – Pull data from SAP</a:t>
            </a:r>
          </a:p>
        </p:txBody>
      </p:sp>
      <p:sp>
        <p:nvSpPr>
          <p:cNvPr id="65" name="Text Placeholder 64">
            <a:extLst>
              <a:ext uri="{FF2B5EF4-FFF2-40B4-BE49-F238E27FC236}">
                <a16:creationId xmlns:a16="http://schemas.microsoft.com/office/drawing/2014/main" id="{DD33C918-7620-BFB3-9C74-E4CDB95677F0}"/>
              </a:ext>
            </a:extLst>
          </p:cNvPr>
          <p:cNvSpPr>
            <a:spLocks noGrp="1"/>
          </p:cNvSpPr>
          <p:nvPr>
            <p:ph type="body" sz="quarter" idx="29"/>
          </p:nvPr>
        </p:nvSpPr>
        <p:spPr>
          <a:xfrm>
            <a:off x="584200" y="4584616"/>
            <a:ext cx="2538413" cy="626701"/>
          </a:xfrm>
        </p:spPr>
        <p:txBody>
          <a:bodyPr/>
          <a:lstStyle/>
          <a:p>
            <a:r>
              <a:rPr lang="en-US" noProof="0" dirty="0"/>
              <a:t>Jack needs to see the balance in his team’s travel budget. He uses Copilot to access an AI Agent to get that information from the organization’s SAP system.</a:t>
            </a:r>
          </a:p>
          <a:p>
            <a:endParaRPr lang="en-US" noProof="0" dirty="0"/>
          </a:p>
        </p:txBody>
      </p:sp>
      <p:sp>
        <p:nvSpPr>
          <p:cNvPr id="66" name="Text Placeholder 65">
            <a:extLst>
              <a:ext uri="{FF2B5EF4-FFF2-40B4-BE49-F238E27FC236}">
                <a16:creationId xmlns:a16="http://schemas.microsoft.com/office/drawing/2014/main" id="{3E6BAA17-0A8C-C0CF-B295-AC643A3A678D}"/>
              </a:ext>
            </a:extLst>
          </p:cNvPr>
          <p:cNvSpPr>
            <a:spLocks noGrp="1"/>
          </p:cNvSpPr>
          <p:nvPr>
            <p:ph type="body" sz="quarter" idx="30"/>
          </p:nvPr>
        </p:nvSpPr>
        <p:spPr>
          <a:xfrm>
            <a:off x="584200" y="5681038"/>
            <a:ext cx="2808000" cy="626701"/>
          </a:xfrm>
        </p:spPr>
        <p:txBody>
          <a:bodyPr/>
          <a:lstStyle/>
          <a:p>
            <a:r>
              <a:rPr lang="en-US" noProof="0" dirty="0"/>
              <a:t>Example prompt: </a:t>
            </a:r>
            <a:r>
              <a:rPr lang="en-US" dirty="0">
                <a:latin typeface="+mj-lt"/>
              </a:rPr>
              <a:t>How much budget is available </a:t>
            </a:r>
            <a:r>
              <a:rPr lang="en-US" noProof="0" dirty="0"/>
              <a:t>this quarter for travel to customers?</a:t>
            </a:r>
          </a:p>
        </p:txBody>
      </p:sp>
      <p:sp>
        <p:nvSpPr>
          <p:cNvPr id="56" name="TextBox 55">
            <a:extLst>
              <a:ext uri="{FF2B5EF4-FFF2-40B4-BE49-F238E27FC236}">
                <a16:creationId xmlns:a16="http://schemas.microsoft.com/office/drawing/2014/main" id="{37214391-A987-6AB8-2A0D-A379E348139E}"/>
              </a:ext>
            </a:extLst>
          </p:cNvPr>
          <p:cNvSpPr txBox="1"/>
          <p:nvPr/>
        </p:nvSpPr>
        <p:spPr>
          <a:xfrm>
            <a:off x="10123962" y="1684338"/>
            <a:ext cx="1905067" cy="861774"/>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C03BC4"/>
                </a:solidFill>
                <a:effectLst/>
                <a:uLnTx/>
                <a:uFillTx/>
                <a:latin typeface="Segoe UI Semibold"/>
                <a:ea typeface="+mn-ea"/>
                <a:cs typeface="+mn-cs"/>
              </a:rPr>
              <a:t>Jack</a:t>
            </a:r>
            <a:br>
              <a:rPr kumimoji="0" lang="en-US" sz="3600" b="0" i="0" u="none" strike="noStrike" kern="1200" cap="none" spc="0" normalizeH="0" baseline="0" noProof="0" dirty="0">
                <a:ln>
                  <a:noFill/>
                </a:ln>
                <a:solidFill>
                  <a:srgbClr val="C03BC4"/>
                </a:solidFill>
                <a:effectLst/>
                <a:uLnTx/>
                <a:uFillTx/>
                <a:latin typeface="Segoe UI Semibold"/>
                <a:ea typeface="+mn-ea"/>
                <a:cs typeface="+mn-cs"/>
              </a:rPr>
            </a:br>
            <a:r>
              <a:rPr kumimoji="0" lang="en-US" sz="1600" b="0" i="0" u="none" strike="noStrike" kern="1200" cap="none" spc="0" normalizeH="0" baseline="0" noProof="0" dirty="0">
                <a:ln>
                  <a:noFill/>
                </a:ln>
                <a:solidFill>
                  <a:srgbClr val="C03BC4"/>
                </a:solidFill>
                <a:effectLst/>
                <a:uLnTx/>
                <a:uFillTx/>
                <a:latin typeface="Segoe UI"/>
                <a:ea typeface="+mn-ea"/>
                <a:cs typeface="Segoe UI" panose="020B0502040204020203" pitchFamily="34" charset="0"/>
              </a:rPr>
              <a:t>is a Finance team manager.</a:t>
            </a:r>
          </a:p>
        </p:txBody>
      </p:sp>
      <p:sp>
        <p:nvSpPr>
          <p:cNvPr id="8" name="Rectangle: Rounded Corners 6">
            <a:extLst>
              <a:ext uri="{FF2B5EF4-FFF2-40B4-BE49-F238E27FC236}">
                <a16:creationId xmlns:a16="http://schemas.microsoft.com/office/drawing/2014/main" id="{D359DB53-BF21-29EB-C99B-35198425AA80}"/>
              </a:ext>
              <a:ext uri="{C183D7F6-B498-43B3-948B-1728B52AA6E4}">
                <adec:decorative xmlns:adec="http://schemas.microsoft.com/office/drawing/2017/decorative" val="1"/>
              </a:ext>
            </a:extLst>
          </p:cNvPr>
          <p:cNvSpPr/>
          <p:nvPr/>
        </p:nvSpPr>
        <p:spPr bwMode="auto">
          <a:xfrm>
            <a:off x="576356" y="1134767"/>
            <a:ext cx="659514" cy="216000"/>
          </a:xfrm>
          <a:prstGeom prst="roundRect">
            <a:avLst>
              <a:gd name="adj" fmla="val 50000"/>
            </a:avLst>
          </a:prstGeom>
          <a:solidFill>
            <a:srgbClr val="FFA38B"/>
          </a:solidFill>
          <a:ln w="12700">
            <a:solidFill>
              <a:srgbClr val="FFA38B"/>
            </a:solidFill>
            <a:headEnd type="none" w="med" len="med"/>
            <a:tailEnd type="none" w="med" len="med"/>
          </a:ln>
          <a:effectLst>
            <a:outerShdw blurRad="63500" dist="63500" dir="2700000"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Segoe UI Semibold"/>
                <a:ea typeface="+mn-ea"/>
                <a:cs typeface="Segoe UI Semibold" panose="020B0702040204020203" pitchFamily="34" charset="0"/>
              </a:rPr>
              <a:t>Benefits</a:t>
            </a:r>
          </a:p>
        </p:txBody>
      </p:sp>
      <p:grpSp>
        <p:nvGrpSpPr>
          <p:cNvPr id="20" name="Group 19">
            <a:extLst>
              <a:ext uri="{FF2B5EF4-FFF2-40B4-BE49-F238E27FC236}">
                <a16:creationId xmlns:a16="http://schemas.microsoft.com/office/drawing/2014/main" id="{92CA5FD5-5ACB-D499-3850-AF5309044BFE}"/>
              </a:ext>
            </a:extLst>
          </p:cNvPr>
          <p:cNvGrpSpPr/>
          <p:nvPr/>
        </p:nvGrpSpPr>
        <p:grpSpPr>
          <a:xfrm>
            <a:off x="1286540" y="1134767"/>
            <a:ext cx="1571031" cy="216000"/>
            <a:chOff x="1372194" y="969899"/>
            <a:chExt cx="1571031" cy="216000"/>
          </a:xfrm>
        </p:grpSpPr>
        <p:sp>
          <p:nvSpPr>
            <p:cNvPr id="24" name="Rectangle: Rounded Corners 6">
              <a:extLst>
                <a:ext uri="{FF2B5EF4-FFF2-40B4-BE49-F238E27FC236}">
                  <a16:creationId xmlns:a16="http://schemas.microsoft.com/office/drawing/2014/main" id="{2AE99E0D-EFBA-CED4-7325-75803F1A48A2}"/>
                </a:ext>
                <a:ext uri="{C183D7F6-B498-43B3-948B-1728B52AA6E4}">
                  <adec:decorative xmlns:adec="http://schemas.microsoft.com/office/drawing/2017/decorative" val="1"/>
                </a:ext>
              </a:extLst>
            </p:cNvPr>
            <p:cNvSpPr/>
            <p:nvPr/>
          </p:nvSpPr>
          <p:spPr bwMode="auto">
            <a:xfrm>
              <a:off x="1372194" y="969899"/>
              <a:ext cx="1571031" cy="216000"/>
            </a:xfrm>
            <a:prstGeom prst="roundRect">
              <a:avLst>
                <a:gd name="adj" fmla="val 50000"/>
              </a:avLst>
            </a:prstGeom>
            <a:solidFill>
              <a:srgbClr val="FFFFFF"/>
            </a:solidFill>
            <a:ln w="12700">
              <a:solidFill>
                <a:srgbClr val="FFA38B"/>
              </a:solidFill>
              <a:headEnd type="none" w="med" len="med"/>
              <a:tailEnd type="none" w="med" len="med"/>
            </a:ln>
            <a:effectLst>
              <a:outerShdw blurRad="63500" dist="63500" dir="2700000"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16000" tIns="18288" rIns="36000" bIns="36000" numCol="1" spcCol="0" rtlCol="0" fromWordArt="0" anchor="ctr" anchorCtr="0" forceAA="0" compatLnSpc="1">
              <a:prstTxWarp prst="textNoShape">
                <a:avLst/>
              </a:prstTxWarp>
              <a:noAutofit/>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73391D"/>
                  </a:solidFill>
                  <a:effectLst/>
                  <a:uLnTx/>
                  <a:uFillTx/>
                  <a:latin typeface="Segoe UI Semibold"/>
                  <a:ea typeface="+mn-ea"/>
                  <a:cs typeface="Segoe UI Semibold" panose="020B0702040204020203" pitchFamily="34" charset="0"/>
                </a:rPr>
                <a:t>~1 hour per week</a:t>
              </a:r>
            </a:p>
          </p:txBody>
        </p:sp>
        <p:pic>
          <p:nvPicPr>
            <p:cNvPr id="25" name="Graphic 24">
              <a:extLst>
                <a:ext uri="{FF2B5EF4-FFF2-40B4-BE49-F238E27FC236}">
                  <a16:creationId xmlns:a16="http://schemas.microsoft.com/office/drawing/2014/main" id="{C9ECCDA1-0676-7E99-CA7B-D971BB06A973}"/>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421924" y="1005899"/>
              <a:ext cx="144000" cy="144000"/>
            </a:xfrm>
            <a:prstGeom prst="rect">
              <a:avLst/>
            </a:prstGeom>
          </p:spPr>
        </p:pic>
      </p:grpSp>
      <p:grpSp>
        <p:nvGrpSpPr>
          <p:cNvPr id="26" name="Group 25">
            <a:extLst>
              <a:ext uri="{FF2B5EF4-FFF2-40B4-BE49-F238E27FC236}">
                <a16:creationId xmlns:a16="http://schemas.microsoft.com/office/drawing/2014/main" id="{00FEC582-2F8C-79D2-61FE-192BCB7B1CB8}"/>
              </a:ext>
            </a:extLst>
          </p:cNvPr>
          <p:cNvGrpSpPr/>
          <p:nvPr/>
        </p:nvGrpSpPr>
        <p:grpSpPr>
          <a:xfrm>
            <a:off x="5754503" y="1134767"/>
            <a:ext cx="2325078" cy="216000"/>
            <a:chOff x="6235579" y="969899"/>
            <a:chExt cx="2325078" cy="216000"/>
          </a:xfrm>
        </p:grpSpPr>
        <p:sp>
          <p:nvSpPr>
            <p:cNvPr id="27" name="Rectangle: Rounded Corners 6">
              <a:extLst>
                <a:ext uri="{FF2B5EF4-FFF2-40B4-BE49-F238E27FC236}">
                  <a16:creationId xmlns:a16="http://schemas.microsoft.com/office/drawing/2014/main" id="{02974F38-6383-CD76-C894-F28D4A2F24E5}"/>
                </a:ext>
                <a:ext uri="{C183D7F6-B498-43B3-948B-1728B52AA6E4}">
                  <adec:decorative xmlns:adec="http://schemas.microsoft.com/office/drawing/2017/decorative" val="1"/>
                </a:ext>
              </a:extLst>
            </p:cNvPr>
            <p:cNvSpPr/>
            <p:nvPr/>
          </p:nvSpPr>
          <p:spPr bwMode="auto">
            <a:xfrm>
              <a:off x="6235579" y="969899"/>
              <a:ext cx="2325078" cy="216000"/>
            </a:xfrm>
            <a:prstGeom prst="roundRect">
              <a:avLst>
                <a:gd name="adj" fmla="val 50000"/>
              </a:avLst>
            </a:prstGeom>
            <a:solidFill>
              <a:srgbClr val="FFFFFF"/>
            </a:solidFill>
            <a:ln w="12700">
              <a:solidFill>
                <a:srgbClr val="FFA38B"/>
              </a:solidFill>
              <a:headEnd type="none" w="med" len="med"/>
              <a:tailEnd type="none" w="med" len="med"/>
            </a:ln>
            <a:effectLst>
              <a:outerShdw blurRad="63500" dist="63500" dir="2700000"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16000" tIns="18288" rIns="36000" bIns="36000" numCol="1" spcCol="0" rtlCol="0" fromWordArt="0" anchor="ctr" anchorCtr="0" forceAA="0" compatLnSpc="1">
              <a:prstTxWarp prst="textNoShape">
                <a:avLst/>
              </a:prstTxWarp>
              <a:noAutofit/>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73391D"/>
                  </a:solidFill>
                  <a:effectLst/>
                  <a:uLnTx/>
                  <a:uFillTx/>
                  <a:latin typeface="Segoe UI Semibold"/>
                  <a:ea typeface="+mn-ea"/>
                  <a:cs typeface="Segoe UI Semibold" panose="020B0702040204020203" pitchFamily="34" charset="0"/>
                </a:rPr>
                <a:t>Delivering quality analysis</a:t>
              </a:r>
            </a:p>
          </p:txBody>
        </p:sp>
        <p:pic>
          <p:nvPicPr>
            <p:cNvPr id="28" name="Graphic 27">
              <a:extLst>
                <a:ext uri="{FF2B5EF4-FFF2-40B4-BE49-F238E27FC236}">
                  <a16:creationId xmlns:a16="http://schemas.microsoft.com/office/drawing/2014/main" id="{43FF2A74-046B-489B-4A59-17DBB3A9FC95}"/>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282712" y="1005899"/>
              <a:ext cx="144000" cy="144000"/>
            </a:xfrm>
            <a:prstGeom prst="rect">
              <a:avLst/>
            </a:prstGeom>
          </p:spPr>
        </p:pic>
      </p:grpSp>
      <p:grpSp>
        <p:nvGrpSpPr>
          <p:cNvPr id="29" name="Group 28">
            <a:extLst>
              <a:ext uri="{FF2B5EF4-FFF2-40B4-BE49-F238E27FC236}">
                <a16:creationId xmlns:a16="http://schemas.microsoft.com/office/drawing/2014/main" id="{3ADA2914-F8FE-1D0C-2520-45809A546EB2}"/>
              </a:ext>
            </a:extLst>
          </p:cNvPr>
          <p:cNvGrpSpPr/>
          <p:nvPr/>
        </p:nvGrpSpPr>
        <p:grpSpPr>
          <a:xfrm>
            <a:off x="2908241" y="1134767"/>
            <a:ext cx="2795593" cy="216000"/>
            <a:chOff x="3133720" y="969899"/>
            <a:chExt cx="2795593" cy="216000"/>
          </a:xfrm>
        </p:grpSpPr>
        <p:sp>
          <p:nvSpPr>
            <p:cNvPr id="30" name="Rectangle: Rounded Corners 6">
              <a:extLst>
                <a:ext uri="{FF2B5EF4-FFF2-40B4-BE49-F238E27FC236}">
                  <a16:creationId xmlns:a16="http://schemas.microsoft.com/office/drawing/2014/main" id="{77084C7B-9CE4-51CE-A13E-6223376C261A}"/>
                </a:ext>
                <a:ext uri="{C183D7F6-B498-43B3-948B-1728B52AA6E4}">
                  <adec:decorative xmlns:adec="http://schemas.microsoft.com/office/drawing/2017/decorative" val="1"/>
                </a:ext>
              </a:extLst>
            </p:cNvPr>
            <p:cNvSpPr/>
            <p:nvPr/>
          </p:nvSpPr>
          <p:spPr bwMode="auto">
            <a:xfrm>
              <a:off x="3133720" y="969899"/>
              <a:ext cx="2795593" cy="216000"/>
            </a:xfrm>
            <a:prstGeom prst="roundRect">
              <a:avLst>
                <a:gd name="adj" fmla="val 50000"/>
              </a:avLst>
            </a:prstGeom>
            <a:solidFill>
              <a:srgbClr val="FFFFFF"/>
            </a:solidFill>
            <a:ln w="12700">
              <a:solidFill>
                <a:srgbClr val="FFA38B"/>
              </a:solidFill>
              <a:headEnd type="none" w="med" len="med"/>
              <a:tailEnd type="none" w="med" len="med"/>
            </a:ln>
            <a:effectLst>
              <a:outerShdw blurRad="63500" dist="63500" dir="2700000"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16000" tIns="18288" rIns="36000" bIns="36000" numCol="1" spcCol="0" rtlCol="0" fromWordArt="0" anchor="ctr" anchorCtr="0" forceAA="0" compatLnSpc="1">
              <a:prstTxWarp prst="textNoShape">
                <a:avLst/>
              </a:prstTxWarp>
              <a:noAutofit/>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73391D"/>
                  </a:solidFill>
                  <a:effectLst/>
                  <a:uLnTx/>
                  <a:uFillTx/>
                  <a:latin typeface="Segoe UI Semibold"/>
                  <a:ea typeface="+mn-ea"/>
                  <a:cs typeface="Segoe UI Semibold" panose="020B0702040204020203" pitchFamily="34" charset="0"/>
                </a:rPr>
                <a:t>Areas of investment: Communications</a:t>
              </a:r>
            </a:p>
          </p:txBody>
        </p:sp>
        <p:pic>
          <p:nvPicPr>
            <p:cNvPr id="31" name="Graphic 30">
              <a:extLst>
                <a:ext uri="{FF2B5EF4-FFF2-40B4-BE49-F238E27FC236}">
                  <a16:creationId xmlns:a16="http://schemas.microsoft.com/office/drawing/2014/main" id="{E449B8F1-B536-5E85-2FC2-11372EFB047E}"/>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3193555" y="1005899"/>
              <a:ext cx="144000" cy="144000"/>
            </a:xfrm>
            <a:prstGeom prst="rect">
              <a:avLst/>
            </a:prstGeom>
          </p:spPr>
        </p:pic>
      </p:grpSp>
      <p:pic>
        <p:nvPicPr>
          <p:cNvPr id="12" name="Picture 11" descr="A person with dreadlocks smiling&#10;&#10;AI-generated content may be incorrect.">
            <a:extLst>
              <a:ext uri="{FF2B5EF4-FFF2-40B4-BE49-F238E27FC236}">
                <a16:creationId xmlns:a16="http://schemas.microsoft.com/office/drawing/2014/main" id="{6109CEBB-1EF7-750E-AEFC-F6197F79A9A2}"/>
              </a:ext>
            </a:extLst>
          </p:cNvPr>
          <p:cNvPicPr>
            <a:picLocks noChangeAspect="1"/>
          </p:cNvPicPr>
          <p:nvPr/>
        </p:nvPicPr>
        <p:blipFill rotWithShape="1">
          <a:blip r:embed="rId5"/>
          <a:srcRect/>
          <a:stretch/>
        </p:blipFill>
        <p:spPr>
          <a:xfrm>
            <a:off x="10162292" y="3748771"/>
            <a:ext cx="2048434" cy="3109229"/>
          </a:xfrm>
          <a:prstGeom prst="rect">
            <a:avLst/>
          </a:prstGeom>
        </p:spPr>
      </p:pic>
      <p:sp>
        <p:nvSpPr>
          <p:cNvPr id="83" name="TextBox 82">
            <a:extLst>
              <a:ext uri="{FF2B5EF4-FFF2-40B4-BE49-F238E27FC236}">
                <a16:creationId xmlns:a16="http://schemas.microsoft.com/office/drawing/2014/main" id="{FF936AD2-B61B-B725-595D-C05B82D99F98}"/>
              </a:ext>
              <a:ext uri="{C183D7F6-B498-43B3-948B-1728B52AA6E4}">
                <adec:decorative xmlns:adec="http://schemas.microsoft.com/office/drawing/2017/decorative" val="0"/>
              </a:ext>
            </a:extLst>
          </p:cNvPr>
          <p:cNvSpPr txBox="1"/>
          <p:nvPr/>
        </p:nvSpPr>
        <p:spPr>
          <a:xfrm>
            <a:off x="4236084" y="5369769"/>
            <a:ext cx="1892184" cy="1538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Segoe UI Semibold"/>
                <a:ea typeface="+mn-ea"/>
                <a:cs typeface="+mn-cs"/>
              </a:rPr>
              <a:t>Copilot in Excel</a:t>
            </a:r>
            <a:endParaRPr kumimoji="0" lang="en-US" sz="1000" b="0" i="0" u="none" strike="noStrike" kern="1200" cap="none" spc="0" normalizeH="0" baseline="30000" noProof="0" dirty="0">
              <a:ln>
                <a:noFill/>
              </a:ln>
              <a:solidFill>
                <a:prstClr val="black"/>
              </a:solidFill>
              <a:effectLst/>
              <a:uLnTx/>
              <a:uFillTx/>
              <a:latin typeface="Segoe UI Semibold"/>
              <a:ea typeface="+mn-ea"/>
              <a:cs typeface="+mn-cs"/>
            </a:endParaRPr>
          </a:p>
        </p:txBody>
      </p:sp>
      <p:grpSp>
        <p:nvGrpSpPr>
          <p:cNvPr id="84" name="Group 83">
            <a:extLst>
              <a:ext uri="{FF2B5EF4-FFF2-40B4-BE49-F238E27FC236}">
                <a16:creationId xmlns:a16="http://schemas.microsoft.com/office/drawing/2014/main" id="{659D0ECC-6E6D-E321-818C-15F6F538B801}"/>
              </a:ext>
            </a:extLst>
          </p:cNvPr>
          <p:cNvGrpSpPr/>
          <p:nvPr/>
        </p:nvGrpSpPr>
        <p:grpSpPr>
          <a:xfrm>
            <a:off x="3776663" y="2850537"/>
            <a:ext cx="2255978" cy="360000"/>
            <a:chOff x="6969125" y="5260425"/>
            <a:chExt cx="2255978" cy="360000"/>
          </a:xfrm>
        </p:grpSpPr>
        <p:sp>
          <p:nvSpPr>
            <p:cNvPr id="85" name="TextBox 84">
              <a:extLst>
                <a:ext uri="{FF2B5EF4-FFF2-40B4-BE49-F238E27FC236}">
                  <a16:creationId xmlns:a16="http://schemas.microsoft.com/office/drawing/2014/main" id="{9E73DFF6-0546-0D1B-E64A-FD9F1B100966}"/>
                </a:ext>
                <a:ext uri="{C183D7F6-B498-43B3-948B-1728B52AA6E4}">
                  <adec:decorative xmlns:adec="http://schemas.microsoft.com/office/drawing/2017/decorative" val="0"/>
                </a:ext>
              </a:extLst>
            </p:cNvPr>
            <p:cNvSpPr txBox="1"/>
            <p:nvPr/>
          </p:nvSpPr>
          <p:spPr>
            <a:xfrm>
              <a:off x="7428311" y="5363480"/>
              <a:ext cx="1796792" cy="1538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Semibold"/>
                  <a:ea typeface="+mn-ea"/>
                  <a:cs typeface="+mn-cs"/>
                </a:rPr>
                <a:t>Copilot in PowerPoint</a:t>
              </a:r>
            </a:p>
          </p:txBody>
        </p:sp>
        <p:sp>
          <p:nvSpPr>
            <p:cNvPr id="86" name="Oval 85">
              <a:extLst>
                <a:ext uri="{FF2B5EF4-FFF2-40B4-BE49-F238E27FC236}">
                  <a16:creationId xmlns:a16="http://schemas.microsoft.com/office/drawing/2014/main" id="{7A3838FC-773B-8C99-7B04-0F9D7DD3F022}"/>
                </a:ext>
              </a:extLst>
            </p:cNvPr>
            <p:cNvSpPr>
              <a:spLocks/>
            </p:cNvSpPr>
            <p:nvPr/>
          </p:nvSpPr>
          <p:spPr bwMode="auto">
            <a:xfrm>
              <a:off x="6969125" y="5260425"/>
              <a:ext cx="360000" cy="360000"/>
            </a:xfrm>
            <a:prstGeom prst="ellipse">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IN" sz="2000" b="0" i="0" u="none" strike="noStrike" kern="1200" cap="none" spc="0" normalizeH="0" baseline="0" noProof="0" dirty="0">
                <a:ln>
                  <a:noFill/>
                </a:ln>
                <a:solidFill>
                  <a:srgbClr val="FFFFFF"/>
                </a:solidFill>
                <a:effectLst/>
                <a:uLnTx/>
                <a:uFillTx/>
                <a:latin typeface="Segoe UI"/>
                <a:ea typeface="Segoe UI" pitchFamily="34" charset="0"/>
                <a:cs typeface="Segoe UI" pitchFamily="34" charset="0"/>
              </a:endParaRPr>
            </a:p>
          </p:txBody>
        </p:sp>
      </p:grpSp>
      <p:sp>
        <p:nvSpPr>
          <p:cNvPr id="90" name="TextBox 89">
            <a:extLst>
              <a:ext uri="{FF2B5EF4-FFF2-40B4-BE49-F238E27FC236}">
                <a16:creationId xmlns:a16="http://schemas.microsoft.com/office/drawing/2014/main" id="{2ACEF6AA-29D8-4CD2-F572-FE87B74E6153}"/>
              </a:ext>
              <a:ext uri="{C183D7F6-B498-43B3-948B-1728B52AA6E4}">
                <adec:decorative xmlns:adec="http://schemas.microsoft.com/office/drawing/2017/decorative" val="0"/>
              </a:ext>
            </a:extLst>
          </p:cNvPr>
          <p:cNvSpPr txBox="1"/>
          <p:nvPr/>
        </p:nvSpPr>
        <p:spPr>
          <a:xfrm>
            <a:off x="7428076" y="2953593"/>
            <a:ext cx="1892184" cy="1538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Segoe UI Semibold"/>
                <a:ea typeface="+mn-ea"/>
                <a:cs typeface="+mn-cs"/>
              </a:rPr>
              <a:t>Copilot in Word</a:t>
            </a:r>
            <a:endParaRPr kumimoji="0" lang="en-US" sz="1000" b="0" i="0" u="none" strike="noStrike" kern="1200" cap="none" spc="0" normalizeH="0" baseline="30000" noProof="0" dirty="0">
              <a:ln>
                <a:noFill/>
              </a:ln>
              <a:solidFill>
                <a:prstClr val="black"/>
              </a:solidFill>
              <a:effectLst/>
              <a:uLnTx/>
              <a:uFillTx/>
              <a:latin typeface="Segoe UI Semibold"/>
              <a:ea typeface="+mn-ea"/>
              <a:cs typeface="+mn-cs"/>
            </a:endParaRPr>
          </a:p>
        </p:txBody>
      </p:sp>
      <p:grpSp>
        <p:nvGrpSpPr>
          <p:cNvPr id="91" name="Group 90">
            <a:extLst>
              <a:ext uri="{FF2B5EF4-FFF2-40B4-BE49-F238E27FC236}">
                <a16:creationId xmlns:a16="http://schemas.microsoft.com/office/drawing/2014/main" id="{B5C506A5-A06A-A2D1-E1DA-D6F9EBB28F8B}"/>
              </a:ext>
            </a:extLst>
          </p:cNvPr>
          <p:cNvGrpSpPr/>
          <p:nvPr/>
        </p:nvGrpSpPr>
        <p:grpSpPr>
          <a:xfrm>
            <a:off x="584200" y="2850537"/>
            <a:ext cx="2255978" cy="360000"/>
            <a:chOff x="6969125" y="5260425"/>
            <a:chExt cx="2255978" cy="360000"/>
          </a:xfrm>
        </p:grpSpPr>
        <p:sp>
          <p:nvSpPr>
            <p:cNvPr id="92" name="TextBox 91">
              <a:extLst>
                <a:ext uri="{FF2B5EF4-FFF2-40B4-BE49-F238E27FC236}">
                  <a16:creationId xmlns:a16="http://schemas.microsoft.com/office/drawing/2014/main" id="{EFCC8380-54CA-963E-7A2D-4100B1789E41}"/>
                </a:ext>
                <a:ext uri="{C183D7F6-B498-43B3-948B-1728B52AA6E4}">
                  <adec:decorative xmlns:adec="http://schemas.microsoft.com/office/drawing/2017/decorative" val="0"/>
                </a:ext>
              </a:extLst>
            </p:cNvPr>
            <p:cNvSpPr txBox="1"/>
            <p:nvPr/>
          </p:nvSpPr>
          <p:spPr>
            <a:xfrm>
              <a:off x="7428311" y="5363480"/>
              <a:ext cx="1796792" cy="1538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Semibold"/>
                  <a:ea typeface="+mn-ea"/>
                  <a:cs typeface="+mn-cs"/>
                </a:rPr>
                <a:t>Copilot in PowerPoint</a:t>
              </a:r>
            </a:p>
          </p:txBody>
        </p:sp>
        <p:sp>
          <p:nvSpPr>
            <p:cNvPr id="93" name="Oval 92">
              <a:extLst>
                <a:ext uri="{FF2B5EF4-FFF2-40B4-BE49-F238E27FC236}">
                  <a16:creationId xmlns:a16="http://schemas.microsoft.com/office/drawing/2014/main" id="{E9D17C89-4488-68C2-6540-EC3C10A93606}"/>
                </a:ext>
              </a:extLst>
            </p:cNvPr>
            <p:cNvSpPr>
              <a:spLocks/>
            </p:cNvSpPr>
            <p:nvPr/>
          </p:nvSpPr>
          <p:spPr bwMode="auto">
            <a:xfrm>
              <a:off x="6969125" y="5260425"/>
              <a:ext cx="360000" cy="360000"/>
            </a:xfrm>
            <a:prstGeom prst="ellipse">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IN" sz="2000" b="0" i="0" u="none" strike="noStrike" kern="1200" cap="none" spc="0" normalizeH="0" baseline="0" noProof="0" dirty="0">
                <a:ln>
                  <a:noFill/>
                </a:ln>
                <a:solidFill>
                  <a:srgbClr val="FFFFFF"/>
                </a:solidFill>
                <a:effectLst/>
                <a:uLnTx/>
                <a:uFillTx/>
                <a:latin typeface="Segoe UI"/>
                <a:ea typeface="Segoe UI" pitchFamily="34" charset="0"/>
                <a:cs typeface="Segoe UI" pitchFamily="34" charset="0"/>
              </a:endParaRPr>
            </a:p>
          </p:txBody>
        </p:sp>
      </p:grpSp>
      <p:sp>
        <p:nvSpPr>
          <p:cNvPr id="97" name="TextBox 96">
            <a:extLst>
              <a:ext uri="{FF2B5EF4-FFF2-40B4-BE49-F238E27FC236}">
                <a16:creationId xmlns:a16="http://schemas.microsoft.com/office/drawing/2014/main" id="{05398FD2-7A3C-EDD9-662E-829A84C531F6}"/>
              </a:ext>
              <a:ext uri="{C183D7F6-B498-43B3-948B-1728B52AA6E4}">
                <adec:decorative xmlns:adec="http://schemas.microsoft.com/office/drawing/2017/decorative" val="0"/>
              </a:ext>
            </a:extLst>
          </p:cNvPr>
          <p:cNvSpPr txBox="1"/>
          <p:nvPr/>
        </p:nvSpPr>
        <p:spPr>
          <a:xfrm>
            <a:off x="7428546" y="5369769"/>
            <a:ext cx="1892184" cy="1538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Segoe UI Semibold"/>
                <a:ea typeface="+mn-ea"/>
                <a:cs typeface="+mn-cs"/>
              </a:rPr>
              <a:t>Copilot in Excel</a:t>
            </a:r>
            <a:endParaRPr kumimoji="0" lang="en-US" sz="1000" b="0" i="0" u="none" strike="noStrike" kern="1200" cap="none" spc="0" normalizeH="0" baseline="30000" noProof="0" dirty="0">
              <a:ln>
                <a:noFill/>
              </a:ln>
              <a:solidFill>
                <a:prstClr val="black"/>
              </a:solidFill>
              <a:effectLst/>
              <a:uLnTx/>
              <a:uFillTx/>
              <a:latin typeface="Segoe UI Semibold"/>
              <a:ea typeface="+mn-ea"/>
              <a:cs typeface="+mn-cs"/>
            </a:endParaRPr>
          </a:p>
        </p:txBody>
      </p:sp>
      <p:grpSp>
        <p:nvGrpSpPr>
          <p:cNvPr id="98" name="Group 97">
            <a:extLst>
              <a:ext uri="{FF2B5EF4-FFF2-40B4-BE49-F238E27FC236}">
                <a16:creationId xmlns:a16="http://schemas.microsoft.com/office/drawing/2014/main" id="{EDC24C74-8B41-9712-8C2F-68BC5AE3F80B}"/>
              </a:ext>
            </a:extLst>
          </p:cNvPr>
          <p:cNvGrpSpPr/>
          <p:nvPr/>
        </p:nvGrpSpPr>
        <p:grpSpPr>
          <a:xfrm>
            <a:off x="665594" y="5308214"/>
            <a:ext cx="2269741" cy="276999"/>
            <a:chOff x="665594" y="2892038"/>
            <a:chExt cx="2269741" cy="276999"/>
          </a:xfrm>
        </p:grpSpPr>
        <p:pic>
          <p:nvPicPr>
            <p:cNvPr id="99" name="Picture 98">
              <a:extLst>
                <a:ext uri="{FF2B5EF4-FFF2-40B4-BE49-F238E27FC236}">
                  <a16:creationId xmlns:a16="http://schemas.microsoft.com/office/drawing/2014/main" id="{8607B5D8-26BC-E975-30CD-0AFA6C6FBAE4}"/>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a:stretch/>
          </p:blipFill>
          <p:spPr bwMode="auto">
            <a:xfrm>
              <a:off x="665594" y="2913162"/>
              <a:ext cx="201250" cy="201250"/>
            </a:xfrm>
            <a:prstGeom prst="ellipse">
              <a:avLst/>
            </a:prstGeom>
            <a:solidFill>
              <a:srgbClr val="FFFFFF"/>
            </a:solidFill>
          </p:spPr>
        </p:pic>
        <p:sp>
          <p:nvSpPr>
            <p:cNvPr id="100" name="TextBox 99">
              <a:extLst>
                <a:ext uri="{FF2B5EF4-FFF2-40B4-BE49-F238E27FC236}">
                  <a16:creationId xmlns:a16="http://schemas.microsoft.com/office/drawing/2014/main" id="{04C45DD4-993A-649D-9ECC-B870356F1F6A}"/>
                </a:ext>
                <a:ext uri="{C183D7F6-B498-43B3-948B-1728B52AA6E4}">
                  <adec:decorative xmlns:adec="http://schemas.microsoft.com/office/drawing/2017/decorative" val="0"/>
                </a:ext>
              </a:extLst>
            </p:cNvPr>
            <p:cNvSpPr txBox="1"/>
            <p:nvPr/>
          </p:nvSpPr>
          <p:spPr>
            <a:xfrm>
              <a:off x="1043151" y="2892038"/>
              <a:ext cx="1892184" cy="276999"/>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Semibold"/>
                  <a:ea typeface="+mn-ea"/>
                  <a:cs typeface="+mn-cs"/>
                </a:rPr>
                <a:t>AI Agent</a:t>
              </a:r>
              <a:r>
                <a:rPr kumimoji="0" lang="en-US" sz="1000" b="0" i="0" u="none" strike="noStrike" kern="1200" cap="none" spc="0" normalizeH="0" baseline="30000" noProof="0" dirty="0">
                  <a:ln>
                    <a:noFill/>
                  </a:ln>
                  <a:solidFill>
                    <a:srgbClr val="000000"/>
                  </a:solidFill>
                  <a:effectLst/>
                  <a:uLnTx/>
                  <a:uFillTx/>
                  <a:latin typeface="Segoe UI Semibold"/>
                  <a:ea typeface="+mn-ea"/>
                  <a:cs typeface="+mn-cs"/>
                </a:rPr>
                <a:t>3</a:t>
              </a:r>
            </a:p>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78D4"/>
                  </a:solidFill>
                  <a:effectLst/>
                  <a:uLnTx/>
                  <a:uFillTx/>
                  <a:latin typeface="Segoe UI Semibold"/>
                  <a:ea typeface="+mn-ea"/>
                  <a:cs typeface="+mn-cs"/>
                </a:rPr>
                <a:t>+ Connection to SAP</a:t>
              </a:r>
            </a:p>
          </p:txBody>
        </p:sp>
      </p:grpSp>
      <p:pic>
        <p:nvPicPr>
          <p:cNvPr id="103" name="Graphic 102">
            <a:extLst>
              <a:ext uri="{FF2B5EF4-FFF2-40B4-BE49-F238E27FC236}">
                <a16:creationId xmlns:a16="http://schemas.microsoft.com/office/drawing/2014/main" id="{B25CC2E9-939A-5032-6706-D37809EF544C}"/>
              </a:ext>
              <a:ext uri="{C183D7F6-B498-43B3-948B-1728B52AA6E4}">
                <adec:decorative xmlns:adec="http://schemas.microsoft.com/office/drawing/2017/decorative" val="1"/>
              </a:ext>
            </a:extLst>
          </p:cNvPr>
          <p:cNvPicPr>
            <a:picLocks noChangeAspect="1"/>
          </p:cNvPicPr>
          <p:nvPr/>
        </p:nvPicPr>
        <p:blipFill>
          <a:blip>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rot="10800000">
            <a:off x="10939101" y="2929728"/>
            <a:ext cx="274790" cy="274790"/>
          </a:xfrm>
          <a:prstGeom prst="rect">
            <a:avLst/>
          </a:prstGeom>
        </p:spPr>
      </p:pic>
      <p:pic>
        <p:nvPicPr>
          <p:cNvPr id="2" name="Picture 1" descr="Excel logo">
            <a:extLst>
              <a:ext uri="{FF2B5EF4-FFF2-40B4-BE49-F238E27FC236}">
                <a16:creationId xmlns:a16="http://schemas.microsoft.com/office/drawing/2014/main" id="{724708D2-9832-39C0-A0F5-8065E59DB806}"/>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3829596" y="5312868"/>
            <a:ext cx="254134" cy="254134"/>
          </a:xfrm>
          <a:prstGeom prst="ellipse">
            <a:avLst/>
          </a:prstGeom>
          <a:solidFill>
            <a:schemeClr val="bg1"/>
          </a:solidFill>
        </p:spPr>
      </p:pic>
      <p:pic>
        <p:nvPicPr>
          <p:cNvPr id="3" name="Picture 2" descr="Excel logo">
            <a:extLst>
              <a:ext uri="{FF2B5EF4-FFF2-40B4-BE49-F238E27FC236}">
                <a16:creationId xmlns:a16="http://schemas.microsoft.com/office/drawing/2014/main" id="{FCC4A0C1-6D70-496F-B628-9F3F7C6054FD}"/>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7017194" y="5302859"/>
            <a:ext cx="254134" cy="254134"/>
          </a:xfrm>
          <a:prstGeom prst="ellipse">
            <a:avLst/>
          </a:prstGeom>
          <a:solidFill>
            <a:schemeClr val="bg1"/>
          </a:solidFill>
        </p:spPr>
      </p:pic>
      <p:pic>
        <p:nvPicPr>
          <p:cNvPr id="4" name="Picture 3" descr="Word logo">
            <a:extLst>
              <a:ext uri="{FF2B5EF4-FFF2-40B4-BE49-F238E27FC236}">
                <a16:creationId xmlns:a16="http://schemas.microsoft.com/office/drawing/2014/main" id="{0FF4E474-87E8-9083-D0BE-23115C2F82C1}"/>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7017194" y="2929727"/>
            <a:ext cx="246576" cy="246576"/>
          </a:xfrm>
          <a:prstGeom prst="ellipse">
            <a:avLst/>
          </a:prstGeom>
          <a:solidFill>
            <a:srgbClr val="FFFFFF"/>
          </a:solidFill>
        </p:spPr>
      </p:pic>
      <p:pic>
        <p:nvPicPr>
          <p:cNvPr id="5" name="Picture 4" descr="PowerPoint logo">
            <a:extLst>
              <a:ext uri="{FF2B5EF4-FFF2-40B4-BE49-F238E27FC236}">
                <a16:creationId xmlns:a16="http://schemas.microsoft.com/office/drawing/2014/main" id="{5796C1A4-FC02-D80C-A3A7-D4513FB7EBD4}"/>
              </a:ext>
            </a:extLst>
          </p:cNvPr>
          <p:cNvPicPr>
            <a:picLocks noChangeAspect="1"/>
          </p:cNvPicPr>
          <p:nvPr/>
        </p:nvPicPr>
        <p:blipFill>
          <a:blip r:embed="rId10"/>
          <a:stretch>
            <a:fillRect/>
          </a:stretch>
        </p:blipFill>
        <p:spPr>
          <a:xfrm>
            <a:off x="628589" y="2897617"/>
            <a:ext cx="265176" cy="265176"/>
          </a:xfrm>
          <a:prstGeom prst="rect">
            <a:avLst/>
          </a:prstGeom>
        </p:spPr>
      </p:pic>
      <p:pic>
        <p:nvPicPr>
          <p:cNvPr id="6" name="Picture 5" descr="PowerPoint logo">
            <a:extLst>
              <a:ext uri="{FF2B5EF4-FFF2-40B4-BE49-F238E27FC236}">
                <a16:creationId xmlns:a16="http://schemas.microsoft.com/office/drawing/2014/main" id="{DCF9F306-B65E-568E-C6A0-044C1EAE2957}"/>
              </a:ext>
            </a:extLst>
          </p:cNvPr>
          <p:cNvPicPr>
            <a:picLocks noChangeAspect="1"/>
          </p:cNvPicPr>
          <p:nvPr/>
        </p:nvPicPr>
        <p:blipFill>
          <a:blip r:embed="rId10"/>
          <a:stretch>
            <a:fillRect/>
          </a:stretch>
        </p:blipFill>
        <p:spPr>
          <a:xfrm>
            <a:off x="3824731" y="2891776"/>
            <a:ext cx="265176" cy="265176"/>
          </a:xfrm>
          <a:prstGeom prst="rect">
            <a:avLst/>
          </a:prstGeom>
        </p:spPr>
      </p:pic>
    </p:spTree>
    <p:extLst>
      <p:ext uri="{BB962C8B-B14F-4D97-AF65-F5344CB8AC3E}">
        <p14:creationId xmlns:p14="http://schemas.microsoft.com/office/powerpoint/2010/main" val="3899090662"/>
      </p:ext>
    </p:extLst>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Title 37">
            <a:extLst>
              <a:ext uri="{FF2B5EF4-FFF2-40B4-BE49-F238E27FC236}">
                <a16:creationId xmlns:a16="http://schemas.microsoft.com/office/drawing/2014/main" id="{23F16038-3ECA-5B93-BFF2-67AAFF1E240D}"/>
              </a:ext>
            </a:extLst>
          </p:cNvPr>
          <p:cNvSpPr>
            <a:spLocks noGrp="1"/>
          </p:cNvSpPr>
          <p:nvPr>
            <p:ph type="title"/>
          </p:nvPr>
        </p:nvSpPr>
        <p:spPr>
          <a:xfrm>
            <a:off x="584200" y="387766"/>
            <a:ext cx="5672544" cy="526298"/>
          </a:xfrm>
        </p:spPr>
        <p:txBody>
          <a:bodyPr/>
          <a:lstStyle/>
          <a:p>
            <a:r>
              <a:rPr lang="en-US" noProof="0" dirty="0"/>
              <a:t>A day in the life of a Modern Work Revenue Finance Manager at Microsoft</a:t>
            </a:r>
          </a:p>
        </p:txBody>
      </p:sp>
      <p:sp>
        <p:nvSpPr>
          <p:cNvPr id="16" name="Text Placeholder 15">
            <a:extLst>
              <a:ext uri="{FF2B5EF4-FFF2-40B4-BE49-F238E27FC236}">
                <a16:creationId xmlns:a16="http://schemas.microsoft.com/office/drawing/2014/main" id="{D4C85747-33C4-8674-4097-F162D3285285}"/>
              </a:ext>
            </a:extLst>
          </p:cNvPr>
          <p:cNvSpPr>
            <a:spLocks noGrp="1"/>
          </p:cNvSpPr>
          <p:nvPr>
            <p:ph type="body" sz="quarter" idx="37"/>
          </p:nvPr>
        </p:nvSpPr>
        <p:spPr>
          <a:xfrm>
            <a:off x="10430234" y="521099"/>
            <a:ext cx="1456966" cy="175614"/>
          </a:xfrm>
        </p:spPr>
        <p:txBody>
          <a:bodyPr/>
          <a:lstStyle/>
          <a:p>
            <a:r>
              <a:rPr lang="en-US" noProof="0" dirty="0"/>
              <a:t>Buy</a:t>
            </a:r>
          </a:p>
        </p:txBody>
      </p:sp>
      <p:sp>
        <p:nvSpPr>
          <p:cNvPr id="3" name="Text Placeholder 2">
            <a:extLst>
              <a:ext uri="{FF2B5EF4-FFF2-40B4-BE49-F238E27FC236}">
                <a16:creationId xmlns:a16="http://schemas.microsoft.com/office/drawing/2014/main" id="{3FF23D6F-3E54-8CFA-C394-3E91187484F6}"/>
              </a:ext>
            </a:extLst>
          </p:cNvPr>
          <p:cNvSpPr>
            <a:spLocks noGrp="1"/>
          </p:cNvSpPr>
          <p:nvPr>
            <p:ph type="body" sz="quarter" idx="17"/>
          </p:nvPr>
        </p:nvSpPr>
        <p:spPr>
          <a:xfrm>
            <a:off x="6519107" y="521099"/>
            <a:ext cx="3599821" cy="169277"/>
          </a:xfrm>
        </p:spPr>
        <p:txBody>
          <a:bodyPr/>
          <a:lstStyle/>
          <a:p>
            <a:r>
              <a:rPr lang="en-US" noProof="0" dirty="0"/>
              <a:t>Microsoft 365 Copilot</a:t>
            </a:r>
          </a:p>
        </p:txBody>
      </p:sp>
      <p:sp>
        <p:nvSpPr>
          <p:cNvPr id="40" name="Text Placeholder 39">
            <a:extLst>
              <a:ext uri="{FF2B5EF4-FFF2-40B4-BE49-F238E27FC236}">
                <a16:creationId xmlns:a16="http://schemas.microsoft.com/office/drawing/2014/main" id="{379D624F-A860-9CE9-D756-825F40761990}"/>
              </a:ext>
            </a:extLst>
          </p:cNvPr>
          <p:cNvSpPr>
            <a:spLocks noGrp="1"/>
          </p:cNvSpPr>
          <p:nvPr>
            <p:ph type="body" sz="quarter" idx="11"/>
          </p:nvPr>
        </p:nvSpPr>
        <p:spPr>
          <a:xfrm>
            <a:off x="584200" y="1684713"/>
            <a:ext cx="2808000" cy="345600"/>
          </a:xfrm>
        </p:spPr>
        <p:txBody>
          <a:bodyPr/>
          <a:lstStyle/>
          <a:p>
            <a:r>
              <a:rPr lang="en-US" noProof="0" dirty="0"/>
              <a:t>8:00 am – Recap the day</a:t>
            </a:r>
          </a:p>
        </p:txBody>
      </p:sp>
      <p:sp>
        <p:nvSpPr>
          <p:cNvPr id="21" name="Text Placeholder 20">
            <a:extLst>
              <a:ext uri="{FF2B5EF4-FFF2-40B4-BE49-F238E27FC236}">
                <a16:creationId xmlns:a16="http://schemas.microsoft.com/office/drawing/2014/main" id="{714937AB-1481-2E80-8791-64AD1365B889}"/>
              </a:ext>
            </a:extLst>
          </p:cNvPr>
          <p:cNvSpPr>
            <a:spLocks noGrp="1"/>
          </p:cNvSpPr>
          <p:nvPr>
            <p:ph type="body" sz="quarter" idx="18"/>
          </p:nvPr>
        </p:nvSpPr>
        <p:spPr>
          <a:xfrm>
            <a:off x="584200" y="2128438"/>
            <a:ext cx="2808000" cy="626701"/>
          </a:xfrm>
        </p:spPr>
        <p:txBody>
          <a:bodyPr>
            <a:noAutofit/>
          </a:bodyPr>
          <a:lstStyle/>
          <a:p>
            <a:r>
              <a:rPr lang="en-US" noProof="0" dirty="0"/>
              <a:t>Yesterday was filled with many calls, so Brandon’s email piled up. He starts his day by asking Copilot to recap yesterday, helping to remind him he owes his VP, Javier, a compete report.</a:t>
            </a:r>
          </a:p>
        </p:txBody>
      </p:sp>
      <p:sp>
        <p:nvSpPr>
          <p:cNvPr id="22" name="Text Placeholder 21">
            <a:extLst>
              <a:ext uri="{FF2B5EF4-FFF2-40B4-BE49-F238E27FC236}">
                <a16:creationId xmlns:a16="http://schemas.microsoft.com/office/drawing/2014/main" id="{3BCC9766-80EB-228E-2133-EFA6523053E7}"/>
              </a:ext>
            </a:extLst>
          </p:cNvPr>
          <p:cNvSpPr>
            <a:spLocks noGrp="1"/>
          </p:cNvSpPr>
          <p:nvPr>
            <p:ph type="body" sz="quarter" idx="21"/>
          </p:nvPr>
        </p:nvSpPr>
        <p:spPr>
          <a:xfrm>
            <a:off x="584200" y="3304510"/>
            <a:ext cx="2808000" cy="626701"/>
          </a:xfrm>
        </p:spPr>
        <p:txBody>
          <a:bodyPr>
            <a:normAutofit/>
          </a:bodyPr>
          <a:lstStyle/>
          <a:p>
            <a:r>
              <a:rPr lang="en-US" noProof="0" dirty="0"/>
              <a:t>Example prompt: </a:t>
            </a:r>
            <a:r>
              <a:rPr lang="en-US" dirty="0">
                <a:latin typeface="+mj-lt"/>
              </a:rPr>
              <a:t>Summarize my email and Teams messages</a:t>
            </a:r>
            <a:r>
              <a:rPr lang="en-US" noProof="0" dirty="0"/>
              <a:t> from yesterday into a table. List the topic, a summary, and follow-ups. If I have been directly mentioned, make the font of the topic bold.</a:t>
            </a:r>
          </a:p>
        </p:txBody>
      </p:sp>
      <p:sp>
        <p:nvSpPr>
          <p:cNvPr id="43" name="Text Placeholder 42">
            <a:extLst>
              <a:ext uri="{FF2B5EF4-FFF2-40B4-BE49-F238E27FC236}">
                <a16:creationId xmlns:a16="http://schemas.microsoft.com/office/drawing/2014/main" id="{F786ECC7-0497-8250-7086-DCE4E9C52A03}"/>
              </a:ext>
            </a:extLst>
          </p:cNvPr>
          <p:cNvSpPr>
            <a:spLocks noGrp="1"/>
          </p:cNvSpPr>
          <p:nvPr>
            <p:ph type="body" sz="quarter" idx="22"/>
          </p:nvPr>
        </p:nvSpPr>
        <p:spPr>
          <a:xfrm>
            <a:off x="3776898" y="1684713"/>
            <a:ext cx="2808000" cy="345600"/>
          </a:xfrm>
        </p:spPr>
        <p:txBody>
          <a:bodyPr/>
          <a:lstStyle/>
          <a:p>
            <a:r>
              <a:rPr lang="en-US" noProof="0" dirty="0"/>
              <a:t>8:30 am – Recap a meeting</a:t>
            </a:r>
          </a:p>
        </p:txBody>
      </p:sp>
      <p:sp>
        <p:nvSpPr>
          <p:cNvPr id="34" name="Text Placeholder 33">
            <a:extLst>
              <a:ext uri="{FF2B5EF4-FFF2-40B4-BE49-F238E27FC236}">
                <a16:creationId xmlns:a16="http://schemas.microsoft.com/office/drawing/2014/main" id="{C44101DA-2D08-5DB7-1CF3-59B93D63C40C}"/>
              </a:ext>
            </a:extLst>
          </p:cNvPr>
          <p:cNvSpPr>
            <a:spLocks noGrp="1"/>
          </p:cNvSpPr>
          <p:nvPr>
            <p:ph type="body" sz="quarter" idx="23"/>
          </p:nvPr>
        </p:nvSpPr>
        <p:spPr>
          <a:xfrm>
            <a:off x="3776663" y="2128838"/>
            <a:ext cx="2808287" cy="627062"/>
          </a:xfrm>
        </p:spPr>
        <p:txBody>
          <a:bodyPr/>
          <a:lstStyle/>
          <a:p>
            <a:r>
              <a:rPr lang="en-US" noProof="0" dirty="0"/>
              <a:t>Brandon sets up a call with his manager, Gillian, to align on the deliverable. Brandon wants to ensure he captures everything that Gillian suggests. He asks Copilot in Teams to recap the meeting after.</a:t>
            </a:r>
          </a:p>
          <a:p>
            <a:endParaRPr lang="en-US" noProof="0" dirty="0"/>
          </a:p>
        </p:txBody>
      </p:sp>
      <p:sp>
        <p:nvSpPr>
          <p:cNvPr id="35" name="Text Placeholder 34">
            <a:extLst>
              <a:ext uri="{FF2B5EF4-FFF2-40B4-BE49-F238E27FC236}">
                <a16:creationId xmlns:a16="http://schemas.microsoft.com/office/drawing/2014/main" id="{E1CAA32B-FB9D-9D52-154F-AAC4B4BB4082}"/>
              </a:ext>
            </a:extLst>
          </p:cNvPr>
          <p:cNvSpPr>
            <a:spLocks noGrp="1"/>
          </p:cNvSpPr>
          <p:nvPr>
            <p:ph type="body" sz="quarter" idx="24"/>
          </p:nvPr>
        </p:nvSpPr>
        <p:spPr>
          <a:xfrm>
            <a:off x="3776898" y="3304510"/>
            <a:ext cx="2808000" cy="626701"/>
          </a:xfrm>
        </p:spPr>
        <p:txBody>
          <a:bodyPr>
            <a:normAutofit/>
          </a:bodyPr>
          <a:lstStyle/>
          <a:p>
            <a:r>
              <a:rPr lang="en-US" noProof="0" dirty="0"/>
              <a:t>Example prompt: </a:t>
            </a:r>
            <a:r>
              <a:rPr lang="en-US" dirty="0">
                <a:latin typeface="+mj-lt"/>
              </a:rPr>
              <a:t>Create a meeting report </a:t>
            </a:r>
            <a:r>
              <a:rPr lang="en-US" noProof="0" dirty="0"/>
              <a:t>that includes an in-depth summary of everything that [Gillian] recommended. </a:t>
            </a:r>
            <a:r>
              <a:rPr lang="en-US" dirty="0">
                <a:latin typeface="+mj-lt"/>
              </a:rPr>
              <a:t>Remind me </a:t>
            </a:r>
            <a:r>
              <a:rPr lang="en-US" noProof="0" dirty="0"/>
              <a:t>how she felt about my initial approach.</a:t>
            </a:r>
          </a:p>
        </p:txBody>
      </p:sp>
      <p:sp>
        <p:nvSpPr>
          <p:cNvPr id="46" name="Text Placeholder 45">
            <a:extLst>
              <a:ext uri="{FF2B5EF4-FFF2-40B4-BE49-F238E27FC236}">
                <a16:creationId xmlns:a16="http://schemas.microsoft.com/office/drawing/2014/main" id="{B711834C-1181-E54E-3F35-4A3D37910D88}"/>
              </a:ext>
            </a:extLst>
          </p:cNvPr>
          <p:cNvSpPr>
            <a:spLocks noGrp="1"/>
          </p:cNvSpPr>
          <p:nvPr>
            <p:ph type="body" sz="quarter" idx="25"/>
          </p:nvPr>
        </p:nvSpPr>
        <p:spPr>
          <a:xfrm>
            <a:off x="6969125" y="1684338"/>
            <a:ext cx="2808288" cy="346075"/>
          </a:xfrm>
        </p:spPr>
        <p:txBody>
          <a:bodyPr/>
          <a:lstStyle/>
          <a:p>
            <a:r>
              <a:rPr lang="en-US" noProof="0" dirty="0"/>
              <a:t>9:00 am – Get help in Excel</a:t>
            </a:r>
          </a:p>
        </p:txBody>
      </p:sp>
      <p:sp>
        <p:nvSpPr>
          <p:cNvPr id="36" name="Text Placeholder 35">
            <a:extLst>
              <a:ext uri="{FF2B5EF4-FFF2-40B4-BE49-F238E27FC236}">
                <a16:creationId xmlns:a16="http://schemas.microsoft.com/office/drawing/2014/main" id="{B18FA541-8352-E0BD-7418-1C85145D1855}"/>
              </a:ext>
            </a:extLst>
          </p:cNvPr>
          <p:cNvSpPr>
            <a:spLocks noGrp="1"/>
          </p:cNvSpPr>
          <p:nvPr>
            <p:ph type="body" sz="quarter" idx="26"/>
          </p:nvPr>
        </p:nvSpPr>
        <p:spPr>
          <a:xfrm>
            <a:off x="6969595" y="2128438"/>
            <a:ext cx="2808000" cy="626701"/>
          </a:xfrm>
        </p:spPr>
        <p:txBody>
          <a:bodyPr/>
          <a:lstStyle/>
          <a:p>
            <a:r>
              <a:rPr lang="en-US" noProof="0" dirty="0"/>
              <a:t>After the call, Brandon works in Excel to model compete insights. When building his model, he encounters a formula error, so he asks Copilot to troubleshoot and rebuild the formula as intended.</a:t>
            </a:r>
          </a:p>
          <a:p>
            <a:endParaRPr lang="en-US" noProof="0" dirty="0"/>
          </a:p>
        </p:txBody>
      </p:sp>
      <p:sp>
        <p:nvSpPr>
          <p:cNvPr id="37" name="Text Placeholder 36">
            <a:extLst>
              <a:ext uri="{FF2B5EF4-FFF2-40B4-BE49-F238E27FC236}">
                <a16:creationId xmlns:a16="http://schemas.microsoft.com/office/drawing/2014/main" id="{F784E7D5-FC75-A291-2401-C2D409ADBB45}"/>
              </a:ext>
            </a:extLst>
          </p:cNvPr>
          <p:cNvSpPr>
            <a:spLocks noGrp="1"/>
          </p:cNvSpPr>
          <p:nvPr>
            <p:ph type="body" sz="quarter" idx="27"/>
          </p:nvPr>
        </p:nvSpPr>
        <p:spPr>
          <a:xfrm>
            <a:off x="6969595" y="3304510"/>
            <a:ext cx="2808000" cy="626701"/>
          </a:xfrm>
        </p:spPr>
        <p:txBody>
          <a:bodyPr>
            <a:normAutofit/>
          </a:bodyPr>
          <a:lstStyle/>
          <a:p>
            <a:r>
              <a:rPr lang="en-US" noProof="0" dirty="0"/>
              <a:t>Example prompt: </a:t>
            </a:r>
            <a:r>
              <a:rPr lang="en-US" dirty="0">
                <a:latin typeface="+mj-lt"/>
              </a:rPr>
              <a:t>Add a column </a:t>
            </a:r>
            <a:r>
              <a:rPr lang="en-US" noProof="0" dirty="0"/>
              <a:t>to the table that subtracts the Annual Run Rate (Revenue x 12) from the Max Annual Run Rate. </a:t>
            </a:r>
            <a:r>
              <a:rPr lang="en-US" dirty="0">
                <a:latin typeface="+mj-lt"/>
              </a:rPr>
              <a:t>Title the column </a:t>
            </a:r>
            <a:r>
              <a:rPr lang="en-US" noProof="0" dirty="0"/>
              <a:t>“ARR Delta”.</a:t>
            </a:r>
          </a:p>
        </p:txBody>
      </p:sp>
      <p:sp>
        <p:nvSpPr>
          <p:cNvPr id="55" name="Text Placeholder 54">
            <a:extLst>
              <a:ext uri="{FF2B5EF4-FFF2-40B4-BE49-F238E27FC236}">
                <a16:creationId xmlns:a16="http://schemas.microsoft.com/office/drawing/2014/main" id="{A0F9A379-1E39-4C5C-CC0A-EE3070586169}"/>
              </a:ext>
            </a:extLst>
          </p:cNvPr>
          <p:cNvSpPr>
            <a:spLocks noGrp="1"/>
          </p:cNvSpPr>
          <p:nvPr>
            <p:ph type="body" sz="quarter" idx="34"/>
          </p:nvPr>
        </p:nvSpPr>
        <p:spPr>
          <a:xfrm>
            <a:off x="6969595" y="4137995"/>
            <a:ext cx="2808000" cy="345600"/>
          </a:xfrm>
        </p:spPr>
        <p:txBody>
          <a:bodyPr/>
          <a:lstStyle/>
          <a:p>
            <a:r>
              <a:rPr lang="en-US" noProof="0" dirty="0"/>
              <a:t>11:00 am – Summarize an email</a:t>
            </a:r>
          </a:p>
        </p:txBody>
      </p:sp>
      <p:sp>
        <p:nvSpPr>
          <p:cNvPr id="68" name="Text Placeholder 67">
            <a:extLst>
              <a:ext uri="{FF2B5EF4-FFF2-40B4-BE49-F238E27FC236}">
                <a16:creationId xmlns:a16="http://schemas.microsoft.com/office/drawing/2014/main" id="{652674CE-1997-AF29-A72B-22A7306E38F1}"/>
              </a:ext>
            </a:extLst>
          </p:cNvPr>
          <p:cNvSpPr>
            <a:spLocks noGrp="1"/>
          </p:cNvSpPr>
          <p:nvPr>
            <p:ph type="body" sz="quarter" idx="35"/>
          </p:nvPr>
        </p:nvSpPr>
        <p:spPr>
          <a:xfrm>
            <a:off x="6969125" y="4584700"/>
            <a:ext cx="2808288" cy="627063"/>
          </a:xfrm>
        </p:spPr>
        <p:txBody>
          <a:bodyPr>
            <a:noAutofit/>
          </a:bodyPr>
          <a:lstStyle/>
          <a:p>
            <a:r>
              <a:rPr lang="en-US" noProof="0" dirty="0"/>
              <a:t>Now that Brandon has completed his modeling, he wants to pair the data with insights from a recent email. He asks Copilot to summarize revenue projections from Wall Street shared to him via email. </a:t>
            </a:r>
          </a:p>
          <a:p>
            <a:endParaRPr lang="en-US" noProof="0" dirty="0"/>
          </a:p>
        </p:txBody>
      </p:sp>
      <p:sp>
        <p:nvSpPr>
          <p:cNvPr id="69" name="Text Placeholder 68">
            <a:extLst>
              <a:ext uri="{FF2B5EF4-FFF2-40B4-BE49-F238E27FC236}">
                <a16:creationId xmlns:a16="http://schemas.microsoft.com/office/drawing/2014/main" id="{990C088A-1D27-C7CC-7985-9492A40BA165}"/>
              </a:ext>
            </a:extLst>
          </p:cNvPr>
          <p:cNvSpPr>
            <a:spLocks noGrp="1"/>
          </p:cNvSpPr>
          <p:nvPr>
            <p:ph type="body" sz="quarter" idx="36"/>
          </p:nvPr>
        </p:nvSpPr>
        <p:spPr>
          <a:xfrm>
            <a:off x="6969595" y="5681038"/>
            <a:ext cx="2808000" cy="626701"/>
          </a:xfrm>
        </p:spPr>
        <p:txBody>
          <a:bodyPr>
            <a:normAutofit/>
          </a:bodyPr>
          <a:lstStyle/>
          <a:p>
            <a:r>
              <a:rPr lang="en-US" noProof="0" dirty="0"/>
              <a:t>Example prompt: </a:t>
            </a:r>
            <a:r>
              <a:rPr lang="en-US" dirty="0">
                <a:latin typeface="+mj-lt"/>
              </a:rPr>
              <a:t>Summarize</a:t>
            </a:r>
            <a:r>
              <a:rPr lang="en-US" noProof="0" dirty="0"/>
              <a:t> the compete email and extract the most important bullet points to understand the revenue projections for each of our competitors.</a:t>
            </a:r>
          </a:p>
        </p:txBody>
      </p:sp>
      <p:sp>
        <p:nvSpPr>
          <p:cNvPr id="52" name="Text Placeholder 51">
            <a:extLst>
              <a:ext uri="{FF2B5EF4-FFF2-40B4-BE49-F238E27FC236}">
                <a16:creationId xmlns:a16="http://schemas.microsoft.com/office/drawing/2014/main" id="{D4F50D37-8419-C7C8-D6C1-C4A6598A5269}"/>
              </a:ext>
            </a:extLst>
          </p:cNvPr>
          <p:cNvSpPr>
            <a:spLocks noGrp="1"/>
          </p:cNvSpPr>
          <p:nvPr>
            <p:ph type="body" sz="quarter" idx="31"/>
          </p:nvPr>
        </p:nvSpPr>
        <p:spPr>
          <a:xfrm>
            <a:off x="3776898" y="4137995"/>
            <a:ext cx="2808000" cy="345600"/>
          </a:xfrm>
        </p:spPr>
        <p:txBody>
          <a:bodyPr/>
          <a:lstStyle/>
          <a:p>
            <a:r>
              <a:rPr lang="en-US" noProof="0" dirty="0"/>
              <a:t>2:00 pm – Format a PowerPoint slide</a:t>
            </a:r>
          </a:p>
        </p:txBody>
      </p:sp>
      <p:sp>
        <p:nvSpPr>
          <p:cNvPr id="66" name="Text Placeholder 65">
            <a:extLst>
              <a:ext uri="{FF2B5EF4-FFF2-40B4-BE49-F238E27FC236}">
                <a16:creationId xmlns:a16="http://schemas.microsoft.com/office/drawing/2014/main" id="{F2557C25-5BDD-B495-3B15-9571C454B733}"/>
              </a:ext>
            </a:extLst>
          </p:cNvPr>
          <p:cNvSpPr>
            <a:spLocks noGrp="1"/>
          </p:cNvSpPr>
          <p:nvPr>
            <p:ph type="body" sz="quarter" idx="32"/>
          </p:nvPr>
        </p:nvSpPr>
        <p:spPr>
          <a:xfrm>
            <a:off x="3776898" y="4584616"/>
            <a:ext cx="2808000" cy="626701"/>
          </a:xfrm>
        </p:spPr>
        <p:txBody>
          <a:bodyPr/>
          <a:lstStyle/>
          <a:p>
            <a:r>
              <a:rPr lang="en-US" noProof="0" dirty="0"/>
              <a:t>Brandon must aggregate the insights now. He builds a summary slide compiling the work from Excel and Outlook but needs help formatting the content. He asks Copilot to help him.</a:t>
            </a:r>
          </a:p>
          <a:p>
            <a:endParaRPr lang="en-US" noProof="0" dirty="0"/>
          </a:p>
        </p:txBody>
      </p:sp>
      <p:sp>
        <p:nvSpPr>
          <p:cNvPr id="67" name="Text Placeholder 66">
            <a:extLst>
              <a:ext uri="{FF2B5EF4-FFF2-40B4-BE49-F238E27FC236}">
                <a16:creationId xmlns:a16="http://schemas.microsoft.com/office/drawing/2014/main" id="{260B331A-E1B5-B885-CC8A-DB264502B4BC}"/>
              </a:ext>
            </a:extLst>
          </p:cNvPr>
          <p:cNvSpPr>
            <a:spLocks noGrp="1"/>
          </p:cNvSpPr>
          <p:nvPr>
            <p:ph type="body" sz="quarter" idx="33"/>
          </p:nvPr>
        </p:nvSpPr>
        <p:spPr>
          <a:xfrm>
            <a:off x="3776898" y="5681038"/>
            <a:ext cx="2808000" cy="626701"/>
          </a:xfrm>
        </p:spPr>
        <p:txBody>
          <a:bodyPr>
            <a:normAutofit/>
          </a:bodyPr>
          <a:lstStyle/>
          <a:p>
            <a:r>
              <a:rPr lang="en-US" noProof="0" dirty="0"/>
              <a:t>Example prompt: </a:t>
            </a:r>
            <a:r>
              <a:rPr lang="en-US" dirty="0">
                <a:latin typeface="+mj-lt"/>
              </a:rPr>
              <a:t>Format this slide </a:t>
            </a:r>
            <a:r>
              <a:rPr lang="en-US" noProof="0" dirty="0"/>
              <a:t>to align to [Q2CompeteInsights]. Make sure all fonts besides the title are the same size. Bold the key summary points.</a:t>
            </a:r>
          </a:p>
        </p:txBody>
      </p:sp>
      <p:sp>
        <p:nvSpPr>
          <p:cNvPr id="49" name="Text Placeholder 48">
            <a:extLst>
              <a:ext uri="{FF2B5EF4-FFF2-40B4-BE49-F238E27FC236}">
                <a16:creationId xmlns:a16="http://schemas.microsoft.com/office/drawing/2014/main" id="{B9B71A71-82A6-309C-41D4-38ECA93CF523}"/>
              </a:ext>
            </a:extLst>
          </p:cNvPr>
          <p:cNvSpPr>
            <a:spLocks noGrp="1"/>
          </p:cNvSpPr>
          <p:nvPr>
            <p:ph type="body" sz="quarter" idx="28"/>
          </p:nvPr>
        </p:nvSpPr>
        <p:spPr>
          <a:xfrm>
            <a:off x="584200" y="4137995"/>
            <a:ext cx="2808000" cy="345600"/>
          </a:xfrm>
        </p:spPr>
        <p:txBody>
          <a:bodyPr/>
          <a:lstStyle/>
          <a:p>
            <a:r>
              <a:rPr lang="en-US" noProof="0" dirty="0"/>
              <a:t>4:00 pm – Draft an email</a:t>
            </a:r>
          </a:p>
        </p:txBody>
      </p:sp>
      <p:sp>
        <p:nvSpPr>
          <p:cNvPr id="64" name="Text Placeholder 63">
            <a:extLst>
              <a:ext uri="{FF2B5EF4-FFF2-40B4-BE49-F238E27FC236}">
                <a16:creationId xmlns:a16="http://schemas.microsoft.com/office/drawing/2014/main" id="{F62F376E-1978-C186-433D-A34423780954}"/>
              </a:ext>
            </a:extLst>
          </p:cNvPr>
          <p:cNvSpPr>
            <a:spLocks noGrp="1"/>
          </p:cNvSpPr>
          <p:nvPr>
            <p:ph type="body" sz="quarter" idx="29"/>
          </p:nvPr>
        </p:nvSpPr>
        <p:spPr>
          <a:xfrm>
            <a:off x="584200" y="4584616"/>
            <a:ext cx="2808000" cy="626701"/>
          </a:xfrm>
        </p:spPr>
        <p:txBody>
          <a:bodyPr/>
          <a:lstStyle/>
          <a:p>
            <a:r>
              <a:rPr lang="en-US" noProof="0" dirty="0"/>
              <a:t>As the day comes to an end, he needs to respond to Javier. Brandon asks Copilot to help draft an email summarizing the key points from his PowerPoint slide. </a:t>
            </a:r>
          </a:p>
          <a:p>
            <a:endParaRPr lang="en-US" noProof="0" dirty="0"/>
          </a:p>
        </p:txBody>
      </p:sp>
      <p:sp>
        <p:nvSpPr>
          <p:cNvPr id="65" name="Text Placeholder 64">
            <a:extLst>
              <a:ext uri="{FF2B5EF4-FFF2-40B4-BE49-F238E27FC236}">
                <a16:creationId xmlns:a16="http://schemas.microsoft.com/office/drawing/2014/main" id="{A4A1AE72-BD37-3BDA-C88A-BBCBDA21EABE}"/>
              </a:ext>
            </a:extLst>
          </p:cNvPr>
          <p:cNvSpPr>
            <a:spLocks noGrp="1"/>
          </p:cNvSpPr>
          <p:nvPr>
            <p:ph type="body" sz="quarter" idx="30"/>
          </p:nvPr>
        </p:nvSpPr>
        <p:spPr>
          <a:xfrm>
            <a:off x="584200" y="5681663"/>
            <a:ext cx="2735263" cy="625475"/>
          </a:xfrm>
        </p:spPr>
        <p:txBody>
          <a:bodyPr>
            <a:normAutofit/>
          </a:bodyPr>
          <a:lstStyle/>
          <a:p>
            <a:r>
              <a:rPr lang="en-US" noProof="0" dirty="0"/>
              <a:t>Example prompt: </a:t>
            </a:r>
            <a:r>
              <a:rPr lang="en-US" dirty="0">
                <a:latin typeface="+mj-lt"/>
              </a:rPr>
              <a:t>Draft an email </a:t>
            </a:r>
            <a:r>
              <a:rPr lang="en-US" noProof="0" dirty="0"/>
              <a:t>responding to Javier, summarizing content from [Q3CompeteInsights]. Make this email brief and in a formal tone. Add a link to the deck.</a:t>
            </a:r>
          </a:p>
        </p:txBody>
      </p:sp>
      <p:sp>
        <p:nvSpPr>
          <p:cNvPr id="56" name="TextBox 55">
            <a:extLst>
              <a:ext uri="{FF2B5EF4-FFF2-40B4-BE49-F238E27FC236}">
                <a16:creationId xmlns:a16="http://schemas.microsoft.com/office/drawing/2014/main" id="{37214391-A987-6AB8-2A0D-A379E348139E}"/>
              </a:ext>
            </a:extLst>
          </p:cNvPr>
          <p:cNvSpPr txBox="1"/>
          <p:nvPr/>
        </p:nvSpPr>
        <p:spPr>
          <a:xfrm>
            <a:off x="10123962" y="1684338"/>
            <a:ext cx="1905067" cy="861774"/>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C03BC4"/>
                </a:solidFill>
                <a:effectLst/>
                <a:uLnTx/>
                <a:uFillTx/>
                <a:latin typeface="Segoe UI Semibold"/>
                <a:ea typeface="+mn-ea"/>
                <a:cs typeface="+mn-cs"/>
              </a:rPr>
              <a:t>Brandon</a:t>
            </a:r>
            <a:br>
              <a:rPr kumimoji="0" lang="en-US" sz="2400" b="0" i="0" u="none" strike="noStrike" kern="1200" cap="none" spc="0" normalizeH="0" baseline="0" noProof="0" dirty="0">
                <a:ln>
                  <a:noFill/>
                </a:ln>
                <a:solidFill>
                  <a:srgbClr val="C03BC4"/>
                </a:solidFill>
                <a:effectLst/>
                <a:uLnTx/>
                <a:uFillTx/>
                <a:latin typeface="Segoe UI Semibold"/>
                <a:ea typeface="+mn-ea"/>
                <a:cs typeface="+mn-cs"/>
              </a:rPr>
            </a:br>
            <a:r>
              <a:rPr kumimoji="0" lang="en-US" sz="1600" b="0" i="0" u="none" strike="noStrike" kern="1200" cap="none" spc="0" normalizeH="0" baseline="0" noProof="0" dirty="0">
                <a:ln>
                  <a:noFill/>
                </a:ln>
                <a:solidFill>
                  <a:srgbClr val="C03BC4"/>
                </a:solidFill>
                <a:effectLst/>
                <a:uLnTx/>
                <a:uFillTx/>
                <a:latin typeface="Segoe UI"/>
                <a:ea typeface="+mn-ea"/>
                <a:cs typeface="Segoe UI" panose="020B0502040204020203" pitchFamily="34" charset="0"/>
              </a:rPr>
              <a:t>is a Finance Manager at Microsoft.</a:t>
            </a:r>
          </a:p>
        </p:txBody>
      </p:sp>
      <p:pic>
        <p:nvPicPr>
          <p:cNvPr id="116" name="Picture Placeholder 10" descr="A person smiling at camera&#10;&#10;Description automatically generated">
            <a:extLst>
              <a:ext uri="{FF2B5EF4-FFF2-40B4-BE49-F238E27FC236}">
                <a16:creationId xmlns:a16="http://schemas.microsoft.com/office/drawing/2014/main" id="{65FF26B5-F5C8-2F35-54F0-13A2FD53B9CE}"/>
              </a:ext>
            </a:extLst>
          </p:cNvPr>
          <p:cNvPicPr>
            <a:picLocks noChangeAspect="1"/>
          </p:cNvPicPr>
          <p:nvPr/>
        </p:nvPicPr>
        <p:blipFill rotWithShape="1">
          <a:blip r:embed="rId2" cstate="screen">
            <a:extLst>
              <a:ext uri="{BEBA8EAE-BF5A-486C-A8C5-ECC9F3942E4B}">
                <a14:imgProps xmlns:a14="http://schemas.microsoft.com/office/drawing/2010/main">
                  <a14:imgLayer r:embed="rId3">
                    <a14:imgEffect>
                      <a14:backgroundRemoval t="10000" b="98667" l="7000" r="92000">
                        <a14:foregroundMark x1="41000" y1="72000" x2="34333" y2="38000"/>
                        <a14:foregroundMark x1="34333" y1="38000" x2="50667" y2="16667"/>
                        <a14:foregroundMark x1="50667" y1="16667" x2="65667" y2="39333"/>
                        <a14:foregroundMark x1="65667" y1="39333" x2="62333" y2="65333"/>
                        <a14:foregroundMark x1="62333" y1="65333" x2="38667" y2="61333"/>
                        <a14:foregroundMark x1="38667" y1="61333" x2="37333" y2="49333"/>
                        <a14:foregroundMark x1="39333" y1="71333" x2="12333" y2="83667"/>
                        <a14:foregroundMark x1="12333" y1="83667" x2="59667" y2="97333"/>
                        <a14:foregroundMark x1="59667" y1="97333" x2="92333" y2="97333"/>
                        <a14:foregroundMark x1="92333" y1="97333" x2="73333" y2="76667"/>
                        <a14:foregroundMark x1="73333" y1="76667" x2="38000" y2="71333"/>
                        <a14:foregroundMark x1="7000" y1="92333" x2="7667" y2="92333"/>
                        <a14:foregroundMark x1="15333" y1="85333" x2="43333" y2="97000"/>
                        <a14:foregroundMark x1="43333" y1="97000" x2="18333" y2="86667"/>
                        <a14:foregroundMark x1="18333" y1="86667" x2="16000" y2="86667"/>
                        <a14:foregroundMark x1="18333" y1="89000" x2="19667" y2="91667"/>
                        <a14:foregroundMark x1="7000" y1="94000" x2="12667" y2="97333"/>
                        <a14:foregroundMark x1="12667" y1="97333" x2="17000" y2="98667"/>
                      </a14:backgroundRemoval>
                    </a14:imgEffect>
                  </a14:imgLayer>
                </a14:imgProps>
              </a:ext>
              <a:ext uri="{28A0092B-C50C-407E-A947-70E740481C1C}">
                <a14:useLocalDpi xmlns:a14="http://schemas.microsoft.com/office/drawing/2010/main"/>
              </a:ext>
            </a:extLst>
          </a:blip>
          <a:srcRect l="-1584" r="6750"/>
          <a:stretch/>
        </p:blipFill>
        <p:spPr>
          <a:xfrm>
            <a:off x="9736399" y="4268645"/>
            <a:ext cx="2455601" cy="2589355"/>
          </a:xfrm>
          <a:prstGeom prst="rect">
            <a:avLst/>
          </a:prstGeom>
        </p:spPr>
      </p:pic>
      <p:sp>
        <p:nvSpPr>
          <p:cNvPr id="6" name="Rectangle: Rounded Corners 6">
            <a:extLst>
              <a:ext uri="{FF2B5EF4-FFF2-40B4-BE49-F238E27FC236}">
                <a16:creationId xmlns:a16="http://schemas.microsoft.com/office/drawing/2014/main" id="{3C581D4F-278A-C259-5EA3-90D82D0026E4}"/>
              </a:ext>
              <a:ext uri="{C183D7F6-B498-43B3-948B-1728B52AA6E4}">
                <adec:decorative xmlns:adec="http://schemas.microsoft.com/office/drawing/2017/decorative" val="1"/>
              </a:ext>
            </a:extLst>
          </p:cNvPr>
          <p:cNvSpPr/>
          <p:nvPr/>
        </p:nvSpPr>
        <p:spPr bwMode="auto">
          <a:xfrm>
            <a:off x="576356" y="1134767"/>
            <a:ext cx="659514" cy="216000"/>
          </a:xfrm>
          <a:prstGeom prst="roundRect">
            <a:avLst>
              <a:gd name="adj" fmla="val 50000"/>
            </a:avLst>
          </a:prstGeom>
          <a:solidFill>
            <a:srgbClr val="FFA38B"/>
          </a:solidFill>
          <a:ln w="12700">
            <a:solidFill>
              <a:srgbClr val="FFA38B"/>
            </a:solidFill>
            <a:headEnd type="none" w="med" len="med"/>
            <a:tailEnd type="none" w="med" len="med"/>
          </a:ln>
          <a:effectLst>
            <a:outerShdw blurRad="63500" dist="63500" dir="2700000"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Segoe UI Semibold"/>
                <a:ea typeface="+mn-ea"/>
                <a:cs typeface="Segoe UI Semibold" panose="020B0702040204020203" pitchFamily="34" charset="0"/>
              </a:rPr>
              <a:t>Benefits</a:t>
            </a:r>
          </a:p>
        </p:txBody>
      </p:sp>
      <p:grpSp>
        <p:nvGrpSpPr>
          <p:cNvPr id="7" name="Group 6">
            <a:extLst>
              <a:ext uri="{FF2B5EF4-FFF2-40B4-BE49-F238E27FC236}">
                <a16:creationId xmlns:a16="http://schemas.microsoft.com/office/drawing/2014/main" id="{75E82856-6A17-4AA4-F263-64BB43990B84}"/>
              </a:ext>
            </a:extLst>
          </p:cNvPr>
          <p:cNvGrpSpPr/>
          <p:nvPr/>
        </p:nvGrpSpPr>
        <p:grpSpPr>
          <a:xfrm>
            <a:off x="1286540" y="1134767"/>
            <a:ext cx="1571031" cy="216000"/>
            <a:chOff x="1372194" y="969899"/>
            <a:chExt cx="1571031" cy="216000"/>
          </a:xfrm>
        </p:grpSpPr>
        <p:sp>
          <p:nvSpPr>
            <p:cNvPr id="8" name="Rectangle: Rounded Corners 6">
              <a:extLst>
                <a:ext uri="{FF2B5EF4-FFF2-40B4-BE49-F238E27FC236}">
                  <a16:creationId xmlns:a16="http://schemas.microsoft.com/office/drawing/2014/main" id="{506F4088-566A-6E55-9C19-588DF8EB72DF}"/>
                </a:ext>
                <a:ext uri="{C183D7F6-B498-43B3-948B-1728B52AA6E4}">
                  <adec:decorative xmlns:adec="http://schemas.microsoft.com/office/drawing/2017/decorative" val="1"/>
                </a:ext>
              </a:extLst>
            </p:cNvPr>
            <p:cNvSpPr/>
            <p:nvPr/>
          </p:nvSpPr>
          <p:spPr bwMode="auto">
            <a:xfrm>
              <a:off x="1372194" y="969899"/>
              <a:ext cx="1571031" cy="216000"/>
            </a:xfrm>
            <a:prstGeom prst="roundRect">
              <a:avLst>
                <a:gd name="adj" fmla="val 50000"/>
              </a:avLst>
            </a:prstGeom>
            <a:solidFill>
              <a:srgbClr val="FFFFFF"/>
            </a:solidFill>
            <a:ln w="12700">
              <a:solidFill>
                <a:srgbClr val="FFA38B"/>
              </a:solidFill>
              <a:headEnd type="none" w="med" len="med"/>
              <a:tailEnd type="none" w="med" len="med"/>
            </a:ln>
            <a:effectLst>
              <a:outerShdw blurRad="63500" dist="63500" dir="2700000"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16000" tIns="18288" rIns="36000" bIns="36000" numCol="1" spcCol="0" rtlCol="0" fromWordArt="0" anchor="ctr" anchorCtr="0" forceAA="0" compatLnSpc="1">
              <a:prstTxWarp prst="textNoShape">
                <a:avLst/>
              </a:prstTxWarp>
              <a:noAutofit/>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73391D"/>
                  </a:solidFill>
                  <a:effectLst/>
                  <a:uLnTx/>
                  <a:uFillTx/>
                  <a:latin typeface="Segoe UI Semibold"/>
                  <a:ea typeface="+mn-ea"/>
                  <a:cs typeface="Segoe UI Semibold" panose="020B0702040204020203" pitchFamily="34" charset="0"/>
                </a:rPr>
                <a:t>~30–45 minutes daily</a:t>
              </a:r>
            </a:p>
          </p:txBody>
        </p:sp>
        <p:pic>
          <p:nvPicPr>
            <p:cNvPr id="9" name="Graphic 8">
              <a:extLst>
                <a:ext uri="{FF2B5EF4-FFF2-40B4-BE49-F238E27FC236}">
                  <a16:creationId xmlns:a16="http://schemas.microsoft.com/office/drawing/2014/main" id="{8B45A9C1-CA14-D923-4432-B93A979483B2}"/>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421924" y="1005899"/>
              <a:ext cx="144000" cy="144000"/>
            </a:xfrm>
            <a:prstGeom prst="rect">
              <a:avLst/>
            </a:prstGeom>
          </p:spPr>
        </p:pic>
      </p:grpSp>
      <p:grpSp>
        <p:nvGrpSpPr>
          <p:cNvPr id="10" name="Group 9">
            <a:extLst>
              <a:ext uri="{FF2B5EF4-FFF2-40B4-BE49-F238E27FC236}">
                <a16:creationId xmlns:a16="http://schemas.microsoft.com/office/drawing/2014/main" id="{D928EC0D-1291-FC3F-D857-7FB264625536}"/>
              </a:ext>
            </a:extLst>
          </p:cNvPr>
          <p:cNvGrpSpPr/>
          <p:nvPr/>
        </p:nvGrpSpPr>
        <p:grpSpPr>
          <a:xfrm>
            <a:off x="5754502" y="1134767"/>
            <a:ext cx="2894198" cy="216000"/>
            <a:chOff x="6235578" y="969899"/>
            <a:chExt cx="2894198" cy="216000"/>
          </a:xfrm>
        </p:grpSpPr>
        <p:sp>
          <p:nvSpPr>
            <p:cNvPr id="11" name="Rectangle: Rounded Corners 6">
              <a:extLst>
                <a:ext uri="{FF2B5EF4-FFF2-40B4-BE49-F238E27FC236}">
                  <a16:creationId xmlns:a16="http://schemas.microsoft.com/office/drawing/2014/main" id="{DDC8ED37-FB30-0A51-6DD8-CA29973F421C}"/>
                </a:ext>
                <a:ext uri="{C183D7F6-B498-43B3-948B-1728B52AA6E4}">
                  <adec:decorative xmlns:adec="http://schemas.microsoft.com/office/drawing/2017/decorative" val="1"/>
                </a:ext>
              </a:extLst>
            </p:cNvPr>
            <p:cNvSpPr/>
            <p:nvPr/>
          </p:nvSpPr>
          <p:spPr bwMode="auto">
            <a:xfrm>
              <a:off x="6235578" y="969899"/>
              <a:ext cx="2894198" cy="216000"/>
            </a:xfrm>
            <a:prstGeom prst="roundRect">
              <a:avLst>
                <a:gd name="adj" fmla="val 50000"/>
              </a:avLst>
            </a:prstGeom>
            <a:solidFill>
              <a:srgbClr val="FFFFFF"/>
            </a:solidFill>
            <a:ln w="12700">
              <a:solidFill>
                <a:srgbClr val="FFA38B"/>
              </a:solidFill>
              <a:headEnd type="none" w="med" len="med"/>
              <a:tailEnd type="none" w="med" len="med"/>
            </a:ln>
            <a:effectLst>
              <a:outerShdw blurRad="63500" dist="63500" dir="2700000"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16000" tIns="18288" rIns="36000" bIns="36000" numCol="1" spcCol="0" rtlCol="0" fromWordArt="0" anchor="ctr" anchorCtr="0" forceAA="0" compatLnSpc="1">
              <a:prstTxWarp prst="textNoShape">
                <a:avLst/>
              </a:prstTxWarp>
              <a:noAutofit/>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73391D"/>
                  </a:solidFill>
                  <a:effectLst/>
                  <a:uLnTx/>
                  <a:uFillTx/>
                  <a:latin typeface="Segoe UI Semibold"/>
                  <a:ea typeface="+mn-ea"/>
                  <a:cs typeface="Segoe UI Semibold" panose="020B0702040204020203" pitchFamily="34" charset="0"/>
                </a:rPr>
                <a:t>Faster responses, better insights, and fewer errors</a:t>
              </a:r>
            </a:p>
          </p:txBody>
        </p:sp>
        <p:pic>
          <p:nvPicPr>
            <p:cNvPr id="12" name="Graphic 11">
              <a:extLst>
                <a:ext uri="{FF2B5EF4-FFF2-40B4-BE49-F238E27FC236}">
                  <a16:creationId xmlns:a16="http://schemas.microsoft.com/office/drawing/2014/main" id="{BDABDC45-5B68-57A3-3B71-39A2BBD01A66}"/>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6282712" y="1005899"/>
              <a:ext cx="144000" cy="144000"/>
            </a:xfrm>
            <a:prstGeom prst="rect">
              <a:avLst/>
            </a:prstGeom>
          </p:spPr>
        </p:pic>
      </p:grpSp>
      <p:grpSp>
        <p:nvGrpSpPr>
          <p:cNvPr id="13" name="Group 12">
            <a:extLst>
              <a:ext uri="{FF2B5EF4-FFF2-40B4-BE49-F238E27FC236}">
                <a16:creationId xmlns:a16="http://schemas.microsoft.com/office/drawing/2014/main" id="{80139539-3B27-BD2E-6DD0-B18DDF6E310E}"/>
              </a:ext>
            </a:extLst>
          </p:cNvPr>
          <p:cNvGrpSpPr/>
          <p:nvPr/>
        </p:nvGrpSpPr>
        <p:grpSpPr>
          <a:xfrm>
            <a:off x="2908241" y="1134767"/>
            <a:ext cx="2795593" cy="216000"/>
            <a:chOff x="3133720" y="969899"/>
            <a:chExt cx="2795593" cy="216000"/>
          </a:xfrm>
        </p:grpSpPr>
        <p:sp>
          <p:nvSpPr>
            <p:cNvPr id="14" name="Rectangle: Rounded Corners 6">
              <a:extLst>
                <a:ext uri="{FF2B5EF4-FFF2-40B4-BE49-F238E27FC236}">
                  <a16:creationId xmlns:a16="http://schemas.microsoft.com/office/drawing/2014/main" id="{8D5AA28C-BCCC-206D-C67C-AA706D415528}"/>
                </a:ext>
                <a:ext uri="{C183D7F6-B498-43B3-948B-1728B52AA6E4}">
                  <adec:decorative xmlns:adec="http://schemas.microsoft.com/office/drawing/2017/decorative" val="1"/>
                </a:ext>
              </a:extLst>
            </p:cNvPr>
            <p:cNvSpPr/>
            <p:nvPr/>
          </p:nvSpPr>
          <p:spPr bwMode="auto">
            <a:xfrm>
              <a:off x="3133720" y="969899"/>
              <a:ext cx="2795593" cy="216000"/>
            </a:xfrm>
            <a:prstGeom prst="roundRect">
              <a:avLst>
                <a:gd name="adj" fmla="val 50000"/>
              </a:avLst>
            </a:prstGeom>
            <a:solidFill>
              <a:srgbClr val="FFFFFF"/>
            </a:solidFill>
            <a:ln w="12700">
              <a:solidFill>
                <a:srgbClr val="FFA38B"/>
              </a:solidFill>
              <a:headEnd type="none" w="med" len="med"/>
              <a:tailEnd type="none" w="med" len="med"/>
            </a:ln>
            <a:effectLst>
              <a:outerShdw blurRad="63500" dist="63500" dir="2700000"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16000" tIns="18288" rIns="36000" bIns="36000" numCol="1" spcCol="0" rtlCol="0" fromWordArt="0" anchor="ctr" anchorCtr="0" forceAA="0" compatLnSpc="1">
              <a:prstTxWarp prst="textNoShape">
                <a:avLst/>
              </a:prstTxWarp>
              <a:noAutofit/>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73391D"/>
                  </a:solidFill>
                  <a:effectLst/>
                  <a:uLnTx/>
                  <a:uFillTx/>
                  <a:latin typeface="Segoe UI Semibold"/>
                  <a:ea typeface="+mn-ea"/>
                  <a:cs typeface="Segoe UI Semibold" panose="020B0702040204020203" pitchFamily="34" charset="0"/>
                </a:rPr>
                <a:t>Areas of investment: Detailed analysis</a:t>
              </a:r>
            </a:p>
          </p:txBody>
        </p:sp>
        <p:pic>
          <p:nvPicPr>
            <p:cNvPr id="15" name="Graphic 14">
              <a:extLst>
                <a:ext uri="{FF2B5EF4-FFF2-40B4-BE49-F238E27FC236}">
                  <a16:creationId xmlns:a16="http://schemas.microsoft.com/office/drawing/2014/main" id="{B5D2705C-8FE2-58C1-F1F6-13349BFBAC1B}"/>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3193555" y="1005899"/>
              <a:ext cx="144000" cy="144000"/>
            </a:xfrm>
            <a:prstGeom prst="rect">
              <a:avLst/>
            </a:prstGeom>
          </p:spPr>
        </p:pic>
      </p:grpSp>
      <p:grpSp>
        <p:nvGrpSpPr>
          <p:cNvPr id="44" name="Group 43">
            <a:extLst>
              <a:ext uri="{FF2B5EF4-FFF2-40B4-BE49-F238E27FC236}">
                <a16:creationId xmlns:a16="http://schemas.microsoft.com/office/drawing/2014/main" id="{4734C32D-E06C-E113-E66A-6103A4D829AB}"/>
              </a:ext>
            </a:extLst>
          </p:cNvPr>
          <p:cNvGrpSpPr/>
          <p:nvPr/>
        </p:nvGrpSpPr>
        <p:grpSpPr>
          <a:xfrm>
            <a:off x="3776663" y="5266713"/>
            <a:ext cx="2255978" cy="360000"/>
            <a:chOff x="6969125" y="5260425"/>
            <a:chExt cx="2255978" cy="360000"/>
          </a:xfrm>
        </p:grpSpPr>
        <p:sp>
          <p:nvSpPr>
            <p:cNvPr id="45" name="TextBox 44">
              <a:extLst>
                <a:ext uri="{FF2B5EF4-FFF2-40B4-BE49-F238E27FC236}">
                  <a16:creationId xmlns:a16="http://schemas.microsoft.com/office/drawing/2014/main" id="{405A58BD-C54A-D5A0-E7B5-406024CB3C64}"/>
                </a:ext>
                <a:ext uri="{C183D7F6-B498-43B3-948B-1728B52AA6E4}">
                  <adec:decorative xmlns:adec="http://schemas.microsoft.com/office/drawing/2017/decorative" val="0"/>
                </a:ext>
              </a:extLst>
            </p:cNvPr>
            <p:cNvSpPr txBox="1"/>
            <p:nvPr/>
          </p:nvSpPr>
          <p:spPr>
            <a:xfrm>
              <a:off x="7428311" y="5363480"/>
              <a:ext cx="1796792" cy="1538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Semibold"/>
                  <a:ea typeface="+mn-ea"/>
                  <a:cs typeface="+mn-cs"/>
                </a:rPr>
                <a:t>Copilot in PowerPoint</a:t>
              </a:r>
            </a:p>
          </p:txBody>
        </p:sp>
        <p:sp>
          <p:nvSpPr>
            <p:cNvPr id="47" name="Oval 46">
              <a:extLst>
                <a:ext uri="{FF2B5EF4-FFF2-40B4-BE49-F238E27FC236}">
                  <a16:creationId xmlns:a16="http://schemas.microsoft.com/office/drawing/2014/main" id="{515D4CA6-8090-ABFE-34F6-A081539B936A}"/>
                </a:ext>
              </a:extLst>
            </p:cNvPr>
            <p:cNvSpPr>
              <a:spLocks/>
            </p:cNvSpPr>
            <p:nvPr/>
          </p:nvSpPr>
          <p:spPr bwMode="auto">
            <a:xfrm>
              <a:off x="6969125" y="5260425"/>
              <a:ext cx="360000" cy="360000"/>
            </a:xfrm>
            <a:prstGeom prst="ellipse">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IN" sz="2000" b="0" i="0" u="none" strike="noStrike" kern="1200" cap="none" spc="0" normalizeH="0" baseline="0" noProof="0" dirty="0">
                <a:ln>
                  <a:noFill/>
                </a:ln>
                <a:solidFill>
                  <a:srgbClr val="FFFFFF"/>
                </a:solidFill>
                <a:effectLst/>
                <a:uLnTx/>
                <a:uFillTx/>
                <a:latin typeface="Segoe UI"/>
                <a:ea typeface="Segoe UI" pitchFamily="34" charset="0"/>
                <a:cs typeface="Segoe UI" pitchFamily="34" charset="0"/>
              </a:endParaRPr>
            </a:p>
          </p:txBody>
        </p:sp>
      </p:grpSp>
      <p:sp>
        <p:nvSpPr>
          <p:cNvPr id="53" name="TextBox 52">
            <a:extLst>
              <a:ext uri="{FF2B5EF4-FFF2-40B4-BE49-F238E27FC236}">
                <a16:creationId xmlns:a16="http://schemas.microsoft.com/office/drawing/2014/main" id="{6B1F3432-A063-E27C-06F1-70BB55FC62AD}"/>
              </a:ext>
              <a:ext uri="{C183D7F6-B498-43B3-948B-1728B52AA6E4}">
                <adec:decorative xmlns:adec="http://schemas.microsoft.com/office/drawing/2017/decorative" val="0"/>
              </a:ext>
            </a:extLst>
          </p:cNvPr>
          <p:cNvSpPr txBox="1"/>
          <p:nvPr/>
        </p:nvSpPr>
        <p:spPr>
          <a:xfrm>
            <a:off x="7428546" y="2953593"/>
            <a:ext cx="1892184" cy="1538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Segoe UI Semibold"/>
                <a:ea typeface="+mn-ea"/>
                <a:cs typeface="+mn-cs"/>
              </a:rPr>
              <a:t>Copilot in Excel</a:t>
            </a:r>
            <a:endParaRPr kumimoji="0" lang="en-US" sz="1000" b="0" i="0" u="none" strike="noStrike" kern="1200" cap="none" spc="0" normalizeH="0" baseline="30000" noProof="0" dirty="0">
              <a:ln>
                <a:noFill/>
              </a:ln>
              <a:solidFill>
                <a:prstClr val="black"/>
              </a:solidFill>
              <a:effectLst/>
              <a:uLnTx/>
              <a:uFillTx/>
              <a:latin typeface="Segoe UI Semibold"/>
              <a:ea typeface="+mn-ea"/>
              <a:cs typeface="+mn-cs"/>
            </a:endParaRPr>
          </a:p>
        </p:txBody>
      </p:sp>
      <p:grpSp>
        <p:nvGrpSpPr>
          <p:cNvPr id="54" name="Group 53">
            <a:extLst>
              <a:ext uri="{FF2B5EF4-FFF2-40B4-BE49-F238E27FC236}">
                <a16:creationId xmlns:a16="http://schemas.microsoft.com/office/drawing/2014/main" id="{D984FD80-07A7-5048-2700-C8394DF921C2}"/>
              </a:ext>
            </a:extLst>
          </p:cNvPr>
          <p:cNvGrpSpPr/>
          <p:nvPr/>
        </p:nvGrpSpPr>
        <p:grpSpPr>
          <a:xfrm>
            <a:off x="584200" y="2850537"/>
            <a:ext cx="2351135" cy="360000"/>
            <a:chOff x="588263" y="1217924"/>
            <a:chExt cx="2351135" cy="360000"/>
          </a:xfrm>
        </p:grpSpPr>
        <p:pic>
          <p:nvPicPr>
            <p:cNvPr id="59" name="Picture 58" descr="Zip Co logo SVG free download, id: 101874 - Brandlogos.net">
              <a:hlinkClick r:id="rId7"/>
              <a:extLst>
                <a:ext uri="{FF2B5EF4-FFF2-40B4-BE49-F238E27FC236}">
                  <a16:creationId xmlns:a16="http://schemas.microsoft.com/office/drawing/2014/main" id="{48885D8D-4F04-6D7C-3BEA-447D48C5B603}"/>
                </a:ext>
              </a:extLst>
            </p:cNvPr>
            <p:cNvPicPr>
              <a:picLocks noChangeAspect="1" noChangeArrowheads="1"/>
            </p:cNvPicPr>
            <p:nvPr/>
          </p:nvPicPr>
          <p:blipFill rotWithShape="1">
            <a:blip r:embed="rId8" cstate="screen">
              <a:extLst>
                <a:ext uri="{28A0092B-C50C-407E-A947-70E740481C1C}">
                  <a14:useLocalDpi xmlns:a14="http://schemas.microsoft.com/office/drawing/2010/main"/>
                </a:ext>
              </a:extLst>
            </a:blip>
            <a:srcRect l="-43278" t="-53646" r="-43278" b="-53646"/>
            <a:stretch/>
          </p:blipFill>
          <p:spPr bwMode="auto">
            <a:xfrm>
              <a:off x="588263" y="1217924"/>
              <a:ext cx="360000" cy="360000"/>
            </a:xfrm>
            <a:prstGeom prst="ellipse">
              <a:avLst/>
            </a:prstGeom>
            <a:solidFill>
              <a:srgbClr val="FFFFFF"/>
            </a:solidFill>
          </p:spPr>
        </p:pic>
        <p:sp>
          <p:nvSpPr>
            <p:cNvPr id="60" name="TextBox 59">
              <a:extLst>
                <a:ext uri="{FF2B5EF4-FFF2-40B4-BE49-F238E27FC236}">
                  <a16:creationId xmlns:a16="http://schemas.microsoft.com/office/drawing/2014/main" id="{60835422-295B-3FB8-20D0-FD8A71AC7D53}"/>
                </a:ext>
                <a:ext uri="{C183D7F6-B498-43B3-948B-1728B52AA6E4}">
                  <adec:decorative xmlns:adec="http://schemas.microsoft.com/office/drawing/2017/decorative" val="0"/>
                </a:ext>
              </a:extLst>
            </p:cNvPr>
            <p:cNvSpPr txBox="1"/>
            <p:nvPr/>
          </p:nvSpPr>
          <p:spPr>
            <a:xfrm>
              <a:off x="1047214" y="1320981"/>
              <a:ext cx="1892184" cy="1538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Semibold"/>
                  <a:ea typeface="+mn-ea"/>
                  <a:cs typeface="+mn-cs"/>
                </a:rPr>
                <a:t>Copilot Chat</a:t>
              </a:r>
              <a:r>
                <a:rPr kumimoji="0" lang="en-US" sz="1000" b="0" i="0" u="none" strike="noStrike" kern="0" cap="none" spc="0" normalizeH="0" baseline="30000" noProof="0" dirty="0">
                  <a:ln>
                    <a:noFill/>
                  </a:ln>
                  <a:solidFill>
                    <a:srgbClr val="000000"/>
                  </a:solidFill>
                  <a:effectLst/>
                  <a:uLnTx/>
                  <a:uFillTx/>
                  <a:latin typeface="Segoe UI Semibold"/>
                  <a:ea typeface="+mn-ea"/>
                  <a:cs typeface="Segoe UI" pitchFamily="34" charset="0"/>
                </a:rPr>
                <a:t>2</a:t>
              </a:r>
              <a:endParaRPr kumimoji="0" lang="en-US" sz="1000" b="0" i="0" u="none" strike="noStrike" kern="1200" cap="none" spc="0" normalizeH="0" baseline="0" noProof="0" dirty="0">
                <a:ln>
                  <a:noFill/>
                </a:ln>
                <a:solidFill>
                  <a:srgbClr val="000000"/>
                </a:solidFill>
                <a:effectLst/>
                <a:uLnTx/>
                <a:uFillTx/>
                <a:latin typeface="Segoe UI Semibold"/>
                <a:ea typeface="+mn-ea"/>
                <a:cs typeface="+mn-cs"/>
              </a:endParaRPr>
            </a:p>
          </p:txBody>
        </p:sp>
      </p:grpSp>
      <p:sp>
        <p:nvSpPr>
          <p:cNvPr id="63" name="TextBox 62">
            <a:extLst>
              <a:ext uri="{FF2B5EF4-FFF2-40B4-BE49-F238E27FC236}">
                <a16:creationId xmlns:a16="http://schemas.microsoft.com/office/drawing/2014/main" id="{80B99192-8450-CC2B-EB2B-A121C842C0B6}"/>
              </a:ext>
              <a:ext uri="{C183D7F6-B498-43B3-948B-1728B52AA6E4}">
                <adec:decorative xmlns:adec="http://schemas.microsoft.com/office/drawing/2017/decorative" val="0"/>
              </a:ext>
            </a:extLst>
          </p:cNvPr>
          <p:cNvSpPr txBox="1"/>
          <p:nvPr/>
        </p:nvSpPr>
        <p:spPr>
          <a:xfrm>
            <a:off x="4235614" y="2953593"/>
            <a:ext cx="1892184" cy="153888"/>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Semibold"/>
                <a:ea typeface="+mn-ea"/>
                <a:cs typeface="+mn-cs"/>
              </a:rPr>
              <a:t>Copilot in Teams</a:t>
            </a:r>
          </a:p>
        </p:txBody>
      </p:sp>
      <p:sp>
        <p:nvSpPr>
          <p:cNvPr id="72" name="TextBox 89">
            <a:extLst>
              <a:ext uri="{FF2B5EF4-FFF2-40B4-BE49-F238E27FC236}">
                <a16:creationId xmlns:a16="http://schemas.microsoft.com/office/drawing/2014/main" id="{0EA561C6-50DE-E485-DC99-F548BA8EA9D6}"/>
              </a:ext>
              <a:ext uri="{C183D7F6-B498-43B3-948B-1728B52AA6E4}">
                <adec:decorative xmlns:adec="http://schemas.microsoft.com/office/drawing/2017/decorative" val="0"/>
              </a:ext>
            </a:extLst>
          </p:cNvPr>
          <p:cNvSpPr txBox="1"/>
          <p:nvPr/>
        </p:nvSpPr>
        <p:spPr>
          <a:xfrm>
            <a:off x="1043151" y="5369769"/>
            <a:ext cx="1892184" cy="153888"/>
          </a:xfrm>
          <a:prstGeom prst="rect">
            <a:avLst/>
          </a:prstGeom>
          <a:noFill/>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Segoe UI Semibold"/>
                <a:ea typeface="+mn-ea"/>
                <a:cs typeface="+mn-cs"/>
              </a:rPr>
              <a:t>Copilot in Outlook</a:t>
            </a:r>
            <a:endParaRPr kumimoji="0" lang="en-US" sz="1000" b="0" i="0" u="none" strike="noStrike" kern="1200" cap="none" spc="0" normalizeH="0" baseline="30000" noProof="0" dirty="0">
              <a:ln>
                <a:noFill/>
              </a:ln>
              <a:solidFill>
                <a:prstClr val="black"/>
              </a:solidFill>
              <a:effectLst/>
              <a:uLnTx/>
              <a:uFillTx/>
              <a:latin typeface="Segoe UI Semibold"/>
              <a:ea typeface="+mn-ea"/>
              <a:cs typeface="+mn-cs"/>
            </a:endParaRPr>
          </a:p>
        </p:txBody>
      </p:sp>
      <p:sp>
        <p:nvSpPr>
          <p:cNvPr id="75" name="TextBox 89">
            <a:extLst>
              <a:ext uri="{FF2B5EF4-FFF2-40B4-BE49-F238E27FC236}">
                <a16:creationId xmlns:a16="http://schemas.microsoft.com/office/drawing/2014/main" id="{926C73AC-731C-F2A3-0167-502A7E9CEAD2}"/>
              </a:ext>
              <a:ext uri="{C183D7F6-B498-43B3-948B-1728B52AA6E4}">
                <adec:decorative xmlns:adec="http://schemas.microsoft.com/office/drawing/2017/decorative" val="0"/>
              </a:ext>
            </a:extLst>
          </p:cNvPr>
          <p:cNvSpPr txBox="1"/>
          <p:nvPr/>
        </p:nvSpPr>
        <p:spPr>
          <a:xfrm>
            <a:off x="7428076" y="5369769"/>
            <a:ext cx="1892184" cy="153888"/>
          </a:xfrm>
          <a:prstGeom prst="rect">
            <a:avLst/>
          </a:prstGeom>
          <a:noFill/>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Segoe UI Semibold"/>
                <a:ea typeface="+mn-ea"/>
                <a:cs typeface="+mn-cs"/>
              </a:rPr>
              <a:t>Copilot in Outlook</a:t>
            </a:r>
            <a:endParaRPr kumimoji="0" lang="en-US" sz="1000" b="0" i="0" u="none" strike="noStrike" kern="1200" cap="none" spc="0" normalizeH="0" baseline="30000" noProof="0" dirty="0">
              <a:ln>
                <a:noFill/>
              </a:ln>
              <a:solidFill>
                <a:prstClr val="black"/>
              </a:solidFill>
              <a:effectLst/>
              <a:uLnTx/>
              <a:uFillTx/>
              <a:latin typeface="Segoe UI Semibold"/>
              <a:ea typeface="+mn-ea"/>
              <a:cs typeface="+mn-cs"/>
            </a:endParaRPr>
          </a:p>
        </p:txBody>
      </p:sp>
      <p:pic>
        <p:nvPicPr>
          <p:cNvPr id="78" name="Graphic 77">
            <a:extLst>
              <a:ext uri="{FF2B5EF4-FFF2-40B4-BE49-F238E27FC236}">
                <a16:creationId xmlns:a16="http://schemas.microsoft.com/office/drawing/2014/main" id="{5688B50F-8DD1-C6A0-EF1A-A251345AC970}"/>
              </a:ext>
              <a:ext uri="{C183D7F6-B498-43B3-948B-1728B52AA6E4}">
                <adec:decorative xmlns:adec="http://schemas.microsoft.com/office/drawing/2017/decorative" val="1"/>
              </a:ext>
            </a:extLst>
          </p:cNvPr>
          <p:cNvPicPr>
            <a:picLocks noChangeAspect="1"/>
          </p:cNvPicPr>
          <p:nvPr/>
        </p:nvPicPr>
        <p:blipFill>
          <a:blip>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rot="10800000">
            <a:off x="10939101" y="2929728"/>
            <a:ext cx="274790" cy="274790"/>
          </a:xfrm>
          <a:prstGeom prst="rect">
            <a:avLst/>
          </a:prstGeom>
        </p:spPr>
      </p:pic>
      <p:pic>
        <p:nvPicPr>
          <p:cNvPr id="2" name="Picture 1" descr="Excel logo">
            <a:extLst>
              <a:ext uri="{FF2B5EF4-FFF2-40B4-BE49-F238E27FC236}">
                <a16:creationId xmlns:a16="http://schemas.microsoft.com/office/drawing/2014/main" id="{FACD5628-D759-F8B5-85A0-60E4052DD7F0}"/>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a:off x="7022058" y="2929727"/>
            <a:ext cx="254134" cy="254134"/>
          </a:xfrm>
          <a:prstGeom prst="ellipse">
            <a:avLst/>
          </a:prstGeom>
          <a:solidFill>
            <a:schemeClr val="bg1"/>
          </a:solidFill>
        </p:spPr>
      </p:pic>
      <p:pic>
        <p:nvPicPr>
          <p:cNvPr id="4" name="Picture 3" descr="Outlook logo">
            <a:extLst>
              <a:ext uri="{FF2B5EF4-FFF2-40B4-BE49-F238E27FC236}">
                <a16:creationId xmlns:a16="http://schemas.microsoft.com/office/drawing/2014/main" id="{211008F5-8352-D7FF-5E67-F90096DD6498}"/>
              </a:ext>
            </a:extLst>
          </p:cNvPr>
          <p:cNvPicPr>
            <a:picLocks noChangeAspect="1"/>
          </p:cNvPicPr>
          <p:nvPr/>
        </p:nvPicPr>
        <p:blipFill>
          <a:blip r:embed="rId11"/>
          <a:stretch>
            <a:fillRect/>
          </a:stretch>
        </p:blipFill>
        <p:spPr>
          <a:xfrm>
            <a:off x="629617" y="5314124"/>
            <a:ext cx="265176" cy="265176"/>
          </a:xfrm>
          <a:prstGeom prst="rect">
            <a:avLst/>
          </a:prstGeom>
        </p:spPr>
      </p:pic>
      <p:pic>
        <p:nvPicPr>
          <p:cNvPr id="5" name="Picture 4" descr="Outlook logo">
            <a:extLst>
              <a:ext uri="{FF2B5EF4-FFF2-40B4-BE49-F238E27FC236}">
                <a16:creationId xmlns:a16="http://schemas.microsoft.com/office/drawing/2014/main" id="{FFE88ADC-D66E-8D45-CE85-71523F50E432}"/>
              </a:ext>
            </a:extLst>
          </p:cNvPr>
          <p:cNvPicPr>
            <a:picLocks noChangeAspect="1"/>
          </p:cNvPicPr>
          <p:nvPr/>
        </p:nvPicPr>
        <p:blipFill>
          <a:blip r:embed="rId11"/>
          <a:stretch>
            <a:fillRect/>
          </a:stretch>
        </p:blipFill>
        <p:spPr>
          <a:xfrm>
            <a:off x="7022988" y="5277019"/>
            <a:ext cx="265176" cy="265176"/>
          </a:xfrm>
          <a:prstGeom prst="rect">
            <a:avLst/>
          </a:prstGeom>
        </p:spPr>
      </p:pic>
      <p:pic>
        <p:nvPicPr>
          <p:cNvPr id="17" name="Picture 16" descr="PowerPoint logo">
            <a:extLst>
              <a:ext uri="{FF2B5EF4-FFF2-40B4-BE49-F238E27FC236}">
                <a16:creationId xmlns:a16="http://schemas.microsoft.com/office/drawing/2014/main" id="{8C56995D-A84C-1552-9090-3F27BFA30276}"/>
              </a:ext>
            </a:extLst>
          </p:cNvPr>
          <p:cNvPicPr>
            <a:picLocks noChangeAspect="1"/>
          </p:cNvPicPr>
          <p:nvPr/>
        </p:nvPicPr>
        <p:blipFill>
          <a:blip r:embed="rId12"/>
          <a:stretch>
            <a:fillRect/>
          </a:stretch>
        </p:blipFill>
        <p:spPr>
          <a:xfrm>
            <a:off x="3819710" y="5312338"/>
            <a:ext cx="265176" cy="265176"/>
          </a:xfrm>
          <a:prstGeom prst="rect">
            <a:avLst/>
          </a:prstGeom>
        </p:spPr>
      </p:pic>
      <p:pic>
        <p:nvPicPr>
          <p:cNvPr id="18" name="Picture 17" descr="Teams logo">
            <a:extLst>
              <a:ext uri="{FF2B5EF4-FFF2-40B4-BE49-F238E27FC236}">
                <a16:creationId xmlns:a16="http://schemas.microsoft.com/office/drawing/2014/main" id="{C9C68CD5-8018-6C79-F647-CE46AD2B656E}"/>
              </a:ext>
            </a:extLst>
          </p:cNvPr>
          <p:cNvPicPr>
            <a:picLocks noChangeAspect="1"/>
          </p:cNvPicPr>
          <p:nvPr/>
        </p:nvPicPr>
        <p:blipFill>
          <a:blip r:embed="rId13"/>
          <a:stretch>
            <a:fillRect/>
          </a:stretch>
        </p:blipFill>
        <p:spPr>
          <a:xfrm>
            <a:off x="3829595" y="2897949"/>
            <a:ext cx="265176" cy="265176"/>
          </a:xfrm>
          <a:prstGeom prst="rect">
            <a:avLst/>
          </a:prstGeom>
        </p:spPr>
      </p:pic>
    </p:spTree>
    <p:extLst>
      <p:ext uri="{BB962C8B-B14F-4D97-AF65-F5344CB8AC3E}">
        <p14:creationId xmlns:p14="http://schemas.microsoft.com/office/powerpoint/2010/main" val="3616593565"/>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Light 16x9">
  <a:themeElements>
    <a:clrScheme name="Custom 7">
      <a:dk1>
        <a:srgbClr val="000000"/>
      </a:dk1>
      <a:lt1>
        <a:srgbClr val="FFFFFF"/>
      </a:lt1>
      <a:dk2>
        <a:srgbClr val="463668"/>
      </a:dk2>
      <a:lt2>
        <a:srgbClr val="E8E6DF"/>
      </a:lt2>
      <a:accent1>
        <a:srgbClr val="463668"/>
      </a:accent1>
      <a:accent2>
        <a:srgbClr val="C5B4E3"/>
      </a:accent2>
      <a:accent3>
        <a:srgbClr val="C03BC4"/>
      </a:accent3>
      <a:accent4>
        <a:srgbClr val="8C8279"/>
      </a:accent4>
      <a:accent5>
        <a:srgbClr val="D59ED7"/>
      </a:accent5>
      <a:accent6>
        <a:srgbClr val="D7D2CB"/>
      </a:accent6>
      <a:hlink>
        <a:srgbClr val="8661C5"/>
      </a:hlink>
      <a:folHlink>
        <a:srgbClr val="8661C5"/>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Brown">
      <a:srgbClr val="E1D3C7"/>
    </a:custClr>
    <a:custClr name="Light Yellow">
      <a:srgbClr val="FFE399"/>
    </a:custClr>
    <a:custClr name="Light Orange">
      <a:srgbClr val="FFA38B"/>
    </a:custClr>
    <a:custClr name="Light Red">
      <a:srgbClr val="FFB3BB"/>
    </a:custClr>
    <a:custClr name="Light Magenta">
      <a:srgbClr val="D59ED7"/>
    </a:custClr>
    <a:custClr name="Light Purple">
      <a:srgbClr val="C5B4E3"/>
    </a:custClr>
    <a:custClr name="Light Blue">
      <a:srgbClr val="8DC8E8"/>
    </a:custClr>
    <a:custClr name="Light Teal">
      <a:srgbClr val="B9DCD2"/>
    </a:custClr>
    <a:custClr name="Light Green">
      <a:srgbClr val="D4EC8E"/>
    </a:custClr>
    <a:custClr name="Blue Black">
      <a:srgbClr val="091F2C"/>
    </a:custClr>
    <a:custClr name="Brown">
      <a:srgbClr val="BF9474"/>
    </a:custClr>
    <a:custClr name="Yellow">
      <a:srgbClr val="FFB900"/>
    </a:custClr>
    <a:custClr name="Orange">
      <a:srgbClr val="FF5C39"/>
    </a:custClr>
    <a:custClr name="Red">
      <a:srgbClr val="F4364C"/>
    </a:custClr>
    <a:custClr name="Magenta">
      <a:srgbClr val="C03BC4"/>
    </a:custClr>
    <a:custClr name="Purple">
      <a:srgbClr val="8661C5"/>
    </a:custClr>
    <a:custClr name="Blue">
      <a:srgbClr val="0078D4"/>
    </a:custClr>
    <a:custClr name="Teal">
      <a:srgbClr val="49C5B1"/>
    </a:custClr>
    <a:custClr name="Green">
      <a:srgbClr val="8DE971"/>
    </a:custClr>
    <a:custClr name="Rich Black">
      <a:srgbClr val="000000"/>
    </a:custClr>
    <a:custClr name="Dark Brown">
      <a:srgbClr val="5C4738"/>
    </a:custClr>
    <a:custClr name="Dark Yellow">
      <a:srgbClr val="7F5A1A"/>
    </a:custClr>
    <a:custClr name="Dark Orange">
      <a:srgbClr val="73391D"/>
    </a:custClr>
    <a:custClr name="Dark Red">
      <a:srgbClr val="73262F"/>
    </a:custClr>
    <a:custClr name="Dark Magenta">
      <a:srgbClr val="702573"/>
    </a:custClr>
    <a:custClr name="Dark Purple">
      <a:srgbClr val="463668"/>
    </a:custClr>
    <a:custClr name="Dark Blue">
      <a:srgbClr val="2A446F"/>
    </a:custClr>
    <a:custClr name="Dark Teal">
      <a:srgbClr val="225B62"/>
    </a:custClr>
    <a:custClr name="Dark Green">
      <a:srgbClr val="07641D"/>
    </a:custClr>
    <a:custClr name="Brown Black">
      <a:srgbClr val="291817"/>
    </a:custClr>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Pure White">
      <a:srgbClr val="FFFFFF"/>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Lst>
  <a:extLst>
    <a:ext uri="{05A4C25C-085E-4340-85A3-A5531E510DB2}">
      <thm15:themeFamily xmlns:thm15="http://schemas.microsoft.com/office/thememl/2012/main" name="Microsoft brand template starter - 16x9 v04.potx" id="{4908BB59-E0F9-4262-9337-B2D75939F852}" vid="{C1F6406B-B671-42E9-A581-A06DD50715F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
  <TotalTime>0</TotalTime>
  <Words>9522</Words>
  <Application>Microsoft Office PowerPoint</Application>
  <PresentationFormat>Widescreen</PresentationFormat>
  <Paragraphs>1074</Paragraphs>
  <Slides>36</Slides>
  <Notes>13</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1</vt:i4>
      </vt:variant>
      <vt:variant>
        <vt:lpstr>Slide Titles</vt:lpstr>
      </vt:variant>
      <vt:variant>
        <vt:i4>36</vt:i4>
      </vt:variant>
    </vt:vector>
  </HeadingPairs>
  <TitlesOfParts>
    <vt:vector size="47" baseType="lpstr">
      <vt:lpstr>Aptos</vt:lpstr>
      <vt:lpstr>Arial</vt:lpstr>
      <vt:lpstr>DM Sans 14pt</vt:lpstr>
      <vt:lpstr>Graphik</vt:lpstr>
      <vt:lpstr>Segoe UI</vt:lpstr>
      <vt:lpstr>Segoe UI </vt:lpstr>
      <vt:lpstr>Segoe UI Semibold</vt:lpstr>
      <vt:lpstr>Segoe UI Semilight</vt:lpstr>
      <vt:lpstr>Wingdings</vt:lpstr>
      <vt:lpstr>Light 16x9</vt:lpstr>
      <vt:lpstr>think-cell Slide</vt:lpstr>
      <vt:lpstr>Microsoft Scenario Library</vt:lpstr>
      <vt:lpstr>Top 10 to "Try First"</vt:lpstr>
      <vt:lpstr>AI value journey</vt:lpstr>
      <vt:lpstr>”Effort” level for each scenario  </vt:lpstr>
      <vt:lpstr>AI use cases for Finance</vt:lpstr>
      <vt:lpstr>AI Finance use cases</vt:lpstr>
      <vt:lpstr>AI use cases for Finance</vt:lpstr>
      <vt:lpstr>KPI – Outsourcing spend</vt:lpstr>
      <vt:lpstr>KPI – Cost per analysis request</vt:lpstr>
      <vt:lpstr>KPI – Days sales outstanding</vt:lpstr>
      <vt:lpstr>KPI – Risk management</vt:lpstr>
      <vt:lpstr>KPI – Spend on financial systems and tooling</vt:lpstr>
      <vt:lpstr>Optimize your financial operations </vt:lpstr>
      <vt:lpstr>Reconcile financial data to accelerate  period closing​</vt:lpstr>
      <vt:lpstr>Analyze business performance</vt:lpstr>
      <vt:lpstr>Analyze cashflow variances</vt:lpstr>
      <vt:lpstr>Intelligent sales forecasting</vt:lpstr>
      <vt:lpstr>Contract review</vt:lpstr>
      <vt:lpstr>Collections coordination</vt:lpstr>
      <vt:lpstr>Accounting document evaluation</vt:lpstr>
      <vt:lpstr>Contract accounting guidance</vt:lpstr>
      <vt:lpstr>Update a guidance document</vt:lpstr>
      <vt:lpstr>Amendment comparisons</vt:lpstr>
      <vt:lpstr>Contract management</vt:lpstr>
      <vt:lpstr>Financial insights</vt:lpstr>
      <vt:lpstr>Procurement insight acceleration</vt:lpstr>
      <vt:lpstr>Automate financial query management</vt:lpstr>
      <vt:lpstr>Build a business case</vt:lpstr>
      <vt:lpstr>Launch a new Accounting app</vt:lpstr>
      <vt:lpstr>Finance Q&amp;A agent</vt:lpstr>
      <vt:lpstr>A day in the life of an Income Tax Compliance Manager</vt:lpstr>
      <vt:lpstr>A day in the life of an Audit, Risk and Compliance (ARC) Data Solution Manager</vt:lpstr>
      <vt:lpstr>A day in the life of a Vendor Engagement Manager</vt:lpstr>
      <vt:lpstr>A day in the life of a Financial Analyst</vt:lpstr>
      <vt:lpstr>A day in the life of a Finance Manager</vt:lpstr>
      <vt:lpstr>A day in the life of a Modern Work Revenue Finance Manager at Microsoft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2026-01-15T22:07:23Z</dcterms:created>
  <dcterms:modified xsi:type="dcterms:W3CDTF">2026-08-11T03:16:22Z</dcterms:modified>
</cp:coreProperties>
</file>