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2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750" r:id="rId5"/>
    <p:sldMasterId id="2147483824" r:id="rId6"/>
  </p:sldMasterIdLst>
  <p:notesMasterIdLst>
    <p:notesMasterId r:id="rId18"/>
  </p:notesMasterIdLst>
  <p:sldIdLst>
    <p:sldId id="2147483645" r:id="rId7"/>
    <p:sldId id="2147483646" r:id="rId8"/>
    <p:sldId id="2147483647" r:id="rId9"/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6" y="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8B59F-9FEA-4A4C-8FFF-A8216EF4BFF8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9DDAB5-106F-486C-A567-6F9D33935E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68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9DDAB5-106F-486C-A567-6F9D33935E6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43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3ED841-078D-4814-8BEE-1F1F3F6D64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4120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9.jpe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MS logo white - EMF" descr="Microsoft logo white text version">
            <a:extLst>
              <a:ext uri="{FF2B5EF4-FFF2-40B4-BE49-F238E27FC236}">
                <a16:creationId xmlns:a16="http://schemas.microsoft.com/office/drawing/2014/main" id="{F7CD6B1F-AE52-08A4-59DD-ADA3920FE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1" y="585789"/>
            <a:ext cx="1366245" cy="2926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 userDrawn="1"/>
        </p:nvSpPr>
        <p:spPr>
          <a:xfrm>
            <a:off x="584200" y="2841172"/>
            <a:ext cx="3790950" cy="14955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399" b="0">
                <a:solidFill>
                  <a:schemeClr val="bg1"/>
                </a:solidFill>
                <a:latin typeface="+mj-lt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346413133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lkin"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B4BC62-442D-D07F-D062-B23F459AF590}"/>
              </a:ext>
            </a:extLst>
          </p:cNvPr>
          <p:cNvSpPr txBox="1"/>
          <p:nvPr userDrawn="1"/>
        </p:nvSpPr>
        <p:spPr>
          <a:xfrm>
            <a:off x="584200" y="2841172"/>
            <a:ext cx="3790950" cy="14955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sz="5399" b="0">
                <a:solidFill>
                  <a:schemeClr val="tx1"/>
                </a:solidFill>
                <a:latin typeface="+mj-lt"/>
              </a:rPr>
              <a:t>Microsoft Azure</a:t>
            </a:r>
          </a:p>
        </p:txBody>
      </p:sp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8672AF12-6140-9E72-C268-A8ED4080CA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9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4571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1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9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649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76">
          <p15:clr>
            <a:srgbClr val="5ACBF0"/>
          </p15:clr>
        </p15:guide>
        <p15:guide id="2" orient="horz" pos="2570">
          <p15:clr>
            <a:srgbClr val="5ACBF0"/>
          </p15:clr>
        </p15:guide>
        <p15:guide id="3" pos="6267">
          <p15:clr>
            <a:srgbClr val="5ACBF0"/>
          </p15:clr>
        </p15:guide>
        <p15:guide id="4" orient="horz" pos="220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1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9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898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76">
          <p15:clr>
            <a:srgbClr val="5ACBF0"/>
          </p15:clr>
        </p15:guide>
        <p15:guide id="2" orient="horz" pos="2570">
          <p15:clr>
            <a:srgbClr val="5ACBF0"/>
          </p15:clr>
        </p15:guide>
        <p15:guide id="3" pos="6267">
          <p15:clr>
            <a:srgbClr val="5ACBF0"/>
          </p15:clr>
        </p15:guide>
        <p15:guide id="4" orient="horz" pos="220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1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0BB37EE3-73AC-5546-F43B-FE5420C7D0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1" y="585789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5986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76">
          <p15:clr>
            <a:srgbClr val="5ACBF0"/>
          </p15:clr>
        </p15:guide>
        <p15:guide id="2" orient="horz" pos="2570">
          <p15:clr>
            <a:srgbClr val="5ACBF0"/>
          </p15:clr>
        </p15:guide>
        <p15:guide id="3" pos="6267">
          <p15:clr>
            <a:srgbClr val="5ACBF0"/>
          </p15:clr>
        </p15:guide>
        <p15:guide id="4" orient="horz" pos="220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bg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1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4" name="MS logo white - EMF" descr="Microsoft logo white text version">
            <a:extLst>
              <a:ext uri="{FF2B5EF4-FFF2-40B4-BE49-F238E27FC236}">
                <a16:creationId xmlns:a16="http://schemas.microsoft.com/office/drawing/2014/main" id="{0BB37EE3-73AC-5546-F43B-FE5420C7D0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1" y="585789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6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76">
          <p15:clr>
            <a:srgbClr val="5ACBF0"/>
          </p15:clr>
        </p15:guide>
        <p15:guide id="2" orient="horz" pos="2570">
          <p15:clr>
            <a:srgbClr val="5ACBF0"/>
          </p15:clr>
        </p15:guide>
        <p15:guide id="3" pos="6267">
          <p15:clr>
            <a:srgbClr val="5ACBF0"/>
          </p15:clr>
        </p15:guide>
        <p15:guide id="4" orient="horz" pos="2203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1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BBFAAA10-F521-410E-1BB5-6D77902DD0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9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69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72">
          <p15:clr>
            <a:srgbClr val="5ACBF0"/>
          </p15:clr>
        </p15:guide>
        <p15:guide id="2" orient="horz" pos="2570">
          <p15:clr>
            <a:srgbClr val="5ACBF0"/>
          </p15:clr>
        </p15:guide>
        <p15:guide id="3" pos="6267">
          <p15:clr>
            <a:srgbClr val="5ACBF0"/>
          </p15:clr>
        </p15:guide>
        <p15:guide id="4" orient="horz" pos="220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1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BBFAAA10-F521-410E-1BB5-6D77902DD0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9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032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72">
          <p15:clr>
            <a:srgbClr val="5ACBF0"/>
          </p15:clr>
        </p15:guide>
        <p15:guide id="2" orient="horz" pos="2570">
          <p15:clr>
            <a:srgbClr val="5ACBF0"/>
          </p15:clr>
        </p15:guide>
        <p15:guide id="3" pos="6267">
          <p15:clr>
            <a:srgbClr val="5ACBF0"/>
          </p15:clr>
        </p15:guide>
        <p15:guide id="4" orient="horz" pos="220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1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9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711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72">
          <p15:clr>
            <a:srgbClr val="5ACBF0"/>
          </p15:clr>
        </p15:guide>
        <p15:guide id="2" orient="horz" pos="2570">
          <p15:clr>
            <a:srgbClr val="5ACBF0"/>
          </p15:clr>
        </p15:guide>
        <p15:guide id="3" pos="6267">
          <p15:clr>
            <a:srgbClr val="5ACBF0"/>
          </p15:clr>
        </p15:guide>
        <p15:guide id="4" orient="horz" pos="220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3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1" y="2302670"/>
            <a:ext cx="4978400" cy="123110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1" y="3962401"/>
            <a:ext cx="49784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C6B9E508-E424-C5B2-1415-EF47F2EDB1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9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08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72">
          <p15:clr>
            <a:srgbClr val="5ACBF0"/>
          </p15:clr>
        </p15:guide>
        <p15:guide id="2" orient="horz" pos="2570">
          <p15:clr>
            <a:srgbClr val="5ACBF0"/>
          </p15:clr>
        </p15:guide>
        <p15:guide id="3" pos="6267">
          <p15:clr>
            <a:srgbClr val="5ACBF0"/>
          </p15:clr>
        </p15:guide>
        <p15:guide id="4" orient="horz" pos="220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4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1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9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724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72">
          <p15:clr>
            <a:srgbClr val="5ACBF0"/>
          </p15:clr>
        </p15:guide>
        <p15:guide id="2" orient="horz" pos="2546">
          <p15:clr>
            <a:srgbClr val="5ACBF0"/>
          </p15:clr>
        </p15:guide>
        <p15:guide id="3" pos="6255">
          <p15:clr>
            <a:srgbClr val="5ACBF0"/>
          </p15:clr>
        </p15:guide>
        <p15:guide id="4" orient="horz" pos="220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8CE50-46CE-0973-AC08-7477BEAD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03424D10-01E7-37F9-6091-2C95487D9F7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6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DFE8ED1-0EC9-B339-1813-0B4260A0A2D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61" lvl="0" indent="-141261"/>
            <a:r>
              <a:rPr lang="en-US"/>
              <a:t>Click to edit Master text styles</a:t>
            </a:r>
          </a:p>
          <a:p>
            <a:pPr marL="141261" lvl="1" indent="-141261"/>
            <a:r>
              <a:rPr lang="en-US"/>
              <a:t>Second level</a:t>
            </a:r>
          </a:p>
          <a:p>
            <a:pPr marL="141261" lvl="2" indent="-141261"/>
            <a:r>
              <a:rPr lang="en-US"/>
              <a:t>Third level</a:t>
            </a:r>
          </a:p>
          <a:p>
            <a:pPr marL="141261" lvl="3" indent="-141261"/>
            <a:r>
              <a:rPr lang="en-US"/>
              <a:t>Fourth level</a:t>
            </a:r>
          </a:p>
          <a:p>
            <a:pPr marL="141261" lvl="4" indent="-141261"/>
            <a:r>
              <a:rPr lang="en-US"/>
              <a:t>Fifth level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23006D8-810A-DCBB-7E79-17F6322E2F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6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ADAAB847-57CB-2458-2ADA-6D77707940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6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61" lvl="0" indent="-141261"/>
            <a:r>
              <a:rPr lang="en-US"/>
              <a:t>Click to edit Master text styles</a:t>
            </a:r>
          </a:p>
          <a:p>
            <a:pPr marL="141261" lvl="1" indent="-141261"/>
            <a:r>
              <a:rPr lang="en-US"/>
              <a:t>Second level</a:t>
            </a:r>
          </a:p>
          <a:p>
            <a:pPr marL="141261" lvl="2" indent="-141261"/>
            <a:r>
              <a:rPr lang="en-US"/>
              <a:t>Third level</a:t>
            </a:r>
          </a:p>
          <a:p>
            <a:pPr marL="141261" lvl="3" indent="-141261"/>
            <a:r>
              <a:rPr lang="en-US"/>
              <a:t>Fourth level</a:t>
            </a:r>
          </a:p>
          <a:p>
            <a:pPr marL="141261" lvl="4" indent="-141261"/>
            <a:r>
              <a:rPr lang="en-US"/>
              <a:t>Fifth level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B655A31-FF73-73EA-1EA8-00F13891AB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9" y="1438276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19634A-80BB-C620-3C16-1EA80A7B1C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9" y="228311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 dirty="0"/>
            </a:lvl1pPr>
            <a:lvl2pPr>
              <a:defRPr lang="en-US" sz="1600" dirty="0"/>
            </a:lvl2pPr>
            <a:lvl3pPr>
              <a:defRPr lang="en-US" sz="16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marL="141261" lvl="0" indent="-141261"/>
            <a:r>
              <a:rPr lang="en-US"/>
              <a:t>Click to edit Master text styles</a:t>
            </a:r>
          </a:p>
          <a:p>
            <a:pPr marL="141261" lvl="1" indent="-141261"/>
            <a:r>
              <a:rPr lang="en-US"/>
              <a:t>Second level</a:t>
            </a:r>
          </a:p>
          <a:p>
            <a:pPr marL="141261" lvl="2" indent="-141261"/>
            <a:r>
              <a:rPr lang="en-US"/>
              <a:t>Third level</a:t>
            </a:r>
          </a:p>
          <a:p>
            <a:pPr marL="141261" lvl="3" indent="-141261"/>
            <a:r>
              <a:rPr lang="en-US"/>
              <a:t>Fourth level</a:t>
            </a:r>
          </a:p>
          <a:p>
            <a:pPr marL="141261" lvl="4" indent="-141261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5E7CC6D-40F5-C58C-FC44-793B1A98AC5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6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6B93ED5-5CA7-C983-373E-E42D7424C7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4" y="2276475"/>
            <a:ext cx="2532063" cy="160043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en-US" sz="1600"/>
            </a:lvl1pPr>
            <a:lvl2pPr>
              <a:defRPr lang="en-US" sz="1600"/>
            </a:lvl2pPr>
            <a:lvl3pPr>
              <a:defRPr lang="en-US" sz="1600"/>
            </a:lvl3pPr>
            <a:lvl4pPr>
              <a:defRPr lang="en-US" sz="1400"/>
            </a:lvl4pPr>
            <a:lvl5pPr>
              <a:defRPr lang="en-US" sz="1400" dirty="0"/>
            </a:lvl5pPr>
          </a:lstStyle>
          <a:p>
            <a:pPr marL="141261" lvl="0" indent="-141261"/>
            <a:r>
              <a:rPr lang="en-US"/>
              <a:t>Click to edit Master text styles</a:t>
            </a:r>
          </a:p>
          <a:p>
            <a:pPr marL="141261" lvl="1" indent="-141261"/>
            <a:r>
              <a:rPr lang="en-US"/>
              <a:t>Second level</a:t>
            </a:r>
          </a:p>
          <a:p>
            <a:pPr marL="141261" lvl="2" indent="-141261"/>
            <a:r>
              <a:rPr lang="en-US"/>
              <a:t>Third level</a:t>
            </a:r>
          </a:p>
          <a:p>
            <a:pPr marL="141261" lvl="3" indent="-141261"/>
            <a:r>
              <a:rPr lang="en-US"/>
              <a:t>Fourth level</a:t>
            </a:r>
          </a:p>
          <a:p>
            <a:pPr marL="141261" lvl="4" indent="-141261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752542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161276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09979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97">
          <p15:clr>
            <a:srgbClr val="5ACBF0"/>
          </p15:clr>
        </p15:guide>
        <p15:guide id="3" orient="horz" pos="294">
          <p15:clr>
            <a:srgbClr val="5ACBF0"/>
          </p15:clr>
        </p15:guide>
        <p15:guide id="5" orient="horz" pos="922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69"/>
            <a:ext cx="11018520" cy="1612768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556" indent="0">
              <a:buNone/>
              <a:defRPr/>
            </a:lvl2pPr>
            <a:lvl3pPr marL="457112" indent="0">
              <a:buNone/>
              <a:defRPr/>
            </a:lvl3pPr>
            <a:lvl4pPr marL="685668" indent="0">
              <a:buNone/>
              <a:defRPr/>
            </a:lvl4pPr>
            <a:lvl5pPr marL="91422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5018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94">
          <p15:clr>
            <a:srgbClr val="5ACBF0"/>
          </p15:clr>
        </p15:guide>
        <p15:guide id="2" orient="horz" pos="923">
          <p15:clr>
            <a:srgbClr val="5ACBF0"/>
          </p15:clr>
        </p15:guide>
        <p15:guide id="4" orient="horz" pos="1297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435100"/>
            <a:ext cx="5211763" cy="1612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1612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720706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94">
          <p15:clr>
            <a:srgbClr val="5ACBF0"/>
          </p15:clr>
        </p15:guide>
        <p15:guide id="2" orient="horz" pos="1301">
          <p15:clr>
            <a:srgbClr val="5ACBF0"/>
          </p15:clr>
        </p15:guide>
        <p15:guide id="3" orient="horz" pos="922">
          <p15:clr>
            <a:srgbClr val="5ACBF0"/>
          </p15:clr>
        </p15:guide>
        <p15:guide id="4" pos="3733">
          <p15:clr>
            <a:srgbClr val="5ACBF0"/>
          </p15:clr>
        </p15:guide>
        <p15:guide id="5" pos="41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3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39" indent="0">
              <a:buFont typeface="Wingdings" panose="05000000000000000000" pitchFamily="2" charset="2"/>
              <a:buNone/>
              <a:defRPr sz="2000" b="0"/>
            </a:lvl2pPr>
            <a:lvl3pPr marL="450764" indent="0">
              <a:buFont typeface="Wingdings" panose="05000000000000000000" pitchFamily="2" charset="2"/>
              <a:buNone/>
              <a:tabLst/>
              <a:defRPr sz="1600" b="0"/>
            </a:lvl3pPr>
            <a:lvl4pPr marL="652337" indent="0">
              <a:buFont typeface="Wingdings" panose="05000000000000000000" pitchFamily="2" charset="2"/>
              <a:buNone/>
              <a:defRPr sz="1400" b="0"/>
            </a:lvl4pPr>
            <a:lvl5pPr marL="853911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2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3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39" indent="0">
              <a:buFont typeface="Wingdings" panose="05000000000000000000" pitchFamily="2" charset="2"/>
              <a:buNone/>
              <a:defRPr sz="2000" b="0"/>
            </a:lvl2pPr>
            <a:lvl3pPr marL="450764" indent="0">
              <a:buFont typeface="Wingdings" panose="05000000000000000000" pitchFamily="2" charset="2"/>
              <a:buNone/>
              <a:tabLst/>
              <a:defRPr sz="1600" b="0"/>
            </a:lvl3pPr>
            <a:lvl4pPr marL="652337" indent="0">
              <a:buFont typeface="Wingdings" panose="05000000000000000000" pitchFamily="2" charset="2"/>
              <a:buNone/>
              <a:defRPr sz="1400" b="0"/>
            </a:lvl4pPr>
            <a:lvl5pPr marL="853911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15717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94">
          <p15:clr>
            <a:srgbClr val="5ACBF0"/>
          </p15:clr>
        </p15:guide>
        <p15:guide id="2" orient="horz" pos="1297">
          <p15:clr>
            <a:srgbClr val="5ACBF0"/>
          </p15:clr>
        </p15:guide>
        <p15:guide id="3" orient="horz" pos="922">
          <p15:clr>
            <a:srgbClr val="5ACBF0"/>
          </p15:clr>
        </p15:guide>
        <p15:guide id="4" pos="3729">
          <p15:clr>
            <a:srgbClr val="5ACBF0"/>
          </p15:clr>
        </p15:guide>
        <p15:guide id="5" pos="41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9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9"/>
            <a:ext cx="5219700" cy="1612749"/>
          </a:xfrm>
        </p:spPr>
        <p:txBody>
          <a:bodyPr>
            <a:spAutoFit/>
          </a:bodyPr>
          <a:lstStyle>
            <a:lvl1pPr marL="171417" indent="-171417">
              <a:defRPr lang="en-US" sz="2400" dirty="0"/>
            </a:lvl1pPr>
            <a:lvl2pPr marL="342834" indent="-171417">
              <a:defRPr lang="en-US" dirty="0"/>
            </a:lvl2pPr>
            <a:lvl3pPr marL="514252" indent="-171417">
              <a:defRPr lang="en-US" dirty="0"/>
            </a:lvl3pPr>
            <a:lvl4pPr marL="666622" indent="-152371">
              <a:defRPr lang="en-US" dirty="0"/>
            </a:lvl4pPr>
            <a:lvl5pPr marL="793598" indent="-120627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9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9"/>
            <a:ext cx="5219700" cy="1612749"/>
          </a:xfrm>
        </p:spPr>
        <p:txBody>
          <a:bodyPr>
            <a:spAutoFit/>
          </a:bodyPr>
          <a:lstStyle>
            <a:lvl1pPr marL="171417" indent="-171417">
              <a:defRPr lang="en-US" sz="2400" dirty="0"/>
            </a:lvl1pPr>
            <a:lvl2pPr marL="342834" indent="-171417">
              <a:defRPr lang="en-US" dirty="0"/>
            </a:lvl2pPr>
            <a:lvl3pPr marL="514252" indent="-171417">
              <a:defRPr lang="en-US" dirty="0"/>
            </a:lvl3pPr>
            <a:lvl4pPr marL="685668" indent="-136499">
              <a:defRPr lang="en-US" dirty="0"/>
            </a:lvl4pPr>
            <a:lvl5pPr marL="793598" indent="-120627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083954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94">
          <p15:clr>
            <a:srgbClr val="5ACBF0"/>
          </p15:clr>
        </p15:guide>
        <p15:guide id="2" orient="horz" pos="1337">
          <p15:clr>
            <a:srgbClr val="5ACBF0"/>
          </p15:clr>
        </p15:guide>
        <p15:guide id="4" pos="3729">
          <p15:clr>
            <a:srgbClr val="5ACBF0"/>
          </p15:clr>
        </p15:guide>
        <p15:guide id="5" pos="4105">
          <p15:clr>
            <a:srgbClr val="5ACBF0"/>
          </p15:clr>
        </p15:guide>
        <p15:guide id="7" orient="horz" pos="923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9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4" y="2081213"/>
            <a:ext cx="5214937" cy="1551219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9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2" y="2081213"/>
            <a:ext cx="5214937" cy="1551219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741615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94">
          <p15:clr>
            <a:srgbClr val="5ACBF0"/>
          </p15:clr>
        </p15:guide>
        <p15:guide id="2" orient="horz" pos="1337">
          <p15:clr>
            <a:srgbClr val="5ACBF0"/>
          </p15:clr>
        </p15:guide>
        <p15:guide id="4" pos="3729">
          <p15:clr>
            <a:srgbClr val="5ACBF0"/>
          </p15:clr>
        </p15:guide>
        <p15:guide id="5" pos="4105">
          <p15:clr>
            <a:srgbClr val="5ACBF0"/>
          </p15:clr>
        </p15:guide>
        <p15:guide id="7" orient="horz" pos="923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6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6"/>
            <a:ext cx="3264408" cy="1760482"/>
          </a:xfrm>
        </p:spPr>
        <p:txBody>
          <a:bodyPr wrap="square">
            <a:spAutoFit/>
          </a:bodyPr>
          <a:lstStyle>
            <a:lvl1pPr marL="176180" indent="-176180">
              <a:defRPr lang="en-US" sz="2000" dirty="0"/>
            </a:lvl1pPr>
            <a:lvl2pPr marL="322201" indent="-150784">
              <a:defRPr lang="en-US" sz="1800" dirty="0"/>
            </a:lvl2pPr>
            <a:lvl3pPr marL="466636" indent="-138086">
              <a:defRPr lang="en-US" dirty="0"/>
            </a:lvl3pPr>
            <a:lvl4pPr marL="595199" indent="-128563">
              <a:defRPr lang="en-US" dirty="0"/>
            </a:lvl4pPr>
            <a:lvl5pPr marL="731698" indent="-12221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6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6"/>
            <a:ext cx="3264408" cy="1760482"/>
          </a:xfrm>
        </p:spPr>
        <p:txBody>
          <a:bodyPr wrap="square">
            <a:spAutoFit/>
          </a:bodyPr>
          <a:lstStyle>
            <a:lvl1pPr marL="176180" indent="-176180">
              <a:defRPr lang="en-US" sz="2000" dirty="0"/>
            </a:lvl1pPr>
            <a:lvl2pPr marL="398386" indent="-169830">
              <a:defRPr lang="en-US" sz="1800" dirty="0"/>
            </a:lvl2pPr>
            <a:lvl3pPr marL="555518" indent="-157133">
              <a:defRPr lang="en-US" dirty="0"/>
            </a:lvl3pPr>
            <a:lvl4pPr marL="685668" indent="-136499">
              <a:defRPr lang="en-US" dirty="0"/>
            </a:lvl4pPr>
            <a:lvl5pPr marL="799946" indent="-111103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6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6"/>
            <a:ext cx="3264408" cy="1760482"/>
          </a:xfrm>
        </p:spPr>
        <p:txBody>
          <a:bodyPr wrap="square">
            <a:spAutoFit/>
          </a:bodyPr>
          <a:lstStyle>
            <a:lvl1pPr marL="176180" indent="-176180">
              <a:defRPr lang="en-US" sz="2000" dirty="0"/>
            </a:lvl1pPr>
            <a:lvl2pPr marL="398386" indent="-169830">
              <a:defRPr lang="en-US" sz="1800" dirty="0"/>
            </a:lvl2pPr>
            <a:lvl3pPr marL="555518" indent="-157133">
              <a:defRPr lang="en-US" dirty="0"/>
            </a:lvl3pPr>
            <a:lvl4pPr marL="685668" indent="-136499">
              <a:defRPr lang="en-US" dirty="0"/>
            </a:lvl4pPr>
            <a:lvl5pPr marL="799946" indent="-111103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449862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36">
          <p15:clr>
            <a:srgbClr val="5ACBF0"/>
          </p15:clr>
        </p15:guide>
        <p15:guide id="4" orient="horz" pos="924">
          <p15:clr>
            <a:srgbClr val="5ACBF0"/>
          </p15:clr>
        </p15:guide>
        <p15:guide id="5" orient="horz" pos="294">
          <p15:clr>
            <a:srgbClr val="5ACBF0"/>
          </p15:clr>
        </p15:guide>
        <p15:guide id="6" pos="2479">
          <p15:clr>
            <a:srgbClr val="5ACBF0"/>
          </p15:clr>
        </p15:guide>
        <p15:guide id="7" pos="2889">
          <p15:clr>
            <a:srgbClr val="5ACBF0"/>
          </p15:clr>
        </p15:guide>
        <p15:guide id="8" pos="4969">
          <p15:clr>
            <a:srgbClr val="5ACBF0"/>
          </p15:clr>
        </p15:guide>
        <p15:guide id="9" pos="5356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55399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800" b="1">
                <a:gradFill>
                  <a:gsLst>
                    <a:gs pos="0">
                      <a:srgbClr val="31ACBD"/>
                    </a:gs>
                    <a:gs pos="68000">
                      <a:schemeClr val="tx2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6"/>
            <a:ext cx="2532063" cy="1698927"/>
          </a:xfrm>
        </p:spPr>
        <p:txBody>
          <a:bodyPr wrap="square">
            <a:spAutoFit/>
          </a:bodyPr>
          <a:lstStyle>
            <a:lvl1pPr marL="141261" indent="-141261">
              <a:defRPr lang="en-US" sz="1800" dirty="0"/>
            </a:lvl1pPr>
            <a:lvl2pPr marL="285695" indent="-125389">
              <a:defRPr lang="en-US" sz="1600" dirty="0"/>
            </a:lvl2pPr>
            <a:lvl3pPr marL="438066" indent="-133325">
              <a:defRPr lang="en-US" dirty="0"/>
            </a:lvl3pPr>
            <a:lvl4pPr marL="566629" indent="-114278">
              <a:defRPr lang="en-US" dirty="0"/>
            </a:lvl4pPr>
            <a:lvl5pPr marL="685668" indent="-109517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4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>
                <a:gradFill>
                  <a:gsLst>
                    <a:gs pos="100000">
                      <a:srgbClr val="3EA89B"/>
                    </a:gs>
                    <a:gs pos="0">
                      <a:srgbClr val="225B62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6" y="2276475"/>
            <a:ext cx="2532063" cy="1698927"/>
          </a:xfrm>
        </p:spPr>
        <p:txBody>
          <a:bodyPr wrap="square">
            <a:spAutoFit/>
          </a:bodyPr>
          <a:lstStyle>
            <a:lvl1pPr marL="141261" indent="-141261">
              <a:defRPr lang="en-US" sz="1800" dirty="0"/>
            </a:lvl1pPr>
            <a:lvl2pPr marL="285695" indent="-125389">
              <a:defRPr lang="en-US" sz="1600" dirty="0"/>
            </a:lvl2pPr>
            <a:lvl3pPr marL="438066" indent="-133325">
              <a:defRPr lang="en-US" dirty="0"/>
            </a:lvl3pPr>
            <a:lvl4pPr marL="566629" indent="-114278">
              <a:defRPr lang="en-US" dirty="0"/>
            </a:lvl4pPr>
            <a:lvl5pPr marL="685668" indent="-109517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9" y="1438274"/>
            <a:ext cx="2532063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 dirty="0">
                <a:gradFill>
                  <a:gsLst>
                    <a:gs pos="0">
                      <a:srgbClr val="F4364C"/>
                    </a:gs>
                    <a:gs pos="68000">
                      <a:srgbClr val="C03BC4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9" y="2283116"/>
            <a:ext cx="2532063" cy="1698927"/>
          </a:xfrm>
        </p:spPr>
        <p:txBody>
          <a:bodyPr wrap="square">
            <a:spAutoFit/>
          </a:bodyPr>
          <a:lstStyle>
            <a:lvl1pPr marL="141261" indent="-141261">
              <a:defRPr lang="en-US" sz="1800" dirty="0"/>
            </a:lvl1pPr>
            <a:lvl2pPr marL="285695" indent="-125389">
              <a:defRPr lang="en-US" sz="1600" dirty="0"/>
            </a:lvl2pPr>
            <a:lvl3pPr marL="438066" indent="-133325">
              <a:defRPr lang="en-US" dirty="0"/>
            </a:lvl3pPr>
            <a:lvl4pPr marL="566629" indent="-114278">
              <a:defRPr lang="en-US" dirty="0"/>
            </a:lvl4pPr>
            <a:lvl5pPr marL="685668" indent="-109517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4"/>
            <a:ext cx="2533650" cy="553998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800" b="1">
                <a:gradFill>
                  <a:gsLst>
                    <a:gs pos="0">
                      <a:srgbClr val="FF9318"/>
                    </a:gs>
                    <a:gs pos="44000">
                      <a:srgbClr val="FF5C39"/>
                    </a:gs>
                  </a:gsLst>
                  <a:lin ang="10800000" scaled="1"/>
                </a:gradFill>
                <a:latin typeface="+mj-lt"/>
              </a:defRPr>
            </a:lvl1pPr>
          </a:lstStyle>
          <a:p>
            <a:pPr marL="0" lvl="0" indent="0">
              <a:spcBef>
                <a:spcPts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4" y="2276475"/>
            <a:ext cx="2532063" cy="1698927"/>
          </a:xfrm>
        </p:spPr>
        <p:txBody>
          <a:bodyPr wrap="square">
            <a:spAutoFit/>
          </a:bodyPr>
          <a:lstStyle>
            <a:lvl1pPr marL="141261" indent="-141261">
              <a:defRPr lang="en-US" sz="1800" dirty="0"/>
            </a:lvl1pPr>
            <a:lvl2pPr marL="285695" indent="-125389">
              <a:defRPr lang="en-US" sz="1600" dirty="0"/>
            </a:lvl2pPr>
            <a:lvl3pPr marL="438066" indent="-133325">
              <a:defRPr lang="en-US" dirty="0"/>
            </a:lvl3pPr>
            <a:lvl4pPr marL="566629" indent="-114278">
              <a:defRPr lang="en-US" dirty="0"/>
            </a:lvl4pPr>
            <a:lvl5pPr marL="685668" indent="-109517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75379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24">
          <p15:clr>
            <a:srgbClr val="5ACBF0"/>
          </p15:clr>
        </p15:guide>
        <p15:guide id="5" orient="horz" pos="294">
          <p15:clr>
            <a:srgbClr val="5ACBF0"/>
          </p15:clr>
        </p15:guide>
        <p15:guide id="6" pos="2002">
          <p15:clr>
            <a:srgbClr val="5ACBF0"/>
          </p15:clr>
        </p15:guide>
        <p15:guide id="7" pos="2193">
          <p15:clr>
            <a:srgbClr val="5ACBF0"/>
          </p15:clr>
        </p15:guide>
        <p15:guide id="8" pos="3821">
          <p15:clr>
            <a:srgbClr val="5ACBF0"/>
          </p15:clr>
        </p15:guide>
        <p15:guide id="9" pos="4013">
          <p15:clr>
            <a:srgbClr val="5ACBF0"/>
          </p15:clr>
        </p15:guide>
        <p15:guide id="10" pos="5641">
          <p15:clr>
            <a:srgbClr val="5ACBF0"/>
          </p15:clr>
        </p15:guide>
        <p15:guide id="11" pos="5831">
          <p15:clr>
            <a:srgbClr val="5ACBF0"/>
          </p15:clr>
        </p15:guide>
        <p15:guide id="12" orient="horz" pos="1465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6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6"/>
            <a:ext cx="1965960" cy="1452705"/>
          </a:xfrm>
        </p:spPr>
        <p:txBody>
          <a:bodyPr wrap="square">
            <a:spAutoFit/>
          </a:bodyPr>
          <a:lstStyle>
            <a:lvl1pPr marL="141261" indent="-141261">
              <a:defRPr lang="en-US" sz="1500" dirty="0"/>
            </a:lvl1pPr>
            <a:lvl2pPr marL="285695" indent="-125389">
              <a:defRPr lang="en-US" sz="1400" dirty="0"/>
            </a:lvl2pPr>
            <a:lvl3pPr marL="438066" indent="-133325">
              <a:defRPr lang="en-US" sz="1400" dirty="0"/>
            </a:lvl3pPr>
            <a:lvl4pPr marL="566629" indent="-114278">
              <a:defRPr lang="en-US" sz="1200" dirty="0"/>
            </a:lvl4pPr>
            <a:lvl5pPr marL="685668" indent="-109517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6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6"/>
            <a:ext cx="1965960" cy="1452705"/>
          </a:xfrm>
        </p:spPr>
        <p:txBody>
          <a:bodyPr wrap="square">
            <a:spAutoFit/>
          </a:bodyPr>
          <a:lstStyle>
            <a:lvl1pPr marL="141261" indent="-141261">
              <a:defRPr lang="en-US" sz="1500" dirty="0"/>
            </a:lvl1pPr>
            <a:lvl2pPr marL="285695" indent="-125389">
              <a:defRPr lang="en-US" sz="1400" dirty="0"/>
            </a:lvl2pPr>
            <a:lvl3pPr marL="438066" indent="-133325">
              <a:defRPr lang="en-US" sz="1400" dirty="0"/>
            </a:lvl3pPr>
            <a:lvl4pPr marL="566629" indent="-114278">
              <a:defRPr lang="en-US" sz="1200" dirty="0"/>
            </a:lvl4pPr>
            <a:lvl5pPr marL="685668" indent="-109517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6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6"/>
            <a:ext cx="1965960" cy="1452705"/>
          </a:xfrm>
        </p:spPr>
        <p:txBody>
          <a:bodyPr wrap="square">
            <a:spAutoFit/>
          </a:bodyPr>
          <a:lstStyle>
            <a:lvl1pPr marL="141261" indent="-141261">
              <a:defRPr lang="en-US" sz="1500" dirty="0"/>
            </a:lvl1pPr>
            <a:lvl2pPr marL="285695" indent="-125389">
              <a:defRPr lang="en-US" sz="1400" dirty="0"/>
            </a:lvl2pPr>
            <a:lvl3pPr marL="438066" indent="-133325">
              <a:defRPr lang="en-US" sz="1400" dirty="0"/>
            </a:lvl3pPr>
            <a:lvl4pPr marL="566629" indent="-114278">
              <a:defRPr lang="en-US" sz="1200" dirty="0"/>
            </a:lvl4pPr>
            <a:lvl5pPr marL="685668" indent="-109517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6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6"/>
            <a:ext cx="1965960" cy="1452705"/>
          </a:xfrm>
        </p:spPr>
        <p:txBody>
          <a:bodyPr wrap="square">
            <a:spAutoFit/>
          </a:bodyPr>
          <a:lstStyle>
            <a:lvl1pPr marL="141261" indent="-141261">
              <a:defRPr lang="en-US" sz="1500" dirty="0"/>
            </a:lvl1pPr>
            <a:lvl2pPr marL="285695" indent="-125389">
              <a:defRPr lang="en-US" sz="1400" dirty="0"/>
            </a:lvl2pPr>
            <a:lvl3pPr marL="438066" indent="-133325">
              <a:defRPr lang="en-US" sz="1400" dirty="0"/>
            </a:lvl3pPr>
            <a:lvl4pPr marL="566629" indent="-114278">
              <a:defRPr lang="en-US" sz="1200" dirty="0"/>
            </a:lvl4pPr>
            <a:lvl5pPr marL="685668" indent="-109517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6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6"/>
            <a:ext cx="1965960" cy="1452705"/>
          </a:xfrm>
        </p:spPr>
        <p:txBody>
          <a:bodyPr wrap="square">
            <a:spAutoFit/>
          </a:bodyPr>
          <a:lstStyle>
            <a:lvl1pPr marL="141261" indent="-141261">
              <a:defRPr lang="en-US" sz="1500" dirty="0"/>
            </a:lvl1pPr>
            <a:lvl2pPr marL="285695" indent="-125389">
              <a:defRPr lang="en-US" sz="1400" dirty="0"/>
            </a:lvl2pPr>
            <a:lvl3pPr marL="438066" indent="-133325">
              <a:defRPr lang="en-US" sz="1400" dirty="0"/>
            </a:lvl3pPr>
            <a:lvl4pPr marL="566629" indent="-114278">
              <a:defRPr lang="en-US" sz="1200" dirty="0"/>
            </a:lvl4pPr>
            <a:lvl5pPr marL="685668" indent="-109517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22654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24">
          <p15:clr>
            <a:srgbClr val="5ACBF0"/>
          </p15:clr>
        </p15:guide>
        <p15:guide id="5" orient="horz" pos="294">
          <p15:clr>
            <a:srgbClr val="5ACBF0"/>
          </p15:clr>
        </p15:guide>
        <p15:guide id="6" pos="1642">
          <p15:clr>
            <a:srgbClr val="5ACBF0"/>
          </p15:clr>
        </p15:guide>
        <p15:guide id="7" pos="1831">
          <p15:clr>
            <a:srgbClr val="5ACBF0"/>
          </p15:clr>
        </p15:guide>
        <p15:guide id="8" pos="3096">
          <p15:clr>
            <a:srgbClr val="5ACBF0"/>
          </p15:clr>
        </p15:guide>
        <p15:guide id="9" pos="3286">
          <p15:clr>
            <a:srgbClr val="5ACBF0"/>
          </p15:clr>
        </p15:guide>
        <p15:guide id="10" pos="4550">
          <p15:clr>
            <a:srgbClr val="5ACBF0"/>
          </p15:clr>
        </p15:guide>
        <p15:guide id="11" pos="6008">
          <p15:clr>
            <a:srgbClr val="5ACBF0"/>
          </p15:clr>
        </p15:guide>
        <p15:guide id="12" orient="horz" pos="1465">
          <p15:clr>
            <a:srgbClr val="5ACBF0"/>
          </p15:clr>
        </p15:guide>
        <p15:guide id="13" pos="4739">
          <p15:clr>
            <a:srgbClr val="5ACBF0"/>
          </p15:clr>
        </p15:guide>
        <p15:guide id="14" pos="6194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18037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95">
          <p15:clr>
            <a:srgbClr val="A4A3A4"/>
          </p15:clr>
        </p15:guide>
        <p15:guide id="7" pos="981">
          <p15:clr>
            <a:srgbClr val="A4A3A4"/>
          </p15:clr>
        </p15:guide>
        <p15:guide id="8" pos="1401">
          <p15:clr>
            <a:srgbClr val="A4A3A4"/>
          </p15:clr>
        </p15:guide>
        <p15:guide id="9" pos="1587">
          <p15:clr>
            <a:srgbClr val="A4A3A4"/>
          </p15:clr>
        </p15:guide>
        <p15:guide id="10" pos="2006">
          <p15:clr>
            <a:srgbClr val="A4A3A4"/>
          </p15:clr>
        </p15:guide>
        <p15:guide id="11" pos="2193">
          <p15:clr>
            <a:srgbClr val="A4A3A4"/>
          </p15:clr>
        </p15:guide>
        <p15:guide id="12" pos="2612">
          <p15:clr>
            <a:srgbClr val="A4A3A4"/>
          </p15:clr>
        </p15:guide>
        <p15:guide id="13" pos="2799">
          <p15:clr>
            <a:srgbClr val="A4A3A4"/>
          </p15:clr>
        </p15:guide>
        <p15:guide id="14" pos="3218">
          <p15:clr>
            <a:srgbClr val="A4A3A4"/>
          </p15:clr>
        </p15:guide>
        <p15:guide id="15" pos="3405">
          <p15:clr>
            <a:srgbClr val="A4A3A4"/>
          </p15:clr>
        </p15:guide>
        <p15:guide id="16" pos="3824">
          <p15:clr>
            <a:srgbClr val="A4A3A4"/>
          </p15:clr>
        </p15:guide>
        <p15:guide id="17" pos="4011">
          <p15:clr>
            <a:srgbClr val="A4A3A4"/>
          </p15:clr>
        </p15:guide>
        <p15:guide id="18" pos="4430">
          <p15:clr>
            <a:srgbClr val="A4A3A4"/>
          </p15:clr>
        </p15:guide>
        <p15:guide id="19" pos="4617">
          <p15:clr>
            <a:srgbClr val="A4A3A4"/>
          </p15:clr>
        </p15:guide>
        <p15:guide id="20" pos="5036">
          <p15:clr>
            <a:srgbClr val="A4A3A4"/>
          </p15:clr>
        </p15:guide>
        <p15:guide id="21" pos="5223">
          <p15:clr>
            <a:srgbClr val="A4A3A4"/>
          </p15:clr>
        </p15:guide>
        <p15:guide id="22" pos="5640">
          <p15:clr>
            <a:srgbClr val="A4A3A4"/>
          </p15:clr>
        </p15:guide>
        <p15:guide id="23" pos="5829">
          <p15:clr>
            <a:srgbClr val="A4A3A4"/>
          </p15:clr>
        </p15:guide>
        <p15:guide id="24" pos="6246">
          <p15:clr>
            <a:srgbClr val="A4A3A4"/>
          </p15:clr>
        </p15:guide>
        <p15:guide id="25" pos="6434">
          <p15:clr>
            <a:srgbClr val="A4A3A4"/>
          </p15:clr>
        </p15:guide>
        <p15:guide id="26" pos="6852">
          <p15:clr>
            <a:srgbClr val="A4A3A4"/>
          </p15:clr>
        </p15:guide>
        <p15:guide id="27" pos="7038">
          <p15:clr>
            <a:srgbClr val="A4A3A4"/>
          </p15:clr>
        </p15:guide>
        <p15:guide id="28" orient="horz" pos="923">
          <p15:clr>
            <a:srgbClr val="5ACBF0"/>
          </p15:clr>
        </p15:guide>
        <p15:guide id="29" orient="horz" pos="1296">
          <p15:clr>
            <a:srgbClr val="5ACBF0"/>
          </p15:clr>
        </p15:guide>
        <p15:guide id="30" orient="horz" pos="294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5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001872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95">
          <p15:clr>
            <a:srgbClr val="A4A3A4"/>
          </p15:clr>
        </p15:guide>
        <p15:guide id="7" pos="981">
          <p15:clr>
            <a:srgbClr val="A4A3A4"/>
          </p15:clr>
        </p15:guide>
        <p15:guide id="8" pos="1401">
          <p15:clr>
            <a:srgbClr val="A4A3A4"/>
          </p15:clr>
        </p15:guide>
        <p15:guide id="9" pos="1587">
          <p15:clr>
            <a:srgbClr val="A4A3A4"/>
          </p15:clr>
        </p15:guide>
        <p15:guide id="10" pos="2006">
          <p15:clr>
            <a:srgbClr val="A4A3A4"/>
          </p15:clr>
        </p15:guide>
        <p15:guide id="11" pos="2193">
          <p15:clr>
            <a:srgbClr val="A4A3A4"/>
          </p15:clr>
        </p15:guide>
        <p15:guide id="12" pos="2612">
          <p15:clr>
            <a:srgbClr val="A4A3A4"/>
          </p15:clr>
        </p15:guide>
        <p15:guide id="13" pos="2799">
          <p15:clr>
            <a:srgbClr val="A4A3A4"/>
          </p15:clr>
        </p15:guide>
        <p15:guide id="14" pos="3218">
          <p15:clr>
            <a:srgbClr val="A4A3A4"/>
          </p15:clr>
        </p15:guide>
        <p15:guide id="16" pos="3824">
          <p15:clr>
            <a:srgbClr val="A4A3A4"/>
          </p15:clr>
        </p15:guide>
        <p15:guide id="17" pos="4011">
          <p15:clr>
            <a:srgbClr val="A4A3A4"/>
          </p15:clr>
        </p15:guide>
        <p15:guide id="18" pos="4430">
          <p15:clr>
            <a:srgbClr val="A4A3A4"/>
          </p15:clr>
        </p15:guide>
        <p15:guide id="19" pos="4617">
          <p15:clr>
            <a:srgbClr val="A4A3A4"/>
          </p15:clr>
        </p15:guide>
        <p15:guide id="20" pos="5036">
          <p15:clr>
            <a:srgbClr val="A4A3A4"/>
          </p15:clr>
        </p15:guide>
        <p15:guide id="21" pos="5223">
          <p15:clr>
            <a:srgbClr val="A4A3A4"/>
          </p15:clr>
        </p15:guide>
        <p15:guide id="22" pos="5640">
          <p15:clr>
            <a:srgbClr val="A4A3A4"/>
          </p15:clr>
        </p15:guide>
        <p15:guide id="23" pos="5829">
          <p15:clr>
            <a:srgbClr val="A4A3A4"/>
          </p15:clr>
        </p15:guide>
        <p15:guide id="24" pos="6246">
          <p15:clr>
            <a:srgbClr val="A4A3A4"/>
          </p15:clr>
        </p15:guide>
        <p15:guide id="25" pos="6434">
          <p15:clr>
            <a:srgbClr val="A4A3A4"/>
          </p15:clr>
        </p15:guide>
        <p15:guide id="26" pos="6852">
          <p15:clr>
            <a:srgbClr val="A4A3A4"/>
          </p15:clr>
        </p15:guide>
        <p15:guide id="27" pos="7038">
          <p15:clr>
            <a:srgbClr val="A4A3A4"/>
          </p15:clr>
        </p15:guide>
        <p15:guide id="30" orient="horz" pos="294">
          <p15:clr>
            <a:srgbClr val="5ACBF0"/>
          </p15:clr>
        </p15:guide>
        <p15:guide id="32" orient="horz" pos="2203">
          <p15:clr>
            <a:srgbClr val="5ACBF0"/>
          </p15:clr>
        </p15:guide>
        <p15:guide id="33" pos="3036">
          <p15:clr>
            <a:srgbClr val="5ACBF0"/>
          </p15:clr>
        </p15:guide>
        <p15:guide id="34" pos="3403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025304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95">
          <p15:clr>
            <a:srgbClr val="A4A3A4"/>
          </p15:clr>
        </p15:guide>
        <p15:guide id="7" pos="981">
          <p15:clr>
            <a:srgbClr val="A4A3A4"/>
          </p15:clr>
        </p15:guide>
        <p15:guide id="8" pos="1401">
          <p15:clr>
            <a:srgbClr val="A4A3A4"/>
          </p15:clr>
        </p15:guide>
        <p15:guide id="9" pos="1587">
          <p15:clr>
            <a:srgbClr val="A4A3A4"/>
          </p15:clr>
        </p15:guide>
        <p15:guide id="10" pos="2006">
          <p15:clr>
            <a:srgbClr val="A4A3A4"/>
          </p15:clr>
        </p15:guide>
        <p15:guide id="11" pos="2193">
          <p15:clr>
            <a:srgbClr val="A4A3A4"/>
          </p15:clr>
        </p15:guide>
        <p15:guide id="12" pos="2612">
          <p15:clr>
            <a:srgbClr val="A4A3A4"/>
          </p15:clr>
        </p15:guide>
        <p15:guide id="13" pos="2799">
          <p15:clr>
            <a:srgbClr val="A4A3A4"/>
          </p15:clr>
        </p15:guide>
        <p15:guide id="14" pos="3218">
          <p15:clr>
            <a:srgbClr val="A4A3A4"/>
          </p15:clr>
        </p15:guide>
        <p15:guide id="15" pos="3419">
          <p15:clr>
            <a:srgbClr val="A4A3A4"/>
          </p15:clr>
        </p15:guide>
        <p15:guide id="16" pos="3824">
          <p15:clr>
            <a:srgbClr val="A4A3A4"/>
          </p15:clr>
        </p15:guide>
        <p15:guide id="17" pos="4011">
          <p15:clr>
            <a:srgbClr val="A4A3A4"/>
          </p15:clr>
        </p15:guide>
        <p15:guide id="18" pos="4430">
          <p15:clr>
            <a:srgbClr val="A4A3A4"/>
          </p15:clr>
        </p15:guide>
        <p15:guide id="19" pos="4617">
          <p15:clr>
            <a:srgbClr val="A4A3A4"/>
          </p15:clr>
        </p15:guide>
        <p15:guide id="20" pos="5036">
          <p15:clr>
            <a:srgbClr val="A4A3A4"/>
          </p15:clr>
        </p15:guide>
        <p15:guide id="21" pos="5223">
          <p15:clr>
            <a:srgbClr val="A4A3A4"/>
          </p15:clr>
        </p15:guide>
        <p15:guide id="22" pos="5640">
          <p15:clr>
            <a:srgbClr val="A4A3A4"/>
          </p15:clr>
        </p15:guide>
        <p15:guide id="23" pos="5829">
          <p15:clr>
            <a:srgbClr val="A4A3A4"/>
          </p15:clr>
        </p15:guide>
        <p15:guide id="24" pos="6246">
          <p15:clr>
            <a:srgbClr val="A4A3A4"/>
          </p15:clr>
        </p15:guide>
        <p15:guide id="25" pos="6434">
          <p15:clr>
            <a:srgbClr val="A4A3A4"/>
          </p15:clr>
        </p15:guide>
        <p15:guide id="26" pos="6852">
          <p15:clr>
            <a:srgbClr val="A4A3A4"/>
          </p15:clr>
        </p15:guide>
        <p15:guide id="27" pos="7038">
          <p15:clr>
            <a:srgbClr val="A4A3A4"/>
          </p15:clr>
        </p15:guide>
        <p15:guide id="28" orient="horz" pos="923">
          <p15:clr>
            <a:srgbClr val="5ACBF0"/>
          </p15:clr>
        </p15:guide>
        <p15:guide id="29" orient="horz" pos="1296">
          <p15:clr>
            <a:srgbClr val="5ACBF0"/>
          </p15:clr>
        </p15:guide>
        <p15:guide id="30" orient="horz" pos="294">
          <p15:clr>
            <a:srgbClr val="5ACBF0"/>
          </p15:clr>
        </p15:guide>
        <p15:guide id="31" pos="3917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016079"/>
            <a:ext cx="4158362" cy="1108121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1"/>
            <a:ext cx="4162425" cy="338610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556" indent="0">
              <a:buNone/>
              <a:defRPr/>
            </a:lvl2pPr>
            <a:lvl3pPr marL="457112" indent="0">
              <a:buNone/>
              <a:defRPr/>
            </a:lvl3pPr>
            <a:lvl4pPr marL="661861" indent="0">
              <a:buNone/>
              <a:defRPr/>
            </a:lvl4pPr>
            <a:lvl5pPr marL="85549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1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467505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427">
          <p15:clr>
            <a:srgbClr val="5ACBF0"/>
          </p15:clr>
        </p15:guide>
        <p15:guide id="7" orient="horz" pos="2007">
          <p15:clr>
            <a:srgbClr val="5ACBF0"/>
          </p15:clr>
        </p15:guide>
        <p15:guide id="8" orient="horz" pos="2270">
          <p15:clr>
            <a:srgbClr val="5ACBF0"/>
          </p15:clr>
        </p15:guide>
        <p15:guide id="10" pos="3804">
          <p15:clr>
            <a:srgbClr val="C35EA4"/>
          </p15:clr>
        </p15:guide>
        <p15:guide id="11" pos="3053">
          <p15:clr>
            <a:srgbClr val="5ACBF0"/>
          </p15:clr>
        </p15:guide>
        <p15:guide id="12" pos="3614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873353"/>
            <a:ext cx="4159950" cy="1108121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1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806298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427">
          <p15:clr>
            <a:srgbClr val="5ACBF0"/>
          </p15:clr>
        </p15:guide>
        <p15:guide id="5" orient="horz" pos="2203">
          <p15:clr>
            <a:srgbClr val="5ACBF0"/>
          </p15:clr>
        </p15:guide>
        <p15:guide id="6" pos="3051">
          <p15:clr>
            <a:srgbClr val="5ACBF0"/>
          </p15:clr>
        </p15:guide>
        <p15:guide id="7" pos="3803">
          <p15:clr>
            <a:srgbClr val="C35EA4"/>
          </p15:clr>
        </p15:guide>
        <p15:guide id="8" pos="3615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4" y="2979739"/>
            <a:ext cx="4163125" cy="861803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1" y="0"/>
            <a:ext cx="6858000" cy="6858000"/>
          </a:xfrm>
          <a:gradFill flip="none" rotWithShape="1">
            <a:gsLst>
              <a:gs pos="47706">
                <a:schemeClr val="accent1"/>
              </a:gs>
              <a:gs pos="100000">
                <a:schemeClr val="accent3"/>
              </a:gs>
              <a:gs pos="60000">
                <a:schemeClr val="accent1"/>
              </a:gs>
            </a:gsLst>
            <a:lin ang="18900000" scaled="1"/>
            <a:tileRect/>
          </a:grad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282246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427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pos="3806">
          <p15:clr>
            <a:srgbClr val="C35EA4"/>
          </p15:clr>
        </p15:guide>
        <p15:guide id="5" pos="3053">
          <p15:clr>
            <a:srgbClr val="5ACBF0"/>
          </p15:clr>
        </p15:guide>
        <p15:guide id="6" pos="361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09554D-CD2C-F836-9A2C-88CABE5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01027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350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2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84447249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648">
          <p15:clr>
            <a:srgbClr val="5ACBF0"/>
          </p15:clr>
        </p15:guide>
        <p15:guide id="8" orient="horz" pos="2203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581862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87">
          <p15:clr>
            <a:srgbClr val="5ACBF0"/>
          </p15:clr>
        </p15:guide>
        <p15:guide id="8" orient="horz" pos="2203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436097"/>
            <a:ext cx="11018520" cy="554061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1"/>
            <a:ext cx="12192000" cy="4572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228556" lvl="0" indent="-228556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199032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937">
          <p15:clr>
            <a:srgbClr val="5ACBF0"/>
          </p15:clr>
        </p15:guide>
        <p15:guide id="6" orient="horz" pos="3672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256"/>
            <a:ext cx="11018520" cy="554061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228556" lvl="0" indent="-228556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105577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69">
          <p15:clr>
            <a:srgbClr val="5ACBF0"/>
          </p15:clr>
        </p15:guide>
        <p15:guide id="6" orient="horz" pos="734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40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chemeClr val="bg1"/>
                </a:solidFill>
              </a:defRPr>
            </a:lvl1pPr>
          </a:lstStyle>
          <a:p>
            <a:pPr marL="228556" lvl="0" indent="-228556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556" lvl="0" indent="-228556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114354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55">
          <p15:clr>
            <a:srgbClr val="5ACBF0"/>
          </p15:clr>
        </p15:guide>
        <p15:guide id="4" orient="horz" pos="1301">
          <p15:clr>
            <a:srgbClr val="5ACBF0"/>
          </p15:clr>
        </p15:guide>
        <p15:guide id="5" orient="horz" pos="318">
          <p15:clr>
            <a:srgbClr val="5ACBF0"/>
          </p15:clr>
        </p15:guide>
        <p15:guide id="6" pos="3824">
          <p15:clr>
            <a:srgbClr val="5ACBF0"/>
          </p15:clr>
        </p15:guide>
        <p15:guide id="7" pos="4010">
          <p15:clr>
            <a:srgbClr val="5ACBF0"/>
          </p15:clr>
        </p15:guide>
        <p15:guide id="8" orient="horz" pos="3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40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4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3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1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2" y="5689600"/>
            <a:ext cx="3475037" cy="27699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2303376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55">
          <p15:clr>
            <a:srgbClr val="5ACBF0"/>
          </p15:clr>
        </p15:guide>
        <p15:guide id="4" orient="horz" pos="1301">
          <p15:clr>
            <a:srgbClr val="5ACBF0"/>
          </p15:clr>
        </p15:guide>
        <p15:guide id="5" orient="horz" pos="294">
          <p15:clr>
            <a:srgbClr val="5ACBF0"/>
          </p15:clr>
        </p15:guide>
        <p15:guide id="6" pos="2608">
          <p15:clr>
            <a:srgbClr val="5ACBF0"/>
          </p15:clr>
        </p15:guide>
        <p15:guide id="7" pos="2799">
          <p15:clr>
            <a:srgbClr val="5ACBF0"/>
          </p15:clr>
        </p15:guide>
        <p15:guide id="8" pos="5035">
          <p15:clr>
            <a:srgbClr val="5ACBF0"/>
          </p15:clr>
        </p15:guide>
        <p15:guide id="9" pos="5226">
          <p15:clr>
            <a:srgbClr val="5ACBF0"/>
          </p15:clr>
        </p15:guide>
        <p15:guide id="10" orient="horz" pos="3534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40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553997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1"/>
            <a:ext cx="2532888" cy="2532888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553997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1"/>
            <a:ext cx="2532888" cy="2532888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553997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1"/>
            <a:ext cx="2532888" cy="2532888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553997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1"/>
            <a:ext cx="2532888" cy="2532888"/>
          </a:xfr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976428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053">
          <p15:clr>
            <a:srgbClr val="5ACBF0"/>
          </p15:clr>
        </p15:guide>
        <p15:guide id="4" orient="horz" pos="1301">
          <p15:clr>
            <a:srgbClr val="5ACBF0"/>
          </p15:clr>
        </p15:guide>
        <p15:guide id="5" orient="horz" pos="294">
          <p15:clr>
            <a:srgbClr val="5ACBF0"/>
          </p15:clr>
        </p15:guide>
        <p15:guide id="6" pos="2002">
          <p15:clr>
            <a:srgbClr val="5ACBF0"/>
          </p15:clr>
        </p15:guide>
        <p15:guide id="7" pos="2193">
          <p15:clr>
            <a:srgbClr val="5ACBF0"/>
          </p15:clr>
        </p15:guide>
        <p15:guide id="8" pos="3821">
          <p15:clr>
            <a:srgbClr val="5ACBF0"/>
          </p15:clr>
        </p15:guide>
        <p15:guide id="9" pos="4013">
          <p15:clr>
            <a:srgbClr val="5ACBF0"/>
          </p15:clr>
        </p15:guide>
        <p15:guide id="10" pos="5641">
          <p15:clr>
            <a:srgbClr val="5ACBF0"/>
          </p15:clr>
        </p15:guide>
        <p15:guide id="11" pos="5831">
          <p15:clr>
            <a:srgbClr val="5ACBF0"/>
          </p15:clr>
        </p15:guide>
        <p15:guide id="12" orient="horz" pos="2927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542"/>
            <a:ext cx="11018520" cy="554061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1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27699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9" y="2286000"/>
            <a:ext cx="6062472" cy="2807208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066414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34">
          <p15:clr>
            <a:srgbClr val="5ACBF0"/>
          </p15:clr>
        </p15:guide>
        <p15:guide id="2" orient="horz" pos="1469">
          <p15:clr>
            <a:srgbClr val="5ACBF0"/>
          </p15:clr>
        </p15:guide>
        <p15:guide id="4" orient="horz" pos="3273">
          <p15:clr>
            <a:srgbClr val="5ACBF0"/>
          </p15:clr>
        </p15:guide>
        <p15:guide id="5" pos="3903">
          <p15:clr>
            <a:srgbClr val="5ACBF0"/>
          </p15:clr>
        </p15:guide>
        <p15:guide id="6" pos="3936">
          <p15:clr>
            <a:srgbClr val="5ACBF0"/>
          </p15:clr>
        </p15:guide>
        <p15:guide id="11" pos="1948">
          <p15:clr>
            <a:srgbClr val="5ACBF0"/>
          </p15:clr>
        </p15:guide>
        <p15:guide id="12" pos="5886">
          <p15:clr>
            <a:srgbClr val="5ACBF0"/>
          </p15:clr>
        </p15:guide>
        <p15:guide id="13" orient="horz" pos="3427">
          <p15:clr>
            <a:srgbClr val="5ACBF0"/>
          </p15:clr>
        </p15:guide>
        <p15:guide id="14" orient="horz">
          <p15:clr>
            <a:srgbClr val="5ACBF0"/>
          </p15:clr>
        </p15:guide>
        <p15:guide id="15" pos="3520">
          <p15:clr>
            <a:srgbClr val="5ACBF0"/>
          </p15:clr>
        </p15:guide>
        <p15:guide id="16" pos="4314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541"/>
            <a:ext cx="11018520" cy="554061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4800601"/>
            <a:ext cx="2852928" cy="553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1" y="2286000"/>
            <a:ext cx="4023360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553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553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5512165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34">
          <p15:clr>
            <a:srgbClr val="5ACBF0"/>
          </p15:clr>
        </p15:guide>
        <p15:guide id="2" orient="horz" pos="1469">
          <p15:clr>
            <a:srgbClr val="5ACBF0"/>
          </p15:clr>
        </p15:guide>
        <p15:guide id="3" orient="horz" pos="2937">
          <p15:clr>
            <a:srgbClr val="5ACBF0"/>
          </p15:clr>
        </p15:guide>
        <p15:guide id="4" orient="horz" pos="3084">
          <p15:clr>
            <a:srgbClr val="5ACBF0"/>
          </p15:clr>
        </p15:guide>
        <p15:guide id="5" pos="2585">
          <p15:clr>
            <a:srgbClr val="5ACBF0"/>
          </p15:clr>
        </p15:guide>
        <p15:guide id="6" pos="2625">
          <p15:clr>
            <a:srgbClr val="5ACBF0"/>
          </p15:clr>
        </p15:guide>
        <p15:guide id="8" pos="5211">
          <p15:clr>
            <a:srgbClr val="5ACBF0"/>
          </p15:clr>
        </p15:guide>
        <p15:guide id="9" pos="5248">
          <p15:clr>
            <a:srgbClr val="5ACBF0"/>
          </p15:clr>
        </p15:guide>
        <p15:guide id="11" pos="1291">
          <p15:clr>
            <a:srgbClr val="5ACBF0"/>
          </p15:clr>
        </p15:guide>
        <p15:guide id="12" pos="3917">
          <p15:clr>
            <a:srgbClr val="5ACBF0"/>
          </p15:clr>
        </p15:guide>
        <p15:guide id="13" pos="6543">
          <p15:clr>
            <a:srgbClr val="5ACBF0"/>
          </p15:clr>
        </p15:guide>
        <p15:guide id="14" orient="horz" pos="1095">
          <p15:clr>
            <a:srgbClr val="5ACBF0"/>
          </p15:clr>
        </p15:guide>
        <p15:guide id="15" pos="2211">
          <p15:clr>
            <a:srgbClr val="5ACBF0"/>
          </p15:clr>
        </p15:guide>
        <p15:guide id="16" pos="3003">
          <p15:clr>
            <a:srgbClr val="5ACBF0"/>
          </p15:clr>
        </p15:guide>
        <p15:guide id="17" pos="4833">
          <p15:clr>
            <a:srgbClr val="5ACBF0"/>
          </p15:clr>
        </p15:guide>
        <p15:guide id="18" pos="5625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542"/>
            <a:ext cx="11018520" cy="554061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4800601"/>
            <a:ext cx="182880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1" y="2286000"/>
            <a:ext cx="2999232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3" y="4799409"/>
            <a:ext cx="182880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7" y="2286000"/>
            <a:ext cx="2999232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948774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34">
          <p15:clr>
            <a:srgbClr val="5ACBF0"/>
          </p15:clr>
        </p15:guide>
        <p15:guide id="2" orient="horz" pos="1469">
          <p15:clr>
            <a:srgbClr val="5ACBF0"/>
          </p15:clr>
        </p15:guide>
        <p15:guide id="3" orient="horz" pos="2937">
          <p15:clr>
            <a:srgbClr val="5ACBF0"/>
          </p15:clr>
        </p15:guide>
        <p15:guide id="4" orient="horz" pos="3084">
          <p15:clr>
            <a:srgbClr val="5ACBF0"/>
          </p15:clr>
        </p15:guide>
        <p15:guide id="5" pos="1928">
          <p15:clr>
            <a:srgbClr val="5ACBF0"/>
          </p15:clr>
        </p15:guide>
        <p15:guide id="6" pos="1969">
          <p15:clr>
            <a:srgbClr val="5ACBF0"/>
          </p15:clr>
        </p15:guide>
        <p15:guide id="7" pos="5864">
          <p15:clr>
            <a:srgbClr val="5ACBF0"/>
          </p15:clr>
        </p15:guide>
        <p15:guide id="8" pos="3897">
          <p15:clr>
            <a:srgbClr val="5ACBF0"/>
          </p15:clr>
        </p15:guide>
        <p15:guide id="9" pos="3937">
          <p15:clr>
            <a:srgbClr val="5ACBF0"/>
          </p15:clr>
        </p15:guide>
        <p15:guide id="10" pos="5905">
          <p15:clr>
            <a:srgbClr val="5ACBF0"/>
          </p15:clr>
        </p15:guide>
        <p15:guide id="11" pos="963">
          <p15:clr>
            <a:srgbClr val="5ACBF0"/>
          </p15:clr>
        </p15:guide>
        <p15:guide id="12" pos="2934">
          <p15:clr>
            <a:srgbClr val="5ACBF0"/>
          </p15:clr>
        </p15:guide>
        <p15:guide id="13" pos="4903">
          <p15:clr>
            <a:srgbClr val="5ACBF0"/>
          </p15:clr>
        </p15:guide>
        <p15:guide id="14" pos="6871">
          <p15:clr>
            <a:srgbClr val="5ACBF0"/>
          </p15:clr>
        </p15:guide>
        <p15:guide id="15" orient="horz">
          <p15:clr>
            <a:srgbClr val="5ACBF0"/>
          </p15:clr>
        </p15:guide>
        <p15:guide id="16" pos="1555">
          <p15:clr>
            <a:srgbClr val="5ACBF0"/>
          </p15:clr>
        </p15:guide>
        <p15:guide id="17" pos="2344">
          <p15:clr>
            <a:srgbClr val="5ACBF0"/>
          </p15:clr>
        </p15:guide>
        <p15:guide id="18" pos="3519">
          <p15:clr>
            <a:srgbClr val="5ACBF0"/>
          </p15:clr>
        </p15:guide>
        <p15:guide id="19" pos="4315">
          <p15:clr>
            <a:srgbClr val="5ACBF0"/>
          </p15:clr>
        </p15:guide>
        <p15:guide id="20" pos="5488">
          <p15:clr>
            <a:srgbClr val="5ACBF0"/>
          </p15:clr>
        </p15:guide>
        <p15:guide id="21" pos="627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6542"/>
            <a:ext cx="11018520" cy="554061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1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5" y="4799409"/>
            <a:ext cx="1801368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gradFill>
            <a:gsLst>
              <a:gs pos="0">
                <a:srgbClr val="E8E6DF"/>
              </a:gs>
              <a:gs pos="100000">
                <a:srgbClr val="D4EC8E"/>
              </a:gs>
            </a:gsLst>
            <a:lin ang="18900000" scaled="1"/>
          </a:grad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63036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34">
          <p15:clr>
            <a:srgbClr val="5ACBF0"/>
          </p15:clr>
        </p15:guide>
        <p15:guide id="2" orient="horz" pos="1469">
          <p15:clr>
            <a:srgbClr val="5ACBF0"/>
          </p15:clr>
        </p15:guide>
        <p15:guide id="3" orient="horz" pos="2937">
          <p15:clr>
            <a:srgbClr val="5ACBF0"/>
          </p15:clr>
        </p15:guide>
        <p15:guide id="4" orient="horz" pos="3084">
          <p15:clr>
            <a:srgbClr val="5ACBF0"/>
          </p15:clr>
        </p15:guide>
        <p15:guide id="8" pos="4724">
          <p15:clr>
            <a:srgbClr val="5ACBF0"/>
          </p15:clr>
        </p15:guide>
        <p15:guide id="9" pos="4685">
          <p15:clr>
            <a:srgbClr val="5ACBF0"/>
          </p15:clr>
        </p15:guide>
        <p15:guide id="10" pos="6257">
          <p15:clr>
            <a:srgbClr val="5ACBF0"/>
          </p15:clr>
        </p15:guide>
        <p15:guide id="11" pos="1350">
          <p15:clr>
            <a:srgbClr val="5ACBF0"/>
          </p15:clr>
        </p15:guide>
        <p15:guide id="12" pos="2922">
          <p15:clr>
            <a:srgbClr val="5ACBF0"/>
          </p15:clr>
        </p15:guide>
        <p15:guide id="13" pos="4912">
          <p15:clr>
            <a:srgbClr val="5ACBF0"/>
          </p15:clr>
        </p15:guide>
        <p15:guide id="14" pos="6489">
          <p15:clr>
            <a:srgbClr val="5ACBF0"/>
          </p15:clr>
        </p15:guide>
        <p15:guide id="15" orient="horz">
          <p15:clr>
            <a:srgbClr val="5ACBF0"/>
          </p15:clr>
        </p15:guide>
        <p15:guide id="16" pos="1762">
          <p15:clr>
            <a:srgbClr val="5ACBF0"/>
          </p15:clr>
        </p15:guide>
        <p15:guide id="17" pos="2340">
          <p15:clr>
            <a:srgbClr val="5ACBF0"/>
          </p15:clr>
        </p15:guide>
        <p15:guide id="18" pos="3339">
          <p15:clr>
            <a:srgbClr val="5ACBF0"/>
          </p15:clr>
        </p15:guide>
        <p15:guide id="19" pos="4499">
          <p15:clr>
            <a:srgbClr val="5ACBF0"/>
          </p15:clr>
        </p15:guide>
        <p15:guide id="21" pos="6303">
          <p15:clr>
            <a:srgbClr val="5ACBF0"/>
          </p15:clr>
        </p15:guide>
        <p15:guide id="22" pos="1531">
          <p15:clr>
            <a:srgbClr val="5ACBF0"/>
          </p15:clr>
        </p15:guide>
        <p15:guide id="23" pos="1574">
          <p15:clr>
            <a:srgbClr val="5ACBF0"/>
          </p15:clr>
        </p15:guide>
        <p15:guide id="24" pos="3110">
          <p15:clr>
            <a:srgbClr val="5ACBF0"/>
          </p15:clr>
        </p15:guide>
        <p15:guide id="25" pos="3150">
          <p15:clr>
            <a:srgbClr val="5ACBF0"/>
          </p15:clr>
        </p15:guide>
        <p15:guide id="26" pos="6073">
          <p15:clr>
            <a:srgbClr val="5ACBF0"/>
          </p15:clr>
        </p15:guide>
        <p15:guide id="27" pos="3917">
          <p15:clr>
            <a:srgbClr val="5ACBF0"/>
          </p15:clr>
        </p15:guide>
        <p15:guide id="28" pos="5494">
          <p15:clr>
            <a:srgbClr val="5ACBF0"/>
          </p15:clr>
        </p15:guide>
        <p15:guide id="29" pos="768">
          <p15:clr>
            <a:srgbClr val="5ACBF0"/>
          </p15:clr>
        </p15:guide>
        <p15:guide id="30" pos="706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9716"/>
            <a:ext cx="11018520" cy="554061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553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553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4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4" y="4800600"/>
            <a:ext cx="2313432" cy="553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105340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34">
          <p15:clr>
            <a:srgbClr val="5ACBF0"/>
          </p15:clr>
        </p15:guide>
        <p15:guide id="2" orient="horz" pos="3084">
          <p15:clr>
            <a:srgbClr val="5ACBF0"/>
          </p15:clr>
        </p15:guide>
        <p15:guide id="3" pos="3917">
          <p15:clr>
            <a:srgbClr val="5ACBF0"/>
          </p15:clr>
        </p15:guide>
        <p15:guide id="4" pos="1309">
          <p15:clr>
            <a:srgbClr val="5ACBF0"/>
          </p15:clr>
        </p15:guide>
        <p15:guide id="5" pos="5780">
          <p15:clr>
            <a:srgbClr val="5ACBF0"/>
          </p15:clr>
        </p15:guide>
        <p15:guide id="6" pos="2796">
          <p15:clr>
            <a:srgbClr val="5ACBF0"/>
          </p15:clr>
        </p15:guide>
        <p15:guide id="7" pos="2052">
          <p15:clr>
            <a:srgbClr val="5ACBF0"/>
          </p15:clr>
        </p15:guide>
        <p15:guide id="8" pos="3171">
          <p15:clr>
            <a:srgbClr val="5ACBF0"/>
          </p15:clr>
        </p15:guide>
        <p15:guide id="9" pos="4662">
          <p15:clr>
            <a:srgbClr val="5ACBF0"/>
          </p15:clr>
        </p15:guide>
        <p15:guide id="11" pos="6525">
          <p15:clr>
            <a:srgbClr val="5ACBF0"/>
          </p15:clr>
        </p15:guide>
        <p15:guide id="12" orient="horz" pos="1469">
          <p15:clr>
            <a:srgbClr val="5ACBF0"/>
          </p15:clr>
        </p15:guide>
        <p15:guide id="13" pos="5037">
          <p15:clr>
            <a:srgbClr val="5ACBF0"/>
          </p15:clr>
        </p15:guide>
        <p15:guide id="14" orient="horz" pos="295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3760"/>
            <a:ext cx="11018520" cy="554061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553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1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1" y="4800600"/>
            <a:ext cx="2313432" cy="553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1" y="2286000"/>
            <a:ext cx="2313432" cy="2313432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1" y="4800600"/>
            <a:ext cx="2313432" cy="553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553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620249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34">
          <p15:clr>
            <a:srgbClr val="5ACBF0"/>
          </p15:clr>
        </p15:guide>
        <p15:guide id="2" orient="horz" pos="3084">
          <p15:clr>
            <a:srgbClr val="5ACBF0"/>
          </p15:clr>
        </p15:guide>
        <p15:guide id="3" pos="4106">
          <p15:clr>
            <a:srgbClr val="5ACBF0"/>
          </p15:clr>
        </p15:guide>
        <p15:guide id="5" pos="5971">
          <p15:clr>
            <a:srgbClr val="5ACBF0"/>
          </p15:clr>
        </p15:guide>
        <p15:guide id="7" pos="3727">
          <p15:clr>
            <a:srgbClr val="5ACBF0"/>
          </p15:clr>
        </p15:guide>
        <p15:guide id="8" pos="2239">
          <p15:clr>
            <a:srgbClr val="5ACBF0"/>
          </p15:clr>
        </p15:guide>
        <p15:guide id="10" pos="2985">
          <p15:clr>
            <a:srgbClr val="5ACBF0"/>
          </p15:clr>
        </p15:guide>
        <p15:guide id="11" pos="4851">
          <p15:clr>
            <a:srgbClr val="5ACBF0"/>
          </p15:clr>
        </p15:guide>
        <p15:guide id="12" pos="6713">
          <p15:clr>
            <a:srgbClr val="5ACBF0"/>
          </p15:clr>
        </p15:guide>
        <p15:guide id="13" pos="1119">
          <p15:clr>
            <a:srgbClr val="5ACBF0"/>
          </p15:clr>
        </p15:guide>
        <p15:guide id="14" orient="horz" pos="1469">
          <p15:clr>
            <a:srgbClr val="5ACBF0"/>
          </p15:clr>
        </p15:guide>
        <p15:guide id="15" pos="1863">
          <p15:clr>
            <a:srgbClr val="5ACBF0"/>
          </p15:clr>
        </p15:guide>
        <p15:guide id="18" pos="5593">
          <p15:clr>
            <a:srgbClr val="5ACBF0"/>
          </p15:clr>
        </p15:guide>
        <p15:guide id="19" orient="horz" pos="2956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863760"/>
            <a:ext cx="11018520" cy="554061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gradFill>
            <a:gsLst>
              <a:gs pos="100000">
                <a:schemeClr val="accent3"/>
              </a:gs>
              <a:gs pos="8000">
                <a:schemeClr val="accent1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gradFill>
            <a:gsLst>
              <a:gs pos="100000">
                <a:srgbClr val="FFB900"/>
              </a:gs>
              <a:gs pos="0">
                <a:srgbClr val="FFB3B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gradFill>
            <a:gsLst>
              <a:gs pos="100000">
                <a:srgbClr val="F4364C"/>
              </a:gs>
              <a:gs pos="0">
                <a:srgbClr val="8661C5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FFA38B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gradFill>
            <a:gsLst>
              <a:gs pos="0">
                <a:srgbClr val="E8E6DF"/>
              </a:gs>
              <a:gs pos="100000">
                <a:srgbClr val="D4EC8E"/>
              </a:gs>
            </a:gsLst>
            <a:lin ang="18900000" scaled="1"/>
          </a:grad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83099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56942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34">
          <p15:clr>
            <a:srgbClr val="5ACBF0"/>
          </p15:clr>
        </p15:guide>
        <p15:guide id="2" orient="horz" pos="2717">
          <p15:clr>
            <a:srgbClr val="5ACBF0"/>
          </p15:clr>
        </p15:guide>
        <p15:guide id="3" pos="6341">
          <p15:clr>
            <a:srgbClr val="5ACBF0"/>
          </p15:clr>
        </p15:guide>
        <p15:guide id="5" pos="5967">
          <p15:clr>
            <a:srgbClr val="5ACBF0"/>
          </p15:clr>
        </p15:guide>
        <p15:guide id="7" pos="4480">
          <p15:clr>
            <a:srgbClr val="5ACBF0"/>
          </p15:clr>
        </p15:guide>
        <p15:guide id="8" pos="3358">
          <p15:clr>
            <a:srgbClr val="5ACBF0"/>
          </p15:clr>
        </p15:guide>
        <p15:guide id="10" pos="2985">
          <p15:clr>
            <a:srgbClr val="5ACBF0"/>
          </p15:clr>
        </p15:guide>
        <p15:guide id="11" pos="4849">
          <p15:clr>
            <a:srgbClr val="5ACBF0"/>
          </p15:clr>
        </p15:guide>
        <p15:guide id="13" pos="1493">
          <p15:clr>
            <a:srgbClr val="5ACBF0"/>
          </p15:clr>
        </p15:guide>
        <p15:guide id="14" orient="horz" pos="1469">
          <p15:clr>
            <a:srgbClr val="5ACBF0"/>
          </p15:clr>
        </p15:guide>
        <p15:guide id="15" pos="1867">
          <p15:clr>
            <a:srgbClr val="5ACBF0"/>
          </p15:clr>
        </p15:guide>
        <p15:guide id="16" orient="horz" pos="2583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7" y="2309812"/>
            <a:ext cx="3182027" cy="554061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3"/>
            <a:ext cx="7253288" cy="430901"/>
          </a:xfrm>
        </p:spPr>
        <p:txBody>
          <a:bodyPr anchor="t"/>
          <a:lstStyle>
            <a:lvl1pPr marL="231730" indent="-231730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4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1729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99">
          <p15:clr>
            <a:srgbClr val="5ACBF0"/>
          </p15:clr>
        </p15:guide>
        <p15:guide id="29" orient="horz" pos="1297">
          <p15:clr>
            <a:srgbClr val="5ACBF0"/>
          </p15:clr>
        </p15:guide>
        <p15:guide id="30" pos="2424">
          <p15:clr>
            <a:srgbClr val="5ACBF0"/>
          </p15:clr>
        </p15:guide>
        <p15:guide id="32" orient="horz" pos="1484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4" y="3150383"/>
            <a:ext cx="3182027" cy="554061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3211963"/>
            <a:ext cx="6667500" cy="430901"/>
          </a:xfrm>
        </p:spPr>
        <p:txBody>
          <a:bodyPr anchor="ctr"/>
          <a:lstStyle>
            <a:lvl1pPr marL="231730" indent="-231730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297943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99">
          <p15:clr>
            <a:srgbClr val="5ACBF0"/>
          </p15:clr>
        </p15:guide>
        <p15:guide id="29" orient="horz" pos="2203">
          <p15:clr>
            <a:srgbClr val="5ACBF0"/>
          </p15:clr>
        </p15:guide>
        <p15:guide id="30" pos="2424">
          <p15:clr>
            <a:srgbClr val="5ACBF0"/>
          </p15:clr>
        </p15:guide>
        <p15:guide id="31" pos="3175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293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86" indent="0">
              <a:buNone/>
              <a:tabLst>
                <a:tab pos="344422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95" indent="0">
              <a:buNone/>
              <a:tabLst>
                <a:tab pos="56980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407" indent="0">
              <a:buNone/>
              <a:tabLst>
                <a:tab pos="799946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795" indent="0">
              <a:buNone/>
              <a:tabLst>
                <a:tab pos="1028502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48787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48">
          <p15:clr>
            <a:srgbClr val="5ACBF0"/>
          </p15:clr>
        </p15:guide>
        <p15:guide id="2" orient="horz" pos="923">
          <p15:clr>
            <a:srgbClr val="5ACBF0"/>
          </p15:clr>
        </p15:guide>
        <p15:guide id="3" orient="horz" pos="294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487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6976" indent="0">
              <a:buNone/>
              <a:defRPr/>
            </a:lvl3pPr>
            <a:lvl4pPr marL="685462" indent="0">
              <a:buNone/>
              <a:defRPr/>
            </a:lvl4pPr>
            <a:lvl5pPr marL="91395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293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382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320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163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481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4187265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94">
          <p15:clr>
            <a:srgbClr val="5ACBF0"/>
          </p15:clr>
        </p15:guide>
        <p15:guide id="4" orient="horz" pos="1811">
          <p15:clr>
            <a:srgbClr val="5ACBF0"/>
          </p15:clr>
        </p15:guide>
        <p15:guide id="5" orient="horz" pos="2241">
          <p15:clr>
            <a:srgbClr val="5ACBF0"/>
          </p15:clr>
        </p15:guide>
        <p15:guide id="6" orient="horz" pos="7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293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382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320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163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481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487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6976" indent="0">
              <a:buNone/>
              <a:defRPr/>
            </a:lvl3pPr>
            <a:lvl4pPr marL="685462" indent="0">
              <a:buNone/>
              <a:defRPr/>
            </a:lvl4pPr>
            <a:lvl5pPr marL="91395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045579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94">
          <p15:clr>
            <a:srgbClr val="5ACBF0"/>
          </p15:clr>
        </p15:guide>
        <p15:guide id="4" orient="horz" pos="2714">
          <p15:clr>
            <a:srgbClr val="5ACBF0"/>
          </p15:clr>
        </p15:guide>
        <p15:guide id="5" orient="horz" pos="3210">
          <p15:clr>
            <a:srgbClr val="5ACBF0"/>
          </p15:clr>
        </p15:guide>
        <p15:guide id="6" orient="horz" pos="427">
          <p15:clr>
            <a:srgbClr val="5ACBF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4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6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6976" indent="0">
              <a:buNone/>
              <a:defRPr/>
            </a:lvl3pPr>
            <a:lvl4pPr marL="685462" indent="0">
              <a:buNone/>
              <a:defRPr/>
            </a:lvl4pPr>
            <a:lvl5pPr marL="91395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293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1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382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320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163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481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658257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94">
          <p15:clr>
            <a:srgbClr val="5ACBF0"/>
          </p15:clr>
        </p15:guide>
        <p15:guide id="2" orient="horz" pos="454">
          <p15:clr>
            <a:srgbClr val="5ACBF0"/>
          </p15:clr>
        </p15:guide>
        <p15:guide id="4" orient="horz" pos="860">
          <p15:clr>
            <a:srgbClr val="5ACBF0"/>
          </p15:clr>
        </p15:guide>
        <p15:guide id="7" pos="3349">
          <p15:clr>
            <a:srgbClr val="5ACBF0"/>
          </p15:clr>
        </p15:guide>
        <p15:guide id="8" pos="3727">
          <p15:clr>
            <a:srgbClr val="5ACBF0"/>
          </p15:clr>
        </p15:guide>
        <p15:guide id="9" pos="2974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293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50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1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382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320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163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481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6976" indent="0">
              <a:buNone/>
              <a:defRPr/>
            </a:lvl3pPr>
            <a:lvl4pPr marL="685462" indent="0">
              <a:buNone/>
              <a:defRPr/>
            </a:lvl4pPr>
            <a:lvl5pPr marL="913950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955308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94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56">
          <p15:clr>
            <a:srgbClr val="5ACBF0"/>
          </p15:clr>
        </p15:guide>
        <p15:guide id="6" pos="4490">
          <p15:clr>
            <a:srgbClr val="5ACBF0"/>
          </p15:clr>
        </p15:guide>
        <p15:guide id="7" pos="4115">
          <p15:clr>
            <a:srgbClr val="5ACBF0"/>
          </p15:clr>
        </p15:guide>
        <p15:guide id="8" pos="4868">
          <p15:clr>
            <a:srgbClr val="5ACBF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4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90000"/>
              </a:lnSpc>
            </a:pPr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20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452473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6258">
          <p15:clr>
            <a:srgbClr val="5ACBF0"/>
          </p15:clr>
        </p15:guide>
        <p15:guide id="3" orient="horz" pos="1948">
          <p15:clr>
            <a:srgbClr val="5ACBF0"/>
          </p15:clr>
        </p15:guide>
        <p15:guide id="4" orient="horz" pos="2555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03775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6250">
          <p15:clr>
            <a:srgbClr val="5ACBF0"/>
          </p15:clr>
        </p15:guide>
        <p15:guide id="3" orient="horz" pos="1949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082014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6250">
          <p15:clr>
            <a:srgbClr val="5ACBF0"/>
          </p15:clr>
        </p15:guide>
        <p15:guide id="3" orient="horz" pos="1949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80168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6250">
          <p15:clr>
            <a:srgbClr val="5ACBF0"/>
          </p15:clr>
        </p15:guide>
        <p15:guide id="3" orient="horz" pos="1949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1340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6250">
          <p15:clr>
            <a:srgbClr val="5ACBF0"/>
          </p15:clr>
        </p15:guide>
        <p15:guide id="3" orient="horz" pos="1949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87830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6250">
          <p15:clr>
            <a:srgbClr val="5ACBF0"/>
          </p15:clr>
        </p15:guide>
        <p15:guide id="3" orient="horz" pos="1949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dirty="0">
                <a:latin typeface="+mj-lt"/>
              </a:defRPr>
            </a:lvl1pPr>
          </a:lstStyle>
          <a:p>
            <a:pPr lvl="0">
              <a:lnSpc>
                <a:spcPct val="90000"/>
              </a:lnSpc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71423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6250">
          <p15:clr>
            <a:srgbClr val="5ACBF0"/>
          </p15:clr>
        </p15:guide>
        <p15:guide id="3" orient="horz" pos="1949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5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69515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6250">
          <p15:clr>
            <a:srgbClr val="5ACBF0"/>
          </p15:clr>
        </p15:guide>
        <p15:guide id="3" orient="horz" pos="1949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5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81492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6250">
          <p15:clr>
            <a:srgbClr val="5ACBF0"/>
          </p15:clr>
        </p15:guide>
        <p15:guide id="3" orient="horz" pos="1949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5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67222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6250">
          <p15:clr>
            <a:srgbClr val="5ACBF0"/>
          </p15:clr>
        </p15:guide>
        <p15:guide id="3" orient="horz" pos="1949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ection Titl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56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6014448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03">
          <p15:clr>
            <a:srgbClr val="FBAE40"/>
          </p15:clr>
        </p15:guide>
        <p15:guide id="2" pos="6250">
          <p15:clr>
            <a:srgbClr val="5ACBF0"/>
          </p15:clr>
        </p15:guide>
        <p15:guide id="3" orient="horz" pos="1949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0D155-47E8-D819-5FA4-74860757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5022EE65-FBB2-C961-B89F-9DADBDB2DB3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27263" y="2199577"/>
            <a:ext cx="3760470" cy="376047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effectLst>
            <a:outerShdw blurRad="215900" dist="190500" dir="2700000" sx="101000" sy="101000" algn="ctr" rotWithShape="0">
              <a:srgbClr val="000000">
                <a:alpha val="23000"/>
              </a:srgbClr>
            </a:outerShdw>
          </a:effectLst>
        </p:spPr>
        <p:txBody>
          <a:bodyPr vert="horz" wrap="square" lIns="0" tIns="0" rIns="0" bIns="0" rtlCol="0" anchor="ctr" anchorCtr="0">
            <a:normAutofit/>
          </a:bodyPr>
          <a:lstStyle>
            <a:lvl1pPr marL="228556" indent="-228556" algn="ctr">
              <a:buNone/>
              <a:defRPr lang="en-US" sz="1800" b="1">
                <a:solidFill>
                  <a:schemeClr val="tx1"/>
                </a:solidFill>
                <a:latin typeface="+mn-lt"/>
              </a:defRPr>
            </a:lvl1pPr>
          </a:lstStyle>
          <a:p>
            <a:pPr marL="228556" lvl="0" indent="-228556" algn="ctr"/>
            <a:r>
              <a:rPr lang="en-US"/>
              <a:t>Click to insert photo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4B878651-6EA0-F1DE-DDB3-D4C07A4E59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45931" y="3206751"/>
            <a:ext cx="2706480" cy="147732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A3F807-DEFB-6026-D7BD-82284EB7FB76}"/>
              </a:ext>
            </a:extLst>
          </p:cNvPr>
          <p:cNvSpPr/>
          <p:nvPr/>
        </p:nvSpPr>
        <p:spPr>
          <a:xfrm>
            <a:off x="552732" y="2199577"/>
            <a:ext cx="693200" cy="604267"/>
          </a:xfrm>
          <a:custGeom>
            <a:avLst/>
            <a:gdLst>
              <a:gd name="connsiteX0" fmla="*/ 393237 w 674431"/>
              <a:gd name="connsiteY0" fmla="*/ 0 h 587906"/>
              <a:gd name="connsiteX1" fmla="*/ 616089 w 674431"/>
              <a:gd name="connsiteY1" fmla="*/ 0 h 587906"/>
              <a:gd name="connsiteX2" fmla="*/ 616151 w 674431"/>
              <a:gd name="connsiteY2" fmla="*/ 0 h 587906"/>
              <a:gd name="connsiteX3" fmla="*/ 674431 w 674431"/>
              <a:gd name="connsiteY3" fmla="*/ 58280 h 587906"/>
              <a:gd name="connsiteX4" fmla="*/ 674431 w 674431"/>
              <a:gd name="connsiteY4" fmla="*/ 221738 h 587906"/>
              <a:gd name="connsiteX5" fmla="*/ 597219 w 674431"/>
              <a:gd name="connsiteY5" fmla="*/ 471750 h 587906"/>
              <a:gd name="connsiteX6" fmla="*/ 393361 w 674431"/>
              <a:gd name="connsiteY6" fmla="*/ 587630 h 587906"/>
              <a:gd name="connsiteX7" fmla="*/ 380245 w 674431"/>
              <a:gd name="connsiteY7" fmla="*/ 577174 h 587906"/>
              <a:gd name="connsiteX8" fmla="*/ 380245 w 674431"/>
              <a:gd name="connsiteY8" fmla="*/ 489011 h 587906"/>
              <a:gd name="connsiteX9" fmla="*/ 387484 w 674431"/>
              <a:gd name="connsiteY9" fmla="*/ 478865 h 587906"/>
              <a:gd name="connsiteX10" fmla="*/ 523100 w 674431"/>
              <a:gd name="connsiteY10" fmla="*/ 363541 h 587906"/>
              <a:gd name="connsiteX11" fmla="*/ 540423 w 674431"/>
              <a:gd name="connsiteY11" fmla="*/ 283112 h 587906"/>
              <a:gd name="connsiteX12" fmla="*/ 533308 w 674431"/>
              <a:gd name="connsiteY12" fmla="*/ 276306 h 587906"/>
              <a:gd name="connsiteX13" fmla="*/ 393361 w 674431"/>
              <a:gd name="connsiteY13" fmla="*/ 276306 h 587906"/>
              <a:gd name="connsiteX14" fmla="*/ 374986 w 674431"/>
              <a:gd name="connsiteY14" fmla="*/ 257931 h 587906"/>
              <a:gd name="connsiteX15" fmla="*/ 374986 w 674431"/>
              <a:gd name="connsiteY15" fmla="*/ 18251 h 587906"/>
              <a:gd name="connsiteX16" fmla="*/ 393237 w 674431"/>
              <a:gd name="connsiteY16" fmla="*/ 0 h 587906"/>
              <a:gd name="connsiteX17" fmla="*/ 58466 w 674431"/>
              <a:gd name="connsiteY17" fmla="*/ 0 h 587906"/>
              <a:gd name="connsiteX18" fmla="*/ 281070 w 674431"/>
              <a:gd name="connsiteY18" fmla="*/ 0 h 587906"/>
              <a:gd name="connsiteX19" fmla="*/ 299445 w 674431"/>
              <a:gd name="connsiteY19" fmla="*/ 18375 h 587906"/>
              <a:gd name="connsiteX20" fmla="*/ 299445 w 674431"/>
              <a:gd name="connsiteY20" fmla="*/ 221738 h 587906"/>
              <a:gd name="connsiteX21" fmla="*/ 222233 w 674431"/>
              <a:gd name="connsiteY21" fmla="*/ 471750 h 587906"/>
              <a:gd name="connsiteX22" fmla="*/ 18375 w 674431"/>
              <a:gd name="connsiteY22" fmla="*/ 587630 h 587906"/>
              <a:gd name="connsiteX23" fmla="*/ 5259 w 674431"/>
              <a:gd name="connsiteY23" fmla="*/ 577174 h 587906"/>
              <a:gd name="connsiteX24" fmla="*/ 5259 w 674431"/>
              <a:gd name="connsiteY24" fmla="*/ 489011 h 587906"/>
              <a:gd name="connsiteX25" fmla="*/ 12497 w 674431"/>
              <a:gd name="connsiteY25" fmla="*/ 478865 h 587906"/>
              <a:gd name="connsiteX26" fmla="*/ 148114 w 674431"/>
              <a:gd name="connsiteY26" fmla="*/ 363541 h 587906"/>
              <a:gd name="connsiteX27" fmla="*/ 165437 w 674431"/>
              <a:gd name="connsiteY27" fmla="*/ 283112 h 587906"/>
              <a:gd name="connsiteX28" fmla="*/ 158322 w 674431"/>
              <a:gd name="connsiteY28" fmla="*/ 276306 h 587906"/>
              <a:gd name="connsiteX29" fmla="*/ 18375 w 674431"/>
              <a:gd name="connsiteY29" fmla="*/ 276306 h 587906"/>
              <a:gd name="connsiteX30" fmla="*/ 0 w 674431"/>
              <a:gd name="connsiteY30" fmla="*/ 257931 h 587906"/>
              <a:gd name="connsiteX31" fmla="*/ 0 w 674431"/>
              <a:gd name="connsiteY31" fmla="*/ 58466 h 587906"/>
              <a:gd name="connsiteX32" fmla="*/ 58466 w 674431"/>
              <a:gd name="connsiteY32" fmla="*/ 0 h 587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674431" h="587906">
                <a:moveTo>
                  <a:pt x="393237" y="0"/>
                </a:moveTo>
                <a:lnTo>
                  <a:pt x="616089" y="0"/>
                </a:lnTo>
                <a:lnTo>
                  <a:pt x="616151" y="0"/>
                </a:lnTo>
                <a:cubicBezTo>
                  <a:pt x="648322" y="0"/>
                  <a:pt x="674431" y="26109"/>
                  <a:pt x="674431" y="58280"/>
                </a:cubicBezTo>
                <a:lnTo>
                  <a:pt x="674431" y="221738"/>
                </a:lnTo>
                <a:cubicBezTo>
                  <a:pt x="674431" y="328152"/>
                  <a:pt x="648694" y="411490"/>
                  <a:pt x="597219" y="471750"/>
                </a:cubicBezTo>
                <a:cubicBezTo>
                  <a:pt x="548157" y="529102"/>
                  <a:pt x="480225" y="567770"/>
                  <a:pt x="393361" y="587630"/>
                </a:cubicBezTo>
                <a:cubicBezTo>
                  <a:pt x="386679" y="589177"/>
                  <a:pt x="380245" y="584042"/>
                  <a:pt x="380245" y="577174"/>
                </a:cubicBezTo>
                <a:lnTo>
                  <a:pt x="380245" y="489011"/>
                </a:lnTo>
                <a:cubicBezTo>
                  <a:pt x="380245" y="484433"/>
                  <a:pt x="383153" y="480288"/>
                  <a:pt x="387484" y="478865"/>
                </a:cubicBezTo>
                <a:cubicBezTo>
                  <a:pt x="454240" y="456778"/>
                  <a:pt x="499466" y="418295"/>
                  <a:pt x="523100" y="363541"/>
                </a:cubicBezTo>
                <a:cubicBezTo>
                  <a:pt x="535969" y="335824"/>
                  <a:pt x="541784" y="309035"/>
                  <a:pt x="540423" y="283112"/>
                </a:cubicBezTo>
                <a:cubicBezTo>
                  <a:pt x="540238" y="279276"/>
                  <a:pt x="537082" y="276306"/>
                  <a:pt x="533308" y="276306"/>
                </a:cubicBezTo>
                <a:lnTo>
                  <a:pt x="393361" y="276306"/>
                </a:lnTo>
                <a:cubicBezTo>
                  <a:pt x="383215" y="276306"/>
                  <a:pt x="374986" y="268078"/>
                  <a:pt x="374986" y="257931"/>
                </a:cubicBezTo>
                <a:lnTo>
                  <a:pt x="374986" y="18251"/>
                </a:lnTo>
                <a:cubicBezTo>
                  <a:pt x="374986" y="8167"/>
                  <a:pt x="383153" y="0"/>
                  <a:pt x="393237" y="0"/>
                </a:cubicBezTo>
                <a:close/>
                <a:moveTo>
                  <a:pt x="58466" y="0"/>
                </a:moveTo>
                <a:lnTo>
                  <a:pt x="281070" y="0"/>
                </a:lnTo>
                <a:cubicBezTo>
                  <a:pt x="291216" y="0"/>
                  <a:pt x="299445" y="8229"/>
                  <a:pt x="299445" y="18375"/>
                </a:cubicBezTo>
                <a:lnTo>
                  <a:pt x="299445" y="221738"/>
                </a:lnTo>
                <a:cubicBezTo>
                  <a:pt x="299445" y="328152"/>
                  <a:pt x="273708" y="411490"/>
                  <a:pt x="222233" y="471750"/>
                </a:cubicBezTo>
                <a:cubicBezTo>
                  <a:pt x="173171" y="529102"/>
                  <a:pt x="105239" y="567770"/>
                  <a:pt x="18375" y="587630"/>
                </a:cubicBezTo>
                <a:cubicBezTo>
                  <a:pt x="11631" y="589177"/>
                  <a:pt x="5259" y="584042"/>
                  <a:pt x="5259" y="577174"/>
                </a:cubicBezTo>
                <a:lnTo>
                  <a:pt x="5259" y="489011"/>
                </a:lnTo>
                <a:cubicBezTo>
                  <a:pt x="5259" y="484433"/>
                  <a:pt x="8167" y="480288"/>
                  <a:pt x="12497" y="478865"/>
                </a:cubicBezTo>
                <a:cubicBezTo>
                  <a:pt x="79254" y="456778"/>
                  <a:pt x="124480" y="418295"/>
                  <a:pt x="148114" y="363541"/>
                </a:cubicBezTo>
                <a:cubicBezTo>
                  <a:pt x="160983" y="335824"/>
                  <a:pt x="166798" y="309035"/>
                  <a:pt x="165437" y="283112"/>
                </a:cubicBezTo>
                <a:cubicBezTo>
                  <a:pt x="165252" y="279276"/>
                  <a:pt x="162096" y="276306"/>
                  <a:pt x="158322" y="276306"/>
                </a:cubicBezTo>
                <a:lnTo>
                  <a:pt x="18375" y="276306"/>
                </a:lnTo>
                <a:cubicBezTo>
                  <a:pt x="8229" y="276306"/>
                  <a:pt x="0" y="268078"/>
                  <a:pt x="0" y="257931"/>
                </a:cubicBezTo>
                <a:lnTo>
                  <a:pt x="0" y="58466"/>
                </a:lnTo>
                <a:cubicBezTo>
                  <a:pt x="0" y="26171"/>
                  <a:pt x="26171" y="0"/>
                  <a:pt x="58466" y="0"/>
                </a:cubicBezTo>
                <a:close/>
              </a:path>
            </a:pathLst>
          </a:custGeom>
          <a:solidFill>
            <a:schemeClr val="tx1"/>
          </a:solidFill>
          <a:ln w="611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B8F6EDE-3287-C98A-2287-E97E9546E9E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45931" y="4963877"/>
            <a:ext cx="270648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8505745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6359434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5C022-5A4E-84F5-B51B-1431B6A0AE21}"/>
              </a:ext>
            </a:extLst>
          </p:cNvPr>
          <p:cNvSpPr/>
          <p:nvPr userDrawn="1"/>
        </p:nvSpPr>
        <p:spPr bwMode="auto">
          <a:xfrm>
            <a:off x="7228114" y="292101"/>
            <a:ext cx="4659086" cy="6272213"/>
          </a:xfrm>
          <a:prstGeom prst="rect">
            <a:avLst/>
          </a:prstGeom>
          <a:gradFill>
            <a:gsLst>
              <a:gs pos="0">
                <a:srgbClr val="FFB3BB"/>
              </a:gs>
              <a:gs pos="100000">
                <a:srgbClr val="FFB900"/>
              </a:gs>
            </a:gsLst>
            <a:lin ang="81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293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76380" y="1866864"/>
            <a:ext cx="5544120" cy="3124272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731520" rIns="73152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  <p:sp>
        <p:nvSpPr>
          <p:cNvPr id="17" name="Content Placeholder 4">
            <a:extLst>
              <a:ext uri="{FF2B5EF4-FFF2-40B4-BE49-F238E27FC236}">
                <a16:creationId xmlns:a16="http://schemas.microsoft.com/office/drawing/2014/main" id="{1020F17E-67BE-FC02-AF7B-709A3923C23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435100"/>
            <a:ext cx="5211763" cy="1612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3755098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565C022-5A4E-84F5-B51B-1431B6A0AE21}"/>
              </a:ext>
            </a:extLst>
          </p:cNvPr>
          <p:cNvSpPr/>
          <p:nvPr userDrawn="1"/>
        </p:nvSpPr>
        <p:spPr bwMode="auto">
          <a:xfrm>
            <a:off x="304800" y="292101"/>
            <a:ext cx="11582400" cy="6272213"/>
          </a:xfrm>
          <a:prstGeom prst="rect">
            <a:avLst/>
          </a:prstGeom>
          <a:gradFill>
            <a:gsLst>
              <a:gs pos="64000">
                <a:srgbClr val="0D82CB"/>
              </a:gs>
              <a:gs pos="0">
                <a:srgbClr val="7FDE7B"/>
              </a:gs>
            </a:gsLst>
            <a:lin ang="8100000" scaled="1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293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E7235-22DD-1125-FF85-028A2E641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96802"/>
            <a:ext cx="3590037" cy="1108121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5068233-F46E-B659-0799-22A45E3DA22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4461762" y="1490647"/>
            <a:ext cx="6879337" cy="3876706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effectLst>
            <a:outerShdw blurRad="241300" dist="304800" dir="2700000" sx="101000" sy="101000" algn="ctr" rotWithShape="0">
              <a:srgbClr val="000000">
                <a:alpha val="17000"/>
              </a:srgbClr>
            </a:outerShdw>
          </a:effectLst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616554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lide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1"/>
            <a:ext cx="4910837" cy="110799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0"/>
            <a:ext cx="4910838" cy="204363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Picture Placeholder 15">
            <a:extLst>
              <a:ext uri="{FF2B5EF4-FFF2-40B4-BE49-F238E27FC236}">
                <a16:creationId xmlns:a16="http://schemas.microsoft.com/office/drawing/2014/main" id="{90C592A4-DBC6-A7A9-63D9-5020A47499F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455457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B0FE6-6EE4-72F6-EE0C-E481F72F7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1"/>
            <a:ext cx="4910837" cy="110799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BEC160D-0F95-E237-7287-43174DA4A3F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1" y="1816101"/>
            <a:ext cx="4910838" cy="204366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5">
            <a:extLst>
              <a:ext uri="{FF2B5EF4-FFF2-40B4-BE49-F238E27FC236}">
                <a16:creationId xmlns:a16="http://schemas.microsoft.com/office/drawing/2014/main" id="{830D09FD-2495-FD73-64EA-14E484039EF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blipFill>
            <a:blip r:embed="rId2"/>
            <a:stretch>
              <a:fillRect/>
            </a:stretch>
          </a:blipFill>
          <a:effectLst/>
        </p:spPr>
        <p:txBody>
          <a:bodyPr lIns="1097280" rIns="1097280" bIns="1097280" anchor="ctr" anchorCtr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Drag &amp; drop your photo here or click or tap icon 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2183374649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798287"/>
            <a:ext cx="4663440" cy="738664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8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4847465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200" y="510614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4B828D67-4891-FD7F-4AA2-E9E4A65251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9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892611"/>
      </p:ext>
    </p:extLst>
  </p:cSld>
  <p:clrMapOvr>
    <a:masterClrMapping/>
  </p:clrMapOvr>
  <p:transition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655B182-C5FF-81E8-8156-470DF32495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200" y="2798287"/>
            <a:ext cx="4663440" cy="738664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800" spc="-50" baseline="0">
                <a:solidFill>
                  <a:schemeClr val="tx2"/>
                </a:soli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C71D650-3B87-D82E-F786-ADD5DDCE4C7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4847465"/>
            <a:ext cx="3898901" cy="246221"/>
          </a:xfrm>
          <a:noFill/>
        </p:spPr>
        <p:txBody>
          <a:bodyPr wrap="square" lIns="0" tIns="0" rIns="0" bIns="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5A3663-712F-A49D-172F-24B8615113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200" y="5106140"/>
            <a:ext cx="3898901" cy="184666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2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pic>
        <p:nvPicPr>
          <p:cNvPr id="8" name="MS logo gray - EMF" descr="Microsoft logo, gray text version">
            <a:extLst>
              <a:ext uri="{FF2B5EF4-FFF2-40B4-BE49-F238E27FC236}">
                <a16:creationId xmlns:a16="http://schemas.microsoft.com/office/drawing/2014/main" id="{4B828D67-4891-FD7F-4AA2-E9E4A652519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9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972581"/>
      </p:ext>
    </p:extLst>
  </p:cSld>
  <p:clrMapOvr>
    <a:masterClrMapping/>
  </p:clrMapOvr>
  <p:transition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559993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95">
          <p15:clr>
            <a:srgbClr val="A4A3A4"/>
          </p15:clr>
        </p15:guide>
        <p15:guide id="7" pos="981">
          <p15:clr>
            <a:srgbClr val="A4A3A4"/>
          </p15:clr>
        </p15:guide>
        <p15:guide id="8" pos="1401">
          <p15:clr>
            <a:srgbClr val="A4A3A4"/>
          </p15:clr>
        </p15:guide>
        <p15:guide id="9" pos="1587">
          <p15:clr>
            <a:srgbClr val="A4A3A4"/>
          </p15:clr>
        </p15:guide>
        <p15:guide id="10" pos="2006">
          <p15:clr>
            <a:srgbClr val="A4A3A4"/>
          </p15:clr>
        </p15:guide>
        <p15:guide id="11" pos="2193">
          <p15:clr>
            <a:srgbClr val="A4A3A4"/>
          </p15:clr>
        </p15:guide>
        <p15:guide id="12" pos="2612">
          <p15:clr>
            <a:srgbClr val="A4A3A4"/>
          </p15:clr>
        </p15:guide>
        <p15:guide id="13" pos="2799">
          <p15:clr>
            <a:srgbClr val="A4A3A4"/>
          </p15:clr>
        </p15:guide>
        <p15:guide id="14" pos="3224">
          <p15:clr>
            <a:srgbClr val="A4A3A4"/>
          </p15:clr>
        </p15:guide>
        <p15:guide id="15" pos="3415">
          <p15:clr>
            <a:srgbClr val="A4A3A4"/>
          </p15:clr>
        </p15:guide>
        <p15:guide id="16" pos="3829">
          <p15:clr>
            <a:srgbClr val="A4A3A4"/>
          </p15:clr>
        </p15:guide>
        <p15:guide id="17" pos="4010">
          <p15:clr>
            <a:srgbClr val="A4A3A4"/>
          </p15:clr>
        </p15:guide>
        <p15:guide id="18" pos="4429">
          <p15:clr>
            <a:srgbClr val="A4A3A4"/>
          </p15:clr>
        </p15:guide>
        <p15:guide id="19" pos="4622">
          <p15:clr>
            <a:srgbClr val="A4A3A4"/>
          </p15:clr>
        </p15:guide>
        <p15:guide id="20" pos="5036">
          <p15:clr>
            <a:srgbClr val="A4A3A4"/>
          </p15:clr>
        </p15:guide>
        <p15:guide id="21" pos="5223">
          <p15:clr>
            <a:srgbClr val="A4A3A4"/>
          </p15:clr>
        </p15:guide>
        <p15:guide id="22" pos="5640">
          <p15:clr>
            <a:srgbClr val="A4A3A4"/>
          </p15:clr>
        </p15:guide>
        <p15:guide id="23" pos="5829">
          <p15:clr>
            <a:srgbClr val="A4A3A4"/>
          </p15:clr>
        </p15:guide>
        <p15:guide id="24" pos="6246">
          <p15:clr>
            <a:srgbClr val="A4A3A4"/>
          </p15:clr>
        </p15:guide>
        <p15:guide id="25" pos="6434">
          <p15:clr>
            <a:srgbClr val="A4A3A4"/>
          </p15:clr>
        </p15:guide>
        <p15:guide id="26" pos="6852">
          <p15:clr>
            <a:srgbClr val="A4A3A4"/>
          </p15:clr>
        </p15:guide>
        <p15:guide id="27" pos="7038">
          <p15:clr>
            <a:srgbClr val="A4A3A4"/>
          </p15:clr>
        </p15:guide>
        <p15:guide id="28" orient="horz" pos="923">
          <p15:clr>
            <a:srgbClr val="5ACBF0"/>
          </p15:clr>
        </p15:guide>
        <p15:guide id="29" orient="horz" pos="1296">
          <p15:clr>
            <a:srgbClr val="5ACBF0"/>
          </p15:clr>
        </p15:guide>
        <p15:guide id="30" orient="horz" pos="294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91887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95">
          <p15:clr>
            <a:srgbClr val="A4A3A4"/>
          </p15:clr>
        </p15:guide>
        <p15:guide id="7" pos="981">
          <p15:clr>
            <a:srgbClr val="A4A3A4"/>
          </p15:clr>
        </p15:guide>
        <p15:guide id="8" pos="1401">
          <p15:clr>
            <a:srgbClr val="A4A3A4"/>
          </p15:clr>
        </p15:guide>
        <p15:guide id="9" pos="1587">
          <p15:clr>
            <a:srgbClr val="A4A3A4"/>
          </p15:clr>
        </p15:guide>
        <p15:guide id="10" pos="2006">
          <p15:clr>
            <a:srgbClr val="A4A3A4"/>
          </p15:clr>
        </p15:guide>
        <p15:guide id="11" pos="2193">
          <p15:clr>
            <a:srgbClr val="A4A3A4"/>
          </p15:clr>
        </p15:guide>
        <p15:guide id="12" pos="2612">
          <p15:clr>
            <a:srgbClr val="A4A3A4"/>
          </p15:clr>
        </p15:guide>
        <p15:guide id="13" pos="2799">
          <p15:clr>
            <a:srgbClr val="A4A3A4"/>
          </p15:clr>
        </p15:guide>
        <p15:guide id="14" pos="3218">
          <p15:clr>
            <a:srgbClr val="A4A3A4"/>
          </p15:clr>
        </p15:guide>
        <p15:guide id="15" pos="3405">
          <p15:clr>
            <a:srgbClr val="A4A3A4"/>
          </p15:clr>
        </p15:guide>
        <p15:guide id="16" pos="3824">
          <p15:clr>
            <a:srgbClr val="A4A3A4"/>
          </p15:clr>
        </p15:guide>
        <p15:guide id="17" pos="4011">
          <p15:clr>
            <a:srgbClr val="A4A3A4"/>
          </p15:clr>
        </p15:guide>
        <p15:guide id="18" pos="4430">
          <p15:clr>
            <a:srgbClr val="A4A3A4"/>
          </p15:clr>
        </p15:guide>
        <p15:guide id="19" pos="4617">
          <p15:clr>
            <a:srgbClr val="A4A3A4"/>
          </p15:clr>
        </p15:guide>
        <p15:guide id="20" pos="5036">
          <p15:clr>
            <a:srgbClr val="A4A3A4"/>
          </p15:clr>
        </p15:guide>
        <p15:guide id="21" pos="5223">
          <p15:clr>
            <a:srgbClr val="A4A3A4"/>
          </p15:clr>
        </p15:guide>
        <p15:guide id="22" pos="5640">
          <p15:clr>
            <a:srgbClr val="A4A3A4"/>
          </p15:clr>
        </p15:guide>
        <p15:guide id="23" pos="5829">
          <p15:clr>
            <a:srgbClr val="A4A3A4"/>
          </p15:clr>
        </p15:guide>
        <p15:guide id="24" pos="6246">
          <p15:clr>
            <a:srgbClr val="A4A3A4"/>
          </p15:clr>
        </p15:guide>
        <p15:guide id="25" pos="6434">
          <p15:clr>
            <a:srgbClr val="A4A3A4"/>
          </p15:clr>
        </p15:guide>
        <p15:guide id="26" pos="6852">
          <p15:clr>
            <a:srgbClr val="A4A3A4"/>
          </p15:clr>
        </p15:guide>
        <p15:guide id="27" pos="7038">
          <p15:clr>
            <a:srgbClr val="A4A3A4"/>
          </p15:clr>
        </p15:guide>
        <p15:guide id="28" orient="horz" pos="923">
          <p15:clr>
            <a:srgbClr val="5ACBF0"/>
          </p15:clr>
        </p15:guide>
        <p15:guide id="29" orient="horz" pos="1296">
          <p15:clr>
            <a:srgbClr val="5ACBF0"/>
          </p15:clr>
        </p15:guide>
        <p15:guide id="30" orient="horz" pos="294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111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1" y="585789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22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+mj-lt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2" y="6269039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4292260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22">
          <p15:clr>
            <a:srgbClr val="5ACBF0"/>
          </p15:clr>
        </p15:guide>
        <p15:guide id="2" orient="horz" pos="294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tats - 4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813099B2-2129-039A-2767-165420C125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3681" y="2293816"/>
            <a:ext cx="3502562" cy="2154436"/>
          </a:xfrm>
          <a:noFill/>
        </p:spPr>
        <p:txBody>
          <a:bodyPr wrap="non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3998" spc="0" baseline="0">
                <a:gradFill>
                  <a:gsLst>
                    <a:gs pos="0">
                      <a:srgbClr val="50E6FF"/>
                    </a:gs>
                    <a:gs pos="100000">
                      <a:srgbClr val="0078D4"/>
                    </a:gs>
                  </a:gsLst>
                  <a:lin ang="2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25%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ED395-3598-DBA8-1B82-A33D6388C6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28503" y="3213557"/>
            <a:ext cx="6632575" cy="430887"/>
          </a:xfrm>
        </p:spPr>
        <p:txBody>
          <a:bodyPr anchor="ctr"/>
          <a:lstStyle>
            <a:lvl1pPr>
              <a:defRPr kumimoji="0" lang="en-US" sz="2800" b="0" i="0" u="none" strike="noStrike" kern="1200" cap="none" spc="-50" normalizeH="0" baseline="0" dirty="0" smtClean="0">
                <a:ln w="3175">
                  <a:noFill/>
                </a:ln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effectLst/>
                <a:uLnTx/>
                <a:uFillTx/>
                <a:latin typeface="Segoe UI Semibold"/>
                <a:ea typeface="+mj-lt"/>
                <a:cs typeface="Segoe UI Semibold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8B2DAB2-E406-C226-C7A1-F55EFB60C6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4200" y="6138442"/>
            <a:ext cx="9144000" cy="1692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1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Source:  Footnote</a:t>
            </a:r>
          </a:p>
        </p:txBody>
      </p:sp>
    </p:spTree>
    <p:extLst>
      <p:ext uri="{BB962C8B-B14F-4D97-AF65-F5344CB8AC3E}">
        <p14:creationId xmlns:p14="http://schemas.microsoft.com/office/powerpoint/2010/main" val="146098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72">
          <p15:clr>
            <a:srgbClr val="5ACBF0"/>
          </p15:clr>
        </p15:guide>
        <p15:guide id="2" orient="horz" pos="2546">
          <p15:clr>
            <a:srgbClr val="5ACBF0"/>
          </p15:clr>
        </p15:guide>
        <p15:guide id="3" pos="6255">
          <p15:clr>
            <a:srgbClr val="5ACBF0"/>
          </p15:clr>
        </p15:guide>
        <p15:guide id="4" orient="horz" pos="2203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00CF-885B-9565-5388-800067ED5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5893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95">
          <p15:clr>
            <a:srgbClr val="A4A3A4"/>
          </p15:clr>
        </p15:guide>
        <p15:guide id="7" pos="981">
          <p15:clr>
            <a:srgbClr val="A4A3A4"/>
          </p15:clr>
        </p15:guide>
        <p15:guide id="8" pos="1401">
          <p15:clr>
            <a:srgbClr val="A4A3A4"/>
          </p15:clr>
        </p15:guide>
        <p15:guide id="9" pos="1587">
          <p15:clr>
            <a:srgbClr val="A4A3A4"/>
          </p15:clr>
        </p15:guide>
        <p15:guide id="10" pos="2006">
          <p15:clr>
            <a:srgbClr val="A4A3A4"/>
          </p15:clr>
        </p15:guide>
        <p15:guide id="11" pos="2193">
          <p15:clr>
            <a:srgbClr val="A4A3A4"/>
          </p15:clr>
        </p15:guide>
        <p15:guide id="12" pos="2612">
          <p15:clr>
            <a:srgbClr val="A4A3A4"/>
          </p15:clr>
        </p15:guide>
        <p15:guide id="13" pos="2799">
          <p15:clr>
            <a:srgbClr val="A4A3A4"/>
          </p15:clr>
        </p15:guide>
        <p15:guide id="14" pos="3218">
          <p15:clr>
            <a:srgbClr val="A4A3A4"/>
          </p15:clr>
        </p15:guide>
        <p15:guide id="15" pos="3405">
          <p15:clr>
            <a:srgbClr val="A4A3A4"/>
          </p15:clr>
        </p15:guide>
        <p15:guide id="16" pos="3824">
          <p15:clr>
            <a:srgbClr val="A4A3A4"/>
          </p15:clr>
        </p15:guide>
        <p15:guide id="17" pos="4011">
          <p15:clr>
            <a:srgbClr val="A4A3A4"/>
          </p15:clr>
        </p15:guide>
        <p15:guide id="18" pos="4430">
          <p15:clr>
            <a:srgbClr val="A4A3A4"/>
          </p15:clr>
        </p15:guide>
        <p15:guide id="19" pos="4617">
          <p15:clr>
            <a:srgbClr val="A4A3A4"/>
          </p15:clr>
        </p15:guide>
        <p15:guide id="20" pos="5036">
          <p15:clr>
            <a:srgbClr val="A4A3A4"/>
          </p15:clr>
        </p15:guide>
        <p15:guide id="21" pos="5223">
          <p15:clr>
            <a:srgbClr val="A4A3A4"/>
          </p15:clr>
        </p15:guide>
        <p15:guide id="22" pos="5640">
          <p15:clr>
            <a:srgbClr val="A4A3A4"/>
          </p15:clr>
        </p15:guide>
        <p15:guide id="23" pos="5829">
          <p15:clr>
            <a:srgbClr val="A4A3A4"/>
          </p15:clr>
        </p15:guide>
        <p15:guide id="24" pos="6246">
          <p15:clr>
            <a:srgbClr val="A4A3A4"/>
          </p15:clr>
        </p15:guide>
        <p15:guide id="25" pos="6434">
          <p15:clr>
            <a:srgbClr val="A4A3A4"/>
          </p15:clr>
        </p15:guide>
        <p15:guide id="26" pos="6852">
          <p15:clr>
            <a:srgbClr val="A4A3A4"/>
          </p15:clr>
        </p15:guide>
        <p15:guide id="27" pos="7038">
          <p15:clr>
            <a:srgbClr val="A4A3A4"/>
          </p15:clr>
        </p15:guide>
        <p15:guide id="28" orient="horz" pos="923">
          <p15:clr>
            <a:srgbClr val="5ACBF0"/>
          </p15:clr>
        </p15:guide>
        <p15:guide id="29" orient="horz" pos="1296">
          <p15:clr>
            <a:srgbClr val="5ACBF0"/>
          </p15:clr>
        </p15:guide>
        <p15:guide id="30" orient="horz" pos="29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722DA1-E48A-0989-FE5F-F9DCC94C7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767100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5">
          <p15:clr>
            <a:srgbClr val="A4A3A4"/>
          </p15:clr>
        </p15:guide>
        <p15:guide id="16" pos="3917">
          <p15:clr>
            <a:srgbClr val="A4A3A4"/>
          </p15:clr>
        </p15:guide>
        <p15:guide id="28" orient="horz" pos="923">
          <p15:clr>
            <a:srgbClr val="5ACBF0"/>
          </p15:clr>
        </p15:guide>
        <p15:guide id="29" orient="horz" pos="1296">
          <p15:clr>
            <a:srgbClr val="5ACBF0"/>
          </p15:clr>
        </p15:guide>
        <p15:guide id="30" orient="horz" pos="294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4DAAA5-8D22-4214-BB05-9157E52D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017715"/>
            <a:ext cx="5602035" cy="492512"/>
          </a:xfrm>
        </p:spPr>
        <p:txBody>
          <a:bodyPr/>
          <a:lstStyle>
            <a:lvl1pPr algn="l">
              <a:defRPr lang="en-US" sz="3200" b="1" kern="1200" cap="none" spc="-50" baseline="0">
                <a:ln w="3175">
                  <a:noFill/>
                </a:ln>
                <a:gradFill>
                  <a:gsLst>
                    <a:gs pos="0">
                      <a:srgbClr val="50E6FF"/>
                    </a:gs>
                    <a:gs pos="100000">
                      <a:srgbClr val="0078D4"/>
                    </a:gs>
                  </a:gsLst>
                  <a:lin ang="2700000" scaled="1"/>
                </a:gradFill>
                <a:effectLst/>
                <a:latin typeface="Segoe UI Semibold" panose="020B0502040204020203" pitchFamily="34" charset="0"/>
                <a:ea typeface="+mn-ea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16">
            <a:extLst>
              <a:ext uri="{FF2B5EF4-FFF2-40B4-BE49-F238E27FC236}">
                <a16:creationId xmlns:a16="http://schemas.microsoft.com/office/drawing/2014/main" id="{AFB395A3-F329-7F43-8109-3016CAA1A1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4200" y="2756659"/>
            <a:ext cx="5657850" cy="1428083"/>
          </a:xfrm>
        </p:spPr>
        <p:txBody>
          <a:bodyPr/>
          <a:lstStyle>
            <a:lvl1pPr algn="l">
              <a:spcBef>
                <a:spcPts val="0"/>
              </a:spcBef>
              <a:spcAft>
                <a:spcPts val="1200"/>
              </a:spcAft>
              <a:defRPr lang="en-US" sz="2400" b="0" i="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defRPr sz="1800" b="1">
                <a:solidFill>
                  <a:schemeClr val="tx1"/>
                </a:solidFill>
              </a:defRPr>
            </a:lvl2pPr>
            <a:lvl3pPr marL="0" indent="0" algn="l">
              <a:defRPr sz="14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accent2"/>
                </a:solidFill>
              </a:defRPr>
            </a:lvl4pPr>
            <a:lvl5pPr>
              <a:defRPr sz="1050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</a:t>
            </a:r>
          </a:p>
          <a:p>
            <a:pPr lvl="1"/>
            <a:r>
              <a:rPr lang="en-US"/>
              <a:t>Second</a:t>
            </a:r>
          </a:p>
          <a:p>
            <a:pPr lvl="2"/>
            <a:r>
              <a:rPr lang="en-US"/>
              <a:t>Third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20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95">
          <p15:clr>
            <a:srgbClr val="A4A3A4"/>
          </p15:clr>
        </p15:guide>
        <p15:guide id="7" pos="981">
          <p15:clr>
            <a:srgbClr val="A4A3A4"/>
          </p15:clr>
        </p15:guide>
        <p15:guide id="8" pos="1401">
          <p15:clr>
            <a:srgbClr val="A4A3A4"/>
          </p15:clr>
        </p15:guide>
        <p15:guide id="9" pos="1587">
          <p15:clr>
            <a:srgbClr val="A4A3A4"/>
          </p15:clr>
        </p15:guide>
        <p15:guide id="10" pos="2006">
          <p15:clr>
            <a:srgbClr val="A4A3A4"/>
          </p15:clr>
        </p15:guide>
        <p15:guide id="11" pos="2193">
          <p15:clr>
            <a:srgbClr val="A4A3A4"/>
          </p15:clr>
        </p15:guide>
        <p15:guide id="12" pos="2612">
          <p15:clr>
            <a:srgbClr val="A4A3A4"/>
          </p15:clr>
        </p15:guide>
        <p15:guide id="13" pos="2799">
          <p15:clr>
            <a:srgbClr val="A4A3A4"/>
          </p15:clr>
        </p15:guide>
        <p15:guide id="14" pos="3218">
          <p15:clr>
            <a:srgbClr val="A4A3A4"/>
          </p15:clr>
        </p15:guide>
        <p15:guide id="15" pos="3405">
          <p15:clr>
            <a:srgbClr val="A4A3A4"/>
          </p15:clr>
        </p15:guide>
        <p15:guide id="16" pos="3824">
          <p15:clr>
            <a:srgbClr val="A4A3A4"/>
          </p15:clr>
        </p15:guide>
        <p15:guide id="17" pos="4011">
          <p15:clr>
            <a:srgbClr val="A4A3A4"/>
          </p15:clr>
        </p15:guide>
        <p15:guide id="18" pos="4430">
          <p15:clr>
            <a:srgbClr val="A4A3A4"/>
          </p15:clr>
        </p15:guide>
        <p15:guide id="19" pos="4617">
          <p15:clr>
            <a:srgbClr val="A4A3A4"/>
          </p15:clr>
        </p15:guide>
        <p15:guide id="20" pos="5036">
          <p15:clr>
            <a:srgbClr val="A4A3A4"/>
          </p15:clr>
        </p15:guide>
        <p15:guide id="21" pos="5223">
          <p15:clr>
            <a:srgbClr val="A4A3A4"/>
          </p15:clr>
        </p15:guide>
        <p15:guide id="22" pos="5640">
          <p15:clr>
            <a:srgbClr val="A4A3A4"/>
          </p15:clr>
        </p15:guide>
        <p15:guide id="23" pos="5829">
          <p15:clr>
            <a:srgbClr val="A4A3A4"/>
          </p15:clr>
        </p15:guide>
        <p15:guide id="24" pos="6246">
          <p15:clr>
            <a:srgbClr val="A4A3A4"/>
          </p15:clr>
        </p15:guide>
        <p15:guide id="25" pos="6434">
          <p15:clr>
            <a:srgbClr val="A4A3A4"/>
          </p15:clr>
        </p15:guide>
        <p15:guide id="26" pos="6852">
          <p15:clr>
            <a:srgbClr val="A4A3A4"/>
          </p15:clr>
        </p15:guide>
        <p15:guide id="27" pos="7038">
          <p15:clr>
            <a:srgbClr val="A4A3A4"/>
          </p15:clr>
        </p15:guide>
        <p15:guide id="28" orient="horz" pos="923">
          <p15:clr>
            <a:srgbClr val="5ACBF0"/>
          </p15:clr>
        </p15:guide>
        <p15:guide id="29" orient="horz" pos="1296">
          <p15:clr>
            <a:srgbClr val="5ACBF0"/>
          </p15:clr>
        </p15:guide>
        <p15:guide id="30" orient="horz" pos="294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8045B-5C47-5015-23F5-82A914FB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D9DFD-AB71-02CE-2247-852E09FCA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BDC81-1D32-6196-2624-686B1C30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DD88-0D0F-4F10-9DC3-BF41F95EB71E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CCDB5-2571-83C7-73B7-B7EB95CD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B5FC9-EA90-8DF1-E7A2-C31EC76F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A22AE-83EE-4CD8-AF19-36CD5CA4BA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2268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663946"/>
            <a:ext cx="9144000" cy="1846018"/>
          </a:xfrm>
        </p:spPr>
        <p:txBody>
          <a:bodyPr anchor="b"/>
          <a:lstStyle>
            <a:lvl1pPr algn="ctr">
              <a:defRPr sz="59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03" indent="0" algn="ctr">
              <a:buNone/>
              <a:defRPr sz="2000"/>
            </a:lvl2pPr>
            <a:lvl3pPr marL="914206" indent="0" algn="ctr">
              <a:buNone/>
              <a:defRPr sz="1800"/>
            </a:lvl3pPr>
            <a:lvl4pPr marL="1371309" indent="0" algn="ctr">
              <a:buNone/>
              <a:defRPr sz="1600"/>
            </a:lvl4pPr>
            <a:lvl5pPr marL="1828413" indent="0" algn="ctr">
              <a:buNone/>
              <a:defRPr sz="1600"/>
            </a:lvl5pPr>
            <a:lvl6pPr marL="2285517" indent="0" algn="ctr">
              <a:buNone/>
              <a:defRPr sz="1600"/>
            </a:lvl6pPr>
            <a:lvl7pPr marL="2742620" indent="0" algn="ctr">
              <a:buNone/>
              <a:defRPr sz="1600"/>
            </a:lvl7pPr>
            <a:lvl8pPr marL="3199723" indent="0" algn="ctr">
              <a:buNone/>
              <a:defRPr sz="1600"/>
            </a:lvl8pPr>
            <a:lvl9pPr marL="365682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44108-634C-6046-BB7B-2B7E19E87B00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43407-3C10-0649-87F4-A5BBD7888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3328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3">
            <a:extLst>
              <a:ext uri="{FF2B5EF4-FFF2-40B4-BE49-F238E27FC236}">
                <a16:creationId xmlns:a16="http://schemas.microsoft.com/office/drawing/2014/main" id="{7B156CB0-EA4D-DA4E-A335-5F757C36C5A4}"/>
              </a:ext>
            </a:extLst>
          </p:cNvPr>
          <p:cNvSpPr txBox="1">
            <a:spLocks/>
          </p:cNvSpPr>
          <p:nvPr userDrawn="1"/>
        </p:nvSpPr>
        <p:spPr>
          <a:xfrm>
            <a:off x="846668" y="6473529"/>
            <a:ext cx="2296584" cy="118629"/>
          </a:xfrm>
          <a:prstGeom prst="rect">
            <a:avLst/>
          </a:prstGeom>
        </p:spPr>
        <p:txBody>
          <a:bodyPr vert="horz" wrap="square" lIns="0" tIns="15871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rgbClr val="3C3C41"/>
                </a:solidFill>
                <a:latin typeface="Segoe Pro"/>
                <a:ea typeface="+mn-ea"/>
                <a:cs typeface="Segoe Pr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581">
              <a:spcBef>
                <a:spcPts val="125"/>
              </a:spcBef>
            </a:pPr>
            <a:r>
              <a:rPr lang="en-US" sz="667" b="0" i="0" kern="100">
                <a:solidFill>
                  <a:srgbClr val="000000"/>
                </a:solidFill>
                <a:latin typeface="Segoe UI Variable Small" pitchFamily="2" charset="0"/>
                <a:cs typeface="Segoe UI" panose="020B0502040204020203" pitchFamily="34" charset="0"/>
              </a:rPr>
              <a:t>Microsoft Azure Blog</a:t>
            </a:r>
          </a:p>
        </p:txBody>
      </p:sp>
      <p:sp>
        <p:nvSpPr>
          <p:cNvPr id="7" name="object 33">
            <a:extLst>
              <a:ext uri="{FF2B5EF4-FFF2-40B4-BE49-F238E27FC236}">
                <a16:creationId xmlns:a16="http://schemas.microsoft.com/office/drawing/2014/main" id="{2803D615-190B-1843-806A-3EDEAED77A61}"/>
              </a:ext>
            </a:extLst>
          </p:cNvPr>
          <p:cNvSpPr txBox="1">
            <a:spLocks/>
          </p:cNvSpPr>
          <p:nvPr userDrawn="1"/>
        </p:nvSpPr>
        <p:spPr>
          <a:xfrm>
            <a:off x="4296259" y="6473528"/>
            <a:ext cx="2296584" cy="118629"/>
          </a:xfrm>
          <a:prstGeom prst="rect">
            <a:avLst/>
          </a:prstGeom>
        </p:spPr>
        <p:txBody>
          <a:bodyPr vert="horz" wrap="square" lIns="0" tIns="15871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rgbClr val="3C3C41"/>
                </a:solidFill>
                <a:latin typeface="Segoe Pro"/>
                <a:ea typeface="+mn-ea"/>
                <a:cs typeface="Segoe Pro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581">
              <a:spcBef>
                <a:spcPts val="125"/>
              </a:spcBef>
            </a:pPr>
            <a:r>
              <a:rPr lang="en-US" sz="667" b="0" i="0" kern="100">
                <a:solidFill>
                  <a:schemeClr val="tx1"/>
                </a:solidFill>
                <a:latin typeface="Segoe UI Variable Small" pitchFamily="2" charset="0"/>
                <a:cs typeface="Segoe UI" panose="020B0502040204020203" pitchFamily="34" charset="0"/>
              </a:rPr>
              <a:t>Microsoft </a:t>
            </a:r>
            <a:r>
              <a:rPr lang="en-US" sz="667" b="0" i="0" u="none" strike="noStrike" kern="1200">
                <a:solidFill>
                  <a:schemeClr val="tx1"/>
                </a:solidFill>
                <a:effectLst/>
                <a:latin typeface="Segoe UI Variable Small" pitchFamily="2" charset="0"/>
                <a:ea typeface="+mn-ea"/>
                <a:cs typeface="Segoe UI" panose="020B0502040204020203" pitchFamily="34" charset="0"/>
              </a:rPr>
              <a:t>confidential</a:t>
            </a:r>
            <a:endParaRPr lang="en-US" sz="667" b="0" i="0" kern="100">
              <a:solidFill>
                <a:schemeClr val="tx1"/>
              </a:solidFill>
              <a:latin typeface="Segoe UI Variable Small" pitchFamily="2" charset="0"/>
              <a:cs typeface="Segoe UI" panose="020B0502040204020203" pitchFamily="34" charset="0"/>
            </a:endParaRPr>
          </a:p>
        </p:txBody>
      </p:sp>
      <p:sp>
        <p:nvSpPr>
          <p:cNvPr id="6" name="page number">
            <a:extLst>
              <a:ext uri="{FF2B5EF4-FFF2-40B4-BE49-F238E27FC236}">
                <a16:creationId xmlns:a16="http://schemas.microsoft.com/office/drawing/2014/main" id="{4D2471B6-CB29-4A49-A06D-CEBA4B42C02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482097" y="6493111"/>
            <a:ext cx="137582" cy="102592"/>
          </a:xfrm>
          <a:prstGeom prst="rect">
            <a:avLst/>
          </a:prstGeom>
        </p:spPr>
        <p:txBody>
          <a:bodyPr lIns="0" tIns="0" rIns="0" bIns="0"/>
          <a:lstStyle>
            <a:lvl1pPr>
              <a:defRPr sz="667" b="0" i="0">
                <a:solidFill>
                  <a:srgbClr val="3C3C41"/>
                </a:solidFill>
                <a:latin typeface="Segoe UI Variable Text" pitchFamily="2" charset="0"/>
                <a:cs typeface="Segoe UI Regular" charset="0"/>
              </a:defRPr>
            </a:lvl1pPr>
          </a:lstStyle>
          <a:p>
            <a:pPr marL="21162">
              <a:spcBef>
                <a:spcPts val="125"/>
              </a:spcBef>
            </a:pPr>
            <a:fld id="{81D60167-4931-47E6-BA6A-407CBD079E47}" type="slidenum">
              <a:rPr lang="uk-UA" smtClean="0"/>
              <a:pPr marL="21162">
                <a:spcBef>
                  <a:spcPts val="125"/>
                </a:spcBef>
              </a:pPr>
              <a:t>‹#›</a:t>
            </a:fld>
            <a:endParaRPr lang="uk-UA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D0C93E01-946E-B97A-E701-BDDCA7B84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393" y="485396"/>
            <a:ext cx="2667000" cy="3924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1333" b="0" i="0" baseline="0">
                <a:solidFill>
                  <a:srgbClr val="000000"/>
                </a:solidFill>
                <a:latin typeface="Segoe UI Variable Text Semibold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404173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60">
          <p15:clr>
            <a:srgbClr val="FBAE40"/>
          </p15:clr>
        </p15:guide>
        <p15:guide id="16" orient="horz" pos="360">
          <p15:clr>
            <a:srgbClr val="FBAE40"/>
          </p15:clr>
        </p15:guide>
        <p15:guide id="17" pos="4608">
          <p15:clr>
            <a:srgbClr val="FBAE40"/>
          </p15:clr>
        </p15:guide>
        <p15:guide id="18" pos="2520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644B162-36BD-4C9E-96EE-3EEFBE3AD8F1}"/>
              </a:ext>
            </a:extLst>
          </p:cNvPr>
          <p:cNvSpPr/>
          <p:nvPr userDrawn="1"/>
        </p:nvSpPr>
        <p:spPr bwMode="auto">
          <a:xfrm>
            <a:off x="6095999" y="604838"/>
            <a:ext cx="5773737" cy="5978525"/>
          </a:xfrm>
          <a:prstGeom prst="roundRect">
            <a:avLst>
              <a:gd name="adj" fmla="val 1345"/>
            </a:avLst>
          </a:prstGeom>
          <a:solidFill>
            <a:srgbClr val="26262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29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err="1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1F8BDA0-6722-4B45-AC43-F39680461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1" y="819150"/>
            <a:ext cx="8740524" cy="369332"/>
          </a:xfrm>
        </p:spPr>
        <p:txBody>
          <a:bodyPr anchor="ctr"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8A1B7F0-6D80-417F-828E-279BD5DEF1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7788" y="1871889"/>
            <a:ext cx="5336287" cy="1129540"/>
          </a:xfrm>
        </p:spPr>
        <p:txBody>
          <a:bodyPr wrap="square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 b="0">
                <a:latin typeface="+mj-lt"/>
                <a:cs typeface="Segoe UI" panose="020B0502040204020203" pitchFamily="34" charset="0"/>
              </a:defRPr>
            </a:lvl1pPr>
            <a:lvl2pPr marL="255539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/>
            </a:lvl2pPr>
            <a:lvl3pPr marL="450764" indent="0">
              <a:buFont typeface="Wingdings" panose="05000000000000000000" pitchFamily="2" charset="2"/>
              <a:buNone/>
              <a:tabLst/>
              <a:defRPr sz="1600" b="0"/>
            </a:lvl3pPr>
            <a:lvl4pPr marL="652337" indent="0">
              <a:buFont typeface="Wingdings" panose="05000000000000000000" pitchFamily="2" charset="2"/>
              <a:buNone/>
              <a:defRPr sz="1400" b="0"/>
            </a:lvl4pPr>
            <a:lvl5pPr marL="853911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Business Value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FD6168-5A8D-4594-A26D-98E88432C94F}"/>
              </a:ext>
            </a:extLst>
          </p:cNvPr>
          <p:cNvSpPr txBox="1"/>
          <p:nvPr userDrawn="1"/>
        </p:nvSpPr>
        <p:spPr>
          <a:xfrm>
            <a:off x="6662739" y="1352550"/>
            <a:ext cx="5111748" cy="46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Key user benefits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AF2E327-D386-4821-B6D2-8C12A55C5E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65924" y="3156165"/>
            <a:ext cx="4848225" cy="430901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CF5198F-91B0-4BEE-A74B-C38CC7C15F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65924" y="1878159"/>
            <a:ext cx="4845050" cy="627864"/>
          </a:xfrm>
        </p:spPr>
        <p:txBody>
          <a:bodyPr/>
          <a:lstStyle>
            <a:lvl1pPr marL="285695" indent="-285695">
              <a:lnSpc>
                <a:spcPct val="150000"/>
              </a:lnSpc>
              <a:buFont typeface="Arial" panose="020B0604020202020204" pitchFamily="34" charset="0"/>
              <a:buChar char="•"/>
              <a:defRPr sz="1200">
                <a:latin typeface="+mj-lt"/>
              </a:defRPr>
            </a:lvl1pPr>
          </a:lstStyle>
          <a:p>
            <a:pPr marL="228556" marR="0" lvl="0" indent="-228556" algn="l" defTabSz="9325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/>
            </a:pPr>
            <a:r>
              <a:rPr lang="en-US"/>
              <a:t>Click to edit key user benefits</a:t>
            </a:r>
          </a:p>
          <a:p>
            <a:pPr marL="228556" marR="0" lvl="0" indent="-228556" algn="l" defTabSz="9325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/>
            </a:pPr>
            <a:r>
              <a:rPr lang="en-US"/>
              <a:t>Click to edit key user benefits</a:t>
            </a:r>
          </a:p>
          <a:p>
            <a:pPr marL="228556" marR="0" lvl="0" indent="-228556" algn="l" defTabSz="93256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/>
            </a:pPr>
            <a:r>
              <a:rPr lang="en-US"/>
              <a:t>Click to edit key user benefits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6DE0899-B184-4EE0-92B1-D6CBEE6C22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7852" y="6343154"/>
            <a:ext cx="5336287" cy="184708"/>
          </a:xfrm>
        </p:spPr>
        <p:txBody>
          <a:bodyPr/>
          <a:lstStyle>
            <a:lvl1pPr marL="0" indent="0">
              <a:buNone/>
              <a:defRPr sz="1200">
                <a:latin typeface="+mj-lt"/>
              </a:defRPr>
            </a:lvl1pPr>
            <a:lvl2pPr marL="228556" indent="0">
              <a:buNone/>
              <a:defRPr/>
            </a:lvl2pPr>
          </a:lstStyle>
          <a:p>
            <a:pPr lvl="0"/>
            <a:r>
              <a:rPr lang="en-US"/>
              <a:t>Click to edit for more information and add hyperlink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CFA4E4-8C23-4D4E-9646-507AF8229040}"/>
              </a:ext>
            </a:extLst>
          </p:cNvPr>
          <p:cNvSpPr txBox="1"/>
          <p:nvPr userDrawn="1"/>
        </p:nvSpPr>
        <p:spPr>
          <a:xfrm>
            <a:off x="506414" y="1352550"/>
            <a:ext cx="5427660" cy="46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Business Value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D334FFF1-A3F5-4EAE-9012-ADCB865FE60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7788" y="3707469"/>
            <a:ext cx="5336287" cy="2417106"/>
          </a:xfrm>
        </p:spPr>
        <p:txBody>
          <a:bodyPr wrap="square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200" b="0">
                <a:latin typeface="+mj-lt"/>
                <a:cs typeface="Segoe UI" panose="020B0502040204020203" pitchFamily="34" charset="0"/>
              </a:defRPr>
            </a:lvl1pPr>
            <a:lvl2pPr marL="255539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/>
            </a:lvl2pPr>
            <a:lvl3pPr marL="450764" indent="0">
              <a:buFont typeface="Wingdings" panose="05000000000000000000" pitchFamily="2" charset="2"/>
              <a:buNone/>
              <a:tabLst/>
              <a:defRPr sz="1600" b="0"/>
            </a:lvl3pPr>
            <a:lvl4pPr marL="652337" indent="0">
              <a:buFont typeface="Wingdings" panose="05000000000000000000" pitchFamily="2" charset="2"/>
              <a:buNone/>
              <a:defRPr sz="1400" b="0"/>
            </a:lvl4pPr>
            <a:lvl5pPr marL="853911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Feature details text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65AEF95-A022-479E-B613-4D8D833BDF79}"/>
              </a:ext>
            </a:extLst>
          </p:cNvPr>
          <p:cNvSpPr txBox="1"/>
          <p:nvPr userDrawn="1"/>
        </p:nvSpPr>
        <p:spPr>
          <a:xfrm>
            <a:off x="506414" y="3188130"/>
            <a:ext cx="5427660" cy="46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323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Feature Details</a:t>
            </a:r>
          </a:p>
        </p:txBody>
      </p:sp>
    </p:spTree>
    <p:extLst>
      <p:ext uri="{BB962C8B-B14F-4D97-AF65-F5344CB8AC3E}">
        <p14:creationId xmlns:p14="http://schemas.microsoft.com/office/powerpoint/2010/main" val="1886086600"/>
      </p:ext>
    </p:extLst>
  </p:cSld>
  <p:clrMapOvr>
    <a:masterClrMapping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A8B3ECF-E4A4-4BBE-8FC7-9B89BFA966A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A3A3A3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ELT layout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DE2D20-95F6-4556-9D7B-553EF22926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3533776"/>
            <a:ext cx="2194560" cy="2117503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600">
                <a:solidFill>
                  <a:schemeClr val="tx1"/>
                </a:solidFill>
              </a:defRPr>
            </a:lvl2pPr>
            <a:lvl3pPr marL="173004" indent="-173004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spcBef>
                <a:spcPts val="2400"/>
              </a:spcBef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DC52D44-16D8-419F-8260-91CB57C5C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A87BA51-719F-4C7D-AB1F-F0BF0D06CC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64088" y="3533776"/>
            <a:ext cx="2194560" cy="2117503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600">
                <a:solidFill>
                  <a:schemeClr val="tx1"/>
                </a:solidFill>
              </a:defRPr>
            </a:lvl2pPr>
            <a:lvl3pPr marL="173004" indent="-173004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spcBef>
                <a:spcPts val="2400"/>
              </a:spcBef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9B0A182-6219-4A2F-9348-2F90958651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43976" y="3533776"/>
            <a:ext cx="2194560" cy="2117503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600">
                <a:solidFill>
                  <a:schemeClr val="tx1"/>
                </a:solidFill>
              </a:defRPr>
            </a:lvl2pPr>
            <a:lvl3pPr marL="173004" indent="-173004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spcBef>
                <a:spcPts val="2400"/>
              </a:spcBef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C65CE251-3C30-41D1-8C74-AA8184A834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423864" y="3533776"/>
            <a:ext cx="2194560" cy="2117503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600">
                <a:solidFill>
                  <a:schemeClr val="tx1"/>
                </a:solidFill>
              </a:defRPr>
            </a:lvl2pPr>
            <a:lvl3pPr marL="173004" indent="-173004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spcBef>
                <a:spcPts val="2400"/>
              </a:spcBef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4987D1C-B243-4EEE-BC02-A9A9C27512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703753" y="3533776"/>
            <a:ext cx="2194560" cy="2117503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600">
                <a:solidFill>
                  <a:schemeClr val="tx1"/>
                </a:solidFill>
              </a:defRPr>
            </a:lvl2pPr>
            <a:lvl3pPr marL="173004" indent="-173004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3pPr>
            <a:lvl4pPr>
              <a:spcBef>
                <a:spcPts val="2400"/>
              </a:spcBef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45D8E1D-1FBA-459D-A4BE-CC38544B48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4200" y="4283298"/>
            <a:ext cx="2194560" cy="2117503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6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</a:defRPr>
            </a:lvl2pPr>
            <a:lvl3pPr marL="173004" indent="-173004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spcBef>
                <a:spcPts val="2400"/>
              </a:spcBef>
              <a:defRPr sz="1400">
                <a:solidFill>
                  <a:schemeClr val="accent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DEFD8564-72B3-4749-8351-32B73F388B6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64088" y="4283298"/>
            <a:ext cx="2194560" cy="2117503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</a:defRPr>
            </a:lvl2pPr>
            <a:lvl3pPr marL="173004" indent="-173004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spcBef>
                <a:spcPts val="2400"/>
              </a:spcBef>
              <a:defRPr sz="1400">
                <a:solidFill>
                  <a:schemeClr val="accent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12083B0-4636-4019-9A5F-03034238CD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43976" y="4283298"/>
            <a:ext cx="2194560" cy="2117503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</a:defRPr>
            </a:lvl2pPr>
            <a:lvl3pPr marL="173004" indent="-173004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spcBef>
                <a:spcPts val="2400"/>
              </a:spcBef>
              <a:defRPr sz="1400">
                <a:solidFill>
                  <a:schemeClr val="accent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C38AD36D-F42B-4960-B8C3-82F03DD1A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3864" y="4283298"/>
            <a:ext cx="2194560" cy="2117503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</a:defRPr>
            </a:lvl2pPr>
            <a:lvl3pPr marL="173004" indent="-173004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spcBef>
                <a:spcPts val="2400"/>
              </a:spcBef>
              <a:defRPr sz="1400">
                <a:solidFill>
                  <a:schemeClr val="accent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4E50405A-2C8C-47E8-9370-4506359CEB3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03753" y="4283298"/>
            <a:ext cx="2194560" cy="2117503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1200"/>
              </a:spcAft>
              <a:defRPr sz="1400">
                <a:solidFill>
                  <a:schemeClr val="tx1"/>
                </a:solidFill>
              </a:defRPr>
            </a:lvl2pPr>
            <a:lvl3pPr marL="173004" indent="-173004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>
              <a:spcBef>
                <a:spcPts val="2400"/>
              </a:spcBef>
              <a:defRPr sz="1400">
                <a:solidFill>
                  <a:schemeClr val="accent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51374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6" orient="horz" pos="904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C6CB3-A022-6DCF-CEF5-184BE5C2A9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787" y="1110472"/>
            <a:ext cx="11020426" cy="307777"/>
          </a:xfrm>
        </p:spPr>
        <p:txBody>
          <a:bodyPr/>
          <a:lstStyle>
            <a:lvl1pPr marL="0" indent="0">
              <a:buNone/>
              <a:defRPr sz="196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CDC6AC-8A67-9408-2214-BBCAC1D18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204130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E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swirl&#10;&#10;Description automatically generated">
            <a:extLst>
              <a:ext uri="{FF2B5EF4-FFF2-40B4-BE49-F238E27FC236}">
                <a16:creationId xmlns:a16="http://schemas.microsoft.com/office/drawing/2014/main" id="{D4CCECBA-0712-2C59-0038-30A36EF559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802" r="6802"/>
          <a:stretch/>
        </p:blipFill>
        <p:spPr>
          <a:xfrm>
            <a:off x="0" y="-3432"/>
            <a:ext cx="12185903" cy="6861431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8100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4394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EAA4B210-A469-AC68-4C5E-6906D024EE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6815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085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20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5064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7CBDD-49E9-BBDF-550B-482E4E570E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816530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1363FF4-6EF0-D2BC-8DFE-19CC89CD92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80459699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DC3595B-25C2-CF43-259D-75A3671E70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82468371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A3D27F9-7D19-8ECF-C50E-71D515E54B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9183157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2CDB0-015D-94C2-ECEE-970711F59E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8326261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1E17F0-59B9-3EAE-0FC7-A1EBDE8F7B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0717495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96CCFA2-2D28-1617-4A3E-368924E943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8808523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AB70484-C812-6F3C-92DD-F6B2E1A813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083292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A97F131-E501-E84F-7717-E61457B6D3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40001852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134AA3C-2F0D-D667-86A9-3A48F0A226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5321366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134AA3C-2F0D-D667-86A9-3A48F0A226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93968083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">
    <p:bg>
      <p:bgPr>
        <a:solidFill>
          <a:srgbClr val="FE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swirl&#10;&#10;Description automatically generated">
            <a:extLst>
              <a:ext uri="{FF2B5EF4-FFF2-40B4-BE49-F238E27FC236}">
                <a16:creationId xmlns:a16="http://schemas.microsoft.com/office/drawing/2014/main" id="{D4CCECBA-0712-2C59-0038-30A36EF559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6802" r="6802"/>
          <a:stretch/>
        </p:blipFill>
        <p:spPr>
          <a:xfrm>
            <a:off x="0" y="-3432"/>
            <a:ext cx="12185903" cy="6861431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8100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5778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bg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EAA4B210-A469-AC68-4C5E-6906D024EE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779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2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040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20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 3"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Segoe Sans Display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46221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600" spc="0" baseline="0">
                <a:solidFill>
                  <a:schemeClr val="tx1"/>
                </a:solidFill>
                <a:latin typeface="+mn-lt"/>
                <a:cs typeface="Segoe Sans Display" pitchFamily="2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726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7CBDD-49E9-BBDF-550B-482E4E570E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7571377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1363FF4-6EF0-D2BC-8DFE-19CC89CD92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3870167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DC3595B-25C2-CF43-259D-75A3671E70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3246073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Sans Display" pitchFamily="2" charset="0"/>
                <a:cs typeface="Segoe Sans Display" pitchFamily="2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A3D27F9-7D19-8ECF-C50E-71D515E54B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40019431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112CDB0-015D-94C2-ECEE-970711F59EB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23707644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A51E17F0-59B9-3EAE-0FC7-A1EBDE8F7BB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41073275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96CCFA2-2D28-1617-4A3E-368924E943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2893524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AB70484-C812-6F3C-92DD-F6B2E1A813C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7399556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A97F131-E501-E84F-7717-E61457B6D3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972924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134AA3C-2F0D-D667-86A9-3A48F0A226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10771817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134AA3C-2F0D-D667-86A9-3A48F0A2264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92100"/>
            <a:ext cx="11018520" cy="153888"/>
          </a:xfrm>
        </p:spPr>
        <p:txBody>
          <a:bodyPr/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eyebrow style</a:t>
            </a:r>
          </a:p>
        </p:txBody>
      </p:sp>
    </p:spTree>
    <p:extLst>
      <p:ext uri="{BB962C8B-B14F-4D97-AF65-F5344CB8AC3E}">
        <p14:creationId xmlns:p14="http://schemas.microsoft.com/office/powerpoint/2010/main" val="35809804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rgbClr val="F6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Picture 2" descr="A close up of a ribbon&#10;&#10;Description automatically generated">
            <a:extLst>
              <a:ext uri="{FF2B5EF4-FFF2-40B4-BE49-F238E27FC236}">
                <a16:creationId xmlns:a16="http://schemas.microsoft.com/office/drawing/2014/main" id="{067BABF0-93C8-0FB8-CA07-E59D8E35CF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9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87" t="2157" b="53959"/>
          <a:stretch/>
        </p:blipFill>
        <p:spPr>
          <a:xfrm>
            <a:off x="0" y="4105895"/>
            <a:ext cx="12192000" cy="274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326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atom Blank">
    <p:bg>
      <p:bgPr>
        <a:solidFill>
          <a:srgbClr val="F6F1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ribbon&#10;&#10;Description automatically generated">
            <a:extLst>
              <a:ext uri="{FF2B5EF4-FFF2-40B4-BE49-F238E27FC236}">
                <a16:creationId xmlns:a16="http://schemas.microsoft.com/office/drawing/2014/main" id="{067BABF0-93C8-0FB8-CA07-E59D8E35CF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93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87" t="2157" b="53959"/>
          <a:stretch/>
        </p:blipFill>
        <p:spPr>
          <a:xfrm>
            <a:off x="0" y="4105895"/>
            <a:ext cx="12192000" cy="274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2273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Solid_Lilac">
    <p:bg>
      <p:bgPr>
        <a:solidFill>
          <a:srgbClr val="B9DC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5EE1C7-4740-FB5E-08C2-1AB152F96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" y="614"/>
            <a:ext cx="12192002" cy="68571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074A52-3F2A-9EE7-4B27-C5F233F838DE}"/>
              </a:ext>
            </a:extLst>
          </p:cNvPr>
          <p:cNvSpPr/>
          <p:nvPr userDrawn="1"/>
        </p:nvSpPr>
        <p:spPr bwMode="auto">
          <a:xfrm>
            <a:off x="1524" y="0"/>
            <a:ext cx="12188952" cy="6858000"/>
          </a:xfrm>
          <a:prstGeom prst="rect">
            <a:avLst/>
          </a:prstGeom>
          <a:gradFill>
            <a:gsLst>
              <a:gs pos="60000">
                <a:srgbClr val="C5B4E3">
                  <a:alpha val="90000"/>
                </a:srgbClr>
              </a:gs>
              <a:gs pos="5000">
                <a:srgbClr val="C5B4E3">
                  <a:alpha val="0"/>
                </a:srgbClr>
              </a:gs>
            </a:gsLst>
            <a:lin ang="9600000" scaled="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1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706A20D-6595-A60E-C56C-327354C21B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1" y="3384610"/>
            <a:ext cx="6949440" cy="615553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Section divider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4A5D70D-F143-643A-7BA5-AE838F1398DB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2042" y="5797122"/>
            <a:ext cx="914400" cy="478266"/>
          </a:xfrm>
          <a:prstGeom prst="rect">
            <a:avLst/>
          </a:prstGeom>
          <a:effectLst/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7B05DCE-3D4E-B234-9CF8-EE146E7BA85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4209297"/>
            <a:ext cx="694944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4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69976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5075">
          <p15:clr>
            <a:srgbClr val="FBAE40"/>
          </p15:clr>
        </p15:guide>
        <p15:guide id="2" orient="horz" pos="2450">
          <p15:clr>
            <a:srgbClr val="FBAE40"/>
          </p15:clr>
        </p15:guide>
        <p15:guide id="3" orient="horz" pos="2647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82790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pos="778">
          <p15:clr>
            <a:srgbClr val="954F72"/>
          </p15:clr>
        </p15:guide>
        <p15:guide id="5" pos="962">
          <p15:clr>
            <a:srgbClr val="954F72"/>
          </p15:clr>
        </p15:guide>
        <p15:guide id="6" pos="1372">
          <p15:clr>
            <a:srgbClr val="954F72"/>
          </p15:clr>
        </p15:guide>
        <p15:guide id="7" pos="1556">
          <p15:clr>
            <a:srgbClr val="954F72"/>
          </p15:clr>
        </p15:guide>
        <p15:guide id="8" pos="1966">
          <p15:clr>
            <a:srgbClr val="954F72"/>
          </p15:clr>
        </p15:guide>
        <p15:guide id="9" pos="2150">
          <p15:clr>
            <a:srgbClr val="954F72"/>
          </p15:clr>
        </p15:guide>
        <p15:guide id="10" pos="2560">
          <p15:clr>
            <a:srgbClr val="954F72"/>
          </p15:clr>
        </p15:guide>
        <p15:guide id="11" pos="2744">
          <p15:clr>
            <a:srgbClr val="954F72"/>
          </p15:clr>
        </p15:guide>
        <p15:guide id="12" pos="3153">
          <p15:clr>
            <a:srgbClr val="954F72"/>
          </p15:clr>
        </p15:guide>
        <p15:guide id="13" pos="3338">
          <p15:clr>
            <a:srgbClr val="954F72"/>
          </p15:clr>
        </p15:guide>
        <p15:guide id="14" pos="3747">
          <p15:clr>
            <a:srgbClr val="954F72"/>
          </p15:clr>
        </p15:guide>
        <p15:guide id="15" pos="3932">
          <p15:clr>
            <a:srgbClr val="954F72"/>
          </p15:clr>
        </p15:guide>
        <p15:guide id="16" pos="4341">
          <p15:clr>
            <a:srgbClr val="954F72"/>
          </p15:clr>
        </p15:guide>
        <p15:guide id="17" pos="4526">
          <p15:clr>
            <a:srgbClr val="954F72"/>
          </p15:clr>
        </p15:guide>
        <p15:guide id="18" pos="4935">
          <p15:clr>
            <a:srgbClr val="954F72"/>
          </p15:clr>
        </p15:guide>
        <p15:guide id="19" pos="5120">
          <p15:clr>
            <a:srgbClr val="954F72"/>
          </p15:clr>
        </p15:guide>
        <p15:guide id="20" pos="5529">
          <p15:clr>
            <a:srgbClr val="954F72"/>
          </p15:clr>
        </p15:guide>
        <p15:guide id="21" pos="5713">
          <p15:clr>
            <a:srgbClr val="954F72"/>
          </p15:clr>
        </p15:guide>
        <p15:guide id="22" pos="6123">
          <p15:clr>
            <a:srgbClr val="954F72"/>
          </p15:clr>
        </p15:guide>
        <p15:guide id="23" pos="6307">
          <p15:clr>
            <a:srgbClr val="954F72"/>
          </p15:clr>
        </p15:guide>
        <p15:guide id="24" pos="6717">
          <p15:clr>
            <a:srgbClr val="954F72"/>
          </p15:clr>
        </p15:guide>
        <p15:guide id="25" pos="6901">
          <p15:clr>
            <a:srgbClr val="954F72"/>
          </p15:clr>
        </p15:guide>
        <p15:guide id="30" orient="horz" pos="812">
          <p15:clr>
            <a:srgbClr val="954F72"/>
          </p15:clr>
        </p15:guide>
        <p15:guide id="31" orient="horz" pos="996">
          <p15:clr>
            <a:srgbClr val="954F72"/>
          </p15:clr>
        </p15:guide>
        <p15:guide id="32" orient="horz" pos="1440">
          <p15:clr>
            <a:srgbClr val="954F72"/>
          </p15:clr>
        </p15:guide>
        <p15:guide id="33" orient="horz" pos="1624">
          <p15:clr>
            <a:srgbClr val="954F72"/>
          </p15:clr>
        </p15:guide>
        <p15:guide id="34" orient="horz" pos="2067">
          <p15:clr>
            <a:srgbClr val="954F72"/>
          </p15:clr>
        </p15:guide>
        <p15:guide id="35" orient="horz" pos="2252">
          <p15:clr>
            <a:srgbClr val="954F72"/>
          </p15:clr>
        </p15:guide>
        <p15:guide id="36" orient="horz" pos="2695">
          <p15:clr>
            <a:srgbClr val="954F72"/>
          </p15:clr>
        </p15:guide>
        <p15:guide id="37" orient="horz" pos="2880">
          <p15:clr>
            <a:srgbClr val="954F72"/>
          </p15:clr>
        </p15:guide>
        <p15:guide id="38" orient="horz" pos="3323">
          <p15:clr>
            <a:srgbClr val="954F72"/>
          </p15:clr>
        </p15:guide>
        <p15:guide id="39" orient="horz" pos="3507">
          <p15:clr>
            <a:srgbClr val="954F72"/>
          </p15:clr>
        </p15:guide>
      </p15:sldGuideLst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_with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gray - EMF">
            <a:extLst>
              <a:ext uri="{FF2B5EF4-FFF2-40B4-BE49-F238E27FC236}">
                <a16:creationId xmlns:a16="http://schemas.microsoft.com/office/drawing/2014/main" id="{34855668-1A0A-E5EE-1D0F-97B30351BA0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blackWhite">
          <a:xfrm>
            <a:off x="584200" y="6446520"/>
            <a:ext cx="8193024" cy="1538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10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3077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</p:spTree>
    <p:extLst>
      <p:ext uri="{BB962C8B-B14F-4D97-AF65-F5344CB8AC3E}">
        <p14:creationId xmlns:p14="http://schemas.microsoft.com/office/powerpoint/2010/main" val="3161110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Section Tit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021DE20-801D-7DD2-7585-4355F1279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07931" y="114223"/>
            <a:ext cx="984069" cy="1526510"/>
            <a:chOff x="11207931" y="114223"/>
            <a:chExt cx="984069" cy="1526510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FF7F0470-0884-25E6-76A2-D86BA4DB1C07}"/>
                </a:ext>
              </a:extLst>
            </p:cNvPr>
            <p:cNvSpPr/>
            <p:nvPr/>
          </p:nvSpPr>
          <p:spPr bwMode="auto">
            <a:xfrm>
              <a:off x="11683516" y="209494"/>
              <a:ext cx="508484" cy="1049410"/>
            </a:xfrm>
            <a:custGeom>
              <a:avLst/>
              <a:gdLst>
                <a:gd name="connsiteX0" fmla="*/ 508484 w 508484"/>
                <a:gd name="connsiteY0" fmla="*/ 0 h 1049410"/>
                <a:gd name="connsiteX1" fmla="*/ 508484 w 508484"/>
                <a:gd name="connsiteY1" fmla="*/ 1049410 h 1049410"/>
                <a:gd name="connsiteX2" fmla="*/ 420411 w 508484"/>
                <a:gd name="connsiteY2" fmla="*/ 1040532 h 1049410"/>
                <a:gd name="connsiteX3" fmla="*/ 0 w 508484"/>
                <a:gd name="connsiteY3" fmla="*/ 524705 h 1049410"/>
                <a:gd name="connsiteX4" fmla="*/ 420411 w 508484"/>
                <a:gd name="connsiteY4" fmla="*/ 8878 h 1049410"/>
                <a:gd name="connsiteX5" fmla="*/ 508484 w 508484"/>
                <a:gd name="connsiteY5" fmla="*/ 0 h 1049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8484" h="1049410">
                  <a:moveTo>
                    <a:pt x="508484" y="0"/>
                  </a:moveTo>
                  <a:lnTo>
                    <a:pt x="508484" y="1049410"/>
                  </a:lnTo>
                  <a:lnTo>
                    <a:pt x="420411" y="1040532"/>
                  </a:lnTo>
                  <a:cubicBezTo>
                    <a:pt x="180483" y="991436"/>
                    <a:pt x="0" y="779147"/>
                    <a:pt x="0" y="524705"/>
                  </a:cubicBezTo>
                  <a:cubicBezTo>
                    <a:pt x="0" y="270263"/>
                    <a:pt x="180483" y="57975"/>
                    <a:pt x="420411" y="8878"/>
                  </a:cubicBezTo>
                  <a:lnTo>
                    <a:pt x="508484" y="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4003C236-20E1-1813-339A-0B2CFE48A644}"/>
                </a:ext>
              </a:extLst>
            </p:cNvPr>
            <p:cNvSpPr/>
            <p:nvPr/>
          </p:nvSpPr>
          <p:spPr>
            <a:xfrm>
              <a:off x="11593087" y="114223"/>
              <a:ext cx="598913" cy="1253024"/>
            </a:xfrm>
            <a:custGeom>
              <a:avLst/>
              <a:gdLst>
                <a:gd name="connsiteX0" fmla="*/ 579415 w 733022"/>
                <a:gd name="connsiteY0" fmla="*/ 1154516 h 1533601"/>
                <a:gd name="connsiteX1" fmla="*/ 654140 w 733022"/>
                <a:gd name="connsiteY1" fmla="*/ 1182331 h 1533601"/>
                <a:gd name="connsiteX2" fmla="*/ 733022 w 733022"/>
                <a:gd name="connsiteY2" fmla="*/ 1195890 h 1533601"/>
                <a:gd name="connsiteX3" fmla="*/ 733022 w 733022"/>
                <a:gd name="connsiteY3" fmla="*/ 1519078 h 1533601"/>
                <a:gd name="connsiteX4" fmla="*/ 728849 w 733022"/>
                <a:gd name="connsiteY4" fmla="*/ 1528684 h 1533601"/>
                <a:gd name="connsiteX5" fmla="*/ 715183 w 733022"/>
                <a:gd name="connsiteY5" fmla="*/ 1533561 h 1533601"/>
                <a:gd name="connsiteX6" fmla="*/ 427500 w 733022"/>
                <a:gd name="connsiteY6" fmla="*/ 1456569 h 1533601"/>
                <a:gd name="connsiteX7" fmla="*/ 427481 w 733022"/>
                <a:gd name="connsiteY7" fmla="*/ 1456569 h 1533601"/>
                <a:gd name="connsiteX8" fmla="*/ 419765 w 733022"/>
                <a:gd name="connsiteY8" fmla="*/ 1431112 h 1533601"/>
                <a:gd name="connsiteX9" fmla="*/ 409753 w 733022"/>
                <a:gd name="connsiteY9" fmla="*/ 1009571 h 1533601"/>
                <a:gd name="connsiteX10" fmla="*/ 524291 w 733022"/>
                <a:gd name="connsiteY10" fmla="*/ 1122789 h 1533601"/>
                <a:gd name="connsiteX11" fmla="*/ 364754 w 733022"/>
                <a:gd name="connsiteY11" fmla="*/ 1399179 h 1533601"/>
                <a:gd name="connsiteX12" fmla="*/ 338820 w 733022"/>
                <a:gd name="connsiteY12" fmla="*/ 1405185 h 1533601"/>
                <a:gd name="connsiteX13" fmla="*/ 128318 w 733022"/>
                <a:gd name="connsiteY13" fmla="*/ 1194584 h 1533601"/>
                <a:gd name="connsiteX14" fmla="*/ 134321 w 733022"/>
                <a:gd name="connsiteY14" fmla="*/ 1168637 h 1533601"/>
                <a:gd name="connsiteX15" fmla="*/ 18202 w 733022"/>
                <a:gd name="connsiteY15" fmla="*/ 798631 h 1533601"/>
                <a:gd name="connsiteX16" fmla="*/ 333739 w 733022"/>
                <a:gd name="connsiteY16" fmla="*/ 798631 h 1533601"/>
                <a:gd name="connsiteX17" fmla="*/ 377363 w 733022"/>
                <a:gd name="connsiteY17" fmla="*/ 954723 h 1533601"/>
                <a:gd name="connsiteX18" fmla="*/ 102441 w 733022"/>
                <a:gd name="connsiteY18" fmla="*/ 1113544 h 1533601"/>
                <a:gd name="connsiteX19" fmla="*/ 76996 w 733022"/>
                <a:gd name="connsiteY19" fmla="*/ 1105824 h 1533601"/>
                <a:gd name="connsiteX20" fmla="*/ 41 w 733022"/>
                <a:gd name="connsiteY20" fmla="*/ 818081 h 1533601"/>
                <a:gd name="connsiteX21" fmla="*/ 18202 w 733022"/>
                <a:gd name="connsiteY21" fmla="*/ 798631 h 1533601"/>
                <a:gd name="connsiteX22" fmla="*/ 733022 w 733022"/>
                <a:gd name="connsiteY22" fmla="*/ 440947 h 1533601"/>
                <a:gd name="connsiteX23" fmla="*/ 733022 w 733022"/>
                <a:gd name="connsiteY23" fmla="*/ 627192 h 1533601"/>
                <a:gd name="connsiteX24" fmla="*/ 694597 w 733022"/>
                <a:gd name="connsiteY24" fmla="*/ 638681 h 1533601"/>
                <a:gd name="connsiteX25" fmla="*/ 618391 w 733022"/>
                <a:gd name="connsiteY25" fmla="*/ 748942 h 1533601"/>
                <a:gd name="connsiteX26" fmla="*/ 699416 w 733022"/>
                <a:gd name="connsiteY26" fmla="*/ 889231 h 1533601"/>
                <a:gd name="connsiteX27" fmla="*/ 733022 w 733022"/>
                <a:gd name="connsiteY27" fmla="*/ 896448 h 1533601"/>
                <a:gd name="connsiteX28" fmla="*/ 733022 w 733022"/>
                <a:gd name="connsiteY28" fmla="*/ 1083871 h 1533601"/>
                <a:gd name="connsiteX29" fmla="*/ 691051 w 733022"/>
                <a:gd name="connsiteY29" fmla="*/ 1079617 h 1533601"/>
                <a:gd name="connsiteX30" fmla="*/ 433014 w 733022"/>
                <a:gd name="connsiteY30" fmla="*/ 761820 h 1533601"/>
                <a:gd name="connsiteX31" fmla="*/ 678170 w 733022"/>
                <a:gd name="connsiteY31" fmla="*/ 449027 h 1533601"/>
                <a:gd name="connsiteX32" fmla="*/ 88045 w 733022"/>
                <a:gd name="connsiteY32" fmla="*/ 418365 h 1533601"/>
                <a:gd name="connsiteX33" fmla="*/ 102441 w 733022"/>
                <a:gd name="connsiteY33" fmla="*/ 420020 h 1533601"/>
                <a:gd name="connsiteX34" fmla="*/ 372960 w 733022"/>
                <a:gd name="connsiteY34" fmla="*/ 576281 h 1533601"/>
                <a:gd name="connsiteX35" fmla="*/ 332873 w 733022"/>
                <a:gd name="connsiteY35" fmla="*/ 734971 h 1533601"/>
                <a:gd name="connsiteX36" fmla="*/ 18202 w 733022"/>
                <a:gd name="connsiteY36" fmla="*/ 734971 h 1533601"/>
                <a:gd name="connsiteX37" fmla="*/ 41 w 733022"/>
                <a:gd name="connsiteY37" fmla="*/ 715520 h 1533601"/>
                <a:gd name="connsiteX38" fmla="*/ 76996 w 733022"/>
                <a:gd name="connsiteY38" fmla="*/ 427739 h 1533601"/>
                <a:gd name="connsiteX39" fmla="*/ 88045 w 733022"/>
                <a:gd name="connsiteY39" fmla="*/ 418365 h 1533601"/>
                <a:gd name="connsiteX40" fmla="*/ 353092 w 733022"/>
                <a:gd name="connsiteY40" fmla="*/ 125773 h 1533601"/>
                <a:gd name="connsiteX41" fmla="*/ 364754 w 733022"/>
                <a:gd name="connsiteY41" fmla="*/ 134404 h 1533601"/>
                <a:gd name="connsiteX42" fmla="*/ 519455 w 733022"/>
                <a:gd name="connsiteY42" fmla="*/ 402471 h 1533601"/>
                <a:gd name="connsiteX43" fmla="*/ 404069 w 733022"/>
                <a:gd name="connsiteY43" fmla="*/ 520735 h 1533601"/>
                <a:gd name="connsiteX44" fmla="*/ 134359 w 733022"/>
                <a:gd name="connsiteY44" fmla="*/ 364945 h 1533601"/>
                <a:gd name="connsiteX45" fmla="*/ 128356 w 733022"/>
                <a:gd name="connsiteY45" fmla="*/ 338999 h 1533601"/>
                <a:gd name="connsiteX46" fmla="*/ 338820 w 733022"/>
                <a:gd name="connsiteY46" fmla="*/ 128398 h 1533601"/>
                <a:gd name="connsiteX47" fmla="*/ 353092 w 733022"/>
                <a:gd name="connsiteY47" fmla="*/ 125773 h 1533601"/>
                <a:gd name="connsiteX48" fmla="*/ 715183 w 733022"/>
                <a:gd name="connsiteY48" fmla="*/ 41 h 1533601"/>
                <a:gd name="connsiteX49" fmla="*/ 715202 w 733022"/>
                <a:gd name="connsiteY49" fmla="*/ 41 h 1533601"/>
                <a:gd name="connsiteX50" fmla="*/ 728860 w 733022"/>
                <a:gd name="connsiteY50" fmla="*/ 4910 h 1533601"/>
                <a:gd name="connsiteX51" fmla="*/ 733022 w 733022"/>
                <a:gd name="connsiteY51" fmla="*/ 14482 h 1533601"/>
                <a:gd name="connsiteX52" fmla="*/ 733022 w 733022"/>
                <a:gd name="connsiteY52" fmla="*/ 325990 h 1533601"/>
                <a:gd name="connsiteX53" fmla="*/ 651303 w 733022"/>
                <a:gd name="connsiteY53" fmla="*/ 340329 h 1533601"/>
                <a:gd name="connsiteX54" fmla="*/ 574202 w 733022"/>
                <a:gd name="connsiteY54" fmla="*/ 369991 h 1533601"/>
                <a:gd name="connsiteX55" fmla="*/ 419821 w 733022"/>
                <a:gd name="connsiteY55" fmla="*/ 102489 h 1533601"/>
                <a:gd name="connsiteX56" fmla="*/ 427538 w 733022"/>
                <a:gd name="connsiteY56" fmla="*/ 77032 h 1533601"/>
                <a:gd name="connsiteX57" fmla="*/ 715183 w 733022"/>
                <a:gd name="connsiteY57" fmla="*/ 41 h 153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733022" h="1533601">
                  <a:moveTo>
                    <a:pt x="579415" y="1154516"/>
                  </a:moveTo>
                  <a:cubicBezTo>
                    <a:pt x="603213" y="1165954"/>
                    <a:pt x="628197" y="1175308"/>
                    <a:pt x="654140" y="1182331"/>
                  </a:cubicBezTo>
                  <a:lnTo>
                    <a:pt x="733022" y="1195890"/>
                  </a:lnTo>
                  <a:lnTo>
                    <a:pt x="733022" y="1519078"/>
                  </a:lnTo>
                  <a:lnTo>
                    <a:pt x="728849" y="1528684"/>
                  </a:lnTo>
                  <a:cubicBezTo>
                    <a:pt x="725303" y="1531998"/>
                    <a:pt x="720443" y="1533909"/>
                    <a:pt x="715183" y="1533561"/>
                  </a:cubicBezTo>
                  <a:cubicBezTo>
                    <a:pt x="612463" y="1526782"/>
                    <a:pt x="515258" y="1499819"/>
                    <a:pt x="427500" y="1456569"/>
                  </a:cubicBezTo>
                  <a:lnTo>
                    <a:pt x="427481" y="1456569"/>
                  </a:lnTo>
                  <a:cubicBezTo>
                    <a:pt x="418052" y="1451918"/>
                    <a:pt x="414495" y="1440226"/>
                    <a:pt x="419765" y="1431112"/>
                  </a:cubicBezTo>
                  <a:close/>
                  <a:moveTo>
                    <a:pt x="409753" y="1009571"/>
                  </a:moveTo>
                  <a:cubicBezTo>
                    <a:pt x="440580" y="1054045"/>
                    <a:pt x="479424" y="1092456"/>
                    <a:pt x="524291" y="1122789"/>
                  </a:cubicBezTo>
                  <a:lnTo>
                    <a:pt x="364754" y="1399179"/>
                  </a:lnTo>
                  <a:cubicBezTo>
                    <a:pt x="359484" y="1408311"/>
                    <a:pt x="347571" y="1411060"/>
                    <a:pt x="338820" y="1405185"/>
                  </a:cubicBezTo>
                  <a:cubicBezTo>
                    <a:pt x="255730" y="1349376"/>
                    <a:pt x="184100" y="1277751"/>
                    <a:pt x="128318" y="1194584"/>
                  </a:cubicBezTo>
                  <a:cubicBezTo>
                    <a:pt x="122446" y="1185828"/>
                    <a:pt x="125194" y="1173910"/>
                    <a:pt x="134321" y="1168637"/>
                  </a:cubicBezTo>
                  <a:close/>
                  <a:moveTo>
                    <a:pt x="18202" y="798631"/>
                  </a:moveTo>
                  <a:lnTo>
                    <a:pt x="333739" y="798631"/>
                  </a:lnTo>
                  <a:cubicBezTo>
                    <a:pt x="338462" y="854289"/>
                    <a:pt x="353650" y="906991"/>
                    <a:pt x="377363" y="954723"/>
                  </a:cubicBezTo>
                  <a:lnTo>
                    <a:pt x="102441" y="1113544"/>
                  </a:lnTo>
                  <a:cubicBezTo>
                    <a:pt x="93331" y="1118816"/>
                    <a:pt x="81644" y="1115258"/>
                    <a:pt x="76996" y="1105824"/>
                  </a:cubicBezTo>
                  <a:cubicBezTo>
                    <a:pt x="33766" y="1018063"/>
                    <a:pt x="6816" y="920849"/>
                    <a:pt x="41" y="818081"/>
                  </a:cubicBezTo>
                  <a:cubicBezTo>
                    <a:pt x="-656" y="807556"/>
                    <a:pt x="7682" y="798631"/>
                    <a:pt x="18202" y="798631"/>
                  </a:cubicBezTo>
                  <a:close/>
                  <a:moveTo>
                    <a:pt x="733022" y="440947"/>
                  </a:moveTo>
                  <a:lnTo>
                    <a:pt x="733022" y="627192"/>
                  </a:lnTo>
                  <a:lnTo>
                    <a:pt x="694597" y="638681"/>
                  </a:lnTo>
                  <a:cubicBezTo>
                    <a:pt x="652977" y="659505"/>
                    <a:pt x="623092" y="700871"/>
                    <a:pt x="618391" y="748942"/>
                  </a:cubicBezTo>
                  <a:cubicBezTo>
                    <a:pt x="612336" y="810922"/>
                    <a:pt x="647367" y="865710"/>
                    <a:pt x="699416" y="889231"/>
                  </a:cubicBezTo>
                  <a:lnTo>
                    <a:pt x="733022" y="896448"/>
                  </a:lnTo>
                  <a:lnTo>
                    <a:pt x="733022" y="1083871"/>
                  </a:lnTo>
                  <a:lnTo>
                    <a:pt x="691051" y="1079617"/>
                  </a:lnTo>
                  <a:cubicBezTo>
                    <a:pt x="543639" y="1049300"/>
                    <a:pt x="432521" y="918253"/>
                    <a:pt x="433014" y="761820"/>
                  </a:cubicBezTo>
                  <a:cubicBezTo>
                    <a:pt x="433475" y="612208"/>
                    <a:pt x="537754" y="484162"/>
                    <a:pt x="678170" y="449027"/>
                  </a:cubicBezTo>
                  <a:close/>
                  <a:moveTo>
                    <a:pt x="88045" y="418365"/>
                  </a:moveTo>
                  <a:cubicBezTo>
                    <a:pt x="92687" y="416955"/>
                    <a:pt x="97886" y="417384"/>
                    <a:pt x="102441" y="420020"/>
                  </a:cubicBezTo>
                  <a:lnTo>
                    <a:pt x="372960" y="576281"/>
                  </a:lnTo>
                  <a:cubicBezTo>
                    <a:pt x="350187" y="624934"/>
                    <a:pt x="336185" y="678503"/>
                    <a:pt x="332873" y="734971"/>
                  </a:cubicBezTo>
                  <a:lnTo>
                    <a:pt x="18202" y="734971"/>
                  </a:lnTo>
                  <a:cubicBezTo>
                    <a:pt x="7682" y="734971"/>
                    <a:pt x="-656" y="726045"/>
                    <a:pt x="41" y="715520"/>
                  </a:cubicBezTo>
                  <a:cubicBezTo>
                    <a:pt x="6816" y="612752"/>
                    <a:pt x="33766" y="515501"/>
                    <a:pt x="76996" y="427739"/>
                  </a:cubicBezTo>
                  <a:cubicBezTo>
                    <a:pt x="79320" y="423023"/>
                    <a:pt x="83404" y="419775"/>
                    <a:pt x="88045" y="418365"/>
                  </a:cubicBezTo>
                  <a:close/>
                  <a:moveTo>
                    <a:pt x="353092" y="125773"/>
                  </a:moveTo>
                  <a:cubicBezTo>
                    <a:pt x="357823" y="126868"/>
                    <a:pt x="362119" y="129838"/>
                    <a:pt x="364754" y="134404"/>
                  </a:cubicBezTo>
                  <a:lnTo>
                    <a:pt x="519455" y="402471"/>
                  </a:lnTo>
                  <a:cubicBezTo>
                    <a:pt x="473873" y="434122"/>
                    <a:pt x="434652" y="474359"/>
                    <a:pt x="404069" y="520735"/>
                  </a:cubicBezTo>
                  <a:lnTo>
                    <a:pt x="134359" y="364945"/>
                  </a:lnTo>
                  <a:cubicBezTo>
                    <a:pt x="125231" y="359673"/>
                    <a:pt x="122484" y="347754"/>
                    <a:pt x="128356" y="338999"/>
                  </a:cubicBezTo>
                  <a:cubicBezTo>
                    <a:pt x="184138" y="255869"/>
                    <a:pt x="255730" y="184244"/>
                    <a:pt x="338820" y="128398"/>
                  </a:cubicBezTo>
                  <a:cubicBezTo>
                    <a:pt x="343196" y="125460"/>
                    <a:pt x="348362" y="124679"/>
                    <a:pt x="353092" y="125773"/>
                  </a:cubicBezTo>
                  <a:close/>
                  <a:moveTo>
                    <a:pt x="715183" y="41"/>
                  </a:moveTo>
                  <a:lnTo>
                    <a:pt x="715202" y="41"/>
                  </a:lnTo>
                  <a:cubicBezTo>
                    <a:pt x="720453" y="-308"/>
                    <a:pt x="725313" y="1599"/>
                    <a:pt x="728860" y="4910"/>
                  </a:cubicBezTo>
                  <a:lnTo>
                    <a:pt x="733022" y="14482"/>
                  </a:lnTo>
                  <a:lnTo>
                    <a:pt x="733022" y="325990"/>
                  </a:lnTo>
                  <a:lnTo>
                    <a:pt x="651303" y="340329"/>
                  </a:lnTo>
                  <a:cubicBezTo>
                    <a:pt x="624470" y="347792"/>
                    <a:pt x="598678" y="357762"/>
                    <a:pt x="574202" y="369991"/>
                  </a:cubicBezTo>
                  <a:lnTo>
                    <a:pt x="419821" y="102489"/>
                  </a:lnTo>
                  <a:cubicBezTo>
                    <a:pt x="414552" y="93357"/>
                    <a:pt x="418090" y="81683"/>
                    <a:pt x="427538" y="77032"/>
                  </a:cubicBezTo>
                  <a:cubicBezTo>
                    <a:pt x="515258" y="33801"/>
                    <a:pt x="612463" y="6819"/>
                    <a:pt x="715183" y="41"/>
                  </a:cubicBezTo>
                  <a:close/>
                </a:path>
              </a:pathLst>
            </a:custGeom>
            <a:gradFill>
              <a:gsLst>
                <a:gs pos="6000">
                  <a:srgbClr val="FF9248">
                    <a:alpha val="34000"/>
                  </a:srgbClr>
                </a:gs>
                <a:gs pos="77000">
                  <a:schemeClr val="accent4">
                    <a:alpha val="29000"/>
                  </a:schemeClr>
                </a:gs>
              </a:gsLst>
              <a:lin ang="3343960" scaled="1"/>
            </a:gradFill>
            <a:ln w="599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0" name="Donut 5">
              <a:extLst>
                <a:ext uri="{FF2B5EF4-FFF2-40B4-BE49-F238E27FC236}">
                  <a16:creationId xmlns:a16="http://schemas.microsoft.com/office/drawing/2014/main" id="{C3B5756D-21DB-BF90-3DC2-2F52F2D0FB01}"/>
                </a:ext>
              </a:extLst>
            </p:cNvPr>
            <p:cNvSpPr/>
            <p:nvPr/>
          </p:nvSpPr>
          <p:spPr bwMode="auto">
            <a:xfrm>
              <a:off x="11207931" y="1255577"/>
              <a:ext cx="385156" cy="385156"/>
            </a:xfrm>
            <a:prstGeom prst="donut">
              <a:avLst/>
            </a:prstGeom>
            <a:gradFill>
              <a:gsLst>
                <a:gs pos="6000">
                  <a:srgbClr val="FF9248">
                    <a:alpha val="34000"/>
                  </a:srgbClr>
                </a:gs>
                <a:gs pos="77000">
                  <a:schemeClr val="accent4">
                    <a:alpha val="29000"/>
                  </a:schemeClr>
                </a:gs>
              </a:gsLst>
              <a:lin ang="3343960" scaled="1"/>
            </a:gradFill>
            <a:ln w="5992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1692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4.xml"/><Relationship Id="rId18" Type="http://schemas.openxmlformats.org/officeDocument/2006/relationships/slideLayout" Target="../slideLayouts/slideLayout99.xml"/><Relationship Id="rId26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84.xml"/><Relationship Id="rId21" Type="http://schemas.openxmlformats.org/officeDocument/2006/relationships/slideLayout" Target="../slideLayouts/slideLayout102.xml"/><Relationship Id="rId34" Type="http://schemas.openxmlformats.org/officeDocument/2006/relationships/image" Target="../media/image42.svg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17" Type="http://schemas.openxmlformats.org/officeDocument/2006/relationships/slideLayout" Target="../slideLayouts/slideLayout98.xml"/><Relationship Id="rId25" Type="http://schemas.openxmlformats.org/officeDocument/2006/relationships/slideLayout" Target="../slideLayouts/slideLayout106.xml"/><Relationship Id="rId33" Type="http://schemas.openxmlformats.org/officeDocument/2006/relationships/theme" Target="../theme/theme2.xml"/><Relationship Id="rId2" Type="http://schemas.openxmlformats.org/officeDocument/2006/relationships/slideLayout" Target="../slideLayouts/slideLayout83.xml"/><Relationship Id="rId16" Type="http://schemas.openxmlformats.org/officeDocument/2006/relationships/slideLayout" Target="../slideLayouts/slideLayout97.xml"/><Relationship Id="rId20" Type="http://schemas.openxmlformats.org/officeDocument/2006/relationships/slideLayout" Target="../slideLayouts/slideLayout101.xml"/><Relationship Id="rId29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24" Type="http://schemas.openxmlformats.org/officeDocument/2006/relationships/slideLayout" Target="../slideLayouts/slideLayout105.xml"/><Relationship Id="rId32" Type="http://schemas.openxmlformats.org/officeDocument/2006/relationships/slideLayout" Target="../slideLayouts/slideLayout113.xml"/><Relationship Id="rId5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96.xml"/><Relationship Id="rId23" Type="http://schemas.openxmlformats.org/officeDocument/2006/relationships/slideLayout" Target="../slideLayouts/slideLayout104.xml"/><Relationship Id="rId28" Type="http://schemas.openxmlformats.org/officeDocument/2006/relationships/slideLayout" Target="../slideLayouts/slideLayout109.xml"/><Relationship Id="rId10" Type="http://schemas.openxmlformats.org/officeDocument/2006/relationships/slideLayout" Target="../slideLayouts/slideLayout91.xml"/><Relationship Id="rId19" Type="http://schemas.openxmlformats.org/officeDocument/2006/relationships/slideLayout" Target="../slideLayouts/slideLayout100.xml"/><Relationship Id="rId31" Type="http://schemas.openxmlformats.org/officeDocument/2006/relationships/slideLayout" Target="../slideLayouts/slideLayout112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103.xml"/><Relationship Id="rId27" Type="http://schemas.openxmlformats.org/officeDocument/2006/relationships/slideLayout" Target="../slideLayouts/slideLayout108.xml"/><Relationship Id="rId30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8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6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image" Target="../media/image42.sv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4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1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293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54" tIns="146284" rIns="182854" bIns="14628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293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62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</p:sldLayoutIdLst>
  <p:transition>
    <p:fade/>
  </p:transition>
  <p:hf sldNum="0" hdr="0" ftr="0" dt="0"/>
  <p:txStyles>
    <p:titleStyle>
      <a:lvl1pPr algn="l" defTabSz="932563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2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556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112" marR="0" indent="-22855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099" marR="0" indent="-199986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801" marR="0" indent="-180940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741" marR="0" indent="-168243" algn="l" defTabSz="932563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4547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0830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111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3394" indent="-233141" algn="l" defTabSz="9325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28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563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8844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126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408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7689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3970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252" algn="l" defTabSz="9325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7">
          <p15:clr>
            <a:srgbClr val="C35EA4"/>
          </p15:clr>
        </p15:guide>
        <p15:guide id="17" pos="7467">
          <p15:clr>
            <a:srgbClr val="C35EA4"/>
          </p15:clr>
        </p15:guide>
        <p15:guide id="25" orient="horz" pos="376">
          <p15:clr>
            <a:srgbClr val="C35EA4"/>
          </p15:clr>
        </p15:guide>
        <p15:guide id="26" orient="horz" pos="4028">
          <p15:clr>
            <a:srgbClr val="C35EA4"/>
          </p15:clr>
        </p15:guide>
        <p15:guide id="27" orient="horz" pos="188">
          <p15:clr>
            <a:srgbClr val="A4A3A4"/>
          </p15:clr>
        </p15:guide>
        <p15:guide id="28" pos="196">
          <p15:clr>
            <a:srgbClr val="A4A3A4"/>
          </p15:clr>
        </p15:guide>
        <p15:guide id="29" orient="horz" pos="4217">
          <p15:clr>
            <a:srgbClr val="A4A3A4"/>
          </p15:clr>
        </p15:guide>
        <p15:guide id="30" pos="7638">
          <p15:clr>
            <a:srgbClr val="A4A3A4"/>
          </p15:clr>
        </p15:guide>
        <p15:guide id="31" orient="horz" pos="408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Sans Display" pitchFamily="2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280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830" r:id="rId16"/>
    <p:sldLayoutId id="2147483831" r:id="rId17"/>
    <p:sldLayoutId id="2147483832" r:id="rId18"/>
    <p:sldLayoutId id="2147483833" r:id="rId19"/>
    <p:sldLayoutId id="2147483834" r:id="rId20"/>
    <p:sldLayoutId id="2147483835" r:id="rId21"/>
    <p:sldLayoutId id="2147483836" r:id="rId22"/>
    <p:sldLayoutId id="2147483837" r:id="rId23"/>
    <p:sldLayoutId id="2147483838" r:id="rId24"/>
    <p:sldLayoutId id="2147483839" r:id="rId25"/>
    <p:sldLayoutId id="2147483840" r:id="rId26"/>
    <p:sldLayoutId id="2147483841" r:id="rId27"/>
    <p:sldLayoutId id="2147483842" r:id="rId28"/>
    <p:sldLayoutId id="2147483843" r:id="rId29"/>
    <p:sldLayoutId id="2147483844" r:id="rId30"/>
    <p:sldLayoutId id="2147483846" r:id="rId31"/>
    <p:sldLayoutId id="2147483903" r:id="rId3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Sans Display" pitchFamily="2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Sans Display" pitchFamily="2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85216"/>
            <a:ext cx="10430257" cy="3077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591056"/>
            <a:ext cx="10426700" cy="5663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21DE6D5-FF91-85A4-E9FC-5084016E9E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236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</p:sldLayoutIdLst>
  <p:transition>
    <p:fade/>
  </p:transition>
  <p:hf sldNum="0"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000" b="0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169863" marR="0" indent="-169863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20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346075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384048" marR="0" indent="-118872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Arial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>
          <p15:clr>
            <a:srgbClr val="A5A5A5"/>
          </p15:clr>
        </p15:guide>
        <p15:guide id="2" pos="7680">
          <p15:clr>
            <a:srgbClr val="A5A5A5"/>
          </p15:clr>
        </p15:guide>
        <p15:guide id="3" pos="186">
          <p15:clr>
            <a:srgbClr val="A5A5A5"/>
          </p15:clr>
        </p15:guide>
        <p15:guide id="26" pos="7496">
          <p15:clr>
            <a:srgbClr val="A5A5A5"/>
          </p15:clr>
        </p15:guide>
        <p15:guide id="27" orient="horz">
          <p15:clr>
            <a:srgbClr val="A5A5A5"/>
          </p15:clr>
        </p15:guide>
        <p15:guide id="28" orient="horz" pos="4320">
          <p15:clr>
            <a:srgbClr val="A5A5A5"/>
          </p15:clr>
        </p15:guide>
        <p15:guide id="29" orient="horz" pos="184">
          <p15:clr>
            <a:srgbClr val="A5A5A5"/>
          </p15:clr>
        </p15:guide>
        <p15:guide id="40" orient="horz" pos="4134">
          <p15:clr>
            <a:srgbClr val="A5A5A5"/>
          </p15:clr>
        </p15:guide>
        <p15:guide id="42" pos="365">
          <p15:clr>
            <a:srgbClr val="C35EA4"/>
          </p15:clr>
        </p15:guide>
        <p15:guide id="43" orient="horz" pos="367">
          <p15:clr>
            <a:srgbClr val="C35EA4"/>
          </p15:clr>
        </p15:guide>
        <p15:guide id="44" orient="horz" pos="3953">
          <p15:clr>
            <a:srgbClr val="C35EA4"/>
          </p15:clr>
        </p15:guide>
        <p15:guide id="45" pos="7307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3">
            <a:extLst>
              <a:ext uri="{FF2B5EF4-FFF2-40B4-BE49-F238E27FC236}">
                <a16:creationId xmlns:a16="http://schemas.microsoft.com/office/drawing/2014/main" id="{8A40A327-F11B-1C5C-32A7-A5DC70B6E702}"/>
              </a:ext>
            </a:extLst>
          </p:cNvPr>
          <p:cNvSpPr txBox="1">
            <a:spLocks/>
          </p:cNvSpPr>
          <p:nvPr/>
        </p:nvSpPr>
        <p:spPr>
          <a:xfrm>
            <a:off x="588263" y="2544274"/>
            <a:ext cx="2632457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IN"/>
              <a:t>The BXT framework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A1FB725-B235-B855-2DFC-B98C5D62115B}"/>
              </a:ext>
            </a:extLst>
          </p:cNvPr>
          <p:cNvSpPr/>
          <p:nvPr/>
        </p:nvSpPr>
        <p:spPr bwMode="auto">
          <a:xfrm>
            <a:off x="3556000" y="585788"/>
            <a:ext cx="8054975" cy="5757279"/>
          </a:xfrm>
          <a:prstGeom prst="roundRect">
            <a:avLst>
              <a:gd name="adj" fmla="val 3989"/>
            </a:avLst>
          </a:prstGeom>
          <a:solidFill>
            <a:schemeClr val="bg1">
              <a:alpha val="70000"/>
            </a:schemeClr>
          </a:solidFill>
          <a:ln w="6350">
            <a:gradFill>
              <a:gsLst>
                <a:gs pos="0">
                  <a:schemeClr val="bg1">
                    <a:alpha val="27000"/>
                  </a:schemeClr>
                </a:gs>
                <a:gs pos="100000">
                  <a:schemeClr val="bg1">
                    <a:alpha val="59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65100" dist="25400" dir="2700000" algn="tl" rotWithShape="0">
              <a:schemeClr val="bg2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" rIns="91440" bIns="640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err="1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79AFCA2-5AF2-579F-EF13-3A1590A5F274}"/>
              </a:ext>
            </a:extLst>
          </p:cNvPr>
          <p:cNvSpPr>
            <a:spLocks/>
          </p:cNvSpPr>
          <p:nvPr/>
        </p:nvSpPr>
        <p:spPr bwMode="auto">
          <a:xfrm>
            <a:off x="3672049" y="695515"/>
            <a:ext cx="7822877" cy="5537824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8" name="Graphic 77" descr="Icon of a document of a checkmark">
            <a:extLst>
              <a:ext uri="{FF2B5EF4-FFF2-40B4-BE49-F238E27FC236}">
                <a16:creationId xmlns:a16="http://schemas.microsoft.com/office/drawing/2014/main" id="{713671E0-7E45-EA59-7942-55192C86BD1A}"/>
              </a:ext>
            </a:extLst>
          </p:cNvPr>
          <p:cNvSpPr/>
          <p:nvPr/>
        </p:nvSpPr>
        <p:spPr>
          <a:xfrm>
            <a:off x="588263" y="1665632"/>
            <a:ext cx="538303" cy="594967"/>
          </a:xfrm>
          <a:custGeom>
            <a:avLst/>
            <a:gdLst>
              <a:gd name="connsiteX0" fmla="*/ 262783 w 293698"/>
              <a:gd name="connsiteY0" fmla="*/ 285970 h 324614"/>
              <a:gd name="connsiteX1" fmla="*/ 174176 w 293698"/>
              <a:gd name="connsiteY1" fmla="*/ 285970 h 324614"/>
              <a:gd name="connsiteX2" fmla="*/ 157522 w 293698"/>
              <a:gd name="connsiteY2" fmla="*/ 309157 h 324614"/>
              <a:gd name="connsiteX3" fmla="*/ 262783 w 293698"/>
              <a:gd name="connsiteY3" fmla="*/ 309157 h 324614"/>
              <a:gd name="connsiteX4" fmla="*/ 293699 w 293698"/>
              <a:gd name="connsiteY4" fmla="*/ 278241 h 324614"/>
              <a:gd name="connsiteX5" fmla="*/ 293699 w 293698"/>
              <a:gd name="connsiteY5" fmla="*/ 121004 h 324614"/>
              <a:gd name="connsiteX6" fmla="*/ 284641 w 293698"/>
              <a:gd name="connsiteY6" fmla="*/ 99147 h 324614"/>
              <a:gd name="connsiteX7" fmla="*/ 194537 w 293698"/>
              <a:gd name="connsiteY7" fmla="*/ 9058 h 324614"/>
              <a:gd name="connsiteX8" fmla="*/ 193784 w 293698"/>
              <a:gd name="connsiteY8" fmla="*/ 8428 h 324614"/>
              <a:gd name="connsiteX9" fmla="*/ 193223 w 293698"/>
              <a:gd name="connsiteY9" fmla="*/ 7976 h 324614"/>
              <a:gd name="connsiteX10" fmla="*/ 189838 w 293698"/>
              <a:gd name="connsiteY10" fmla="*/ 5194 h 324614"/>
              <a:gd name="connsiteX11" fmla="*/ 188593 w 293698"/>
              <a:gd name="connsiteY11" fmla="*/ 4515 h 324614"/>
              <a:gd name="connsiteX12" fmla="*/ 187859 w 293698"/>
              <a:gd name="connsiteY12" fmla="*/ 4143 h 324614"/>
              <a:gd name="connsiteX13" fmla="*/ 187086 w 293698"/>
              <a:gd name="connsiteY13" fmla="*/ 3700 h 324614"/>
              <a:gd name="connsiteX14" fmla="*/ 184520 w 293698"/>
              <a:gd name="connsiteY14" fmla="*/ 2350 h 324614"/>
              <a:gd name="connsiteX15" fmla="*/ 174874 w 293698"/>
              <a:gd name="connsiteY15" fmla="*/ 216 h 324614"/>
              <a:gd name="connsiteX16" fmla="*/ 173966 w 293698"/>
              <a:gd name="connsiteY16" fmla="*/ 115 h 324614"/>
              <a:gd name="connsiteX17" fmla="*/ 172695 w 293698"/>
              <a:gd name="connsiteY17" fmla="*/ 0 h 324614"/>
              <a:gd name="connsiteX18" fmla="*/ 77289 w 293698"/>
              <a:gd name="connsiteY18" fmla="*/ 0 h 324614"/>
              <a:gd name="connsiteX19" fmla="*/ 46374 w 293698"/>
              <a:gd name="connsiteY19" fmla="*/ 30916 h 324614"/>
              <a:gd name="connsiteX20" fmla="*/ 46374 w 293698"/>
              <a:gd name="connsiteY20" fmla="*/ 146822 h 324614"/>
              <a:gd name="connsiteX21" fmla="*/ 69560 w 293698"/>
              <a:gd name="connsiteY21" fmla="*/ 140301 h 324614"/>
              <a:gd name="connsiteX22" fmla="*/ 69560 w 293698"/>
              <a:gd name="connsiteY22" fmla="*/ 30916 h 324614"/>
              <a:gd name="connsiteX23" fmla="*/ 77289 w 293698"/>
              <a:gd name="connsiteY23" fmla="*/ 23187 h 324614"/>
              <a:gd name="connsiteX24" fmla="*/ 170036 w 293698"/>
              <a:gd name="connsiteY24" fmla="*/ 23187 h 324614"/>
              <a:gd name="connsiteX25" fmla="*/ 170036 w 293698"/>
              <a:gd name="connsiteY25" fmla="*/ 92747 h 324614"/>
              <a:gd name="connsiteX26" fmla="*/ 200952 w 293698"/>
              <a:gd name="connsiteY26" fmla="*/ 123663 h 324614"/>
              <a:gd name="connsiteX27" fmla="*/ 270512 w 293698"/>
              <a:gd name="connsiteY27" fmla="*/ 123663 h 324614"/>
              <a:gd name="connsiteX28" fmla="*/ 270512 w 293698"/>
              <a:gd name="connsiteY28" fmla="*/ 278241 h 324614"/>
              <a:gd name="connsiteX29" fmla="*/ 262783 w 293698"/>
              <a:gd name="connsiteY29" fmla="*/ 285970 h 324614"/>
              <a:gd name="connsiteX30" fmla="*/ 253168 w 293698"/>
              <a:gd name="connsiteY30" fmla="*/ 100476 h 324614"/>
              <a:gd name="connsiteX31" fmla="*/ 200952 w 293698"/>
              <a:gd name="connsiteY31" fmla="*/ 100476 h 324614"/>
              <a:gd name="connsiteX32" fmla="*/ 193223 w 293698"/>
              <a:gd name="connsiteY32" fmla="*/ 92747 h 324614"/>
              <a:gd name="connsiteX33" fmla="*/ 193223 w 293698"/>
              <a:gd name="connsiteY33" fmla="*/ 40515 h 324614"/>
              <a:gd name="connsiteX34" fmla="*/ 253168 w 293698"/>
              <a:gd name="connsiteY34" fmla="*/ 100476 h 324614"/>
              <a:gd name="connsiteX35" fmla="*/ 185494 w 293698"/>
              <a:gd name="connsiteY35" fmla="*/ 239596 h 324614"/>
              <a:gd name="connsiteX36" fmla="*/ 182806 w 293698"/>
              <a:gd name="connsiteY36" fmla="*/ 262783 h 324614"/>
              <a:gd name="connsiteX37" fmla="*/ 220274 w 293698"/>
              <a:gd name="connsiteY37" fmla="*/ 262783 h 324614"/>
              <a:gd name="connsiteX38" fmla="*/ 247325 w 293698"/>
              <a:gd name="connsiteY38" fmla="*/ 235732 h 324614"/>
              <a:gd name="connsiteX39" fmla="*/ 247325 w 293698"/>
              <a:gd name="connsiteY39" fmla="*/ 173901 h 324614"/>
              <a:gd name="connsiteX40" fmla="*/ 220274 w 293698"/>
              <a:gd name="connsiteY40" fmla="*/ 146849 h 324614"/>
              <a:gd name="connsiteX41" fmla="*/ 123731 w 293698"/>
              <a:gd name="connsiteY41" fmla="*/ 146849 h 324614"/>
              <a:gd name="connsiteX42" fmla="*/ 162307 w 293698"/>
              <a:gd name="connsiteY42" fmla="*/ 175391 h 324614"/>
              <a:gd name="connsiteX43" fmla="*/ 162307 w 293698"/>
              <a:gd name="connsiteY43" fmla="*/ 170036 h 324614"/>
              <a:gd name="connsiteX44" fmla="*/ 220274 w 293698"/>
              <a:gd name="connsiteY44" fmla="*/ 170036 h 324614"/>
              <a:gd name="connsiteX45" fmla="*/ 224139 w 293698"/>
              <a:gd name="connsiteY45" fmla="*/ 173901 h 324614"/>
              <a:gd name="connsiteX46" fmla="*/ 224139 w 293698"/>
              <a:gd name="connsiteY46" fmla="*/ 193223 h 324614"/>
              <a:gd name="connsiteX47" fmla="*/ 174176 w 293698"/>
              <a:gd name="connsiteY47" fmla="*/ 193223 h 324614"/>
              <a:gd name="connsiteX48" fmla="*/ 182806 w 293698"/>
              <a:gd name="connsiteY48" fmla="*/ 216410 h 324614"/>
              <a:gd name="connsiteX49" fmla="*/ 224139 w 293698"/>
              <a:gd name="connsiteY49" fmla="*/ 216410 h 324614"/>
              <a:gd name="connsiteX50" fmla="*/ 224139 w 293698"/>
              <a:gd name="connsiteY50" fmla="*/ 235732 h 324614"/>
              <a:gd name="connsiteX51" fmla="*/ 220274 w 293698"/>
              <a:gd name="connsiteY51" fmla="*/ 239596 h 324614"/>
              <a:gd name="connsiteX52" fmla="*/ 185494 w 293698"/>
              <a:gd name="connsiteY52" fmla="*/ 239596 h 324614"/>
              <a:gd name="connsiteX53" fmla="*/ 170036 w 293698"/>
              <a:gd name="connsiteY53" fmla="*/ 239596 h 324614"/>
              <a:gd name="connsiteX54" fmla="*/ 85018 w 293698"/>
              <a:gd name="connsiteY54" fmla="*/ 324615 h 324614"/>
              <a:gd name="connsiteX55" fmla="*/ 0 w 293698"/>
              <a:gd name="connsiteY55" fmla="*/ 239596 h 324614"/>
              <a:gd name="connsiteX56" fmla="*/ 85018 w 293698"/>
              <a:gd name="connsiteY56" fmla="*/ 154578 h 324614"/>
              <a:gd name="connsiteX57" fmla="*/ 170036 w 293698"/>
              <a:gd name="connsiteY57" fmla="*/ 239596 h 324614"/>
              <a:gd name="connsiteX58" fmla="*/ 136857 w 293698"/>
              <a:gd name="connsiteY58" fmla="*/ 203215 h 324614"/>
              <a:gd name="connsiteX59" fmla="*/ 125926 w 293698"/>
              <a:gd name="connsiteY59" fmla="*/ 203215 h 324614"/>
              <a:gd name="connsiteX60" fmla="*/ 69560 w 293698"/>
              <a:gd name="connsiteY60" fmla="*/ 259582 h 324614"/>
              <a:gd name="connsiteX61" fmla="*/ 44110 w 293698"/>
              <a:gd name="connsiteY61" fmla="*/ 234131 h 324614"/>
              <a:gd name="connsiteX62" fmla="*/ 33179 w 293698"/>
              <a:gd name="connsiteY62" fmla="*/ 234131 h 324614"/>
              <a:gd name="connsiteX63" fmla="*/ 33179 w 293698"/>
              <a:gd name="connsiteY63" fmla="*/ 245062 h 324614"/>
              <a:gd name="connsiteX64" fmla="*/ 64095 w 293698"/>
              <a:gd name="connsiteY64" fmla="*/ 275978 h 324614"/>
              <a:gd name="connsiteX65" fmla="*/ 75025 w 293698"/>
              <a:gd name="connsiteY65" fmla="*/ 275978 h 324614"/>
              <a:gd name="connsiteX66" fmla="*/ 136857 w 293698"/>
              <a:gd name="connsiteY66" fmla="*/ 214147 h 324614"/>
              <a:gd name="connsiteX67" fmla="*/ 136857 w 293698"/>
              <a:gd name="connsiteY67" fmla="*/ 203215 h 324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93698" h="324614">
                <a:moveTo>
                  <a:pt x="262783" y="285970"/>
                </a:moveTo>
                <a:lnTo>
                  <a:pt x="174176" y="285970"/>
                </a:lnTo>
                <a:cubicBezTo>
                  <a:pt x="169736" y="294487"/>
                  <a:pt x="164113" y="302289"/>
                  <a:pt x="157522" y="309157"/>
                </a:cubicBezTo>
                <a:lnTo>
                  <a:pt x="262783" y="309157"/>
                </a:lnTo>
                <a:cubicBezTo>
                  <a:pt x="279849" y="309157"/>
                  <a:pt x="293699" y="295306"/>
                  <a:pt x="293699" y="278241"/>
                </a:cubicBezTo>
                <a:lnTo>
                  <a:pt x="293699" y="121004"/>
                </a:lnTo>
                <a:cubicBezTo>
                  <a:pt x="293699" y="112811"/>
                  <a:pt x="290437" y="104943"/>
                  <a:pt x="284641" y="99147"/>
                </a:cubicBezTo>
                <a:lnTo>
                  <a:pt x="194537" y="9058"/>
                </a:lnTo>
                <a:cubicBezTo>
                  <a:pt x="194305" y="8827"/>
                  <a:pt x="194044" y="8627"/>
                  <a:pt x="193784" y="8428"/>
                </a:cubicBezTo>
                <a:cubicBezTo>
                  <a:pt x="193591" y="8280"/>
                  <a:pt x="193401" y="8134"/>
                  <a:pt x="193223" y="7976"/>
                </a:cubicBezTo>
                <a:cubicBezTo>
                  <a:pt x="192125" y="6987"/>
                  <a:pt x="191043" y="6013"/>
                  <a:pt x="189838" y="5194"/>
                </a:cubicBezTo>
                <a:cubicBezTo>
                  <a:pt x="189447" y="4930"/>
                  <a:pt x="189020" y="4722"/>
                  <a:pt x="188593" y="4515"/>
                </a:cubicBezTo>
                <a:cubicBezTo>
                  <a:pt x="188346" y="4394"/>
                  <a:pt x="188099" y="4274"/>
                  <a:pt x="187859" y="4143"/>
                </a:cubicBezTo>
                <a:cubicBezTo>
                  <a:pt x="187601" y="3997"/>
                  <a:pt x="187344" y="3849"/>
                  <a:pt x="187086" y="3700"/>
                </a:cubicBezTo>
                <a:cubicBezTo>
                  <a:pt x="186248" y="3215"/>
                  <a:pt x="185407" y="2728"/>
                  <a:pt x="184520" y="2350"/>
                </a:cubicBezTo>
                <a:cubicBezTo>
                  <a:pt x="181475" y="1082"/>
                  <a:pt x="178198" y="448"/>
                  <a:pt x="174874" y="216"/>
                </a:cubicBezTo>
                <a:cubicBezTo>
                  <a:pt x="174570" y="197"/>
                  <a:pt x="174269" y="156"/>
                  <a:pt x="173966" y="115"/>
                </a:cubicBezTo>
                <a:cubicBezTo>
                  <a:pt x="173547" y="57"/>
                  <a:pt x="173126" y="0"/>
                  <a:pt x="172695" y="0"/>
                </a:cubicBezTo>
                <a:lnTo>
                  <a:pt x="77289" y="0"/>
                </a:lnTo>
                <a:cubicBezTo>
                  <a:pt x="60224" y="0"/>
                  <a:pt x="46374" y="13850"/>
                  <a:pt x="46374" y="30916"/>
                </a:cubicBezTo>
                <a:lnTo>
                  <a:pt x="46374" y="146822"/>
                </a:lnTo>
                <a:cubicBezTo>
                  <a:pt x="53703" y="143764"/>
                  <a:pt x="61473" y="141550"/>
                  <a:pt x="69560" y="140301"/>
                </a:cubicBezTo>
                <a:lnTo>
                  <a:pt x="69560" y="30916"/>
                </a:lnTo>
                <a:cubicBezTo>
                  <a:pt x="69560" y="26665"/>
                  <a:pt x="73023" y="23187"/>
                  <a:pt x="77289" y="23187"/>
                </a:cubicBezTo>
                <a:lnTo>
                  <a:pt x="170036" y="23187"/>
                </a:lnTo>
                <a:lnTo>
                  <a:pt x="170036" y="92747"/>
                </a:lnTo>
                <a:cubicBezTo>
                  <a:pt x="170036" y="109812"/>
                  <a:pt x="183886" y="123663"/>
                  <a:pt x="200952" y="123663"/>
                </a:cubicBezTo>
                <a:lnTo>
                  <a:pt x="270512" y="123663"/>
                </a:lnTo>
                <a:lnTo>
                  <a:pt x="270512" y="278241"/>
                </a:lnTo>
                <a:cubicBezTo>
                  <a:pt x="270512" y="282492"/>
                  <a:pt x="267050" y="285970"/>
                  <a:pt x="262783" y="285970"/>
                </a:cubicBezTo>
                <a:close/>
                <a:moveTo>
                  <a:pt x="253168" y="100476"/>
                </a:moveTo>
                <a:lnTo>
                  <a:pt x="200952" y="100476"/>
                </a:lnTo>
                <a:cubicBezTo>
                  <a:pt x="196685" y="100476"/>
                  <a:pt x="193223" y="96998"/>
                  <a:pt x="193223" y="92747"/>
                </a:cubicBezTo>
                <a:lnTo>
                  <a:pt x="193223" y="40515"/>
                </a:lnTo>
                <a:lnTo>
                  <a:pt x="253168" y="100476"/>
                </a:lnTo>
                <a:close/>
                <a:moveTo>
                  <a:pt x="185494" y="239596"/>
                </a:moveTo>
                <a:cubicBezTo>
                  <a:pt x="185494" y="247577"/>
                  <a:pt x="184563" y="255340"/>
                  <a:pt x="182806" y="262783"/>
                </a:cubicBezTo>
                <a:lnTo>
                  <a:pt x="220274" y="262783"/>
                </a:lnTo>
                <a:cubicBezTo>
                  <a:pt x="235214" y="262783"/>
                  <a:pt x="247325" y="250672"/>
                  <a:pt x="247325" y="235732"/>
                </a:cubicBezTo>
                <a:lnTo>
                  <a:pt x="247325" y="173901"/>
                </a:lnTo>
                <a:cubicBezTo>
                  <a:pt x="247325" y="158961"/>
                  <a:pt x="235214" y="146849"/>
                  <a:pt x="220274" y="146849"/>
                </a:cubicBezTo>
                <a:lnTo>
                  <a:pt x="123731" y="146849"/>
                </a:lnTo>
                <a:cubicBezTo>
                  <a:pt x="138803" y="153148"/>
                  <a:pt x="152014" y="163014"/>
                  <a:pt x="162307" y="175391"/>
                </a:cubicBezTo>
                <a:lnTo>
                  <a:pt x="162307" y="170036"/>
                </a:lnTo>
                <a:lnTo>
                  <a:pt x="220274" y="170036"/>
                </a:lnTo>
                <a:cubicBezTo>
                  <a:pt x="222409" y="170036"/>
                  <a:pt x="224139" y="171766"/>
                  <a:pt x="224139" y="173901"/>
                </a:cubicBezTo>
                <a:lnTo>
                  <a:pt x="224139" y="193223"/>
                </a:lnTo>
                <a:lnTo>
                  <a:pt x="174176" y="193223"/>
                </a:lnTo>
                <a:cubicBezTo>
                  <a:pt x="177957" y="200477"/>
                  <a:pt x="180878" y="208251"/>
                  <a:pt x="182806" y="216410"/>
                </a:cubicBezTo>
                <a:lnTo>
                  <a:pt x="224139" y="216410"/>
                </a:lnTo>
                <a:lnTo>
                  <a:pt x="224139" y="235732"/>
                </a:lnTo>
                <a:cubicBezTo>
                  <a:pt x="224139" y="237867"/>
                  <a:pt x="222409" y="239596"/>
                  <a:pt x="220274" y="239596"/>
                </a:cubicBezTo>
                <a:lnTo>
                  <a:pt x="185494" y="239596"/>
                </a:lnTo>
                <a:close/>
                <a:moveTo>
                  <a:pt x="170036" y="239596"/>
                </a:moveTo>
                <a:cubicBezTo>
                  <a:pt x="170036" y="286551"/>
                  <a:pt x="131972" y="324615"/>
                  <a:pt x="85018" y="324615"/>
                </a:cubicBezTo>
                <a:cubicBezTo>
                  <a:pt x="38064" y="324615"/>
                  <a:pt x="0" y="286551"/>
                  <a:pt x="0" y="239596"/>
                </a:cubicBezTo>
                <a:cubicBezTo>
                  <a:pt x="0" y="192642"/>
                  <a:pt x="38064" y="154578"/>
                  <a:pt x="85018" y="154578"/>
                </a:cubicBezTo>
                <a:cubicBezTo>
                  <a:pt x="131972" y="154578"/>
                  <a:pt x="170036" y="192642"/>
                  <a:pt x="170036" y="239596"/>
                </a:cubicBezTo>
                <a:close/>
                <a:moveTo>
                  <a:pt x="136857" y="203215"/>
                </a:moveTo>
                <a:cubicBezTo>
                  <a:pt x="133838" y="200197"/>
                  <a:pt x="128945" y="200197"/>
                  <a:pt x="125926" y="203215"/>
                </a:cubicBezTo>
                <a:lnTo>
                  <a:pt x="69560" y="259582"/>
                </a:lnTo>
                <a:lnTo>
                  <a:pt x="44110" y="234131"/>
                </a:lnTo>
                <a:cubicBezTo>
                  <a:pt x="41091" y="231113"/>
                  <a:pt x="36198" y="231113"/>
                  <a:pt x="33179" y="234131"/>
                </a:cubicBezTo>
                <a:cubicBezTo>
                  <a:pt x="30161" y="237149"/>
                  <a:pt x="30161" y="242043"/>
                  <a:pt x="33179" y="245062"/>
                </a:cubicBezTo>
                <a:lnTo>
                  <a:pt x="64095" y="275978"/>
                </a:lnTo>
                <a:cubicBezTo>
                  <a:pt x="67113" y="278995"/>
                  <a:pt x="72007" y="278995"/>
                  <a:pt x="75025" y="275978"/>
                </a:cubicBezTo>
                <a:lnTo>
                  <a:pt x="136857" y="214147"/>
                </a:lnTo>
                <a:cubicBezTo>
                  <a:pt x="139875" y="211128"/>
                  <a:pt x="139875" y="206234"/>
                  <a:pt x="136857" y="203215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56000">
                <a:srgbClr val="CC918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6" name="Freeform: Shape 27">
            <a:extLst>
              <a:ext uri="{FF2B5EF4-FFF2-40B4-BE49-F238E27FC236}">
                <a16:creationId xmlns:a16="http://schemas.microsoft.com/office/drawing/2014/main" id="{25121EF8-7B2A-614E-8F05-2A02EC011627}"/>
              </a:ext>
            </a:extLst>
          </p:cNvPr>
          <p:cNvSpPr/>
          <p:nvPr/>
        </p:nvSpPr>
        <p:spPr bwMode="auto">
          <a:xfrm>
            <a:off x="5130616" y="1094607"/>
            <a:ext cx="4905743" cy="4739639"/>
          </a:xfrm>
          <a:custGeom>
            <a:avLst/>
            <a:gdLst>
              <a:gd name="connsiteX0" fmla="*/ 1628986 w 4905743"/>
              <a:gd name="connsiteY0" fmla="*/ 0 h 4739639"/>
              <a:gd name="connsiteX1" fmla="*/ 2405458 w 4905743"/>
              <a:gd name="connsiteY1" fmla="*/ 196610 h 4739639"/>
              <a:gd name="connsiteX2" fmla="*/ 2452872 w 4905743"/>
              <a:gd name="connsiteY2" fmla="*/ 225415 h 4739639"/>
              <a:gd name="connsiteX3" fmla="*/ 2500286 w 4905743"/>
              <a:gd name="connsiteY3" fmla="*/ 196610 h 4739639"/>
              <a:gd name="connsiteX4" fmla="*/ 3276757 w 4905743"/>
              <a:gd name="connsiteY4" fmla="*/ 0 h 4739639"/>
              <a:gd name="connsiteX5" fmla="*/ 4905743 w 4905743"/>
              <a:gd name="connsiteY5" fmla="*/ 1628986 h 4739639"/>
              <a:gd name="connsiteX6" fmla="*/ 4187539 w 4905743"/>
              <a:gd name="connsiteY6" fmla="*/ 2979767 h 4739639"/>
              <a:gd name="connsiteX7" fmla="*/ 4078590 w 4905743"/>
              <a:gd name="connsiteY7" fmla="*/ 3045955 h 4739639"/>
              <a:gd name="connsiteX8" fmla="*/ 4081857 w 4905743"/>
              <a:gd name="connsiteY8" fmla="*/ 3110653 h 4739639"/>
              <a:gd name="connsiteX9" fmla="*/ 2452871 w 4905743"/>
              <a:gd name="connsiteY9" fmla="*/ 4739639 h 4739639"/>
              <a:gd name="connsiteX10" fmla="*/ 823885 w 4905743"/>
              <a:gd name="connsiteY10" fmla="*/ 3110653 h 4739639"/>
              <a:gd name="connsiteX11" fmla="*/ 827152 w 4905743"/>
              <a:gd name="connsiteY11" fmla="*/ 3045954 h 4739639"/>
              <a:gd name="connsiteX12" fmla="*/ 718205 w 4905743"/>
              <a:gd name="connsiteY12" fmla="*/ 2979767 h 4739639"/>
              <a:gd name="connsiteX13" fmla="*/ 0 w 4905743"/>
              <a:gd name="connsiteY13" fmla="*/ 1628986 h 4739639"/>
              <a:gd name="connsiteX14" fmla="*/ 1628986 w 4905743"/>
              <a:gd name="connsiteY14" fmla="*/ 0 h 4739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905743" h="4739639">
                <a:moveTo>
                  <a:pt x="1628986" y="0"/>
                </a:moveTo>
                <a:cubicBezTo>
                  <a:pt x="1910131" y="0"/>
                  <a:pt x="2174641" y="71223"/>
                  <a:pt x="2405458" y="196610"/>
                </a:cubicBezTo>
                <a:lnTo>
                  <a:pt x="2452872" y="225415"/>
                </a:lnTo>
                <a:lnTo>
                  <a:pt x="2500286" y="196610"/>
                </a:lnTo>
                <a:cubicBezTo>
                  <a:pt x="2731102" y="71223"/>
                  <a:pt x="2995612" y="0"/>
                  <a:pt x="3276757" y="0"/>
                </a:cubicBezTo>
                <a:cubicBezTo>
                  <a:pt x="4176421" y="0"/>
                  <a:pt x="4905743" y="729322"/>
                  <a:pt x="4905743" y="1628986"/>
                </a:cubicBezTo>
                <a:cubicBezTo>
                  <a:pt x="4905743" y="2191276"/>
                  <a:pt x="4620852" y="2687026"/>
                  <a:pt x="4187539" y="2979767"/>
                </a:cubicBezTo>
                <a:lnTo>
                  <a:pt x="4078590" y="3045955"/>
                </a:lnTo>
                <a:lnTo>
                  <a:pt x="4081857" y="3110653"/>
                </a:lnTo>
                <a:cubicBezTo>
                  <a:pt x="4081857" y="4010317"/>
                  <a:pt x="3352535" y="4739639"/>
                  <a:pt x="2452871" y="4739639"/>
                </a:cubicBezTo>
                <a:cubicBezTo>
                  <a:pt x="1553207" y="4739639"/>
                  <a:pt x="823885" y="4010317"/>
                  <a:pt x="823885" y="3110653"/>
                </a:cubicBezTo>
                <a:lnTo>
                  <a:pt x="827152" y="3045954"/>
                </a:lnTo>
                <a:lnTo>
                  <a:pt x="718205" y="2979767"/>
                </a:lnTo>
                <a:cubicBezTo>
                  <a:pt x="284892" y="2687026"/>
                  <a:pt x="0" y="2191276"/>
                  <a:pt x="0" y="1628986"/>
                </a:cubicBezTo>
                <a:cubicBezTo>
                  <a:pt x="0" y="729322"/>
                  <a:pt x="729322" y="0"/>
                  <a:pt x="1628986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84200" dist="38100" dir="3960000" sx="102000" sy="102000" algn="tl" rotWithShape="0">
              <a:prstClr val="black">
                <a:alpha val="10000"/>
              </a:prstClr>
            </a:outerShdw>
          </a:effectLst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BA2074-8F66-4CA3-3B0E-236B252D2077}"/>
              </a:ext>
            </a:extLst>
          </p:cNvPr>
          <p:cNvSpPr/>
          <p:nvPr/>
        </p:nvSpPr>
        <p:spPr bwMode="auto">
          <a:xfrm>
            <a:off x="5277935" y="1241926"/>
            <a:ext cx="2963333" cy="2963333"/>
          </a:xfrm>
          <a:prstGeom prst="ellipse">
            <a:avLst/>
          </a:prstGeom>
          <a:solidFill>
            <a:schemeClr val="bg2">
              <a:alpha val="30000"/>
            </a:schemeClr>
          </a:solidFill>
          <a:ln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D88956F-9750-83D2-6A4E-CC9C4D660E97}"/>
              </a:ext>
            </a:extLst>
          </p:cNvPr>
          <p:cNvSpPr/>
          <p:nvPr/>
        </p:nvSpPr>
        <p:spPr bwMode="auto">
          <a:xfrm>
            <a:off x="6925706" y="1241926"/>
            <a:ext cx="2963333" cy="2963333"/>
          </a:xfrm>
          <a:prstGeom prst="ellipse">
            <a:avLst/>
          </a:prstGeom>
          <a:solidFill>
            <a:schemeClr val="bg2">
              <a:alpha val="30000"/>
            </a:schemeClr>
          </a:solidFill>
          <a:ln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34DD3B-838A-F83A-900A-DE4AF702BE97}"/>
              </a:ext>
            </a:extLst>
          </p:cNvPr>
          <p:cNvSpPr/>
          <p:nvPr/>
        </p:nvSpPr>
        <p:spPr bwMode="auto">
          <a:xfrm>
            <a:off x="6101820" y="2723593"/>
            <a:ext cx="2963333" cy="2963333"/>
          </a:xfrm>
          <a:prstGeom prst="ellipse">
            <a:avLst/>
          </a:prstGeom>
          <a:solidFill>
            <a:schemeClr val="bg2">
              <a:alpha val="30000"/>
            </a:schemeClr>
          </a:solidFill>
          <a:ln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C0D26C-84D5-DD96-AE5F-90493F7E7634}"/>
              </a:ext>
            </a:extLst>
          </p:cNvPr>
          <p:cNvSpPr txBox="1"/>
          <p:nvPr/>
        </p:nvSpPr>
        <p:spPr>
          <a:xfrm>
            <a:off x="5694435" y="2491508"/>
            <a:ext cx="902491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Business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(viability)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81B783-8FDB-DF3A-AD5A-7103863D453E}"/>
              </a:ext>
            </a:extLst>
          </p:cNvPr>
          <p:cNvSpPr txBox="1"/>
          <p:nvPr/>
        </p:nvSpPr>
        <p:spPr>
          <a:xfrm>
            <a:off x="8536289" y="2491508"/>
            <a:ext cx="114133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Experience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(desirability)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CE9858-4E6C-49B3-C5D4-0AE4D50CAC2C}"/>
              </a:ext>
            </a:extLst>
          </p:cNvPr>
          <p:cNvSpPr txBox="1"/>
          <p:nvPr/>
        </p:nvSpPr>
        <p:spPr>
          <a:xfrm>
            <a:off x="6976878" y="4824804"/>
            <a:ext cx="1213216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Technology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(feasibility)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D269A-45E3-E9D0-019C-CF44CC237D2F}"/>
              </a:ext>
            </a:extLst>
          </p:cNvPr>
          <p:cNvSpPr txBox="1"/>
          <p:nvPr/>
        </p:nvSpPr>
        <p:spPr>
          <a:xfrm>
            <a:off x="7142055" y="2951168"/>
            <a:ext cx="92201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Product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success</a:t>
            </a:r>
          </a:p>
        </p:txBody>
      </p:sp>
      <p:sp>
        <p:nvSpPr>
          <p:cNvPr id="31" name="Graphic 33" descr="Icon of a briefcase">
            <a:extLst>
              <a:ext uri="{FF2B5EF4-FFF2-40B4-BE49-F238E27FC236}">
                <a16:creationId xmlns:a16="http://schemas.microsoft.com/office/drawing/2014/main" id="{5D9246F1-A235-2336-1D31-37F6AFB31CCF}"/>
              </a:ext>
            </a:extLst>
          </p:cNvPr>
          <p:cNvSpPr>
            <a:spLocks noChangeAspect="1"/>
          </p:cNvSpPr>
          <p:nvPr/>
        </p:nvSpPr>
        <p:spPr>
          <a:xfrm>
            <a:off x="5928121" y="1982365"/>
            <a:ext cx="435120" cy="347986"/>
          </a:xfrm>
          <a:custGeom>
            <a:avLst/>
            <a:gdLst>
              <a:gd name="connsiteX0" fmla="*/ 95250 w 381000"/>
              <a:gd name="connsiteY0" fmla="*/ 42863 h 304704"/>
              <a:gd name="connsiteX1" fmla="*/ 95250 w 381000"/>
              <a:gd name="connsiteY1" fmla="*/ 57112 h 304704"/>
              <a:gd name="connsiteX2" fmla="*/ 42863 w 381000"/>
              <a:gd name="connsiteY2" fmla="*/ 57112 h 304704"/>
              <a:gd name="connsiteX3" fmla="*/ 0 w 381000"/>
              <a:gd name="connsiteY3" fmla="*/ 99974 h 304704"/>
              <a:gd name="connsiteX4" fmla="*/ 0 w 381000"/>
              <a:gd name="connsiteY4" fmla="*/ 261842 h 304704"/>
              <a:gd name="connsiteX5" fmla="*/ 42863 w 381000"/>
              <a:gd name="connsiteY5" fmla="*/ 304705 h 304704"/>
              <a:gd name="connsiteX6" fmla="*/ 338138 w 381000"/>
              <a:gd name="connsiteY6" fmla="*/ 304705 h 304704"/>
              <a:gd name="connsiteX7" fmla="*/ 381000 w 381000"/>
              <a:gd name="connsiteY7" fmla="*/ 261842 h 304704"/>
              <a:gd name="connsiteX8" fmla="*/ 381000 w 381000"/>
              <a:gd name="connsiteY8" fmla="*/ 99974 h 304704"/>
              <a:gd name="connsiteX9" fmla="*/ 338138 w 381000"/>
              <a:gd name="connsiteY9" fmla="*/ 57112 h 304704"/>
              <a:gd name="connsiteX10" fmla="*/ 285750 w 381000"/>
              <a:gd name="connsiteY10" fmla="*/ 57112 h 304704"/>
              <a:gd name="connsiteX11" fmla="*/ 285750 w 381000"/>
              <a:gd name="connsiteY11" fmla="*/ 42863 h 304704"/>
              <a:gd name="connsiteX12" fmla="*/ 242888 w 381000"/>
              <a:gd name="connsiteY12" fmla="*/ 0 h 304704"/>
              <a:gd name="connsiteX13" fmla="*/ 138113 w 381000"/>
              <a:gd name="connsiteY13" fmla="*/ 0 h 304704"/>
              <a:gd name="connsiteX14" fmla="*/ 95250 w 381000"/>
              <a:gd name="connsiteY14" fmla="*/ 42863 h 304704"/>
              <a:gd name="connsiteX15" fmla="*/ 138113 w 381000"/>
              <a:gd name="connsiteY15" fmla="*/ 28575 h 304704"/>
              <a:gd name="connsiteX16" fmla="*/ 242888 w 381000"/>
              <a:gd name="connsiteY16" fmla="*/ 28575 h 304704"/>
              <a:gd name="connsiteX17" fmla="*/ 257175 w 381000"/>
              <a:gd name="connsiteY17" fmla="*/ 42863 h 304704"/>
              <a:gd name="connsiteX18" fmla="*/ 257175 w 381000"/>
              <a:gd name="connsiteY18" fmla="*/ 57112 h 304704"/>
              <a:gd name="connsiteX19" fmla="*/ 123825 w 381000"/>
              <a:gd name="connsiteY19" fmla="*/ 57112 h 304704"/>
              <a:gd name="connsiteX20" fmla="*/ 123825 w 381000"/>
              <a:gd name="connsiteY20" fmla="*/ 42863 h 304704"/>
              <a:gd name="connsiteX21" fmla="*/ 138113 w 381000"/>
              <a:gd name="connsiteY21" fmla="*/ 28575 h 304704"/>
              <a:gd name="connsiteX22" fmla="*/ 95250 w 381000"/>
              <a:gd name="connsiteY22" fmla="*/ 85725 h 304704"/>
              <a:gd name="connsiteX23" fmla="*/ 123825 w 381000"/>
              <a:gd name="connsiteY23" fmla="*/ 85725 h 304704"/>
              <a:gd name="connsiteX24" fmla="*/ 123825 w 381000"/>
              <a:gd name="connsiteY24" fmla="*/ 85687 h 304704"/>
              <a:gd name="connsiteX25" fmla="*/ 257175 w 381000"/>
              <a:gd name="connsiteY25" fmla="*/ 85687 h 304704"/>
              <a:gd name="connsiteX26" fmla="*/ 257175 w 381000"/>
              <a:gd name="connsiteY26" fmla="*/ 85725 h 304704"/>
              <a:gd name="connsiteX27" fmla="*/ 285750 w 381000"/>
              <a:gd name="connsiteY27" fmla="*/ 85725 h 304704"/>
              <a:gd name="connsiteX28" fmla="*/ 285750 w 381000"/>
              <a:gd name="connsiteY28" fmla="*/ 85687 h 304704"/>
              <a:gd name="connsiteX29" fmla="*/ 338138 w 381000"/>
              <a:gd name="connsiteY29" fmla="*/ 85687 h 304704"/>
              <a:gd name="connsiteX30" fmla="*/ 352425 w 381000"/>
              <a:gd name="connsiteY30" fmla="*/ 99974 h 304704"/>
              <a:gd name="connsiteX31" fmla="*/ 352425 w 381000"/>
              <a:gd name="connsiteY31" fmla="*/ 142837 h 304704"/>
              <a:gd name="connsiteX32" fmla="*/ 295275 w 381000"/>
              <a:gd name="connsiteY32" fmla="*/ 142837 h 304704"/>
              <a:gd name="connsiteX33" fmla="*/ 295275 w 381000"/>
              <a:gd name="connsiteY33" fmla="*/ 128549 h 304704"/>
              <a:gd name="connsiteX34" fmla="*/ 280988 w 381000"/>
              <a:gd name="connsiteY34" fmla="*/ 114262 h 304704"/>
              <a:gd name="connsiteX35" fmla="*/ 266700 w 381000"/>
              <a:gd name="connsiteY35" fmla="*/ 128549 h 304704"/>
              <a:gd name="connsiteX36" fmla="*/ 266700 w 381000"/>
              <a:gd name="connsiteY36" fmla="*/ 142837 h 304704"/>
              <a:gd name="connsiteX37" fmla="*/ 114300 w 381000"/>
              <a:gd name="connsiteY37" fmla="*/ 142837 h 304704"/>
              <a:gd name="connsiteX38" fmla="*/ 114300 w 381000"/>
              <a:gd name="connsiteY38" fmla="*/ 128549 h 304704"/>
              <a:gd name="connsiteX39" fmla="*/ 100013 w 381000"/>
              <a:gd name="connsiteY39" fmla="*/ 114262 h 304704"/>
              <a:gd name="connsiteX40" fmla="*/ 85725 w 381000"/>
              <a:gd name="connsiteY40" fmla="*/ 128549 h 304704"/>
              <a:gd name="connsiteX41" fmla="*/ 85725 w 381000"/>
              <a:gd name="connsiteY41" fmla="*/ 142837 h 304704"/>
              <a:gd name="connsiteX42" fmla="*/ 28575 w 381000"/>
              <a:gd name="connsiteY42" fmla="*/ 142837 h 304704"/>
              <a:gd name="connsiteX43" fmla="*/ 28575 w 381000"/>
              <a:gd name="connsiteY43" fmla="*/ 99974 h 304704"/>
              <a:gd name="connsiteX44" fmla="*/ 42863 w 381000"/>
              <a:gd name="connsiteY44" fmla="*/ 85687 h 304704"/>
              <a:gd name="connsiteX45" fmla="*/ 95250 w 381000"/>
              <a:gd name="connsiteY45" fmla="*/ 85687 h 304704"/>
              <a:gd name="connsiteX46" fmla="*/ 95250 w 381000"/>
              <a:gd name="connsiteY46" fmla="*/ 85725 h 304704"/>
              <a:gd name="connsiteX47" fmla="*/ 266700 w 381000"/>
              <a:gd name="connsiteY47" fmla="*/ 171412 h 304704"/>
              <a:gd name="connsiteX48" fmla="*/ 266700 w 381000"/>
              <a:gd name="connsiteY48" fmla="*/ 195224 h 304704"/>
              <a:gd name="connsiteX49" fmla="*/ 280988 w 381000"/>
              <a:gd name="connsiteY49" fmla="*/ 209512 h 304704"/>
              <a:gd name="connsiteX50" fmla="*/ 295275 w 381000"/>
              <a:gd name="connsiteY50" fmla="*/ 195224 h 304704"/>
              <a:gd name="connsiteX51" fmla="*/ 295275 w 381000"/>
              <a:gd name="connsiteY51" fmla="*/ 171412 h 304704"/>
              <a:gd name="connsiteX52" fmla="*/ 352425 w 381000"/>
              <a:gd name="connsiteY52" fmla="*/ 171412 h 304704"/>
              <a:gd name="connsiteX53" fmla="*/ 352425 w 381000"/>
              <a:gd name="connsiteY53" fmla="*/ 261842 h 304704"/>
              <a:gd name="connsiteX54" fmla="*/ 338138 w 381000"/>
              <a:gd name="connsiteY54" fmla="*/ 276130 h 304704"/>
              <a:gd name="connsiteX55" fmla="*/ 42863 w 381000"/>
              <a:gd name="connsiteY55" fmla="*/ 276130 h 304704"/>
              <a:gd name="connsiteX56" fmla="*/ 28575 w 381000"/>
              <a:gd name="connsiteY56" fmla="*/ 261842 h 304704"/>
              <a:gd name="connsiteX57" fmla="*/ 28575 w 381000"/>
              <a:gd name="connsiteY57" fmla="*/ 171412 h 304704"/>
              <a:gd name="connsiteX58" fmla="*/ 85725 w 381000"/>
              <a:gd name="connsiteY58" fmla="*/ 171412 h 304704"/>
              <a:gd name="connsiteX59" fmla="*/ 85725 w 381000"/>
              <a:gd name="connsiteY59" fmla="*/ 195224 h 304704"/>
              <a:gd name="connsiteX60" fmla="*/ 100013 w 381000"/>
              <a:gd name="connsiteY60" fmla="*/ 209512 h 304704"/>
              <a:gd name="connsiteX61" fmla="*/ 114300 w 381000"/>
              <a:gd name="connsiteY61" fmla="*/ 195224 h 304704"/>
              <a:gd name="connsiteX62" fmla="*/ 114300 w 381000"/>
              <a:gd name="connsiteY62" fmla="*/ 171412 h 304704"/>
              <a:gd name="connsiteX63" fmla="*/ 266700 w 381000"/>
              <a:gd name="connsiteY63" fmla="*/ 171412 h 30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81000" h="304704">
                <a:moveTo>
                  <a:pt x="95250" y="42863"/>
                </a:moveTo>
                <a:lnTo>
                  <a:pt x="95250" y="57112"/>
                </a:lnTo>
                <a:lnTo>
                  <a:pt x="42863" y="57112"/>
                </a:lnTo>
                <a:cubicBezTo>
                  <a:pt x="19190" y="57112"/>
                  <a:pt x="0" y="76302"/>
                  <a:pt x="0" y="99974"/>
                </a:cubicBezTo>
                <a:lnTo>
                  <a:pt x="0" y="261842"/>
                </a:lnTo>
                <a:cubicBezTo>
                  <a:pt x="0" y="285514"/>
                  <a:pt x="19190" y="304705"/>
                  <a:pt x="42863" y="304705"/>
                </a:cubicBezTo>
                <a:lnTo>
                  <a:pt x="338138" y="304705"/>
                </a:lnTo>
                <a:cubicBezTo>
                  <a:pt x="361809" y="304705"/>
                  <a:pt x="381000" y="285514"/>
                  <a:pt x="381000" y="261842"/>
                </a:cubicBezTo>
                <a:lnTo>
                  <a:pt x="381000" y="99974"/>
                </a:lnTo>
                <a:cubicBezTo>
                  <a:pt x="381000" y="76302"/>
                  <a:pt x="361809" y="57112"/>
                  <a:pt x="338138" y="57112"/>
                </a:cubicBezTo>
                <a:lnTo>
                  <a:pt x="285750" y="57112"/>
                </a:lnTo>
                <a:lnTo>
                  <a:pt x="285750" y="42863"/>
                </a:lnTo>
                <a:cubicBezTo>
                  <a:pt x="285750" y="19190"/>
                  <a:pt x="266559" y="0"/>
                  <a:pt x="242888" y="0"/>
                </a:cubicBezTo>
                <a:lnTo>
                  <a:pt x="138113" y="0"/>
                </a:lnTo>
                <a:cubicBezTo>
                  <a:pt x="114440" y="0"/>
                  <a:pt x="95250" y="19190"/>
                  <a:pt x="95250" y="42863"/>
                </a:cubicBezTo>
                <a:close/>
                <a:moveTo>
                  <a:pt x="138113" y="28575"/>
                </a:moveTo>
                <a:lnTo>
                  <a:pt x="242888" y="28575"/>
                </a:lnTo>
                <a:cubicBezTo>
                  <a:pt x="250778" y="28575"/>
                  <a:pt x="257175" y="34972"/>
                  <a:pt x="257175" y="42863"/>
                </a:cubicBezTo>
                <a:lnTo>
                  <a:pt x="257175" y="57112"/>
                </a:lnTo>
                <a:lnTo>
                  <a:pt x="123825" y="57112"/>
                </a:lnTo>
                <a:lnTo>
                  <a:pt x="123825" y="42863"/>
                </a:lnTo>
                <a:cubicBezTo>
                  <a:pt x="123825" y="34972"/>
                  <a:pt x="130222" y="28575"/>
                  <a:pt x="138113" y="28575"/>
                </a:cubicBezTo>
                <a:close/>
                <a:moveTo>
                  <a:pt x="95250" y="85725"/>
                </a:moveTo>
                <a:lnTo>
                  <a:pt x="123825" y="85725"/>
                </a:lnTo>
                <a:lnTo>
                  <a:pt x="123825" y="85687"/>
                </a:lnTo>
                <a:lnTo>
                  <a:pt x="257175" y="85687"/>
                </a:lnTo>
                <a:lnTo>
                  <a:pt x="257175" y="85725"/>
                </a:lnTo>
                <a:lnTo>
                  <a:pt x="285750" y="85725"/>
                </a:lnTo>
                <a:lnTo>
                  <a:pt x="285750" y="85687"/>
                </a:lnTo>
                <a:lnTo>
                  <a:pt x="338138" y="85687"/>
                </a:lnTo>
                <a:cubicBezTo>
                  <a:pt x="346028" y="85687"/>
                  <a:pt x="352425" y="92084"/>
                  <a:pt x="352425" y="99974"/>
                </a:cubicBezTo>
                <a:lnTo>
                  <a:pt x="352425" y="142837"/>
                </a:lnTo>
                <a:lnTo>
                  <a:pt x="295275" y="142837"/>
                </a:lnTo>
                <a:lnTo>
                  <a:pt x="295275" y="128549"/>
                </a:lnTo>
                <a:cubicBezTo>
                  <a:pt x="295275" y="120659"/>
                  <a:pt x="288878" y="114262"/>
                  <a:pt x="280988" y="114262"/>
                </a:cubicBezTo>
                <a:cubicBezTo>
                  <a:pt x="273097" y="114262"/>
                  <a:pt x="266700" y="120659"/>
                  <a:pt x="266700" y="128549"/>
                </a:cubicBezTo>
                <a:lnTo>
                  <a:pt x="266700" y="142837"/>
                </a:lnTo>
                <a:lnTo>
                  <a:pt x="114300" y="142837"/>
                </a:lnTo>
                <a:lnTo>
                  <a:pt x="114300" y="128549"/>
                </a:lnTo>
                <a:cubicBezTo>
                  <a:pt x="114300" y="120659"/>
                  <a:pt x="107903" y="114262"/>
                  <a:pt x="100013" y="114262"/>
                </a:cubicBezTo>
                <a:cubicBezTo>
                  <a:pt x="92122" y="114262"/>
                  <a:pt x="85725" y="120659"/>
                  <a:pt x="85725" y="128549"/>
                </a:cubicBezTo>
                <a:lnTo>
                  <a:pt x="85725" y="142837"/>
                </a:lnTo>
                <a:lnTo>
                  <a:pt x="28575" y="142837"/>
                </a:lnTo>
                <a:lnTo>
                  <a:pt x="28575" y="99974"/>
                </a:lnTo>
                <a:cubicBezTo>
                  <a:pt x="28575" y="92084"/>
                  <a:pt x="34972" y="85687"/>
                  <a:pt x="42863" y="85687"/>
                </a:cubicBezTo>
                <a:lnTo>
                  <a:pt x="95250" y="85687"/>
                </a:lnTo>
                <a:lnTo>
                  <a:pt x="95250" y="85725"/>
                </a:lnTo>
                <a:close/>
                <a:moveTo>
                  <a:pt x="266700" y="171412"/>
                </a:moveTo>
                <a:lnTo>
                  <a:pt x="266700" y="195224"/>
                </a:lnTo>
                <a:cubicBezTo>
                  <a:pt x="266700" y="203115"/>
                  <a:pt x="273097" y="209512"/>
                  <a:pt x="280988" y="209512"/>
                </a:cubicBezTo>
                <a:cubicBezTo>
                  <a:pt x="288878" y="209512"/>
                  <a:pt x="295275" y="203115"/>
                  <a:pt x="295275" y="195224"/>
                </a:cubicBezTo>
                <a:lnTo>
                  <a:pt x="295275" y="171412"/>
                </a:lnTo>
                <a:lnTo>
                  <a:pt x="352425" y="171412"/>
                </a:lnTo>
                <a:lnTo>
                  <a:pt x="352425" y="261842"/>
                </a:lnTo>
                <a:cubicBezTo>
                  <a:pt x="352425" y="269733"/>
                  <a:pt x="346028" y="276130"/>
                  <a:pt x="338138" y="276130"/>
                </a:cubicBezTo>
                <a:lnTo>
                  <a:pt x="42863" y="276130"/>
                </a:lnTo>
                <a:cubicBezTo>
                  <a:pt x="34972" y="276130"/>
                  <a:pt x="28575" y="269733"/>
                  <a:pt x="28575" y="261842"/>
                </a:cubicBezTo>
                <a:lnTo>
                  <a:pt x="28575" y="171412"/>
                </a:lnTo>
                <a:lnTo>
                  <a:pt x="85725" y="171412"/>
                </a:lnTo>
                <a:lnTo>
                  <a:pt x="85725" y="195224"/>
                </a:lnTo>
                <a:cubicBezTo>
                  <a:pt x="85725" y="203115"/>
                  <a:pt x="92122" y="209512"/>
                  <a:pt x="100013" y="209512"/>
                </a:cubicBezTo>
                <a:cubicBezTo>
                  <a:pt x="107903" y="209512"/>
                  <a:pt x="114300" y="203115"/>
                  <a:pt x="114300" y="195224"/>
                </a:cubicBezTo>
                <a:lnTo>
                  <a:pt x="114300" y="171412"/>
                </a:lnTo>
                <a:lnTo>
                  <a:pt x="266700" y="171412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56000">
                <a:srgbClr val="CC918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32" name="Graphic 5" descr="Icon of a circuit brain">
            <a:extLst>
              <a:ext uri="{FF2B5EF4-FFF2-40B4-BE49-F238E27FC236}">
                <a16:creationId xmlns:a16="http://schemas.microsoft.com/office/drawing/2014/main" id="{118E0B3F-21D8-051A-F5AA-EF085AC05A0B}"/>
              </a:ext>
            </a:extLst>
          </p:cNvPr>
          <p:cNvSpPr>
            <a:spLocks noChangeAspect="1"/>
          </p:cNvSpPr>
          <p:nvPr/>
        </p:nvSpPr>
        <p:spPr>
          <a:xfrm>
            <a:off x="7428719" y="4326876"/>
            <a:ext cx="309536" cy="309589"/>
          </a:xfrm>
          <a:custGeom>
            <a:avLst/>
            <a:gdLst>
              <a:gd name="connsiteX0" fmla="*/ 102548 w 398857"/>
              <a:gd name="connsiteY0" fmla="*/ 20069 h 398925"/>
              <a:gd name="connsiteX1" fmla="*/ 162432 w 398857"/>
              <a:gd name="connsiteY1" fmla="*/ 0 h 398925"/>
              <a:gd name="connsiteX2" fmla="*/ 193696 w 398857"/>
              <a:gd name="connsiteY2" fmla="*/ 11472 h 398925"/>
              <a:gd name="connsiteX3" fmla="*/ 199429 w 398857"/>
              <a:gd name="connsiteY3" fmla="*/ 17549 h 398925"/>
              <a:gd name="connsiteX4" fmla="*/ 205162 w 398857"/>
              <a:gd name="connsiteY4" fmla="*/ 11472 h 398925"/>
              <a:gd name="connsiteX5" fmla="*/ 236423 w 398857"/>
              <a:gd name="connsiteY5" fmla="*/ 0 h 398925"/>
              <a:gd name="connsiteX6" fmla="*/ 296309 w 398857"/>
              <a:gd name="connsiteY6" fmla="*/ 20069 h 398925"/>
              <a:gd name="connsiteX7" fmla="*/ 323308 w 398857"/>
              <a:gd name="connsiteY7" fmla="*/ 60736 h 398925"/>
              <a:gd name="connsiteX8" fmla="*/ 345168 w 398857"/>
              <a:gd name="connsiteY8" fmla="*/ 72050 h 398925"/>
              <a:gd name="connsiteX9" fmla="*/ 365882 w 398857"/>
              <a:gd name="connsiteY9" fmla="*/ 107447 h 398925"/>
              <a:gd name="connsiteX10" fmla="*/ 371769 w 398857"/>
              <a:gd name="connsiteY10" fmla="*/ 150975 h 398925"/>
              <a:gd name="connsiteX11" fmla="*/ 368227 w 398857"/>
              <a:gd name="connsiteY11" fmla="*/ 173458 h 398925"/>
              <a:gd name="connsiteX12" fmla="*/ 369538 w 398857"/>
              <a:gd name="connsiteY12" fmla="*/ 174049 h 398925"/>
              <a:gd name="connsiteX13" fmla="*/ 387388 w 398857"/>
              <a:gd name="connsiteY13" fmla="*/ 190225 h 398925"/>
              <a:gd name="connsiteX14" fmla="*/ 398857 w 398857"/>
              <a:gd name="connsiteY14" fmla="*/ 248661 h 398925"/>
              <a:gd name="connsiteX15" fmla="*/ 373667 w 398857"/>
              <a:gd name="connsiteY15" fmla="*/ 309219 h 398925"/>
              <a:gd name="connsiteX16" fmla="*/ 348331 w 398857"/>
              <a:gd name="connsiteY16" fmla="*/ 322981 h 398925"/>
              <a:gd name="connsiteX17" fmla="*/ 327993 w 398857"/>
              <a:gd name="connsiteY17" fmla="*/ 365629 h 398925"/>
              <a:gd name="connsiteX18" fmla="*/ 261001 w 398857"/>
              <a:gd name="connsiteY18" fmla="*/ 398925 h 398925"/>
              <a:gd name="connsiteX19" fmla="*/ 205623 w 398857"/>
              <a:gd name="connsiteY19" fmla="*/ 372763 h 398925"/>
              <a:gd name="connsiteX20" fmla="*/ 199429 w 398857"/>
              <a:gd name="connsiteY20" fmla="*/ 365663 h 398925"/>
              <a:gd name="connsiteX21" fmla="*/ 193233 w 398857"/>
              <a:gd name="connsiteY21" fmla="*/ 372763 h 398925"/>
              <a:gd name="connsiteX22" fmla="*/ 137855 w 398857"/>
              <a:gd name="connsiteY22" fmla="*/ 398925 h 398925"/>
              <a:gd name="connsiteX23" fmla="*/ 70864 w 398857"/>
              <a:gd name="connsiteY23" fmla="*/ 365629 h 398925"/>
              <a:gd name="connsiteX24" fmla="*/ 50527 w 398857"/>
              <a:gd name="connsiteY24" fmla="*/ 322981 h 398925"/>
              <a:gd name="connsiteX25" fmla="*/ 25191 w 398857"/>
              <a:gd name="connsiteY25" fmla="*/ 309219 h 398925"/>
              <a:gd name="connsiteX26" fmla="*/ 0 w 398857"/>
              <a:gd name="connsiteY26" fmla="*/ 248661 h 398925"/>
              <a:gd name="connsiteX27" fmla="*/ 11468 w 398857"/>
              <a:gd name="connsiteY27" fmla="*/ 190225 h 398925"/>
              <a:gd name="connsiteX28" fmla="*/ 29319 w 398857"/>
              <a:gd name="connsiteY28" fmla="*/ 174049 h 398925"/>
              <a:gd name="connsiteX29" fmla="*/ 30630 w 398857"/>
              <a:gd name="connsiteY29" fmla="*/ 173458 h 398925"/>
              <a:gd name="connsiteX30" fmla="*/ 27089 w 398857"/>
              <a:gd name="connsiteY30" fmla="*/ 150975 h 398925"/>
              <a:gd name="connsiteX31" fmla="*/ 32974 w 398857"/>
              <a:gd name="connsiteY31" fmla="*/ 107447 h 398925"/>
              <a:gd name="connsiteX32" fmla="*/ 53689 w 398857"/>
              <a:gd name="connsiteY32" fmla="*/ 72050 h 398925"/>
              <a:gd name="connsiteX33" fmla="*/ 75549 w 398857"/>
              <a:gd name="connsiteY33" fmla="*/ 60736 h 398925"/>
              <a:gd name="connsiteX34" fmla="*/ 102548 w 398857"/>
              <a:gd name="connsiteY34" fmla="*/ 20069 h 398925"/>
              <a:gd name="connsiteX35" fmla="*/ 120935 w 398857"/>
              <a:gd name="connsiteY35" fmla="*/ 43689 h 398925"/>
              <a:gd name="connsiteX36" fmla="*/ 103667 w 398857"/>
              <a:gd name="connsiteY36" fmla="*/ 76465 h 398925"/>
              <a:gd name="connsiteX37" fmla="*/ 97450 w 398857"/>
              <a:gd name="connsiteY37" fmla="*/ 88608 h 398925"/>
              <a:gd name="connsiteX38" fmla="*/ 83963 w 398857"/>
              <a:gd name="connsiteY38" fmla="*/ 90663 h 398925"/>
              <a:gd name="connsiteX39" fmla="*/ 74172 w 398857"/>
              <a:gd name="connsiteY39" fmla="*/ 93878 h 398925"/>
              <a:gd name="connsiteX40" fmla="*/ 61476 w 398857"/>
              <a:gd name="connsiteY40" fmla="*/ 116596 h 398925"/>
              <a:gd name="connsiteX41" fmla="*/ 56993 w 398857"/>
              <a:gd name="connsiteY41" fmla="*/ 149631 h 398925"/>
              <a:gd name="connsiteX42" fmla="*/ 64290 w 398857"/>
              <a:gd name="connsiteY42" fmla="*/ 176178 h 398925"/>
              <a:gd name="connsiteX43" fmla="*/ 65945 w 398857"/>
              <a:gd name="connsiteY43" fmla="*/ 179487 h 398925"/>
              <a:gd name="connsiteX44" fmla="*/ 87539 w 398857"/>
              <a:gd name="connsiteY44" fmla="*/ 179487 h 398925"/>
              <a:gd name="connsiteX45" fmla="*/ 144265 w 398857"/>
              <a:gd name="connsiteY45" fmla="*/ 232217 h 398925"/>
              <a:gd name="connsiteX46" fmla="*/ 169363 w 398857"/>
              <a:gd name="connsiteY46" fmla="*/ 269289 h 398925"/>
              <a:gd name="connsiteX47" fmla="*/ 129451 w 398857"/>
              <a:gd name="connsiteY47" fmla="*/ 309201 h 398925"/>
              <a:gd name="connsiteX48" fmla="*/ 89539 w 398857"/>
              <a:gd name="connsiteY48" fmla="*/ 269289 h 398925"/>
              <a:gd name="connsiteX49" fmla="*/ 114190 w 398857"/>
              <a:gd name="connsiteY49" fmla="*/ 232398 h 398925"/>
              <a:gd name="connsiteX50" fmla="*/ 87539 w 398857"/>
              <a:gd name="connsiteY50" fmla="*/ 209421 h 398925"/>
              <a:gd name="connsiteX51" fmla="*/ 35654 w 398857"/>
              <a:gd name="connsiteY51" fmla="*/ 209421 h 398925"/>
              <a:gd name="connsiteX52" fmla="*/ 35152 w 398857"/>
              <a:gd name="connsiteY52" fmla="*/ 209413 h 398925"/>
              <a:gd name="connsiteX53" fmla="*/ 29934 w 398857"/>
              <a:gd name="connsiteY53" fmla="*/ 248661 h 398925"/>
              <a:gd name="connsiteX54" fmla="*/ 44682 w 398857"/>
              <a:gd name="connsiteY54" fmla="*/ 286501 h 398925"/>
              <a:gd name="connsiteX55" fmla="*/ 64122 w 398857"/>
              <a:gd name="connsiteY55" fmla="*/ 295192 h 398925"/>
              <a:gd name="connsiteX56" fmla="*/ 79089 w 398857"/>
              <a:gd name="connsiteY56" fmla="*/ 310159 h 398925"/>
              <a:gd name="connsiteX57" fmla="*/ 94247 w 398857"/>
              <a:gd name="connsiteY57" fmla="*/ 346940 h 398925"/>
              <a:gd name="connsiteX58" fmla="*/ 137855 w 398857"/>
              <a:gd name="connsiteY58" fmla="*/ 368991 h 398925"/>
              <a:gd name="connsiteX59" fmla="*/ 171570 w 398857"/>
              <a:gd name="connsiteY59" fmla="*/ 352104 h 398925"/>
              <a:gd name="connsiteX60" fmla="*/ 181916 w 398857"/>
              <a:gd name="connsiteY60" fmla="*/ 338431 h 398925"/>
              <a:gd name="connsiteX61" fmla="*/ 184228 w 398857"/>
              <a:gd name="connsiteY61" fmla="*/ 333785 h 398925"/>
              <a:gd name="connsiteX62" fmla="*/ 184332 w 398857"/>
              <a:gd name="connsiteY62" fmla="*/ 333513 h 398925"/>
              <a:gd name="connsiteX63" fmla="*/ 184332 w 398857"/>
              <a:gd name="connsiteY63" fmla="*/ 284513 h 398925"/>
              <a:gd name="connsiteX64" fmla="*/ 184330 w 398857"/>
              <a:gd name="connsiteY64" fmla="*/ 284256 h 398925"/>
              <a:gd name="connsiteX65" fmla="*/ 184332 w 398857"/>
              <a:gd name="connsiteY65" fmla="*/ 283999 h 398925"/>
              <a:gd name="connsiteX66" fmla="*/ 184332 w 398857"/>
              <a:gd name="connsiteY66" fmla="*/ 144564 h 398925"/>
              <a:gd name="connsiteX67" fmla="*/ 166462 w 398857"/>
              <a:gd name="connsiteY67" fmla="*/ 144564 h 398925"/>
              <a:gd name="connsiteX68" fmla="*/ 129451 w 398857"/>
              <a:gd name="connsiteY68" fmla="*/ 169509 h 398925"/>
              <a:gd name="connsiteX69" fmla="*/ 89539 w 398857"/>
              <a:gd name="connsiteY69" fmla="*/ 129597 h 398925"/>
              <a:gd name="connsiteX70" fmla="*/ 129451 w 398857"/>
              <a:gd name="connsiteY70" fmla="*/ 89685 h 398925"/>
              <a:gd name="connsiteX71" fmla="*/ 166462 w 398857"/>
              <a:gd name="connsiteY71" fmla="*/ 114630 h 398925"/>
              <a:gd name="connsiteX72" fmla="*/ 184332 w 398857"/>
              <a:gd name="connsiteY72" fmla="*/ 114630 h 398925"/>
              <a:gd name="connsiteX73" fmla="*/ 184332 w 398857"/>
              <a:gd name="connsiteY73" fmla="*/ 64213 h 398925"/>
              <a:gd name="connsiteX74" fmla="*/ 184328 w 398857"/>
              <a:gd name="connsiteY74" fmla="*/ 63987 h 398925"/>
              <a:gd name="connsiteX75" fmla="*/ 184282 w 398857"/>
              <a:gd name="connsiteY75" fmla="*/ 62852 h 398925"/>
              <a:gd name="connsiteX76" fmla="*/ 183871 w 398857"/>
              <a:gd name="connsiteY76" fmla="*/ 58333 h 398925"/>
              <a:gd name="connsiteX77" fmla="*/ 180676 w 398857"/>
              <a:gd name="connsiteY77" fmla="*/ 44818 h 398925"/>
              <a:gd name="connsiteX78" fmla="*/ 173797 w 398857"/>
              <a:gd name="connsiteY78" fmla="*/ 33836 h 398925"/>
              <a:gd name="connsiteX79" fmla="*/ 162432 w 398857"/>
              <a:gd name="connsiteY79" fmla="*/ 29934 h 398925"/>
              <a:gd name="connsiteX80" fmla="*/ 120935 w 398857"/>
              <a:gd name="connsiteY80" fmla="*/ 43689 h 398925"/>
              <a:gd name="connsiteX81" fmla="*/ 214526 w 398857"/>
              <a:gd name="connsiteY81" fmla="*/ 299223 h 398925"/>
              <a:gd name="connsiteX82" fmla="*/ 214526 w 398857"/>
              <a:gd name="connsiteY82" fmla="*/ 333513 h 398925"/>
              <a:gd name="connsiteX83" fmla="*/ 214627 w 398857"/>
              <a:gd name="connsiteY83" fmla="*/ 333785 h 398925"/>
              <a:gd name="connsiteX84" fmla="*/ 216940 w 398857"/>
              <a:gd name="connsiteY84" fmla="*/ 338431 h 398925"/>
              <a:gd name="connsiteX85" fmla="*/ 227285 w 398857"/>
              <a:gd name="connsiteY85" fmla="*/ 352104 h 398925"/>
              <a:gd name="connsiteX86" fmla="*/ 261001 w 398857"/>
              <a:gd name="connsiteY86" fmla="*/ 368991 h 398925"/>
              <a:gd name="connsiteX87" fmla="*/ 304611 w 398857"/>
              <a:gd name="connsiteY87" fmla="*/ 346940 h 398925"/>
              <a:gd name="connsiteX88" fmla="*/ 319768 w 398857"/>
              <a:gd name="connsiteY88" fmla="*/ 310159 h 398925"/>
              <a:gd name="connsiteX89" fmla="*/ 334735 w 398857"/>
              <a:gd name="connsiteY89" fmla="*/ 295192 h 398925"/>
              <a:gd name="connsiteX90" fmla="*/ 354176 w 398857"/>
              <a:gd name="connsiteY90" fmla="*/ 286501 h 398925"/>
              <a:gd name="connsiteX91" fmla="*/ 368923 w 398857"/>
              <a:gd name="connsiteY91" fmla="*/ 248661 h 398925"/>
              <a:gd name="connsiteX92" fmla="*/ 361959 w 398857"/>
              <a:gd name="connsiteY92" fmla="*/ 206015 h 398925"/>
              <a:gd name="connsiteX93" fmla="*/ 356768 w 398857"/>
              <a:gd name="connsiteY93" fmla="*/ 201123 h 398925"/>
              <a:gd name="connsiteX94" fmla="*/ 347023 w 398857"/>
              <a:gd name="connsiteY94" fmla="*/ 199443 h 398925"/>
              <a:gd name="connsiteX95" fmla="*/ 333829 w 398857"/>
              <a:gd name="connsiteY95" fmla="*/ 191540 h 398925"/>
              <a:gd name="connsiteX96" fmla="*/ 334567 w 398857"/>
              <a:gd name="connsiteY96" fmla="*/ 176178 h 398925"/>
              <a:gd name="connsiteX97" fmla="*/ 341865 w 398857"/>
              <a:gd name="connsiteY97" fmla="*/ 149631 h 398925"/>
              <a:gd name="connsiteX98" fmla="*/ 337381 w 398857"/>
              <a:gd name="connsiteY98" fmla="*/ 116596 h 398925"/>
              <a:gd name="connsiteX99" fmla="*/ 324685 w 398857"/>
              <a:gd name="connsiteY99" fmla="*/ 93878 h 398925"/>
              <a:gd name="connsiteX100" fmla="*/ 314894 w 398857"/>
              <a:gd name="connsiteY100" fmla="*/ 90663 h 398925"/>
              <a:gd name="connsiteX101" fmla="*/ 301408 w 398857"/>
              <a:gd name="connsiteY101" fmla="*/ 88608 h 398925"/>
              <a:gd name="connsiteX102" fmla="*/ 295190 w 398857"/>
              <a:gd name="connsiteY102" fmla="*/ 76465 h 398925"/>
              <a:gd name="connsiteX103" fmla="*/ 277922 w 398857"/>
              <a:gd name="connsiteY103" fmla="*/ 43689 h 398925"/>
              <a:gd name="connsiteX104" fmla="*/ 236423 w 398857"/>
              <a:gd name="connsiteY104" fmla="*/ 29934 h 398925"/>
              <a:gd name="connsiteX105" fmla="*/ 225058 w 398857"/>
              <a:gd name="connsiteY105" fmla="*/ 33836 h 398925"/>
              <a:gd name="connsiteX106" fmla="*/ 218182 w 398857"/>
              <a:gd name="connsiteY106" fmla="*/ 44818 h 398925"/>
              <a:gd name="connsiteX107" fmla="*/ 214985 w 398857"/>
              <a:gd name="connsiteY107" fmla="*/ 58333 h 398925"/>
              <a:gd name="connsiteX108" fmla="*/ 214576 w 398857"/>
              <a:gd name="connsiteY108" fmla="*/ 62852 h 398925"/>
              <a:gd name="connsiteX109" fmla="*/ 214530 w 398857"/>
              <a:gd name="connsiteY109" fmla="*/ 63987 h 398925"/>
              <a:gd name="connsiteX110" fmla="*/ 214526 w 398857"/>
              <a:gd name="connsiteY110" fmla="*/ 64213 h 398925"/>
              <a:gd name="connsiteX111" fmla="*/ 214526 w 398857"/>
              <a:gd name="connsiteY111" fmla="*/ 269289 h 398925"/>
              <a:gd name="connsiteX112" fmla="*/ 227236 w 398857"/>
              <a:gd name="connsiteY112" fmla="*/ 269289 h 398925"/>
              <a:gd name="connsiteX113" fmla="*/ 254176 w 398857"/>
              <a:gd name="connsiteY113" fmla="*/ 242348 h 398925"/>
              <a:gd name="connsiteX114" fmla="*/ 254176 w 398857"/>
              <a:gd name="connsiteY114" fmla="*/ 206519 h 398925"/>
              <a:gd name="connsiteX115" fmla="*/ 229231 w 398857"/>
              <a:gd name="connsiteY115" fmla="*/ 169509 h 398925"/>
              <a:gd name="connsiteX116" fmla="*/ 269143 w 398857"/>
              <a:gd name="connsiteY116" fmla="*/ 129597 h 398925"/>
              <a:gd name="connsiteX117" fmla="*/ 309055 w 398857"/>
              <a:gd name="connsiteY117" fmla="*/ 169509 h 398925"/>
              <a:gd name="connsiteX118" fmla="*/ 284110 w 398857"/>
              <a:gd name="connsiteY118" fmla="*/ 206519 h 398925"/>
              <a:gd name="connsiteX119" fmla="*/ 284110 w 398857"/>
              <a:gd name="connsiteY119" fmla="*/ 242348 h 398925"/>
              <a:gd name="connsiteX120" fmla="*/ 227236 w 398857"/>
              <a:gd name="connsiteY120" fmla="*/ 299223 h 398925"/>
              <a:gd name="connsiteX121" fmla="*/ 214526 w 398857"/>
              <a:gd name="connsiteY121" fmla="*/ 299223 h 398925"/>
              <a:gd name="connsiteX122" fmla="*/ 129451 w 398857"/>
              <a:gd name="connsiteY122" fmla="*/ 119619 h 398925"/>
              <a:gd name="connsiteX123" fmla="*/ 119473 w 398857"/>
              <a:gd name="connsiteY123" fmla="*/ 129597 h 398925"/>
              <a:gd name="connsiteX124" fmla="*/ 129451 w 398857"/>
              <a:gd name="connsiteY124" fmla="*/ 139575 h 398925"/>
              <a:gd name="connsiteX125" fmla="*/ 139429 w 398857"/>
              <a:gd name="connsiteY125" fmla="*/ 129597 h 398925"/>
              <a:gd name="connsiteX126" fmla="*/ 129451 w 398857"/>
              <a:gd name="connsiteY126" fmla="*/ 119619 h 398925"/>
              <a:gd name="connsiteX127" fmla="*/ 119473 w 398857"/>
              <a:gd name="connsiteY127" fmla="*/ 269289 h 398925"/>
              <a:gd name="connsiteX128" fmla="*/ 129451 w 398857"/>
              <a:gd name="connsiteY128" fmla="*/ 279267 h 398925"/>
              <a:gd name="connsiteX129" fmla="*/ 139429 w 398857"/>
              <a:gd name="connsiteY129" fmla="*/ 269289 h 398925"/>
              <a:gd name="connsiteX130" fmla="*/ 129451 w 398857"/>
              <a:gd name="connsiteY130" fmla="*/ 259311 h 398925"/>
              <a:gd name="connsiteX131" fmla="*/ 119473 w 398857"/>
              <a:gd name="connsiteY131" fmla="*/ 269289 h 398925"/>
              <a:gd name="connsiteX132" fmla="*/ 259165 w 398857"/>
              <a:gd name="connsiteY132" fmla="*/ 169509 h 398925"/>
              <a:gd name="connsiteX133" fmla="*/ 269143 w 398857"/>
              <a:gd name="connsiteY133" fmla="*/ 179487 h 398925"/>
              <a:gd name="connsiteX134" fmla="*/ 279121 w 398857"/>
              <a:gd name="connsiteY134" fmla="*/ 169509 h 398925"/>
              <a:gd name="connsiteX135" fmla="*/ 269143 w 398857"/>
              <a:gd name="connsiteY135" fmla="*/ 159531 h 398925"/>
              <a:gd name="connsiteX136" fmla="*/ 259165 w 398857"/>
              <a:gd name="connsiteY136" fmla="*/ 169509 h 398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398857" h="398925">
                <a:moveTo>
                  <a:pt x="102548" y="20069"/>
                </a:moveTo>
                <a:cubicBezTo>
                  <a:pt x="119144" y="7149"/>
                  <a:pt x="140855" y="0"/>
                  <a:pt x="162432" y="0"/>
                </a:cubicBezTo>
                <a:cubicBezTo>
                  <a:pt x="175332" y="0"/>
                  <a:pt x="185781" y="4432"/>
                  <a:pt x="193696" y="11472"/>
                </a:cubicBezTo>
                <a:cubicBezTo>
                  <a:pt x="195835" y="13377"/>
                  <a:pt x="197739" y="15424"/>
                  <a:pt x="199429" y="17549"/>
                </a:cubicBezTo>
                <a:cubicBezTo>
                  <a:pt x="201119" y="15424"/>
                  <a:pt x="203021" y="13377"/>
                  <a:pt x="205162" y="11472"/>
                </a:cubicBezTo>
                <a:cubicBezTo>
                  <a:pt x="213075" y="4432"/>
                  <a:pt x="223524" y="0"/>
                  <a:pt x="236423" y="0"/>
                </a:cubicBezTo>
                <a:cubicBezTo>
                  <a:pt x="258002" y="0"/>
                  <a:pt x="279714" y="7149"/>
                  <a:pt x="296309" y="20069"/>
                </a:cubicBezTo>
                <a:cubicBezTo>
                  <a:pt x="309221" y="30120"/>
                  <a:pt x="319343" y="43976"/>
                  <a:pt x="323308" y="60736"/>
                </a:cubicBezTo>
                <a:cubicBezTo>
                  <a:pt x="331693" y="62123"/>
                  <a:pt x="339143" y="66397"/>
                  <a:pt x="345168" y="72050"/>
                </a:cubicBezTo>
                <a:cubicBezTo>
                  <a:pt x="354762" y="81053"/>
                  <a:pt x="361585" y="94060"/>
                  <a:pt x="365882" y="107447"/>
                </a:cubicBezTo>
                <a:cubicBezTo>
                  <a:pt x="370244" y="121036"/>
                  <a:pt x="372427" y="136312"/>
                  <a:pt x="371769" y="150975"/>
                </a:cubicBezTo>
                <a:cubicBezTo>
                  <a:pt x="371432" y="158482"/>
                  <a:pt x="370332" y="166133"/>
                  <a:pt x="368227" y="173458"/>
                </a:cubicBezTo>
                <a:cubicBezTo>
                  <a:pt x="368666" y="173648"/>
                  <a:pt x="369103" y="173846"/>
                  <a:pt x="369538" y="174049"/>
                </a:cubicBezTo>
                <a:cubicBezTo>
                  <a:pt x="376926" y="177533"/>
                  <a:pt x="382896" y="182987"/>
                  <a:pt x="387388" y="190225"/>
                </a:cubicBezTo>
                <a:cubicBezTo>
                  <a:pt x="395872" y="203889"/>
                  <a:pt x="398857" y="223578"/>
                  <a:pt x="398857" y="248661"/>
                </a:cubicBezTo>
                <a:cubicBezTo>
                  <a:pt x="398857" y="277487"/>
                  <a:pt x="387839" y="297062"/>
                  <a:pt x="373667" y="309219"/>
                </a:cubicBezTo>
                <a:cubicBezTo>
                  <a:pt x="365443" y="316273"/>
                  <a:pt x="356367" y="320646"/>
                  <a:pt x="348331" y="322981"/>
                </a:cubicBezTo>
                <a:cubicBezTo>
                  <a:pt x="345547" y="336802"/>
                  <a:pt x="338584" y="352378"/>
                  <a:pt x="327993" y="365629"/>
                </a:cubicBezTo>
                <a:cubicBezTo>
                  <a:pt x="313569" y="383675"/>
                  <a:pt x="291149" y="398925"/>
                  <a:pt x="261001" y="398925"/>
                </a:cubicBezTo>
                <a:cubicBezTo>
                  <a:pt x="236848" y="398925"/>
                  <a:pt x="217836" y="385569"/>
                  <a:pt x="205623" y="372763"/>
                </a:cubicBezTo>
                <a:cubicBezTo>
                  <a:pt x="203390" y="370420"/>
                  <a:pt x="201321" y="368035"/>
                  <a:pt x="199429" y="365663"/>
                </a:cubicBezTo>
                <a:cubicBezTo>
                  <a:pt x="197535" y="368035"/>
                  <a:pt x="195468" y="370420"/>
                  <a:pt x="193233" y="372763"/>
                </a:cubicBezTo>
                <a:cubicBezTo>
                  <a:pt x="181019" y="385569"/>
                  <a:pt x="162007" y="398925"/>
                  <a:pt x="137855" y="398925"/>
                </a:cubicBezTo>
                <a:cubicBezTo>
                  <a:pt x="107708" y="398925"/>
                  <a:pt x="85288" y="383675"/>
                  <a:pt x="70864" y="365629"/>
                </a:cubicBezTo>
                <a:cubicBezTo>
                  <a:pt x="60273" y="352378"/>
                  <a:pt x="53310" y="336802"/>
                  <a:pt x="50527" y="322981"/>
                </a:cubicBezTo>
                <a:cubicBezTo>
                  <a:pt x="42490" y="320646"/>
                  <a:pt x="33414" y="316273"/>
                  <a:pt x="25191" y="309219"/>
                </a:cubicBezTo>
                <a:cubicBezTo>
                  <a:pt x="11019" y="297062"/>
                  <a:pt x="0" y="277487"/>
                  <a:pt x="0" y="248661"/>
                </a:cubicBezTo>
                <a:cubicBezTo>
                  <a:pt x="0" y="223578"/>
                  <a:pt x="2985" y="203889"/>
                  <a:pt x="11468" y="190225"/>
                </a:cubicBezTo>
                <a:cubicBezTo>
                  <a:pt x="15961" y="182987"/>
                  <a:pt x="21932" y="177533"/>
                  <a:pt x="29319" y="174049"/>
                </a:cubicBezTo>
                <a:cubicBezTo>
                  <a:pt x="29754" y="173846"/>
                  <a:pt x="30191" y="173648"/>
                  <a:pt x="30630" y="173458"/>
                </a:cubicBezTo>
                <a:cubicBezTo>
                  <a:pt x="28525" y="166133"/>
                  <a:pt x="27426" y="158482"/>
                  <a:pt x="27089" y="150975"/>
                </a:cubicBezTo>
                <a:cubicBezTo>
                  <a:pt x="26430" y="136312"/>
                  <a:pt x="28613" y="121036"/>
                  <a:pt x="32974" y="107447"/>
                </a:cubicBezTo>
                <a:cubicBezTo>
                  <a:pt x="37271" y="94060"/>
                  <a:pt x="44094" y="81053"/>
                  <a:pt x="53689" y="72050"/>
                </a:cubicBezTo>
                <a:cubicBezTo>
                  <a:pt x="59713" y="66397"/>
                  <a:pt x="67165" y="62123"/>
                  <a:pt x="75549" y="60736"/>
                </a:cubicBezTo>
                <a:cubicBezTo>
                  <a:pt x="79515" y="43976"/>
                  <a:pt x="89635" y="30120"/>
                  <a:pt x="102548" y="20069"/>
                </a:cubicBezTo>
                <a:close/>
                <a:moveTo>
                  <a:pt x="120935" y="43689"/>
                </a:moveTo>
                <a:cubicBezTo>
                  <a:pt x="110044" y="52168"/>
                  <a:pt x="103667" y="63462"/>
                  <a:pt x="103667" y="76465"/>
                </a:cubicBezTo>
                <a:cubicBezTo>
                  <a:pt x="103667" y="81277"/>
                  <a:pt x="101354" y="85796"/>
                  <a:pt x="97450" y="88608"/>
                </a:cubicBezTo>
                <a:cubicBezTo>
                  <a:pt x="93546" y="91421"/>
                  <a:pt x="88528" y="92186"/>
                  <a:pt x="83963" y="90663"/>
                </a:cubicBezTo>
                <a:cubicBezTo>
                  <a:pt x="81221" y="89748"/>
                  <a:pt x="78335" y="89971"/>
                  <a:pt x="74172" y="93878"/>
                </a:cubicBezTo>
                <a:cubicBezTo>
                  <a:pt x="69557" y="98209"/>
                  <a:pt x="64859" y="106055"/>
                  <a:pt x="61476" y="116596"/>
                </a:cubicBezTo>
                <a:cubicBezTo>
                  <a:pt x="58157" y="126935"/>
                  <a:pt x="56500" y="138661"/>
                  <a:pt x="56993" y="149631"/>
                </a:cubicBezTo>
                <a:cubicBezTo>
                  <a:pt x="57492" y="160738"/>
                  <a:pt x="60133" y="169938"/>
                  <a:pt x="64290" y="176178"/>
                </a:cubicBezTo>
                <a:cubicBezTo>
                  <a:pt x="64986" y="177224"/>
                  <a:pt x="65538" y="178336"/>
                  <a:pt x="65945" y="179487"/>
                </a:cubicBezTo>
                <a:lnTo>
                  <a:pt x="87539" y="179487"/>
                </a:lnTo>
                <a:cubicBezTo>
                  <a:pt x="117556" y="179487"/>
                  <a:pt x="142142" y="202742"/>
                  <a:pt x="144265" y="232217"/>
                </a:cubicBezTo>
                <a:cubicBezTo>
                  <a:pt x="158973" y="238100"/>
                  <a:pt x="169363" y="252480"/>
                  <a:pt x="169363" y="269289"/>
                </a:cubicBezTo>
                <a:cubicBezTo>
                  <a:pt x="169363" y="291332"/>
                  <a:pt x="151494" y="309201"/>
                  <a:pt x="129451" y="309201"/>
                </a:cubicBezTo>
                <a:cubicBezTo>
                  <a:pt x="107408" y="309201"/>
                  <a:pt x="89539" y="291332"/>
                  <a:pt x="89539" y="269289"/>
                </a:cubicBezTo>
                <a:cubicBezTo>
                  <a:pt x="89539" y="252652"/>
                  <a:pt x="99719" y="238391"/>
                  <a:pt x="114190" y="232398"/>
                </a:cubicBezTo>
                <a:cubicBezTo>
                  <a:pt x="112274" y="219399"/>
                  <a:pt x="101072" y="209421"/>
                  <a:pt x="87539" y="209421"/>
                </a:cubicBezTo>
                <a:lnTo>
                  <a:pt x="35654" y="209421"/>
                </a:lnTo>
                <a:cubicBezTo>
                  <a:pt x="35486" y="209421"/>
                  <a:pt x="35319" y="209419"/>
                  <a:pt x="35152" y="209413"/>
                </a:cubicBezTo>
                <a:cubicBezTo>
                  <a:pt x="32174" y="216358"/>
                  <a:pt x="29934" y="228359"/>
                  <a:pt x="29934" y="248661"/>
                </a:cubicBezTo>
                <a:cubicBezTo>
                  <a:pt x="29934" y="269034"/>
                  <a:pt x="37349" y="280209"/>
                  <a:pt x="44682" y="286501"/>
                </a:cubicBezTo>
                <a:cubicBezTo>
                  <a:pt x="52729" y="293404"/>
                  <a:pt x="61563" y="295192"/>
                  <a:pt x="64122" y="295192"/>
                </a:cubicBezTo>
                <a:cubicBezTo>
                  <a:pt x="72388" y="295192"/>
                  <a:pt x="79089" y="301893"/>
                  <a:pt x="79089" y="310159"/>
                </a:cubicBezTo>
                <a:cubicBezTo>
                  <a:pt x="79089" y="318523"/>
                  <a:pt x="83715" y="333763"/>
                  <a:pt x="94247" y="346940"/>
                </a:cubicBezTo>
                <a:cubicBezTo>
                  <a:pt x="104400" y="359642"/>
                  <a:pt x="118847" y="368991"/>
                  <a:pt x="137855" y="368991"/>
                </a:cubicBezTo>
                <a:cubicBezTo>
                  <a:pt x="150569" y="368991"/>
                  <a:pt x="162279" y="361847"/>
                  <a:pt x="171570" y="352104"/>
                </a:cubicBezTo>
                <a:cubicBezTo>
                  <a:pt x="176096" y="347359"/>
                  <a:pt x="179611" y="342430"/>
                  <a:pt x="181916" y="338431"/>
                </a:cubicBezTo>
                <a:cubicBezTo>
                  <a:pt x="183071" y="336427"/>
                  <a:pt x="183817" y="334839"/>
                  <a:pt x="184228" y="333785"/>
                </a:cubicBezTo>
                <a:lnTo>
                  <a:pt x="184332" y="333513"/>
                </a:lnTo>
                <a:lnTo>
                  <a:pt x="184332" y="284513"/>
                </a:lnTo>
                <a:cubicBezTo>
                  <a:pt x="184330" y="284428"/>
                  <a:pt x="184330" y="284342"/>
                  <a:pt x="184330" y="284256"/>
                </a:cubicBezTo>
                <a:cubicBezTo>
                  <a:pt x="184330" y="284170"/>
                  <a:pt x="184330" y="284084"/>
                  <a:pt x="184332" y="283999"/>
                </a:cubicBezTo>
                <a:lnTo>
                  <a:pt x="184332" y="144564"/>
                </a:lnTo>
                <a:lnTo>
                  <a:pt x="166462" y="144564"/>
                </a:lnTo>
                <a:cubicBezTo>
                  <a:pt x="160541" y="159191"/>
                  <a:pt x="146201" y="169509"/>
                  <a:pt x="129451" y="169509"/>
                </a:cubicBezTo>
                <a:cubicBezTo>
                  <a:pt x="107408" y="169509"/>
                  <a:pt x="89539" y="151640"/>
                  <a:pt x="89539" y="129597"/>
                </a:cubicBezTo>
                <a:cubicBezTo>
                  <a:pt x="89539" y="107554"/>
                  <a:pt x="107408" y="89685"/>
                  <a:pt x="129451" y="89685"/>
                </a:cubicBezTo>
                <a:cubicBezTo>
                  <a:pt x="146201" y="89685"/>
                  <a:pt x="160541" y="100003"/>
                  <a:pt x="166462" y="114630"/>
                </a:cubicBezTo>
                <a:lnTo>
                  <a:pt x="184332" y="114630"/>
                </a:lnTo>
                <a:lnTo>
                  <a:pt x="184332" y="64213"/>
                </a:lnTo>
                <a:lnTo>
                  <a:pt x="184328" y="63987"/>
                </a:lnTo>
                <a:cubicBezTo>
                  <a:pt x="184322" y="63759"/>
                  <a:pt x="184310" y="63373"/>
                  <a:pt x="184282" y="62852"/>
                </a:cubicBezTo>
                <a:cubicBezTo>
                  <a:pt x="184226" y="61805"/>
                  <a:pt x="184109" y="60239"/>
                  <a:pt x="183871" y="58333"/>
                </a:cubicBezTo>
                <a:cubicBezTo>
                  <a:pt x="183386" y="54444"/>
                  <a:pt x="182438" y="49524"/>
                  <a:pt x="180676" y="44818"/>
                </a:cubicBezTo>
                <a:cubicBezTo>
                  <a:pt x="178888" y="40049"/>
                  <a:pt x="176563" y="36297"/>
                  <a:pt x="173797" y="33836"/>
                </a:cubicBezTo>
                <a:cubicBezTo>
                  <a:pt x="171343" y="31652"/>
                  <a:pt x="167966" y="29934"/>
                  <a:pt x="162432" y="29934"/>
                </a:cubicBezTo>
                <a:cubicBezTo>
                  <a:pt x="147144" y="29934"/>
                  <a:pt x="131989" y="35085"/>
                  <a:pt x="120935" y="43689"/>
                </a:cubicBezTo>
                <a:close/>
                <a:moveTo>
                  <a:pt x="214526" y="299223"/>
                </a:moveTo>
                <a:lnTo>
                  <a:pt x="214526" y="333513"/>
                </a:lnTo>
                <a:lnTo>
                  <a:pt x="214627" y="333785"/>
                </a:lnTo>
                <a:cubicBezTo>
                  <a:pt x="215040" y="334839"/>
                  <a:pt x="215787" y="336427"/>
                  <a:pt x="216940" y="338431"/>
                </a:cubicBezTo>
                <a:cubicBezTo>
                  <a:pt x="219245" y="342430"/>
                  <a:pt x="222759" y="347359"/>
                  <a:pt x="227285" y="352104"/>
                </a:cubicBezTo>
                <a:cubicBezTo>
                  <a:pt x="236579" y="361847"/>
                  <a:pt x="248289" y="368991"/>
                  <a:pt x="261001" y="368991"/>
                </a:cubicBezTo>
                <a:cubicBezTo>
                  <a:pt x="280009" y="368991"/>
                  <a:pt x="294457" y="359642"/>
                  <a:pt x="304611" y="346940"/>
                </a:cubicBezTo>
                <a:cubicBezTo>
                  <a:pt x="315142" y="333763"/>
                  <a:pt x="319768" y="318523"/>
                  <a:pt x="319768" y="310159"/>
                </a:cubicBezTo>
                <a:cubicBezTo>
                  <a:pt x="319768" y="301893"/>
                  <a:pt x="326469" y="295192"/>
                  <a:pt x="334735" y="295192"/>
                </a:cubicBezTo>
                <a:cubicBezTo>
                  <a:pt x="337295" y="295192"/>
                  <a:pt x="346127" y="293404"/>
                  <a:pt x="354176" y="286501"/>
                </a:cubicBezTo>
                <a:cubicBezTo>
                  <a:pt x="361508" y="280209"/>
                  <a:pt x="368923" y="269034"/>
                  <a:pt x="368923" y="248661"/>
                </a:cubicBezTo>
                <a:cubicBezTo>
                  <a:pt x="368923" y="224546"/>
                  <a:pt x="365762" y="212143"/>
                  <a:pt x="361959" y="206015"/>
                </a:cubicBezTo>
                <a:cubicBezTo>
                  <a:pt x="360306" y="203354"/>
                  <a:pt x="358598" y="201985"/>
                  <a:pt x="356768" y="201123"/>
                </a:cubicBezTo>
                <a:cubicBezTo>
                  <a:pt x="354742" y="200167"/>
                  <a:pt x="351717" y="199443"/>
                  <a:pt x="347023" y="199443"/>
                </a:cubicBezTo>
                <a:cubicBezTo>
                  <a:pt x="341506" y="199443"/>
                  <a:pt x="336435" y="196406"/>
                  <a:pt x="333829" y="191540"/>
                </a:cubicBezTo>
                <a:cubicBezTo>
                  <a:pt x="331224" y="186675"/>
                  <a:pt x="331508" y="180772"/>
                  <a:pt x="334567" y="176178"/>
                </a:cubicBezTo>
                <a:cubicBezTo>
                  <a:pt x="338724" y="169938"/>
                  <a:pt x="341366" y="160738"/>
                  <a:pt x="341865" y="149631"/>
                </a:cubicBezTo>
                <a:cubicBezTo>
                  <a:pt x="342358" y="138661"/>
                  <a:pt x="340699" y="126935"/>
                  <a:pt x="337381" y="116596"/>
                </a:cubicBezTo>
                <a:cubicBezTo>
                  <a:pt x="333998" y="106055"/>
                  <a:pt x="329301" y="98209"/>
                  <a:pt x="324685" y="93878"/>
                </a:cubicBezTo>
                <a:cubicBezTo>
                  <a:pt x="320522" y="89971"/>
                  <a:pt x="317636" y="89748"/>
                  <a:pt x="314894" y="90663"/>
                </a:cubicBezTo>
                <a:cubicBezTo>
                  <a:pt x="310330" y="92186"/>
                  <a:pt x="305311" y="91421"/>
                  <a:pt x="301408" y="88608"/>
                </a:cubicBezTo>
                <a:cubicBezTo>
                  <a:pt x="297503" y="85796"/>
                  <a:pt x="295190" y="81277"/>
                  <a:pt x="295190" y="76465"/>
                </a:cubicBezTo>
                <a:cubicBezTo>
                  <a:pt x="295190" y="63462"/>
                  <a:pt x="288812" y="52168"/>
                  <a:pt x="277922" y="43689"/>
                </a:cubicBezTo>
                <a:cubicBezTo>
                  <a:pt x="266868" y="35085"/>
                  <a:pt x="251714" y="29934"/>
                  <a:pt x="236423" y="29934"/>
                </a:cubicBezTo>
                <a:cubicBezTo>
                  <a:pt x="230892" y="29934"/>
                  <a:pt x="227515" y="31652"/>
                  <a:pt x="225058" y="33836"/>
                </a:cubicBezTo>
                <a:cubicBezTo>
                  <a:pt x="222294" y="36297"/>
                  <a:pt x="219968" y="40049"/>
                  <a:pt x="218182" y="44818"/>
                </a:cubicBezTo>
                <a:cubicBezTo>
                  <a:pt x="216419" y="49524"/>
                  <a:pt x="215472" y="54444"/>
                  <a:pt x="214985" y="58333"/>
                </a:cubicBezTo>
                <a:cubicBezTo>
                  <a:pt x="214747" y="60239"/>
                  <a:pt x="214631" y="61805"/>
                  <a:pt x="214576" y="62852"/>
                </a:cubicBezTo>
                <a:cubicBezTo>
                  <a:pt x="214548" y="63373"/>
                  <a:pt x="214536" y="63759"/>
                  <a:pt x="214530" y="63987"/>
                </a:cubicBezTo>
                <a:lnTo>
                  <a:pt x="214526" y="64213"/>
                </a:lnTo>
                <a:lnTo>
                  <a:pt x="214526" y="269289"/>
                </a:lnTo>
                <a:lnTo>
                  <a:pt x="227236" y="269289"/>
                </a:lnTo>
                <a:cubicBezTo>
                  <a:pt x="242115" y="269289"/>
                  <a:pt x="254176" y="257228"/>
                  <a:pt x="254176" y="242348"/>
                </a:cubicBezTo>
                <a:lnTo>
                  <a:pt x="254176" y="206519"/>
                </a:lnTo>
                <a:cubicBezTo>
                  <a:pt x="239548" y="200599"/>
                  <a:pt x="229231" y="186258"/>
                  <a:pt x="229231" y="169509"/>
                </a:cubicBezTo>
                <a:cubicBezTo>
                  <a:pt x="229231" y="147466"/>
                  <a:pt x="247100" y="129597"/>
                  <a:pt x="269143" y="129597"/>
                </a:cubicBezTo>
                <a:cubicBezTo>
                  <a:pt x="291187" y="129597"/>
                  <a:pt x="309055" y="147466"/>
                  <a:pt x="309055" y="169509"/>
                </a:cubicBezTo>
                <a:cubicBezTo>
                  <a:pt x="309055" y="186258"/>
                  <a:pt x="298736" y="200599"/>
                  <a:pt x="284110" y="206519"/>
                </a:cubicBezTo>
                <a:lnTo>
                  <a:pt x="284110" y="242348"/>
                </a:lnTo>
                <a:cubicBezTo>
                  <a:pt x="284110" y="273759"/>
                  <a:pt x="258646" y="299223"/>
                  <a:pt x="227236" y="299223"/>
                </a:cubicBezTo>
                <a:lnTo>
                  <a:pt x="214526" y="299223"/>
                </a:lnTo>
                <a:close/>
                <a:moveTo>
                  <a:pt x="129451" y="119619"/>
                </a:moveTo>
                <a:cubicBezTo>
                  <a:pt x="123940" y="119619"/>
                  <a:pt x="119473" y="124086"/>
                  <a:pt x="119473" y="129597"/>
                </a:cubicBezTo>
                <a:cubicBezTo>
                  <a:pt x="119473" y="135108"/>
                  <a:pt x="123940" y="139575"/>
                  <a:pt x="129451" y="139575"/>
                </a:cubicBezTo>
                <a:cubicBezTo>
                  <a:pt x="134962" y="139575"/>
                  <a:pt x="139429" y="135108"/>
                  <a:pt x="139429" y="129597"/>
                </a:cubicBezTo>
                <a:cubicBezTo>
                  <a:pt x="139429" y="124086"/>
                  <a:pt x="134962" y="119619"/>
                  <a:pt x="129451" y="119619"/>
                </a:cubicBezTo>
                <a:close/>
                <a:moveTo>
                  <a:pt x="119473" y="269289"/>
                </a:moveTo>
                <a:cubicBezTo>
                  <a:pt x="119473" y="274799"/>
                  <a:pt x="123940" y="279267"/>
                  <a:pt x="129451" y="279267"/>
                </a:cubicBezTo>
                <a:cubicBezTo>
                  <a:pt x="134962" y="279267"/>
                  <a:pt x="139429" y="274799"/>
                  <a:pt x="139429" y="269289"/>
                </a:cubicBezTo>
                <a:cubicBezTo>
                  <a:pt x="139429" y="263779"/>
                  <a:pt x="134962" y="259311"/>
                  <a:pt x="129451" y="259311"/>
                </a:cubicBezTo>
                <a:cubicBezTo>
                  <a:pt x="123940" y="259311"/>
                  <a:pt x="119473" y="263779"/>
                  <a:pt x="119473" y="269289"/>
                </a:cubicBezTo>
                <a:close/>
                <a:moveTo>
                  <a:pt x="259165" y="169509"/>
                </a:moveTo>
                <a:cubicBezTo>
                  <a:pt x="259165" y="175019"/>
                  <a:pt x="263631" y="179487"/>
                  <a:pt x="269143" y="179487"/>
                </a:cubicBezTo>
                <a:cubicBezTo>
                  <a:pt x="274653" y="179487"/>
                  <a:pt x="279121" y="175019"/>
                  <a:pt x="279121" y="169509"/>
                </a:cubicBezTo>
                <a:cubicBezTo>
                  <a:pt x="279121" y="163999"/>
                  <a:pt x="274653" y="159531"/>
                  <a:pt x="269143" y="159531"/>
                </a:cubicBezTo>
                <a:cubicBezTo>
                  <a:pt x="263631" y="159531"/>
                  <a:pt x="259165" y="163999"/>
                  <a:pt x="259165" y="16950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56000">
                <a:srgbClr val="CC918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33" name="Graphic 328" descr="Icon of a line chart with connected circles at varying points">
            <a:extLst>
              <a:ext uri="{FF2B5EF4-FFF2-40B4-BE49-F238E27FC236}">
                <a16:creationId xmlns:a16="http://schemas.microsoft.com/office/drawing/2014/main" id="{99E6BFD1-1123-8E7A-D419-1E2B6343B3F3}"/>
              </a:ext>
            </a:extLst>
          </p:cNvPr>
          <p:cNvSpPr/>
          <p:nvPr/>
        </p:nvSpPr>
        <p:spPr>
          <a:xfrm>
            <a:off x="8929192" y="2054940"/>
            <a:ext cx="355532" cy="319960"/>
          </a:xfrm>
          <a:custGeom>
            <a:avLst/>
            <a:gdLst>
              <a:gd name="connsiteX0" fmla="*/ 220167 w 259020"/>
              <a:gd name="connsiteY0" fmla="*/ 19416 h 233104"/>
              <a:gd name="connsiteX1" fmla="*/ 200740 w 259020"/>
              <a:gd name="connsiteY1" fmla="*/ 38842 h 233104"/>
              <a:gd name="connsiteX2" fmla="*/ 220167 w 259020"/>
              <a:gd name="connsiteY2" fmla="*/ 58269 h 233104"/>
              <a:gd name="connsiteX3" fmla="*/ 239594 w 259020"/>
              <a:gd name="connsiteY3" fmla="*/ 38842 h 233104"/>
              <a:gd name="connsiteX4" fmla="*/ 220167 w 259020"/>
              <a:gd name="connsiteY4" fmla="*/ 19416 h 233104"/>
              <a:gd name="connsiteX5" fmla="*/ 181314 w 259020"/>
              <a:gd name="connsiteY5" fmla="*/ 38842 h 233104"/>
              <a:gd name="connsiteX6" fmla="*/ 220177 w 259020"/>
              <a:gd name="connsiteY6" fmla="*/ 0 h 233104"/>
              <a:gd name="connsiteX7" fmla="*/ 259020 w 259020"/>
              <a:gd name="connsiteY7" fmla="*/ 38864 h 233104"/>
              <a:gd name="connsiteX8" fmla="*/ 220157 w 259020"/>
              <a:gd name="connsiteY8" fmla="*/ 77707 h 233104"/>
              <a:gd name="connsiteX9" fmla="*/ 214015 w 259020"/>
              <a:gd name="connsiteY9" fmla="*/ 77216 h 233104"/>
              <a:gd name="connsiteX10" fmla="*/ 187621 w 259020"/>
              <a:gd name="connsiteY10" fmla="*/ 120706 h 233104"/>
              <a:gd name="connsiteX11" fmla="*/ 177418 w 259020"/>
              <a:gd name="connsiteY11" fmla="*/ 174698 h 233104"/>
              <a:gd name="connsiteX12" fmla="*/ 126103 w 259020"/>
              <a:gd name="connsiteY12" fmla="*/ 167978 h 233104"/>
              <a:gd name="connsiteX13" fmla="*/ 77653 w 259020"/>
              <a:gd name="connsiteY13" fmla="*/ 192196 h 233104"/>
              <a:gd name="connsiteX14" fmla="*/ 40908 w 259020"/>
              <a:gd name="connsiteY14" fmla="*/ 233049 h 233104"/>
              <a:gd name="connsiteX15" fmla="*/ 55 w 259020"/>
              <a:gd name="connsiteY15" fmla="*/ 196304 h 233104"/>
              <a:gd name="connsiteX16" fmla="*/ 36800 w 259020"/>
              <a:gd name="connsiteY16" fmla="*/ 155451 h 233104"/>
              <a:gd name="connsiteX17" fmla="*/ 71683 w 259020"/>
              <a:gd name="connsiteY17" fmla="*/ 173469 h 233104"/>
              <a:gd name="connsiteX18" fmla="*/ 117413 w 259020"/>
              <a:gd name="connsiteY18" fmla="*/ 150597 h 233104"/>
              <a:gd name="connsiteX19" fmla="*/ 147234 w 259020"/>
              <a:gd name="connsiteY19" fmla="*/ 104447 h 233104"/>
              <a:gd name="connsiteX20" fmla="*/ 172792 w 259020"/>
              <a:gd name="connsiteY20" fmla="*/ 107690 h 233104"/>
              <a:gd name="connsiteX21" fmla="*/ 196078 w 259020"/>
              <a:gd name="connsiteY21" fmla="*/ 69329 h 233104"/>
              <a:gd name="connsiteX22" fmla="*/ 181314 w 259020"/>
              <a:gd name="connsiteY22" fmla="*/ 38842 h 233104"/>
              <a:gd name="connsiteX23" fmla="*/ 155411 w 259020"/>
              <a:gd name="connsiteY23" fmla="*/ 123024 h 233104"/>
              <a:gd name="connsiteX24" fmla="*/ 135985 w 259020"/>
              <a:gd name="connsiteY24" fmla="*/ 142451 h 233104"/>
              <a:gd name="connsiteX25" fmla="*/ 155411 w 259020"/>
              <a:gd name="connsiteY25" fmla="*/ 161878 h 233104"/>
              <a:gd name="connsiteX26" fmla="*/ 174838 w 259020"/>
              <a:gd name="connsiteY26" fmla="*/ 142451 h 233104"/>
              <a:gd name="connsiteX27" fmla="*/ 155411 w 259020"/>
              <a:gd name="connsiteY27" fmla="*/ 123024 h 233104"/>
              <a:gd name="connsiteX28" fmla="*/ 38852 w 259020"/>
              <a:gd name="connsiteY28" fmla="*/ 174829 h 233104"/>
              <a:gd name="connsiteX29" fmla="*/ 19425 w 259020"/>
              <a:gd name="connsiteY29" fmla="*/ 194255 h 233104"/>
              <a:gd name="connsiteX30" fmla="*/ 38852 w 259020"/>
              <a:gd name="connsiteY30" fmla="*/ 213682 h 233104"/>
              <a:gd name="connsiteX31" fmla="*/ 58278 w 259020"/>
              <a:gd name="connsiteY31" fmla="*/ 194255 h 233104"/>
              <a:gd name="connsiteX32" fmla="*/ 38852 w 259020"/>
              <a:gd name="connsiteY32" fmla="*/ 174829 h 233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59020" h="233104">
                <a:moveTo>
                  <a:pt x="220167" y="19416"/>
                </a:moveTo>
                <a:cubicBezTo>
                  <a:pt x="209438" y="19416"/>
                  <a:pt x="200740" y="28113"/>
                  <a:pt x="200740" y="38842"/>
                </a:cubicBezTo>
                <a:cubicBezTo>
                  <a:pt x="200740" y="49571"/>
                  <a:pt x="209438" y="58269"/>
                  <a:pt x="220167" y="58269"/>
                </a:cubicBezTo>
                <a:cubicBezTo>
                  <a:pt x="230896" y="58269"/>
                  <a:pt x="239594" y="49571"/>
                  <a:pt x="239594" y="38842"/>
                </a:cubicBezTo>
                <a:cubicBezTo>
                  <a:pt x="239594" y="28113"/>
                  <a:pt x="230896" y="19416"/>
                  <a:pt x="220167" y="19416"/>
                </a:cubicBezTo>
                <a:close/>
                <a:moveTo>
                  <a:pt x="181314" y="38842"/>
                </a:moveTo>
                <a:cubicBezTo>
                  <a:pt x="181320" y="17384"/>
                  <a:pt x="198720" y="-6"/>
                  <a:pt x="220177" y="0"/>
                </a:cubicBezTo>
                <a:cubicBezTo>
                  <a:pt x="241636" y="6"/>
                  <a:pt x="259027" y="17406"/>
                  <a:pt x="259020" y="38864"/>
                </a:cubicBezTo>
                <a:cubicBezTo>
                  <a:pt x="259014" y="60322"/>
                  <a:pt x="241614" y="77713"/>
                  <a:pt x="220157" y="77707"/>
                </a:cubicBezTo>
                <a:cubicBezTo>
                  <a:pt x="218100" y="77706"/>
                  <a:pt x="216046" y="77542"/>
                  <a:pt x="214015" y="77216"/>
                </a:cubicBezTo>
                <a:lnTo>
                  <a:pt x="187621" y="120706"/>
                </a:lnTo>
                <a:cubicBezTo>
                  <a:pt x="199713" y="138432"/>
                  <a:pt x="195145" y="162606"/>
                  <a:pt x="177418" y="174698"/>
                </a:cubicBezTo>
                <a:cubicBezTo>
                  <a:pt x="161093" y="185833"/>
                  <a:pt x="139010" y="182941"/>
                  <a:pt x="126103" y="167978"/>
                </a:cubicBezTo>
                <a:lnTo>
                  <a:pt x="77653" y="192196"/>
                </a:lnTo>
                <a:cubicBezTo>
                  <a:pt x="78788" y="213624"/>
                  <a:pt x="62336" y="231915"/>
                  <a:pt x="40908" y="233049"/>
                </a:cubicBezTo>
                <a:cubicBezTo>
                  <a:pt x="19480" y="234184"/>
                  <a:pt x="1190" y="217733"/>
                  <a:pt x="55" y="196304"/>
                </a:cubicBezTo>
                <a:cubicBezTo>
                  <a:pt x="-1079" y="174877"/>
                  <a:pt x="15372" y="156586"/>
                  <a:pt x="36800" y="155451"/>
                </a:cubicBezTo>
                <a:cubicBezTo>
                  <a:pt x="50830" y="154709"/>
                  <a:pt x="64168" y="161598"/>
                  <a:pt x="71683" y="173469"/>
                </a:cubicBezTo>
                <a:lnTo>
                  <a:pt x="117413" y="150597"/>
                </a:lnTo>
                <a:cubicBezTo>
                  <a:pt x="112903" y="129618"/>
                  <a:pt x="126256" y="108956"/>
                  <a:pt x="147234" y="104447"/>
                </a:cubicBezTo>
                <a:cubicBezTo>
                  <a:pt x="155875" y="102590"/>
                  <a:pt x="164889" y="103734"/>
                  <a:pt x="172792" y="107690"/>
                </a:cubicBezTo>
                <a:lnTo>
                  <a:pt x="196078" y="69329"/>
                </a:lnTo>
                <a:cubicBezTo>
                  <a:pt x="186745" y="61966"/>
                  <a:pt x="181303" y="50730"/>
                  <a:pt x="181314" y="38842"/>
                </a:cubicBezTo>
                <a:close/>
                <a:moveTo>
                  <a:pt x="155411" y="123024"/>
                </a:moveTo>
                <a:cubicBezTo>
                  <a:pt x="144683" y="123024"/>
                  <a:pt x="135985" y="131722"/>
                  <a:pt x="135985" y="142451"/>
                </a:cubicBezTo>
                <a:cubicBezTo>
                  <a:pt x="135985" y="153180"/>
                  <a:pt x="144683" y="161878"/>
                  <a:pt x="155411" y="161878"/>
                </a:cubicBezTo>
                <a:cubicBezTo>
                  <a:pt x="166140" y="161878"/>
                  <a:pt x="174838" y="153180"/>
                  <a:pt x="174838" y="142451"/>
                </a:cubicBezTo>
                <a:cubicBezTo>
                  <a:pt x="174838" y="131722"/>
                  <a:pt x="166140" y="123024"/>
                  <a:pt x="155411" y="123024"/>
                </a:cubicBezTo>
                <a:close/>
                <a:moveTo>
                  <a:pt x="38852" y="174829"/>
                </a:moveTo>
                <a:cubicBezTo>
                  <a:pt x="28123" y="174829"/>
                  <a:pt x="19425" y="183527"/>
                  <a:pt x="19425" y="194255"/>
                </a:cubicBezTo>
                <a:cubicBezTo>
                  <a:pt x="19425" y="204984"/>
                  <a:pt x="28123" y="213682"/>
                  <a:pt x="38852" y="213682"/>
                </a:cubicBezTo>
                <a:cubicBezTo>
                  <a:pt x="49581" y="213682"/>
                  <a:pt x="58278" y="204984"/>
                  <a:pt x="58278" y="194255"/>
                </a:cubicBezTo>
                <a:cubicBezTo>
                  <a:pt x="58278" y="183527"/>
                  <a:pt x="49581" y="174829"/>
                  <a:pt x="38852" y="17482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56000">
                <a:srgbClr val="CC918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363724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CF1BD79-8298-CB50-96E8-58122A3B8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149599"/>
            <a:ext cx="12192000" cy="1095762"/>
          </a:xfrm>
          <a:custGeom>
            <a:avLst/>
            <a:gdLst>
              <a:gd name="connsiteX0" fmla="*/ 0 w 12192000"/>
              <a:gd name="connsiteY0" fmla="*/ 0 h 1095762"/>
              <a:gd name="connsiteX1" fmla="*/ 12192000 w 12192000"/>
              <a:gd name="connsiteY1" fmla="*/ 0 h 1095762"/>
              <a:gd name="connsiteX2" fmla="*/ 12192000 w 12192000"/>
              <a:gd name="connsiteY2" fmla="*/ 1095762 h 1095762"/>
              <a:gd name="connsiteX3" fmla="*/ 11620499 w 12192000"/>
              <a:gd name="connsiteY3" fmla="*/ 1095762 h 1095762"/>
              <a:gd name="connsiteX4" fmla="*/ 11620499 w 12192000"/>
              <a:gd name="connsiteY4" fmla="*/ 781487 h 1095762"/>
              <a:gd name="connsiteX5" fmla="*/ 11457888 w 12192000"/>
              <a:gd name="connsiteY5" fmla="*/ 618876 h 1095762"/>
              <a:gd name="connsiteX6" fmla="*/ 734112 w 12192000"/>
              <a:gd name="connsiteY6" fmla="*/ 618876 h 1095762"/>
              <a:gd name="connsiteX7" fmla="*/ 571501 w 12192000"/>
              <a:gd name="connsiteY7" fmla="*/ 781487 h 1095762"/>
              <a:gd name="connsiteX8" fmla="*/ 571501 w 12192000"/>
              <a:gd name="connsiteY8" fmla="*/ 1095762 h 1095762"/>
              <a:gd name="connsiteX9" fmla="*/ 0 w 12192000"/>
              <a:gd name="connsiteY9" fmla="*/ 1095762 h 1095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095762">
                <a:moveTo>
                  <a:pt x="0" y="0"/>
                </a:moveTo>
                <a:lnTo>
                  <a:pt x="12192000" y="0"/>
                </a:lnTo>
                <a:lnTo>
                  <a:pt x="12192000" y="1095762"/>
                </a:lnTo>
                <a:lnTo>
                  <a:pt x="11620499" y="1095762"/>
                </a:lnTo>
                <a:lnTo>
                  <a:pt x="11620499" y="781487"/>
                </a:lnTo>
                <a:cubicBezTo>
                  <a:pt x="11620499" y="691679"/>
                  <a:pt x="11547696" y="618876"/>
                  <a:pt x="11457888" y="618876"/>
                </a:cubicBezTo>
                <a:lnTo>
                  <a:pt x="734112" y="618876"/>
                </a:lnTo>
                <a:cubicBezTo>
                  <a:pt x="644304" y="618876"/>
                  <a:pt x="571501" y="691679"/>
                  <a:pt x="571501" y="781487"/>
                </a:cubicBezTo>
                <a:lnTo>
                  <a:pt x="571501" y="1095762"/>
                </a:lnTo>
                <a:lnTo>
                  <a:pt x="0" y="1095762"/>
                </a:lnTo>
                <a:close/>
              </a:path>
            </a:pathLst>
          </a:custGeom>
          <a:solidFill>
            <a:schemeClr val="bg1">
              <a:lumMod val="85000"/>
              <a:alpha val="4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" name="Graphic 278">
            <a:extLst>
              <a:ext uri="{FF2B5EF4-FFF2-40B4-BE49-F238E27FC236}">
                <a16:creationId xmlns:a16="http://schemas.microsoft.com/office/drawing/2014/main" id="{FD5767EB-AB5B-2D5C-D471-FD84A78E5562}"/>
              </a:ext>
            </a:extLst>
          </p:cNvPr>
          <p:cNvSpPr>
            <a:spLocks/>
          </p:cNvSpPr>
          <p:nvPr/>
        </p:nvSpPr>
        <p:spPr>
          <a:xfrm>
            <a:off x="571501" y="1768475"/>
            <a:ext cx="11048998" cy="4927601"/>
          </a:xfrm>
          <a:prstGeom prst="roundRect">
            <a:avLst>
              <a:gd name="adj" fmla="val 3300"/>
            </a:avLst>
          </a:prstGeom>
          <a:solidFill>
            <a:srgbClr val="FFFFFF">
              <a:alpha val="70000"/>
            </a:srgbClr>
          </a:solidFill>
          <a:ln w="4484" cap="flat">
            <a:noFill/>
            <a:prstDash val="solid"/>
            <a:miter/>
          </a:ln>
          <a:effectLst>
            <a:outerShdw blurRad="444500" dist="355600" dir="1800000" sx="90000" sy="90000" algn="tl" rotWithShape="0">
              <a:schemeClr val="bg2">
                <a:lumMod val="25000"/>
                <a:alpha val="1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5B3192C0-FBC7-1FCA-210C-0EFC5D83A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noProof="0"/>
              <a:t>BXT Use case template</a:t>
            </a:r>
            <a:endParaRPr lang="en-US"/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3997FE9C-AEF4-C272-E29B-C1996908CF54}"/>
              </a:ext>
            </a:extLst>
          </p:cNvPr>
          <p:cNvSpPr txBox="1">
            <a:spLocks/>
          </p:cNvSpPr>
          <p:nvPr/>
        </p:nvSpPr>
        <p:spPr>
          <a:xfrm>
            <a:off x="588962" y="1204290"/>
            <a:ext cx="536257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 w="3175">
                  <a:noFill/>
                </a:ln>
                <a:effectLst/>
                <a:uLnTx/>
                <a:uFillTx/>
                <a:ea typeface="+mn-ea"/>
                <a:cs typeface="Segoe UI"/>
              </a:rPr>
              <a:t>Use case name:</a:t>
            </a:r>
            <a:r>
              <a:rPr kumimoji="0" lang="en-US" sz="1200" b="0" i="0" u="none" strike="noStrike" kern="1200" cap="none" spc="0" normalizeH="0" baseline="0" noProof="0">
                <a:ln w="3175">
                  <a:noFill/>
                </a:ln>
                <a:effectLst/>
                <a:uLnTx/>
                <a:uFillTx/>
                <a:cs typeface="Segoe UI"/>
              </a:rPr>
              <a:t> </a:t>
            </a:r>
            <a:endParaRPr lang="en-US" sz="1200" spc="0">
              <a:latin typeface="+mn-lt"/>
              <a:cs typeface="Segoe UI"/>
            </a:endParaRPr>
          </a:p>
        </p:txBody>
      </p:sp>
      <p:sp>
        <p:nvSpPr>
          <p:cNvPr id="29" name="Textplatzhalter 2">
            <a:extLst>
              <a:ext uri="{FF2B5EF4-FFF2-40B4-BE49-F238E27FC236}">
                <a16:creationId xmlns:a16="http://schemas.microsoft.com/office/drawing/2014/main" id="{2FD25B62-4162-6B84-D31D-366B14751518}"/>
              </a:ext>
            </a:extLst>
          </p:cNvPr>
          <p:cNvSpPr txBox="1">
            <a:spLocks/>
          </p:cNvSpPr>
          <p:nvPr/>
        </p:nvSpPr>
        <p:spPr>
          <a:xfrm>
            <a:off x="588962" y="1498338"/>
            <a:ext cx="5362575" cy="215444"/>
          </a:xfrm>
          <a:prstGeom prst="rect">
            <a:avLst/>
          </a:prstGeom>
        </p:spPr>
        <p:txBody>
          <a:bodyPr lIns="0" tIns="0" rIns="0" bIns="0"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normalizeH="0" baseline="0" noProof="0">
                <a:ln w="3175">
                  <a:noFill/>
                </a:ln>
                <a:effectLst/>
                <a:uLnTx/>
                <a:uFillTx/>
                <a:latin typeface="+mj-lt"/>
                <a:ea typeface="+mn-ea"/>
                <a:cs typeface="Segoe UI"/>
              </a:rPr>
              <a:t>Department:  </a:t>
            </a:r>
            <a:endParaRPr kumimoji="0" lang="en-US" sz="1200" b="1" i="0" u="none" strike="noStrike" kern="1200" cap="none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</a:endParaRPr>
          </a:p>
        </p:txBody>
      </p:sp>
      <p:sp>
        <p:nvSpPr>
          <p:cNvPr id="30" name="Textplatzhalter 2">
            <a:extLst>
              <a:ext uri="{FF2B5EF4-FFF2-40B4-BE49-F238E27FC236}">
                <a16:creationId xmlns:a16="http://schemas.microsoft.com/office/drawing/2014/main" id="{6CEAF2B5-545F-7194-72CE-77497B185530}"/>
              </a:ext>
            </a:extLst>
          </p:cNvPr>
          <p:cNvSpPr txBox="1">
            <a:spLocks/>
          </p:cNvSpPr>
          <p:nvPr/>
        </p:nvSpPr>
        <p:spPr>
          <a:xfrm>
            <a:off x="6242050" y="1204290"/>
            <a:ext cx="5378450" cy="215444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Tx/>
              <a:buNone/>
              <a:defRPr/>
            </a:pPr>
            <a:r>
              <a:rPr lang="en-US" sz="1200">
                <a:ln w="3175">
                  <a:noFill/>
                </a:ln>
                <a:latin typeface="+mj-lt"/>
                <a:cs typeface="Segoe UI"/>
              </a:rPr>
              <a:t>Internal or external use: </a:t>
            </a:r>
            <a:endParaRPr lang="en-US" sz="1200">
              <a:ln w="3175">
                <a:noFill/>
              </a:ln>
              <a:cs typeface="Segoe UI"/>
            </a:endParaRPr>
          </a:p>
        </p:txBody>
      </p:sp>
      <p:sp>
        <p:nvSpPr>
          <p:cNvPr id="31" name="Donut 7">
            <a:extLst>
              <a:ext uri="{FF2B5EF4-FFF2-40B4-BE49-F238E27FC236}">
                <a16:creationId xmlns:a16="http://schemas.microsoft.com/office/drawing/2014/main" id="{9DD1EC47-2909-C04F-0279-257A28082558}"/>
              </a:ext>
            </a:extLst>
          </p:cNvPr>
          <p:cNvSpPr/>
          <p:nvPr/>
        </p:nvSpPr>
        <p:spPr bwMode="auto">
          <a:xfrm>
            <a:off x="698029" y="1895003"/>
            <a:ext cx="10795942" cy="2988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General</a:t>
            </a:r>
            <a:endParaRPr kumimoji="0" lang="en-US" sz="1200" b="0" i="0" u="none" strike="noStrike" kern="1200" cap="none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Segoe UI"/>
            </a:endParaRPr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E22F73F3-D5B0-19BB-1C48-1EEA5BE72D8B}"/>
              </a:ext>
            </a:extLst>
          </p:cNvPr>
          <p:cNvSpPr>
            <a:spLocks/>
          </p:cNvSpPr>
          <p:nvPr/>
        </p:nvSpPr>
        <p:spPr bwMode="auto">
          <a:xfrm>
            <a:off x="698028" y="2259168"/>
            <a:ext cx="5361395" cy="2078250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Problem to solve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What’s the challenge/the problem you want to solve? How do you solve it today?</a:t>
            </a:r>
          </a:p>
        </p:txBody>
      </p:sp>
      <p:sp>
        <p:nvSpPr>
          <p:cNvPr id="122" name="Rectangle: Rounded Corners 121">
            <a:extLst>
              <a:ext uri="{FF2B5EF4-FFF2-40B4-BE49-F238E27FC236}">
                <a16:creationId xmlns:a16="http://schemas.microsoft.com/office/drawing/2014/main" id="{78E97883-042E-0872-C687-1F302B7A9EF2}"/>
              </a:ext>
            </a:extLst>
          </p:cNvPr>
          <p:cNvSpPr>
            <a:spLocks/>
          </p:cNvSpPr>
          <p:nvPr/>
        </p:nvSpPr>
        <p:spPr bwMode="auto">
          <a:xfrm>
            <a:off x="6128001" y="2259168"/>
            <a:ext cx="5365969" cy="2078250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Use case description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What is your idea?</a:t>
            </a:r>
          </a:p>
        </p:txBody>
      </p:sp>
      <p:sp>
        <p:nvSpPr>
          <p:cNvPr id="127" name="Donut 7">
            <a:extLst>
              <a:ext uri="{FF2B5EF4-FFF2-40B4-BE49-F238E27FC236}">
                <a16:creationId xmlns:a16="http://schemas.microsoft.com/office/drawing/2014/main" id="{2D741759-D812-7D39-B817-334220E095D0}"/>
              </a:ext>
            </a:extLst>
          </p:cNvPr>
          <p:cNvSpPr/>
          <p:nvPr/>
        </p:nvSpPr>
        <p:spPr bwMode="auto">
          <a:xfrm>
            <a:off x="698029" y="4462374"/>
            <a:ext cx="10795942" cy="2988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Objectives &amp; key results – Strategic fit assessment</a:t>
            </a: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77E9E948-F193-F55F-C438-FEEF35CC0670}"/>
              </a:ext>
            </a:extLst>
          </p:cNvPr>
          <p:cNvSpPr>
            <a:spLocks/>
          </p:cNvSpPr>
          <p:nvPr/>
        </p:nvSpPr>
        <p:spPr bwMode="auto">
          <a:xfrm>
            <a:off x="698027" y="4826539"/>
            <a:ext cx="2617435" cy="1737774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Business objective 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Describe the business objective to be achieved?</a:t>
            </a: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364F0ED7-9AF3-774C-DC40-B61AED191A18}"/>
              </a:ext>
            </a:extLst>
          </p:cNvPr>
          <p:cNvSpPr>
            <a:spLocks/>
          </p:cNvSpPr>
          <p:nvPr/>
        </p:nvSpPr>
        <p:spPr bwMode="auto">
          <a:xfrm>
            <a:off x="3388614" y="4826539"/>
            <a:ext cx="2670809" cy="1737774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Key results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What are the 3–5 measurable Key Results that will show progress to the objective?</a:t>
            </a: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E74921B2-DBB0-8B21-DE83-9C1CC23FD817}"/>
              </a:ext>
            </a:extLst>
          </p:cNvPr>
          <p:cNvSpPr>
            <a:spLocks/>
          </p:cNvSpPr>
          <p:nvPr/>
        </p:nvSpPr>
        <p:spPr bwMode="auto">
          <a:xfrm>
            <a:off x="6128001" y="4826539"/>
            <a:ext cx="2675383" cy="1737774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Primary stakeholder who is accountable for OKRs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Role: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Name: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Org/Group: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0B822518-6307-3688-5ABC-261F0233A4D7}"/>
              </a:ext>
            </a:extLst>
          </p:cNvPr>
          <p:cNvSpPr>
            <a:spLocks/>
          </p:cNvSpPr>
          <p:nvPr/>
        </p:nvSpPr>
        <p:spPr bwMode="auto">
          <a:xfrm>
            <a:off x="8871962" y="4826539"/>
            <a:ext cx="2622005" cy="1737774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Strategic fit</a:t>
            </a:r>
          </a:p>
        </p:txBody>
      </p:sp>
      <p:grpSp>
        <p:nvGrpSpPr>
          <p:cNvPr id="141" name="Group 140" descr="Rating 1 out of 5">
            <a:extLst>
              <a:ext uri="{FF2B5EF4-FFF2-40B4-BE49-F238E27FC236}">
                <a16:creationId xmlns:a16="http://schemas.microsoft.com/office/drawing/2014/main" id="{FAC8CAB9-AC21-B4B1-A3D5-2AB5A6B6143A}"/>
              </a:ext>
            </a:extLst>
          </p:cNvPr>
          <p:cNvGrpSpPr/>
          <p:nvPr/>
        </p:nvGrpSpPr>
        <p:grpSpPr>
          <a:xfrm>
            <a:off x="9007490" y="5813298"/>
            <a:ext cx="2350949" cy="294878"/>
            <a:chOff x="8937964" y="5803972"/>
            <a:chExt cx="2345986" cy="294176"/>
          </a:xfrm>
        </p:grpSpPr>
        <p:sp>
          <p:nvSpPr>
            <p:cNvPr id="142" name="box">
              <a:extLst>
                <a:ext uri="{FF2B5EF4-FFF2-40B4-BE49-F238E27FC236}">
                  <a16:creationId xmlns:a16="http://schemas.microsoft.com/office/drawing/2014/main" id="{B26E5DB3-DDB0-B280-5B74-53CC5869AD64}"/>
                </a:ext>
              </a:extLst>
            </p:cNvPr>
            <p:cNvSpPr/>
            <p:nvPr/>
          </p:nvSpPr>
          <p:spPr>
            <a:xfrm>
              <a:off x="8937964" y="5803972"/>
              <a:ext cx="293132" cy="29417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200"/>
                </a:spcAft>
              </a:pPr>
              <a:r>
                <a:rPr lang="en-US" sz="14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43" name="box">
              <a:extLst>
                <a:ext uri="{FF2B5EF4-FFF2-40B4-BE49-F238E27FC236}">
                  <a16:creationId xmlns:a16="http://schemas.microsoft.com/office/drawing/2014/main" id="{734FAA14-480E-6167-0531-99589C1709E7}"/>
                </a:ext>
              </a:extLst>
            </p:cNvPr>
            <p:cNvSpPr/>
            <p:nvPr/>
          </p:nvSpPr>
          <p:spPr>
            <a:xfrm>
              <a:off x="9453213" y="5803972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4" name="box">
              <a:extLst>
                <a:ext uri="{FF2B5EF4-FFF2-40B4-BE49-F238E27FC236}">
                  <a16:creationId xmlns:a16="http://schemas.microsoft.com/office/drawing/2014/main" id="{85CF5540-00B3-054E-E8C5-7FB6FED476EF}"/>
                </a:ext>
              </a:extLst>
            </p:cNvPr>
            <p:cNvSpPr/>
            <p:nvPr/>
          </p:nvSpPr>
          <p:spPr>
            <a:xfrm>
              <a:off x="9965749" y="5803972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5" name="box">
              <a:extLst>
                <a:ext uri="{FF2B5EF4-FFF2-40B4-BE49-F238E27FC236}">
                  <a16:creationId xmlns:a16="http://schemas.microsoft.com/office/drawing/2014/main" id="{813866A1-65E1-78C8-7B29-C9432716B2DD}"/>
                </a:ext>
              </a:extLst>
            </p:cNvPr>
            <p:cNvSpPr/>
            <p:nvPr/>
          </p:nvSpPr>
          <p:spPr>
            <a:xfrm>
              <a:off x="10478284" y="5803972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6" name="box">
              <a:extLst>
                <a:ext uri="{FF2B5EF4-FFF2-40B4-BE49-F238E27FC236}">
                  <a16:creationId xmlns:a16="http://schemas.microsoft.com/office/drawing/2014/main" id="{ACD5E80D-ACDD-8343-0D7C-6ED21353F2E0}"/>
                </a:ext>
              </a:extLst>
            </p:cNvPr>
            <p:cNvSpPr/>
            <p:nvPr/>
          </p:nvSpPr>
          <p:spPr>
            <a:xfrm>
              <a:off x="10990818" y="5803972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147" name="TextBox 146">
            <a:extLst>
              <a:ext uri="{FF2B5EF4-FFF2-40B4-BE49-F238E27FC236}">
                <a16:creationId xmlns:a16="http://schemas.microsoft.com/office/drawing/2014/main" id="{3A843ECB-9C3E-998E-2CCE-51A3A2997D79}"/>
              </a:ext>
            </a:extLst>
          </p:cNvPr>
          <p:cNvSpPr txBox="1"/>
          <p:nvPr/>
        </p:nvSpPr>
        <p:spPr>
          <a:xfrm>
            <a:off x="9007490" y="6276243"/>
            <a:ext cx="2277598" cy="1388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latin typeface="+mj-lt"/>
              </a:rPr>
              <a:t>1 = Low and 5 = High</a:t>
            </a:r>
          </a:p>
        </p:txBody>
      </p:sp>
    </p:spTree>
    <p:extLst>
      <p:ext uri="{BB962C8B-B14F-4D97-AF65-F5344CB8AC3E}">
        <p14:creationId xmlns:p14="http://schemas.microsoft.com/office/powerpoint/2010/main" val="36459290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C11DFA-3C2B-A148-5896-05EC23A2E6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149599"/>
            <a:ext cx="12192000" cy="1095762"/>
          </a:xfrm>
          <a:custGeom>
            <a:avLst/>
            <a:gdLst>
              <a:gd name="connsiteX0" fmla="*/ 0 w 12192000"/>
              <a:gd name="connsiteY0" fmla="*/ 0 h 1095762"/>
              <a:gd name="connsiteX1" fmla="*/ 12192000 w 12192000"/>
              <a:gd name="connsiteY1" fmla="*/ 0 h 1095762"/>
              <a:gd name="connsiteX2" fmla="*/ 12192000 w 12192000"/>
              <a:gd name="connsiteY2" fmla="*/ 1095762 h 1095762"/>
              <a:gd name="connsiteX3" fmla="*/ 11620499 w 12192000"/>
              <a:gd name="connsiteY3" fmla="*/ 1095762 h 1095762"/>
              <a:gd name="connsiteX4" fmla="*/ 11620499 w 12192000"/>
              <a:gd name="connsiteY4" fmla="*/ 781487 h 1095762"/>
              <a:gd name="connsiteX5" fmla="*/ 11457888 w 12192000"/>
              <a:gd name="connsiteY5" fmla="*/ 618876 h 1095762"/>
              <a:gd name="connsiteX6" fmla="*/ 734112 w 12192000"/>
              <a:gd name="connsiteY6" fmla="*/ 618876 h 1095762"/>
              <a:gd name="connsiteX7" fmla="*/ 571501 w 12192000"/>
              <a:gd name="connsiteY7" fmla="*/ 781487 h 1095762"/>
              <a:gd name="connsiteX8" fmla="*/ 571501 w 12192000"/>
              <a:gd name="connsiteY8" fmla="*/ 1095762 h 1095762"/>
              <a:gd name="connsiteX9" fmla="*/ 0 w 12192000"/>
              <a:gd name="connsiteY9" fmla="*/ 1095762 h 1095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095762">
                <a:moveTo>
                  <a:pt x="0" y="0"/>
                </a:moveTo>
                <a:lnTo>
                  <a:pt x="12192000" y="0"/>
                </a:lnTo>
                <a:lnTo>
                  <a:pt x="12192000" y="1095762"/>
                </a:lnTo>
                <a:lnTo>
                  <a:pt x="11620499" y="1095762"/>
                </a:lnTo>
                <a:lnTo>
                  <a:pt x="11620499" y="781487"/>
                </a:lnTo>
                <a:cubicBezTo>
                  <a:pt x="11620499" y="691679"/>
                  <a:pt x="11547696" y="618876"/>
                  <a:pt x="11457888" y="618876"/>
                </a:cubicBezTo>
                <a:lnTo>
                  <a:pt x="734112" y="618876"/>
                </a:lnTo>
                <a:cubicBezTo>
                  <a:pt x="644304" y="618876"/>
                  <a:pt x="571501" y="691679"/>
                  <a:pt x="571501" y="781487"/>
                </a:cubicBezTo>
                <a:lnTo>
                  <a:pt x="571501" y="1095762"/>
                </a:lnTo>
                <a:lnTo>
                  <a:pt x="0" y="1095762"/>
                </a:lnTo>
                <a:close/>
              </a:path>
            </a:pathLst>
          </a:custGeom>
          <a:solidFill>
            <a:schemeClr val="bg1">
              <a:lumMod val="85000"/>
              <a:alpha val="4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4" name="Graphic 278">
            <a:extLst>
              <a:ext uri="{FF2B5EF4-FFF2-40B4-BE49-F238E27FC236}">
                <a16:creationId xmlns:a16="http://schemas.microsoft.com/office/drawing/2014/main" id="{E6765D20-5DAF-5F31-B6D3-B88C05336624}"/>
              </a:ext>
            </a:extLst>
          </p:cNvPr>
          <p:cNvSpPr>
            <a:spLocks/>
          </p:cNvSpPr>
          <p:nvPr/>
        </p:nvSpPr>
        <p:spPr>
          <a:xfrm>
            <a:off x="571501" y="1768475"/>
            <a:ext cx="11048998" cy="4927601"/>
          </a:xfrm>
          <a:prstGeom prst="roundRect">
            <a:avLst>
              <a:gd name="adj" fmla="val 3300"/>
            </a:avLst>
          </a:prstGeom>
          <a:solidFill>
            <a:srgbClr val="FFFFFF">
              <a:alpha val="70000"/>
            </a:srgbClr>
          </a:solidFill>
          <a:ln w="4484" cap="flat">
            <a:noFill/>
            <a:prstDash val="solid"/>
            <a:miter/>
          </a:ln>
          <a:effectLst>
            <a:outerShdw blurRad="444500" dist="355600" dir="1800000" sx="90000" sy="90000" algn="tl" rotWithShape="0">
              <a:schemeClr val="bg2">
                <a:lumMod val="25000"/>
                <a:alpha val="15000"/>
              </a:scheme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12" name="Donut 7">
            <a:extLst>
              <a:ext uri="{FF2B5EF4-FFF2-40B4-BE49-F238E27FC236}">
                <a16:creationId xmlns:a16="http://schemas.microsoft.com/office/drawing/2014/main" id="{6F0EE698-9224-595F-2A6B-CEE92F33A274}"/>
              </a:ext>
            </a:extLst>
          </p:cNvPr>
          <p:cNvSpPr/>
          <p:nvPr/>
        </p:nvSpPr>
        <p:spPr bwMode="auto">
          <a:xfrm>
            <a:off x="698029" y="1895003"/>
            <a:ext cx="10795942" cy="2988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Business viability – Business impact assessment </a:t>
            </a:r>
            <a:endParaRPr kumimoji="0" lang="en-US" sz="1200" b="0" i="0" u="none" strike="noStrike" kern="1200" cap="none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Segoe U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6F82CE5-E241-6D15-A1B6-E5B8FF5F391C}"/>
              </a:ext>
            </a:extLst>
          </p:cNvPr>
          <p:cNvSpPr/>
          <p:nvPr/>
        </p:nvSpPr>
        <p:spPr bwMode="auto">
          <a:xfrm>
            <a:off x="698029" y="2259168"/>
            <a:ext cx="2644321" cy="1129972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How does the use case align to the organization’s executive strategy?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900" b="0" i="0" u="none" strike="noStrike" kern="1200" cap="none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How does the use case contribute to your organization’s executive roadmap/strategy?</a:t>
            </a:r>
            <a:endParaRPr kumimoji="0" lang="en-US" sz="900" b="0" i="0" u="none" strike="noStrike" kern="1200" cap="none" normalizeH="0" baseline="0" noProof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ea typeface="+mn-ea"/>
              <a:cs typeface="Segoe U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7641D84-50AE-4A49-8FEA-DB950172A158}"/>
              </a:ext>
            </a:extLst>
          </p:cNvPr>
          <p:cNvSpPr/>
          <p:nvPr/>
        </p:nvSpPr>
        <p:spPr bwMode="auto">
          <a:xfrm>
            <a:off x="3415236" y="2259168"/>
            <a:ext cx="2644321" cy="1129972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How does the use case generate</a:t>
            </a:r>
            <a:br>
              <a:rPr lang="en-US" sz="1000">
                <a:solidFill>
                  <a:schemeClr val="tx1"/>
                </a:solidFill>
                <a:latin typeface="+mj-lt"/>
              </a:rPr>
            </a:br>
            <a:r>
              <a:rPr lang="en-US" sz="1000">
                <a:solidFill>
                  <a:schemeClr val="tx1"/>
                </a:solidFill>
                <a:latin typeface="+mj-lt"/>
              </a:rPr>
              <a:t>business value?</a:t>
            </a:r>
          </a:p>
          <a:p>
            <a:pPr>
              <a:spcAft>
                <a:spcPts val="200"/>
              </a:spcAft>
              <a:defRPr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e.g., additional revenue though a new service or cost saving through higher efficiency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8E7E3A-FCBA-65B3-BCF0-0E11F9C57524}"/>
              </a:ext>
            </a:extLst>
          </p:cNvPr>
          <p:cNvSpPr/>
          <p:nvPr/>
        </p:nvSpPr>
        <p:spPr bwMode="auto">
          <a:xfrm>
            <a:off x="6132443" y="2259168"/>
            <a:ext cx="2644321" cy="1129972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Business change management timeframe </a:t>
            </a:r>
          </a:p>
          <a:p>
            <a:pPr>
              <a:spcAft>
                <a:spcPts val="200"/>
              </a:spcAft>
              <a:defRPr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Estimate based on people, tools and processes impact.</a:t>
            </a:r>
          </a:p>
        </p:txBody>
      </p:sp>
      <p:sp>
        <p:nvSpPr>
          <p:cNvPr id="16" name="Textfeld 25">
            <a:extLst>
              <a:ext uri="{FF2B5EF4-FFF2-40B4-BE49-F238E27FC236}">
                <a16:creationId xmlns:a16="http://schemas.microsoft.com/office/drawing/2014/main" id="{DB3EE1F1-6FF8-C9A0-5F06-25603650EBE0}"/>
              </a:ext>
            </a:extLst>
          </p:cNvPr>
          <p:cNvSpPr txBox="1"/>
          <p:nvPr/>
        </p:nvSpPr>
        <p:spPr>
          <a:xfrm>
            <a:off x="6382860" y="2809255"/>
            <a:ext cx="578685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ZEISS Frutiger Next W1G Lt Cn" panose="020B0306040204020203" pitchFamily="34" charset="0"/>
              </a:rPr>
              <a:t>1–3 months</a:t>
            </a:r>
          </a:p>
        </p:txBody>
      </p:sp>
      <p:sp>
        <p:nvSpPr>
          <p:cNvPr id="17" name="box">
            <a:extLst>
              <a:ext uri="{FF2B5EF4-FFF2-40B4-BE49-F238E27FC236}">
                <a16:creationId xmlns:a16="http://schemas.microsoft.com/office/drawing/2014/main" id="{9FDAFEB4-050E-5731-7313-9CF3AA0F8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2359" y="2823384"/>
            <a:ext cx="110211" cy="110241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8" name="Textfeld 26">
            <a:extLst>
              <a:ext uri="{FF2B5EF4-FFF2-40B4-BE49-F238E27FC236}">
                <a16:creationId xmlns:a16="http://schemas.microsoft.com/office/drawing/2014/main" id="{B5F3B5D5-A882-F387-63A1-982A2D3947FF}"/>
              </a:ext>
            </a:extLst>
          </p:cNvPr>
          <p:cNvSpPr txBox="1"/>
          <p:nvPr/>
        </p:nvSpPr>
        <p:spPr>
          <a:xfrm>
            <a:off x="6389590" y="3004727"/>
            <a:ext cx="59792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ZEISS Frutiger Next W1G Lt Cn" panose="020B0306040204020203" pitchFamily="34" charset="0"/>
              </a:rPr>
              <a:t>4–6 months</a:t>
            </a:r>
          </a:p>
        </p:txBody>
      </p:sp>
      <p:sp>
        <p:nvSpPr>
          <p:cNvPr id="19" name="box">
            <a:extLst>
              <a:ext uri="{FF2B5EF4-FFF2-40B4-BE49-F238E27FC236}">
                <a16:creationId xmlns:a16="http://schemas.microsoft.com/office/drawing/2014/main" id="{9A7291EF-02E2-A094-7816-BEC5A5D9F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2362" y="3018856"/>
            <a:ext cx="110211" cy="110241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0" name="box">
            <a:extLst>
              <a:ext uri="{FF2B5EF4-FFF2-40B4-BE49-F238E27FC236}">
                <a16:creationId xmlns:a16="http://schemas.microsoft.com/office/drawing/2014/main" id="{3D188FED-FFE8-1E7C-C2A2-02D9BD229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42356" y="3214328"/>
            <a:ext cx="110211" cy="110241"/>
          </a:xfrm>
          <a:prstGeom prst="rect">
            <a:avLst/>
          </a:prstGeom>
          <a:solidFill>
            <a:srgbClr val="FFFFFF"/>
          </a:solidFill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1" name="Textfeld 27">
            <a:extLst>
              <a:ext uri="{FF2B5EF4-FFF2-40B4-BE49-F238E27FC236}">
                <a16:creationId xmlns:a16="http://schemas.microsoft.com/office/drawing/2014/main" id="{14F06902-38D3-233C-2435-734761F22154}"/>
              </a:ext>
            </a:extLst>
          </p:cNvPr>
          <p:cNvSpPr txBox="1"/>
          <p:nvPr/>
        </p:nvSpPr>
        <p:spPr>
          <a:xfrm>
            <a:off x="6389584" y="3200199"/>
            <a:ext cx="581891" cy="13849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ZEISS Frutiger Next W1G Lt Cn" panose="020B0306040204020203" pitchFamily="34" charset="0"/>
              </a:rPr>
              <a:t>&gt;6 months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29BB4DE-E36D-342E-AB9E-AC8C0BBF446B}"/>
              </a:ext>
            </a:extLst>
          </p:cNvPr>
          <p:cNvSpPr/>
          <p:nvPr/>
        </p:nvSpPr>
        <p:spPr bwMode="auto">
          <a:xfrm>
            <a:off x="8849650" y="2259168"/>
            <a:ext cx="2644321" cy="1129972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Business impact </a:t>
            </a:r>
            <a:endParaRPr kumimoji="0" lang="en-US" sz="1000" b="0" i="0" u="none" strike="noStrike" kern="1200" cap="none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grpSp>
        <p:nvGrpSpPr>
          <p:cNvPr id="23" name="Group 22" descr="Rating 1 out of 5">
            <a:extLst>
              <a:ext uri="{FF2B5EF4-FFF2-40B4-BE49-F238E27FC236}">
                <a16:creationId xmlns:a16="http://schemas.microsoft.com/office/drawing/2014/main" id="{C574C2CE-FF8B-E506-DF0F-91AA423BDC18}"/>
              </a:ext>
            </a:extLst>
          </p:cNvPr>
          <p:cNvGrpSpPr/>
          <p:nvPr/>
        </p:nvGrpSpPr>
        <p:grpSpPr>
          <a:xfrm>
            <a:off x="8997695" y="2650885"/>
            <a:ext cx="2348230" cy="294878"/>
            <a:chOff x="8940677" y="2649086"/>
            <a:chExt cx="2343273" cy="294176"/>
          </a:xfrm>
        </p:grpSpPr>
        <p:sp>
          <p:nvSpPr>
            <p:cNvPr id="24" name="box">
              <a:extLst>
                <a:ext uri="{FF2B5EF4-FFF2-40B4-BE49-F238E27FC236}">
                  <a16:creationId xmlns:a16="http://schemas.microsoft.com/office/drawing/2014/main" id="{A0692F0A-BDF8-BA35-E7F3-4DF74A6DA663}"/>
                </a:ext>
              </a:extLst>
            </p:cNvPr>
            <p:cNvSpPr/>
            <p:nvPr/>
          </p:nvSpPr>
          <p:spPr>
            <a:xfrm>
              <a:off x="8940677" y="2649086"/>
              <a:ext cx="293132" cy="29417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200"/>
                </a:spcAft>
              </a:pPr>
              <a:r>
                <a:rPr lang="en-US" sz="14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5" name="box">
              <a:extLst>
                <a:ext uri="{FF2B5EF4-FFF2-40B4-BE49-F238E27FC236}">
                  <a16:creationId xmlns:a16="http://schemas.microsoft.com/office/drawing/2014/main" id="{6D77B9E1-A41F-2CAD-9F03-181A1D92DD07}"/>
                </a:ext>
              </a:extLst>
            </p:cNvPr>
            <p:cNvSpPr/>
            <p:nvPr/>
          </p:nvSpPr>
          <p:spPr>
            <a:xfrm>
              <a:off x="9453213" y="2649086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6" name="box">
              <a:extLst>
                <a:ext uri="{FF2B5EF4-FFF2-40B4-BE49-F238E27FC236}">
                  <a16:creationId xmlns:a16="http://schemas.microsoft.com/office/drawing/2014/main" id="{8AB2F64E-CF9B-48BE-602E-B25A9958F73B}"/>
                </a:ext>
              </a:extLst>
            </p:cNvPr>
            <p:cNvSpPr/>
            <p:nvPr/>
          </p:nvSpPr>
          <p:spPr>
            <a:xfrm>
              <a:off x="9965749" y="2649086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7" name="box">
              <a:extLst>
                <a:ext uri="{FF2B5EF4-FFF2-40B4-BE49-F238E27FC236}">
                  <a16:creationId xmlns:a16="http://schemas.microsoft.com/office/drawing/2014/main" id="{1210E948-E8A6-102B-A55B-741A0C158A8B}"/>
                </a:ext>
              </a:extLst>
            </p:cNvPr>
            <p:cNvSpPr/>
            <p:nvPr/>
          </p:nvSpPr>
          <p:spPr>
            <a:xfrm>
              <a:off x="10478284" y="2649086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8" name="box">
              <a:extLst>
                <a:ext uri="{FF2B5EF4-FFF2-40B4-BE49-F238E27FC236}">
                  <a16:creationId xmlns:a16="http://schemas.microsoft.com/office/drawing/2014/main" id="{6E17D341-D8B4-11A0-0E50-311BFAB2515F}"/>
                </a:ext>
              </a:extLst>
            </p:cNvPr>
            <p:cNvSpPr/>
            <p:nvPr/>
          </p:nvSpPr>
          <p:spPr>
            <a:xfrm>
              <a:off x="10990818" y="2649086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79D4BBAF-1F27-8FF0-706B-F6A7AC8A9265}"/>
              </a:ext>
            </a:extLst>
          </p:cNvPr>
          <p:cNvSpPr txBox="1"/>
          <p:nvPr/>
        </p:nvSpPr>
        <p:spPr>
          <a:xfrm>
            <a:off x="8998618" y="3119129"/>
            <a:ext cx="2277598" cy="1388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latin typeface="+mj-lt"/>
              </a:rPr>
              <a:t>1 = Low and 5 = High</a:t>
            </a:r>
          </a:p>
        </p:txBody>
      </p:sp>
      <p:sp>
        <p:nvSpPr>
          <p:cNvPr id="30" name="Donut 7">
            <a:extLst>
              <a:ext uri="{FF2B5EF4-FFF2-40B4-BE49-F238E27FC236}">
                <a16:creationId xmlns:a16="http://schemas.microsoft.com/office/drawing/2014/main" id="{11F55657-E9CD-9AB8-1EE1-E454414760E2}"/>
              </a:ext>
            </a:extLst>
          </p:cNvPr>
          <p:cNvSpPr/>
          <p:nvPr/>
        </p:nvSpPr>
        <p:spPr bwMode="auto">
          <a:xfrm>
            <a:off x="698029" y="3469438"/>
            <a:ext cx="10795942" cy="2988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Experience value – User desirability impact assessment 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49FBAFD-FCE5-2018-3605-B7FCD91D7339}"/>
              </a:ext>
            </a:extLst>
          </p:cNvPr>
          <p:cNvSpPr/>
          <p:nvPr/>
        </p:nvSpPr>
        <p:spPr bwMode="auto">
          <a:xfrm>
            <a:off x="698029" y="3809038"/>
            <a:ext cx="2644321" cy="1167689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Key personas?</a:t>
            </a:r>
          </a:p>
          <a:p>
            <a:pPr>
              <a:spcAft>
                <a:spcPts val="200"/>
              </a:spcAft>
              <a:defRPr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Who are the users benefiting most from the concept?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BCF22AB-9A45-2FC5-F270-B80061229B7A}"/>
              </a:ext>
            </a:extLst>
          </p:cNvPr>
          <p:cNvSpPr/>
          <p:nvPr/>
        </p:nvSpPr>
        <p:spPr bwMode="auto">
          <a:xfrm>
            <a:off x="3415236" y="3809038"/>
            <a:ext cx="2644321" cy="1167689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How appealing is the overall value proposition for the user?</a:t>
            </a:r>
          </a:p>
          <a:p>
            <a:pPr>
              <a:spcAft>
                <a:spcPts val="200"/>
              </a:spcAft>
              <a:defRPr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What value does this concept offer over the user’s existing next-best alternative to drive adoption?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33F71A4-8332-1610-732F-A0FA7FFCC172}"/>
              </a:ext>
            </a:extLst>
          </p:cNvPr>
          <p:cNvSpPr/>
          <p:nvPr/>
        </p:nvSpPr>
        <p:spPr bwMode="auto">
          <a:xfrm>
            <a:off x="6132443" y="3809038"/>
            <a:ext cx="2644321" cy="1167689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Change resistance</a:t>
            </a:r>
          </a:p>
          <a:p>
            <a:pPr>
              <a:spcAft>
                <a:spcPts val="200"/>
              </a:spcAft>
              <a:defRPr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What level of resistance might be expected to the change?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1CB8BDB-5A60-1E11-2B3E-314D9848EDAD}"/>
              </a:ext>
            </a:extLst>
          </p:cNvPr>
          <p:cNvSpPr/>
          <p:nvPr/>
        </p:nvSpPr>
        <p:spPr bwMode="auto">
          <a:xfrm>
            <a:off x="8849650" y="3809038"/>
            <a:ext cx="2644321" cy="1167689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User desirability </a:t>
            </a:r>
          </a:p>
        </p:txBody>
      </p:sp>
      <p:grpSp>
        <p:nvGrpSpPr>
          <p:cNvPr id="35" name="Group 34" descr="Rating 1 out of 5">
            <a:extLst>
              <a:ext uri="{FF2B5EF4-FFF2-40B4-BE49-F238E27FC236}">
                <a16:creationId xmlns:a16="http://schemas.microsoft.com/office/drawing/2014/main" id="{07306B62-6BD1-7CAE-AA16-12389E30A6E9}"/>
              </a:ext>
            </a:extLst>
          </p:cNvPr>
          <p:cNvGrpSpPr/>
          <p:nvPr/>
        </p:nvGrpSpPr>
        <p:grpSpPr>
          <a:xfrm>
            <a:off x="8998618" y="4214369"/>
            <a:ext cx="2346383" cy="296037"/>
            <a:chOff x="8942520" y="4208849"/>
            <a:chExt cx="2341430" cy="295332"/>
          </a:xfrm>
        </p:grpSpPr>
        <p:sp>
          <p:nvSpPr>
            <p:cNvPr id="36" name="box">
              <a:extLst>
                <a:ext uri="{FF2B5EF4-FFF2-40B4-BE49-F238E27FC236}">
                  <a16:creationId xmlns:a16="http://schemas.microsoft.com/office/drawing/2014/main" id="{F7F20D80-AD1E-146A-DB76-A44A35D34F6E}"/>
                </a:ext>
              </a:extLst>
            </p:cNvPr>
            <p:cNvSpPr/>
            <p:nvPr/>
          </p:nvSpPr>
          <p:spPr>
            <a:xfrm>
              <a:off x="8942520" y="4208849"/>
              <a:ext cx="293132" cy="29417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200"/>
                </a:spcAft>
              </a:pPr>
              <a:r>
                <a:rPr lang="en-US" sz="14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37" name="box">
              <a:extLst>
                <a:ext uri="{FF2B5EF4-FFF2-40B4-BE49-F238E27FC236}">
                  <a16:creationId xmlns:a16="http://schemas.microsoft.com/office/drawing/2014/main" id="{041AA5CF-85EC-F172-3645-C0098C76EBFC}"/>
                </a:ext>
              </a:extLst>
            </p:cNvPr>
            <p:cNvSpPr/>
            <p:nvPr/>
          </p:nvSpPr>
          <p:spPr>
            <a:xfrm>
              <a:off x="9453213" y="4210005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box">
              <a:extLst>
                <a:ext uri="{FF2B5EF4-FFF2-40B4-BE49-F238E27FC236}">
                  <a16:creationId xmlns:a16="http://schemas.microsoft.com/office/drawing/2014/main" id="{AAD8E272-79FB-B2CD-09F6-95C061AF836F}"/>
                </a:ext>
              </a:extLst>
            </p:cNvPr>
            <p:cNvSpPr/>
            <p:nvPr/>
          </p:nvSpPr>
          <p:spPr>
            <a:xfrm>
              <a:off x="9965749" y="4210005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box">
              <a:extLst>
                <a:ext uri="{FF2B5EF4-FFF2-40B4-BE49-F238E27FC236}">
                  <a16:creationId xmlns:a16="http://schemas.microsoft.com/office/drawing/2014/main" id="{D0C5496B-B57F-DE79-02A1-B1EEFC378536}"/>
                </a:ext>
              </a:extLst>
            </p:cNvPr>
            <p:cNvSpPr/>
            <p:nvPr/>
          </p:nvSpPr>
          <p:spPr>
            <a:xfrm>
              <a:off x="10478284" y="4210005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box">
              <a:extLst>
                <a:ext uri="{FF2B5EF4-FFF2-40B4-BE49-F238E27FC236}">
                  <a16:creationId xmlns:a16="http://schemas.microsoft.com/office/drawing/2014/main" id="{F94B37FD-E72A-D8E3-9A91-73A64099C482}"/>
                </a:ext>
              </a:extLst>
            </p:cNvPr>
            <p:cNvSpPr/>
            <p:nvPr/>
          </p:nvSpPr>
          <p:spPr>
            <a:xfrm>
              <a:off x="10990818" y="4210005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9F3394B-352A-E1F9-11C1-DB45C81F5108}"/>
              </a:ext>
            </a:extLst>
          </p:cNvPr>
          <p:cNvSpPr txBox="1"/>
          <p:nvPr/>
        </p:nvSpPr>
        <p:spPr>
          <a:xfrm>
            <a:off x="8998618" y="4684956"/>
            <a:ext cx="2277598" cy="1388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/>
            </a:pPr>
            <a:r>
              <a:rPr lang="en-US" sz="900">
                <a:latin typeface="+mj-lt"/>
              </a:rPr>
              <a:t>1 = Low and 5 = High</a:t>
            </a:r>
          </a:p>
        </p:txBody>
      </p:sp>
      <p:sp>
        <p:nvSpPr>
          <p:cNvPr id="42" name="Donut 7">
            <a:extLst>
              <a:ext uri="{FF2B5EF4-FFF2-40B4-BE49-F238E27FC236}">
                <a16:creationId xmlns:a16="http://schemas.microsoft.com/office/drawing/2014/main" id="{183FD23C-193F-38D7-17DB-46261D515626}"/>
              </a:ext>
            </a:extLst>
          </p:cNvPr>
          <p:cNvSpPr/>
          <p:nvPr/>
        </p:nvSpPr>
        <p:spPr bwMode="auto">
          <a:xfrm>
            <a:off x="698029" y="5057024"/>
            <a:ext cx="10795942" cy="298808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5992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Technical value – Feasibility impact assessment 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1FBE73D4-667B-7FD6-A044-4268069EFA98}"/>
              </a:ext>
            </a:extLst>
          </p:cNvPr>
          <p:cNvSpPr/>
          <p:nvPr/>
        </p:nvSpPr>
        <p:spPr bwMode="auto">
          <a:xfrm>
            <a:off x="698029" y="5396624"/>
            <a:ext cx="2644321" cy="1167689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What are the implementation and operational risks?</a:t>
            </a:r>
          </a:p>
          <a:p>
            <a:pPr>
              <a:spcAft>
                <a:spcPts val="200"/>
              </a:spcAft>
              <a:defRPr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From a software engineering, integration, and data perspective?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24007E4-AA76-B0C4-85A4-F7E9C43C4532}"/>
              </a:ext>
            </a:extLst>
          </p:cNvPr>
          <p:cNvSpPr/>
          <p:nvPr/>
        </p:nvSpPr>
        <p:spPr bwMode="auto">
          <a:xfrm>
            <a:off x="3415236" y="5396624"/>
            <a:ext cx="2644321" cy="1167689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Are sufficient safeguards available?</a:t>
            </a:r>
          </a:p>
          <a:p>
            <a:pPr>
              <a:spcAft>
                <a:spcPts val="200"/>
              </a:spcAft>
              <a:defRPr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  <a:cs typeface="Segoe Sans Display"/>
              </a:rPr>
              <a:t>From an information security, responsible AI, compliance, and intellectual property </a:t>
            </a: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perspective.</a:t>
            </a:r>
            <a:endParaRPr lang="en-US" sz="900">
              <a:solidFill>
                <a:schemeClr val="bg1">
                  <a:lumMod val="50000"/>
                </a:schemeClr>
              </a:solidFill>
              <a:cs typeface="Segoe Sans Display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A9E0768-5552-4624-0160-D737944EEA34}"/>
              </a:ext>
            </a:extLst>
          </p:cNvPr>
          <p:cNvSpPr/>
          <p:nvPr/>
        </p:nvSpPr>
        <p:spPr bwMode="auto">
          <a:xfrm>
            <a:off x="6132443" y="5396624"/>
            <a:ext cx="2644321" cy="1167689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Technology fit </a:t>
            </a:r>
          </a:p>
          <a:p>
            <a:pPr>
              <a:spcAft>
                <a:spcPts val="200"/>
              </a:spcAft>
              <a:defRPr/>
            </a:pPr>
            <a:r>
              <a:rPr lang="en-US" sz="900">
                <a:solidFill>
                  <a:schemeClr val="bg1">
                    <a:lumMod val="50000"/>
                  </a:schemeClr>
                </a:solidFill>
              </a:rPr>
              <a:t>Is this use cases already implemented? What is the adapted technology sourcing for this use case? Is data, process or tools existing to support delivery?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DEADC8E-50E7-7FCE-6EC3-620E0D35946F}"/>
              </a:ext>
            </a:extLst>
          </p:cNvPr>
          <p:cNvSpPr/>
          <p:nvPr/>
        </p:nvSpPr>
        <p:spPr bwMode="auto">
          <a:xfrm>
            <a:off x="8849650" y="5396624"/>
            <a:ext cx="2644321" cy="1167689"/>
          </a:xfrm>
          <a:prstGeom prst="roundRect">
            <a:avLst>
              <a:gd name="adj" fmla="val 63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defRPr/>
            </a:pPr>
            <a:r>
              <a:rPr lang="en-US" sz="1000">
                <a:solidFill>
                  <a:schemeClr val="tx1"/>
                </a:solidFill>
                <a:latin typeface="+mj-lt"/>
              </a:rPr>
              <a:t>Technical feasibility</a:t>
            </a:r>
          </a:p>
        </p:txBody>
      </p:sp>
      <p:grpSp>
        <p:nvGrpSpPr>
          <p:cNvPr id="47" name="Group 46" descr="Rating 1 out of 5">
            <a:extLst>
              <a:ext uri="{FF2B5EF4-FFF2-40B4-BE49-F238E27FC236}">
                <a16:creationId xmlns:a16="http://schemas.microsoft.com/office/drawing/2014/main" id="{60DD1F04-1638-CDBA-1C89-4E9F5C41E1B6}"/>
              </a:ext>
            </a:extLst>
          </p:cNvPr>
          <p:cNvGrpSpPr/>
          <p:nvPr/>
        </p:nvGrpSpPr>
        <p:grpSpPr>
          <a:xfrm>
            <a:off x="8996335" y="5813298"/>
            <a:ext cx="2350949" cy="294878"/>
            <a:chOff x="8937964" y="5803972"/>
            <a:chExt cx="2345986" cy="294176"/>
          </a:xfrm>
        </p:grpSpPr>
        <p:sp>
          <p:nvSpPr>
            <p:cNvPr id="48" name="box">
              <a:extLst>
                <a:ext uri="{FF2B5EF4-FFF2-40B4-BE49-F238E27FC236}">
                  <a16:creationId xmlns:a16="http://schemas.microsoft.com/office/drawing/2014/main" id="{55FBDE52-C8A0-4AC1-7926-1363E0D78C17}"/>
                </a:ext>
              </a:extLst>
            </p:cNvPr>
            <p:cNvSpPr/>
            <p:nvPr/>
          </p:nvSpPr>
          <p:spPr>
            <a:xfrm>
              <a:off x="8937964" y="5803972"/>
              <a:ext cx="293132" cy="294176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Aft>
                  <a:spcPts val="200"/>
                </a:spcAft>
              </a:pPr>
              <a:r>
                <a:rPr lang="en-US" sz="140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49" name="box">
              <a:extLst>
                <a:ext uri="{FF2B5EF4-FFF2-40B4-BE49-F238E27FC236}">
                  <a16:creationId xmlns:a16="http://schemas.microsoft.com/office/drawing/2014/main" id="{C8E2F661-2BC0-84B5-9948-1E53910EABAD}"/>
                </a:ext>
              </a:extLst>
            </p:cNvPr>
            <p:cNvSpPr/>
            <p:nvPr/>
          </p:nvSpPr>
          <p:spPr>
            <a:xfrm>
              <a:off x="9453213" y="5803972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0" name="box">
              <a:extLst>
                <a:ext uri="{FF2B5EF4-FFF2-40B4-BE49-F238E27FC236}">
                  <a16:creationId xmlns:a16="http://schemas.microsoft.com/office/drawing/2014/main" id="{40A574E5-6110-61D2-337A-4E5B3B3D6C8D}"/>
                </a:ext>
              </a:extLst>
            </p:cNvPr>
            <p:cNvSpPr/>
            <p:nvPr/>
          </p:nvSpPr>
          <p:spPr>
            <a:xfrm>
              <a:off x="9965749" y="5803972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1" name="box">
              <a:extLst>
                <a:ext uri="{FF2B5EF4-FFF2-40B4-BE49-F238E27FC236}">
                  <a16:creationId xmlns:a16="http://schemas.microsoft.com/office/drawing/2014/main" id="{3CF2EF8A-94A5-D964-0151-12E3FB0D110E}"/>
                </a:ext>
              </a:extLst>
            </p:cNvPr>
            <p:cNvSpPr/>
            <p:nvPr/>
          </p:nvSpPr>
          <p:spPr>
            <a:xfrm>
              <a:off x="10478284" y="5803972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2" name="box">
              <a:extLst>
                <a:ext uri="{FF2B5EF4-FFF2-40B4-BE49-F238E27FC236}">
                  <a16:creationId xmlns:a16="http://schemas.microsoft.com/office/drawing/2014/main" id="{00A40E27-B93E-DF69-C9B2-46596C02E554}"/>
                </a:ext>
              </a:extLst>
            </p:cNvPr>
            <p:cNvSpPr/>
            <p:nvPr/>
          </p:nvSpPr>
          <p:spPr>
            <a:xfrm>
              <a:off x="10990818" y="5803972"/>
              <a:ext cx="293132" cy="2941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ea typeface="+mn-ea"/>
                  <a:cs typeface="+mn-cs"/>
                </a:rPr>
                <a:t>5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4F6C688D-CD97-9DAD-F619-65D358F6C58A}"/>
              </a:ext>
            </a:extLst>
          </p:cNvPr>
          <p:cNvSpPr txBox="1"/>
          <p:nvPr/>
        </p:nvSpPr>
        <p:spPr>
          <a:xfrm>
            <a:off x="8998618" y="6276243"/>
            <a:ext cx="2277598" cy="1388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900">
                <a:latin typeface="+mj-lt"/>
              </a:rPr>
              <a:t>1 = Low and 5 = High</a:t>
            </a:r>
          </a:p>
        </p:txBody>
      </p:sp>
      <p:sp>
        <p:nvSpPr>
          <p:cNvPr id="56" name="Title 55">
            <a:extLst>
              <a:ext uri="{FF2B5EF4-FFF2-40B4-BE49-F238E27FC236}">
                <a16:creationId xmlns:a16="http://schemas.microsoft.com/office/drawing/2014/main" id="{25026221-7E41-AF7F-7579-5819CED8C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noProof="0"/>
              <a:t>BXT Use case prioritization template</a:t>
            </a:r>
            <a:endParaRPr lang="en-US"/>
          </a:p>
        </p:txBody>
      </p:sp>
      <p:sp>
        <p:nvSpPr>
          <p:cNvPr id="61" name="Titel 1">
            <a:extLst>
              <a:ext uri="{FF2B5EF4-FFF2-40B4-BE49-F238E27FC236}">
                <a16:creationId xmlns:a16="http://schemas.microsoft.com/office/drawing/2014/main" id="{F0BB8D7B-15E6-947B-91C9-934095F4A78B}"/>
              </a:ext>
            </a:extLst>
          </p:cNvPr>
          <p:cNvSpPr txBox="1">
            <a:spLocks/>
          </p:cNvSpPr>
          <p:nvPr/>
        </p:nvSpPr>
        <p:spPr>
          <a:xfrm>
            <a:off x="588962" y="1204290"/>
            <a:ext cx="5362575" cy="184666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 w="3175">
                  <a:noFill/>
                </a:ln>
                <a:effectLst/>
                <a:uLnTx/>
                <a:uFillTx/>
                <a:ea typeface="+mn-ea"/>
                <a:cs typeface="Segoe UI"/>
              </a:rPr>
              <a:t>Use case name: </a:t>
            </a:r>
            <a:endParaRPr lang="en-US" sz="1200" spc="0">
              <a:latin typeface="+mn-lt"/>
              <a:cs typeface="Segoe UI"/>
            </a:endParaRPr>
          </a:p>
        </p:txBody>
      </p:sp>
      <p:sp>
        <p:nvSpPr>
          <p:cNvPr id="62" name="Textplatzhalter 2">
            <a:extLst>
              <a:ext uri="{FF2B5EF4-FFF2-40B4-BE49-F238E27FC236}">
                <a16:creationId xmlns:a16="http://schemas.microsoft.com/office/drawing/2014/main" id="{969C42DE-9DDC-03DC-829E-27EBE398C755}"/>
              </a:ext>
            </a:extLst>
          </p:cNvPr>
          <p:cNvSpPr txBox="1">
            <a:spLocks/>
          </p:cNvSpPr>
          <p:nvPr/>
        </p:nvSpPr>
        <p:spPr>
          <a:xfrm>
            <a:off x="588962" y="1498338"/>
            <a:ext cx="5362575" cy="215444"/>
          </a:xfrm>
          <a:prstGeom prst="rect">
            <a:avLst/>
          </a:prstGeom>
        </p:spPr>
        <p:txBody>
          <a:bodyPr lIns="0" tIns="0" rIns="0" bIns="0"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200" b="0" i="0" u="none" strike="noStrike" kern="1200" cap="none" normalizeH="0" baseline="0" noProof="0">
                <a:ln w="3175">
                  <a:noFill/>
                </a:ln>
                <a:effectLst/>
                <a:uLnTx/>
                <a:uFillTx/>
                <a:latin typeface="+mj-lt"/>
                <a:ea typeface="+mn-ea"/>
                <a:cs typeface="Segoe UI"/>
              </a:rPr>
              <a:t>Department:  </a:t>
            </a:r>
            <a:endParaRPr kumimoji="0" lang="en-US" sz="1200" b="1" i="0" u="none" strike="noStrike" kern="1200" cap="none" normalizeH="0" baseline="0" noProof="0">
              <a:ln>
                <a:noFill/>
              </a:ln>
              <a:effectLst/>
              <a:uLnTx/>
              <a:uFillTx/>
              <a:latin typeface="+mj-lt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3" name="Textplatzhalter 2">
            <a:extLst>
              <a:ext uri="{FF2B5EF4-FFF2-40B4-BE49-F238E27FC236}">
                <a16:creationId xmlns:a16="http://schemas.microsoft.com/office/drawing/2014/main" id="{B68A8E54-3AA0-0B7A-734A-3F510C10177B}"/>
              </a:ext>
            </a:extLst>
          </p:cNvPr>
          <p:cNvSpPr txBox="1">
            <a:spLocks/>
          </p:cNvSpPr>
          <p:nvPr/>
        </p:nvSpPr>
        <p:spPr>
          <a:xfrm>
            <a:off x="6242050" y="1204290"/>
            <a:ext cx="5378450" cy="215444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SzTx/>
              <a:buNone/>
              <a:defRPr/>
            </a:pPr>
            <a:r>
              <a:rPr lang="en-US" sz="1200">
                <a:ln w="3175">
                  <a:noFill/>
                </a:ln>
                <a:latin typeface="+mj-lt"/>
                <a:cs typeface="Segoe UI"/>
              </a:rPr>
              <a:t>Internal or external use: </a:t>
            </a:r>
            <a:endParaRPr lang="en-US" sz="1200">
              <a:ln w="3175">
                <a:noFill/>
              </a:ln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57430926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BCA1146-565C-EB14-042F-F9BD76FB3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588963" y="1181100"/>
            <a:ext cx="11017250" cy="4953000"/>
          </a:xfrm>
          <a:prstGeom prst="roundRect">
            <a:avLst>
              <a:gd name="adj" fmla="val 3700"/>
            </a:avLst>
          </a:prstGeom>
          <a:solidFill>
            <a:schemeClr val="bg1"/>
          </a:solidFill>
          <a:ln w="6350">
            <a:gradFill>
              <a:gsLst>
                <a:gs pos="0">
                  <a:schemeClr val="bg1">
                    <a:alpha val="27000"/>
                  </a:schemeClr>
                </a:gs>
                <a:gs pos="100000">
                  <a:schemeClr val="bg1">
                    <a:alpha val="59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65100" dist="25400" dir="2700000" algn="tl" rotWithShape="0">
              <a:schemeClr val="bg2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0" rIns="91440" bIns="6400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A3F7083-B51F-FE31-7EEA-1D1C8821F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 bwMode="auto">
          <a:xfrm>
            <a:off x="704850" y="1304924"/>
            <a:ext cx="1962150" cy="4705351"/>
          </a:xfrm>
          <a:prstGeom prst="roundRect">
            <a:avLst>
              <a:gd name="adj" fmla="val 5300"/>
            </a:avLst>
          </a:prstGeom>
          <a:solidFill>
            <a:schemeClr val="bg2">
              <a:lumMod val="90000"/>
              <a:alpha val="4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spcBef>
                <a:spcPts val="400"/>
              </a:spcBef>
              <a:buFont typeface="+mj-lt"/>
              <a:buAutoNum type="arabicPeriod"/>
            </a:pPr>
            <a:endParaRPr lang="en-US" sz="1600">
              <a:solidFill>
                <a:schemeClr val="tx1"/>
              </a:solidFill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ACF3A0A-E719-4D25-6792-C96D985E298E}"/>
              </a:ext>
            </a:extLst>
          </p:cNvPr>
          <p:cNvGrpSpPr>
            <a:grpSpLocks/>
          </p:cNvGrpSpPr>
          <p:nvPr/>
        </p:nvGrpSpPr>
        <p:grpSpPr>
          <a:xfrm>
            <a:off x="818557" y="1409702"/>
            <a:ext cx="265176" cy="260922"/>
            <a:chOff x="4605394" y="3881783"/>
            <a:chExt cx="468314" cy="465654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BE26CA6-AE19-A83C-A996-0D246B45886F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85B323-EA73-3F8B-0C72-7F397C443280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7E30A76-08BB-69A3-AC9B-A2B94FFA9708}"/>
              </a:ext>
            </a:extLst>
          </p:cNvPr>
          <p:cNvSpPr txBox="1"/>
          <p:nvPr/>
        </p:nvSpPr>
        <p:spPr>
          <a:xfrm>
            <a:off x="818557" y="1670624"/>
            <a:ext cx="1606209" cy="240066"/>
          </a:xfrm>
          <a:prstGeom prst="rect">
            <a:avLst/>
          </a:prstGeom>
          <a:noFill/>
        </p:spPr>
        <p:txBody>
          <a:bodyPr wrap="square" lIns="0" tIns="54864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Business use case name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EF13618-D2B9-588F-378E-48BA6D0FE249}"/>
              </a:ext>
            </a:extLst>
          </p:cNvPr>
          <p:cNvGrpSpPr>
            <a:grpSpLocks/>
          </p:cNvGrpSpPr>
          <p:nvPr/>
        </p:nvGrpSpPr>
        <p:grpSpPr>
          <a:xfrm>
            <a:off x="818557" y="2342126"/>
            <a:ext cx="265176" cy="260922"/>
            <a:chOff x="4605394" y="3881783"/>
            <a:chExt cx="468314" cy="465654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B3DDCFB-607F-FA7A-5FB0-5235DBBC0731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D695477-57E6-036E-1F61-91F498032F53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0C9AAC0-5C88-7849-796C-1A33B883F563}"/>
              </a:ext>
            </a:extLst>
          </p:cNvPr>
          <p:cNvSpPr txBox="1"/>
          <p:nvPr/>
        </p:nvSpPr>
        <p:spPr>
          <a:xfrm>
            <a:off x="818557" y="2603048"/>
            <a:ext cx="1606209" cy="240066"/>
          </a:xfrm>
          <a:prstGeom prst="rect">
            <a:avLst/>
          </a:prstGeom>
          <a:noFill/>
        </p:spPr>
        <p:txBody>
          <a:bodyPr wrap="square" lIns="0" tIns="54864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Business use case name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74285E6-1DDF-64DB-8E8D-4001C76388E7}"/>
              </a:ext>
            </a:extLst>
          </p:cNvPr>
          <p:cNvGrpSpPr>
            <a:grpSpLocks/>
          </p:cNvGrpSpPr>
          <p:nvPr/>
        </p:nvGrpSpPr>
        <p:grpSpPr>
          <a:xfrm>
            <a:off x="818557" y="3274550"/>
            <a:ext cx="265176" cy="260922"/>
            <a:chOff x="4605394" y="3881783"/>
            <a:chExt cx="468314" cy="465654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A1B509E-EACB-1DAE-188C-D004EC89C341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54534ACC-FA49-0A29-9A11-4F89011ED902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3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1C0D2E9-A52C-7680-28A1-E7381F012FC9}"/>
              </a:ext>
            </a:extLst>
          </p:cNvPr>
          <p:cNvSpPr txBox="1"/>
          <p:nvPr/>
        </p:nvSpPr>
        <p:spPr>
          <a:xfrm>
            <a:off x="818557" y="3535472"/>
            <a:ext cx="1606209" cy="240066"/>
          </a:xfrm>
          <a:prstGeom prst="rect">
            <a:avLst/>
          </a:prstGeom>
          <a:noFill/>
        </p:spPr>
        <p:txBody>
          <a:bodyPr wrap="square" lIns="0" tIns="54864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Business use case name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F476A36-5A2C-F9DC-CF86-E1F8D74F5F10}"/>
              </a:ext>
            </a:extLst>
          </p:cNvPr>
          <p:cNvGrpSpPr>
            <a:grpSpLocks/>
          </p:cNvGrpSpPr>
          <p:nvPr/>
        </p:nvGrpSpPr>
        <p:grpSpPr>
          <a:xfrm>
            <a:off x="818557" y="4206975"/>
            <a:ext cx="265176" cy="260922"/>
            <a:chOff x="4605394" y="3881783"/>
            <a:chExt cx="468314" cy="465654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F81C780-E3EC-D0C2-4A23-6F82EA02AE62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2E1EC3D-647E-1E33-9D44-8D2CE9CD2086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4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3BFD086-7CAC-2BA4-FAF8-4F2F0A5C1EBA}"/>
              </a:ext>
            </a:extLst>
          </p:cNvPr>
          <p:cNvSpPr txBox="1"/>
          <p:nvPr/>
        </p:nvSpPr>
        <p:spPr>
          <a:xfrm>
            <a:off x="818557" y="4467897"/>
            <a:ext cx="1606209" cy="240066"/>
          </a:xfrm>
          <a:prstGeom prst="rect">
            <a:avLst/>
          </a:prstGeom>
          <a:noFill/>
        </p:spPr>
        <p:txBody>
          <a:bodyPr wrap="square" lIns="0" tIns="54864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Business use case name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0521ED4-22A2-828B-B493-D138B007ECFF}"/>
              </a:ext>
            </a:extLst>
          </p:cNvPr>
          <p:cNvGrpSpPr>
            <a:grpSpLocks/>
          </p:cNvGrpSpPr>
          <p:nvPr/>
        </p:nvGrpSpPr>
        <p:grpSpPr>
          <a:xfrm>
            <a:off x="818557" y="5139399"/>
            <a:ext cx="265176" cy="260922"/>
            <a:chOff x="4605394" y="3881783"/>
            <a:chExt cx="468314" cy="46565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C91A920C-41D4-9662-7822-5B72A8EF7A46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47982DE-3DC5-469A-9C52-7C9E61B658FE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7B97FB1-6188-9910-A9ED-58344D56F395}"/>
              </a:ext>
            </a:extLst>
          </p:cNvPr>
          <p:cNvSpPr txBox="1"/>
          <p:nvPr/>
        </p:nvSpPr>
        <p:spPr>
          <a:xfrm>
            <a:off x="818557" y="5400321"/>
            <a:ext cx="1606209" cy="240066"/>
          </a:xfrm>
          <a:prstGeom prst="rect">
            <a:avLst/>
          </a:prstGeom>
          <a:noFill/>
        </p:spPr>
        <p:txBody>
          <a:bodyPr wrap="square" lIns="0" tIns="54864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Business use case name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DD2215-3BF7-0916-69E4-FD5E417C29E5}"/>
              </a:ext>
            </a:extLst>
          </p:cNvPr>
          <p:cNvSpPr/>
          <p:nvPr/>
        </p:nvSpPr>
        <p:spPr bwMode="auto">
          <a:xfrm>
            <a:off x="2840812" y="1411092"/>
            <a:ext cx="397125" cy="191768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High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AA71A6-B0AB-6656-CD41-79AB32EC918E}"/>
              </a:ext>
            </a:extLst>
          </p:cNvPr>
          <p:cNvSpPr/>
          <p:nvPr/>
        </p:nvSpPr>
        <p:spPr bwMode="auto">
          <a:xfrm>
            <a:off x="11008976" y="5818506"/>
            <a:ext cx="397125" cy="191768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High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2C9D0F-F49C-D380-B9EC-C22A345E4936}"/>
              </a:ext>
            </a:extLst>
          </p:cNvPr>
          <p:cNvSpPr/>
          <p:nvPr/>
        </p:nvSpPr>
        <p:spPr bwMode="auto">
          <a:xfrm>
            <a:off x="3357830" y="5818506"/>
            <a:ext cx="338292" cy="191768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Low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7D7BD9-1994-0DD7-3081-B1E65D57C900}"/>
              </a:ext>
            </a:extLst>
          </p:cNvPr>
          <p:cNvSpPr/>
          <p:nvPr/>
        </p:nvSpPr>
        <p:spPr bwMode="auto">
          <a:xfrm>
            <a:off x="2899645" y="5479443"/>
            <a:ext cx="338292" cy="191768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Low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73B68F-3F5B-0EAE-C1ED-F210C2B838C5}"/>
              </a:ext>
            </a:extLst>
          </p:cNvPr>
          <p:cNvSpPr/>
          <p:nvPr/>
        </p:nvSpPr>
        <p:spPr bwMode="auto">
          <a:xfrm>
            <a:off x="3035781" y="2225050"/>
            <a:ext cx="184666" cy="2596798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vert="vert270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Degree of strategic business impact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CC1121-851D-7E2C-AF4A-ED440DBCD823}"/>
              </a:ext>
            </a:extLst>
          </p:cNvPr>
          <p:cNvSpPr/>
          <p:nvPr/>
        </p:nvSpPr>
        <p:spPr bwMode="auto">
          <a:xfrm>
            <a:off x="6346009" y="5818506"/>
            <a:ext cx="2071912" cy="191768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Degree of executional fit</a:t>
            </a:r>
          </a:p>
        </p:txBody>
      </p:sp>
      <p:sp>
        <p:nvSpPr>
          <p:cNvPr id="22" name="Oval 32">
            <a:extLst>
              <a:ext uri="{FF2B5EF4-FFF2-40B4-BE49-F238E27FC236}">
                <a16:creationId xmlns:a16="http://schemas.microsoft.com/office/drawing/2014/main" id="{04163390-7F12-F0CA-D57D-BC7158BC1D40}"/>
              </a:ext>
            </a:extLst>
          </p:cNvPr>
          <p:cNvSpPr>
            <a:spLocks/>
          </p:cNvSpPr>
          <p:nvPr/>
        </p:nvSpPr>
        <p:spPr bwMode="auto">
          <a:xfrm>
            <a:off x="3276780" y="1304924"/>
            <a:ext cx="8210370" cy="4437049"/>
          </a:xfrm>
          <a:prstGeom prst="roundRect">
            <a:avLst>
              <a:gd name="adj" fmla="val 1700"/>
            </a:avLst>
          </a:prstGeom>
          <a:solidFill>
            <a:schemeClr val="bg1">
              <a:lumMod val="95000"/>
              <a:alpha val="33000"/>
            </a:schemeClr>
          </a:solidFill>
          <a:ln w="6350" cap="flat" cmpd="sng" algn="ctr">
            <a:solidFill>
              <a:schemeClr val="bg1">
                <a:lumMod val="85000"/>
              </a:scheme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3" name="Oval 32_1">
            <a:extLst>
              <a:ext uri="{FF2B5EF4-FFF2-40B4-BE49-F238E27FC236}">
                <a16:creationId xmlns:a16="http://schemas.microsoft.com/office/drawing/2014/main" id="{91110A9F-E6AD-A317-1D46-0DCF641150DE}"/>
              </a:ext>
            </a:extLst>
          </p:cNvPr>
          <p:cNvSpPr>
            <a:spLocks/>
          </p:cNvSpPr>
          <p:nvPr/>
        </p:nvSpPr>
        <p:spPr bwMode="auto">
          <a:xfrm>
            <a:off x="3357830" y="1375686"/>
            <a:ext cx="3977524" cy="2107067"/>
          </a:xfrm>
          <a:prstGeom prst="roundRect">
            <a:avLst>
              <a:gd name="adj" fmla="val 27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Oval 32_1">
            <a:extLst>
              <a:ext uri="{FF2B5EF4-FFF2-40B4-BE49-F238E27FC236}">
                <a16:creationId xmlns:a16="http://schemas.microsoft.com/office/drawing/2014/main" id="{D2A99DDE-94A4-C84A-C745-BECA04399DEA}"/>
              </a:ext>
            </a:extLst>
          </p:cNvPr>
          <p:cNvSpPr>
            <a:spLocks/>
          </p:cNvSpPr>
          <p:nvPr/>
        </p:nvSpPr>
        <p:spPr bwMode="auto">
          <a:xfrm>
            <a:off x="7428577" y="1375686"/>
            <a:ext cx="3977524" cy="2107067"/>
          </a:xfrm>
          <a:prstGeom prst="roundRect">
            <a:avLst>
              <a:gd name="adj" fmla="val 27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5" name="Oval 32_1">
            <a:extLst>
              <a:ext uri="{FF2B5EF4-FFF2-40B4-BE49-F238E27FC236}">
                <a16:creationId xmlns:a16="http://schemas.microsoft.com/office/drawing/2014/main" id="{BF4FE33D-84C5-4A39-D91C-F95DD3533A47}"/>
              </a:ext>
            </a:extLst>
          </p:cNvPr>
          <p:cNvSpPr>
            <a:spLocks/>
          </p:cNvSpPr>
          <p:nvPr/>
        </p:nvSpPr>
        <p:spPr bwMode="auto">
          <a:xfrm>
            <a:off x="3357830" y="3564144"/>
            <a:ext cx="3977524" cy="2107067"/>
          </a:xfrm>
          <a:prstGeom prst="roundRect">
            <a:avLst>
              <a:gd name="adj" fmla="val 27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6" name="Oval 32_1">
            <a:extLst>
              <a:ext uri="{FF2B5EF4-FFF2-40B4-BE49-F238E27FC236}">
                <a16:creationId xmlns:a16="http://schemas.microsoft.com/office/drawing/2014/main" id="{2809DE82-A012-8B6A-E7A5-02A188509FFE}"/>
              </a:ext>
            </a:extLst>
          </p:cNvPr>
          <p:cNvSpPr>
            <a:spLocks/>
          </p:cNvSpPr>
          <p:nvPr/>
        </p:nvSpPr>
        <p:spPr bwMode="auto">
          <a:xfrm>
            <a:off x="7428577" y="3564144"/>
            <a:ext cx="3977524" cy="2107067"/>
          </a:xfrm>
          <a:prstGeom prst="roundRect">
            <a:avLst>
              <a:gd name="adj" fmla="val 2700"/>
            </a:avLst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4DF7BC8-96E3-CE34-5C75-6E9A9954AF44}"/>
              </a:ext>
            </a:extLst>
          </p:cNvPr>
          <p:cNvSpPr/>
          <p:nvPr/>
        </p:nvSpPr>
        <p:spPr bwMode="auto">
          <a:xfrm>
            <a:off x="5835834" y="1467126"/>
            <a:ext cx="1408080" cy="245397"/>
          </a:xfrm>
          <a:prstGeom prst="roundRect">
            <a:avLst>
              <a:gd name="adj" fmla="val 11500"/>
            </a:avLst>
          </a:prstGeom>
          <a:solidFill>
            <a:schemeClr val="bg2">
              <a:lumMod val="90000"/>
            </a:schemeClr>
          </a:solidFill>
          <a:ln w="5992" cap="flat">
            <a:noFill/>
            <a:prstDash val="solid"/>
            <a:miter/>
          </a:ln>
        </p:spPr>
        <p:txBody>
          <a:bodyPr vert="horz" wrap="square" rtlCol="0" anchor="ctr">
            <a:noAutofit/>
          </a:bodyPr>
          <a:lstStyle/>
          <a:p>
            <a:pPr algn="ctr">
              <a:spcAft>
                <a:spcPts val="200"/>
              </a:spcAft>
              <a:defRPr/>
            </a:pPr>
            <a:r>
              <a:rPr lang="en-US" sz="1200">
                <a:latin typeface="+mj-lt"/>
              </a:rPr>
              <a:t>Invest Long Term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2396807-C79F-40C3-17C4-DA1506BD8E37}"/>
              </a:ext>
            </a:extLst>
          </p:cNvPr>
          <p:cNvSpPr/>
          <p:nvPr/>
        </p:nvSpPr>
        <p:spPr bwMode="auto">
          <a:xfrm>
            <a:off x="9906581" y="3655584"/>
            <a:ext cx="1408080" cy="245397"/>
          </a:xfrm>
          <a:prstGeom prst="roundRect">
            <a:avLst>
              <a:gd name="adj" fmla="val 11500"/>
            </a:avLst>
          </a:prstGeom>
          <a:solidFill>
            <a:schemeClr val="bg2">
              <a:lumMod val="90000"/>
            </a:schemeClr>
          </a:solidFill>
          <a:ln w="5992" cap="flat">
            <a:noFill/>
            <a:prstDash val="solid"/>
            <a:miter/>
          </a:ln>
        </p:spPr>
        <p:txBody>
          <a:bodyPr vert="horz" wrap="square" rtlCol="0" anchor="ctr">
            <a:noAutofit/>
          </a:bodyPr>
          <a:lstStyle/>
          <a:p>
            <a:pPr algn="ctr">
              <a:spcAft>
                <a:spcPts val="200"/>
              </a:spcAft>
              <a:defRPr/>
            </a:pPr>
            <a:r>
              <a:rPr lang="en-US" sz="1200">
                <a:latin typeface="+mj-lt"/>
              </a:rPr>
              <a:t>Test &amp; Learn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CAD9826-CE17-F7F0-19F1-AF792976E595}"/>
              </a:ext>
            </a:extLst>
          </p:cNvPr>
          <p:cNvSpPr/>
          <p:nvPr/>
        </p:nvSpPr>
        <p:spPr bwMode="auto">
          <a:xfrm>
            <a:off x="9906581" y="1467127"/>
            <a:ext cx="1408080" cy="245397"/>
          </a:xfrm>
          <a:prstGeom prst="roundRect">
            <a:avLst>
              <a:gd name="adj" fmla="val 11500"/>
            </a:avLst>
          </a:prstGeom>
          <a:solidFill>
            <a:schemeClr val="bg2">
              <a:lumMod val="90000"/>
            </a:schemeClr>
          </a:solidFill>
          <a:ln w="5992" cap="flat">
            <a:noFill/>
            <a:prstDash val="solid"/>
            <a:miter/>
          </a:ln>
        </p:spPr>
        <p:txBody>
          <a:bodyPr vert="horz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Quick Wins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784CCFD-CFA6-3EAB-24EC-0FBE0F3BDB19}"/>
              </a:ext>
            </a:extLst>
          </p:cNvPr>
          <p:cNvSpPr/>
          <p:nvPr/>
        </p:nvSpPr>
        <p:spPr bwMode="auto">
          <a:xfrm>
            <a:off x="5835834" y="3655584"/>
            <a:ext cx="1408080" cy="245397"/>
          </a:xfrm>
          <a:prstGeom prst="roundRect">
            <a:avLst>
              <a:gd name="adj" fmla="val 11500"/>
            </a:avLst>
          </a:prstGeom>
          <a:solidFill>
            <a:schemeClr val="bg2">
              <a:lumMod val="90000"/>
            </a:schemeClr>
          </a:solidFill>
          <a:ln w="5992" cap="flat">
            <a:noFill/>
            <a:prstDash val="solid"/>
            <a:miter/>
          </a:ln>
        </p:spPr>
        <p:txBody>
          <a:bodyPr vert="horz" wrap="square" rtlCol="0" anchor="ctr">
            <a:noAutofit/>
          </a:bodyPr>
          <a:lstStyle/>
          <a:p>
            <a:pPr algn="ctr">
              <a:spcAft>
                <a:spcPts val="200"/>
              </a:spcAft>
              <a:defRPr/>
            </a:pPr>
            <a:r>
              <a:rPr lang="en-US" sz="1200">
                <a:latin typeface="+mj-lt"/>
              </a:rPr>
              <a:t>Parked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B8E5970-680C-80C0-09CF-E473AE062231}"/>
              </a:ext>
            </a:extLst>
          </p:cNvPr>
          <p:cNvSpPr/>
          <p:nvPr/>
        </p:nvSpPr>
        <p:spPr bwMode="auto">
          <a:xfrm>
            <a:off x="3357830" y="1375880"/>
            <a:ext cx="289590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CEFED0-2B3B-ED44-17AF-9E96D927382B}"/>
              </a:ext>
            </a:extLst>
          </p:cNvPr>
          <p:cNvSpPr/>
          <p:nvPr/>
        </p:nvSpPr>
        <p:spPr bwMode="auto">
          <a:xfrm>
            <a:off x="3357830" y="2298122"/>
            <a:ext cx="294494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C22D28-4E6C-038F-68BB-21ECD0DB9E47}"/>
              </a:ext>
            </a:extLst>
          </p:cNvPr>
          <p:cNvSpPr/>
          <p:nvPr/>
        </p:nvSpPr>
        <p:spPr bwMode="auto">
          <a:xfrm>
            <a:off x="3357830" y="3397221"/>
            <a:ext cx="289590" cy="262196"/>
          </a:xfrm>
          <a:prstGeom prst="rect">
            <a:avLst/>
          </a:prstGeom>
          <a:solidFill>
            <a:schemeClr val="bg1"/>
          </a:solidFill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0BDEA7-FF1A-028B-2DA3-B8D983984A81}"/>
              </a:ext>
            </a:extLst>
          </p:cNvPr>
          <p:cNvSpPr/>
          <p:nvPr/>
        </p:nvSpPr>
        <p:spPr bwMode="auto">
          <a:xfrm>
            <a:off x="3357830" y="4525688"/>
            <a:ext cx="289590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C44BF2-B8F1-2CE1-408A-1A4DBBD61242}"/>
              </a:ext>
            </a:extLst>
          </p:cNvPr>
          <p:cNvSpPr/>
          <p:nvPr/>
        </p:nvSpPr>
        <p:spPr bwMode="auto">
          <a:xfrm>
            <a:off x="3357830" y="5416835"/>
            <a:ext cx="261809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C049A4E-7180-BAA2-93B4-431F6DB7BDE6}"/>
              </a:ext>
            </a:extLst>
          </p:cNvPr>
          <p:cNvSpPr/>
          <p:nvPr/>
        </p:nvSpPr>
        <p:spPr bwMode="auto">
          <a:xfrm>
            <a:off x="5387818" y="5416835"/>
            <a:ext cx="261809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958C93A-79C6-EFC1-E973-212F6BCA9EEB}"/>
              </a:ext>
            </a:extLst>
          </p:cNvPr>
          <p:cNvSpPr/>
          <p:nvPr/>
        </p:nvSpPr>
        <p:spPr bwMode="auto">
          <a:xfrm>
            <a:off x="7251061" y="5409015"/>
            <a:ext cx="261809" cy="262196"/>
          </a:xfrm>
          <a:prstGeom prst="rect">
            <a:avLst/>
          </a:prstGeom>
          <a:solidFill>
            <a:schemeClr val="bg1"/>
          </a:solidFill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1756CCA-2E07-6129-A970-1AEA7A31C82E}"/>
              </a:ext>
            </a:extLst>
          </p:cNvPr>
          <p:cNvSpPr/>
          <p:nvPr/>
        </p:nvSpPr>
        <p:spPr bwMode="auto">
          <a:xfrm>
            <a:off x="9347465" y="5416835"/>
            <a:ext cx="261809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5AD654-D537-93DA-F2FD-E139BEDC3F86}"/>
              </a:ext>
            </a:extLst>
          </p:cNvPr>
          <p:cNvSpPr/>
          <p:nvPr/>
        </p:nvSpPr>
        <p:spPr bwMode="auto">
          <a:xfrm>
            <a:off x="11144292" y="5416835"/>
            <a:ext cx="261809" cy="262196"/>
          </a:xfrm>
          <a:prstGeom prst="rect">
            <a:avLst/>
          </a:prstGeom>
          <a:noFill/>
          <a:ln w="5992" cap="flat">
            <a:noFill/>
            <a:prstDash val="solid"/>
            <a:miter/>
          </a:ln>
        </p:spPr>
        <p:txBody>
          <a:bodyPr wrap="square" lIns="91440" tIns="45720" rIns="91440" bIns="4572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80D985-7193-7DA5-C885-B8BAF78AF42A}"/>
              </a:ext>
            </a:extLst>
          </p:cNvPr>
          <p:cNvSpPr txBox="1"/>
          <p:nvPr/>
        </p:nvSpPr>
        <p:spPr>
          <a:xfrm>
            <a:off x="588963" y="6345738"/>
            <a:ext cx="1835803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Drag to appropriate quadrant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2DE0E3CE-3F24-E1EA-2A21-329A828F0CF6}"/>
              </a:ext>
            </a:extLst>
          </p:cNvPr>
          <p:cNvGrpSpPr>
            <a:grpSpLocks/>
          </p:cNvGrpSpPr>
          <p:nvPr/>
        </p:nvGrpSpPr>
        <p:grpSpPr>
          <a:xfrm>
            <a:off x="2647187" y="6292559"/>
            <a:ext cx="274048" cy="275636"/>
            <a:chOff x="4605394" y="3881783"/>
            <a:chExt cx="468314" cy="465654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E1E0F4B9-9684-92DE-8318-13CFE63948EF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F561AB8-3D0F-35CB-DC94-2613B582A826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6CE9044-228C-6EB1-B3C2-193B29644499}"/>
              </a:ext>
            </a:extLst>
          </p:cNvPr>
          <p:cNvGrpSpPr>
            <a:grpSpLocks/>
          </p:cNvGrpSpPr>
          <p:nvPr/>
        </p:nvGrpSpPr>
        <p:grpSpPr>
          <a:xfrm>
            <a:off x="3220447" y="6292559"/>
            <a:ext cx="274048" cy="275636"/>
            <a:chOff x="4605394" y="3881783"/>
            <a:chExt cx="468314" cy="465654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D5B91B87-EC09-5236-DFA9-F9388FD9586E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C1725A7C-B34F-9586-CAB3-A922F0551FAE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2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7DD5BB0-7579-81B9-00D4-8DFAF57E66E2}"/>
              </a:ext>
            </a:extLst>
          </p:cNvPr>
          <p:cNvGrpSpPr>
            <a:grpSpLocks/>
          </p:cNvGrpSpPr>
          <p:nvPr/>
        </p:nvGrpSpPr>
        <p:grpSpPr>
          <a:xfrm>
            <a:off x="3793707" y="6292559"/>
            <a:ext cx="274048" cy="275636"/>
            <a:chOff x="4605394" y="3881783"/>
            <a:chExt cx="468314" cy="465654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19D86452-7798-53D3-7FBE-B22C63D18589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90B3B39-5A1B-F0BD-34C3-34A714D6DE08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3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E2582EAC-CFEC-4309-3703-1F67FDD8FBF1}"/>
              </a:ext>
            </a:extLst>
          </p:cNvPr>
          <p:cNvGrpSpPr>
            <a:grpSpLocks/>
          </p:cNvGrpSpPr>
          <p:nvPr/>
        </p:nvGrpSpPr>
        <p:grpSpPr>
          <a:xfrm>
            <a:off x="4366967" y="6292559"/>
            <a:ext cx="274048" cy="275636"/>
            <a:chOff x="4605394" y="3881783"/>
            <a:chExt cx="468314" cy="465654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81071C9-064D-1355-5378-8E2403795A59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BEE28FAE-2977-4174-EA77-7AC3859A19C7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4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B5D7800-546E-133C-B758-1B14235345D3}"/>
              </a:ext>
            </a:extLst>
          </p:cNvPr>
          <p:cNvGrpSpPr>
            <a:grpSpLocks/>
          </p:cNvGrpSpPr>
          <p:nvPr/>
        </p:nvGrpSpPr>
        <p:grpSpPr>
          <a:xfrm>
            <a:off x="4940227" y="6292559"/>
            <a:ext cx="274048" cy="275636"/>
            <a:chOff x="4605394" y="3881783"/>
            <a:chExt cx="468314" cy="465654"/>
          </a:xfrm>
        </p:grpSpPr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111C16C8-7706-5D75-3277-C68A58A2B909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0B86BCAC-8D84-E46B-68E8-CDF26FC7AD28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50" name="Title 49">
            <a:extLst>
              <a:ext uri="{FF2B5EF4-FFF2-40B4-BE49-F238E27FC236}">
                <a16:creationId xmlns:a16="http://schemas.microsoft.com/office/drawing/2014/main" id="{FA0199A3-56FC-15A3-5B87-29977F9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noProof="0"/>
              <a:t>Use case prioritization 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15DF7B-71C5-7CA0-355A-DC6B29B8BC75}"/>
              </a:ext>
            </a:extLst>
          </p:cNvPr>
          <p:cNvSpPr/>
          <p:nvPr/>
        </p:nvSpPr>
        <p:spPr bwMode="auto">
          <a:xfrm>
            <a:off x="5642952" y="-741156"/>
            <a:ext cx="91440" cy="91440"/>
          </a:xfrm>
          <a:prstGeom prst="rect">
            <a:avLst/>
          </a:prstGeom>
          <a:solidFill>
            <a:schemeClr val="bg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12315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91172CC8-3B6F-B34A-F654-1D1593AB2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noProof="0"/>
              <a:t>When envisioning a business use case, consider the following factors</a:t>
            </a:r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669B0FB-C343-E3C5-7182-A836CDCCA790}"/>
              </a:ext>
            </a:extLst>
          </p:cNvPr>
          <p:cNvSpPr/>
          <p:nvPr/>
        </p:nvSpPr>
        <p:spPr bwMode="auto">
          <a:xfrm>
            <a:off x="571500" y="1666875"/>
            <a:ext cx="11049000" cy="2639469"/>
          </a:xfrm>
          <a:prstGeom prst="roundRect">
            <a:avLst>
              <a:gd name="adj" fmla="val 6300"/>
            </a:avLst>
          </a:prstGeom>
          <a:solidFill>
            <a:srgbClr val="F6F1ED">
              <a:alpha val="50000"/>
            </a:srgbClr>
          </a:solidFill>
          <a:ln w="6350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" rIns="91440" bIns="640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52CF312-4C56-29C5-FD72-DE299D171A77}"/>
              </a:ext>
            </a:extLst>
          </p:cNvPr>
          <p:cNvSpPr/>
          <p:nvPr/>
        </p:nvSpPr>
        <p:spPr bwMode="auto">
          <a:xfrm>
            <a:off x="690372" y="1785747"/>
            <a:ext cx="10811256" cy="377517"/>
          </a:xfrm>
          <a:prstGeom prst="roundRect">
            <a:avLst>
              <a:gd name="adj" fmla="val 15200"/>
            </a:avLst>
          </a:prstGeom>
          <a:solidFill>
            <a:schemeClr val="bg1">
              <a:alpha val="70000"/>
            </a:schemeClr>
          </a:solidFill>
          <a:ln w="6350">
            <a:gradFill>
              <a:gsLst>
                <a:gs pos="0">
                  <a:schemeClr val="bg1">
                    <a:alpha val="30000"/>
                  </a:schemeClr>
                </a:gs>
                <a:gs pos="100000">
                  <a:schemeClr val="bg1">
                    <a:alpha val="59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65100" dist="25400" dir="2700000" algn="tl" rotWithShape="0">
              <a:schemeClr val="bg2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1"/>
            <a:r>
              <a:rPr lang="en-US" sz="1400">
                <a:solidFill>
                  <a:schemeClr val="accent3"/>
                </a:solidFill>
                <a:latin typeface="+mj-lt"/>
              </a:rPr>
              <a:t>Questions for consideration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F0291A08-EA3B-5B5B-AA08-571AACF4E05E}"/>
              </a:ext>
            </a:extLst>
          </p:cNvPr>
          <p:cNvSpPr>
            <a:spLocks/>
          </p:cNvSpPr>
          <p:nvPr/>
        </p:nvSpPr>
        <p:spPr bwMode="auto">
          <a:xfrm>
            <a:off x="690371" y="2282136"/>
            <a:ext cx="1914717" cy="1905336"/>
          </a:xfrm>
          <a:prstGeom prst="roundRect">
            <a:avLst>
              <a:gd name="adj" fmla="val 4400"/>
            </a:avLst>
          </a:prstGeom>
          <a:solidFill>
            <a:schemeClr val="bg2">
              <a:lumMod val="90000"/>
              <a:alpha val="4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chemeClr val="tx1"/>
              </a:solidFill>
              <a:latin typeface="+mj-lt"/>
              <a:cs typeface="Segoe UI" pitchFamily="34" charset="0"/>
            </a:endParaRP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FDDA037-F025-1B9F-2C8D-C5B70E917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747963" y="4571547"/>
            <a:ext cx="8872535" cy="0"/>
          </a:xfrm>
          <a:prstGeom prst="line">
            <a:avLst/>
          </a:prstGeom>
          <a:ln w="6350" cap="rnd">
            <a:solidFill>
              <a:schemeClr val="bg1">
                <a:lumMod val="8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576CD95C-0F85-C5C6-B536-F360CFCD710D}"/>
              </a:ext>
            </a:extLst>
          </p:cNvPr>
          <p:cNvSpPr>
            <a:spLocks/>
          </p:cNvSpPr>
          <p:nvPr/>
        </p:nvSpPr>
        <p:spPr bwMode="auto">
          <a:xfrm>
            <a:off x="588963" y="4855698"/>
            <a:ext cx="11017818" cy="1725705"/>
          </a:xfrm>
          <a:prstGeom prst="roundRect">
            <a:avLst>
              <a:gd name="adj" fmla="val 8700"/>
            </a:avLst>
          </a:prstGeom>
          <a:solidFill>
            <a:schemeClr val="bg1">
              <a:alpha val="70000"/>
            </a:schemeClr>
          </a:solidFill>
          <a:ln w="6350">
            <a:gradFill>
              <a:gsLst>
                <a:gs pos="0">
                  <a:schemeClr val="bg1">
                    <a:alpha val="27000"/>
                  </a:schemeClr>
                </a:gs>
                <a:gs pos="100000">
                  <a:schemeClr val="bg1">
                    <a:alpha val="59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65100" dist="25400" dir="2700000" algn="tl" rotWithShape="0">
              <a:schemeClr val="bg2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" rIns="91440" bIns="640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sp>
        <p:nvSpPr>
          <p:cNvPr id="50" name="Donut 7">
            <a:extLst>
              <a:ext uri="{FF2B5EF4-FFF2-40B4-BE49-F238E27FC236}">
                <a16:creationId xmlns:a16="http://schemas.microsoft.com/office/drawing/2014/main" id="{B5E222AB-3861-AFD8-FA30-499B41911CE0}"/>
              </a:ext>
            </a:extLst>
          </p:cNvPr>
          <p:cNvSpPr>
            <a:spLocks/>
          </p:cNvSpPr>
          <p:nvPr/>
        </p:nvSpPr>
        <p:spPr bwMode="auto">
          <a:xfrm>
            <a:off x="709424" y="4976995"/>
            <a:ext cx="2351275" cy="1483111"/>
          </a:xfrm>
          <a:prstGeom prst="roundRect">
            <a:avLst>
              <a:gd name="adj" fmla="val 8300"/>
            </a:avLst>
          </a:prstGeom>
          <a:solidFill>
            <a:schemeClr val="bg2">
              <a:lumMod val="90000"/>
              <a:alpha val="36000"/>
            </a:schemeClr>
          </a:solidFill>
          <a:ln w="6350">
            <a:gradFill>
              <a:gsLst>
                <a:gs pos="0">
                  <a:schemeClr val="bg1">
                    <a:alpha val="27000"/>
                  </a:schemeClr>
                </a:gs>
                <a:gs pos="100000">
                  <a:schemeClr val="bg1">
                    <a:alpha val="59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65100" dist="25400" dir="2700000" algn="tl" rotWithShape="0">
              <a:schemeClr val="bg2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64008" rIns="182880" bIns="640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>
              <a:solidFill>
                <a:schemeClr val="lt1"/>
              </a:solidFill>
            </a:endParaRP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93DA845-EDD8-40DA-AE77-DAE966FD6412}"/>
              </a:ext>
            </a:extLst>
          </p:cNvPr>
          <p:cNvCxnSpPr>
            <a:cxnSpLocks/>
          </p:cNvCxnSpPr>
          <p:nvPr/>
        </p:nvCxnSpPr>
        <p:spPr>
          <a:xfrm>
            <a:off x="856604" y="5486375"/>
            <a:ext cx="2067571" cy="0"/>
          </a:xfrm>
          <a:prstGeom prst="line">
            <a:avLst/>
          </a:prstGeom>
          <a:ln w="63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9C26F0C-1CED-FFC5-C456-3693C913C955}"/>
              </a:ext>
            </a:extLst>
          </p:cNvPr>
          <p:cNvCxnSpPr>
            <a:cxnSpLocks/>
          </p:cNvCxnSpPr>
          <p:nvPr/>
        </p:nvCxnSpPr>
        <p:spPr>
          <a:xfrm>
            <a:off x="856604" y="5950725"/>
            <a:ext cx="2067571" cy="0"/>
          </a:xfrm>
          <a:prstGeom prst="line">
            <a:avLst/>
          </a:prstGeom>
          <a:ln w="63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F57FA5C3-50FD-D6CE-8721-9359DE89C164}"/>
              </a:ext>
            </a:extLst>
          </p:cNvPr>
          <p:cNvCxnSpPr>
            <a:cxnSpLocks/>
          </p:cNvCxnSpPr>
          <p:nvPr/>
        </p:nvCxnSpPr>
        <p:spPr>
          <a:xfrm>
            <a:off x="3181160" y="5486375"/>
            <a:ext cx="8301416" cy="0"/>
          </a:xfrm>
          <a:prstGeom prst="line">
            <a:avLst/>
          </a:prstGeom>
          <a:ln w="6350" cap="rnd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B4AB077-02C2-A051-8B11-831660684E8B}"/>
              </a:ext>
            </a:extLst>
          </p:cNvPr>
          <p:cNvCxnSpPr>
            <a:cxnSpLocks/>
          </p:cNvCxnSpPr>
          <p:nvPr/>
        </p:nvCxnSpPr>
        <p:spPr>
          <a:xfrm>
            <a:off x="3181160" y="5950725"/>
            <a:ext cx="8301416" cy="0"/>
          </a:xfrm>
          <a:prstGeom prst="line">
            <a:avLst/>
          </a:prstGeom>
          <a:ln w="6350" cap="rnd">
            <a:solidFill>
              <a:schemeClr val="bg1">
                <a:lumMod val="85000"/>
              </a:schemeClr>
            </a:solidFill>
            <a:prstDash val="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A16B9B8-5401-9CD0-E626-2B77B53BF151}"/>
              </a:ext>
            </a:extLst>
          </p:cNvPr>
          <p:cNvSpPr txBox="1"/>
          <p:nvPr/>
        </p:nvSpPr>
        <p:spPr>
          <a:xfrm>
            <a:off x="588963" y="4463825"/>
            <a:ext cx="2056525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Strategic fit weighting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179378-2E33-EE42-3C46-35CD0807AAFD}"/>
              </a:ext>
            </a:extLst>
          </p:cNvPr>
          <p:cNvSpPr txBox="1">
            <a:spLocks/>
          </p:cNvSpPr>
          <p:nvPr/>
        </p:nvSpPr>
        <p:spPr>
          <a:xfrm>
            <a:off x="856604" y="5161867"/>
            <a:ext cx="206757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Business objective </a:t>
            </a:r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62D8A022-56C7-9C73-A40E-91C4CD4ED090}"/>
              </a:ext>
            </a:extLst>
          </p:cNvPr>
          <p:cNvGrpSpPr>
            <a:grpSpLocks/>
          </p:cNvGrpSpPr>
          <p:nvPr/>
        </p:nvGrpSpPr>
        <p:grpSpPr>
          <a:xfrm>
            <a:off x="3179000" y="5092891"/>
            <a:ext cx="322618" cy="322618"/>
            <a:chOff x="4605394" y="3881783"/>
            <a:chExt cx="468314" cy="465654"/>
          </a:xfrm>
        </p:grpSpPr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A9DC2BBD-E56F-E01A-16B2-38005296E042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78976130-683F-329C-7C0D-93AAF5CE55A1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CB48EC4E-8B0A-D44C-9BA7-8E750E894C7C}"/>
              </a:ext>
            </a:extLst>
          </p:cNvPr>
          <p:cNvSpPr txBox="1"/>
          <p:nvPr/>
        </p:nvSpPr>
        <p:spPr>
          <a:xfrm>
            <a:off x="3625472" y="5169562"/>
            <a:ext cx="857021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Very unclear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62" name="Straight Arrow Connector 61" descr="A bi-directional arrow">
            <a:extLst>
              <a:ext uri="{FF2B5EF4-FFF2-40B4-BE49-F238E27FC236}">
                <a16:creationId xmlns:a16="http://schemas.microsoft.com/office/drawing/2014/main" id="{5859E2A2-D23F-2C5B-FEC8-CF36CC52DEE2}"/>
              </a:ext>
            </a:extLst>
          </p:cNvPr>
          <p:cNvCxnSpPr>
            <a:cxnSpLocks/>
          </p:cNvCxnSpPr>
          <p:nvPr/>
        </p:nvCxnSpPr>
        <p:spPr>
          <a:xfrm>
            <a:off x="5149587" y="5254200"/>
            <a:ext cx="4206240" cy="0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BFE5879-6148-9B58-F29E-113785F1F501}"/>
              </a:ext>
            </a:extLst>
          </p:cNvPr>
          <p:cNvSpPr txBox="1"/>
          <p:nvPr/>
        </p:nvSpPr>
        <p:spPr>
          <a:xfrm>
            <a:off x="9462888" y="5169562"/>
            <a:ext cx="1572546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Very clear and actionable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E15A784-7084-6F82-8CCE-AD7EFB1E2C50}"/>
              </a:ext>
            </a:extLst>
          </p:cNvPr>
          <p:cNvGrpSpPr>
            <a:grpSpLocks/>
          </p:cNvGrpSpPr>
          <p:nvPr/>
        </p:nvGrpSpPr>
        <p:grpSpPr>
          <a:xfrm>
            <a:off x="11163703" y="5092891"/>
            <a:ext cx="322618" cy="322618"/>
            <a:chOff x="4605394" y="3881783"/>
            <a:chExt cx="468314" cy="465654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C8FF5A71-D5A8-4678-47A2-E382614DE720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CEF79977-A7A3-9601-F43D-D02005DA5437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4629401F-E2FA-6FCC-E569-C1F6DD195B61}"/>
              </a:ext>
            </a:extLst>
          </p:cNvPr>
          <p:cNvSpPr txBox="1">
            <a:spLocks/>
          </p:cNvSpPr>
          <p:nvPr/>
        </p:nvSpPr>
        <p:spPr>
          <a:xfrm>
            <a:off x="856604" y="5626218"/>
            <a:ext cx="2067571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Key results </a:t>
            </a: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54D16FF4-8C5E-7633-92F3-DB8A7F80B99A}"/>
              </a:ext>
            </a:extLst>
          </p:cNvPr>
          <p:cNvGrpSpPr>
            <a:grpSpLocks/>
          </p:cNvGrpSpPr>
          <p:nvPr/>
        </p:nvGrpSpPr>
        <p:grpSpPr>
          <a:xfrm>
            <a:off x="3179000" y="5557242"/>
            <a:ext cx="322618" cy="322618"/>
            <a:chOff x="4605394" y="3881783"/>
            <a:chExt cx="468314" cy="465654"/>
          </a:xfrm>
        </p:grpSpPr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5F0BC9EE-BC63-778B-24A5-BB2A6358B026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CE84C822-D9CE-5D8F-0BE3-65EAE9667354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3E5B5BE6-97FD-16FE-9713-DECC550AA176}"/>
              </a:ext>
            </a:extLst>
          </p:cNvPr>
          <p:cNvSpPr txBox="1"/>
          <p:nvPr/>
        </p:nvSpPr>
        <p:spPr>
          <a:xfrm>
            <a:off x="3625472" y="5633913"/>
            <a:ext cx="1417055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Vague, not measurable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67" name="Straight Arrow Connector 66" descr="A bi-directional arrow">
            <a:extLst>
              <a:ext uri="{FF2B5EF4-FFF2-40B4-BE49-F238E27FC236}">
                <a16:creationId xmlns:a16="http://schemas.microsoft.com/office/drawing/2014/main" id="{385535B7-43AF-165D-4C54-795BD4BA1AB8}"/>
              </a:ext>
            </a:extLst>
          </p:cNvPr>
          <p:cNvCxnSpPr>
            <a:cxnSpLocks/>
          </p:cNvCxnSpPr>
          <p:nvPr/>
        </p:nvCxnSpPr>
        <p:spPr>
          <a:xfrm>
            <a:off x="5149587" y="5718551"/>
            <a:ext cx="4206240" cy="0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8384695-2CEF-0E9E-D05D-4A680DB2244C}"/>
              </a:ext>
            </a:extLst>
          </p:cNvPr>
          <p:cNvSpPr txBox="1"/>
          <p:nvPr/>
        </p:nvSpPr>
        <p:spPr>
          <a:xfrm>
            <a:off x="9462888" y="5549274"/>
            <a:ext cx="1572546" cy="33855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Precise, measurable, and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aligned to the objective</a:t>
            </a: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EC2E70D9-B4DF-F7DB-2EFC-7B9102862C23}"/>
              </a:ext>
            </a:extLst>
          </p:cNvPr>
          <p:cNvGrpSpPr>
            <a:grpSpLocks/>
          </p:cNvGrpSpPr>
          <p:nvPr/>
        </p:nvGrpSpPr>
        <p:grpSpPr>
          <a:xfrm>
            <a:off x="11163703" y="5557242"/>
            <a:ext cx="322618" cy="322618"/>
            <a:chOff x="4605394" y="3881783"/>
            <a:chExt cx="468314" cy="465654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1059271-02DD-09EB-15C1-CA053E7FC1F6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5F720D9C-C5FB-5F77-2E39-B937E8D99FA4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1080CE54-2CED-4579-7560-98CA526AEEED}"/>
              </a:ext>
            </a:extLst>
          </p:cNvPr>
          <p:cNvSpPr txBox="1">
            <a:spLocks/>
          </p:cNvSpPr>
          <p:nvPr/>
        </p:nvSpPr>
        <p:spPr>
          <a:xfrm>
            <a:off x="856602" y="6090568"/>
            <a:ext cx="2067573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Stakeholder accountable 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0553C77E-08C6-5085-FCD3-4D26A7FF7A91}"/>
              </a:ext>
            </a:extLst>
          </p:cNvPr>
          <p:cNvGrpSpPr>
            <a:grpSpLocks/>
          </p:cNvGrpSpPr>
          <p:nvPr/>
        </p:nvGrpSpPr>
        <p:grpSpPr>
          <a:xfrm>
            <a:off x="3179000" y="6021592"/>
            <a:ext cx="322618" cy="322618"/>
            <a:chOff x="4605394" y="3881783"/>
            <a:chExt cx="468314" cy="465654"/>
          </a:xfrm>
        </p:grpSpPr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9945239D-13D6-0F66-CCB2-38D6EAE5C330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004279D6-3147-000E-AB80-A8B4CF87180B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1</a:t>
              </a: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28FEFD1C-8547-7BFA-B013-64747172F3FB}"/>
              </a:ext>
            </a:extLst>
          </p:cNvPr>
          <p:cNvSpPr txBox="1"/>
          <p:nvPr/>
        </p:nvSpPr>
        <p:spPr>
          <a:xfrm>
            <a:off x="3625472" y="6098262"/>
            <a:ext cx="857021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Don’t know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72" name="Straight Arrow Connector 71" descr="A bi-directional arrow">
            <a:extLst>
              <a:ext uri="{FF2B5EF4-FFF2-40B4-BE49-F238E27FC236}">
                <a16:creationId xmlns:a16="http://schemas.microsoft.com/office/drawing/2014/main" id="{F3771743-C09C-CA42-B876-B8FA40873410}"/>
              </a:ext>
            </a:extLst>
          </p:cNvPr>
          <p:cNvCxnSpPr>
            <a:cxnSpLocks/>
          </p:cNvCxnSpPr>
          <p:nvPr/>
        </p:nvCxnSpPr>
        <p:spPr>
          <a:xfrm>
            <a:off x="5149587" y="6182901"/>
            <a:ext cx="4206240" cy="0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E9AC8B6F-0C7E-D255-5258-36346AE2B434}"/>
              </a:ext>
            </a:extLst>
          </p:cNvPr>
          <p:cNvSpPr txBox="1"/>
          <p:nvPr/>
        </p:nvSpPr>
        <p:spPr>
          <a:xfrm>
            <a:off x="10578820" y="6098262"/>
            <a:ext cx="456614" cy="16927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Known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6177CE9F-D702-A3A3-CFD1-CA8E9030A2E3}"/>
              </a:ext>
            </a:extLst>
          </p:cNvPr>
          <p:cNvGrpSpPr>
            <a:grpSpLocks/>
          </p:cNvGrpSpPr>
          <p:nvPr/>
        </p:nvGrpSpPr>
        <p:grpSpPr>
          <a:xfrm>
            <a:off x="11163703" y="6021592"/>
            <a:ext cx="322618" cy="322618"/>
            <a:chOff x="4605394" y="3881783"/>
            <a:chExt cx="468314" cy="465654"/>
          </a:xfrm>
        </p:grpSpPr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0CBC5E8E-91A0-17D5-A16F-02ABA97D9FBF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CA8C322B-EFB3-F76A-3050-5166286616C5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12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9B584B58-F838-24DE-DD5A-7B699FECB04F}"/>
              </a:ext>
            </a:extLst>
          </p:cNvPr>
          <p:cNvSpPr txBox="1">
            <a:spLocks/>
          </p:cNvSpPr>
          <p:nvPr/>
        </p:nvSpPr>
        <p:spPr>
          <a:xfrm>
            <a:off x="784576" y="2364948"/>
            <a:ext cx="172630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Problem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DDFD323-7B23-3C5B-305B-0AE7B56BBBAA}"/>
              </a:ext>
            </a:extLst>
          </p:cNvPr>
          <p:cNvSpPr txBox="1">
            <a:spLocks/>
          </p:cNvSpPr>
          <p:nvPr/>
        </p:nvSpPr>
        <p:spPr>
          <a:xfrm>
            <a:off x="784576" y="2746016"/>
            <a:ext cx="172630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Opportunity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8374DF-8606-AC8F-6476-7CF5996DC715}"/>
              </a:ext>
            </a:extLst>
          </p:cNvPr>
          <p:cNvSpPr txBox="1">
            <a:spLocks/>
          </p:cNvSpPr>
          <p:nvPr/>
        </p:nvSpPr>
        <p:spPr>
          <a:xfrm>
            <a:off x="784576" y="3127084"/>
            <a:ext cx="172630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Business objective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EAAEEF3-2DEE-87F9-19FB-281783FC9BC7}"/>
              </a:ext>
            </a:extLst>
          </p:cNvPr>
          <p:cNvSpPr txBox="1">
            <a:spLocks/>
          </p:cNvSpPr>
          <p:nvPr/>
        </p:nvSpPr>
        <p:spPr>
          <a:xfrm>
            <a:off x="784576" y="3508152"/>
            <a:ext cx="172630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Measurement of success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7EE9DAD-342B-0444-3E79-AB982D87F48B}"/>
              </a:ext>
            </a:extLst>
          </p:cNvPr>
          <p:cNvSpPr txBox="1">
            <a:spLocks/>
          </p:cNvSpPr>
          <p:nvPr/>
        </p:nvSpPr>
        <p:spPr>
          <a:xfrm>
            <a:off x="784576" y="3889220"/>
            <a:ext cx="1726307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Accountability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D988C03C-4E82-9497-79E0-18C216EAA6B2}"/>
              </a:ext>
            </a:extLst>
          </p:cNvPr>
          <p:cNvCxnSpPr>
            <a:cxnSpLocks/>
          </p:cNvCxnSpPr>
          <p:nvPr/>
        </p:nvCxnSpPr>
        <p:spPr>
          <a:xfrm>
            <a:off x="784576" y="3791019"/>
            <a:ext cx="1726306" cy="0"/>
          </a:xfrm>
          <a:prstGeom prst="line">
            <a:avLst/>
          </a:prstGeom>
          <a:ln w="63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A1AA13BC-5497-D607-4B71-F5098708743E}"/>
              </a:ext>
            </a:extLst>
          </p:cNvPr>
          <p:cNvCxnSpPr>
            <a:cxnSpLocks/>
          </p:cNvCxnSpPr>
          <p:nvPr/>
        </p:nvCxnSpPr>
        <p:spPr>
          <a:xfrm>
            <a:off x="784576" y="3409951"/>
            <a:ext cx="1726306" cy="0"/>
          </a:xfrm>
          <a:prstGeom prst="line">
            <a:avLst/>
          </a:prstGeom>
          <a:ln w="63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213E4BD-F969-1CC1-1F16-F6F9DF004265}"/>
              </a:ext>
            </a:extLst>
          </p:cNvPr>
          <p:cNvCxnSpPr>
            <a:cxnSpLocks/>
          </p:cNvCxnSpPr>
          <p:nvPr/>
        </p:nvCxnSpPr>
        <p:spPr>
          <a:xfrm>
            <a:off x="784576" y="3028883"/>
            <a:ext cx="1726306" cy="0"/>
          </a:xfrm>
          <a:prstGeom prst="line">
            <a:avLst/>
          </a:prstGeom>
          <a:ln w="63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844F5C2-A51C-E0DA-6EDA-C6F82B7AFEA7}"/>
              </a:ext>
            </a:extLst>
          </p:cNvPr>
          <p:cNvCxnSpPr>
            <a:cxnSpLocks/>
          </p:cNvCxnSpPr>
          <p:nvPr/>
        </p:nvCxnSpPr>
        <p:spPr>
          <a:xfrm>
            <a:off x="784576" y="2647815"/>
            <a:ext cx="1726306" cy="0"/>
          </a:xfrm>
          <a:prstGeom prst="line">
            <a:avLst/>
          </a:prstGeom>
          <a:ln w="6350" cap="rnd">
            <a:solidFill>
              <a:schemeClr val="bg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: Rounded Corners 18">
            <a:extLst>
              <a:ext uri="{FF2B5EF4-FFF2-40B4-BE49-F238E27FC236}">
                <a16:creationId xmlns:a16="http://schemas.microsoft.com/office/drawing/2014/main" id="{F2BC709A-C6CB-F1E4-BAB9-0D1FCFA24BEC}"/>
              </a:ext>
            </a:extLst>
          </p:cNvPr>
          <p:cNvSpPr>
            <a:spLocks/>
          </p:cNvSpPr>
          <p:nvPr/>
        </p:nvSpPr>
        <p:spPr bwMode="auto">
          <a:xfrm>
            <a:off x="2737419" y="2364948"/>
            <a:ext cx="8764209" cy="18466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What is the problem to be solved? What are the underlying root causes? How does the current process work?</a:t>
            </a:r>
          </a:p>
        </p:txBody>
      </p:sp>
      <p:sp>
        <p:nvSpPr>
          <p:cNvPr id="94" name="Rectangle: Rounded Corners 18">
            <a:extLst>
              <a:ext uri="{FF2B5EF4-FFF2-40B4-BE49-F238E27FC236}">
                <a16:creationId xmlns:a16="http://schemas.microsoft.com/office/drawing/2014/main" id="{B2BE649C-901B-F959-D9A4-44320BA376FE}"/>
              </a:ext>
            </a:extLst>
          </p:cNvPr>
          <p:cNvSpPr>
            <a:spLocks/>
          </p:cNvSpPr>
          <p:nvPr/>
        </p:nvSpPr>
        <p:spPr bwMode="auto">
          <a:xfrm>
            <a:off x="2737419" y="2746016"/>
            <a:ext cx="8764209" cy="18466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What is your idea to capture the opportunity or solve the problem? Why do you believe this is a good approach?</a:t>
            </a:r>
          </a:p>
        </p:txBody>
      </p:sp>
      <p:sp>
        <p:nvSpPr>
          <p:cNvPr id="95" name="Rectangle: Rounded Corners 18">
            <a:extLst>
              <a:ext uri="{FF2B5EF4-FFF2-40B4-BE49-F238E27FC236}">
                <a16:creationId xmlns:a16="http://schemas.microsoft.com/office/drawing/2014/main" id="{80CB3821-71F7-7001-B17C-402EF5579428}"/>
              </a:ext>
            </a:extLst>
          </p:cNvPr>
          <p:cNvSpPr>
            <a:spLocks/>
          </p:cNvSpPr>
          <p:nvPr/>
        </p:nvSpPr>
        <p:spPr bwMode="auto">
          <a:xfrm>
            <a:off x="2737419" y="3127084"/>
            <a:ext cx="8764209" cy="18466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What business objective is being enabled by this use case?</a:t>
            </a:r>
          </a:p>
        </p:txBody>
      </p:sp>
      <p:sp>
        <p:nvSpPr>
          <p:cNvPr id="96" name="Rectangle: Rounded Corners 18">
            <a:extLst>
              <a:ext uri="{FF2B5EF4-FFF2-40B4-BE49-F238E27FC236}">
                <a16:creationId xmlns:a16="http://schemas.microsoft.com/office/drawing/2014/main" id="{69928520-6BA3-128E-FAFB-6A5A47D4E9A8}"/>
              </a:ext>
            </a:extLst>
          </p:cNvPr>
          <p:cNvSpPr>
            <a:spLocks/>
          </p:cNvSpPr>
          <p:nvPr/>
        </p:nvSpPr>
        <p:spPr bwMode="auto">
          <a:xfrm>
            <a:off x="2737419" y="3508152"/>
            <a:ext cx="8764209" cy="18466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How will success be measured? What are the measurable key results that show progress?</a:t>
            </a:r>
          </a:p>
        </p:txBody>
      </p:sp>
      <p:sp>
        <p:nvSpPr>
          <p:cNvPr id="97" name="Rectangle: Rounded Corners 18">
            <a:extLst>
              <a:ext uri="{FF2B5EF4-FFF2-40B4-BE49-F238E27FC236}">
                <a16:creationId xmlns:a16="http://schemas.microsoft.com/office/drawing/2014/main" id="{321499D8-A39B-0F1B-FE89-3293EF7DD16E}"/>
              </a:ext>
            </a:extLst>
          </p:cNvPr>
          <p:cNvSpPr>
            <a:spLocks/>
          </p:cNvSpPr>
          <p:nvPr/>
        </p:nvSpPr>
        <p:spPr bwMode="auto">
          <a:xfrm>
            <a:off x="2737419" y="3889220"/>
            <a:ext cx="8764209" cy="184666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Who is accountable for the OKRs? Who needs to be aligned to the solution and can be a sponsor for the ACM process?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5DD8EF2-2E5F-4AA1-DBA8-7AAA5AF78D9F}"/>
              </a:ext>
            </a:extLst>
          </p:cNvPr>
          <p:cNvCxnSpPr>
            <a:cxnSpLocks/>
          </p:cNvCxnSpPr>
          <p:nvPr/>
        </p:nvCxnSpPr>
        <p:spPr>
          <a:xfrm>
            <a:off x="2737419" y="3791019"/>
            <a:ext cx="8764209" cy="0"/>
          </a:xfrm>
          <a:prstGeom prst="line">
            <a:avLst/>
          </a:prstGeom>
          <a:ln w="6350" cap="rnd">
            <a:solidFill>
              <a:schemeClr val="bg1">
                <a:lumMod val="8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21774606-AFE2-CC94-A544-43AB211A81F0}"/>
              </a:ext>
            </a:extLst>
          </p:cNvPr>
          <p:cNvCxnSpPr>
            <a:cxnSpLocks/>
          </p:cNvCxnSpPr>
          <p:nvPr/>
        </p:nvCxnSpPr>
        <p:spPr>
          <a:xfrm>
            <a:off x="2737419" y="3409951"/>
            <a:ext cx="8764209" cy="0"/>
          </a:xfrm>
          <a:prstGeom prst="line">
            <a:avLst/>
          </a:prstGeom>
          <a:ln w="6350" cap="rnd">
            <a:solidFill>
              <a:schemeClr val="bg1">
                <a:lumMod val="8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47E4A7B-459E-A518-95B7-C83DF1DBE39A}"/>
              </a:ext>
            </a:extLst>
          </p:cNvPr>
          <p:cNvCxnSpPr>
            <a:cxnSpLocks/>
          </p:cNvCxnSpPr>
          <p:nvPr/>
        </p:nvCxnSpPr>
        <p:spPr>
          <a:xfrm>
            <a:off x="2737419" y="3028883"/>
            <a:ext cx="8764209" cy="0"/>
          </a:xfrm>
          <a:prstGeom prst="line">
            <a:avLst/>
          </a:prstGeom>
          <a:ln w="6350" cap="rnd">
            <a:solidFill>
              <a:schemeClr val="bg1">
                <a:lumMod val="8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9EB7C1D5-E186-194A-632B-B9AC23CA1486}"/>
              </a:ext>
            </a:extLst>
          </p:cNvPr>
          <p:cNvCxnSpPr>
            <a:cxnSpLocks/>
          </p:cNvCxnSpPr>
          <p:nvPr/>
        </p:nvCxnSpPr>
        <p:spPr>
          <a:xfrm>
            <a:off x="2737419" y="2647815"/>
            <a:ext cx="8764209" cy="0"/>
          </a:xfrm>
          <a:prstGeom prst="line">
            <a:avLst/>
          </a:prstGeom>
          <a:ln w="6350" cap="rnd">
            <a:solidFill>
              <a:schemeClr val="bg1">
                <a:lumMod val="8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9039323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50">
            <a:extLst>
              <a:ext uri="{FF2B5EF4-FFF2-40B4-BE49-F238E27FC236}">
                <a16:creationId xmlns:a16="http://schemas.microsoft.com/office/drawing/2014/main" id="{75458779-6892-482F-2698-580EDC8C4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noProof="0"/>
              <a:t>The BXT framework: Businesses viability </a:t>
            </a:r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C6F0AA4-2D1C-F760-1771-8FAEB5DB5984}"/>
              </a:ext>
            </a:extLst>
          </p:cNvPr>
          <p:cNvSpPr>
            <a:spLocks/>
          </p:cNvSpPr>
          <p:nvPr/>
        </p:nvSpPr>
        <p:spPr bwMode="auto">
          <a:xfrm>
            <a:off x="588962" y="1268020"/>
            <a:ext cx="11017250" cy="5001266"/>
          </a:xfrm>
          <a:prstGeom prst="roundRect">
            <a:avLst>
              <a:gd name="adj" fmla="val 3989"/>
            </a:avLst>
          </a:prstGeom>
          <a:solidFill>
            <a:schemeClr val="bg1">
              <a:alpha val="70000"/>
            </a:schemeClr>
          </a:solidFill>
          <a:ln w="6350">
            <a:gradFill>
              <a:gsLst>
                <a:gs pos="0">
                  <a:schemeClr val="bg1">
                    <a:alpha val="27000"/>
                  </a:schemeClr>
                </a:gs>
                <a:gs pos="100000">
                  <a:schemeClr val="bg1">
                    <a:alpha val="59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65100" dist="25400" dir="2700000" algn="tl" rotWithShape="0">
              <a:schemeClr val="bg2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" rIns="91440" bIns="640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err="1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2B5E92E-422F-8F8B-EA99-6E20E8EF70BB}"/>
              </a:ext>
            </a:extLst>
          </p:cNvPr>
          <p:cNvSpPr>
            <a:spLocks/>
          </p:cNvSpPr>
          <p:nvPr/>
        </p:nvSpPr>
        <p:spPr bwMode="auto">
          <a:xfrm>
            <a:off x="735266" y="1414324"/>
            <a:ext cx="4710113" cy="4724939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3" name="Freeform: Shape 27">
            <a:extLst>
              <a:ext uri="{FF2B5EF4-FFF2-40B4-BE49-F238E27FC236}">
                <a16:creationId xmlns:a16="http://schemas.microsoft.com/office/drawing/2014/main" id="{6EDC114A-E835-9EAD-2C06-18943911925A}"/>
              </a:ext>
            </a:extLst>
          </p:cNvPr>
          <p:cNvSpPr/>
          <p:nvPr/>
        </p:nvSpPr>
        <p:spPr bwMode="auto">
          <a:xfrm>
            <a:off x="987321" y="1744998"/>
            <a:ext cx="4206002" cy="4063592"/>
          </a:xfrm>
          <a:custGeom>
            <a:avLst/>
            <a:gdLst>
              <a:gd name="connsiteX0" fmla="*/ 1628986 w 4905743"/>
              <a:gd name="connsiteY0" fmla="*/ 0 h 4739639"/>
              <a:gd name="connsiteX1" fmla="*/ 2405458 w 4905743"/>
              <a:gd name="connsiteY1" fmla="*/ 196610 h 4739639"/>
              <a:gd name="connsiteX2" fmla="*/ 2452872 w 4905743"/>
              <a:gd name="connsiteY2" fmla="*/ 225415 h 4739639"/>
              <a:gd name="connsiteX3" fmla="*/ 2500286 w 4905743"/>
              <a:gd name="connsiteY3" fmla="*/ 196610 h 4739639"/>
              <a:gd name="connsiteX4" fmla="*/ 3276757 w 4905743"/>
              <a:gd name="connsiteY4" fmla="*/ 0 h 4739639"/>
              <a:gd name="connsiteX5" fmla="*/ 4905743 w 4905743"/>
              <a:gd name="connsiteY5" fmla="*/ 1628986 h 4739639"/>
              <a:gd name="connsiteX6" fmla="*/ 4187539 w 4905743"/>
              <a:gd name="connsiteY6" fmla="*/ 2979767 h 4739639"/>
              <a:gd name="connsiteX7" fmla="*/ 4078590 w 4905743"/>
              <a:gd name="connsiteY7" fmla="*/ 3045955 h 4739639"/>
              <a:gd name="connsiteX8" fmla="*/ 4081857 w 4905743"/>
              <a:gd name="connsiteY8" fmla="*/ 3110653 h 4739639"/>
              <a:gd name="connsiteX9" fmla="*/ 2452871 w 4905743"/>
              <a:gd name="connsiteY9" fmla="*/ 4739639 h 4739639"/>
              <a:gd name="connsiteX10" fmla="*/ 823885 w 4905743"/>
              <a:gd name="connsiteY10" fmla="*/ 3110653 h 4739639"/>
              <a:gd name="connsiteX11" fmla="*/ 827152 w 4905743"/>
              <a:gd name="connsiteY11" fmla="*/ 3045954 h 4739639"/>
              <a:gd name="connsiteX12" fmla="*/ 718205 w 4905743"/>
              <a:gd name="connsiteY12" fmla="*/ 2979767 h 4739639"/>
              <a:gd name="connsiteX13" fmla="*/ 0 w 4905743"/>
              <a:gd name="connsiteY13" fmla="*/ 1628986 h 4739639"/>
              <a:gd name="connsiteX14" fmla="*/ 1628986 w 4905743"/>
              <a:gd name="connsiteY14" fmla="*/ 0 h 4739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905743" h="4739639">
                <a:moveTo>
                  <a:pt x="1628986" y="0"/>
                </a:moveTo>
                <a:cubicBezTo>
                  <a:pt x="1910131" y="0"/>
                  <a:pt x="2174641" y="71223"/>
                  <a:pt x="2405458" y="196610"/>
                </a:cubicBezTo>
                <a:lnTo>
                  <a:pt x="2452872" y="225415"/>
                </a:lnTo>
                <a:lnTo>
                  <a:pt x="2500286" y="196610"/>
                </a:lnTo>
                <a:cubicBezTo>
                  <a:pt x="2731102" y="71223"/>
                  <a:pt x="2995612" y="0"/>
                  <a:pt x="3276757" y="0"/>
                </a:cubicBezTo>
                <a:cubicBezTo>
                  <a:pt x="4176421" y="0"/>
                  <a:pt x="4905743" y="729322"/>
                  <a:pt x="4905743" y="1628986"/>
                </a:cubicBezTo>
                <a:cubicBezTo>
                  <a:pt x="4905743" y="2191276"/>
                  <a:pt x="4620852" y="2687026"/>
                  <a:pt x="4187539" y="2979767"/>
                </a:cubicBezTo>
                <a:lnTo>
                  <a:pt x="4078590" y="3045955"/>
                </a:lnTo>
                <a:lnTo>
                  <a:pt x="4081857" y="3110653"/>
                </a:lnTo>
                <a:cubicBezTo>
                  <a:pt x="4081857" y="4010317"/>
                  <a:pt x="3352535" y="4739639"/>
                  <a:pt x="2452871" y="4739639"/>
                </a:cubicBezTo>
                <a:cubicBezTo>
                  <a:pt x="1553207" y="4739639"/>
                  <a:pt x="823885" y="4010317"/>
                  <a:pt x="823885" y="3110653"/>
                </a:cubicBezTo>
                <a:lnTo>
                  <a:pt x="827152" y="3045954"/>
                </a:lnTo>
                <a:lnTo>
                  <a:pt x="718205" y="2979767"/>
                </a:lnTo>
                <a:cubicBezTo>
                  <a:pt x="284892" y="2687026"/>
                  <a:pt x="0" y="2191276"/>
                  <a:pt x="0" y="1628986"/>
                </a:cubicBezTo>
                <a:cubicBezTo>
                  <a:pt x="0" y="729322"/>
                  <a:pt x="729322" y="0"/>
                  <a:pt x="1628986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84200" dist="38100" dir="3960000" sx="102000" sy="102000" algn="tl" rotWithShape="0">
              <a:prstClr val="black">
                <a:alpha val="10000"/>
              </a:prstClr>
            </a:outerShdw>
          </a:effectLst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B95320F-8F59-7D64-870A-06F4BFDF328B}"/>
              </a:ext>
            </a:extLst>
          </p:cNvPr>
          <p:cNvSpPr/>
          <p:nvPr/>
        </p:nvSpPr>
        <p:spPr bwMode="auto">
          <a:xfrm>
            <a:off x="2526365" y="1871304"/>
            <a:ext cx="2540652" cy="2540653"/>
          </a:xfrm>
          <a:prstGeom prst="ellipse">
            <a:avLst/>
          </a:prstGeom>
          <a:solidFill>
            <a:schemeClr val="bg2">
              <a:alpha val="0"/>
            </a:schemeClr>
          </a:solidFill>
          <a:ln>
            <a:solidFill>
              <a:schemeClr val="bg1">
                <a:lumMod val="85000"/>
                <a:alpha val="13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012B0EC-C122-5202-E1E5-8E4ED2BB1DAD}"/>
              </a:ext>
            </a:extLst>
          </p:cNvPr>
          <p:cNvSpPr txBox="1"/>
          <p:nvPr/>
        </p:nvSpPr>
        <p:spPr>
          <a:xfrm>
            <a:off x="2711854" y="3336745"/>
            <a:ext cx="7905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Product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success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7D3F2C-B79B-D435-9E71-1D6A7C4A34E3}"/>
              </a:ext>
            </a:extLst>
          </p:cNvPr>
          <p:cNvSpPr txBox="1"/>
          <p:nvPr/>
        </p:nvSpPr>
        <p:spPr>
          <a:xfrm>
            <a:off x="5445378" y="5627063"/>
            <a:ext cx="5694110" cy="36929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What other viability questions come to mind?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4596225-BF97-8D67-7088-45ADFE03F722}"/>
              </a:ext>
            </a:extLst>
          </p:cNvPr>
          <p:cNvSpPr/>
          <p:nvPr/>
        </p:nvSpPr>
        <p:spPr bwMode="auto">
          <a:xfrm>
            <a:off x="10890709" y="5567576"/>
            <a:ext cx="488264" cy="48826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76200" dir="3600000" sx="90000" sy="90000" algn="tr" rotWithShape="0">
              <a:schemeClr val="bg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DB3ED5A-7915-66B3-032A-FBEC290199AF}"/>
              </a:ext>
            </a:extLst>
          </p:cNvPr>
          <p:cNvSpPr/>
          <p:nvPr/>
        </p:nvSpPr>
        <p:spPr bwMode="auto">
          <a:xfrm>
            <a:off x="5591683" y="1414324"/>
            <a:ext cx="5868223" cy="4010343"/>
          </a:xfrm>
          <a:prstGeom prst="roundRect">
            <a:avLst>
              <a:gd name="adj" fmla="val 2900"/>
            </a:avLst>
          </a:prstGeom>
          <a:solidFill>
            <a:schemeClr val="bg2">
              <a:lumMod val="90000"/>
              <a:alpha val="3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>
              <a:solidFill>
                <a:schemeClr val="tx1"/>
              </a:solidFill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43CC410-B433-8CFD-4A92-A01AF6BD8CD8}"/>
              </a:ext>
            </a:extLst>
          </p:cNvPr>
          <p:cNvGraphicFramePr>
            <a:graphicFrameLocks noGrp="1"/>
          </p:cNvGraphicFramePr>
          <p:nvPr/>
        </p:nvGraphicFramePr>
        <p:xfrm>
          <a:off x="5683123" y="1505764"/>
          <a:ext cx="5685342" cy="174079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47557">
                  <a:extLst>
                    <a:ext uri="{9D8B030D-6E8A-4147-A177-3AD203B41FA5}">
                      <a16:colId xmlns:a16="http://schemas.microsoft.com/office/drawing/2014/main" val="3550081164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4201578885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1867402025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3572655341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3137342565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3934252459"/>
                    </a:ext>
                  </a:extLst>
                </a:gridCol>
              </a:tblGrid>
              <a:tr h="272624"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endParaRPr lang="en-US" sz="1200" b="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824107"/>
                  </a:ext>
                </a:extLst>
              </a:tr>
              <a:tr h="1466475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j-lt"/>
                        </a:rPr>
                        <a:t>Business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Concept is </a:t>
                      </a:r>
                      <a:r>
                        <a:rPr lang="en-US" sz="1000" b="0" i="1">
                          <a:solidFill>
                            <a:schemeClr val="tx1"/>
                          </a:solidFill>
                          <a:latin typeface="+mj-lt"/>
                        </a:rPr>
                        <a:t>extremely unlikely 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to be financially viable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Concept is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unlikely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 to be financially viable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Concept is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somewhat likely 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to be financially viable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Concept is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likely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 to be financially viable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Concept is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extremely likely 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to financially viable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1950"/>
                  </a:ext>
                </a:extLst>
              </a:tr>
            </a:tbl>
          </a:graphicData>
        </a:graphic>
      </p:graphicFrame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BDD28A98-E64F-54EF-72F5-D04966B1174F}"/>
              </a:ext>
            </a:extLst>
          </p:cNvPr>
          <p:cNvSpPr>
            <a:spLocks/>
          </p:cNvSpPr>
          <p:nvPr/>
        </p:nvSpPr>
        <p:spPr bwMode="auto">
          <a:xfrm>
            <a:off x="5683123" y="3376183"/>
            <a:ext cx="5685342" cy="27795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n-US" sz="1200">
                <a:latin typeface="+mj-lt"/>
              </a:rPr>
              <a:t>Questions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EA391957-36FD-E22E-0CC1-4D20762F2136}"/>
              </a:ext>
            </a:extLst>
          </p:cNvPr>
          <p:cNvSpPr txBox="1">
            <a:spLocks/>
          </p:cNvSpPr>
          <p:nvPr/>
        </p:nvSpPr>
        <p:spPr>
          <a:xfrm>
            <a:off x="5767668" y="3739472"/>
            <a:ext cx="5580380" cy="11182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Is it viable? </a:t>
            </a:r>
          </a:p>
          <a:p>
            <a:pPr marL="209550" indent="-152400">
              <a:spcBef>
                <a:spcPts val="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</a:rPr>
              <a:t>Is there a clear and quantifiable revenue?</a:t>
            </a:r>
          </a:p>
          <a:p>
            <a:pPr marL="209550" indent="-152400">
              <a:spcBef>
                <a:spcPts val="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</a:rPr>
              <a:t>What changes are expected in efficiency?</a:t>
            </a:r>
          </a:p>
          <a:p>
            <a:pPr marL="209550" indent="-152400">
              <a:spcBef>
                <a:spcPts val="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</a:rPr>
              <a:t>Will implementation result in cost reductions?</a:t>
            </a:r>
          </a:p>
          <a:p>
            <a:pPr marL="209550" indent="-152400">
              <a:spcBef>
                <a:spcPts val="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</a:rPr>
              <a:t>Does it create a durable competitive advantage?</a:t>
            </a:r>
          </a:p>
          <a:p>
            <a:pPr marL="209550" indent="-152400">
              <a:spcBef>
                <a:spcPts val="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</a:rPr>
              <a:t>What is the predicted time to value?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2B207B5-77F2-8CFD-6F82-B12228B95CFA}"/>
              </a:ext>
            </a:extLst>
          </p:cNvPr>
          <p:cNvSpPr/>
          <p:nvPr/>
        </p:nvSpPr>
        <p:spPr bwMode="auto">
          <a:xfrm>
            <a:off x="1819995" y="3141631"/>
            <a:ext cx="2540652" cy="2540653"/>
          </a:xfrm>
          <a:prstGeom prst="ellipse">
            <a:avLst/>
          </a:prstGeom>
          <a:solidFill>
            <a:schemeClr val="bg2">
              <a:alpha val="0"/>
            </a:schemeClr>
          </a:solidFill>
          <a:ln>
            <a:solidFill>
              <a:schemeClr val="bg1">
                <a:lumMod val="85000"/>
                <a:alpha val="13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C159AE-6D79-F973-D894-CF34ACD61B1A}"/>
              </a:ext>
            </a:extLst>
          </p:cNvPr>
          <p:cNvSpPr txBox="1"/>
          <p:nvPr/>
        </p:nvSpPr>
        <p:spPr>
          <a:xfrm>
            <a:off x="2552258" y="4920507"/>
            <a:ext cx="107612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Technology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(feasibility)</a:t>
            </a:r>
          </a:p>
        </p:txBody>
      </p:sp>
      <p:sp>
        <p:nvSpPr>
          <p:cNvPr id="50" name="Graphic 5" descr="Icon of a circuit brain">
            <a:extLst>
              <a:ext uri="{FF2B5EF4-FFF2-40B4-BE49-F238E27FC236}">
                <a16:creationId xmlns:a16="http://schemas.microsoft.com/office/drawing/2014/main" id="{20AC18AC-5077-0674-597C-DFDD3BB7499D}"/>
              </a:ext>
            </a:extLst>
          </p:cNvPr>
          <p:cNvSpPr>
            <a:spLocks noChangeAspect="1"/>
          </p:cNvSpPr>
          <p:nvPr/>
        </p:nvSpPr>
        <p:spPr>
          <a:xfrm>
            <a:off x="2957630" y="4493601"/>
            <a:ext cx="265385" cy="265430"/>
          </a:xfrm>
          <a:custGeom>
            <a:avLst/>
            <a:gdLst>
              <a:gd name="connsiteX0" fmla="*/ 102548 w 398857"/>
              <a:gd name="connsiteY0" fmla="*/ 20069 h 398925"/>
              <a:gd name="connsiteX1" fmla="*/ 162432 w 398857"/>
              <a:gd name="connsiteY1" fmla="*/ 0 h 398925"/>
              <a:gd name="connsiteX2" fmla="*/ 193696 w 398857"/>
              <a:gd name="connsiteY2" fmla="*/ 11472 h 398925"/>
              <a:gd name="connsiteX3" fmla="*/ 199429 w 398857"/>
              <a:gd name="connsiteY3" fmla="*/ 17549 h 398925"/>
              <a:gd name="connsiteX4" fmla="*/ 205162 w 398857"/>
              <a:gd name="connsiteY4" fmla="*/ 11472 h 398925"/>
              <a:gd name="connsiteX5" fmla="*/ 236423 w 398857"/>
              <a:gd name="connsiteY5" fmla="*/ 0 h 398925"/>
              <a:gd name="connsiteX6" fmla="*/ 296309 w 398857"/>
              <a:gd name="connsiteY6" fmla="*/ 20069 h 398925"/>
              <a:gd name="connsiteX7" fmla="*/ 323308 w 398857"/>
              <a:gd name="connsiteY7" fmla="*/ 60736 h 398925"/>
              <a:gd name="connsiteX8" fmla="*/ 345168 w 398857"/>
              <a:gd name="connsiteY8" fmla="*/ 72050 h 398925"/>
              <a:gd name="connsiteX9" fmla="*/ 365882 w 398857"/>
              <a:gd name="connsiteY9" fmla="*/ 107447 h 398925"/>
              <a:gd name="connsiteX10" fmla="*/ 371769 w 398857"/>
              <a:gd name="connsiteY10" fmla="*/ 150975 h 398925"/>
              <a:gd name="connsiteX11" fmla="*/ 368227 w 398857"/>
              <a:gd name="connsiteY11" fmla="*/ 173458 h 398925"/>
              <a:gd name="connsiteX12" fmla="*/ 369538 w 398857"/>
              <a:gd name="connsiteY12" fmla="*/ 174049 h 398925"/>
              <a:gd name="connsiteX13" fmla="*/ 387388 w 398857"/>
              <a:gd name="connsiteY13" fmla="*/ 190225 h 398925"/>
              <a:gd name="connsiteX14" fmla="*/ 398857 w 398857"/>
              <a:gd name="connsiteY14" fmla="*/ 248661 h 398925"/>
              <a:gd name="connsiteX15" fmla="*/ 373667 w 398857"/>
              <a:gd name="connsiteY15" fmla="*/ 309219 h 398925"/>
              <a:gd name="connsiteX16" fmla="*/ 348331 w 398857"/>
              <a:gd name="connsiteY16" fmla="*/ 322981 h 398925"/>
              <a:gd name="connsiteX17" fmla="*/ 327993 w 398857"/>
              <a:gd name="connsiteY17" fmla="*/ 365629 h 398925"/>
              <a:gd name="connsiteX18" fmla="*/ 261001 w 398857"/>
              <a:gd name="connsiteY18" fmla="*/ 398925 h 398925"/>
              <a:gd name="connsiteX19" fmla="*/ 205623 w 398857"/>
              <a:gd name="connsiteY19" fmla="*/ 372763 h 398925"/>
              <a:gd name="connsiteX20" fmla="*/ 199429 w 398857"/>
              <a:gd name="connsiteY20" fmla="*/ 365663 h 398925"/>
              <a:gd name="connsiteX21" fmla="*/ 193233 w 398857"/>
              <a:gd name="connsiteY21" fmla="*/ 372763 h 398925"/>
              <a:gd name="connsiteX22" fmla="*/ 137855 w 398857"/>
              <a:gd name="connsiteY22" fmla="*/ 398925 h 398925"/>
              <a:gd name="connsiteX23" fmla="*/ 70864 w 398857"/>
              <a:gd name="connsiteY23" fmla="*/ 365629 h 398925"/>
              <a:gd name="connsiteX24" fmla="*/ 50527 w 398857"/>
              <a:gd name="connsiteY24" fmla="*/ 322981 h 398925"/>
              <a:gd name="connsiteX25" fmla="*/ 25191 w 398857"/>
              <a:gd name="connsiteY25" fmla="*/ 309219 h 398925"/>
              <a:gd name="connsiteX26" fmla="*/ 0 w 398857"/>
              <a:gd name="connsiteY26" fmla="*/ 248661 h 398925"/>
              <a:gd name="connsiteX27" fmla="*/ 11468 w 398857"/>
              <a:gd name="connsiteY27" fmla="*/ 190225 h 398925"/>
              <a:gd name="connsiteX28" fmla="*/ 29319 w 398857"/>
              <a:gd name="connsiteY28" fmla="*/ 174049 h 398925"/>
              <a:gd name="connsiteX29" fmla="*/ 30630 w 398857"/>
              <a:gd name="connsiteY29" fmla="*/ 173458 h 398925"/>
              <a:gd name="connsiteX30" fmla="*/ 27089 w 398857"/>
              <a:gd name="connsiteY30" fmla="*/ 150975 h 398925"/>
              <a:gd name="connsiteX31" fmla="*/ 32974 w 398857"/>
              <a:gd name="connsiteY31" fmla="*/ 107447 h 398925"/>
              <a:gd name="connsiteX32" fmla="*/ 53689 w 398857"/>
              <a:gd name="connsiteY32" fmla="*/ 72050 h 398925"/>
              <a:gd name="connsiteX33" fmla="*/ 75549 w 398857"/>
              <a:gd name="connsiteY33" fmla="*/ 60736 h 398925"/>
              <a:gd name="connsiteX34" fmla="*/ 102548 w 398857"/>
              <a:gd name="connsiteY34" fmla="*/ 20069 h 398925"/>
              <a:gd name="connsiteX35" fmla="*/ 120935 w 398857"/>
              <a:gd name="connsiteY35" fmla="*/ 43689 h 398925"/>
              <a:gd name="connsiteX36" fmla="*/ 103667 w 398857"/>
              <a:gd name="connsiteY36" fmla="*/ 76465 h 398925"/>
              <a:gd name="connsiteX37" fmla="*/ 97450 w 398857"/>
              <a:gd name="connsiteY37" fmla="*/ 88608 h 398925"/>
              <a:gd name="connsiteX38" fmla="*/ 83963 w 398857"/>
              <a:gd name="connsiteY38" fmla="*/ 90663 h 398925"/>
              <a:gd name="connsiteX39" fmla="*/ 74172 w 398857"/>
              <a:gd name="connsiteY39" fmla="*/ 93878 h 398925"/>
              <a:gd name="connsiteX40" fmla="*/ 61476 w 398857"/>
              <a:gd name="connsiteY40" fmla="*/ 116596 h 398925"/>
              <a:gd name="connsiteX41" fmla="*/ 56993 w 398857"/>
              <a:gd name="connsiteY41" fmla="*/ 149631 h 398925"/>
              <a:gd name="connsiteX42" fmla="*/ 64290 w 398857"/>
              <a:gd name="connsiteY42" fmla="*/ 176178 h 398925"/>
              <a:gd name="connsiteX43" fmla="*/ 65945 w 398857"/>
              <a:gd name="connsiteY43" fmla="*/ 179487 h 398925"/>
              <a:gd name="connsiteX44" fmla="*/ 87539 w 398857"/>
              <a:gd name="connsiteY44" fmla="*/ 179487 h 398925"/>
              <a:gd name="connsiteX45" fmla="*/ 144265 w 398857"/>
              <a:gd name="connsiteY45" fmla="*/ 232217 h 398925"/>
              <a:gd name="connsiteX46" fmla="*/ 169363 w 398857"/>
              <a:gd name="connsiteY46" fmla="*/ 269289 h 398925"/>
              <a:gd name="connsiteX47" fmla="*/ 129451 w 398857"/>
              <a:gd name="connsiteY47" fmla="*/ 309201 h 398925"/>
              <a:gd name="connsiteX48" fmla="*/ 89539 w 398857"/>
              <a:gd name="connsiteY48" fmla="*/ 269289 h 398925"/>
              <a:gd name="connsiteX49" fmla="*/ 114190 w 398857"/>
              <a:gd name="connsiteY49" fmla="*/ 232398 h 398925"/>
              <a:gd name="connsiteX50" fmla="*/ 87539 w 398857"/>
              <a:gd name="connsiteY50" fmla="*/ 209421 h 398925"/>
              <a:gd name="connsiteX51" fmla="*/ 35654 w 398857"/>
              <a:gd name="connsiteY51" fmla="*/ 209421 h 398925"/>
              <a:gd name="connsiteX52" fmla="*/ 35152 w 398857"/>
              <a:gd name="connsiteY52" fmla="*/ 209413 h 398925"/>
              <a:gd name="connsiteX53" fmla="*/ 29934 w 398857"/>
              <a:gd name="connsiteY53" fmla="*/ 248661 h 398925"/>
              <a:gd name="connsiteX54" fmla="*/ 44682 w 398857"/>
              <a:gd name="connsiteY54" fmla="*/ 286501 h 398925"/>
              <a:gd name="connsiteX55" fmla="*/ 64122 w 398857"/>
              <a:gd name="connsiteY55" fmla="*/ 295192 h 398925"/>
              <a:gd name="connsiteX56" fmla="*/ 79089 w 398857"/>
              <a:gd name="connsiteY56" fmla="*/ 310159 h 398925"/>
              <a:gd name="connsiteX57" fmla="*/ 94247 w 398857"/>
              <a:gd name="connsiteY57" fmla="*/ 346940 h 398925"/>
              <a:gd name="connsiteX58" fmla="*/ 137855 w 398857"/>
              <a:gd name="connsiteY58" fmla="*/ 368991 h 398925"/>
              <a:gd name="connsiteX59" fmla="*/ 171570 w 398857"/>
              <a:gd name="connsiteY59" fmla="*/ 352104 h 398925"/>
              <a:gd name="connsiteX60" fmla="*/ 181916 w 398857"/>
              <a:gd name="connsiteY60" fmla="*/ 338431 h 398925"/>
              <a:gd name="connsiteX61" fmla="*/ 184228 w 398857"/>
              <a:gd name="connsiteY61" fmla="*/ 333785 h 398925"/>
              <a:gd name="connsiteX62" fmla="*/ 184332 w 398857"/>
              <a:gd name="connsiteY62" fmla="*/ 333513 h 398925"/>
              <a:gd name="connsiteX63" fmla="*/ 184332 w 398857"/>
              <a:gd name="connsiteY63" fmla="*/ 284513 h 398925"/>
              <a:gd name="connsiteX64" fmla="*/ 184330 w 398857"/>
              <a:gd name="connsiteY64" fmla="*/ 284256 h 398925"/>
              <a:gd name="connsiteX65" fmla="*/ 184332 w 398857"/>
              <a:gd name="connsiteY65" fmla="*/ 283999 h 398925"/>
              <a:gd name="connsiteX66" fmla="*/ 184332 w 398857"/>
              <a:gd name="connsiteY66" fmla="*/ 144564 h 398925"/>
              <a:gd name="connsiteX67" fmla="*/ 166462 w 398857"/>
              <a:gd name="connsiteY67" fmla="*/ 144564 h 398925"/>
              <a:gd name="connsiteX68" fmla="*/ 129451 w 398857"/>
              <a:gd name="connsiteY68" fmla="*/ 169509 h 398925"/>
              <a:gd name="connsiteX69" fmla="*/ 89539 w 398857"/>
              <a:gd name="connsiteY69" fmla="*/ 129597 h 398925"/>
              <a:gd name="connsiteX70" fmla="*/ 129451 w 398857"/>
              <a:gd name="connsiteY70" fmla="*/ 89685 h 398925"/>
              <a:gd name="connsiteX71" fmla="*/ 166462 w 398857"/>
              <a:gd name="connsiteY71" fmla="*/ 114630 h 398925"/>
              <a:gd name="connsiteX72" fmla="*/ 184332 w 398857"/>
              <a:gd name="connsiteY72" fmla="*/ 114630 h 398925"/>
              <a:gd name="connsiteX73" fmla="*/ 184332 w 398857"/>
              <a:gd name="connsiteY73" fmla="*/ 64213 h 398925"/>
              <a:gd name="connsiteX74" fmla="*/ 184328 w 398857"/>
              <a:gd name="connsiteY74" fmla="*/ 63987 h 398925"/>
              <a:gd name="connsiteX75" fmla="*/ 184282 w 398857"/>
              <a:gd name="connsiteY75" fmla="*/ 62852 h 398925"/>
              <a:gd name="connsiteX76" fmla="*/ 183871 w 398857"/>
              <a:gd name="connsiteY76" fmla="*/ 58333 h 398925"/>
              <a:gd name="connsiteX77" fmla="*/ 180676 w 398857"/>
              <a:gd name="connsiteY77" fmla="*/ 44818 h 398925"/>
              <a:gd name="connsiteX78" fmla="*/ 173797 w 398857"/>
              <a:gd name="connsiteY78" fmla="*/ 33836 h 398925"/>
              <a:gd name="connsiteX79" fmla="*/ 162432 w 398857"/>
              <a:gd name="connsiteY79" fmla="*/ 29934 h 398925"/>
              <a:gd name="connsiteX80" fmla="*/ 120935 w 398857"/>
              <a:gd name="connsiteY80" fmla="*/ 43689 h 398925"/>
              <a:gd name="connsiteX81" fmla="*/ 214526 w 398857"/>
              <a:gd name="connsiteY81" fmla="*/ 299223 h 398925"/>
              <a:gd name="connsiteX82" fmla="*/ 214526 w 398857"/>
              <a:gd name="connsiteY82" fmla="*/ 333513 h 398925"/>
              <a:gd name="connsiteX83" fmla="*/ 214627 w 398857"/>
              <a:gd name="connsiteY83" fmla="*/ 333785 h 398925"/>
              <a:gd name="connsiteX84" fmla="*/ 216940 w 398857"/>
              <a:gd name="connsiteY84" fmla="*/ 338431 h 398925"/>
              <a:gd name="connsiteX85" fmla="*/ 227285 w 398857"/>
              <a:gd name="connsiteY85" fmla="*/ 352104 h 398925"/>
              <a:gd name="connsiteX86" fmla="*/ 261001 w 398857"/>
              <a:gd name="connsiteY86" fmla="*/ 368991 h 398925"/>
              <a:gd name="connsiteX87" fmla="*/ 304611 w 398857"/>
              <a:gd name="connsiteY87" fmla="*/ 346940 h 398925"/>
              <a:gd name="connsiteX88" fmla="*/ 319768 w 398857"/>
              <a:gd name="connsiteY88" fmla="*/ 310159 h 398925"/>
              <a:gd name="connsiteX89" fmla="*/ 334735 w 398857"/>
              <a:gd name="connsiteY89" fmla="*/ 295192 h 398925"/>
              <a:gd name="connsiteX90" fmla="*/ 354176 w 398857"/>
              <a:gd name="connsiteY90" fmla="*/ 286501 h 398925"/>
              <a:gd name="connsiteX91" fmla="*/ 368923 w 398857"/>
              <a:gd name="connsiteY91" fmla="*/ 248661 h 398925"/>
              <a:gd name="connsiteX92" fmla="*/ 361959 w 398857"/>
              <a:gd name="connsiteY92" fmla="*/ 206015 h 398925"/>
              <a:gd name="connsiteX93" fmla="*/ 356768 w 398857"/>
              <a:gd name="connsiteY93" fmla="*/ 201123 h 398925"/>
              <a:gd name="connsiteX94" fmla="*/ 347023 w 398857"/>
              <a:gd name="connsiteY94" fmla="*/ 199443 h 398925"/>
              <a:gd name="connsiteX95" fmla="*/ 333829 w 398857"/>
              <a:gd name="connsiteY95" fmla="*/ 191540 h 398925"/>
              <a:gd name="connsiteX96" fmla="*/ 334567 w 398857"/>
              <a:gd name="connsiteY96" fmla="*/ 176178 h 398925"/>
              <a:gd name="connsiteX97" fmla="*/ 341865 w 398857"/>
              <a:gd name="connsiteY97" fmla="*/ 149631 h 398925"/>
              <a:gd name="connsiteX98" fmla="*/ 337381 w 398857"/>
              <a:gd name="connsiteY98" fmla="*/ 116596 h 398925"/>
              <a:gd name="connsiteX99" fmla="*/ 324685 w 398857"/>
              <a:gd name="connsiteY99" fmla="*/ 93878 h 398925"/>
              <a:gd name="connsiteX100" fmla="*/ 314894 w 398857"/>
              <a:gd name="connsiteY100" fmla="*/ 90663 h 398925"/>
              <a:gd name="connsiteX101" fmla="*/ 301408 w 398857"/>
              <a:gd name="connsiteY101" fmla="*/ 88608 h 398925"/>
              <a:gd name="connsiteX102" fmla="*/ 295190 w 398857"/>
              <a:gd name="connsiteY102" fmla="*/ 76465 h 398925"/>
              <a:gd name="connsiteX103" fmla="*/ 277922 w 398857"/>
              <a:gd name="connsiteY103" fmla="*/ 43689 h 398925"/>
              <a:gd name="connsiteX104" fmla="*/ 236423 w 398857"/>
              <a:gd name="connsiteY104" fmla="*/ 29934 h 398925"/>
              <a:gd name="connsiteX105" fmla="*/ 225058 w 398857"/>
              <a:gd name="connsiteY105" fmla="*/ 33836 h 398925"/>
              <a:gd name="connsiteX106" fmla="*/ 218182 w 398857"/>
              <a:gd name="connsiteY106" fmla="*/ 44818 h 398925"/>
              <a:gd name="connsiteX107" fmla="*/ 214985 w 398857"/>
              <a:gd name="connsiteY107" fmla="*/ 58333 h 398925"/>
              <a:gd name="connsiteX108" fmla="*/ 214576 w 398857"/>
              <a:gd name="connsiteY108" fmla="*/ 62852 h 398925"/>
              <a:gd name="connsiteX109" fmla="*/ 214530 w 398857"/>
              <a:gd name="connsiteY109" fmla="*/ 63987 h 398925"/>
              <a:gd name="connsiteX110" fmla="*/ 214526 w 398857"/>
              <a:gd name="connsiteY110" fmla="*/ 64213 h 398925"/>
              <a:gd name="connsiteX111" fmla="*/ 214526 w 398857"/>
              <a:gd name="connsiteY111" fmla="*/ 269289 h 398925"/>
              <a:gd name="connsiteX112" fmla="*/ 227236 w 398857"/>
              <a:gd name="connsiteY112" fmla="*/ 269289 h 398925"/>
              <a:gd name="connsiteX113" fmla="*/ 254176 w 398857"/>
              <a:gd name="connsiteY113" fmla="*/ 242348 h 398925"/>
              <a:gd name="connsiteX114" fmla="*/ 254176 w 398857"/>
              <a:gd name="connsiteY114" fmla="*/ 206519 h 398925"/>
              <a:gd name="connsiteX115" fmla="*/ 229231 w 398857"/>
              <a:gd name="connsiteY115" fmla="*/ 169509 h 398925"/>
              <a:gd name="connsiteX116" fmla="*/ 269143 w 398857"/>
              <a:gd name="connsiteY116" fmla="*/ 129597 h 398925"/>
              <a:gd name="connsiteX117" fmla="*/ 309055 w 398857"/>
              <a:gd name="connsiteY117" fmla="*/ 169509 h 398925"/>
              <a:gd name="connsiteX118" fmla="*/ 284110 w 398857"/>
              <a:gd name="connsiteY118" fmla="*/ 206519 h 398925"/>
              <a:gd name="connsiteX119" fmla="*/ 284110 w 398857"/>
              <a:gd name="connsiteY119" fmla="*/ 242348 h 398925"/>
              <a:gd name="connsiteX120" fmla="*/ 227236 w 398857"/>
              <a:gd name="connsiteY120" fmla="*/ 299223 h 398925"/>
              <a:gd name="connsiteX121" fmla="*/ 214526 w 398857"/>
              <a:gd name="connsiteY121" fmla="*/ 299223 h 398925"/>
              <a:gd name="connsiteX122" fmla="*/ 129451 w 398857"/>
              <a:gd name="connsiteY122" fmla="*/ 119619 h 398925"/>
              <a:gd name="connsiteX123" fmla="*/ 119473 w 398857"/>
              <a:gd name="connsiteY123" fmla="*/ 129597 h 398925"/>
              <a:gd name="connsiteX124" fmla="*/ 129451 w 398857"/>
              <a:gd name="connsiteY124" fmla="*/ 139575 h 398925"/>
              <a:gd name="connsiteX125" fmla="*/ 139429 w 398857"/>
              <a:gd name="connsiteY125" fmla="*/ 129597 h 398925"/>
              <a:gd name="connsiteX126" fmla="*/ 129451 w 398857"/>
              <a:gd name="connsiteY126" fmla="*/ 119619 h 398925"/>
              <a:gd name="connsiteX127" fmla="*/ 119473 w 398857"/>
              <a:gd name="connsiteY127" fmla="*/ 269289 h 398925"/>
              <a:gd name="connsiteX128" fmla="*/ 129451 w 398857"/>
              <a:gd name="connsiteY128" fmla="*/ 279267 h 398925"/>
              <a:gd name="connsiteX129" fmla="*/ 139429 w 398857"/>
              <a:gd name="connsiteY129" fmla="*/ 269289 h 398925"/>
              <a:gd name="connsiteX130" fmla="*/ 129451 w 398857"/>
              <a:gd name="connsiteY130" fmla="*/ 259311 h 398925"/>
              <a:gd name="connsiteX131" fmla="*/ 119473 w 398857"/>
              <a:gd name="connsiteY131" fmla="*/ 269289 h 398925"/>
              <a:gd name="connsiteX132" fmla="*/ 259165 w 398857"/>
              <a:gd name="connsiteY132" fmla="*/ 169509 h 398925"/>
              <a:gd name="connsiteX133" fmla="*/ 269143 w 398857"/>
              <a:gd name="connsiteY133" fmla="*/ 179487 h 398925"/>
              <a:gd name="connsiteX134" fmla="*/ 279121 w 398857"/>
              <a:gd name="connsiteY134" fmla="*/ 169509 h 398925"/>
              <a:gd name="connsiteX135" fmla="*/ 269143 w 398857"/>
              <a:gd name="connsiteY135" fmla="*/ 159531 h 398925"/>
              <a:gd name="connsiteX136" fmla="*/ 259165 w 398857"/>
              <a:gd name="connsiteY136" fmla="*/ 169509 h 398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398857" h="398925">
                <a:moveTo>
                  <a:pt x="102548" y="20069"/>
                </a:moveTo>
                <a:cubicBezTo>
                  <a:pt x="119144" y="7149"/>
                  <a:pt x="140855" y="0"/>
                  <a:pt x="162432" y="0"/>
                </a:cubicBezTo>
                <a:cubicBezTo>
                  <a:pt x="175332" y="0"/>
                  <a:pt x="185781" y="4432"/>
                  <a:pt x="193696" y="11472"/>
                </a:cubicBezTo>
                <a:cubicBezTo>
                  <a:pt x="195835" y="13377"/>
                  <a:pt x="197739" y="15424"/>
                  <a:pt x="199429" y="17549"/>
                </a:cubicBezTo>
                <a:cubicBezTo>
                  <a:pt x="201119" y="15424"/>
                  <a:pt x="203021" y="13377"/>
                  <a:pt x="205162" y="11472"/>
                </a:cubicBezTo>
                <a:cubicBezTo>
                  <a:pt x="213075" y="4432"/>
                  <a:pt x="223524" y="0"/>
                  <a:pt x="236423" y="0"/>
                </a:cubicBezTo>
                <a:cubicBezTo>
                  <a:pt x="258002" y="0"/>
                  <a:pt x="279714" y="7149"/>
                  <a:pt x="296309" y="20069"/>
                </a:cubicBezTo>
                <a:cubicBezTo>
                  <a:pt x="309221" y="30120"/>
                  <a:pt x="319343" y="43976"/>
                  <a:pt x="323308" y="60736"/>
                </a:cubicBezTo>
                <a:cubicBezTo>
                  <a:pt x="331693" y="62123"/>
                  <a:pt x="339143" y="66397"/>
                  <a:pt x="345168" y="72050"/>
                </a:cubicBezTo>
                <a:cubicBezTo>
                  <a:pt x="354762" y="81053"/>
                  <a:pt x="361585" y="94060"/>
                  <a:pt x="365882" y="107447"/>
                </a:cubicBezTo>
                <a:cubicBezTo>
                  <a:pt x="370244" y="121036"/>
                  <a:pt x="372427" y="136312"/>
                  <a:pt x="371769" y="150975"/>
                </a:cubicBezTo>
                <a:cubicBezTo>
                  <a:pt x="371432" y="158482"/>
                  <a:pt x="370332" y="166133"/>
                  <a:pt x="368227" y="173458"/>
                </a:cubicBezTo>
                <a:cubicBezTo>
                  <a:pt x="368666" y="173648"/>
                  <a:pt x="369103" y="173846"/>
                  <a:pt x="369538" y="174049"/>
                </a:cubicBezTo>
                <a:cubicBezTo>
                  <a:pt x="376926" y="177533"/>
                  <a:pt x="382896" y="182987"/>
                  <a:pt x="387388" y="190225"/>
                </a:cubicBezTo>
                <a:cubicBezTo>
                  <a:pt x="395872" y="203889"/>
                  <a:pt x="398857" y="223578"/>
                  <a:pt x="398857" y="248661"/>
                </a:cubicBezTo>
                <a:cubicBezTo>
                  <a:pt x="398857" y="277487"/>
                  <a:pt x="387839" y="297062"/>
                  <a:pt x="373667" y="309219"/>
                </a:cubicBezTo>
                <a:cubicBezTo>
                  <a:pt x="365443" y="316273"/>
                  <a:pt x="356367" y="320646"/>
                  <a:pt x="348331" y="322981"/>
                </a:cubicBezTo>
                <a:cubicBezTo>
                  <a:pt x="345547" y="336802"/>
                  <a:pt x="338584" y="352378"/>
                  <a:pt x="327993" y="365629"/>
                </a:cubicBezTo>
                <a:cubicBezTo>
                  <a:pt x="313569" y="383675"/>
                  <a:pt x="291149" y="398925"/>
                  <a:pt x="261001" y="398925"/>
                </a:cubicBezTo>
                <a:cubicBezTo>
                  <a:pt x="236848" y="398925"/>
                  <a:pt x="217836" y="385569"/>
                  <a:pt x="205623" y="372763"/>
                </a:cubicBezTo>
                <a:cubicBezTo>
                  <a:pt x="203390" y="370420"/>
                  <a:pt x="201321" y="368035"/>
                  <a:pt x="199429" y="365663"/>
                </a:cubicBezTo>
                <a:cubicBezTo>
                  <a:pt x="197535" y="368035"/>
                  <a:pt x="195468" y="370420"/>
                  <a:pt x="193233" y="372763"/>
                </a:cubicBezTo>
                <a:cubicBezTo>
                  <a:pt x="181019" y="385569"/>
                  <a:pt x="162007" y="398925"/>
                  <a:pt x="137855" y="398925"/>
                </a:cubicBezTo>
                <a:cubicBezTo>
                  <a:pt x="107708" y="398925"/>
                  <a:pt x="85288" y="383675"/>
                  <a:pt x="70864" y="365629"/>
                </a:cubicBezTo>
                <a:cubicBezTo>
                  <a:pt x="60273" y="352378"/>
                  <a:pt x="53310" y="336802"/>
                  <a:pt x="50527" y="322981"/>
                </a:cubicBezTo>
                <a:cubicBezTo>
                  <a:pt x="42490" y="320646"/>
                  <a:pt x="33414" y="316273"/>
                  <a:pt x="25191" y="309219"/>
                </a:cubicBezTo>
                <a:cubicBezTo>
                  <a:pt x="11019" y="297062"/>
                  <a:pt x="0" y="277487"/>
                  <a:pt x="0" y="248661"/>
                </a:cubicBezTo>
                <a:cubicBezTo>
                  <a:pt x="0" y="223578"/>
                  <a:pt x="2985" y="203889"/>
                  <a:pt x="11468" y="190225"/>
                </a:cubicBezTo>
                <a:cubicBezTo>
                  <a:pt x="15961" y="182987"/>
                  <a:pt x="21932" y="177533"/>
                  <a:pt x="29319" y="174049"/>
                </a:cubicBezTo>
                <a:cubicBezTo>
                  <a:pt x="29754" y="173846"/>
                  <a:pt x="30191" y="173648"/>
                  <a:pt x="30630" y="173458"/>
                </a:cubicBezTo>
                <a:cubicBezTo>
                  <a:pt x="28525" y="166133"/>
                  <a:pt x="27426" y="158482"/>
                  <a:pt x="27089" y="150975"/>
                </a:cubicBezTo>
                <a:cubicBezTo>
                  <a:pt x="26430" y="136312"/>
                  <a:pt x="28613" y="121036"/>
                  <a:pt x="32974" y="107447"/>
                </a:cubicBezTo>
                <a:cubicBezTo>
                  <a:pt x="37271" y="94060"/>
                  <a:pt x="44094" y="81053"/>
                  <a:pt x="53689" y="72050"/>
                </a:cubicBezTo>
                <a:cubicBezTo>
                  <a:pt x="59713" y="66397"/>
                  <a:pt x="67165" y="62123"/>
                  <a:pt x="75549" y="60736"/>
                </a:cubicBezTo>
                <a:cubicBezTo>
                  <a:pt x="79515" y="43976"/>
                  <a:pt x="89635" y="30120"/>
                  <a:pt x="102548" y="20069"/>
                </a:cubicBezTo>
                <a:close/>
                <a:moveTo>
                  <a:pt x="120935" y="43689"/>
                </a:moveTo>
                <a:cubicBezTo>
                  <a:pt x="110044" y="52168"/>
                  <a:pt x="103667" y="63462"/>
                  <a:pt x="103667" y="76465"/>
                </a:cubicBezTo>
                <a:cubicBezTo>
                  <a:pt x="103667" y="81277"/>
                  <a:pt x="101354" y="85796"/>
                  <a:pt x="97450" y="88608"/>
                </a:cubicBezTo>
                <a:cubicBezTo>
                  <a:pt x="93546" y="91421"/>
                  <a:pt x="88528" y="92186"/>
                  <a:pt x="83963" y="90663"/>
                </a:cubicBezTo>
                <a:cubicBezTo>
                  <a:pt x="81221" y="89748"/>
                  <a:pt x="78335" y="89971"/>
                  <a:pt x="74172" y="93878"/>
                </a:cubicBezTo>
                <a:cubicBezTo>
                  <a:pt x="69557" y="98209"/>
                  <a:pt x="64859" y="106055"/>
                  <a:pt x="61476" y="116596"/>
                </a:cubicBezTo>
                <a:cubicBezTo>
                  <a:pt x="58157" y="126935"/>
                  <a:pt x="56500" y="138661"/>
                  <a:pt x="56993" y="149631"/>
                </a:cubicBezTo>
                <a:cubicBezTo>
                  <a:pt x="57492" y="160738"/>
                  <a:pt x="60133" y="169938"/>
                  <a:pt x="64290" y="176178"/>
                </a:cubicBezTo>
                <a:cubicBezTo>
                  <a:pt x="64986" y="177224"/>
                  <a:pt x="65538" y="178336"/>
                  <a:pt x="65945" y="179487"/>
                </a:cubicBezTo>
                <a:lnTo>
                  <a:pt x="87539" y="179487"/>
                </a:lnTo>
                <a:cubicBezTo>
                  <a:pt x="117556" y="179487"/>
                  <a:pt x="142142" y="202742"/>
                  <a:pt x="144265" y="232217"/>
                </a:cubicBezTo>
                <a:cubicBezTo>
                  <a:pt x="158973" y="238100"/>
                  <a:pt x="169363" y="252480"/>
                  <a:pt x="169363" y="269289"/>
                </a:cubicBezTo>
                <a:cubicBezTo>
                  <a:pt x="169363" y="291332"/>
                  <a:pt x="151494" y="309201"/>
                  <a:pt x="129451" y="309201"/>
                </a:cubicBezTo>
                <a:cubicBezTo>
                  <a:pt x="107408" y="309201"/>
                  <a:pt x="89539" y="291332"/>
                  <a:pt x="89539" y="269289"/>
                </a:cubicBezTo>
                <a:cubicBezTo>
                  <a:pt x="89539" y="252652"/>
                  <a:pt x="99719" y="238391"/>
                  <a:pt x="114190" y="232398"/>
                </a:cubicBezTo>
                <a:cubicBezTo>
                  <a:pt x="112274" y="219399"/>
                  <a:pt x="101072" y="209421"/>
                  <a:pt x="87539" y="209421"/>
                </a:cubicBezTo>
                <a:lnTo>
                  <a:pt x="35654" y="209421"/>
                </a:lnTo>
                <a:cubicBezTo>
                  <a:pt x="35486" y="209421"/>
                  <a:pt x="35319" y="209419"/>
                  <a:pt x="35152" y="209413"/>
                </a:cubicBezTo>
                <a:cubicBezTo>
                  <a:pt x="32174" y="216358"/>
                  <a:pt x="29934" y="228359"/>
                  <a:pt x="29934" y="248661"/>
                </a:cubicBezTo>
                <a:cubicBezTo>
                  <a:pt x="29934" y="269034"/>
                  <a:pt x="37349" y="280209"/>
                  <a:pt x="44682" y="286501"/>
                </a:cubicBezTo>
                <a:cubicBezTo>
                  <a:pt x="52729" y="293404"/>
                  <a:pt x="61563" y="295192"/>
                  <a:pt x="64122" y="295192"/>
                </a:cubicBezTo>
                <a:cubicBezTo>
                  <a:pt x="72388" y="295192"/>
                  <a:pt x="79089" y="301893"/>
                  <a:pt x="79089" y="310159"/>
                </a:cubicBezTo>
                <a:cubicBezTo>
                  <a:pt x="79089" y="318523"/>
                  <a:pt x="83715" y="333763"/>
                  <a:pt x="94247" y="346940"/>
                </a:cubicBezTo>
                <a:cubicBezTo>
                  <a:pt x="104400" y="359642"/>
                  <a:pt x="118847" y="368991"/>
                  <a:pt x="137855" y="368991"/>
                </a:cubicBezTo>
                <a:cubicBezTo>
                  <a:pt x="150569" y="368991"/>
                  <a:pt x="162279" y="361847"/>
                  <a:pt x="171570" y="352104"/>
                </a:cubicBezTo>
                <a:cubicBezTo>
                  <a:pt x="176096" y="347359"/>
                  <a:pt x="179611" y="342430"/>
                  <a:pt x="181916" y="338431"/>
                </a:cubicBezTo>
                <a:cubicBezTo>
                  <a:pt x="183071" y="336427"/>
                  <a:pt x="183817" y="334839"/>
                  <a:pt x="184228" y="333785"/>
                </a:cubicBezTo>
                <a:lnTo>
                  <a:pt x="184332" y="333513"/>
                </a:lnTo>
                <a:lnTo>
                  <a:pt x="184332" y="284513"/>
                </a:lnTo>
                <a:cubicBezTo>
                  <a:pt x="184330" y="284428"/>
                  <a:pt x="184330" y="284342"/>
                  <a:pt x="184330" y="284256"/>
                </a:cubicBezTo>
                <a:cubicBezTo>
                  <a:pt x="184330" y="284170"/>
                  <a:pt x="184330" y="284084"/>
                  <a:pt x="184332" y="283999"/>
                </a:cubicBezTo>
                <a:lnTo>
                  <a:pt x="184332" y="144564"/>
                </a:lnTo>
                <a:lnTo>
                  <a:pt x="166462" y="144564"/>
                </a:lnTo>
                <a:cubicBezTo>
                  <a:pt x="160541" y="159191"/>
                  <a:pt x="146201" y="169509"/>
                  <a:pt x="129451" y="169509"/>
                </a:cubicBezTo>
                <a:cubicBezTo>
                  <a:pt x="107408" y="169509"/>
                  <a:pt x="89539" y="151640"/>
                  <a:pt x="89539" y="129597"/>
                </a:cubicBezTo>
                <a:cubicBezTo>
                  <a:pt x="89539" y="107554"/>
                  <a:pt x="107408" y="89685"/>
                  <a:pt x="129451" y="89685"/>
                </a:cubicBezTo>
                <a:cubicBezTo>
                  <a:pt x="146201" y="89685"/>
                  <a:pt x="160541" y="100003"/>
                  <a:pt x="166462" y="114630"/>
                </a:cubicBezTo>
                <a:lnTo>
                  <a:pt x="184332" y="114630"/>
                </a:lnTo>
                <a:lnTo>
                  <a:pt x="184332" y="64213"/>
                </a:lnTo>
                <a:lnTo>
                  <a:pt x="184328" y="63987"/>
                </a:lnTo>
                <a:cubicBezTo>
                  <a:pt x="184322" y="63759"/>
                  <a:pt x="184310" y="63373"/>
                  <a:pt x="184282" y="62852"/>
                </a:cubicBezTo>
                <a:cubicBezTo>
                  <a:pt x="184226" y="61805"/>
                  <a:pt x="184109" y="60239"/>
                  <a:pt x="183871" y="58333"/>
                </a:cubicBezTo>
                <a:cubicBezTo>
                  <a:pt x="183386" y="54444"/>
                  <a:pt x="182438" y="49524"/>
                  <a:pt x="180676" y="44818"/>
                </a:cubicBezTo>
                <a:cubicBezTo>
                  <a:pt x="178888" y="40049"/>
                  <a:pt x="176563" y="36297"/>
                  <a:pt x="173797" y="33836"/>
                </a:cubicBezTo>
                <a:cubicBezTo>
                  <a:pt x="171343" y="31652"/>
                  <a:pt x="167966" y="29934"/>
                  <a:pt x="162432" y="29934"/>
                </a:cubicBezTo>
                <a:cubicBezTo>
                  <a:pt x="147144" y="29934"/>
                  <a:pt x="131989" y="35085"/>
                  <a:pt x="120935" y="43689"/>
                </a:cubicBezTo>
                <a:close/>
                <a:moveTo>
                  <a:pt x="214526" y="299223"/>
                </a:moveTo>
                <a:lnTo>
                  <a:pt x="214526" y="333513"/>
                </a:lnTo>
                <a:lnTo>
                  <a:pt x="214627" y="333785"/>
                </a:lnTo>
                <a:cubicBezTo>
                  <a:pt x="215040" y="334839"/>
                  <a:pt x="215787" y="336427"/>
                  <a:pt x="216940" y="338431"/>
                </a:cubicBezTo>
                <a:cubicBezTo>
                  <a:pt x="219245" y="342430"/>
                  <a:pt x="222759" y="347359"/>
                  <a:pt x="227285" y="352104"/>
                </a:cubicBezTo>
                <a:cubicBezTo>
                  <a:pt x="236579" y="361847"/>
                  <a:pt x="248289" y="368991"/>
                  <a:pt x="261001" y="368991"/>
                </a:cubicBezTo>
                <a:cubicBezTo>
                  <a:pt x="280009" y="368991"/>
                  <a:pt x="294457" y="359642"/>
                  <a:pt x="304611" y="346940"/>
                </a:cubicBezTo>
                <a:cubicBezTo>
                  <a:pt x="315142" y="333763"/>
                  <a:pt x="319768" y="318523"/>
                  <a:pt x="319768" y="310159"/>
                </a:cubicBezTo>
                <a:cubicBezTo>
                  <a:pt x="319768" y="301893"/>
                  <a:pt x="326469" y="295192"/>
                  <a:pt x="334735" y="295192"/>
                </a:cubicBezTo>
                <a:cubicBezTo>
                  <a:pt x="337295" y="295192"/>
                  <a:pt x="346127" y="293404"/>
                  <a:pt x="354176" y="286501"/>
                </a:cubicBezTo>
                <a:cubicBezTo>
                  <a:pt x="361508" y="280209"/>
                  <a:pt x="368923" y="269034"/>
                  <a:pt x="368923" y="248661"/>
                </a:cubicBezTo>
                <a:cubicBezTo>
                  <a:pt x="368923" y="224546"/>
                  <a:pt x="365762" y="212143"/>
                  <a:pt x="361959" y="206015"/>
                </a:cubicBezTo>
                <a:cubicBezTo>
                  <a:pt x="360306" y="203354"/>
                  <a:pt x="358598" y="201985"/>
                  <a:pt x="356768" y="201123"/>
                </a:cubicBezTo>
                <a:cubicBezTo>
                  <a:pt x="354742" y="200167"/>
                  <a:pt x="351717" y="199443"/>
                  <a:pt x="347023" y="199443"/>
                </a:cubicBezTo>
                <a:cubicBezTo>
                  <a:pt x="341506" y="199443"/>
                  <a:pt x="336435" y="196406"/>
                  <a:pt x="333829" y="191540"/>
                </a:cubicBezTo>
                <a:cubicBezTo>
                  <a:pt x="331224" y="186675"/>
                  <a:pt x="331508" y="180772"/>
                  <a:pt x="334567" y="176178"/>
                </a:cubicBezTo>
                <a:cubicBezTo>
                  <a:pt x="338724" y="169938"/>
                  <a:pt x="341366" y="160738"/>
                  <a:pt x="341865" y="149631"/>
                </a:cubicBezTo>
                <a:cubicBezTo>
                  <a:pt x="342358" y="138661"/>
                  <a:pt x="340699" y="126935"/>
                  <a:pt x="337381" y="116596"/>
                </a:cubicBezTo>
                <a:cubicBezTo>
                  <a:pt x="333998" y="106055"/>
                  <a:pt x="329301" y="98209"/>
                  <a:pt x="324685" y="93878"/>
                </a:cubicBezTo>
                <a:cubicBezTo>
                  <a:pt x="320522" y="89971"/>
                  <a:pt x="317636" y="89748"/>
                  <a:pt x="314894" y="90663"/>
                </a:cubicBezTo>
                <a:cubicBezTo>
                  <a:pt x="310330" y="92186"/>
                  <a:pt x="305311" y="91421"/>
                  <a:pt x="301408" y="88608"/>
                </a:cubicBezTo>
                <a:cubicBezTo>
                  <a:pt x="297503" y="85796"/>
                  <a:pt x="295190" y="81277"/>
                  <a:pt x="295190" y="76465"/>
                </a:cubicBezTo>
                <a:cubicBezTo>
                  <a:pt x="295190" y="63462"/>
                  <a:pt x="288812" y="52168"/>
                  <a:pt x="277922" y="43689"/>
                </a:cubicBezTo>
                <a:cubicBezTo>
                  <a:pt x="266868" y="35085"/>
                  <a:pt x="251714" y="29934"/>
                  <a:pt x="236423" y="29934"/>
                </a:cubicBezTo>
                <a:cubicBezTo>
                  <a:pt x="230892" y="29934"/>
                  <a:pt x="227515" y="31652"/>
                  <a:pt x="225058" y="33836"/>
                </a:cubicBezTo>
                <a:cubicBezTo>
                  <a:pt x="222294" y="36297"/>
                  <a:pt x="219968" y="40049"/>
                  <a:pt x="218182" y="44818"/>
                </a:cubicBezTo>
                <a:cubicBezTo>
                  <a:pt x="216419" y="49524"/>
                  <a:pt x="215472" y="54444"/>
                  <a:pt x="214985" y="58333"/>
                </a:cubicBezTo>
                <a:cubicBezTo>
                  <a:pt x="214747" y="60239"/>
                  <a:pt x="214631" y="61805"/>
                  <a:pt x="214576" y="62852"/>
                </a:cubicBezTo>
                <a:cubicBezTo>
                  <a:pt x="214548" y="63373"/>
                  <a:pt x="214536" y="63759"/>
                  <a:pt x="214530" y="63987"/>
                </a:cubicBezTo>
                <a:lnTo>
                  <a:pt x="214526" y="64213"/>
                </a:lnTo>
                <a:lnTo>
                  <a:pt x="214526" y="269289"/>
                </a:lnTo>
                <a:lnTo>
                  <a:pt x="227236" y="269289"/>
                </a:lnTo>
                <a:cubicBezTo>
                  <a:pt x="242115" y="269289"/>
                  <a:pt x="254176" y="257228"/>
                  <a:pt x="254176" y="242348"/>
                </a:cubicBezTo>
                <a:lnTo>
                  <a:pt x="254176" y="206519"/>
                </a:lnTo>
                <a:cubicBezTo>
                  <a:pt x="239548" y="200599"/>
                  <a:pt x="229231" y="186258"/>
                  <a:pt x="229231" y="169509"/>
                </a:cubicBezTo>
                <a:cubicBezTo>
                  <a:pt x="229231" y="147466"/>
                  <a:pt x="247100" y="129597"/>
                  <a:pt x="269143" y="129597"/>
                </a:cubicBezTo>
                <a:cubicBezTo>
                  <a:pt x="291187" y="129597"/>
                  <a:pt x="309055" y="147466"/>
                  <a:pt x="309055" y="169509"/>
                </a:cubicBezTo>
                <a:cubicBezTo>
                  <a:pt x="309055" y="186258"/>
                  <a:pt x="298736" y="200599"/>
                  <a:pt x="284110" y="206519"/>
                </a:cubicBezTo>
                <a:lnTo>
                  <a:pt x="284110" y="242348"/>
                </a:lnTo>
                <a:cubicBezTo>
                  <a:pt x="284110" y="273759"/>
                  <a:pt x="258646" y="299223"/>
                  <a:pt x="227236" y="299223"/>
                </a:cubicBezTo>
                <a:lnTo>
                  <a:pt x="214526" y="299223"/>
                </a:lnTo>
                <a:close/>
                <a:moveTo>
                  <a:pt x="129451" y="119619"/>
                </a:moveTo>
                <a:cubicBezTo>
                  <a:pt x="123940" y="119619"/>
                  <a:pt x="119473" y="124086"/>
                  <a:pt x="119473" y="129597"/>
                </a:cubicBezTo>
                <a:cubicBezTo>
                  <a:pt x="119473" y="135108"/>
                  <a:pt x="123940" y="139575"/>
                  <a:pt x="129451" y="139575"/>
                </a:cubicBezTo>
                <a:cubicBezTo>
                  <a:pt x="134962" y="139575"/>
                  <a:pt x="139429" y="135108"/>
                  <a:pt x="139429" y="129597"/>
                </a:cubicBezTo>
                <a:cubicBezTo>
                  <a:pt x="139429" y="124086"/>
                  <a:pt x="134962" y="119619"/>
                  <a:pt x="129451" y="119619"/>
                </a:cubicBezTo>
                <a:close/>
                <a:moveTo>
                  <a:pt x="119473" y="269289"/>
                </a:moveTo>
                <a:cubicBezTo>
                  <a:pt x="119473" y="274799"/>
                  <a:pt x="123940" y="279267"/>
                  <a:pt x="129451" y="279267"/>
                </a:cubicBezTo>
                <a:cubicBezTo>
                  <a:pt x="134962" y="279267"/>
                  <a:pt x="139429" y="274799"/>
                  <a:pt x="139429" y="269289"/>
                </a:cubicBezTo>
                <a:cubicBezTo>
                  <a:pt x="139429" y="263779"/>
                  <a:pt x="134962" y="259311"/>
                  <a:pt x="129451" y="259311"/>
                </a:cubicBezTo>
                <a:cubicBezTo>
                  <a:pt x="123940" y="259311"/>
                  <a:pt x="119473" y="263779"/>
                  <a:pt x="119473" y="269289"/>
                </a:cubicBezTo>
                <a:close/>
                <a:moveTo>
                  <a:pt x="259165" y="169509"/>
                </a:moveTo>
                <a:cubicBezTo>
                  <a:pt x="259165" y="175019"/>
                  <a:pt x="263631" y="179487"/>
                  <a:pt x="269143" y="179487"/>
                </a:cubicBezTo>
                <a:cubicBezTo>
                  <a:pt x="274653" y="179487"/>
                  <a:pt x="279121" y="175019"/>
                  <a:pt x="279121" y="169509"/>
                </a:cubicBezTo>
                <a:cubicBezTo>
                  <a:pt x="279121" y="163999"/>
                  <a:pt x="274653" y="159531"/>
                  <a:pt x="269143" y="159531"/>
                </a:cubicBezTo>
                <a:cubicBezTo>
                  <a:pt x="263631" y="159531"/>
                  <a:pt x="259165" y="163999"/>
                  <a:pt x="259165" y="16950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6BF127E-344C-FE13-C460-FCABF9959410}"/>
              </a:ext>
            </a:extLst>
          </p:cNvPr>
          <p:cNvSpPr/>
          <p:nvPr/>
        </p:nvSpPr>
        <p:spPr bwMode="auto">
          <a:xfrm>
            <a:off x="1113627" y="1871304"/>
            <a:ext cx="2540652" cy="2540653"/>
          </a:xfrm>
          <a:prstGeom prst="ellipse">
            <a:avLst/>
          </a:prstGeom>
          <a:solidFill>
            <a:schemeClr val="bg2">
              <a:alpha val="30000"/>
            </a:schemeClr>
          </a:solidFill>
          <a:ln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91D3F6C-47E4-4609-11B5-0F528415C28E}"/>
              </a:ext>
            </a:extLst>
          </p:cNvPr>
          <p:cNvGrpSpPr/>
          <p:nvPr/>
        </p:nvGrpSpPr>
        <p:grpSpPr>
          <a:xfrm>
            <a:off x="1981599" y="2707927"/>
            <a:ext cx="804707" cy="867407"/>
            <a:chOff x="1455245" y="2506129"/>
            <a:chExt cx="804707" cy="86740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4191283-645A-1903-A20C-9D12A4CBC476}"/>
                </a:ext>
              </a:extLst>
            </p:cNvPr>
            <p:cNvSpPr txBox="1"/>
            <p:nvPr/>
          </p:nvSpPr>
          <p:spPr>
            <a:xfrm>
              <a:off x="1455245" y="2942649"/>
              <a:ext cx="804707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Business</a:t>
              </a:r>
              <a:br>
                <a:rPr kumimoji="0" lang="en-US" sz="1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(viability)</a:t>
              </a:r>
            </a:p>
          </p:txBody>
        </p:sp>
        <p:sp>
          <p:nvSpPr>
            <p:cNvPr id="38" name="Graphic 33" descr="Icon of a briefcase">
              <a:extLst>
                <a:ext uri="{FF2B5EF4-FFF2-40B4-BE49-F238E27FC236}">
                  <a16:creationId xmlns:a16="http://schemas.microsoft.com/office/drawing/2014/main" id="{9637B83D-FBB0-BE7A-28F4-38A41F72BE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71072" y="2506129"/>
              <a:ext cx="373056" cy="298350"/>
            </a:xfrm>
            <a:custGeom>
              <a:avLst/>
              <a:gdLst>
                <a:gd name="connsiteX0" fmla="*/ 95250 w 381000"/>
                <a:gd name="connsiteY0" fmla="*/ 42863 h 304704"/>
                <a:gd name="connsiteX1" fmla="*/ 95250 w 381000"/>
                <a:gd name="connsiteY1" fmla="*/ 57112 h 304704"/>
                <a:gd name="connsiteX2" fmla="*/ 42863 w 381000"/>
                <a:gd name="connsiteY2" fmla="*/ 57112 h 304704"/>
                <a:gd name="connsiteX3" fmla="*/ 0 w 381000"/>
                <a:gd name="connsiteY3" fmla="*/ 99974 h 304704"/>
                <a:gd name="connsiteX4" fmla="*/ 0 w 381000"/>
                <a:gd name="connsiteY4" fmla="*/ 261842 h 304704"/>
                <a:gd name="connsiteX5" fmla="*/ 42863 w 381000"/>
                <a:gd name="connsiteY5" fmla="*/ 304705 h 304704"/>
                <a:gd name="connsiteX6" fmla="*/ 338138 w 381000"/>
                <a:gd name="connsiteY6" fmla="*/ 304705 h 304704"/>
                <a:gd name="connsiteX7" fmla="*/ 381000 w 381000"/>
                <a:gd name="connsiteY7" fmla="*/ 261842 h 304704"/>
                <a:gd name="connsiteX8" fmla="*/ 381000 w 381000"/>
                <a:gd name="connsiteY8" fmla="*/ 99974 h 304704"/>
                <a:gd name="connsiteX9" fmla="*/ 338138 w 381000"/>
                <a:gd name="connsiteY9" fmla="*/ 57112 h 304704"/>
                <a:gd name="connsiteX10" fmla="*/ 285750 w 381000"/>
                <a:gd name="connsiteY10" fmla="*/ 57112 h 304704"/>
                <a:gd name="connsiteX11" fmla="*/ 285750 w 381000"/>
                <a:gd name="connsiteY11" fmla="*/ 42863 h 304704"/>
                <a:gd name="connsiteX12" fmla="*/ 242888 w 381000"/>
                <a:gd name="connsiteY12" fmla="*/ 0 h 304704"/>
                <a:gd name="connsiteX13" fmla="*/ 138113 w 381000"/>
                <a:gd name="connsiteY13" fmla="*/ 0 h 304704"/>
                <a:gd name="connsiteX14" fmla="*/ 95250 w 381000"/>
                <a:gd name="connsiteY14" fmla="*/ 42863 h 304704"/>
                <a:gd name="connsiteX15" fmla="*/ 138113 w 381000"/>
                <a:gd name="connsiteY15" fmla="*/ 28575 h 304704"/>
                <a:gd name="connsiteX16" fmla="*/ 242888 w 381000"/>
                <a:gd name="connsiteY16" fmla="*/ 28575 h 304704"/>
                <a:gd name="connsiteX17" fmla="*/ 257175 w 381000"/>
                <a:gd name="connsiteY17" fmla="*/ 42863 h 304704"/>
                <a:gd name="connsiteX18" fmla="*/ 257175 w 381000"/>
                <a:gd name="connsiteY18" fmla="*/ 57112 h 304704"/>
                <a:gd name="connsiteX19" fmla="*/ 123825 w 381000"/>
                <a:gd name="connsiteY19" fmla="*/ 57112 h 304704"/>
                <a:gd name="connsiteX20" fmla="*/ 123825 w 381000"/>
                <a:gd name="connsiteY20" fmla="*/ 42863 h 304704"/>
                <a:gd name="connsiteX21" fmla="*/ 138113 w 381000"/>
                <a:gd name="connsiteY21" fmla="*/ 28575 h 304704"/>
                <a:gd name="connsiteX22" fmla="*/ 95250 w 381000"/>
                <a:gd name="connsiteY22" fmla="*/ 85725 h 304704"/>
                <a:gd name="connsiteX23" fmla="*/ 123825 w 381000"/>
                <a:gd name="connsiteY23" fmla="*/ 85725 h 304704"/>
                <a:gd name="connsiteX24" fmla="*/ 123825 w 381000"/>
                <a:gd name="connsiteY24" fmla="*/ 85687 h 304704"/>
                <a:gd name="connsiteX25" fmla="*/ 257175 w 381000"/>
                <a:gd name="connsiteY25" fmla="*/ 85687 h 304704"/>
                <a:gd name="connsiteX26" fmla="*/ 257175 w 381000"/>
                <a:gd name="connsiteY26" fmla="*/ 85725 h 304704"/>
                <a:gd name="connsiteX27" fmla="*/ 285750 w 381000"/>
                <a:gd name="connsiteY27" fmla="*/ 85725 h 304704"/>
                <a:gd name="connsiteX28" fmla="*/ 285750 w 381000"/>
                <a:gd name="connsiteY28" fmla="*/ 85687 h 304704"/>
                <a:gd name="connsiteX29" fmla="*/ 338138 w 381000"/>
                <a:gd name="connsiteY29" fmla="*/ 85687 h 304704"/>
                <a:gd name="connsiteX30" fmla="*/ 352425 w 381000"/>
                <a:gd name="connsiteY30" fmla="*/ 99974 h 304704"/>
                <a:gd name="connsiteX31" fmla="*/ 352425 w 381000"/>
                <a:gd name="connsiteY31" fmla="*/ 142837 h 304704"/>
                <a:gd name="connsiteX32" fmla="*/ 295275 w 381000"/>
                <a:gd name="connsiteY32" fmla="*/ 142837 h 304704"/>
                <a:gd name="connsiteX33" fmla="*/ 295275 w 381000"/>
                <a:gd name="connsiteY33" fmla="*/ 128549 h 304704"/>
                <a:gd name="connsiteX34" fmla="*/ 280988 w 381000"/>
                <a:gd name="connsiteY34" fmla="*/ 114262 h 304704"/>
                <a:gd name="connsiteX35" fmla="*/ 266700 w 381000"/>
                <a:gd name="connsiteY35" fmla="*/ 128549 h 304704"/>
                <a:gd name="connsiteX36" fmla="*/ 266700 w 381000"/>
                <a:gd name="connsiteY36" fmla="*/ 142837 h 304704"/>
                <a:gd name="connsiteX37" fmla="*/ 114300 w 381000"/>
                <a:gd name="connsiteY37" fmla="*/ 142837 h 304704"/>
                <a:gd name="connsiteX38" fmla="*/ 114300 w 381000"/>
                <a:gd name="connsiteY38" fmla="*/ 128549 h 304704"/>
                <a:gd name="connsiteX39" fmla="*/ 100013 w 381000"/>
                <a:gd name="connsiteY39" fmla="*/ 114262 h 304704"/>
                <a:gd name="connsiteX40" fmla="*/ 85725 w 381000"/>
                <a:gd name="connsiteY40" fmla="*/ 128549 h 304704"/>
                <a:gd name="connsiteX41" fmla="*/ 85725 w 381000"/>
                <a:gd name="connsiteY41" fmla="*/ 142837 h 304704"/>
                <a:gd name="connsiteX42" fmla="*/ 28575 w 381000"/>
                <a:gd name="connsiteY42" fmla="*/ 142837 h 304704"/>
                <a:gd name="connsiteX43" fmla="*/ 28575 w 381000"/>
                <a:gd name="connsiteY43" fmla="*/ 99974 h 304704"/>
                <a:gd name="connsiteX44" fmla="*/ 42863 w 381000"/>
                <a:gd name="connsiteY44" fmla="*/ 85687 h 304704"/>
                <a:gd name="connsiteX45" fmla="*/ 95250 w 381000"/>
                <a:gd name="connsiteY45" fmla="*/ 85687 h 304704"/>
                <a:gd name="connsiteX46" fmla="*/ 95250 w 381000"/>
                <a:gd name="connsiteY46" fmla="*/ 85725 h 304704"/>
                <a:gd name="connsiteX47" fmla="*/ 266700 w 381000"/>
                <a:gd name="connsiteY47" fmla="*/ 171412 h 304704"/>
                <a:gd name="connsiteX48" fmla="*/ 266700 w 381000"/>
                <a:gd name="connsiteY48" fmla="*/ 195224 h 304704"/>
                <a:gd name="connsiteX49" fmla="*/ 280988 w 381000"/>
                <a:gd name="connsiteY49" fmla="*/ 209512 h 304704"/>
                <a:gd name="connsiteX50" fmla="*/ 295275 w 381000"/>
                <a:gd name="connsiteY50" fmla="*/ 195224 h 304704"/>
                <a:gd name="connsiteX51" fmla="*/ 295275 w 381000"/>
                <a:gd name="connsiteY51" fmla="*/ 171412 h 304704"/>
                <a:gd name="connsiteX52" fmla="*/ 352425 w 381000"/>
                <a:gd name="connsiteY52" fmla="*/ 171412 h 304704"/>
                <a:gd name="connsiteX53" fmla="*/ 352425 w 381000"/>
                <a:gd name="connsiteY53" fmla="*/ 261842 h 304704"/>
                <a:gd name="connsiteX54" fmla="*/ 338138 w 381000"/>
                <a:gd name="connsiteY54" fmla="*/ 276130 h 304704"/>
                <a:gd name="connsiteX55" fmla="*/ 42863 w 381000"/>
                <a:gd name="connsiteY55" fmla="*/ 276130 h 304704"/>
                <a:gd name="connsiteX56" fmla="*/ 28575 w 381000"/>
                <a:gd name="connsiteY56" fmla="*/ 261842 h 304704"/>
                <a:gd name="connsiteX57" fmla="*/ 28575 w 381000"/>
                <a:gd name="connsiteY57" fmla="*/ 171412 h 304704"/>
                <a:gd name="connsiteX58" fmla="*/ 85725 w 381000"/>
                <a:gd name="connsiteY58" fmla="*/ 171412 h 304704"/>
                <a:gd name="connsiteX59" fmla="*/ 85725 w 381000"/>
                <a:gd name="connsiteY59" fmla="*/ 195224 h 304704"/>
                <a:gd name="connsiteX60" fmla="*/ 100013 w 381000"/>
                <a:gd name="connsiteY60" fmla="*/ 209512 h 304704"/>
                <a:gd name="connsiteX61" fmla="*/ 114300 w 381000"/>
                <a:gd name="connsiteY61" fmla="*/ 195224 h 304704"/>
                <a:gd name="connsiteX62" fmla="*/ 114300 w 381000"/>
                <a:gd name="connsiteY62" fmla="*/ 171412 h 304704"/>
                <a:gd name="connsiteX63" fmla="*/ 266700 w 381000"/>
                <a:gd name="connsiteY63" fmla="*/ 171412 h 30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381000" h="304704">
                  <a:moveTo>
                    <a:pt x="95250" y="42863"/>
                  </a:moveTo>
                  <a:lnTo>
                    <a:pt x="95250" y="57112"/>
                  </a:lnTo>
                  <a:lnTo>
                    <a:pt x="42863" y="57112"/>
                  </a:lnTo>
                  <a:cubicBezTo>
                    <a:pt x="19190" y="57112"/>
                    <a:pt x="0" y="76302"/>
                    <a:pt x="0" y="99974"/>
                  </a:cubicBezTo>
                  <a:lnTo>
                    <a:pt x="0" y="261842"/>
                  </a:lnTo>
                  <a:cubicBezTo>
                    <a:pt x="0" y="285514"/>
                    <a:pt x="19190" y="304705"/>
                    <a:pt x="42863" y="304705"/>
                  </a:cubicBezTo>
                  <a:lnTo>
                    <a:pt x="338138" y="304705"/>
                  </a:lnTo>
                  <a:cubicBezTo>
                    <a:pt x="361809" y="304705"/>
                    <a:pt x="381000" y="285514"/>
                    <a:pt x="381000" y="261842"/>
                  </a:cubicBezTo>
                  <a:lnTo>
                    <a:pt x="381000" y="99974"/>
                  </a:lnTo>
                  <a:cubicBezTo>
                    <a:pt x="381000" y="76302"/>
                    <a:pt x="361809" y="57112"/>
                    <a:pt x="338138" y="57112"/>
                  </a:cubicBezTo>
                  <a:lnTo>
                    <a:pt x="285750" y="57112"/>
                  </a:lnTo>
                  <a:lnTo>
                    <a:pt x="285750" y="42863"/>
                  </a:lnTo>
                  <a:cubicBezTo>
                    <a:pt x="285750" y="19190"/>
                    <a:pt x="266559" y="0"/>
                    <a:pt x="242888" y="0"/>
                  </a:cubicBezTo>
                  <a:lnTo>
                    <a:pt x="138113" y="0"/>
                  </a:lnTo>
                  <a:cubicBezTo>
                    <a:pt x="114440" y="0"/>
                    <a:pt x="95250" y="19190"/>
                    <a:pt x="95250" y="42863"/>
                  </a:cubicBezTo>
                  <a:close/>
                  <a:moveTo>
                    <a:pt x="138113" y="28575"/>
                  </a:moveTo>
                  <a:lnTo>
                    <a:pt x="242888" y="28575"/>
                  </a:lnTo>
                  <a:cubicBezTo>
                    <a:pt x="250778" y="28575"/>
                    <a:pt x="257175" y="34972"/>
                    <a:pt x="257175" y="42863"/>
                  </a:cubicBezTo>
                  <a:lnTo>
                    <a:pt x="257175" y="57112"/>
                  </a:lnTo>
                  <a:lnTo>
                    <a:pt x="123825" y="57112"/>
                  </a:lnTo>
                  <a:lnTo>
                    <a:pt x="123825" y="42863"/>
                  </a:lnTo>
                  <a:cubicBezTo>
                    <a:pt x="123825" y="34972"/>
                    <a:pt x="130222" y="28575"/>
                    <a:pt x="138113" y="28575"/>
                  </a:cubicBezTo>
                  <a:close/>
                  <a:moveTo>
                    <a:pt x="95250" y="85725"/>
                  </a:moveTo>
                  <a:lnTo>
                    <a:pt x="123825" y="85725"/>
                  </a:lnTo>
                  <a:lnTo>
                    <a:pt x="123825" y="85687"/>
                  </a:lnTo>
                  <a:lnTo>
                    <a:pt x="257175" y="85687"/>
                  </a:lnTo>
                  <a:lnTo>
                    <a:pt x="257175" y="85725"/>
                  </a:lnTo>
                  <a:lnTo>
                    <a:pt x="285750" y="85725"/>
                  </a:lnTo>
                  <a:lnTo>
                    <a:pt x="285750" y="85687"/>
                  </a:lnTo>
                  <a:lnTo>
                    <a:pt x="338138" y="85687"/>
                  </a:lnTo>
                  <a:cubicBezTo>
                    <a:pt x="346028" y="85687"/>
                    <a:pt x="352425" y="92084"/>
                    <a:pt x="352425" y="99974"/>
                  </a:cubicBezTo>
                  <a:lnTo>
                    <a:pt x="352425" y="142837"/>
                  </a:lnTo>
                  <a:lnTo>
                    <a:pt x="295275" y="142837"/>
                  </a:lnTo>
                  <a:lnTo>
                    <a:pt x="295275" y="128549"/>
                  </a:lnTo>
                  <a:cubicBezTo>
                    <a:pt x="295275" y="120659"/>
                    <a:pt x="288878" y="114262"/>
                    <a:pt x="280988" y="114262"/>
                  </a:cubicBezTo>
                  <a:cubicBezTo>
                    <a:pt x="273097" y="114262"/>
                    <a:pt x="266700" y="120659"/>
                    <a:pt x="266700" y="128549"/>
                  </a:cubicBezTo>
                  <a:lnTo>
                    <a:pt x="266700" y="142837"/>
                  </a:lnTo>
                  <a:lnTo>
                    <a:pt x="114300" y="142837"/>
                  </a:lnTo>
                  <a:lnTo>
                    <a:pt x="114300" y="128549"/>
                  </a:lnTo>
                  <a:cubicBezTo>
                    <a:pt x="114300" y="120659"/>
                    <a:pt x="107903" y="114262"/>
                    <a:pt x="100013" y="114262"/>
                  </a:cubicBezTo>
                  <a:cubicBezTo>
                    <a:pt x="92122" y="114262"/>
                    <a:pt x="85725" y="120659"/>
                    <a:pt x="85725" y="128549"/>
                  </a:cubicBezTo>
                  <a:lnTo>
                    <a:pt x="85725" y="142837"/>
                  </a:lnTo>
                  <a:lnTo>
                    <a:pt x="28575" y="142837"/>
                  </a:lnTo>
                  <a:lnTo>
                    <a:pt x="28575" y="99974"/>
                  </a:lnTo>
                  <a:cubicBezTo>
                    <a:pt x="28575" y="92084"/>
                    <a:pt x="34972" y="85687"/>
                    <a:pt x="42863" y="85687"/>
                  </a:cubicBezTo>
                  <a:lnTo>
                    <a:pt x="95250" y="85687"/>
                  </a:lnTo>
                  <a:lnTo>
                    <a:pt x="95250" y="85725"/>
                  </a:lnTo>
                  <a:close/>
                  <a:moveTo>
                    <a:pt x="266700" y="171412"/>
                  </a:moveTo>
                  <a:lnTo>
                    <a:pt x="266700" y="195224"/>
                  </a:lnTo>
                  <a:cubicBezTo>
                    <a:pt x="266700" y="203115"/>
                    <a:pt x="273097" y="209512"/>
                    <a:pt x="280988" y="209512"/>
                  </a:cubicBezTo>
                  <a:cubicBezTo>
                    <a:pt x="288878" y="209512"/>
                    <a:pt x="295275" y="203115"/>
                    <a:pt x="295275" y="195224"/>
                  </a:cubicBezTo>
                  <a:lnTo>
                    <a:pt x="295275" y="171412"/>
                  </a:lnTo>
                  <a:lnTo>
                    <a:pt x="352425" y="171412"/>
                  </a:lnTo>
                  <a:lnTo>
                    <a:pt x="352425" y="261842"/>
                  </a:lnTo>
                  <a:cubicBezTo>
                    <a:pt x="352425" y="269733"/>
                    <a:pt x="346028" y="276130"/>
                    <a:pt x="338138" y="276130"/>
                  </a:cubicBezTo>
                  <a:lnTo>
                    <a:pt x="42863" y="276130"/>
                  </a:lnTo>
                  <a:cubicBezTo>
                    <a:pt x="34972" y="276130"/>
                    <a:pt x="28575" y="269733"/>
                    <a:pt x="28575" y="261842"/>
                  </a:cubicBezTo>
                  <a:lnTo>
                    <a:pt x="28575" y="171412"/>
                  </a:lnTo>
                  <a:lnTo>
                    <a:pt x="85725" y="171412"/>
                  </a:lnTo>
                  <a:lnTo>
                    <a:pt x="85725" y="195224"/>
                  </a:lnTo>
                  <a:cubicBezTo>
                    <a:pt x="85725" y="203115"/>
                    <a:pt x="92122" y="209512"/>
                    <a:pt x="100013" y="209512"/>
                  </a:cubicBezTo>
                  <a:cubicBezTo>
                    <a:pt x="107903" y="209512"/>
                    <a:pt x="114300" y="203115"/>
                    <a:pt x="114300" y="195224"/>
                  </a:cubicBezTo>
                  <a:lnTo>
                    <a:pt x="114300" y="171412"/>
                  </a:lnTo>
                  <a:lnTo>
                    <a:pt x="266700" y="171412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56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chemeClr val="bg1"/>
                </a:solidFill>
                <a:latin typeface="+mj-lt"/>
                <a:cs typeface="Segoe UI" pitchFamily="34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A9C863D8-2CDA-B93D-04E2-1C8F46F9D209}"/>
              </a:ext>
            </a:extLst>
          </p:cNvPr>
          <p:cNvSpPr txBox="1"/>
          <p:nvPr/>
        </p:nvSpPr>
        <p:spPr>
          <a:xfrm>
            <a:off x="3889139" y="2942649"/>
            <a:ext cx="101470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Experience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(desirability)</a:t>
            </a:r>
          </a:p>
        </p:txBody>
      </p:sp>
      <p:sp>
        <p:nvSpPr>
          <p:cNvPr id="54" name="Graphic 328" descr="Icon of a line chart with connected circles at varying points">
            <a:extLst>
              <a:ext uri="{FF2B5EF4-FFF2-40B4-BE49-F238E27FC236}">
                <a16:creationId xmlns:a16="http://schemas.microsoft.com/office/drawing/2014/main" id="{5D692EF1-571B-F73B-441D-B89089FF40AD}"/>
              </a:ext>
            </a:extLst>
          </p:cNvPr>
          <p:cNvSpPr/>
          <p:nvPr/>
        </p:nvSpPr>
        <p:spPr>
          <a:xfrm>
            <a:off x="4244079" y="2568352"/>
            <a:ext cx="304820" cy="274322"/>
          </a:xfrm>
          <a:custGeom>
            <a:avLst/>
            <a:gdLst>
              <a:gd name="connsiteX0" fmla="*/ 220167 w 259020"/>
              <a:gd name="connsiteY0" fmla="*/ 19416 h 233104"/>
              <a:gd name="connsiteX1" fmla="*/ 200740 w 259020"/>
              <a:gd name="connsiteY1" fmla="*/ 38842 h 233104"/>
              <a:gd name="connsiteX2" fmla="*/ 220167 w 259020"/>
              <a:gd name="connsiteY2" fmla="*/ 58269 h 233104"/>
              <a:gd name="connsiteX3" fmla="*/ 239594 w 259020"/>
              <a:gd name="connsiteY3" fmla="*/ 38842 h 233104"/>
              <a:gd name="connsiteX4" fmla="*/ 220167 w 259020"/>
              <a:gd name="connsiteY4" fmla="*/ 19416 h 233104"/>
              <a:gd name="connsiteX5" fmla="*/ 181314 w 259020"/>
              <a:gd name="connsiteY5" fmla="*/ 38842 h 233104"/>
              <a:gd name="connsiteX6" fmla="*/ 220177 w 259020"/>
              <a:gd name="connsiteY6" fmla="*/ 0 h 233104"/>
              <a:gd name="connsiteX7" fmla="*/ 259020 w 259020"/>
              <a:gd name="connsiteY7" fmla="*/ 38864 h 233104"/>
              <a:gd name="connsiteX8" fmla="*/ 220157 w 259020"/>
              <a:gd name="connsiteY8" fmla="*/ 77707 h 233104"/>
              <a:gd name="connsiteX9" fmla="*/ 214015 w 259020"/>
              <a:gd name="connsiteY9" fmla="*/ 77216 h 233104"/>
              <a:gd name="connsiteX10" fmla="*/ 187621 w 259020"/>
              <a:gd name="connsiteY10" fmla="*/ 120706 h 233104"/>
              <a:gd name="connsiteX11" fmla="*/ 177418 w 259020"/>
              <a:gd name="connsiteY11" fmla="*/ 174698 h 233104"/>
              <a:gd name="connsiteX12" fmla="*/ 126103 w 259020"/>
              <a:gd name="connsiteY12" fmla="*/ 167978 h 233104"/>
              <a:gd name="connsiteX13" fmla="*/ 77653 w 259020"/>
              <a:gd name="connsiteY13" fmla="*/ 192196 h 233104"/>
              <a:gd name="connsiteX14" fmla="*/ 40908 w 259020"/>
              <a:gd name="connsiteY14" fmla="*/ 233049 h 233104"/>
              <a:gd name="connsiteX15" fmla="*/ 55 w 259020"/>
              <a:gd name="connsiteY15" fmla="*/ 196304 h 233104"/>
              <a:gd name="connsiteX16" fmla="*/ 36800 w 259020"/>
              <a:gd name="connsiteY16" fmla="*/ 155451 h 233104"/>
              <a:gd name="connsiteX17" fmla="*/ 71683 w 259020"/>
              <a:gd name="connsiteY17" fmla="*/ 173469 h 233104"/>
              <a:gd name="connsiteX18" fmla="*/ 117413 w 259020"/>
              <a:gd name="connsiteY18" fmla="*/ 150597 h 233104"/>
              <a:gd name="connsiteX19" fmla="*/ 147234 w 259020"/>
              <a:gd name="connsiteY19" fmla="*/ 104447 h 233104"/>
              <a:gd name="connsiteX20" fmla="*/ 172792 w 259020"/>
              <a:gd name="connsiteY20" fmla="*/ 107690 h 233104"/>
              <a:gd name="connsiteX21" fmla="*/ 196078 w 259020"/>
              <a:gd name="connsiteY21" fmla="*/ 69329 h 233104"/>
              <a:gd name="connsiteX22" fmla="*/ 181314 w 259020"/>
              <a:gd name="connsiteY22" fmla="*/ 38842 h 233104"/>
              <a:gd name="connsiteX23" fmla="*/ 155411 w 259020"/>
              <a:gd name="connsiteY23" fmla="*/ 123024 h 233104"/>
              <a:gd name="connsiteX24" fmla="*/ 135985 w 259020"/>
              <a:gd name="connsiteY24" fmla="*/ 142451 h 233104"/>
              <a:gd name="connsiteX25" fmla="*/ 155411 w 259020"/>
              <a:gd name="connsiteY25" fmla="*/ 161878 h 233104"/>
              <a:gd name="connsiteX26" fmla="*/ 174838 w 259020"/>
              <a:gd name="connsiteY26" fmla="*/ 142451 h 233104"/>
              <a:gd name="connsiteX27" fmla="*/ 155411 w 259020"/>
              <a:gd name="connsiteY27" fmla="*/ 123024 h 233104"/>
              <a:gd name="connsiteX28" fmla="*/ 38852 w 259020"/>
              <a:gd name="connsiteY28" fmla="*/ 174829 h 233104"/>
              <a:gd name="connsiteX29" fmla="*/ 19425 w 259020"/>
              <a:gd name="connsiteY29" fmla="*/ 194255 h 233104"/>
              <a:gd name="connsiteX30" fmla="*/ 38852 w 259020"/>
              <a:gd name="connsiteY30" fmla="*/ 213682 h 233104"/>
              <a:gd name="connsiteX31" fmla="*/ 58278 w 259020"/>
              <a:gd name="connsiteY31" fmla="*/ 194255 h 233104"/>
              <a:gd name="connsiteX32" fmla="*/ 38852 w 259020"/>
              <a:gd name="connsiteY32" fmla="*/ 174829 h 233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59020" h="233104">
                <a:moveTo>
                  <a:pt x="220167" y="19416"/>
                </a:moveTo>
                <a:cubicBezTo>
                  <a:pt x="209438" y="19416"/>
                  <a:pt x="200740" y="28113"/>
                  <a:pt x="200740" y="38842"/>
                </a:cubicBezTo>
                <a:cubicBezTo>
                  <a:pt x="200740" y="49571"/>
                  <a:pt x="209438" y="58269"/>
                  <a:pt x="220167" y="58269"/>
                </a:cubicBezTo>
                <a:cubicBezTo>
                  <a:pt x="230896" y="58269"/>
                  <a:pt x="239594" y="49571"/>
                  <a:pt x="239594" y="38842"/>
                </a:cubicBezTo>
                <a:cubicBezTo>
                  <a:pt x="239594" y="28113"/>
                  <a:pt x="230896" y="19416"/>
                  <a:pt x="220167" y="19416"/>
                </a:cubicBezTo>
                <a:close/>
                <a:moveTo>
                  <a:pt x="181314" y="38842"/>
                </a:moveTo>
                <a:cubicBezTo>
                  <a:pt x="181320" y="17384"/>
                  <a:pt x="198720" y="-6"/>
                  <a:pt x="220177" y="0"/>
                </a:cubicBezTo>
                <a:cubicBezTo>
                  <a:pt x="241636" y="6"/>
                  <a:pt x="259027" y="17406"/>
                  <a:pt x="259020" y="38864"/>
                </a:cubicBezTo>
                <a:cubicBezTo>
                  <a:pt x="259014" y="60322"/>
                  <a:pt x="241614" y="77713"/>
                  <a:pt x="220157" y="77707"/>
                </a:cubicBezTo>
                <a:cubicBezTo>
                  <a:pt x="218100" y="77706"/>
                  <a:pt x="216046" y="77542"/>
                  <a:pt x="214015" y="77216"/>
                </a:cubicBezTo>
                <a:lnTo>
                  <a:pt x="187621" y="120706"/>
                </a:lnTo>
                <a:cubicBezTo>
                  <a:pt x="199713" y="138432"/>
                  <a:pt x="195145" y="162606"/>
                  <a:pt x="177418" y="174698"/>
                </a:cubicBezTo>
                <a:cubicBezTo>
                  <a:pt x="161093" y="185833"/>
                  <a:pt x="139010" y="182941"/>
                  <a:pt x="126103" y="167978"/>
                </a:cubicBezTo>
                <a:lnTo>
                  <a:pt x="77653" y="192196"/>
                </a:lnTo>
                <a:cubicBezTo>
                  <a:pt x="78788" y="213624"/>
                  <a:pt x="62336" y="231915"/>
                  <a:pt x="40908" y="233049"/>
                </a:cubicBezTo>
                <a:cubicBezTo>
                  <a:pt x="19480" y="234184"/>
                  <a:pt x="1190" y="217733"/>
                  <a:pt x="55" y="196304"/>
                </a:cubicBezTo>
                <a:cubicBezTo>
                  <a:pt x="-1079" y="174877"/>
                  <a:pt x="15372" y="156586"/>
                  <a:pt x="36800" y="155451"/>
                </a:cubicBezTo>
                <a:cubicBezTo>
                  <a:pt x="50830" y="154709"/>
                  <a:pt x="64168" y="161598"/>
                  <a:pt x="71683" y="173469"/>
                </a:cubicBezTo>
                <a:lnTo>
                  <a:pt x="117413" y="150597"/>
                </a:lnTo>
                <a:cubicBezTo>
                  <a:pt x="112903" y="129618"/>
                  <a:pt x="126256" y="108956"/>
                  <a:pt x="147234" y="104447"/>
                </a:cubicBezTo>
                <a:cubicBezTo>
                  <a:pt x="155875" y="102590"/>
                  <a:pt x="164889" y="103734"/>
                  <a:pt x="172792" y="107690"/>
                </a:cubicBezTo>
                <a:lnTo>
                  <a:pt x="196078" y="69329"/>
                </a:lnTo>
                <a:cubicBezTo>
                  <a:pt x="186745" y="61966"/>
                  <a:pt x="181303" y="50730"/>
                  <a:pt x="181314" y="38842"/>
                </a:cubicBezTo>
                <a:close/>
                <a:moveTo>
                  <a:pt x="155411" y="123024"/>
                </a:moveTo>
                <a:cubicBezTo>
                  <a:pt x="144683" y="123024"/>
                  <a:pt x="135985" y="131722"/>
                  <a:pt x="135985" y="142451"/>
                </a:cubicBezTo>
                <a:cubicBezTo>
                  <a:pt x="135985" y="153180"/>
                  <a:pt x="144683" y="161878"/>
                  <a:pt x="155411" y="161878"/>
                </a:cubicBezTo>
                <a:cubicBezTo>
                  <a:pt x="166140" y="161878"/>
                  <a:pt x="174838" y="153180"/>
                  <a:pt x="174838" y="142451"/>
                </a:cubicBezTo>
                <a:cubicBezTo>
                  <a:pt x="174838" y="131722"/>
                  <a:pt x="166140" y="123024"/>
                  <a:pt x="155411" y="123024"/>
                </a:cubicBezTo>
                <a:close/>
                <a:moveTo>
                  <a:pt x="38852" y="174829"/>
                </a:moveTo>
                <a:cubicBezTo>
                  <a:pt x="28123" y="174829"/>
                  <a:pt x="19425" y="183527"/>
                  <a:pt x="19425" y="194255"/>
                </a:cubicBezTo>
                <a:cubicBezTo>
                  <a:pt x="19425" y="204984"/>
                  <a:pt x="28123" y="213682"/>
                  <a:pt x="38852" y="213682"/>
                </a:cubicBezTo>
                <a:cubicBezTo>
                  <a:pt x="49581" y="213682"/>
                  <a:pt x="58278" y="204984"/>
                  <a:pt x="58278" y="194255"/>
                </a:cubicBezTo>
                <a:cubicBezTo>
                  <a:pt x="58278" y="183527"/>
                  <a:pt x="49581" y="174829"/>
                  <a:pt x="38852" y="17482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55" name="Graphic 128" descr="Icon of a bulb">
            <a:extLst>
              <a:ext uri="{FF2B5EF4-FFF2-40B4-BE49-F238E27FC236}">
                <a16:creationId xmlns:a16="http://schemas.microsoft.com/office/drawing/2014/main" id="{4BD3301E-2396-F08A-3A1A-9EFA8B22F6F4}"/>
              </a:ext>
            </a:extLst>
          </p:cNvPr>
          <p:cNvSpPr/>
          <p:nvPr/>
        </p:nvSpPr>
        <p:spPr>
          <a:xfrm>
            <a:off x="11023551" y="5658215"/>
            <a:ext cx="222580" cy="306986"/>
          </a:xfrm>
          <a:custGeom>
            <a:avLst/>
            <a:gdLst>
              <a:gd name="connsiteX0" fmla="*/ 118354 w 236708"/>
              <a:gd name="connsiteY0" fmla="*/ 0 h 326472"/>
              <a:gd name="connsiteX1" fmla="*/ 236709 w 236708"/>
              <a:gd name="connsiteY1" fmla="*/ 118354 h 326472"/>
              <a:gd name="connsiteX2" fmla="*/ 193234 w 236708"/>
              <a:gd name="connsiteY2" fmla="*/ 212090 h 326472"/>
              <a:gd name="connsiteX3" fmla="*/ 190376 w 236708"/>
              <a:gd name="connsiteY3" fmla="*/ 216421 h 326472"/>
              <a:gd name="connsiteX4" fmla="*/ 189863 w 236708"/>
              <a:gd name="connsiteY4" fmla="*/ 218091 h 326472"/>
              <a:gd name="connsiteX5" fmla="*/ 171398 w 236708"/>
              <a:gd name="connsiteY5" fmla="*/ 298010 h 326472"/>
              <a:gd name="connsiteX6" fmla="*/ 138437 w 236708"/>
              <a:gd name="connsiteY6" fmla="*/ 326365 h 326472"/>
              <a:gd name="connsiteX7" fmla="*/ 135610 w 236708"/>
              <a:gd name="connsiteY7" fmla="*/ 326472 h 326472"/>
              <a:gd name="connsiteX8" fmla="*/ 101104 w 236708"/>
              <a:gd name="connsiteY8" fmla="*/ 326472 h 326472"/>
              <a:gd name="connsiteX9" fmla="*/ 66055 w 236708"/>
              <a:gd name="connsiteY9" fmla="*/ 300732 h 326472"/>
              <a:gd name="connsiteX10" fmla="*/ 65313 w 236708"/>
              <a:gd name="connsiteY10" fmla="*/ 298001 h 326472"/>
              <a:gd name="connsiteX11" fmla="*/ 46874 w 236708"/>
              <a:gd name="connsiteY11" fmla="*/ 218094 h 326472"/>
              <a:gd name="connsiteX12" fmla="*/ 43498 w 236708"/>
              <a:gd name="connsiteY12" fmla="*/ 212088 h 326472"/>
              <a:gd name="connsiteX13" fmla="*/ 100 w 236708"/>
              <a:gd name="connsiteY13" fmla="*/ 123223 h 326472"/>
              <a:gd name="connsiteX14" fmla="*/ 0 w 236708"/>
              <a:gd name="connsiteY14" fmla="*/ 118354 h 326472"/>
              <a:gd name="connsiteX15" fmla="*/ 63 w 236708"/>
              <a:gd name="connsiteY15" fmla="*/ 114448 h 326472"/>
              <a:gd name="connsiteX16" fmla="*/ 118354 w 236708"/>
              <a:gd name="connsiteY16" fmla="*/ 0 h 326472"/>
              <a:gd name="connsiteX17" fmla="*/ 152881 w 236708"/>
              <a:gd name="connsiteY17" fmla="*/ 269326 h 326472"/>
              <a:gd name="connsiteX18" fmla="*/ 83811 w 236708"/>
              <a:gd name="connsiteY18" fmla="*/ 269326 h 326472"/>
              <a:gd name="connsiteX19" fmla="*/ 89174 w 236708"/>
              <a:gd name="connsiteY19" fmla="*/ 292494 h 326472"/>
              <a:gd name="connsiteX20" fmla="*/ 99419 w 236708"/>
              <a:gd name="connsiteY20" fmla="*/ 301869 h 326472"/>
              <a:gd name="connsiteX21" fmla="*/ 101104 w 236708"/>
              <a:gd name="connsiteY21" fmla="*/ 301985 h 326472"/>
              <a:gd name="connsiteX22" fmla="*/ 135610 w 236708"/>
              <a:gd name="connsiteY22" fmla="*/ 301985 h 326472"/>
              <a:gd name="connsiteX23" fmla="*/ 147048 w 236708"/>
              <a:gd name="connsiteY23" fmla="*/ 294114 h 326472"/>
              <a:gd name="connsiteX24" fmla="*/ 147540 w 236708"/>
              <a:gd name="connsiteY24" fmla="*/ 292497 h 326472"/>
              <a:gd name="connsiteX25" fmla="*/ 152881 w 236708"/>
              <a:gd name="connsiteY25" fmla="*/ 269326 h 326472"/>
              <a:gd name="connsiteX26" fmla="*/ 118354 w 236708"/>
              <a:gd name="connsiteY26" fmla="*/ 24487 h 326472"/>
              <a:gd name="connsiteX27" fmla="*/ 24555 w 236708"/>
              <a:gd name="connsiteY27" fmla="*/ 114754 h 326472"/>
              <a:gd name="connsiteX28" fmla="*/ 24487 w 236708"/>
              <a:gd name="connsiteY28" fmla="*/ 118354 h 326472"/>
              <a:gd name="connsiteX29" fmla="*/ 24597 w 236708"/>
              <a:gd name="connsiteY29" fmla="*/ 122877 h 326472"/>
              <a:gd name="connsiteX30" fmla="*/ 60608 w 236708"/>
              <a:gd name="connsiteY30" fmla="*/ 194570 h 326472"/>
              <a:gd name="connsiteX31" fmla="*/ 69939 w 236708"/>
              <a:gd name="connsiteY31" fmla="*/ 209692 h 326472"/>
              <a:gd name="connsiteX32" fmla="*/ 70734 w 236708"/>
              <a:gd name="connsiteY32" fmla="*/ 212589 h 326472"/>
              <a:gd name="connsiteX33" fmla="*/ 78163 w 236708"/>
              <a:gd name="connsiteY33" fmla="*/ 244839 h 326472"/>
              <a:gd name="connsiteX34" fmla="*/ 158530 w 236708"/>
              <a:gd name="connsiteY34" fmla="*/ 244839 h 326472"/>
              <a:gd name="connsiteX35" fmla="*/ 166005 w 236708"/>
              <a:gd name="connsiteY35" fmla="*/ 212578 h 326472"/>
              <a:gd name="connsiteX36" fmla="*/ 174061 w 236708"/>
              <a:gd name="connsiteY36" fmla="*/ 196761 h 326472"/>
              <a:gd name="connsiteX37" fmla="*/ 176121 w 236708"/>
              <a:gd name="connsiteY37" fmla="*/ 194577 h 326472"/>
              <a:gd name="connsiteX38" fmla="*/ 212112 w 236708"/>
              <a:gd name="connsiteY38" fmla="*/ 122877 h 326472"/>
              <a:gd name="connsiteX39" fmla="*/ 212222 w 236708"/>
              <a:gd name="connsiteY39" fmla="*/ 118354 h 326472"/>
              <a:gd name="connsiteX40" fmla="*/ 212153 w 236708"/>
              <a:gd name="connsiteY40" fmla="*/ 114754 h 326472"/>
              <a:gd name="connsiteX41" fmla="*/ 118354 w 236708"/>
              <a:gd name="connsiteY41" fmla="*/ 24487 h 326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36708" h="326472">
                <a:moveTo>
                  <a:pt x="118354" y="0"/>
                </a:moveTo>
                <a:cubicBezTo>
                  <a:pt x="183720" y="0"/>
                  <a:pt x="236709" y="52989"/>
                  <a:pt x="236709" y="118354"/>
                </a:cubicBezTo>
                <a:cubicBezTo>
                  <a:pt x="236709" y="152571"/>
                  <a:pt x="222005" y="183975"/>
                  <a:pt x="193234" y="212090"/>
                </a:cubicBezTo>
                <a:cubicBezTo>
                  <a:pt x="191979" y="213317"/>
                  <a:pt x="191006" y="214795"/>
                  <a:pt x="190376" y="216421"/>
                </a:cubicBezTo>
                <a:lnTo>
                  <a:pt x="189863" y="218091"/>
                </a:lnTo>
                <a:lnTo>
                  <a:pt x="171398" y="298010"/>
                </a:lnTo>
                <a:cubicBezTo>
                  <a:pt x="167763" y="313746"/>
                  <a:pt x="154326" y="325145"/>
                  <a:pt x="138437" y="326365"/>
                </a:cubicBezTo>
                <a:lnTo>
                  <a:pt x="135610" y="326472"/>
                </a:lnTo>
                <a:lnTo>
                  <a:pt x="101104" y="326472"/>
                </a:lnTo>
                <a:cubicBezTo>
                  <a:pt x="84950" y="326472"/>
                  <a:pt x="70815" y="315941"/>
                  <a:pt x="66055" y="300732"/>
                </a:cubicBezTo>
                <a:lnTo>
                  <a:pt x="65313" y="298001"/>
                </a:lnTo>
                <a:lnTo>
                  <a:pt x="46874" y="218094"/>
                </a:lnTo>
                <a:cubicBezTo>
                  <a:pt x="46347" y="215810"/>
                  <a:pt x="45175" y="213726"/>
                  <a:pt x="43498" y="212088"/>
                </a:cubicBezTo>
                <a:cubicBezTo>
                  <a:pt x="16082" y="185312"/>
                  <a:pt x="1433" y="155554"/>
                  <a:pt x="100" y="123223"/>
                </a:cubicBezTo>
                <a:lnTo>
                  <a:pt x="0" y="118354"/>
                </a:lnTo>
                <a:lnTo>
                  <a:pt x="63" y="114448"/>
                </a:lnTo>
                <a:cubicBezTo>
                  <a:pt x="2125" y="50891"/>
                  <a:pt x="54296" y="0"/>
                  <a:pt x="118354" y="0"/>
                </a:cubicBezTo>
                <a:close/>
                <a:moveTo>
                  <a:pt x="152881" y="269326"/>
                </a:moveTo>
                <a:lnTo>
                  <a:pt x="83811" y="269326"/>
                </a:lnTo>
                <a:lnTo>
                  <a:pt x="89174" y="292494"/>
                </a:lnTo>
                <a:cubicBezTo>
                  <a:pt x="90326" y="297494"/>
                  <a:pt x="94450" y="301182"/>
                  <a:pt x="99419" y="301869"/>
                </a:cubicBezTo>
                <a:lnTo>
                  <a:pt x="101104" y="301985"/>
                </a:lnTo>
                <a:lnTo>
                  <a:pt x="135610" y="301985"/>
                </a:lnTo>
                <a:cubicBezTo>
                  <a:pt x="140741" y="301985"/>
                  <a:pt x="145259" y="298799"/>
                  <a:pt x="147048" y="294114"/>
                </a:cubicBezTo>
                <a:lnTo>
                  <a:pt x="147540" y="292497"/>
                </a:lnTo>
                <a:lnTo>
                  <a:pt x="152881" y="269326"/>
                </a:lnTo>
                <a:close/>
                <a:moveTo>
                  <a:pt x="118354" y="24487"/>
                </a:moveTo>
                <a:cubicBezTo>
                  <a:pt x="67718" y="24487"/>
                  <a:pt x="26447" y="64581"/>
                  <a:pt x="24555" y="114754"/>
                </a:cubicBezTo>
                <a:lnTo>
                  <a:pt x="24487" y="118354"/>
                </a:lnTo>
                <a:lnTo>
                  <a:pt x="24597" y="122877"/>
                </a:lnTo>
                <a:cubicBezTo>
                  <a:pt x="25840" y="148397"/>
                  <a:pt x="37665" y="172163"/>
                  <a:pt x="60608" y="194570"/>
                </a:cubicBezTo>
                <a:cubicBezTo>
                  <a:pt x="64919" y="198782"/>
                  <a:pt x="68117" y="203978"/>
                  <a:pt x="69939" y="209692"/>
                </a:cubicBezTo>
                <a:lnTo>
                  <a:pt x="70734" y="212589"/>
                </a:lnTo>
                <a:lnTo>
                  <a:pt x="78163" y="244839"/>
                </a:lnTo>
                <a:lnTo>
                  <a:pt x="158530" y="244839"/>
                </a:lnTo>
                <a:lnTo>
                  <a:pt x="166005" y="212578"/>
                </a:lnTo>
                <a:cubicBezTo>
                  <a:pt x="167360" y="206711"/>
                  <a:pt x="170133" y="201283"/>
                  <a:pt x="174061" y="196761"/>
                </a:cubicBezTo>
                <a:lnTo>
                  <a:pt x="176121" y="194577"/>
                </a:lnTo>
                <a:cubicBezTo>
                  <a:pt x="199051" y="172169"/>
                  <a:pt x="210870" y="148402"/>
                  <a:pt x="212112" y="122877"/>
                </a:cubicBezTo>
                <a:lnTo>
                  <a:pt x="212222" y="118354"/>
                </a:lnTo>
                <a:lnTo>
                  <a:pt x="212153" y="114754"/>
                </a:lnTo>
                <a:cubicBezTo>
                  <a:pt x="210261" y="64581"/>
                  <a:pt x="168991" y="24487"/>
                  <a:pt x="118354" y="2448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56000">
                <a:srgbClr val="CC918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22098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200BBB2E-B760-0C33-1374-752757BA7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noProof="0"/>
              <a:t>The BXT framework: Experience</a:t>
            </a:r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CFD390E-2269-39A3-7258-76D0DFD2151B}"/>
              </a:ext>
            </a:extLst>
          </p:cNvPr>
          <p:cNvSpPr>
            <a:spLocks/>
          </p:cNvSpPr>
          <p:nvPr/>
        </p:nvSpPr>
        <p:spPr bwMode="auto">
          <a:xfrm>
            <a:off x="588962" y="1268020"/>
            <a:ext cx="11017250" cy="5001266"/>
          </a:xfrm>
          <a:prstGeom prst="roundRect">
            <a:avLst>
              <a:gd name="adj" fmla="val 3989"/>
            </a:avLst>
          </a:prstGeom>
          <a:solidFill>
            <a:schemeClr val="bg1">
              <a:alpha val="70000"/>
            </a:schemeClr>
          </a:solidFill>
          <a:ln w="6350">
            <a:gradFill>
              <a:gsLst>
                <a:gs pos="0">
                  <a:schemeClr val="bg1">
                    <a:alpha val="27000"/>
                  </a:schemeClr>
                </a:gs>
                <a:gs pos="100000">
                  <a:schemeClr val="bg1">
                    <a:alpha val="59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65100" dist="25400" dir="2700000" algn="tl" rotWithShape="0">
              <a:schemeClr val="bg2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" rIns="91440" bIns="640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err="1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AF9DD35-836E-70F3-09F2-5E6104350949}"/>
              </a:ext>
            </a:extLst>
          </p:cNvPr>
          <p:cNvSpPr>
            <a:spLocks/>
          </p:cNvSpPr>
          <p:nvPr/>
        </p:nvSpPr>
        <p:spPr bwMode="auto">
          <a:xfrm>
            <a:off x="735266" y="1414324"/>
            <a:ext cx="4710113" cy="4724939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4" name="Freeform: Shape 27">
            <a:extLst>
              <a:ext uri="{FF2B5EF4-FFF2-40B4-BE49-F238E27FC236}">
                <a16:creationId xmlns:a16="http://schemas.microsoft.com/office/drawing/2014/main" id="{8AB3DD36-E63D-DBC4-21B7-05F29312F0EF}"/>
              </a:ext>
            </a:extLst>
          </p:cNvPr>
          <p:cNvSpPr/>
          <p:nvPr/>
        </p:nvSpPr>
        <p:spPr bwMode="auto">
          <a:xfrm>
            <a:off x="987321" y="1744998"/>
            <a:ext cx="4206002" cy="4063592"/>
          </a:xfrm>
          <a:custGeom>
            <a:avLst/>
            <a:gdLst>
              <a:gd name="connsiteX0" fmla="*/ 1628986 w 4905743"/>
              <a:gd name="connsiteY0" fmla="*/ 0 h 4739639"/>
              <a:gd name="connsiteX1" fmla="*/ 2405458 w 4905743"/>
              <a:gd name="connsiteY1" fmla="*/ 196610 h 4739639"/>
              <a:gd name="connsiteX2" fmla="*/ 2452872 w 4905743"/>
              <a:gd name="connsiteY2" fmla="*/ 225415 h 4739639"/>
              <a:gd name="connsiteX3" fmla="*/ 2500286 w 4905743"/>
              <a:gd name="connsiteY3" fmla="*/ 196610 h 4739639"/>
              <a:gd name="connsiteX4" fmla="*/ 3276757 w 4905743"/>
              <a:gd name="connsiteY4" fmla="*/ 0 h 4739639"/>
              <a:gd name="connsiteX5" fmla="*/ 4905743 w 4905743"/>
              <a:gd name="connsiteY5" fmla="*/ 1628986 h 4739639"/>
              <a:gd name="connsiteX6" fmla="*/ 4187539 w 4905743"/>
              <a:gd name="connsiteY6" fmla="*/ 2979767 h 4739639"/>
              <a:gd name="connsiteX7" fmla="*/ 4078590 w 4905743"/>
              <a:gd name="connsiteY7" fmla="*/ 3045955 h 4739639"/>
              <a:gd name="connsiteX8" fmla="*/ 4081857 w 4905743"/>
              <a:gd name="connsiteY8" fmla="*/ 3110653 h 4739639"/>
              <a:gd name="connsiteX9" fmla="*/ 2452871 w 4905743"/>
              <a:gd name="connsiteY9" fmla="*/ 4739639 h 4739639"/>
              <a:gd name="connsiteX10" fmla="*/ 823885 w 4905743"/>
              <a:gd name="connsiteY10" fmla="*/ 3110653 h 4739639"/>
              <a:gd name="connsiteX11" fmla="*/ 827152 w 4905743"/>
              <a:gd name="connsiteY11" fmla="*/ 3045954 h 4739639"/>
              <a:gd name="connsiteX12" fmla="*/ 718205 w 4905743"/>
              <a:gd name="connsiteY12" fmla="*/ 2979767 h 4739639"/>
              <a:gd name="connsiteX13" fmla="*/ 0 w 4905743"/>
              <a:gd name="connsiteY13" fmla="*/ 1628986 h 4739639"/>
              <a:gd name="connsiteX14" fmla="*/ 1628986 w 4905743"/>
              <a:gd name="connsiteY14" fmla="*/ 0 h 4739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905743" h="4739639">
                <a:moveTo>
                  <a:pt x="1628986" y="0"/>
                </a:moveTo>
                <a:cubicBezTo>
                  <a:pt x="1910131" y="0"/>
                  <a:pt x="2174641" y="71223"/>
                  <a:pt x="2405458" y="196610"/>
                </a:cubicBezTo>
                <a:lnTo>
                  <a:pt x="2452872" y="225415"/>
                </a:lnTo>
                <a:lnTo>
                  <a:pt x="2500286" y="196610"/>
                </a:lnTo>
                <a:cubicBezTo>
                  <a:pt x="2731102" y="71223"/>
                  <a:pt x="2995612" y="0"/>
                  <a:pt x="3276757" y="0"/>
                </a:cubicBezTo>
                <a:cubicBezTo>
                  <a:pt x="4176421" y="0"/>
                  <a:pt x="4905743" y="729322"/>
                  <a:pt x="4905743" y="1628986"/>
                </a:cubicBezTo>
                <a:cubicBezTo>
                  <a:pt x="4905743" y="2191276"/>
                  <a:pt x="4620852" y="2687026"/>
                  <a:pt x="4187539" y="2979767"/>
                </a:cubicBezTo>
                <a:lnTo>
                  <a:pt x="4078590" y="3045955"/>
                </a:lnTo>
                <a:lnTo>
                  <a:pt x="4081857" y="3110653"/>
                </a:lnTo>
                <a:cubicBezTo>
                  <a:pt x="4081857" y="4010317"/>
                  <a:pt x="3352535" y="4739639"/>
                  <a:pt x="2452871" y="4739639"/>
                </a:cubicBezTo>
                <a:cubicBezTo>
                  <a:pt x="1553207" y="4739639"/>
                  <a:pt x="823885" y="4010317"/>
                  <a:pt x="823885" y="3110653"/>
                </a:cubicBezTo>
                <a:lnTo>
                  <a:pt x="827152" y="3045954"/>
                </a:lnTo>
                <a:lnTo>
                  <a:pt x="718205" y="2979767"/>
                </a:lnTo>
                <a:cubicBezTo>
                  <a:pt x="284892" y="2687026"/>
                  <a:pt x="0" y="2191276"/>
                  <a:pt x="0" y="1628986"/>
                </a:cubicBezTo>
                <a:cubicBezTo>
                  <a:pt x="0" y="729322"/>
                  <a:pt x="729322" y="0"/>
                  <a:pt x="1628986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84200" dist="38100" dir="3960000" sx="102000" sy="102000" algn="tl" rotWithShape="0">
              <a:prstClr val="black">
                <a:alpha val="10000"/>
              </a:prstClr>
            </a:outerShdw>
          </a:effectLst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6362602-9837-AFFD-FA98-803362C0AE40}"/>
              </a:ext>
            </a:extLst>
          </p:cNvPr>
          <p:cNvSpPr/>
          <p:nvPr/>
        </p:nvSpPr>
        <p:spPr bwMode="auto">
          <a:xfrm>
            <a:off x="1113627" y="1871304"/>
            <a:ext cx="2540652" cy="2540653"/>
          </a:xfrm>
          <a:prstGeom prst="ellipse">
            <a:avLst/>
          </a:prstGeom>
          <a:solidFill>
            <a:schemeClr val="bg2">
              <a:alpha val="0"/>
            </a:schemeClr>
          </a:solidFill>
          <a:ln>
            <a:solidFill>
              <a:schemeClr val="bg1">
                <a:lumMod val="85000"/>
                <a:alpha val="13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EF62172-94C1-3EEE-0268-C879AF2B75EF}"/>
              </a:ext>
            </a:extLst>
          </p:cNvPr>
          <p:cNvSpPr/>
          <p:nvPr/>
        </p:nvSpPr>
        <p:spPr bwMode="auto">
          <a:xfrm>
            <a:off x="2526365" y="1871304"/>
            <a:ext cx="2540652" cy="2540653"/>
          </a:xfrm>
          <a:prstGeom prst="ellipse">
            <a:avLst/>
          </a:prstGeom>
          <a:solidFill>
            <a:schemeClr val="bg2">
              <a:alpha val="30000"/>
            </a:schemeClr>
          </a:solidFill>
          <a:ln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2D8D15-0E2B-8393-71A7-964E284CA7D2}"/>
              </a:ext>
            </a:extLst>
          </p:cNvPr>
          <p:cNvSpPr txBox="1"/>
          <p:nvPr/>
        </p:nvSpPr>
        <p:spPr>
          <a:xfrm>
            <a:off x="1455245" y="2942649"/>
            <a:ext cx="80470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Business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(viability)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040368-1C12-B1E4-F01A-FF10F38259F8}"/>
              </a:ext>
            </a:extLst>
          </p:cNvPr>
          <p:cNvSpPr txBox="1"/>
          <p:nvPr/>
        </p:nvSpPr>
        <p:spPr>
          <a:xfrm>
            <a:off x="2711854" y="3336745"/>
            <a:ext cx="7905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Product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success</a:t>
            </a:r>
          </a:p>
        </p:txBody>
      </p:sp>
      <p:sp>
        <p:nvSpPr>
          <p:cNvPr id="40" name="Graphic 33" descr="Icon of a briefcase">
            <a:extLst>
              <a:ext uri="{FF2B5EF4-FFF2-40B4-BE49-F238E27FC236}">
                <a16:creationId xmlns:a16="http://schemas.microsoft.com/office/drawing/2014/main" id="{FF54E548-ABD2-EDDE-E5E0-CF8BE7A274A1}"/>
              </a:ext>
            </a:extLst>
          </p:cNvPr>
          <p:cNvSpPr>
            <a:spLocks noChangeAspect="1"/>
          </p:cNvSpPr>
          <p:nvPr/>
        </p:nvSpPr>
        <p:spPr>
          <a:xfrm>
            <a:off x="1671072" y="2506129"/>
            <a:ext cx="373056" cy="298350"/>
          </a:xfrm>
          <a:custGeom>
            <a:avLst/>
            <a:gdLst>
              <a:gd name="connsiteX0" fmla="*/ 95250 w 381000"/>
              <a:gd name="connsiteY0" fmla="*/ 42863 h 304704"/>
              <a:gd name="connsiteX1" fmla="*/ 95250 w 381000"/>
              <a:gd name="connsiteY1" fmla="*/ 57112 h 304704"/>
              <a:gd name="connsiteX2" fmla="*/ 42863 w 381000"/>
              <a:gd name="connsiteY2" fmla="*/ 57112 h 304704"/>
              <a:gd name="connsiteX3" fmla="*/ 0 w 381000"/>
              <a:gd name="connsiteY3" fmla="*/ 99974 h 304704"/>
              <a:gd name="connsiteX4" fmla="*/ 0 w 381000"/>
              <a:gd name="connsiteY4" fmla="*/ 261842 h 304704"/>
              <a:gd name="connsiteX5" fmla="*/ 42863 w 381000"/>
              <a:gd name="connsiteY5" fmla="*/ 304705 h 304704"/>
              <a:gd name="connsiteX6" fmla="*/ 338138 w 381000"/>
              <a:gd name="connsiteY6" fmla="*/ 304705 h 304704"/>
              <a:gd name="connsiteX7" fmla="*/ 381000 w 381000"/>
              <a:gd name="connsiteY7" fmla="*/ 261842 h 304704"/>
              <a:gd name="connsiteX8" fmla="*/ 381000 w 381000"/>
              <a:gd name="connsiteY8" fmla="*/ 99974 h 304704"/>
              <a:gd name="connsiteX9" fmla="*/ 338138 w 381000"/>
              <a:gd name="connsiteY9" fmla="*/ 57112 h 304704"/>
              <a:gd name="connsiteX10" fmla="*/ 285750 w 381000"/>
              <a:gd name="connsiteY10" fmla="*/ 57112 h 304704"/>
              <a:gd name="connsiteX11" fmla="*/ 285750 w 381000"/>
              <a:gd name="connsiteY11" fmla="*/ 42863 h 304704"/>
              <a:gd name="connsiteX12" fmla="*/ 242888 w 381000"/>
              <a:gd name="connsiteY12" fmla="*/ 0 h 304704"/>
              <a:gd name="connsiteX13" fmla="*/ 138113 w 381000"/>
              <a:gd name="connsiteY13" fmla="*/ 0 h 304704"/>
              <a:gd name="connsiteX14" fmla="*/ 95250 w 381000"/>
              <a:gd name="connsiteY14" fmla="*/ 42863 h 304704"/>
              <a:gd name="connsiteX15" fmla="*/ 138113 w 381000"/>
              <a:gd name="connsiteY15" fmla="*/ 28575 h 304704"/>
              <a:gd name="connsiteX16" fmla="*/ 242888 w 381000"/>
              <a:gd name="connsiteY16" fmla="*/ 28575 h 304704"/>
              <a:gd name="connsiteX17" fmla="*/ 257175 w 381000"/>
              <a:gd name="connsiteY17" fmla="*/ 42863 h 304704"/>
              <a:gd name="connsiteX18" fmla="*/ 257175 w 381000"/>
              <a:gd name="connsiteY18" fmla="*/ 57112 h 304704"/>
              <a:gd name="connsiteX19" fmla="*/ 123825 w 381000"/>
              <a:gd name="connsiteY19" fmla="*/ 57112 h 304704"/>
              <a:gd name="connsiteX20" fmla="*/ 123825 w 381000"/>
              <a:gd name="connsiteY20" fmla="*/ 42863 h 304704"/>
              <a:gd name="connsiteX21" fmla="*/ 138113 w 381000"/>
              <a:gd name="connsiteY21" fmla="*/ 28575 h 304704"/>
              <a:gd name="connsiteX22" fmla="*/ 95250 w 381000"/>
              <a:gd name="connsiteY22" fmla="*/ 85725 h 304704"/>
              <a:gd name="connsiteX23" fmla="*/ 123825 w 381000"/>
              <a:gd name="connsiteY23" fmla="*/ 85725 h 304704"/>
              <a:gd name="connsiteX24" fmla="*/ 123825 w 381000"/>
              <a:gd name="connsiteY24" fmla="*/ 85687 h 304704"/>
              <a:gd name="connsiteX25" fmla="*/ 257175 w 381000"/>
              <a:gd name="connsiteY25" fmla="*/ 85687 h 304704"/>
              <a:gd name="connsiteX26" fmla="*/ 257175 w 381000"/>
              <a:gd name="connsiteY26" fmla="*/ 85725 h 304704"/>
              <a:gd name="connsiteX27" fmla="*/ 285750 w 381000"/>
              <a:gd name="connsiteY27" fmla="*/ 85725 h 304704"/>
              <a:gd name="connsiteX28" fmla="*/ 285750 w 381000"/>
              <a:gd name="connsiteY28" fmla="*/ 85687 h 304704"/>
              <a:gd name="connsiteX29" fmla="*/ 338138 w 381000"/>
              <a:gd name="connsiteY29" fmla="*/ 85687 h 304704"/>
              <a:gd name="connsiteX30" fmla="*/ 352425 w 381000"/>
              <a:gd name="connsiteY30" fmla="*/ 99974 h 304704"/>
              <a:gd name="connsiteX31" fmla="*/ 352425 w 381000"/>
              <a:gd name="connsiteY31" fmla="*/ 142837 h 304704"/>
              <a:gd name="connsiteX32" fmla="*/ 295275 w 381000"/>
              <a:gd name="connsiteY32" fmla="*/ 142837 h 304704"/>
              <a:gd name="connsiteX33" fmla="*/ 295275 w 381000"/>
              <a:gd name="connsiteY33" fmla="*/ 128549 h 304704"/>
              <a:gd name="connsiteX34" fmla="*/ 280988 w 381000"/>
              <a:gd name="connsiteY34" fmla="*/ 114262 h 304704"/>
              <a:gd name="connsiteX35" fmla="*/ 266700 w 381000"/>
              <a:gd name="connsiteY35" fmla="*/ 128549 h 304704"/>
              <a:gd name="connsiteX36" fmla="*/ 266700 w 381000"/>
              <a:gd name="connsiteY36" fmla="*/ 142837 h 304704"/>
              <a:gd name="connsiteX37" fmla="*/ 114300 w 381000"/>
              <a:gd name="connsiteY37" fmla="*/ 142837 h 304704"/>
              <a:gd name="connsiteX38" fmla="*/ 114300 w 381000"/>
              <a:gd name="connsiteY38" fmla="*/ 128549 h 304704"/>
              <a:gd name="connsiteX39" fmla="*/ 100013 w 381000"/>
              <a:gd name="connsiteY39" fmla="*/ 114262 h 304704"/>
              <a:gd name="connsiteX40" fmla="*/ 85725 w 381000"/>
              <a:gd name="connsiteY40" fmla="*/ 128549 h 304704"/>
              <a:gd name="connsiteX41" fmla="*/ 85725 w 381000"/>
              <a:gd name="connsiteY41" fmla="*/ 142837 h 304704"/>
              <a:gd name="connsiteX42" fmla="*/ 28575 w 381000"/>
              <a:gd name="connsiteY42" fmla="*/ 142837 h 304704"/>
              <a:gd name="connsiteX43" fmla="*/ 28575 w 381000"/>
              <a:gd name="connsiteY43" fmla="*/ 99974 h 304704"/>
              <a:gd name="connsiteX44" fmla="*/ 42863 w 381000"/>
              <a:gd name="connsiteY44" fmla="*/ 85687 h 304704"/>
              <a:gd name="connsiteX45" fmla="*/ 95250 w 381000"/>
              <a:gd name="connsiteY45" fmla="*/ 85687 h 304704"/>
              <a:gd name="connsiteX46" fmla="*/ 95250 w 381000"/>
              <a:gd name="connsiteY46" fmla="*/ 85725 h 304704"/>
              <a:gd name="connsiteX47" fmla="*/ 266700 w 381000"/>
              <a:gd name="connsiteY47" fmla="*/ 171412 h 304704"/>
              <a:gd name="connsiteX48" fmla="*/ 266700 w 381000"/>
              <a:gd name="connsiteY48" fmla="*/ 195224 h 304704"/>
              <a:gd name="connsiteX49" fmla="*/ 280988 w 381000"/>
              <a:gd name="connsiteY49" fmla="*/ 209512 h 304704"/>
              <a:gd name="connsiteX50" fmla="*/ 295275 w 381000"/>
              <a:gd name="connsiteY50" fmla="*/ 195224 h 304704"/>
              <a:gd name="connsiteX51" fmla="*/ 295275 w 381000"/>
              <a:gd name="connsiteY51" fmla="*/ 171412 h 304704"/>
              <a:gd name="connsiteX52" fmla="*/ 352425 w 381000"/>
              <a:gd name="connsiteY52" fmla="*/ 171412 h 304704"/>
              <a:gd name="connsiteX53" fmla="*/ 352425 w 381000"/>
              <a:gd name="connsiteY53" fmla="*/ 261842 h 304704"/>
              <a:gd name="connsiteX54" fmla="*/ 338138 w 381000"/>
              <a:gd name="connsiteY54" fmla="*/ 276130 h 304704"/>
              <a:gd name="connsiteX55" fmla="*/ 42863 w 381000"/>
              <a:gd name="connsiteY55" fmla="*/ 276130 h 304704"/>
              <a:gd name="connsiteX56" fmla="*/ 28575 w 381000"/>
              <a:gd name="connsiteY56" fmla="*/ 261842 h 304704"/>
              <a:gd name="connsiteX57" fmla="*/ 28575 w 381000"/>
              <a:gd name="connsiteY57" fmla="*/ 171412 h 304704"/>
              <a:gd name="connsiteX58" fmla="*/ 85725 w 381000"/>
              <a:gd name="connsiteY58" fmla="*/ 171412 h 304704"/>
              <a:gd name="connsiteX59" fmla="*/ 85725 w 381000"/>
              <a:gd name="connsiteY59" fmla="*/ 195224 h 304704"/>
              <a:gd name="connsiteX60" fmla="*/ 100013 w 381000"/>
              <a:gd name="connsiteY60" fmla="*/ 209512 h 304704"/>
              <a:gd name="connsiteX61" fmla="*/ 114300 w 381000"/>
              <a:gd name="connsiteY61" fmla="*/ 195224 h 304704"/>
              <a:gd name="connsiteX62" fmla="*/ 114300 w 381000"/>
              <a:gd name="connsiteY62" fmla="*/ 171412 h 304704"/>
              <a:gd name="connsiteX63" fmla="*/ 266700 w 381000"/>
              <a:gd name="connsiteY63" fmla="*/ 171412 h 30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81000" h="304704">
                <a:moveTo>
                  <a:pt x="95250" y="42863"/>
                </a:moveTo>
                <a:lnTo>
                  <a:pt x="95250" y="57112"/>
                </a:lnTo>
                <a:lnTo>
                  <a:pt x="42863" y="57112"/>
                </a:lnTo>
                <a:cubicBezTo>
                  <a:pt x="19190" y="57112"/>
                  <a:pt x="0" y="76302"/>
                  <a:pt x="0" y="99974"/>
                </a:cubicBezTo>
                <a:lnTo>
                  <a:pt x="0" y="261842"/>
                </a:lnTo>
                <a:cubicBezTo>
                  <a:pt x="0" y="285514"/>
                  <a:pt x="19190" y="304705"/>
                  <a:pt x="42863" y="304705"/>
                </a:cubicBezTo>
                <a:lnTo>
                  <a:pt x="338138" y="304705"/>
                </a:lnTo>
                <a:cubicBezTo>
                  <a:pt x="361809" y="304705"/>
                  <a:pt x="381000" y="285514"/>
                  <a:pt x="381000" y="261842"/>
                </a:cubicBezTo>
                <a:lnTo>
                  <a:pt x="381000" y="99974"/>
                </a:lnTo>
                <a:cubicBezTo>
                  <a:pt x="381000" y="76302"/>
                  <a:pt x="361809" y="57112"/>
                  <a:pt x="338138" y="57112"/>
                </a:cubicBezTo>
                <a:lnTo>
                  <a:pt x="285750" y="57112"/>
                </a:lnTo>
                <a:lnTo>
                  <a:pt x="285750" y="42863"/>
                </a:lnTo>
                <a:cubicBezTo>
                  <a:pt x="285750" y="19190"/>
                  <a:pt x="266559" y="0"/>
                  <a:pt x="242888" y="0"/>
                </a:cubicBezTo>
                <a:lnTo>
                  <a:pt x="138113" y="0"/>
                </a:lnTo>
                <a:cubicBezTo>
                  <a:pt x="114440" y="0"/>
                  <a:pt x="95250" y="19190"/>
                  <a:pt x="95250" y="42863"/>
                </a:cubicBezTo>
                <a:close/>
                <a:moveTo>
                  <a:pt x="138113" y="28575"/>
                </a:moveTo>
                <a:lnTo>
                  <a:pt x="242888" y="28575"/>
                </a:lnTo>
                <a:cubicBezTo>
                  <a:pt x="250778" y="28575"/>
                  <a:pt x="257175" y="34972"/>
                  <a:pt x="257175" y="42863"/>
                </a:cubicBezTo>
                <a:lnTo>
                  <a:pt x="257175" y="57112"/>
                </a:lnTo>
                <a:lnTo>
                  <a:pt x="123825" y="57112"/>
                </a:lnTo>
                <a:lnTo>
                  <a:pt x="123825" y="42863"/>
                </a:lnTo>
                <a:cubicBezTo>
                  <a:pt x="123825" y="34972"/>
                  <a:pt x="130222" y="28575"/>
                  <a:pt x="138113" y="28575"/>
                </a:cubicBezTo>
                <a:close/>
                <a:moveTo>
                  <a:pt x="95250" y="85725"/>
                </a:moveTo>
                <a:lnTo>
                  <a:pt x="123825" y="85725"/>
                </a:lnTo>
                <a:lnTo>
                  <a:pt x="123825" y="85687"/>
                </a:lnTo>
                <a:lnTo>
                  <a:pt x="257175" y="85687"/>
                </a:lnTo>
                <a:lnTo>
                  <a:pt x="257175" y="85725"/>
                </a:lnTo>
                <a:lnTo>
                  <a:pt x="285750" y="85725"/>
                </a:lnTo>
                <a:lnTo>
                  <a:pt x="285750" y="85687"/>
                </a:lnTo>
                <a:lnTo>
                  <a:pt x="338138" y="85687"/>
                </a:lnTo>
                <a:cubicBezTo>
                  <a:pt x="346028" y="85687"/>
                  <a:pt x="352425" y="92084"/>
                  <a:pt x="352425" y="99974"/>
                </a:cubicBezTo>
                <a:lnTo>
                  <a:pt x="352425" y="142837"/>
                </a:lnTo>
                <a:lnTo>
                  <a:pt x="295275" y="142837"/>
                </a:lnTo>
                <a:lnTo>
                  <a:pt x="295275" y="128549"/>
                </a:lnTo>
                <a:cubicBezTo>
                  <a:pt x="295275" y="120659"/>
                  <a:pt x="288878" y="114262"/>
                  <a:pt x="280988" y="114262"/>
                </a:cubicBezTo>
                <a:cubicBezTo>
                  <a:pt x="273097" y="114262"/>
                  <a:pt x="266700" y="120659"/>
                  <a:pt x="266700" y="128549"/>
                </a:cubicBezTo>
                <a:lnTo>
                  <a:pt x="266700" y="142837"/>
                </a:lnTo>
                <a:lnTo>
                  <a:pt x="114300" y="142837"/>
                </a:lnTo>
                <a:lnTo>
                  <a:pt x="114300" y="128549"/>
                </a:lnTo>
                <a:cubicBezTo>
                  <a:pt x="114300" y="120659"/>
                  <a:pt x="107903" y="114262"/>
                  <a:pt x="100013" y="114262"/>
                </a:cubicBezTo>
                <a:cubicBezTo>
                  <a:pt x="92122" y="114262"/>
                  <a:pt x="85725" y="120659"/>
                  <a:pt x="85725" y="128549"/>
                </a:cubicBezTo>
                <a:lnTo>
                  <a:pt x="85725" y="142837"/>
                </a:lnTo>
                <a:lnTo>
                  <a:pt x="28575" y="142837"/>
                </a:lnTo>
                <a:lnTo>
                  <a:pt x="28575" y="99974"/>
                </a:lnTo>
                <a:cubicBezTo>
                  <a:pt x="28575" y="92084"/>
                  <a:pt x="34972" y="85687"/>
                  <a:pt x="42863" y="85687"/>
                </a:cubicBezTo>
                <a:lnTo>
                  <a:pt x="95250" y="85687"/>
                </a:lnTo>
                <a:lnTo>
                  <a:pt x="95250" y="85725"/>
                </a:lnTo>
                <a:close/>
                <a:moveTo>
                  <a:pt x="266700" y="171412"/>
                </a:moveTo>
                <a:lnTo>
                  <a:pt x="266700" y="195224"/>
                </a:lnTo>
                <a:cubicBezTo>
                  <a:pt x="266700" y="203115"/>
                  <a:pt x="273097" y="209512"/>
                  <a:pt x="280988" y="209512"/>
                </a:cubicBezTo>
                <a:cubicBezTo>
                  <a:pt x="288878" y="209512"/>
                  <a:pt x="295275" y="203115"/>
                  <a:pt x="295275" y="195224"/>
                </a:cubicBezTo>
                <a:lnTo>
                  <a:pt x="295275" y="171412"/>
                </a:lnTo>
                <a:lnTo>
                  <a:pt x="352425" y="171412"/>
                </a:lnTo>
                <a:lnTo>
                  <a:pt x="352425" y="261842"/>
                </a:lnTo>
                <a:cubicBezTo>
                  <a:pt x="352425" y="269733"/>
                  <a:pt x="346028" y="276130"/>
                  <a:pt x="338138" y="276130"/>
                </a:cubicBezTo>
                <a:lnTo>
                  <a:pt x="42863" y="276130"/>
                </a:lnTo>
                <a:cubicBezTo>
                  <a:pt x="34972" y="276130"/>
                  <a:pt x="28575" y="269733"/>
                  <a:pt x="28575" y="261842"/>
                </a:cubicBezTo>
                <a:lnTo>
                  <a:pt x="28575" y="171412"/>
                </a:lnTo>
                <a:lnTo>
                  <a:pt x="85725" y="171412"/>
                </a:lnTo>
                <a:lnTo>
                  <a:pt x="85725" y="195224"/>
                </a:lnTo>
                <a:cubicBezTo>
                  <a:pt x="85725" y="203115"/>
                  <a:pt x="92122" y="209512"/>
                  <a:pt x="100013" y="209512"/>
                </a:cubicBezTo>
                <a:cubicBezTo>
                  <a:pt x="107903" y="209512"/>
                  <a:pt x="114300" y="203115"/>
                  <a:pt x="114300" y="195224"/>
                </a:cubicBezTo>
                <a:lnTo>
                  <a:pt x="114300" y="171412"/>
                </a:lnTo>
                <a:lnTo>
                  <a:pt x="266700" y="171412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FFA4BA-BA46-2010-50BB-71921FCECDC2}"/>
              </a:ext>
            </a:extLst>
          </p:cNvPr>
          <p:cNvGrpSpPr/>
          <p:nvPr/>
        </p:nvGrpSpPr>
        <p:grpSpPr>
          <a:xfrm>
            <a:off x="3289341" y="2739039"/>
            <a:ext cx="1014700" cy="805184"/>
            <a:chOff x="3889139" y="2568352"/>
            <a:chExt cx="1014700" cy="805184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4ECD6F5-07DE-7F10-EE9C-B6E4D765DC68}"/>
                </a:ext>
              </a:extLst>
            </p:cNvPr>
            <p:cNvSpPr txBox="1"/>
            <p:nvPr/>
          </p:nvSpPr>
          <p:spPr>
            <a:xfrm>
              <a:off x="3889139" y="2942649"/>
              <a:ext cx="1014700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Experience</a:t>
              </a:r>
              <a:br>
                <a:rPr kumimoji="0" lang="en-US" sz="1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(desirability)</a:t>
              </a:r>
            </a:p>
          </p:txBody>
        </p:sp>
        <p:sp>
          <p:nvSpPr>
            <p:cNvPr id="41" name="Graphic 328" descr="Icon of a line chart with connected circles at varying points">
              <a:extLst>
                <a:ext uri="{FF2B5EF4-FFF2-40B4-BE49-F238E27FC236}">
                  <a16:creationId xmlns:a16="http://schemas.microsoft.com/office/drawing/2014/main" id="{49F333C3-7E8E-DC48-B966-F78A245067E7}"/>
                </a:ext>
              </a:extLst>
            </p:cNvPr>
            <p:cNvSpPr/>
            <p:nvPr/>
          </p:nvSpPr>
          <p:spPr>
            <a:xfrm>
              <a:off x="4244079" y="2568352"/>
              <a:ext cx="304820" cy="274322"/>
            </a:xfrm>
            <a:custGeom>
              <a:avLst/>
              <a:gdLst>
                <a:gd name="connsiteX0" fmla="*/ 220167 w 259020"/>
                <a:gd name="connsiteY0" fmla="*/ 19416 h 233104"/>
                <a:gd name="connsiteX1" fmla="*/ 200740 w 259020"/>
                <a:gd name="connsiteY1" fmla="*/ 38842 h 233104"/>
                <a:gd name="connsiteX2" fmla="*/ 220167 w 259020"/>
                <a:gd name="connsiteY2" fmla="*/ 58269 h 233104"/>
                <a:gd name="connsiteX3" fmla="*/ 239594 w 259020"/>
                <a:gd name="connsiteY3" fmla="*/ 38842 h 233104"/>
                <a:gd name="connsiteX4" fmla="*/ 220167 w 259020"/>
                <a:gd name="connsiteY4" fmla="*/ 19416 h 233104"/>
                <a:gd name="connsiteX5" fmla="*/ 181314 w 259020"/>
                <a:gd name="connsiteY5" fmla="*/ 38842 h 233104"/>
                <a:gd name="connsiteX6" fmla="*/ 220177 w 259020"/>
                <a:gd name="connsiteY6" fmla="*/ 0 h 233104"/>
                <a:gd name="connsiteX7" fmla="*/ 259020 w 259020"/>
                <a:gd name="connsiteY7" fmla="*/ 38864 h 233104"/>
                <a:gd name="connsiteX8" fmla="*/ 220157 w 259020"/>
                <a:gd name="connsiteY8" fmla="*/ 77707 h 233104"/>
                <a:gd name="connsiteX9" fmla="*/ 214015 w 259020"/>
                <a:gd name="connsiteY9" fmla="*/ 77216 h 233104"/>
                <a:gd name="connsiteX10" fmla="*/ 187621 w 259020"/>
                <a:gd name="connsiteY10" fmla="*/ 120706 h 233104"/>
                <a:gd name="connsiteX11" fmla="*/ 177418 w 259020"/>
                <a:gd name="connsiteY11" fmla="*/ 174698 h 233104"/>
                <a:gd name="connsiteX12" fmla="*/ 126103 w 259020"/>
                <a:gd name="connsiteY12" fmla="*/ 167978 h 233104"/>
                <a:gd name="connsiteX13" fmla="*/ 77653 w 259020"/>
                <a:gd name="connsiteY13" fmla="*/ 192196 h 233104"/>
                <a:gd name="connsiteX14" fmla="*/ 40908 w 259020"/>
                <a:gd name="connsiteY14" fmla="*/ 233049 h 233104"/>
                <a:gd name="connsiteX15" fmla="*/ 55 w 259020"/>
                <a:gd name="connsiteY15" fmla="*/ 196304 h 233104"/>
                <a:gd name="connsiteX16" fmla="*/ 36800 w 259020"/>
                <a:gd name="connsiteY16" fmla="*/ 155451 h 233104"/>
                <a:gd name="connsiteX17" fmla="*/ 71683 w 259020"/>
                <a:gd name="connsiteY17" fmla="*/ 173469 h 233104"/>
                <a:gd name="connsiteX18" fmla="*/ 117413 w 259020"/>
                <a:gd name="connsiteY18" fmla="*/ 150597 h 233104"/>
                <a:gd name="connsiteX19" fmla="*/ 147234 w 259020"/>
                <a:gd name="connsiteY19" fmla="*/ 104447 h 233104"/>
                <a:gd name="connsiteX20" fmla="*/ 172792 w 259020"/>
                <a:gd name="connsiteY20" fmla="*/ 107690 h 233104"/>
                <a:gd name="connsiteX21" fmla="*/ 196078 w 259020"/>
                <a:gd name="connsiteY21" fmla="*/ 69329 h 233104"/>
                <a:gd name="connsiteX22" fmla="*/ 181314 w 259020"/>
                <a:gd name="connsiteY22" fmla="*/ 38842 h 233104"/>
                <a:gd name="connsiteX23" fmla="*/ 155411 w 259020"/>
                <a:gd name="connsiteY23" fmla="*/ 123024 h 233104"/>
                <a:gd name="connsiteX24" fmla="*/ 135985 w 259020"/>
                <a:gd name="connsiteY24" fmla="*/ 142451 h 233104"/>
                <a:gd name="connsiteX25" fmla="*/ 155411 w 259020"/>
                <a:gd name="connsiteY25" fmla="*/ 161878 h 233104"/>
                <a:gd name="connsiteX26" fmla="*/ 174838 w 259020"/>
                <a:gd name="connsiteY26" fmla="*/ 142451 h 233104"/>
                <a:gd name="connsiteX27" fmla="*/ 155411 w 259020"/>
                <a:gd name="connsiteY27" fmla="*/ 123024 h 233104"/>
                <a:gd name="connsiteX28" fmla="*/ 38852 w 259020"/>
                <a:gd name="connsiteY28" fmla="*/ 174829 h 233104"/>
                <a:gd name="connsiteX29" fmla="*/ 19425 w 259020"/>
                <a:gd name="connsiteY29" fmla="*/ 194255 h 233104"/>
                <a:gd name="connsiteX30" fmla="*/ 38852 w 259020"/>
                <a:gd name="connsiteY30" fmla="*/ 213682 h 233104"/>
                <a:gd name="connsiteX31" fmla="*/ 58278 w 259020"/>
                <a:gd name="connsiteY31" fmla="*/ 194255 h 233104"/>
                <a:gd name="connsiteX32" fmla="*/ 38852 w 259020"/>
                <a:gd name="connsiteY32" fmla="*/ 174829 h 233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9020" h="233104">
                  <a:moveTo>
                    <a:pt x="220167" y="19416"/>
                  </a:moveTo>
                  <a:cubicBezTo>
                    <a:pt x="209438" y="19416"/>
                    <a:pt x="200740" y="28113"/>
                    <a:pt x="200740" y="38842"/>
                  </a:cubicBezTo>
                  <a:cubicBezTo>
                    <a:pt x="200740" y="49571"/>
                    <a:pt x="209438" y="58269"/>
                    <a:pt x="220167" y="58269"/>
                  </a:cubicBezTo>
                  <a:cubicBezTo>
                    <a:pt x="230896" y="58269"/>
                    <a:pt x="239594" y="49571"/>
                    <a:pt x="239594" y="38842"/>
                  </a:cubicBezTo>
                  <a:cubicBezTo>
                    <a:pt x="239594" y="28113"/>
                    <a:pt x="230896" y="19416"/>
                    <a:pt x="220167" y="19416"/>
                  </a:cubicBezTo>
                  <a:close/>
                  <a:moveTo>
                    <a:pt x="181314" y="38842"/>
                  </a:moveTo>
                  <a:cubicBezTo>
                    <a:pt x="181320" y="17384"/>
                    <a:pt x="198720" y="-6"/>
                    <a:pt x="220177" y="0"/>
                  </a:cubicBezTo>
                  <a:cubicBezTo>
                    <a:pt x="241636" y="6"/>
                    <a:pt x="259027" y="17406"/>
                    <a:pt x="259020" y="38864"/>
                  </a:cubicBezTo>
                  <a:cubicBezTo>
                    <a:pt x="259014" y="60322"/>
                    <a:pt x="241614" y="77713"/>
                    <a:pt x="220157" y="77707"/>
                  </a:cubicBezTo>
                  <a:cubicBezTo>
                    <a:pt x="218100" y="77706"/>
                    <a:pt x="216046" y="77542"/>
                    <a:pt x="214015" y="77216"/>
                  </a:cubicBezTo>
                  <a:lnTo>
                    <a:pt x="187621" y="120706"/>
                  </a:lnTo>
                  <a:cubicBezTo>
                    <a:pt x="199713" y="138432"/>
                    <a:pt x="195145" y="162606"/>
                    <a:pt x="177418" y="174698"/>
                  </a:cubicBezTo>
                  <a:cubicBezTo>
                    <a:pt x="161093" y="185833"/>
                    <a:pt x="139010" y="182941"/>
                    <a:pt x="126103" y="167978"/>
                  </a:cubicBezTo>
                  <a:lnTo>
                    <a:pt x="77653" y="192196"/>
                  </a:lnTo>
                  <a:cubicBezTo>
                    <a:pt x="78788" y="213624"/>
                    <a:pt x="62336" y="231915"/>
                    <a:pt x="40908" y="233049"/>
                  </a:cubicBezTo>
                  <a:cubicBezTo>
                    <a:pt x="19480" y="234184"/>
                    <a:pt x="1190" y="217733"/>
                    <a:pt x="55" y="196304"/>
                  </a:cubicBezTo>
                  <a:cubicBezTo>
                    <a:pt x="-1079" y="174877"/>
                    <a:pt x="15372" y="156586"/>
                    <a:pt x="36800" y="155451"/>
                  </a:cubicBezTo>
                  <a:cubicBezTo>
                    <a:pt x="50830" y="154709"/>
                    <a:pt x="64168" y="161598"/>
                    <a:pt x="71683" y="173469"/>
                  </a:cubicBezTo>
                  <a:lnTo>
                    <a:pt x="117413" y="150597"/>
                  </a:lnTo>
                  <a:cubicBezTo>
                    <a:pt x="112903" y="129618"/>
                    <a:pt x="126256" y="108956"/>
                    <a:pt x="147234" y="104447"/>
                  </a:cubicBezTo>
                  <a:cubicBezTo>
                    <a:pt x="155875" y="102590"/>
                    <a:pt x="164889" y="103734"/>
                    <a:pt x="172792" y="107690"/>
                  </a:cubicBezTo>
                  <a:lnTo>
                    <a:pt x="196078" y="69329"/>
                  </a:lnTo>
                  <a:cubicBezTo>
                    <a:pt x="186745" y="61966"/>
                    <a:pt x="181303" y="50730"/>
                    <a:pt x="181314" y="38842"/>
                  </a:cubicBezTo>
                  <a:close/>
                  <a:moveTo>
                    <a:pt x="155411" y="123024"/>
                  </a:moveTo>
                  <a:cubicBezTo>
                    <a:pt x="144683" y="123024"/>
                    <a:pt x="135985" y="131722"/>
                    <a:pt x="135985" y="142451"/>
                  </a:cubicBezTo>
                  <a:cubicBezTo>
                    <a:pt x="135985" y="153180"/>
                    <a:pt x="144683" y="161878"/>
                    <a:pt x="155411" y="161878"/>
                  </a:cubicBezTo>
                  <a:cubicBezTo>
                    <a:pt x="166140" y="161878"/>
                    <a:pt x="174838" y="153180"/>
                    <a:pt x="174838" y="142451"/>
                  </a:cubicBezTo>
                  <a:cubicBezTo>
                    <a:pt x="174838" y="131722"/>
                    <a:pt x="166140" y="123024"/>
                    <a:pt x="155411" y="123024"/>
                  </a:cubicBezTo>
                  <a:close/>
                  <a:moveTo>
                    <a:pt x="38852" y="174829"/>
                  </a:moveTo>
                  <a:cubicBezTo>
                    <a:pt x="28123" y="174829"/>
                    <a:pt x="19425" y="183527"/>
                    <a:pt x="19425" y="194255"/>
                  </a:cubicBezTo>
                  <a:cubicBezTo>
                    <a:pt x="19425" y="204984"/>
                    <a:pt x="28123" y="213682"/>
                    <a:pt x="38852" y="213682"/>
                  </a:cubicBezTo>
                  <a:cubicBezTo>
                    <a:pt x="49581" y="213682"/>
                    <a:pt x="58278" y="204984"/>
                    <a:pt x="58278" y="194255"/>
                  </a:cubicBezTo>
                  <a:cubicBezTo>
                    <a:pt x="58278" y="183527"/>
                    <a:pt x="49581" y="174829"/>
                    <a:pt x="38852" y="17482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56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chemeClr val="bg1"/>
                </a:solidFill>
                <a:latin typeface="+mj-lt"/>
                <a:cs typeface="Segoe UI" pitchFamily="34" charset="0"/>
              </a:endParaRP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F32AE5A-5A4A-FC54-1F58-EDD6EF1C977D}"/>
              </a:ext>
            </a:extLst>
          </p:cNvPr>
          <p:cNvSpPr txBox="1"/>
          <p:nvPr/>
        </p:nvSpPr>
        <p:spPr>
          <a:xfrm>
            <a:off x="5445378" y="5627063"/>
            <a:ext cx="5694110" cy="36929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What other experience questions come to mind?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64B05F9-EA99-345D-6CE0-0D6BEF51C863}"/>
              </a:ext>
            </a:extLst>
          </p:cNvPr>
          <p:cNvSpPr/>
          <p:nvPr/>
        </p:nvSpPr>
        <p:spPr bwMode="auto">
          <a:xfrm>
            <a:off x="10890709" y="5567576"/>
            <a:ext cx="488264" cy="48826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76200" dir="3600000" sx="90000" sy="90000" algn="tr" rotWithShape="0">
              <a:schemeClr val="bg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27A8F64-B182-8817-6A6B-116B8FADD596}"/>
              </a:ext>
            </a:extLst>
          </p:cNvPr>
          <p:cNvSpPr/>
          <p:nvPr/>
        </p:nvSpPr>
        <p:spPr bwMode="auto">
          <a:xfrm>
            <a:off x="5591683" y="1414324"/>
            <a:ext cx="5868223" cy="4010343"/>
          </a:xfrm>
          <a:prstGeom prst="roundRect">
            <a:avLst>
              <a:gd name="adj" fmla="val 2900"/>
            </a:avLst>
          </a:prstGeom>
          <a:solidFill>
            <a:schemeClr val="bg2">
              <a:lumMod val="90000"/>
              <a:alpha val="3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>
              <a:solidFill>
                <a:schemeClr val="tx1"/>
              </a:solidFill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FD7E278-F537-D641-2036-4FC4C32C1691}"/>
              </a:ext>
            </a:extLst>
          </p:cNvPr>
          <p:cNvGraphicFramePr>
            <a:graphicFrameLocks noGrp="1"/>
          </p:cNvGraphicFramePr>
          <p:nvPr/>
        </p:nvGraphicFramePr>
        <p:xfrm>
          <a:off x="5683123" y="1505764"/>
          <a:ext cx="5685342" cy="1739099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47557">
                  <a:extLst>
                    <a:ext uri="{9D8B030D-6E8A-4147-A177-3AD203B41FA5}">
                      <a16:colId xmlns:a16="http://schemas.microsoft.com/office/drawing/2014/main" val="3550081164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4201578885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1867402025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3572655341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3137342565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3934252459"/>
                    </a:ext>
                  </a:extLst>
                </a:gridCol>
              </a:tblGrid>
              <a:tr h="272581"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endParaRPr lang="en-US" sz="1200" b="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32742" rtl="0" eaLnBrk="1" latinLnBrk="0" hangingPunct="1">
                        <a:spcAft>
                          <a:spcPts val="1200"/>
                        </a:spcAft>
                      </a:pPr>
                      <a:r>
                        <a:rPr lang="en-US" sz="12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824107"/>
                  </a:ext>
                </a:extLst>
              </a:tr>
              <a:tr h="1464779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j-lt"/>
                        </a:rPr>
                        <a:t>Experience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The ‘pilot’ is </a:t>
                      </a:r>
                      <a:r>
                        <a:rPr lang="en-US" sz="1000" b="0" i="1">
                          <a:solidFill>
                            <a:schemeClr val="tx1"/>
                          </a:solidFill>
                          <a:latin typeface="+mj-lt"/>
                        </a:rPr>
                        <a:t>extremely unlikely 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to find the concept desirable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The ‘pilot’ is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unlikely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 to find the concept desirable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The ‘pilot’ is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somewhat likely 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to find the concept desirable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The ‘pilot’ is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likely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 to find the concept desirable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The ‘pilot’ is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extremely likely 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to find the concept desirable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1950"/>
                  </a:ext>
                </a:extLst>
              </a:tr>
            </a:tbl>
          </a:graphicData>
        </a:graphic>
      </p:graphicFrame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5D5F34EB-45B5-FAC0-7F9B-B2615F7C89FC}"/>
              </a:ext>
            </a:extLst>
          </p:cNvPr>
          <p:cNvSpPr>
            <a:spLocks/>
          </p:cNvSpPr>
          <p:nvPr/>
        </p:nvSpPr>
        <p:spPr bwMode="auto">
          <a:xfrm>
            <a:off x="5683123" y="3376183"/>
            <a:ext cx="5685342" cy="27795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n-US" sz="1200">
                <a:latin typeface="+mj-lt"/>
              </a:rPr>
              <a:t>Questions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5D715740-22D5-5A08-41CF-91D43EEC3AAD}"/>
              </a:ext>
            </a:extLst>
          </p:cNvPr>
          <p:cNvSpPr txBox="1">
            <a:spLocks/>
          </p:cNvSpPr>
          <p:nvPr/>
        </p:nvSpPr>
        <p:spPr>
          <a:xfrm>
            <a:off x="5767668" y="3739472"/>
            <a:ext cx="5580380" cy="11182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Is it desirable? </a:t>
            </a:r>
          </a:p>
          <a:p>
            <a:pPr marL="209550" indent="-152400">
              <a:spcBef>
                <a:spcPts val="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</a:rPr>
              <a:t>Does it align with users’ needs and preferences?</a:t>
            </a:r>
          </a:p>
          <a:p>
            <a:pPr marL="209550" indent="-152400">
              <a:spcBef>
                <a:spcPts val="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</a:rPr>
              <a:t>How will solution impact user experiences?</a:t>
            </a:r>
          </a:p>
          <a:p>
            <a:pPr marL="209550" indent="-152400">
              <a:spcBef>
                <a:spcPts val="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</a:rPr>
              <a:t>Is the user clear? Who is the “pilot” of the copilot?</a:t>
            </a:r>
          </a:p>
          <a:p>
            <a:pPr marL="209550" indent="-152400">
              <a:spcBef>
                <a:spcPts val="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</a:rPr>
              <a:t>Will users be motivated to use it over other experiences?</a:t>
            </a:r>
          </a:p>
          <a:p>
            <a:pPr marL="209550" indent="-152400">
              <a:spcBef>
                <a:spcPts val="200"/>
              </a:spcBef>
              <a:spcAft>
                <a:spcPts val="200"/>
              </a:spcAft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900">
                <a:solidFill>
                  <a:srgbClr val="000000"/>
                </a:solidFill>
              </a:rPr>
              <a:t>Are there any potential pain points for users in adopting the solution?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58A44E81-6C40-9AD8-0F66-FFD8B6DBACC5}"/>
              </a:ext>
            </a:extLst>
          </p:cNvPr>
          <p:cNvSpPr/>
          <p:nvPr/>
        </p:nvSpPr>
        <p:spPr bwMode="auto">
          <a:xfrm>
            <a:off x="1819995" y="3141631"/>
            <a:ext cx="2540652" cy="2540653"/>
          </a:xfrm>
          <a:prstGeom prst="ellipse">
            <a:avLst/>
          </a:prstGeom>
          <a:solidFill>
            <a:schemeClr val="bg2">
              <a:alpha val="0"/>
            </a:schemeClr>
          </a:solidFill>
          <a:ln>
            <a:solidFill>
              <a:schemeClr val="bg1">
                <a:lumMod val="85000"/>
                <a:alpha val="13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233FEAB-7C20-C71D-7517-666105C3B3C3}"/>
              </a:ext>
            </a:extLst>
          </p:cNvPr>
          <p:cNvSpPr txBox="1"/>
          <p:nvPr/>
        </p:nvSpPr>
        <p:spPr>
          <a:xfrm>
            <a:off x="2552258" y="4920507"/>
            <a:ext cx="107612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Technology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(feasibility)</a:t>
            </a:r>
          </a:p>
        </p:txBody>
      </p:sp>
      <p:sp>
        <p:nvSpPr>
          <p:cNvPr id="51" name="Graphic 5" descr="Icon of a circuit brain">
            <a:extLst>
              <a:ext uri="{FF2B5EF4-FFF2-40B4-BE49-F238E27FC236}">
                <a16:creationId xmlns:a16="http://schemas.microsoft.com/office/drawing/2014/main" id="{425DB742-C655-E346-92F2-DDB732DCC3C3}"/>
              </a:ext>
            </a:extLst>
          </p:cNvPr>
          <p:cNvSpPr>
            <a:spLocks noChangeAspect="1"/>
          </p:cNvSpPr>
          <p:nvPr/>
        </p:nvSpPr>
        <p:spPr>
          <a:xfrm>
            <a:off x="2957630" y="4493601"/>
            <a:ext cx="265385" cy="265430"/>
          </a:xfrm>
          <a:custGeom>
            <a:avLst/>
            <a:gdLst>
              <a:gd name="connsiteX0" fmla="*/ 102548 w 398857"/>
              <a:gd name="connsiteY0" fmla="*/ 20069 h 398925"/>
              <a:gd name="connsiteX1" fmla="*/ 162432 w 398857"/>
              <a:gd name="connsiteY1" fmla="*/ 0 h 398925"/>
              <a:gd name="connsiteX2" fmla="*/ 193696 w 398857"/>
              <a:gd name="connsiteY2" fmla="*/ 11472 h 398925"/>
              <a:gd name="connsiteX3" fmla="*/ 199429 w 398857"/>
              <a:gd name="connsiteY3" fmla="*/ 17549 h 398925"/>
              <a:gd name="connsiteX4" fmla="*/ 205162 w 398857"/>
              <a:gd name="connsiteY4" fmla="*/ 11472 h 398925"/>
              <a:gd name="connsiteX5" fmla="*/ 236423 w 398857"/>
              <a:gd name="connsiteY5" fmla="*/ 0 h 398925"/>
              <a:gd name="connsiteX6" fmla="*/ 296309 w 398857"/>
              <a:gd name="connsiteY6" fmla="*/ 20069 h 398925"/>
              <a:gd name="connsiteX7" fmla="*/ 323308 w 398857"/>
              <a:gd name="connsiteY7" fmla="*/ 60736 h 398925"/>
              <a:gd name="connsiteX8" fmla="*/ 345168 w 398857"/>
              <a:gd name="connsiteY8" fmla="*/ 72050 h 398925"/>
              <a:gd name="connsiteX9" fmla="*/ 365882 w 398857"/>
              <a:gd name="connsiteY9" fmla="*/ 107447 h 398925"/>
              <a:gd name="connsiteX10" fmla="*/ 371769 w 398857"/>
              <a:gd name="connsiteY10" fmla="*/ 150975 h 398925"/>
              <a:gd name="connsiteX11" fmla="*/ 368227 w 398857"/>
              <a:gd name="connsiteY11" fmla="*/ 173458 h 398925"/>
              <a:gd name="connsiteX12" fmla="*/ 369538 w 398857"/>
              <a:gd name="connsiteY12" fmla="*/ 174049 h 398925"/>
              <a:gd name="connsiteX13" fmla="*/ 387388 w 398857"/>
              <a:gd name="connsiteY13" fmla="*/ 190225 h 398925"/>
              <a:gd name="connsiteX14" fmla="*/ 398857 w 398857"/>
              <a:gd name="connsiteY14" fmla="*/ 248661 h 398925"/>
              <a:gd name="connsiteX15" fmla="*/ 373667 w 398857"/>
              <a:gd name="connsiteY15" fmla="*/ 309219 h 398925"/>
              <a:gd name="connsiteX16" fmla="*/ 348331 w 398857"/>
              <a:gd name="connsiteY16" fmla="*/ 322981 h 398925"/>
              <a:gd name="connsiteX17" fmla="*/ 327993 w 398857"/>
              <a:gd name="connsiteY17" fmla="*/ 365629 h 398925"/>
              <a:gd name="connsiteX18" fmla="*/ 261001 w 398857"/>
              <a:gd name="connsiteY18" fmla="*/ 398925 h 398925"/>
              <a:gd name="connsiteX19" fmla="*/ 205623 w 398857"/>
              <a:gd name="connsiteY19" fmla="*/ 372763 h 398925"/>
              <a:gd name="connsiteX20" fmla="*/ 199429 w 398857"/>
              <a:gd name="connsiteY20" fmla="*/ 365663 h 398925"/>
              <a:gd name="connsiteX21" fmla="*/ 193233 w 398857"/>
              <a:gd name="connsiteY21" fmla="*/ 372763 h 398925"/>
              <a:gd name="connsiteX22" fmla="*/ 137855 w 398857"/>
              <a:gd name="connsiteY22" fmla="*/ 398925 h 398925"/>
              <a:gd name="connsiteX23" fmla="*/ 70864 w 398857"/>
              <a:gd name="connsiteY23" fmla="*/ 365629 h 398925"/>
              <a:gd name="connsiteX24" fmla="*/ 50527 w 398857"/>
              <a:gd name="connsiteY24" fmla="*/ 322981 h 398925"/>
              <a:gd name="connsiteX25" fmla="*/ 25191 w 398857"/>
              <a:gd name="connsiteY25" fmla="*/ 309219 h 398925"/>
              <a:gd name="connsiteX26" fmla="*/ 0 w 398857"/>
              <a:gd name="connsiteY26" fmla="*/ 248661 h 398925"/>
              <a:gd name="connsiteX27" fmla="*/ 11468 w 398857"/>
              <a:gd name="connsiteY27" fmla="*/ 190225 h 398925"/>
              <a:gd name="connsiteX28" fmla="*/ 29319 w 398857"/>
              <a:gd name="connsiteY28" fmla="*/ 174049 h 398925"/>
              <a:gd name="connsiteX29" fmla="*/ 30630 w 398857"/>
              <a:gd name="connsiteY29" fmla="*/ 173458 h 398925"/>
              <a:gd name="connsiteX30" fmla="*/ 27089 w 398857"/>
              <a:gd name="connsiteY30" fmla="*/ 150975 h 398925"/>
              <a:gd name="connsiteX31" fmla="*/ 32974 w 398857"/>
              <a:gd name="connsiteY31" fmla="*/ 107447 h 398925"/>
              <a:gd name="connsiteX32" fmla="*/ 53689 w 398857"/>
              <a:gd name="connsiteY32" fmla="*/ 72050 h 398925"/>
              <a:gd name="connsiteX33" fmla="*/ 75549 w 398857"/>
              <a:gd name="connsiteY33" fmla="*/ 60736 h 398925"/>
              <a:gd name="connsiteX34" fmla="*/ 102548 w 398857"/>
              <a:gd name="connsiteY34" fmla="*/ 20069 h 398925"/>
              <a:gd name="connsiteX35" fmla="*/ 120935 w 398857"/>
              <a:gd name="connsiteY35" fmla="*/ 43689 h 398925"/>
              <a:gd name="connsiteX36" fmla="*/ 103667 w 398857"/>
              <a:gd name="connsiteY36" fmla="*/ 76465 h 398925"/>
              <a:gd name="connsiteX37" fmla="*/ 97450 w 398857"/>
              <a:gd name="connsiteY37" fmla="*/ 88608 h 398925"/>
              <a:gd name="connsiteX38" fmla="*/ 83963 w 398857"/>
              <a:gd name="connsiteY38" fmla="*/ 90663 h 398925"/>
              <a:gd name="connsiteX39" fmla="*/ 74172 w 398857"/>
              <a:gd name="connsiteY39" fmla="*/ 93878 h 398925"/>
              <a:gd name="connsiteX40" fmla="*/ 61476 w 398857"/>
              <a:gd name="connsiteY40" fmla="*/ 116596 h 398925"/>
              <a:gd name="connsiteX41" fmla="*/ 56993 w 398857"/>
              <a:gd name="connsiteY41" fmla="*/ 149631 h 398925"/>
              <a:gd name="connsiteX42" fmla="*/ 64290 w 398857"/>
              <a:gd name="connsiteY42" fmla="*/ 176178 h 398925"/>
              <a:gd name="connsiteX43" fmla="*/ 65945 w 398857"/>
              <a:gd name="connsiteY43" fmla="*/ 179487 h 398925"/>
              <a:gd name="connsiteX44" fmla="*/ 87539 w 398857"/>
              <a:gd name="connsiteY44" fmla="*/ 179487 h 398925"/>
              <a:gd name="connsiteX45" fmla="*/ 144265 w 398857"/>
              <a:gd name="connsiteY45" fmla="*/ 232217 h 398925"/>
              <a:gd name="connsiteX46" fmla="*/ 169363 w 398857"/>
              <a:gd name="connsiteY46" fmla="*/ 269289 h 398925"/>
              <a:gd name="connsiteX47" fmla="*/ 129451 w 398857"/>
              <a:gd name="connsiteY47" fmla="*/ 309201 h 398925"/>
              <a:gd name="connsiteX48" fmla="*/ 89539 w 398857"/>
              <a:gd name="connsiteY48" fmla="*/ 269289 h 398925"/>
              <a:gd name="connsiteX49" fmla="*/ 114190 w 398857"/>
              <a:gd name="connsiteY49" fmla="*/ 232398 h 398925"/>
              <a:gd name="connsiteX50" fmla="*/ 87539 w 398857"/>
              <a:gd name="connsiteY50" fmla="*/ 209421 h 398925"/>
              <a:gd name="connsiteX51" fmla="*/ 35654 w 398857"/>
              <a:gd name="connsiteY51" fmla="*/ 209421 h 398925"/>
              <a:gd name="connsiteX52" fmla="*/ 35152 w 398857"/>
              <a:gd name="connsiteY52" fmla="*/ 209413 h 398925"/>
              <a:gd name="connsiteX53" fmla="*/ 29934 w 398857"/>
              <a:gd name="connsiteY53" fmla="*/ 248661 h 398925"/>
              <a:gd name="connsiteX54" fmla="*/ 44682 w 398857"/>
              <a:gd name="connsiteY54" fmla="*/ 286501 h 398925"/>
              <a:gd name="connsiteX55" fmla="*/ 64122 w 398857"/>
              <a:gd name="connsiteY55" fmla="*/ 295192 h 398925"/>
              <a:gd name="connsiteX56" fmla="*/ 79089 w 398857"/>
              <a:gd name="connsiteY56" fmla="*/ 310159 h 398925"/>
              <a:gd name="connsiteX57" fmla="*/ 94247 w 398857"/>
              <a:gd name="connsiteY57" fmla="*/ 346940 h 398925"/>
              <a:gd name="connsiteX58" fmla="*/ 137855 w 398857"/>
              <a:gd name="connsiteY58" fmla="*/ 368991 h 398925"/>
              <a:gd name="connsiteX59" fmla="*/ 171570 w 398857"/>
              <a:gd name="connsiteY59" fmla="*/ 352104 h 398925"/>
              <a:gd name="connsiteX60" fmla="*/ 181916 w 398857"/>
              <a:gd name="connsiteY60" fmla="*/ 338431 h 398925"/>
              <a:gd name="connsiteX61" fmla="*/ 184228 w 398857"/>
              <a:gd name="connsiteY61" fmla="*/ 333785 h 398925"/>
              <a:gd name="connsiteX62" fmla="*/ 184332 w 398857"/>
              <a:gd name="connsiteY62" fmla="*/ 333513 h 398925"/>
              <a:gd name="connsiteX63" fmla="*/ 184332 w 398857"/>
              <a:gd name="connsiteY63" fmla="*/ 284513 h 398925"/>
              <a:gd name="connsiteX64" fmla="*/ 184330 w 398857"/>
              <a:gd name="connsiteY64" fmla="*/ 284256 h 398925"/>
              <a:gd name="connsiteX65" fmla="*/ 184332 w 398857"/>
              <a:gd name="connsiteY65" fmla="*/ 283999 h 398925"/>
              <a:gd name="connsiteX66" fmla="*/ 184332 w 398857"/>
              <a:gd name="connsiteY66" fmla="*/ 144564 h 398925"/>
              <a:gd name="connsiteX67" fmla="*/ 166462 w 398857"/>
              <a:gd name="connsiteY67" fmla="*/ 144564 h 398925"/>
              <a:gd name="connsiteX68" fmla="*/ 129451 w 398857"/>
              <a:gd name="connsiteY68" fmla="*/ 169509 h 398925"/>
              <a:gd name="connsiteX69" fmla="*/ 89539 w 398857"/>
              <a:gd name="connsiteY69" fmla="*/ 129597 h 398925"/>
              <a:gd name="connsiteX70" fmla="*/ 129451 w 398857"/>
              <a:gd name="connsiteY70" fmla="*/ 89685 h 398925"/>
              <a:gd name="connsiteX71" fmla="*/ 166462 w 398857"/>
              <a:gd name="connsiteY71" fmla="*/ 114630 h 398925"/>
              <a:gd name="connsiteX72" fmla="*/ 184332 w 398857"/>
              <a:gd name="connsiteY72" fmla="*/ 114630 h 398925"/>
              <a:gd name="connsiteX73" fmla="*/ 184332 w 398857"/>
              <a:gd name="connsiteY73" fmla="*/ 64213 h 398925"/>
              <a:gd name="connsiteX74" fmla="*/ 184328 w 398857"/>
              <a:gd name="connsiteY74" fmla="*/ 63987 h 398925"/>
              <a:gd name="connsiteX75" fmla="*/ 184282 w 398857"/>
              <a:gd name="connsiteY75" fmla="*/ 62852 h 398925"/>
              <a:gd name="connsiteX76" fmla="*/ 183871 w 398857"/>
              <a:gd name="connsiteY76" fmla="*/ 58333 h 398925"/>
              <a:gd name="connsiteX77" fmla="*/ 180676 w 398857"/>
              <a:gd name="connsiteY77" fmla="*/ 44818 h 398925"/>
              <a:gd name="connsiteX78" fmla="*/ 173797 w 398857"/>
              <a:gd name="connsiteY78" fmla="*/ 33836 h 398925"/>
              <a:gd name="connsiteX79" fmla="*/ 162432 w 398857"/>
              <a:gd name="connsiteY79" fmla="*/ 29934 h 398925"/>
              <a:gd name="connsiteX80" fmla="*/ 120935 w 398857"/>
              <a:gd name="connsiteY80" fmla="*/ 43689 h 398925"/>
              <a:gd name="connsiteX81" fmla="*/ 214526 w 398857"/>
              <a:gd name="connsiteY81" fmla="*/ 299223 h 398925"/>
              <a:gd name="connsiteX82" fmla="*/ 214526 w 398857"/>
              <a:gd name="connsiteY82" fmla="*/ 333513 h 398925"/>
              <a:gd name="connsiteX83" fmla="*/ 214627 w 398857"/>
              <a:gd name="connsiteY83" fmla="*/ 333785 h 398925"/>
              <a:gd name="connsiteX84" fmla="*/ 216940 w 398857"/>
              <a:gd name="connsiteY84" fmla="*/ 338431 h 398925"/>
              <a:gd name="connsiteX85" fmla="*/ 227285 w 398857"/>
              <a:gd name="connsiteY85" fmla="*/ 352104 h 398925"/>
              <a:gd name="connsiteX86" fmla="*/ 261001 w 398857"/>
              <a:gd name="connsiteY86" fmla="*/ 368991 h 398925"/>
              <a:gd name="connsiteX87" fmla="*/ 304611 w 398857"/>
              <a:gd name="connsiteY87" fmla="*/ 346940 h 398925"/>
              <a:gd name="connsiteX88" fmla="*/ 319768 w 398857"/>
              <a:gd name="connsiteY88" fmla="*/ 310159 h 398925"/>
              <a:gd name="connsiteX89" fmla="*/ 334735 w 398857"/>
              <a:gd name="connsiteY89" fmla="*/ 295192 h 398925"/>
              <a:gd name="connsiteX90" fmla="*/ 354176 w 398857"/>
              <a:gd name="connsiteY90" fmla="*/ 286501 h 398925"/>
              <a:gd name="connsiteX91" fmla="*/ 368923 w 398857"/>
              <a:gd name="connsiteY91" fmla="*/ 248661 h 398925"/>
              <a:gd name="connsiteX92" fmla="*/ 361959 w 398857"/>
              <a:gd name="connsiteY92" fmla="*/ 206015 h 398925"/>
              <a:gd name="connsiteX93" fmla="*/ 356768 w 398857"/>
              <a:gd name="connsiteY93" fmla="*/ 201123 h 398925"/>
              <a:gd name="connsiteX94" fmla="*/ 347023 w 398857"/>
              <a:gd name="connsiteY94" fmla="*/ 199443 h 398925"/>
              <a:gd name="connsiteX95" fmla="*/ 333829 w 398857"/>
              <a:gd name="connsiteY95" fmla="*/ 191540 h 398925"/>
              <a:gd name="connsiteX96" fmla="*/ 334567 w 398857"/>
              <a:gd name="connsiteY96" fmla="*/ 176178 h 398925"/>
              <a:gd name="connsiteX97" fmla="*/ 341865 w 398857"/>
              <a:gd name="connsiteY97" fmla="*/ 149631 h 398925"/>
              <a:gd name="connsiteX98" fmla="*/ 337381 w 398857"/>
              <a:gd name="connsiteY98" fmla="*/ 116596 h 398925"/>
              <a:gd name="connsiteX99" fmla="*/ 324685 w 398857"/>
              <a:gd name="connsiteY99" fmla="*/ 93878 h 398925"/>
              <a:gd name="connsiteX100" fmla="*/ 314894 w 398857"/>
              <a:gd name="connsiteY100" fmla="*/ 90663 h 398925"/>
              <a:gd name="connsiteX101" fmla="*/ 301408 w 398857"/>
              <a:gd name="connsiteY101" fmla="*/ 88608 h 398925"/>
              <a:gd name="connsiteX102" fmla="*/ 295190 w 398857"/>
              <a:gd name="connsiteY102" fmla="*/ 76465 h 398925"/>
              <a:gd name="connsiteX103" fmla="*/ 277922 w 398857"/>
              <a:gd name="connsiteY103" fmla="*/ 43689 h 398925"/>
              <a:gd name="connsiteX104" fmla="*/ 236423 w 398857"/>
              <a:gd name="connsiteY104" fmla="*/ 29934 h 398925"/>
              <a:gd name="connsiteX105" fmla="*/ 225058 w 398857"/>
              <a:gd name="connsiteY105" fmla="*/ 33836 h 398925"/>
              <a:gd name="connsiteX106" fmla="*/ 218182 w 398857"/>
              <a:gd name="connsiteY106" fmla="*/ 44818 h 398925"/>
              <a:gd name="connsiteX107" fmla="*/ 214985 w 398857"/>
              <a:gd name="connsiteY107" fmla="*/ 58333 h 398925"/>
              <a:gd name="connsiteX108" fmla="*/ 214576 w 398857"/>
              <a:gd name="connsiteY108" fmla="*/ 62852 h 398925"/>
              <a:gd name="connsiteX109" fmla="*/ 214530 w 398857"/>
              <a:gd name="connsiteY109" fmla="*/ 63987 h 398925"/>
              <a:gd name="connsiteX110" fmla="*/ 214526 w 398857"/>
              <a:gd name="connsiteY110" fmla="*/ 64213 h 398925"/>
              <a:gd name="connsiteX111" fmla="*/ 214526 w 398857"/>
              <a:gd name="connsiteY111" fmla="*/ 269289 h 398925"/>
              <a:gd name="connsiteX112" fmla="*/ 227236 w 398857"/>
              <a:gd name="connsiteY112" fmla="*/ 269289 h 398925"/>
              <a:gd name="connsiteX113" fmla="*/ 254176 w 398857"/>
              <a:gd name="connsiteY113" fmla="*/ 242348 h 398925"/>
              <a:gd name="connsiteX114" fmla="*/ 254176 w 398857"/>
              <a:gd name="connsiteY114" fmla="*/ 206519 h 398925"/>
              <a:gd name="connsiteX115" fmla="*/ 229231 w 398857"/>
              <a:gd name="connsiteY115" fmla="*/ 169509 h 398925"/>
              <a:gd name="connsiteX116" fmla="*/ 269143 w 398857"/>
              <a:gd name="connsiteY116" fmla="*/ 129597 h 398925"/>
              <a:gd name="connsiteX117" fmla="*/ 309055 w 398857"/>
              <a:gd name="connsiteY117" fmla="*/ 169509 h 398925"/>
              <a:gd name="connsiteX118" fmla="*/ 284110 w 398857"/>
              <a:gd name="connsiteY118" fmla="*/ 206519 h 398925"/>
              <a:gd name="connsiteX119" fmla="*/ 284110 w 398857"/>
              <a:gd name="connsiteY119" fmla="*/ 242348 h 398925"/>
              <a:gd name="connsiteX120" fmla="*/ 227236 w 398857"/>
              <a:gd name="connsiteY120" fmla="*/ 299223 h 398925"/>
              <a:gd name="connsiteX121" fmla="*/ 214526 w 398857"/>
              <a:gd name="connsiteY121" fmla="*/ 299223 h 398925"/>
              <a:gd name="connsiteX122" fmla="*/ 129451 w 398857"/>
              <a:gd name="connsiteY122" fmla="*/ 119619 h 398925"/>
              <a:gd name="connsiteX123" fmla="*/ 119473 w 398857"/>
              <a:gd name="connsiteY123" fmla="*/ 129597 h 398925"/>
              <a:gd name="connsiteX124" fmla="*/ 129451 w 398857"/>
              <a:gd name="connsiteY124" fmla="*/ 139575 h 398925"/>
              <a:gd name="connsiteX125" fmla="*/ 139429 w 398857"/>
              <a:gd name="connsiteY125" fmla="*/ 129597 h 398925"/>
              <a:gd name="connsiteX126" fmla="*/ 129451 w 398857"/>
              <a:gd name="connsiteY126" fmla="*/ 119619 h 398925"/>
              <a:gd name="connsiteX127" fmla="*/ 119473 w 398857"/>
              <a:gd name="connsiteY127" fmla="*/ 269289 h 398925"/>
              <a:gd name="connsiteX128" fmla="*/ 129451 w 398857"/>
              <a:gd name="connsiteY128" fmla="*/ 279267 h 398925"/>
              <a:gd name="connsiteX129" fmla="*/ 139429 w 398857"/>
              <a:gd name="connsiteY129" fmla="*/ 269289 h 398925"/>
              <a:gd name="connsiteX130" fmla="*/ 129451 w 398857"/>
              <a:gd name="connsiteY130" fmla="*/ 259311 h 398925"/>
              <a:gd name="connsiteX131" fmla="*/ 119473 w 398857"/>
              <a:gd name="connsiteY131" fmla="*/ 269289 h 398925"/>
              <a:gd name="connsiteX132" fmla="*/ 259165 w 398857"/>
              <a:gd name="connsiteY132" fmla="*/ 169509 h 398925"/>
              <a:gd name="connsiteX133" fmla="*/ 269143 w 398857"/>
              <a:gd name="connsiteY133" fmla="*/ 179487 h 398925"/>
              <a:gd name="connsiteX134" fmla="*/ 279121 w 398857"/>
              <a:gd name="connsiteY134" fmla="*/ 169509 h 398925"/>
              <a:gd name="connsiteX135" fmla="*/ 269143 w 398857"/>
              <a:gd name="connsiteY135" fmla="*/ 159531 h 398925"/>
              <a:gd name="connsiteX136" fmla="*/ 259165 w 398857"/>
              <a:gd name="connsiteY136" fmla="*/ 169509 h 398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</a:cxnLst>
            <a:rect l="l" t="t" r="r" b="b"/>
            <a:pathLst>
              <a:path w="398857" h="398925">
                <a:moveTo>
                  <a:pt x="102548" y="20069"/>
                </a:moveTo>
                <a:cubicBezTo>
                  <a:pt x="119144" y="7149"/>
                  <a:pt x="140855" y="0"/>
                  <a:pt x="162432" y="0"/>
                </a:cubicBezTo>
                <a:cubicBezTo>
                  <a:pt x="175332" y="0"/>
                  <a:pt x="185781" y="4432"/>
                  <a:pt x="193696" y="11472"/>
                </a:cubicBezTo>
                <a:cubicBezTo>
                  <a:pt x="195835" y="13377"/>
                  <a:pt x="197739" y="15424"/>
                  <a:pt x="199429" y="17549"/>
                </a:cubicBezTo>
                <a:cubicBezTo>
                  <a:pt x="201119" y="15424"/>
                  <a:pt x="203021" y="13377"/>
                  <a:pt x="205162" y="11472"/>
                </a:cubicBezTo>
                <a:cubicBezTo>
                  <a:pt x="213075" y="4432"/>
                  <a:pt x="223524" y="0"/>
                  <a:pt x="236423" y="0"/>
                </a:cubicBezTo>
                <a:cubicBezTo>
                  <a:pt x="258002" y="0"/>
                  <a:pt x="279714" y="7149"/>
                  <a:pt x="296309" y="20069"/>
                </a:cubicBezTo>
                <a:cubicBezTo>
                  <a:pt x="309221" y="30120"/>
                  <a:pt x="319343" y="43976"/>
                  <a:pt x="323308" y="60736"/>
                </a:cubicBezTo>
                <a:cubicBezTo>
                  <a:pt x="331693" y="62123"/>
                  <a:pt x="339143" y="66397"/>
                  <a:pt x="345168" y="72050"/>
                </a:cubicBezTo>
                <a:cubicBezTo>
                  <a:pt x="354762" y="81053"/>
                  <a:pt x="361585" y="94060"/>
                  <a:pt x="365882" y="107447"/>
                </a:cubicBezTo>
                <a:cubicBezTo>
                  <a:pt x="370244" y="121036"/>
                  <a:pt x="372427" y="136312"/>
                  <a:pt x="371769" y="150975"/>
                </a:cubicBezTo>
                <a:cubicBezTo>
                  <a:pt x="371432" y="158482"/>
                  <a:pt x="370332" y="166133"/>
                  <a:pt x="368227" y="173458"/>
                </a:cubicBezTo>
                <a:cubicBezTo>
                  <a:pt x="368666" y="173648"/>
                  <a:pt x="369103" y="173846"/>
                  <a:pt x="369538" y="174049"/>
                </a:cubicBezTo>
                <a:cubicBezTo>
                  <a:pt x="376926" y="177533"/>
                  <a:pt x="382896" y="182987"/>
                  <a:pt x="387388" y="190225"/>
                </a:cubicBezTo>
                <a:cubicBezTo>
                  <a:pt x="395872" y="203889"/>
                  <a:pt x="398857" y="223578"/>
                  <a:pt x="398857" y="248661"/>
                </a:cubicBezTo>
                <a:cubicBezTo>
                  <a:pt x="398857" y="277487"/>
                  <a:pt x="387839" y="297062"/>
                  <a:pt x="373667" y="309219"/>
                </a:cubicBezTo>
                <a:cubicBezTo>
                  <a:pt x="365443" y="316273"/>
                  <a:pt x="356367" y="320646"/>
                  <a:pt x="348331" y="322981"/>
                </a:cubicBezTo>
                <a:cubicBezTo>
                  <a:pt x="345547" y="336802"/>
                  <a:pt x="338584" y="352378"/>
                  <a:pt x="327993" y="365629"/>
                </a:cubicBezTo>
                <a:cubicBezTo>
                  <a:pt x="313569" y="383675"/>
                  <a:pt x="291149" y="398925"/>
                  <a:pt x="261001" y="398925"/>
                </a:cubicBezTo>
                <a:cubicBezTo>
                  <a:pt x="236848" y="398925"/>
                  <a:pt x="217836" y="385569"/>
                  <a:pt x="205623" y="372763"/>
                </a:cubicBezTo>
                <a:cubicBezTo>
                  <a:pt x="203390" y="370420"/>
                  <a:pt x="201321" y="368035"/>
                  <a:pt x="199429" y="365663"/>
                </a:cubicBezTo>
                <a:cubicBezTo>
                  <a:pt x="197535" y="368035"/>
                  <a:pt x="195468" y="370420"/>
                  <a:pt x="193233" y="372763"/>
                </a:cubicBezTo>
                <a:cubicBezTo>
                  <a:pt x="181019" y="385569"/>
                  <a:pt x="162007" y="398925"/>
                  <a:pt x="137855" y="398925"/>
                </a:cubicBezTo>
                <a:cubicBezTo>
                  <a:pt x="107708" y="398925"/>
                  <a:pt x="85288" y="383675"/>
                  <a:pt x="70864" y="365629"/>
                </a:cubicBezTo>
                <a:cubicBezTo>
                  <a:pt x="60273" y="352378"/>
                  <a:pt x="53310" y="336802"/>
                  <a:pt x="50527" y="322981"/>
                </a:cubicBezTo>
                <a:cubicBezTo>
                  <a:pt x="42490" y="320646"/>
                  <a:pt x="33414" y="316273"/>
                  <a:pt x="25191" y="309219"/>
                </a:cubicBezTo>
                <a:cubicBezTo>
                  <a:pt x="11019" y="297062"/>
                  <a:pt x="0" y="277487"/>
                  <a:pt x="0" y="248661"/>
                </a:cubicBezTo>
                <a:cubicBezTo>
                  <a:pt x="0" y="223578"/>
                  <a:pt x="2985" y="203889"/>
                  <a:pt x="11468" y="190225"/>
                </a:cubicBezTo>
                <a:cubicBezTo>
                  <a:pt x="15961" y="182987"/>
                  <a:pt x="21932" y="177533"/>
                  <a:pt x="29319" y="174049"/>
                </a:cubicBezTo>
                <a:cubicBezTo>
                  <a:pt x="29754" y="173846"/>
                  <a:pt x="30191" y="173648"/>
                  <a:pt x="30630" y="173458"/>
                </a:cubicBezTo>
                <a:cubicBezTo>
                  <a:pt x="28525" y="166133"/>
                  <a:pt x="27426" y="158482"/>
                  <a:pt x="27089" y="150975"/>
                </a:cubicBezTo>
                <a:cubicBezTo>
                  <a:pt x="26430" y="136312"/>
                  <a:pt x="28613" y="121036"/>
                  <a:pt x="32974" y="107447"/>
                </a:cubicBezTo>
                <a:cubicBezTo>
                  <a:pt x="37271" y="94060"/>
                  <a:pt x="44094" y="81053"/>
                  <a:pt x="53689" y="72050"/>
                </a:cubicBezTo>
                <a:cubicBezTo>
                  <a:pt x="59713" y="66397"/>
                  <a:pt x="67165" y="62123"/>
                  <a:pt x="75549" y="60736"/>
                </a:cubicBezTo>
                <a:cubicBezTo>
                  <a:pt x="79515" y="43976"/>
                  <a:pt x="89635" y="30120"/>
                  <a:pt x="102548" y="20069"/>
                </a:cubicBezTo>
                <a:close/>
                <a:moveTo>
                  <a:pt x="120935" y="43689"/>
                </a:moveTo>
                <a:cubicBezTo>
                  <a:pt x="110044" y="52168"/>
                  <a:pt x="103667" y="63462"/>
                  <a:pt x="103667" y="76465"/>
                </a:cubicBezTo>
                <a:cubicBezTo>
                  <a:pt x="103667" y="81277"/>
                  <a:pt x="101354" y="85796"/>
                  <a:pt x="97450" y="88608"/>
                </a:cubicBezTo>
                <a:cubicBezTo>
                  <a:pt x="93546" y="91421"/>
                  <a:pt x="88528" y="92186"/>
                  <a:pt x="83963" y="90663"/>
                </a:cubicBezTo>
                <a:cubicBezTo>
                  <a:pt x="81221" y="89748"/>
                  <a:pt x="78335" y="89971"/>
                  <a:pt x="74172" y="93878"/>
                </a:cubicBezTo>
                <a:cubicBezTo>
                  <a:pt x="69557" y="98209"/>
                  <a:pt x="64859" y="106055"/>
                  <a:pt x="61476" y="116596"/>
                </a:cubicBezTo>
                <a:cubicBezTo>
                  <a:pt x="58157" y="126935"/>
                  <a:pt x="56500" y="138661"/>
                  <a:pt x="56993" y="149631"/>
                </a:cubicBezTo>
                <a:cubicBezTo>
                  <a:pt x="57492" y="160738"/>
                  <a:pt x="60133" y="169938"/>
                  <a:pt x="64290" y="176178"/>
                </a:cubicBezTo>
                <a:cubicBezTo>
                  <a:pt x="64986" y="177224"/>
                  <a:pt x="65538" y="178336"/>
                  <a:pt x="65945" y="179487"/>
                </a:cubicBezTo>
                <a:lnTo>
                  <a:pt x="87539" y="179487"/>
                </a:lnTo>
                <a:cubicBezTo>
                  <a:pt x="117556" y="179487"/>
                  <a:pt x="142142" y="202742"/>
                  <a:pt x="144265" y="232217"/>
                </a:cubicBezTo>
                <a:cubicBezTo>
                  <a:pt x="158973" y="238100"/>
                  <a:pt x="169363" y="252480"/>
                  <a:pt x="169363" y="269289"/>
                </a:cubicBezTo>
                <a:cubicBezTo>
                  <a:pt x="169363" y="291332"/>
                  <a:pt x="151494" y="309201"/>
                  <a:pt x="129451" y="309201"/>
                </a:cubicBezTo>
                <a:cubicBezTo>
                  <a:pt x="107408" y="309201"/>
                  <a:pt x="89539" y="291332"/>
                  <a:pt x="89539" y="269289"/>
                </a:cubicBezTo>
                <a:cubicBezTo>
                  <a:pt x="89539" y="252652"/>
                  <a:pt x="99719" y="238391"/>
                  <a:pt x="114190" y="232398"/>
                </a:cubicBezTo>
                <a:cubicBezTo>
                  <a:pt x="112274" y="219399"/>
                  <a:pt x="101072" y="209421"/>
                  <a:pt x="87539" y="209421"/>
                </a:cubicBezTo>
                <a:lnTo>
                  <a:pt x="35654" y="209421"/>
                </a:lnTo>
                <a:cubicBezTo>
                  <a:pt x="35486" y="209421"/>
                  <a:pt x="35319" y="209419"/>
                  <a:pt x="35152" y="209413"/>
                </a:cubicBezTo>
                <a:cubicBezTo>
                  <a:pt x="32174" y="216358"/>
                  <a:pt x="29934" y="228359"/>
                  <a:pt x="29934" y="248661"/>
                </a:cubicBezTo>
                <a:cubicBezTo>
                  <a:pt x="29934" y="269034"/>
                  <a:pt x="37349" y="280209"/>
                  <a:pt x="44682" y="286501"/>
                </a:cubicBezTo>
                <a:cubicBezTo>
                  <a:pt x="52729" y="293404"/>
                  <a:pt x="61563" y="295192"/>
                  <a:pt x="64122" y="295192"/>
                </a:cubicBezTo>
                <a:cubicBezTo>
                  <a:pt x="72388" y="295192"/>
                  <a:pt x="79089" y="301893"/>
                  <a:pt x="79089" y="310159"/>
                </a:cubicBezTo>
                <a:cubicBezTo>
                  <a:pt x="79089" y="318523"/>
                  <a:pt x="83715" y="333763"/>
                  <a:pt x="94247" y="346940"/>
                </a:cubicBezTo>
                <a:cubicBezTo>
                  <a:pt x="104400" y="359642"/>
                  <a:pt x="118847" y="368991"/>
                  <a:pt x="137855" y="368991"/>
                </a:cubicBezTo>
                <a:cubicBezTo>
                  <a:pt x="150569" y="368991"/>
                  <a:pt x="162279" y="361847"/>
                  <a:pt x="171570" y="352104"/>
                </a:cubicBezTo>
                <a:cubicBezTo>
                  <a:pt x="176096" y="347359"/>
                  <a:pt x="179611" y="342430"/>
                  <a:pt x="181916" y="338431"/>
                </a:cubicBezTo>
                <a:cubicBezTo>
                  <a:pt x="183071" y="336427"/>
                  <a:pt x="183817" y="334839"/>
                  <a:pt x="184228" y="333785"/>
                </a:cubicBezTo>
                <a:lnTo>
                  <a:pt x="184332" y="333513"/>
                </a:lnTo>
                <a:lnTo>
                  <a:pt x="184332" y="284513"/>
                </a:lnTo>
                <a:cubicBezTo>
                  <a:pt x="184330" y="284428"/>
                  <a:pt x="184330" y="284342"/>
                  <a:pt x="184330" y="284256"/>
                </a:cubicBezTo>
                <a:cubicBezTo>
                  <a:pt x="184330" y="284170"/>
                  <a:pt x="184330" y="284084"/>
                  <a:pt x="184332" y="283999"/>
                </a:cubicBezTo>
                <a:lnTo>
                  <a:pt x="184332" y="144564"/>
                </a:lnTo>
                <a:lnTo>
                  <a:pt x="166462" y="144564"/>
                </a:lnTo>
                <a:cubicBezTo>
                  <a:pt x="160541" y="159191"/>
                  <a:pt x="146201" y="169509"/>
                  <a:pt x="129451" y="169509"/>
                </a:cubicBezTo>
                <a:cubicBezTo>
                  <a:pt x="107408" y="169509"/>
                  <a:pt x="89539" y="151640"/>
                  <a:pt x="89539" y="129597"/>
                </a:cubicBezTo>
                <a:cubicBezTo>
                  <a:pt x="89539" y="107554"/>
                  <a:pt x="107408" y="89685"/>
                  <a:pt x="129451" y="89685"/>
                </a:cubicBezTo>
                <a:cubicBezTo>
                  <a:pt x="146201" y="89685"/>
                  <a:pt x="160541" y="100003"/>
                  <a:pt x="166462" y="114630"/>
                </a:cubicBezTo>
                <a:lnTo>
                  <a:pt x="184332" y="114630"/>
                </a:lnTo>
                <a:lnTo>
                  <a:pt x="184332" y="64213"/>
                </a:lnTo>
                <a:lnTo>
                  <a:pt x="184328" y="63987"/>
                </a:lnTo>
                <a:cubicBezTo>
                  <a:pt x="184322" y="63759"/>
                  <a:pt x="184310" y="63373"/>
                  <a:pt x="184282" y="62852"/>
                </a:cubicBezTo>
                <a:cubicBezTo>
                  <a:pt x="184226" y="61805"/>
                  <a:pt x="184109" y="60239"/>
                  <a:pt x="183871" y="58333"/>
                </a:cubicBezTo>
                <a:cubicBezTo>
                  <a:pt x="183386" y="54444"/>
                  <a:pt x="182438" y="49524"/>
                  <a:pt x="180676" y="44818"/>
                </a:cubicBezTo>
                <a:cubicBezTo>
                  <a:pt x="178888" y="40049"/>
                  <a:pt x="176563" y="36297"/>
                  <a:pt x="173797" y="33836"/>
                </a:cubicBezTo>
                <a:cubicBezTo>
                  <a:pt x="171343" y="31652"/>
                  <a:pt x="167966" y="29934"/>
                  <a:pt x="162432" y="29934"/>
                </a:cubicBezTo>
                <a:cubicBezTo>
                  <a:pt x="147144" y="29934"/>
                  <a:pt x="131989" y="35085"/>
                  <a:pt x="120935" y="43689"/>
                </a:cubicBezTo>
                <a:close/>
                <a:moveTo>
                  <a:pt x="214526" y="299223"/>
                </a:moveTo>
                <a:lnTo>
                  <a:pt x="214526" y="333513"/>
                </a:lnTo>
                <a:lnTo>
                  <a:pt x="214627" y="333785"/>
                </a:lnTo>
                <a:cubicBezTo>
                  <a:pt x="215040" y="334839"/>
                  <a:pt x="215787" y="336427"/>
                  <a:pt x="216940" y="338431"/>
                </a:cubicBezTo>
                <a:cubicBezTo>
                  <a:pt x="219245" y="342430"/>
                  <a:pt x="222759" y="347359"/>
                  <a:pt x="227285" y="352104"/>
                </a:cubicBezTo>
                <a:cubicBezTo>
                  <a:pt x="236579" y="361847"/>
                  <a:pt x="248289" y="368991"/>
                  <a:pt x="261001" y="368991"/>
                </a:cubicBezTo>
                <a:cubicBezTo>
                  <a:pt x="280009" y="368991"/>
                  <a:pt x="294457" y="359642"/>
                  <a:pt x="304611" y="346940"/>
                </a:cubicBezTo>
                <a:cubicBezTo>
                  <a:pt x="315142" y="333763"/>
                  <a:pt x="319768" y="318523"/>
                  <a:pt x="319768" y="310159"/>
                </a:cubicBezTo>
                <a:cubicBezTo>
                  <a:pt x="319768" y="301893"/>
                  <a:pt x="326469" y="295192"/>
                  <a:pt x="334735" y="295192"/>
                </a:cubicBezTo>
                <a:cubicBezTo>
                  <a:pt x="337295" y="295192"/>
                  <a:pt x="346127" y="293404"/>
                  <a:pt x="354176" y="286501"/>
                </a:cubicBezTo>
                <a:cubicBezTo>
                  <a:pt x="361508" y="280209"/>
                  <a:pt x="368923" y="269034"/>
                  <a:pt x="368923" y="248661"/>
                </a:cubicBezTo>
                <a:cubicBezTo>
                  <a:pt x="368923" y="224546"/>
                  <a:pt x="365762" y="212143"/>
                  <a:pt x="361959" y="206015"/>
                </a:cubicBezTo>
                <a:cubicBezTo>
                  <a:pt x="360306" y="203354"/>
                  <a:pt x="358598" y="201985"/>
                  <a:pt x="356768" y="201123"/>
                </a:cubicBezTo>
                <a:cubicBezTo>
                  <a:pt x="354742" y="200167"/>
                  <a:pt x="351717" y="199443"/>
                  <a:pt x="347023" y="199443"/>
                </a:cubicBezTo>
                <a:cubicBezTo>
                  <a:pt x="341506" y="199443"/>
                  <a:pt x="336435" y="196406"/>
                  <a:pt x="333829" y="191540"/>
                </a:cubicBezTo>
                <a:cubicBezTo>
                  <a:pt x="331224" y="186675"/>
                  <a:pt x="331508" y="180772"/>
                  <a:pt x="334567" y="176178"/>
                </a:cubicBezTo>
                <a:cubicBezTo>
                  <a:pt x="338724" y="169938"/>
                  <a:pt x="341366" y="160738"/>
                  <a:pt x="341865" y="149631"/>
                </a:cubicBezTo>
                <a:cubicBezTo>
                  <a:pt x="342358" y="138661"/>
                  <a:pt x="340699" y="126935"/>
                  <a:pt x="337381" y="116596"/>
                </a:cubicBezTo>
                <a:cubicBezTo>
                  <a:pt x="333998" y="106055"/>
                  <a:pt x="329301" y="98209"/>
                  <a:pt x="324685" y="93878"/>
                </a:cubicBezTo>
                <a:cubicBezTo>
                  <a:pt x="320522" y="89971"/>
                  <a:pt x="317636" y="89748"/>
                  <a:pt x="314894" y="90663"/>
                </a:cubicBezTo>
                <a:cubicBezTo>
                  <a:pt x="310330" y="92186"/>
                  <a:pt x="305311" y="91421"/>
                  <a:pt x="301408" y="88608"/>
                </a:cubicBezTo>
                <a:cubicBezTo>
                  <a:pt x="297503" y="85796"/>
                  <a:pt x="295190" y="81277"/>
                  <a:pt x="295190" y="76465"/>
                </a:cubicBezTo>
                <a:cubicBezTo>
                  <a:pt x="295190" y="63462"/>
                  <a:pt x="288812" y="52168"/>
                  <a:pt x="277922" y="43689"/>
                </a:cubicBezTo>
                <a:cubicBezTo>
                  <a:pt x="266868" y="35085"/>
                  <a:pt x="251714" y="29934"/>
                  <a:pt x="236423" y="29934"/>
                </a:cubicBezTo>
                <a:cubicBezTo>
                  <a:pt x="230892" y="29934"/>
                  <a:pt x="227515" y="31652"/>
                  <a:pt x="225058" y="33836"/>
                </a:cubicBezTo>
                <a:cubicBezTo>
                  <a:pt x="222294" y="36297"/>
                  <a:pt x="219968" y="40049"/>
                  <a:pt x="218182" y="44818"/>
                </a:cubicBezTo>
                <a:cubicBezTo>
                  <a:pt x="216419" y="49524"/>
                  <a:pt x="215472" y="54444"/>
                  <a:pt x="214985" y="58333"/>
                </a:cubicBezTo>
                <a:cubicBezTo>
                  <a:pt x="214747" y="60239"/>
                  <a:pt x="214631" y="61805"/>
                  <a:pt x="214576" y="62852"/>
                </a:cubicBezTo>
                <a:cubicBezTo>
                  <a:pt x="214548" y="63373"/>
                  <a:pt x="214536" y="63759"/>
                  <a:pt x="214530" y="63987"/>
                </a:cubicBezTo>
                <a:lnTo>
                  <a:pt x="214526" y="64213"/>
                </a:lnTo>
                <a:lnTo>
                  <a:pt x="214526" y="269289"/>
                </a:lnTo>
                <a:lnTo>
                  <a:pt x="227236" y="269289"/>
                </a:lnTo>
                <a:cubicBezTo>
                  <a:pt x="242115" y="269289"/>
                  <a:pt x="254176" y="257228"/>
                  <a:pt x="254176" y="242348"/>
                </a:cubicBezTo>
                <a:lnTo>
                  <a:pt x="254176" y="206519"/>
                </a:lnTo>
                <a:cubicBezTo>
                  <a:pt x="239548" y="200599"/>
                  <a:pt x="229231" y="186258"/>
                  <a:pt x="229231" y="169509"/>
                </a:cubicBezTo>
                <a:cubicBezTo>
                  <a:pt x="229231" y="147466"/>
                  <a:pt x="247100" y="129597"/>
                  <a:pt x="269143" y="129597"/>
                </a:cubicBezTo>
                <a:cubicBezTo>
                  <a:pt x="291187" y="129597"/>
                  <a:pt x="309055" y="147466"/>
                  <a:pt x="309055" y="169509"/>
                </a:cubicBezTo>
                <a:cubicBezTo>
                  <a:pt x="309055" y="186258"/>
                  <a:pt x="298736" y="200599"/>
                  <a:pt x="284110" y="206519"/>
                </a:cubicBezTo>
                <a:lnTo>
                  <a:pt x="284110" y="242348"/>
                </a:lnTo>
                <a:cubicBezTo>
                  <a:pt x="284110" y="273759"/>
                  <a:pt x="258646" y="299223"/>
                  <a:pt x="227236" y="299223"/>
                </a:cubicBezTo>
                <a:lnTo>
                  <a:pt x="214526" y="299223"/>
                </a:lnTo>
                <a:close/>
                <a:moveTo>
                  <a:pt x="129451" y="119619"/>
                </a:moveTo>
                <a:cubicBezTo>
                  <a:pt x="123940" y="119619"/>
                  <a:pt x="119473" y="124086"/>
                  <a:pt x="119473" y="129597"/>
                </a:cubicBezTo>
                <a:cubicBezTo>
                  <a:pt x="119473" y="135108"/>
                  <a:pt x="123940" y="139575"/>
                  <a:pt x="129451" y="139575"/>
                </a:cubicBezTo>
                <a:cubicBezTo>
                  <a:pt x="134962" y="139575"/>
                  <a:pt x="139429" y="135108"/>
                  <a:pt x="139429" y="129597"/>
                </a:cubicBezTo>
                <a:cubicBezTo>
                  <a:pt x="139429" y="124086"/>
                  <a:pt x="134962" y="119619"/>
                  <a:pt x="129451" y="119619"/>
                </a:cubicBezTo>
                <a:close/>
                <a:moveTo>
                  <a:pt x="119473" y="269289"/>
                </a:moveTo>
                <a:cubicBezTo>
                  <a:pt x="119473" y="274799"/>
                  <a:pt x="123940" y="279267"/>
                  <a:pt x="129451" y="279267"/>
                </a:cubicBezTo>
                <a:cubicBezTo>
                  <a:pt x="134962" y="279267"/>
                  <a:pt x="139429" y="274799"/>
                  <a:pt x="139429" y="269289"/>
                </a:cubicBezTo>
                <a:cubicBezTo>
                  <a:pt x="139429" y="263779"/>
                  <a:pt x="134962" y="259311"/>
                  <a:pt x="129451" y="259311"/>
                </a:cubicBezTo>
                <a:cubicBezTo>
                  <a:pt x="123940" y="259311"/>
                  <a:pt x="119473" y="263779"/>
                  <a:pt x="119473" y="269289"/>
                </a:cubicBezTo>
                <a:close/>
                <a:moveTo>
                  <a:pt x="259165" y="169509"/>
                </a:moveTo>
                <a:cubicBezTo>
                  <a:pt x="259165" y="175019"/>
                  <a:pt x="263631" y="179487"/>
                  <a:pt x="269143" y="179487"/>
                </a:cubicBezTo>
                <a:cubicBezTo>
                  <a:pt x="274653" y="179487"/>
                  <a:pt x="279121" y="175019"/>
                  <a:pt x="279121" y="169509"/>
                </a:cubicBezTo>
                <a:cubicBezTo>
                  <a:pt x="279121" y="163999"/>
                  <a:pt x="274653" y="159531"/>
                  <a:pt x="269143" y="159531"/>
                </a:cubicBezTo>
                <a:cubicBezTo>
                  <a:pt x="263631" y="159531"/>
                  <a:pt x="259165" y="163999"/>
                  <a:pt x="259165" y="16950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54" name="Graphic 128" descr="Icon of a bulb">
            <a:extLst>
              <a:ext uri="{FF2B5EF4-FFF2-40B4-BE49-F238E27FC236}">
                <a16:creationId xmlns:a16="http://schemas.microsoft.com/office/drawing/2014/main" id="{5035647D-A44E-EAB8-2172-34C9E37CAD27}"/>
              </a:ext>
            </a:extLst>
          </p:cNvPr>
          <p:cNvSpPr/>
          <p:nvPr/>
        </p:nvSpPr>
        <p:spPr>
          <a:xfrm>
            <a:off x="11023551" y="5658215"/>
            <a:ext cx="222580" cy="306986"/>
          </a:xfrm>
          <a:custGeom>
            <a:avLst/>
            <a:gdLst>
              <a:gd name="connsiteX0" fmla="*/ 118354 w 236708"/>
              <a:gd name="connsiteY0" fmla="*/ 0 h 326472"/>
              <a:gd name="connsiteX1" fmla="*/ 236709 w 236708"/>
              <a:gd name="connsiteY1" fmla="*/ 118354 h 326472"/>
              <a:gd name="connsiteX2" fmla="*/ 193234 w 236708"/>
              <a:gd name="connsiteY2" fmla="*/ 212090 h 326472"/>
              <a:gd name="connsiteX3" fmla="*/ 190376 w 236708"/>
              <a:gd name="connsiteY3" fmla="*/ 216421 h 326472"/>
              <a:gd name="connsiteX4" fmla="*/ 189863 w 236708"/>
              <a:gd name="connsiteY4" fmla="*/ 218091 h 326472"/>
              <a:gd name="connsiteX5" fmla="*/ 171398 w 236708"/>
              <a:gd name="connsiteY5" fmla="*/ 298010 h 326472"/>
              <a:gd name="connsiteX6" fmla="*/ 138437 w 236708"/>
              <a:gd name="connsiteY6" fmla="*/ 326365 h 326472"/>
              <a:gd name="connsiteX7" fmla="*/ 135610 w 236708"/>
              <a:gd name="connsiteY7" fmla="*/ 326472 h 326472"/>
              <a:gd name="connsiteX8" fmla="*/ 101104 w 236708"/>
              <a:gd name="connsiteY8" fmla="*/ 326472 h 326472"/>
              <a:gd name="connsiteX9" fmla="*/ 66055 w 236708"/>
              <a:gd name="connsiteY9" fmla="*/ 300732 h 326472"/>
              <a:gd name="connsiteX10" fmla="*/ 65313 w 236708"/>
              <a:gd name="connsiteY10" fmla="*/ 298001 h 326472"/>
              <a:gd name="connsiteX11" fmla="*/ 46874 w 236708"/>
              <a:gd name="connsiteY11" fmla="*/ 218094 h 326472"/>
              <a:gd name="connsiteX12" fmla="*/ 43498 w 236708"/>
              <a:gd name="connsiteY12" fmla="*/ 212088 h 326472"/>
              <a:gd name="connsiteX13" fmla="*/ 100 w 236708"/>
              <a:gd name="connsiteY13" fmla="*/ 123223 h 326472"/>
              <a:gd name="connsiteX14" fmla="*/ 0 w 236708"/>
              <a:gd name="connsiteY14" fmla="*/ 118354 h 326472"/>
              <a:gd name="connsiteX15" fmla="*/ 63 w 236708"/>
              <a:gd name="connsiteY15" fmla="*/ 114448 h 326472"/>
              <a:gd name="connsiteX16" fmla="*/ 118354 w 236708"/>
              <a:gd name="connsiteY16" fmla="*/ 0 h 326472"/>
              <a:gd name="connsiteX17" fmla="*/ 152881 w 236708"/>
              <a:gd name="connsiteY17" fmla="*/ 269326 h 326472"/>
              <a:gd name="connsiteX18" fmla="*/ 83811 w 236708"/>
              <a:gd name="connsiteY18" fmla="*/ 269326 h 326472"/>
              <a:gd name="connsiteX19" fmla="*/ 89174 w 236708"/>
              <a:gd name="connsiteY19" fmla="*/ 292494 h 326472"/>
              <a:gd name="connsiteX20" fmla="*/ 99419 w 236708"/>
              <a:gd name="connsiteY20" fmla="*/ 301869 h 326472"/>
              <a:gd name="connsiteX21" fmla="*/ 101104 w 236708"/>
              <a:gd name="connsiteY21" fmla="*/ 301985 h 326472"/>
              <a:gd name="connsiteX22" fmla="*/ 135610 w 236708"/>
              <a:gd name="connsiteY22" fmla="*/ 301985 h 326472"/>
              <a:gd name="connsiteX23" fmla="*/ 147048 w 236708"/>
              <a:gd name="connsiteY23" fmla="*/ 294114 h 326472"/>
              <a:gd name="connsiteX24" fmla="*/ 147540 w 236708"/>
              <a:gd name="connsiteY24" fmla="*/ 292497 h 326472"/>
              <a:gd name="connsiteX25" fmla="*/ 152881 w 236708"/>
              <a:gd name="connsiteY25" fmla="*/ 269326 h 326472"/>
              <a:gd name="connsiteX26" fmla="*/ 118354 w 236708"/>
              <a:gd name="connsiteY26" fmla="*/ 24487 h 326472"/>
              <a:gd name="connsiteX27" fmla="*/ 24555 w 236708"/>
              <a:gd name="connsiteY27" fmla="*/ 114754 h 326472"/>
              <a:gd name="connsiteX28" fmla="*/ 24487 w 236708"/>
              <a:gd name="connsiteY28" fmla="*/ 118354 h 326472"/>
              <a:gd name="connsiteX29" fmla="*/ 24597 w 236708"/>
              <a:gd name="connsiteY29" fmla="*/ 122877 h 326472"/>
              <a:gd name="connsiteX30" fmla="*/ 60608 w 236708"/>
              <a:gd name="connsiteY30" fmla="*/ 194570 h 326472"/>
              <a:gd name="connsiteX31" fmla="*/ 69939 w 236708"/>
              <a:gd name="connsiteY31" fmla="*/ 209692 h 326472"/>
              <a:gd name="connsiteX32" fmla="*/ 70734 w 236708"/>
              <a:gd name="connsiteY32" fmla="*/ 212589 h 326472"/>
              <a:gd name="connsiteX33" fmla="*/ 78163 w 236708"/>
              <a:gd name="connsiteY33" fmla="*/ 244839 h 326472"/>
              <a:gd name="connsiteX34" fmla="*/ 158530 w 236708"/>
              <a:gd name="connsiteY34" fmla="*/ 244839 h 326472"/>
              <a:gd name="connsiteX35" fmla="*/ 166005 w 236708"/>
              <a:gd name="connsiteY35" fmla="*/ 212578 h 326472"/>
              <a:gd name="connsiteX36" fmla="*/ 174061 w 236708"/>
              <a:gd name="connsiteY36" fmla="*/ 196761 h 326472"/>
              <a:gd name="connsiteX37" fmla="*/ 176121 w 236708"/>
              <a:gd name="connsiteY37" fmla="*/ 194577 h 326472"/>
              <a:gd name="connsiteX38" fmla="*/ 212112 w 236708"/>
              <a:gd name="connsiteY38" fmla="*/ 122877 h 326472"/>
              <a:gd name="connsiteX39" fmla="*/ 212222 w 236708"/>
              <a:gd name="connsiteY39" fmla="*/ 118354 h 326472"/>
              <a:gd name="connsiteX40" fmla="*/ 212153 w 236708"/>
              <a:gd name="connsiteY40" fmla="*/ 114754 h 326472"/>
              <a:gd name="connsiteX41" fmla="*/ 118354 w 236708"/>
              <a:gd name="connsiteY41" fmla="*/ 24487 h 326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36708" h="326472">
                <a:moveTo>
                  <a:pt x="118354" y="0"/>
                </a:moveTo>
                <a:cubicBezTo>
                  <a:pt x="183720" y="0"/>
                  <a:pt x="236709" y="52989"/>
                  <a:pt x="236709" y="118354"/>
                </a:cubicBezTo>
                <a:cubicBezTo>
                  <a:pt x="236709" y="152571"/>
                  <a:pt x="222005" y="183975"/>
                  <a:pt x="193234" y="212090"/>
                </a:cubicBezTo>
                <a:cubicBezTo>
                  <a:pt x="191979" y="213317"/>
                  <a:pt x="191006" y="214795"/>
                  <a:pt x="190376" y="216421"/>
                </a:cubicBezTo>
                <a:lnTo>
                  <a:pt x="189863" y="218091"/>
                </a:lnTo>
                <a:lnTo>
                  <a:pt x="171398" y="298010"/>
                </a:lnTo>
                <a:cubicBezTo>
                  <a:pt x="167763" y="313746"/>
                  <a:pt x="154326" y="325145"/>
                  <a:pt x="138437" y="326365"/>
                </a:cubicBezTo>
                <a:lnTo>
                  <a:pt x="135610" y="326472"/>
                </a:lnTo>
                <a:lnTo>
                  <a:pt x="101104" y="326472"/>
                </a:lnTo>
                <a:cubicBezTo>
                  <a:pt x="84950" y="326472"/>
                  <a:pt x="70815" y="315941"/>
                  <a:pt x="66055" y="300732"/>
                </a:cubicBezTo>
                <a:lnTo>
                  <a:pt x="65313" y="298001"/>
                </a:lnTo>
                <a:lnTo>
                  <a:pt x="46874" y="218094"/>
                </a:lnTo>
                <a:cubicBezTo>
                  <a:pt x="46347" y="215810"/>
                  <a:pt x="45175" y="213726"/>
                  <a:pt x="43498" y="212088"/>
                </a:cubicBezTo>
                <a:cubicBezTo>
                  <a:pt x="16082" y="185312"/>
                  <a:pt x="1433" y="155554"/>
                  <a:pt x="100" y="123223"/>
                </a:cubicBezTo>
                <a:lnTo>
                  <a:pt x="0" y="118354"/>
                </a:lnTo>
                <a:lnTo>
                  <a:pt x="63" y="114448"/>
                </a:lnTo>
                <a:cubicBezTo>
                  <a:pt x="2125" y="50891"/>
                  <a:pt x="54296" y="0"/>
                  <a:pt x="118354" y="0"/>
                </a:cubicBezTo>
                <a:close/>
                <a:moveTo>
                  <a:pt x="152881" y="269326"/>
                </a:moveTo>
                <a:lnTo>
                  <a:pt x="83811" y="269326"/>
                </a:lnTo>
                <a:lnTo>
                  <a:pt x="89174" y="292494"/>
                </a:lnTo>
                <a:cubicBezTo>
                  <a:pt x="90326" y="297494"/>
                  <a:pt x="94450" y="301182"/>
                  <a:pt x="99419" y="301869"/>
                </a:cubicBezTo>
                <a:lnTo>
                  <a:pt x="101104" y="301985"/>
                </a:lnTo>
                <a:lnTo>
                  <a:pt x="135610" y="301985"/>
                </a:lnTo>
                <a:cubicBezTo>
                  <a:pt x="140741" y="301985"/>
                  <a:pt x="145259" y="298799"/>
                  <a:pt x="147048" y="294114"/>
                </a:cubicBezTo>
                <a:lnTo>
                  <a:pt x="147540" y="292497"/>
                </a:lnTo>
                <a:lnTo>
                  <a:pt x="152881" y="269326"/>
                </a:lnTo>
                <a:close/>
                <a:moveTo>
                  <a:pt x="118354" y="24487"/>
                </a:moveTo>
                <a:cubicBezTo>
                  <a:pt x="67718" y="24487"/>
                  <a:pt x="26447" y="64581"/>
                  <a:pt x="24555" y="114754"/>
                </a:cubicBezTo>
                <a:lnTo>
                  <a:pt x="24487" y="118354"/>
                </a:lnTo>
                <a:lnTo>
                  <a:pt x="24597" y="122877"/>
                </a:lnTo>
                <a:cubicBezTo>
                  <a:pt x="25840" y="148397"/>
                  <a:pt x="37665" y="172163"/>
                  <a:pt x="60608" y="194570"/>
                </a:cubicBezTo>
                <a:cubicBezTo>
                  <a:pt x="64919" y="198782"/>
                  <a:pt x="68117" y="203978"/>
                  <a:pt x="69939" y="209692"/>
                </a:cubicBezTo>
                <a:lnTo>
                  <a:pt x="70734" y="212589"/>
                </a:lnTo>
                <a:lnTo>
                  <a:pt x="78163" y="244839"/>
                </a:lnTo>
                <a:lnTo>
                  <a:pt x="158530" y="244839"/>
                </a:lnTo>
                <a:lnTo>
                  <a:pt x="166005" y="212578"/>
                </a:lnTo>
                <a:cubicBezTo>
                  <a:pt x="167360" y="206711"/>
                  <a:pt x="170133" y="201283"/>
                  <a:pt x="174061" y="196761"/>
                </a:cubicBezTo>
                <a:lnTo>
                  <a:pt x="176121" y="194577"/>
                </a:lnTo>
                <a:cubicBezTo>
                  <a:pt x="199051" y="172169"/>
                  <a:pt x="210870" y="148402"/>
                  <a:pt x="212112" y="122877"/>
                </a:cubicBezTo>
                <a:lnTo>
                  <a:pt x="212222" y="118354"/>
                </a:lnTo>
                <a:lnTo>
                  <a:pt x="212153" y="114754"/>
                </a:lnTo>
                <a:cubicBezTo>
                  <a:pt x="210261" y="64581"/>
                  <a:pt x="168991" y="24487"/>
                  <a:pt x="118354" y="2448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56000">
                <a:srgbClr val="CC918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525045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30">
            <a:extLst>
              <a:ext uri="{FF2B5EF4-FFF2-40B4-BE49-F238E27FC236}">
                <a16:creationId xmlns:a16="http://schemas.microsoft.com/office/drawing/2014/main" id="{B89EFB78-8B2B-4256-9095-B4DDF111E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noProof="0"/>
              <a:t>The BXT framework: Technology </a:t>
            </a:r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E319EEE-604A-A0A2-B641-DF7BCAA10D4B}"/>
              </a:ext>
            </a:extLst>
          </p:cNvPr>
          <p:cNvSpPr>
            <a:spLocks/>
          </p:cNvSpPr>
          <p:nvPr/>
        </p:nvSpPr>
        <p:spPr bwMode="auto">
          <a:xfrm>
            <a:off x="588962" y="1268020"/>
            <a:ext cx="11017250" cy="5001266"/>
          </a:xfrm>
          <a:prstGeom prst="roundRect">
            <a:avLst>
              <a:gd name="adj" fmla="val 3989"/>
            </a:avLst>
          </a:prstGeom>
          <a:solidFill>
            <a:schemeClr val="bg1">
              <a:alpha val="70000"/>
            </a:schemeClr>
          </a:solidFill>
          <a:ln w="6350">
            <a:gradFill>
              <a:gsLst>
                <a:gs pos="0">
                  <a:schemeClr val="bg1">
                    <a:alpha val="27000"/>
                  </a:schemeClr>
                </a:gs>
                <a:gs pos="100000">
                  <a:schemeClr val="bg1">
                    <a:alpha val="59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65100" dist="25400" dir="2700000" algn="tl" rotWithShape="0">
              <a:schemeClr val="bg2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64008" rIns="91440" bIns="6400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err="1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540A3AC6-ACD7-3082-2258-EF9AFE6C40E0}"/>
              </a:ext>
            </a:extLst>
          </p:cNvPr>
          <p:cNvSpPr>
            <a:spLocks/>
          </p:cNvSpPr>
          <p:nvPr/>
        </p:nvSpPr>
        <p:spPr bwMode="auto">
          <a:xfrm>
            <a:off x="735266" y="1414324"/>
            <a:ext cx="4710113" cy="4724939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chemeClr val="tx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6" name="Freeform: Shape 27">
            <a:extLst>
              <a:ext uri="{FF2B5EF4-FFF2-40B4-BE49-F238E27FC236}">
                <a16:creationId xmlns:a16="http://schemas.microsoft.com/office/drawing/2014/main" id="{7DD59E0B-8D41-60D1-58CB-98B8BDF712D5}"/>
              </a:ext>
            </a:extLst>
          </p:cNvPr>
          <p:cNvSpPr/>
          <p:nvPr/>
        </p:nvSpPr>
        <p:spPr bwMode="auto">
          <a:xfrm>
            <a:off x="987321" y="1744998"/>
            <a:ext cx="4206002" cy="4063592"/>
          </a:xfrm>
          <a:custGeom>
            <a:avLst/>
            <a:gdLst>
              <a:gd name="connsiteX0" fmla="*/ 1628986 w 4905743"/>
              <a:gd name="connsiteY0" fmla="*/ 0 h 4739639"/>
              <a:gd name="connsiteX1" fmla="*/ 2405458 w 4905743"/>
              <a:gd name="connsiteY1" fmla="*/ 196610 h 4739639"/>
              <a:gd name="connsiteX2" fmla="*/ 2452872 w 4905743"/>
              <a:gd name="connsiteY2" fmla="*/ 225415 h 4739639"/>
              <a:gd name="connsiteX3" fmla="*/ 2500286 w 4905743"/>
              <a:gd name="connsiteY3" fmla="*/ 196610 h 4739639"/>
              <a:gd name="connsiteX4" fmla="*/ 3276757 w 4905743"/>
              <a:gd name="connsiteY4" fmla="*/ 0 h 4739639"/>
              <a:gd name="connsiteX5" fmla="*/ 4905743 w 4905743"/>
              <a:gd name="connsiteY5" fmla="*/ 1628986 h 4739639"/>
              <a:gd name="connsiteX6" fmla="*/ 4187539 w 4905743"/>
              <a:gd name="connsiteY6" fmla="*/ 2979767 h 4739639"/>
              <a:gd name="connsiteX7" fmla="*/ 4078590 w 4905743"/>
              <a:gd name="connsiteY7" fmla="*/ 3045955 h 4739639"/>
              <a:gd name="connsiteX8" fmla="*/ 4081857 w 4905743"/>
              <a:gd name="connsiteY8" fmla="*/ 3110653 h 4739639"/>
              <a:gd name="connsiteX9" fmla="*/ 2452871 w 4905743"/>
              <a:gd name="connsiteY9" fmla="*/ 4739639 h 4739639"/>
              <a:gd name="connsiteX10" fmla="*/ 823885 w 4905743"/>
              <a:gd name="connsiteY10" fmla="*/ 3110653 h 4739639"/>
              <a:gd name="connsiteX11" fmla="*/ 827152 w 4905743"/>
              <a:gd name="connsiteY11" fmla="*/ 3045954 h 4739639"/>
              <a:gd name="connsiteX12" fmla="*/ 718205 w 4905743"/>
              <a:gd name="connsiteY12" fmla="*/ 2979767 h 4739639"/>
              <a:gd name="connsiteX13" fmla="*/ 0 w 4905743"/>
              <a:gd name="connsiteY13" fmla="*/ 1628986 h 4739639"/>
              <a:gd name="connsiteX14" fmla="*/ 1628986 w 4905743"/>
              <a:gd name="connsiteY14" fmla="*/ 0 h 4739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905743" h="4739639">
                <a:moveTo>
                  <a:pt x="1628986" y="0"/>
                </a:moveTo>
                <a:cubicBezTo>
                  <a:pt x="1910131" y="0"/>
                  <a:pt x="2174641" y="71223"/>
                  <a:pt x="2405458" y="196610"/>
                </a:cubicBezTo>
                <a:lnTo>
                  <a:pt x="2452872" y="225415"/>
                </a:lnTo>
                <a:lnTo>
                  <a:pt x="2500286" y="196610"/>
                </a:lnTo>
                <a:cubicBezTo>
                  <a:pt x="2731102" y="71223"/>
                  <a:pt x="2995612" y="0"/>
                  <a:pt x="3276757" y="0"/>
                </a:cubicBezTo>
                <a:cubicBezTo>
                  <a:pt x="4176421" y="0"/>
                  <a:pt x="4905743" y="729322"/>
                  <a:pt x="4905743" y="1628986"/>
                </a:cubicBezTo>
                <a:cubicBezTo>
                  <a:pt x="4905743" y="2191276"/>
                  <a:pt x="4620852" y="2687026"/>
                  <a:pt x="4187539" y="2979767"/>
                </a:cubicBezTo>
                <a:lnTo>
                  <a:pt x="4078590" y="3045955"/>
                </a:lnTo>
                <a:lnTo>
                  <a:pt x="4081857" y="3110653"/>
                </a:lnTo>
                <a:cubicBezTo>
                  <a:pt x="4081857" y="4010317"/>
                  <a:pt x="3352535" y="4739639"/>
                  <a:pt x="2452871" y="4739639"/>
                </a:cubicBezTo>
                <a:cubicBezTo>
                  <a:pt x="1553207" y="4739639"/>
                  <a:pt x="823885" y="4010317"/>
                  <a:pt x="823885" y="3110653"/>
                </a:cubicBezTo>
                <a:lnTo>
                  <a:pt x="827152" y="3045954"/>
                </a:lnTo>
                <a:lnTo>
                  <a:pt x="718205" y="2979767"/>
                </a:lnTo>
                <a:cubicBezTo>
                  <a:pt x="284892" y="2687026"/>
                  <a:pt x="0" y="2191276"/>
                  <a:pt x="0" y="1628986"/>
                </a:cubicBezTo>
                <a:cubicBezTo>
                  <a:pt x="0" y="729322"/>
                  <a:pt x="729322" y="0"/>
                  <a:pt x="1628986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584200" dist="38100" dir="3960000" sx="102000" sy="102000" algn="tl" rotWithShape="0">
              <a:prstClr val="black">
                <a:alpha val="10000"/>
              </a:prstClr>
            </a:outerShdw>
          </a:effectLst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A922D22-64FE-D6F7-6C51-534FA2BA27ED}"/>
              </a:ext>
            </a:extLst>
          </p:cNvPr>
          <p:cNvSpPr/>
          <p:nvPr/>
        </p:nvSpPr>
        <p:spPr bwMode="auto">
          <a:xfrm>
            <a:off x="1113627" y="1871304"/>
            <a:ext cx="2540652" cy="2540653"/>
          </a:xfrm>
          <a:prstGeom prst="ellipse">
            <a:avLst/>
          </a:prstGeom>
          <a:solidFill>
            <a:schemeClr val="bg2">
              <a:alpha val="0"/>
            </a:schemeClr>
          </a:solidFill>
          <a:ln>
            <a:solidFill>
              <a:schemeClr val="bg1">
                <a:lumMod val="85000"/>
                <a:alpha val="13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FD1B568-CDC9-5B82-A9DC-2A7E69D09ACD}"/>
              </a:ext>
            </a:extLst>
          </p:cNvPr>
          <p:cNvSpPr/>
          <p:nvPr/>
        </p:nvSpPr>
        <p:spPr bwMode="auto">
          <a:xfrm>
            <a:off x="2526365" y="1871304"/>
            <a:ext cx="2540652" cy="2540653"/>
          </a:xfrm>
          <a:prstGeom prst="ellipse">
            <a:avLst/>
          </a:prstGeom>
          <a:solidFill>
            <a:schemeClr val="bg2">
              <a:alpha val="0"/>
            </a:schemeClr>
          </a:solidFill>
          <a:ln>
            <a:solidFill>
              <a:schemeClr val="bg1">
                <a:lumMod val="85000"/>
                <a:alpha val="13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FFFFFF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42409F7-459B-1AB3-5A7A-FA6E16E236E3}"/>
              </a:ext>
            </a:extLst>
          </p:cNvPr>
          <p:cNvSpPr txBox="1"/>
          <p:nvPr/>
        </p:nvSpPr>
        <p:spPr>
          <a:xfrm>
            <a:off x="1455245" y="2942649"/>
            <a:ext cx="804707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Business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(viability)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6E159E-E0D6-A986-8334-E8D3B147CD02}"/>
              </a:ext>
            </a:extLst>
          </p:cNvPr>
          <p:cNvSpPr txBox="1"/>
          <p:nvPr/>
        </p:nvSpPr>
        <p:spPr>
          <a:xfrm>
            <a:off x="3889139" y="2942649"/>
            <a:ext cx="1014700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Experience</a:t>
            </a:r>
            <a:b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ea typeface="+mn-ea"/>
                <a:cs typeface="+mn-cs"/>
              </a:rPr>
              <a:t>(desirability)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E64097E-8924-6E77-139A-032072766940}"/>
              </a:ext>
            </a:extLst>
          </p:cNvPr>
          <p:cNvSpPr txBox="1"/>
          <p:nvPr/>
        </p:nvSpPr>
        <p:spPr>
          <a:xfrm>
            <a:off x="2711854" y="3336745"/>
            <a:ext cx="790503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Product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success</a:t>
            </a:r>
          </a:p>
        </p:txBody>
      </p:sp>
      <p:sp>
        <p:nvSpPr>
          <p:cNvPr id="44" name="Graphic 33" descr="Icon of a briefcase">
            <a:extLst>
              <a:ext uri="{FF2B5EF4-FFF2-40B4-BE49-F238E27FC236}">
                <a16:creationId xmlns:a16="http://schemas.microsoft.com/office/drawing/2014/main" id="{E03629FA-86C2-0780-3743-EE406F8B0DF6}"/>
              </a:ext>
            </a:extLst>
          </p:cNvPr>
          <p:cNvSpPr>
            <a:spLocks noChangeAspect="1"/>
          </p:cNvSpPr>
          <p:nvPr/>
        </p:nvSpPr>
        <p:spPr>
          <a:xfrm>
            <a:off x="1671072" y="2506129"/>
            <a:ext cx="373056" cy="298350"/>
          </a:xfrm>
          <a:custGeom>
            <a:avLst/>
            <a:gdLst>
              <a:gd name="connsiteX0" fmla="*/ 95250 w 381000"/>
              <a:gd name="connsiteY0" fmla="*/ 42863 h 304704"/>
              <a:gd name="connsiteX1" fmla="*/ 95250 w 381000"/>
              <a:gd name="connsiteY1" fmla="*/ 57112 h 304704"/>
              <a:gd name="connsiteX2" fmla="*/ 42863 w 381000"/>
              <a:gd name="connsiteY2" fmla="*/ 57112 h 304704"/>
              <a:gd name="connsiteX3" fmla="*/ 0 w 381000"/>
              <a:gd name="connsiteY3" fmla="*/ 99974 h 304704"/>
              <a:gd name="connsiteX4" fmla="*/ 0 w 381000"/>
              <a:gd name="connsiteY4" fmla="*/ 261842 h 304704"/>
              <a:gd name="connsiteX5" fmla="*/ 42863 w 381000"/>
              <a:gd name="connsiteY5" fmla="*/ 304705 h 304704"/>
              <a:gd name="connsiteX6" fmla="*/ 338138 w 381000"/>
              <a:gd name="connsiteY6" fmla="*/ 304705 h 304704"/>
              <a:gd name="connsiteX7" fmla="*/ 381000 w 381000"/>
              <a:gd name="connsiteY7" fmla="*/ 261842 h 304704"/>
              <a:gd name="connsiteX8" fmla="*/ 381000 w 381000"/>
              <a:gd name="connsiteY8" fmla="*/ 99974 h 304704"/>
              <a:gd name="connsiteX9" fmla="*/ 338138 w 381000"/>
              <a:gd name="connsiteY9" fmla="*/ 57112 h 304704"/>
              <a:gd name="connsiteX10" fmla="*/ 285750 w 381000"/>
              <a:gd name="connsiteY10" fmla="*/ 57112 h 304704"/>
              <a:gd name="connsiteX11" fmla="*/ 285750 w 381000"/>
              <a:gd name="connsiteY11" fmla="*/ 42863 h 304704"/>
              <a:gd name="connsiteX12" fmla="*/ 242888 w 381000"/>
              <a:gd name="connsiteY12" fmla="*/ 0 h 304704"/>
              <a:gd name="connsiteX13" fmla="*/ 138113 w 381000"/>
              <a:gd name="connsiteY13" fmla="*/ 0 h 304704"/>
              <a:gd name="connsiteX14" fmla="*/ 95250 w 381000"/>
              <a:gd name="connsiteY14" fmla="*/ 42863 h 304704"/>
              <a:gd name="connsiteX15" fmla="*/ 138113 w 381000"/>
              <a:gd name="connsiteY15" fmla="*/ 28575 h 304704"/>
              <a:gd name="connsiteX16" fmla="*/ 242888 w 381000"/>
              <a:gd name="connsiteY16" fmla="*/ 28575 h 304704"/>
              <a:gd name="connsiteX17" fmla="*/ 257175 w 381000"/>
              <a:gd name="connsiteY17" fmla="*/ 42863 h 304704"/>
              <a:gd name="connsiteX18" fmla="*/ 257175 w 381000"/>
              <a:gd name="connsiteY18" fmla="*/ 57112 h 304704"/>
              <a:gd name="connsiteX19" fmla="*/ 123825 w 381000"/>
              <a:gd name="connsiteY19" fmla="*/ 57112 h 304704"/>
              <a:gd name="connsiteX20" fmla="*/ 123825 w 381000"/>
              <a:gd name="connsiteY20" fmla="*/ 42863 h 304704"/>
              <a:gd name="connsiteX21" fmla="*/ 138113 w 381000"/>
              <a:gd name="connsiteY21" fmla="*/ 28575 h 304704"/>
              <a:gd name="connsiteX22" fmla="*/ 95250 w 381000"/>
              <a:gd name="connsiteY22" fmla="*/ 85725 h 304704"/>
              <a:gd name="connsiteX23" fmla="*/ 123825 w 381000"/>
              <a:gd name="connsiteY23" fmla="*/ 85725 h 304704"/>
              <a:gd name="connsiteX24" fmla="*/ 123825 w 381000"/>
              <a:gd name="connsiteY24" fmla="*/ 85687 h 304704"/>
              <a:gd name="connsiteX25" fmla="*/ 257175 w 381000"/>
              <a:gd name="connsiteY25" fmla="*/ 85687 h 304704"/>
              <a:gd name="connsiteX26" fmla="*/ 257175 w 381000"/>
              <a:gd name="connsiteY26" fmla="*/ 85725 h 304704"/>
              <a:gd name="connsiteX27" fmla="*/ 285750 w 381000"/>
              <a:gd name="connsiteY27" fmla="*/ 85725 h 304704"/>
              <a:gd name="connsiteX28" fmla="*/ 285750 w 381000"/>
              <a:gd name="connsiteY28" fmla="*/ 85687 h 304704"/>
              <a:gd name="connsiteX29" fmla="*/ 338138 w 381000"/>
              <a:gd name="connsiteY29" fmla="*/ 85687 h 304704"/>
              <a:gd name="connsiteX30" fmla="*/ 352425 w 381000"/>
              <a:gd name="connsiteY30" fmla="*/ 99974 h 304704"/>
              <a:gd name="connsiteX31" fmla="*/ 352425 w 381000"/>
              <a:gd name="connsiteY31" fmla="*/ 142837 h 304704"/>
              <a:gd name="connsiteX32" fmla="*/ 295275 w 381000"/>
              <a:gd name="connsiteY32" fmla="*/ 142837 h 304704"/>
              <a:gd name="connsiteX33" fmla="*/ 295275 w 381000"/>
              <a:gd name="connsiteY33" fmla="*/ 128549 h 304704"/>
              <a:gd name="connsiteX34" fmla="*/ 280988 w 381000"/>
              <a:gd name="connsiteY34" fmla="*/ 114262 h 304704"/>
              <a:gd name="connsiteX35" fmla="*/ 266700 w 381000"/>
              <a:gd name="connsiteY35" fmla="*/ 128549 h 304704"/>
              <a:gd name="connsiteX36" fmla="*/ 266700 w 381000"/>
              <a:gd name="connsiteY36" fmla="*/ 142837 h 304704"/>
              <a:gd name="connsiteX37" fmla="*/ 114300 w 381000"/>
              <a:gd name="connsiteY37" fmla="*/ 142837 h 304704"/>
              <a:gd name="connsiteX38" fmla="*/ 114300 w 381000"/>
              <a:gd name="connsiteY38" fmla="*/ 128549 h 304704"/>
              <a:gd name="connsiteX39" fmla="*/ 100013 w 381000"/>
              <a:gd name="connsiteY39" fmla="*/ 114262 h 304704"/>
              <a:gd name="connsiteX40" fmla="*/ 85725 w 381000"/>
              <a:gd name="connsiteY40" fmla="*/ 128549 h 304704"/>
              <a:gd name="connsiteX41" fmla="*/ 85725 w 381000"/>
              <a:gd name="connsiteY41" fmla="*/ 142837 h 304704"/>
              <a:gd name="connsiteX42" fmla="*/ 28575 w 381000"/>
              <a:gd name="connsiteY42" fmla="*/ 142837 h 304704"/>
              <a:gd name="connsiteX43" fmla="*/ 28575 w 381000"/>
              <a:gd name="connsiteY43" fmla="*/ 99974 h 304704"/>
              <a:gd name="connsiteX44" fmla="*/ 42863 w 381000"/>
              <a:gd name="connsiteY44" fmla="*/ 85687 h 304704"/>
              <a:gd name="connsiteX45" fmla="*/ 95250 w 381000"/>
              <a:gd name="connsiteY45" fmla="*/ 85687 h 304704"/>
              <a:gd name="connsiteX46" fmla="*/ 95250 w 381000"/>
              <a:gd name="connsiteY46" fmla="*/ 85725 h 304704"/>
              <a:gd name="connsiteX47" fmla="*/ 266700 w 381000"/>
              <a:gd name="connsiteY47" fmla="*/ 171412 h 304704"/>
              <a:gd name="connsiteX48" fmla="*/ 266700 w 381000"/>
              <a:gd name="connsiteY48" fmla="*/ 195224 h 304704"/>
              <a:gd name="connsiteX49" fmla="*/ 280988 w 381000"/>
              <a:gd name="connsiteY49" fmla="*/ 209512 h 304704"/>
              <a:gd name="connsiteX50" fmla="*/ 295275 w 381000"/>
              <a:gd name="connsiteY50" fmla="*/ 195224 h 304704"/>
              <a:gd name="connsiteX51" fmla="*/ 295275 w 381000"/>
              <a:gd name="connsiteY51" fmla="*/ 171412 h 304704"/>
              <a:gd name="connsiteX52" fmla="*/ 352425 w 381000"/>
              <a:gd name="connsiteY52" fmla="*/ 171412 h 304704"/>
              <a:gd name="connsiteX53" fmla="*/ 352425 w 381000"/>
              <a:gd name="connsiteY53" fmla="*/ 261842 h 304704"/>
              <a:gd name="connsiteX54" fmla="*/ 338138 w 381000"/>
              <a:gd name="connsiteY54" fmla="*/ 276130 h 304704"/>
              <a:gd name="connsiteX55" fmla="*/ 42863 w 381000"/>
              <a:gd name="connsiteY55" fmla="*/ 276130 h 304704"/>
              <a:gd name="connsiteX56" fmla="*/ 28575 w 381000"/>
              <a:gd name="connsiteY56" fmla="*/ 261842 h 304704"/>
              <a:gd name="connsiteX57" fmla="*/ 28575 w 381000"/>
              <a:gd name="connsiteY57" fmla="*/ 171412 h 304704"/>
              <a:gd name="connsiteX58" fmla="*/ 85725 w 381000"/>
              <a:gd name="connsiteY58" fmla="*/ 171412 h 304704"/>
              <a:gd name="connsiteX59" fmla="*/ 85725 w 381000"/>
              <a:gd name="connsiteY59" fmla="*/ 195224 h 304704"/>
              <a:gd name="connsiteX60" fmla="*/ 100013 w 381000"/>
              <a:gd name="connsiteY60" fmla="*/ 209512 h 304704"/>
              <a:gd name="connsiteX61" fmla="*/ 114300 w 381000"/>
              <a:gd name="connsiteY61" fmla="*/ 195224 h 304704"/>
              <a:gd name="connsiteX62" fmla="*/ 114300 w 381000"/>
              <a:gd name="connsiteY62" fmla="*/ 171412 h 304704"/>
              <a:gd name="connsiteX63" fmla="*/ 266700 w 381000"/>
              <a:gd name="connsiteY63" fmla="*/ 171412 h 3047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381000" h="304704">
                <a:moveTo>
                  <a:pt x="95250" y="42863"/>
                </a:moveTo>
                <a:lnTo>
                  <a:pt x="95250" y="57112"/>
                </a:lnTo>
                <a:lnTo>
                  <a:pt x="42863" y="57112"/>
                </a:lnTo>
                <a:cubicBezTo>
                  <a:pt x="19190" y="57112"/>
                  <a:pt x="0" y="76302"/>
                  <a:pt x="0" y="99974"/>
                </a:cubicBezTo>
                <a:lnTo>
                  <a:pt x="0" y="261842"/>
                </a:lnTo>
                <a:cubicBezTo>
                  <a:pt x="0" y="285514"/>
                  <a:pt x="19190" y="304705"/>
                  <a:pt x="42863" y="304705"/>
                </a:cubicBezTo>
                <a:lnTo>
                  <a:pt x="338138" y="304705"/>
                </a:lnTo>
                <a:cubicBezTo>
                  <a:pt x="361809" y="304705"/>
                  <a:pt x="381000" y="285514"/>
                  <a:pt x="381000" y="261842"/>
                </a:cubicBezTo>
                <a:lnTo>
                  <a:pt x="381000" y="99974"/>
                </a:lnTo>
                <a:cubicBezTo>
                  <a:pt x="381000" y="76302"/>
                  <a:pt x="361809" y="57112"/>
                  <a:pt x="338138" y="57112"/>
                </a:cubicBezTo>
                <a:lnTo>
                  <a:pt x="285750" y="57112"/>
                </a:lnTo>
                <a:lnTo>
                  <a:pt x="285750" y="42863"/>
                </a:lnTo>
                <a:cubicBezTo>
                  <a:pt x="285750" y="19190"/>
                  <a:pt x="266559" y="0"/>
                  <a:pt x="242888" y="0"/>
                </a:cubicBezTo>
                <a:lnTo>
                  <a:pt x="138113" y="0"/>
                </a:lnTo>
                <a:cubicBezTo>
                  <a:pt x="114440" y="0"/>
                  <a:pt x="95250" y="19190"/>
                  <a:pt x="95250" y="42863"/>
                </a:cubicBezTo>
                <a:close/>
                <a:moveTo>
                  <a:pt x="138113" y="28575"/>
                </a:moveTo>
                <a:lnTo>
                  <a:pt x="242888" y="28575"/>
                </a:lnTo>
                <a:cubicBezTo>
                  <a:pt x="250778" y="28575"/>
                  <a:pt x="257175" y="34972"/>
                  <a:pt x="257175" y="42863"/>
                </a:cubicBezTo>
                <a:lnTo>
                  <a:pt x="257175" y="57112"/>
                </a:lnTo>
                <a:lnTo>
                  <a:pt x="123825" y="57112"/>
                </a:lnTo>
                <a:lnTo>
                  <a:pt x="123825" y="42863"/>
                </a:lnTo>
                <a:cubicBezTo>
                  <a:pt x="123825" y="34972"/>
                  <a:pt x="130222" y="28575"/>
                  <a:pt x="138113" y="28575"/>
                </a:cubicBezTo>
                <a:close/>
                <a:moveTo>
                  <a:pt x="95250" y="85725"/>
                </a:moveTo>
                <a:lnTo>
                  <a:pt x="123825" y="85725"/>
                </a:lnTo>
                <a:lnTo>
                  <a:pt x="123825" y="85687"/>
                </a:lnTo>
                <a:lnTo>
                  <a:pt x="257175" y="85687"/>
                </a:lnTo>
                <a:lnTo>
                  <a:pt x="257175" y="85725"/>
                </a:lnTo>
                <a:lnTo>
                  <a:pt x="285750" y="85725"/>
                </a:lnTo>
                <a:lnTo>
                  <a:pt x="285750" y="85687"/>
                </a:lnTo>
                <a:lnTo>
                  <a:pt x="338138" y="85687"/>
                </a:lnTo>
                <a:cubicBezTo>
                  <a:pt x="346028" y="85687"/>
                  <a:pt x="352425" y="92084"/>
                  <a:pt x="352425" y="99974"/>
                </a:cubicBezTo>
                <a:lnTo>
                  <a:pt x="352425" y="142837"/>
                </a:lnTo>
                <a:lnTo>
                  <a:pt x="295275" y="142837"/>
                </a:lnTo>
                <a:lnTo>
                  <a:pt x="295275" y="128549"/>
                </a:lnTo>
                <a:cubicBezTo>
                  <a:pt x="295275" y="120659"/>
                  <a:pt x="288878" y="114262"/>
                  <a:pt x="280988" y="114262"/>
                </a:cubicBezTo>
                <a:cubicBezTo>
                  <a:pt x="273097" y="114262"/>
                  <a:pt x="266700" y="120659"/>
                  <a:pt x="266700" y="128549"/>
                </a:cubicBezTo>
                <a:lnTo>
                  <a:pt x="266700" y="142837"/>
                </a:lnTo>
                <a:lnTo>
                  <a:pt x="114300" y="142837"/>
                </a:lnTo>
                <a:lnTo>
                  <a:pt x="114300" y="128549"/>
                </a:lnTo>
                <a:cubicBezTo>
                  <a:pt x="114300" y="120659"/>
                  <a:pt x="107903" y="114262"/>
                  <a:pt x="100013" y="114262"/>
                </a:cubicBezTo>
                <a:cubicBezTo>
                  <a:pt x="92122" y="114262"/>
                  <a:pt x="85725" y="120659"/>
                  <a:pt x="85725" y="128549"/>
                </a:cubicBezTo>
                <a:lnTo>
                  <a:pt x="85725" y="142837"/>
                </a:lnTo>
                <a:lnTo>
                  <a:pt x="28575" y="142837"/>
                </a:lnTo>
                <a:lnTo>
                  <a:pt x="28575" y="99974"/>
                </a:lnTo>
                <a:cubicBezTo>
                  <a:pt x="28575" y="92084"/>
                  <a:pt x="34972" y="85687"/>
                  <a:pt x="42863" y="85687"/>
                </a:cubicBezTo>
                <a:lnTo>
                  <a:pt x="95250" y="85687"/>
                </a:lnTo>
                <a:lnTo>
                  <a:pt x="95250" y="85725"/>
                </a:lnTo>
                <a:close/>
                <a:moveTo>
                  <a:pt x="266700" y="171412"/>
                </a:moveTo>
                <a:lnTo>
                  <a:pt x="266700" y="195224"/>
                </a:lnTo>
                <a:cubicBezTo>
                  <a:pt x="266700" y="203115"/>
                  <a:pt x="273097" y="209512"/>
                  <a:pt x="280988" y="209512"/>
                </a:cubicBezTo>
                <a:cubicBezTo>
                  <a:pt x="288878" y="209512"/>
                  <a:pt x="295275" y="203115"/>
                  <a:pt x="295275" y="195224"/>
                </a:cubicBezTo>
                <a:lnTo>
                  <a:pt x="295275" y="171412"/>
                </a:lnTo>
                <a:lnTo>
                  <a:pt x="352425" y="171412"/>
                </a:lnTo>
                <a:lnTo>
                  <a:pt x="352425" y="261842"/>
                </a:lnTo>
                <a:cubicBezTo>
                  <a:pt x="352425" y="269733"/>
                  <a:pt x="346028" y="276130"/>
                  <a:pt x="338138" y="276130"/>
                </a:cubicBezTo>
                <a:lnTo>
                  <a:pt x="42863" y="276130"/>
                </a:lnTo>
                <a:cubicBezTo>
                  <a:pt x="34972" y="276130"/>
                  <a:pt x="28575" y="269733"/>
                  <a:pt x="28575" y="261842"/>
                </a:cubicBezTo>
                <a:lnTo>
                  <a:pt x="28575" y="171412"/>
                </a:lnTo>
                <a:lnTo>
                  <a:pt x="85725" y="171412"/>
                </a:lnTo>
                <a:lnTo>
                  <a:pt x="85725" y="195224"/>
                </a:lnTo>
                <a:cubicBezTo>
                  <a:pt x="85725" y="203115"/>
                  <a:pt x="92122" y="209512"/>
                  <a:pt x="100013" y="209512"/>
                </a:cubicBezTo>
                <a:cubicBezTo>
                  <a:pt x="107903" y="209512"/>
                  <a:pt x="114300" y="203115"/>
                  <a:pt x="114300" y="195224"/>
                </a:cubicBezTo>
                <a:lnTo>
                  <a:pt x="114300" y="171412"/>
                </a:lnTo>
                <a:lnTo>
                  <a:pt x="266700" y="171412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46" name="Graphic 328" descr="Icon of a line chart with connected circles at varying points">
            <a:extLst>
              <a:ext uri="{FF2B5EF4-FFF2-40B4-BE49-F238E27FC236}">
                <a16:creationId xmlns:a16="http://schemas.microsoft.com/office/drawing/2014/main" id="{F03B8DF7-F5C7-BA8C-E482-834491EE8693}"/>
              </a:ext>
            </a:extLst>
          </p:cNvPr>
          <p:cNvSpPr/>
          <p:nvPr/>
        </p:nvSpPr>
        <p:spPr>
          <a:xfrm>
            <a:off x="4244079" y="2568352"/>
            <a:ext cx="304820" cy="274322"/>
          </a:xfrm>
          <a:custGeom>
            <a:avLst/>
            <a:gdLst>
              <a:gd name="connsiteX0" fmla="*/ 220167 w 259020"/>
              <a:gd name="connsiteY0" fmla="*/ 19416 h 233104"/>
              <a:gd name="connsiteX1" fmla="*/ 200740 w 259020"/>
              <a:gd name="connsiteY1" fmla="*/ 38842 h 233104"/>
              <a:gd name="connsiteX2" fmla="*/ 220167 w 259020"/>
              <a:gd name="connsiteY2" fmla="*/ 58269 h 233104"/>
              <a:gd name="connsiteX3" fmla="*/ 239594 w 259020"/>
              <a:gd name="connsiteY3" fmla="*/ 38842 h 233104"/>
              <a:gd name="connsiteX4" fmla="*/ 220167 w 259020"/>
              <a:gd name="connsiteY4" fmla="*/ 19416 h 233104"/>
              <a:gd name="connsiteX5" fmla="*/ 181314 w 259020"/>
              <a:gd name="connsiteY5" fmla="*/ 38842 h 233104"/>
              <a:gd name="connsiteX6" fmla="*/ 220177 w 259020"/>
              <a:gd name="connsiteY6" fmla="*/ 0 h 233104"/>
              <a:gd name="connsiteX7" fmla="*/ 259020 w 259020"/>
              <a:gd name="connsiteY7" fmla="*/ 38864 h 233104"/>
              <a:gd name="connsiteX8" fmla="*/ 220157 w 259020"/>
              <a:gd name="connsiteY8" fmla="*/ 77707 h 233104"/>
              <a:gd name="connsiteX9" fmla="*/ 214015 w 259020"/>
              <a:gd name="connsiteY9" fmla="*/ 77216 h 233104"/>
              <a:gd name="connsiteX10" fmla="*/ 187621 w 259020"/>
              <a:gd name="connsiteY10" fmla="*/ 120706 h 233104"/>
              <a:gd name="connsiteX11" fmla="*/ 177418 w 259020"/>
              <a:gd name="connsiteY11" fmla="*/ 174698 h 233104"/>
              <a:gd name="connsiteX12" fmla="*/ 126103 w 259020"/>
              <a:gd name="connsiteY12" fmla="*/ 167978 h 233104"/>
              <a:gd name="connsiteX13" fmla="*/ 77653 w 259020"/>
              <a:gd name="connsiteY13" fmla="*/ 192196 h 233104"/>
              <a:gd name="connsiteX14" fmla="*/ 40908 w 259020"/>
              <a:gd name="connsiteY14" fmla="*/ 233049 h 233104"/>
              <a:gd name="connsiteX15" fmla="*/ 55 w 259020"/>
              <a:gd name="connsiteY15" fmla="*/ 196304 h 233104"/>
              <a:gd name="connsiteX16" fmla="*/ 36800 w 259020"/>
              <a:gd name="connsiteY16" fmla="*/ 155451 h 233104"/>
              <a:gd name="connsiteX17" fmla="*/ 71683 w 259020"/>
              <a:gd name="connsiteY17" fmla="*/ 173469 h 233104"/>
              <a:gd name="connsiteX18" fmla="*/ 117413 w 259020"/>
              <a:gd name="connsiteY18" fmla="*/ 150597 h 233104"/>
              <a:gd name="connsiteX19" fmla="*/ 147234 w 259020"/>
              <a:gd name="connsiteY19" fmla="*/ 104447 h 233104"/>
              <a:gd name="connsiteX20" fmla="*/ 172792 w 259020"/>
              <a:gd name="connsiteY20" fmla="*/ 107690 h 233104"/>
              <a:gd name="connsiteX21" fmla="*/ 196078 w 259020"/>
              <a:gd name="connsiteY21" fmla="*/ 69329 h 233104"/>
              <a:gd name="connsiteX22" fmla="*/ 181314 w 259020"/>
              <a:gd name="connsiteY22" fmla="*/ 38842 h 233104"/>
              <a:gd name="connsiteX23" fmla="*/ 155411 w 259020"/>
              <a:gd name="connsiteY23" fmla="*/ 123024 h 233104"/>
              <a:gd name="connsiteX24" fmla="*/ 135985 w 259020"/>
              <a:gd name="connsiteY24" fmla="*/ 142451 h 233104"/>
              <a:gd name="connsiteX25" fmla="*/ 155411 w 259020"/>
              <a:gd name="connsiteY25" fmla="*/ 161878 h 233104"/>
              <a:gd name="connsiteX26" fmla="*/ 174838 w 259020"/>
              <a:gd name="connsiteY26" fmla="*/ 142451 h 233104"/>
              <a:gd name="connsiteX27" fmla="*/ 155411 w 259020"/>
              <a:gd name="connsiteY27" fmla="*/ 123024 h 233104"/>
              <a:gd name="connsiteX28" fmla="*/ 38852 w 259020"/>
              <a:gd name="connsiteY28" fmla="*/ 174829 h 233104"/>
              <a:gd name="connsiteX29" fmla="*/ 19425 w 259020"/>
              <a:gd name="connsiteY29" fmla="*/ 194255 h 233104"/>
              <a:gd name="connsiteX30" fmla="*/ 38852 w 259020"/>
              <a:gd name="connsiteY30" fmla="*/ 213682 h 233104"/>
              <a:gd name="connsiteX31" fmla="*/ 58278 w 259020"/>
              <a:gd name="connsiteY31" fmla="*/ 194255 h 233104"/>
              <a:gd name="connsiteX32" fmla="*/ 38852 w 259020"/>
              <a:gd name="connsiteY32" fmla="*/ 174829 h 233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59020" h="233104">
                <a:moveTo>
                  <a:pt x="220167" y="19416"/>
                </a:moveTo>
                <a:cubicBezTo>
                  <a:pt x="209438" y="19416"/>
                  <a:pt x="200740" y="28113"/>
                  <a:pt x="200740" y="38842"/>
                </a:cubicBezTo>
                <a:cubicBezTo>
                  <a:pt x="200740" y="49571"/>
                  <a:pt x="209438" y="58269"/>
                  <a:pt x="220167" y="58269"/>
                </a:cubicBezTo>
                <a:cubicBezTo>
                  <a:pt x="230896" y="58269"/>
                  <a:pt x="239594" y="49571"/>
                  <a:pt x="239594" y="38842"/>
                </a:cubicBezTo>
                <a:cubicBezTo>
                  <a:pt x="239594" y="28113"/>
                  <a:pt x="230896" y="19416"/>
                  <a:pt x="220167" y="19416"/>
                </a:cubicBezTo>
                <a:close/>
                <a:moveTo>
                  <a:pt x="181314" y="38842"/>
                </a:moveTo>
                <a:cubicBezTo>
                  <a:pt x="181320" y="17384"/>
                  <a:pt x="198720" y="-6"/>
                  <a:pt x="220177" y="0"/>
                </a:cubicBezTo>
                <a:cubicBezTo>
                  <a:pt x="241636" y="6"/>
                  <a:pt x="259027" y="17406"/>
                  <a:pt x="259020" y="38864"/>
                </a:cubicBezTo>
                <a:cubicBezTo>
                  <a:pt x="259014" y="60322"/>
                  <a:pt x="241614" y="77713"/>
                  <a:pt x="220157" y="77707"/>
                </a:cubicBezTo>
                <a:cubicBezTo>
                  <a:pt x="218100" y="77706"/>
                  <a:pt x="216046" y="77542"/>
                  <a:pt x="214015" y="77216"/>
                </a:cubicBezTo>
                <a:lnTo>
                  <a:pt x="187621" y="120706"/>
                </a:lnTo>
                <a:cubicBezTo>
                  <a:pt x="199713" y="138432"/>
                  <a:pt x="195145" y="162606"/>
                  <a:pt x="177418" y="174698"/>
                </a:cubicBezTo>
                <a:cubicBezTo>
                  <a:pt x="161093" y="185833"/>
                  <a:pt x="139010" y="182941"/>
                  <a:pt x="126103" y="167978"/>
                </a:cubicBezTo>
                <a:lnTo>
                  <a:pt x="77653" y="192196"/>
                </a:lnTo>
                <a:cubicBezTo>
                  <a:pt x="78788" y="213624"/>
                  <a:pt x="62336" y="231915"/>
                  <a:pt x="40908" y="233049"/>
                </a:cubicBezTo>
                <a:cubicBezTo>
                  <a:pt x="19480" y="234184"/>
                  <a:pt x="1190" y="217733"/>
                  <a:pt x="55" y="196304"/>
                </a:cubicBezTo>
                <a:cubicBezTo>
                  <a:pt x="-1079" y="174877"/>
                  <a:pt x="15372" y="156586"/>
                  <a:pt x="36800" y="155451"/>
                </a:cubicBezTo>
                <a:cubicBezTo>
                  <a:pt x="50830" y="154709"/>
                  <a:pt x="64168" y="161598"/>
                  <a:pt x="71683" y="173469"/>
                </a:cubicBezTo>
                <a:lnTo>
                  <a:pt x="117413" y="150597"/>
                </a:lnTo>
                <a:cubicBezTo>
                  <a:pt x="112903" y="129618"/>
                  <a:pt x="126256" y="108956"/>
                  <a:pt x="147234" y="104447"/>
                </a:cubicBezTo>
                <a:cubicBezTo>
                  <a:pt x="155875" y="102590"/>
                  <a:pt x="164889" y="103734"/>
                  <a:pt x="172792" y="107690"/>
                </a:cubicBezTo>
                <a:lnTo>
                  <a:pt x="196078" y="69329"/>
                </a:lnTo>
                <a:cubicBezTo>
                  <a:pt x="186745" y="61966"/>
                  <a:pt x="181303" y="50730"/>
                  <a:pt x="181314" y="38842"/>
                </a:cubicBezTo>
                <a:close/>
                <a:moveTo>
                  <a:pt x="155411" y="123024"/>
                </a:moveTo>
                <a:cubicBezTo>
                  <a:pt x="144683" y="123024"/>
                  <a:pt x="135985" y="131722"/>
                  <a:pt x="135985" y="142451"/>
                </a:cubicBezTo>
                <a:cubicBezTo>
                  <a:pt x="135985" y="153180"/>
                  <a:pt x="144683" y="161878"/>
                  <a:pt x="155411" y="161878"/>
                </a:cubicBezTo>
                <a:cubicBezTo>
                  <a:pt x="166140" y="161878"/>
                  <a:pt x="174838" y="153180"/>
                  <a:pt x="174838" y="142451"/>
                </a:cubicBezTo>
                <a:cubicBezTo>
                  <a:pt x="174838" y="131722"/>
                  <a:pt x="166140" y="123024"/>
                  <a:pt x="155411" y="123024"/>
                </a:cubicBezTo>
                <a:close/>
                <a:moveTo>
                  <a:pt x="38852" y="174829"/>
                </a:moveTo>
                <a:cubicBezTo>
                  <a:pt x="28123" y="174829"/>
                  <a:pt x="19425" y="183527"/>
                  <a:pt x="19425" y="194255"/>
                </a:cubicBezTo>
                <a:cubicBezTo>
                  <a:pt x="19425" y="204984"/>
                  <a:pt x="28123" y="213682"/>
                  <a:pt x="38852" y="213682"/>
                </a:cubicBezTo>
                <a:cubicBezTo>
                  <a:pt x="49581" y="213682"/>
                  <a:pt x="58278" y="204984"/>
                  <a:pt x="58278" y="194255"/>
                </a:cubicBezTo>
                <a:cubicBezTo>
                  <a:pt x="58278" y="183527"/>
                  <a:pt x="49581" y="174829"/>
                  <a:pt x="38852" y="17482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50C805-E71A-C2AF-17A8-509BCAE8D3D4}"/>
              </a:ext>
            </a:extLst>
          </p:cNvPr>
          <p:cNvSpPr txBox="1"/>
          <p:nvPr/>
        </p:nvSpPr>
        <p:spPr>
          <a:xfrm>
            <a:off x="5445378" y="5627063"/>
            <a:ext cx="5694110" cy="36929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What other feasibility questions come to mind?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567ABFB-37AF-74DE-8A6C-8E93437129CB}"/>
              </a:ext>
            </a:extLst>
          </p:cNvPr>
          <p:cNvSpPr/>
          <p:nvPr/>
        </p:nvSpPr>
        <p:spPr bwMode="auto">
          <a:xfrm>
            <a:off x="10890709" y="5567576"/>
            <a:ext cx="488264" cy="48826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76200" dir="3600000" sx="90000" sy="90000" algn="tr" rotWithShape="0">
              <a:schemeClr val="bg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11CD7D3D-2BF9-6327-2B26-00A1D40F1448}"/>
              </a:ext>
            </a:extLst>
          </p:cNvPr>
          <p:cNvSpPr/>
          <p:nvPr/>
        </p:nvSpPr>
        <p:spPr bwMode="auto">
          <a:xfrm>
            <a:off x="5591683" y="1414324"/>
            <a:ext cx="5868223" cy="4010343"/>
          </a:xfrm>
          <a:prstGeom prst="roundRect">
            <a:avLst>
              <a:gd name="adj" fmla="val 2900"/>
            </a:avLst>
          </a:prstGeom>
          <a:solidFill>
            <a:schemeClr val="bg2">
              <a:lumMod val="90000"/>
              <a:alpha val="3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sz="1200">
              <a:solidFill>
                <a:schemeClr val="tx1"/>
              </a:solidFill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702EA5B-2C4D-DBE9-F251-A8BA9B5165CA}"/>
              </a:ext>
            </a:extLst>
          </p:cNvPr>
          <p:cNvGraphicFramePr>
            <a:graphicFrameLocks noGrp="1"/>
          </p:cNvGraphicFramePr>
          <p:nvPr/>
        </p:nvGraphicFramePr>
        <p:xfrm>
          <a:off x="5683123" y="1505764"/>
          <a:ext cx="5685342" cy="173736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947557">
                  <a:extLst>
                    <a:ext uri="{9D8B030D-6E8A-4147-A177-3AD203B41FA5}">
                      <a16:colId xmlns:a16="http://schemas.microsoft.com/office/drawing/2014/main" val="3550081164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4201578885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1867402025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3572655341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3137342565"/>
                    </a:ext>
                  </a:extLst>
                </a:gridCol>
                <a:gridCol w="947557">
                  <a:extLst>
                    <a:ext uri="{9D8B030D-6E8A-4147-A177-3AD203B41FA5}">
                      <a16:colId xmlns:a16="http://schemas.microsoft.com/office/drawing/2014/main" val="3934252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endParaRPr lang="en-US" sz="1200" b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j-lt"/>
                        </a:rPr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j-lt"/>
                        </a:rPr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j-lt"/>
                        </a:rPr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j-lt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200" b="0">
                          <a:solidFill>
                            <a:schemeClr val="tx1"/>
                          </a:solidFill>
                          <a:latin typeface="+mj-lt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824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j-lt"/>
                        </a:rPr>
                        <a:t>Technology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The capabilities needed to power the concept are </a:t>
                      </a:r>
                      <a:r>
                        <a:rPr lang="en-US" sz="1000" b="0" i="1">
                          <a:solidFill>
                            <a:schemeClr val="tx1"/>
                          </a:solidFill>
                          <a:latin typeface="+mj-lt"/>
                        </a:rPr>
                        <a:t>extremely unlikely 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to be feasible and available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The capabilities needed to power the concept are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unlikely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 to be feasible and available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The capabilities needed to power the concept are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somewhat likely 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to be feasible and available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The capabilities needed to power the concept are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likely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 to be feasible and available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1200"/>
                        </a:spcAft>
                      </a:pP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The capabilities needed to power the concept are </a:t>
                      </a:r>
                      <a:r>
                        <a:rPr lang="en-US" sz="1000" b="0" i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extremely likely </a:t>
                      </a:r>
                      <a:r>
                        <a:rPr lang="en-US" sz="1000" b="0">
                          <a:solidFill>
                            <a:schemeClr val="tx1"/>
                          </a:solidFill>
                          <a:latin typeface="+mn-lt"/>
                        </a:rPr>
                        <a:t>to be feasible and available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1950"/>
                  </a:ext>
                </a:extLst>
              </a:tr>
            </a:tbl>
          </a:graphicData>
        </a:graphic>
      </p:graphicFrame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E2865FD-16AC-F2D7-1E7D-4392EC2F4513}"/>
              </a:ext>
            </a:extLst>
          </p:cNvPr>
          <p:cNvSpPr>
            <a:spLocks/>
          </p:cNvSpPr>
          <p:nvPr/>
        </p:nvSpPr>
        <p:spPr bwMode="auto">
          <a:xfrm>
            <a:off x="5683123" y="3376183"/>
            <a:ext cx="5685342" cy="277957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91440" tIns="45720" rIns="91440" bIns="45720" rtlCol="0" anchor="ctr">
            <a:noAutofit/>
          </a:bodyPr>
          <a:lstStyle/>
          <a:p>
            <a:r>
              <a:rPr lang="en-US" sz="1200">
                <a:latin typeface="+mj-lt"/>
              </a:rPr>
              <a:t>Questions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208EB26-2A1A-E13B-0E76-388ACE6CF7F2}"/>
              </a:ext>
            </a:extLst>
          </p:cNvPr>
          <p:cNvSpPr txBox="1">
            <a:spLocks/>
          </p:cNvSpPr>
          <p:nvPr/>
        </p:nvSpPr>
        <p:spPr>
          <a:xfrm>
            <a:off x="5767668" y="3739472"/>
            <a:ext cx="5580380" cy="163634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Is it feasible? </a:t>
            </a:r>
          </a:p>
          <a:p>
            <a:pPr marL="209550" marR="0" lvl="0" indent="-152400" algn="l" defTabSz="932742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Is there a skill gap within your organization? What level of expertise is required to develop and maintain the solution?</a:t>
            </a:r>
          </a:p>
          <a:p>
            <a:pPr marL="209550" marR="0" lvl="0" indent="-152400" algn="l" defTabSz="932742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Is implementing technology a “catch up,” or a differentiator? </a:t>
            </a:r>
          </a:p>
          <a:p>
            <a:pPr marL="209550" marR="0" lvl="0" indent="-152400" algn="l" defTabSz="932742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Are their any potential integration challenges with existing systems?</a:t>
            </a:r>
          </a:p>
          <a:p>
            <a:pPr marL="209550" marR="0" lvl="0" indent="-152400" algn="l" defTabSz="932742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Is it a natural extension to existing solutions? </a:t>
            </a:r>
          </a:p>
          <a:p>
            <a:pPr marL="209550" marR="0" lvl="0" indent="-152400" algn="l" defTabSz="932742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How ready are you to consume Microsoft technology?</a:t>
            </a:r>
          </a:p>
          <a:p>
            <a:pPr marL="209550" marR="0" lvl="0" indent="-152400" algn="l" defTabSz="932742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What value is a generative approach going to add?</a:t>
            </a:r>
          </a:p>
          <a:p>
            <a:pPr marL="209550" marR="0" lvl="0" indent="-152400" algn="l" defTabSz="932742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Segoe UI" panose="020B0502040204020203" pitchFamily="34" charset="0"/>
              </a:rPr>
              <a:t>How can we ensure the accuracy of the models?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94C143E-E708-3958-6493-9CE8D25F23A9}"/>
              </a:ext>
            </a:extLst>
          </p:cNvPr>
          <p:cNvSpPr/>
          <p:nvPr/>
        </p:nvSpPr>
        <p:spPr bwMode="auto">
          <a:xfrm>
            <a:off x="1819995" y="3141631"/>
            <a:ext cx="2540652" cy="2540653"/>
          </a:xfrm>
          <a:prstGeom prst="ellipse">
            <a:avLst/>
          </a:prstGeom>
          <a:solidFill>
            <a:schemeClr val="bg2">
              <a:alpha val="30000"/>
            </a:schemeClr>
          </a:solidFill>
          <a:ln>
            <a:solidFill>
              <a:schemeClr val="bg2">
                <a:lumMod val="75000"/>
              </a:schemeClr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9C12382-3977-AA11-9925-6A926FC7C6C9}"/>
              </a:ext>
            </a:extLst>
          </p:cNvPr>
          <p:cNvGrpSpPr/>
          <p:nvPr/>
        </p:nvGrpSpPr>
        <p:grpSpPr>
          <a:xfrm>
            <a:off x="2552258" y="3983061"/>
            <a:ext cx="1076127" cy="857793"/>
            <a:chOff x="2552257" y="4516226"/>
            <a:chExt cx="1076127" cy="857793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342E26C-1A02-F2A2-9EE6-C9DC22A96FE4}"/>
                </a:ext>
              </a:extLst>
            </p:cNvPr>
            <p:cNvSpPr txBox="1"/>
            <p:nvPr/>
          </p:nvSpPr>
          <p:spPr>
            <a:xfrm>
              <a:off x="2552257" y="4943132"/>
              <a:ext cx="1076127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  <a:t>Technology</a:t>
              </a:r>
              <a:br>
                <a:rPr kumimoji="0" lang="en-US" sz="16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latin typeface="+mj-lt"/>
                  <a:ea typeface="+mn-ea"/>
                  <a:cs typeface="+mn-cs"/>
                </a:rPr>
              </a:b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effectLst/>
                  <a:uLnTx/>
                  <a:uFillTx/>
                  <a:ea typeface="+mn-ea"/>
                  <a:cs typeface="+mn-cs"/>
                </a:rPr>
                <a:t>(feasibility)</a:t>
              </a:r>
            </a:p>
          </p:txBody>
        </p:sp>
        <p:sp>
          <p:nvSpPr>
            <p:cNvPr id="45" name="Graphic 5" descr="Icon of a circuit brain">
              <a:extLst>
                <a:ext uri="{FF2B5EF4-FFF2-40B4-BE49-F238E27FC236}">
                  <a16:creationId xmlns:a16="http://schemas.microsoft.com/office/drawing/2014/main" id="{4BB5DEFE-8274-7924-D43A-641F82EFC4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57629" y="4516226"/>
              <a:ext cx="265385" cy="265430"/>
            </a:xfrm>
            <a:custGeom>
              <a:avLst/>
              <a:gdLst>
                <a:gd name="connsiteX0" fmla="*/ 102548 w 398857"/>
                <a:gd name="connsiteY0" fmla="*/ 20069 h 398925"/>
                <a:gd name="connsiteX1" fmla="*/ 162432 w 398857"/>
                <a:gd name="connsiteY1" fmla="*/ 0 h 398925"/>
                <a:gd name="connsiteX2" fmla="*/ 193696 w 398857"/>
                <a:gd name="connsiteY2" fmla="*/ 11472 h 398925"/>
                <a:gd name="connsiteX3" fmla="*/ 199429 w 398857"/>
                <a:gd name="connsiteY3" fmla="*/ 17549 h 398925"/>
                <a:gd name="connsiteX4" fmla="*/ 205162 w 398857"/>
                <a:gd name="connsiteY4" fmla="*/ 11472 h 398925"/>
                <a:gd name="connsiteX5" fmla="*/ 236423 w 398857"/>
                <a:gd name="connsiteY5" fmla="*/ 0 h 398925"/>
                <a:gd name="connsiteX6" fmla="*/ 296309 w 398857"/>
                <a:gd name="connsiteY6" fmla="*/ 20069 h 398925"/>
                <a:gd name="connsiteX7" fmla="*/ 323308 w 398857"/>
                <a:gd name="connsiteY7" fmla="*/ 60736 h 398925"/>
                <a:gd name="connsiteX8" fmla="*/ 345168 w 398857"/>
                <a:gd name="connsiteY8" fmla="*/ 72050 h 398925"/>
                <a:gd name="connsiteX9" fmla="*/ 365882 w 398857"/>
                <a:gd name="connsiteY9" fmla="*/ 107447 h 398925"/>
                <a:gd name="connsiteX10" fmla="*/ 371769 w 398857"/>
                <a:gd name="connsiteY10" fmla="*/ 150975 h 398925"/>
                <a:gd name="connsiteX11" fmla="*/ 368227 w 398857"/>
                <a:gd name="connsiteY11" fmla="*/ 173458 h 398925"/>
                <a:gd name="connsiteX12" fmla="*/ 369538 w 398857"/>
                <a:gd name="connsiteY12" fmla="*/ 174049 h 398925"/>
                <a:gd name="connsiteX13" fmla="*/ 387388 w 398857"/>
                <a:gd name="connsiteY13" fmla="*/ 190225 h 398925"/>
                <a:gd name="connsiteX14" fmla="*/ 398857 w 398857"/>
                <a:gd name="connsiteY14" fmla="*/ 248661 h 398925"/>
                <a:gd name="connsiteX15" fmla="*/ 373667 w 398857"/>
                <a:gd name="connsiteY15" fmla="*/ 309219 h 398925"/>
                <a:gd name="connsiteX16" fmla="*/ 348331 w 398857"/>
                <a:gd name="connsiteY16" fmla="*/ 322981 h 398925"/>
                <a:gd name="connsiteX17" fmla="*/ 327993 w 398857"/>
                <a:gd name="connsiteY17" fmla="*/ 365629 h 398925"/>
                <a:gd name="connsiteX18" fmla="*/ 261001 w 398857"/>
                <a:gd name="connsiteY18" fmla="*/ 398925 h 398925"/>
                <a:gd name="connsiteX19" fmla="*/ 205623 w 398857"/>
                <a:gd name="connsiteY19" fmla="*/ 372763 h 398925"/>
                <a:gd name="connsiteX20" fmla="*/ 199429 w 398857"/>
                <a:gd name="connsiteY20" fmla="*/ 365663 h 398925"/>
                <a:gd name="connsiteX21" fmla="*/ 193233 w 398857"/>
                <a:gd name="connsiteY21" fmla="*/ 372763 h 398925"/>
                <a:gd name="connsiteX22" fmla="*/ 137855 w 398857"/>
                <a:gd name="connsiteY22" fmla="*/ 398925 h 398925"/>
                <a:gd name="connsiteX23" fmla="*/ 70864 w 398857"/>
                <a:gd name="connsiteY23" fmla="*/ 365629 h 398925"/>
                <a:gd name="connsiteX24" fmla="*/ 50527 w 398857"/>
                <a:gd name="connsiteY24" fmla="*/ 322981 h 398925"/>
                <a:gd name="connsiteX25" fmla="*/ 25191 w 398857"/>
                <a:gd name="connsiteY25" fmla="*/ 309219 h 398925"/>
                <a:gd name="connsiteX26" fmla="*/ 0 w 398857"/>
                <a:gd name="connsiteY26" fmla="*/ 248661 h 398925"/>
                <a:gd name="connsiteX27" fmla="*/ 11468 w 398857"/>
                <a:gd name="connsiteY27" fmla="*/ 190225 h 398925"/>
                <a:gd name="connsiteX28" fmla="*/ 29319 w 398857"/>
                <a:gd name="connsiteY28" fmla="*/ 174049 h 398925"/>
                <a:gd name="connsiteX29" fmla="*/ 30630 w 398857"/>
                <a:gd name="connsiteY29" fmla="*/ 173458 h 398925"/>
                <a:gd name="connsiteX30" fmla="*/ 27089 w 398857"/>
                <a:gd name="connsiteY30" fmla="*/ 150975 h 398925"/>
                <a:gd name="connsiteX31" fmla="*/ 32974 w 398857"/>
                <a:gd name="connsiteY31" fmla="*/ 107447 h 398925"/>
                <a:gd name="connsiteX32" fmla="*/ 53689 w 398857"/>
                <a:gd name="connsiteY32" fmla="*/ 72050 h 398925"/>
                <a:gd name="connsiteX33" fmla="*/ 75549 w 398857"/>
                <a:gd name="connsiteY33" fmla="*/ 60736 h 398925"/>
                <a:gd name="connsiteX34" fmla="*/ 102548 w 398857"/>
                <a:gd name="connsiteY34" fmla="*/ 20069 h 398925"/>
                <a:gd name="connsiteX35" fmla="*/ 120935 w 398857"/>
                <a:gd name="connsiteY35" fmla="*/ 43689 h 398925"/>
                <a:gd name="connsiteX36" fmla="*/ 103667 w 398857"/>
                <a:gd name="connsiteY36" fmla="*/ 76465 h 398925"/>
                <a:gd name="connsiteX37" fmla="*/ 97450 w 398857"/>
                <a:gd name="connsiteY37" fmla="*/ 88608 h 398925"/>
                <a:gd name="connsiteX38" fmla="*/ 83963 w 398857"/>
                <a:gd name="connsiteY38" fmla="*/ 90663 h 398925"/>
                <a:gd name="connsiteX39" fmla="*/ 74172 w 398857"/>
                <a:gd name="connsiteY39" fmla="*/ 93878 h 398925"/>
                <a:gd name="connsiteX40" fmla="*/ 61476 w 398857"/>
                <a:gd name="connsiteY40" fmla="*/ 116596 h 398925"/>
                <a:gd name="connsiteX41" fmla="*/ 56993 w 398857"/>
                <a:gd name="connsiteY41" fmla="*/ 149631 h 398925"/>
                <a:gd name="connsiteX42" fmla="*/ 64290 w 398857"/>
                <a:gd name="connsiteY42" fmla="*/ 176178 h 398925"/>
                <a:gd name="connsiteX43" fmla="*/ 65945 w 398857"/>
                <a:gd name="connsiteY43" fmla="*/ 179487 h 398925"/>
                <a:gd name="connsiteX44" fmla="*/ 87539 w 398857"/>
                <a:gd name="connsiteY44" fmla="*/ 179487 h 398925"/>
                <a:gd name="connsiteX45" fmla="*/ 144265 w 398857"/>
                <a:gd name="connsiteY45" fmla="*/ 232217 h 398925"/>
                <a:gd name="connsiteX46" fmla="*/ 169363 w 398857"/>
                <a:gd name="connsiteY46" fmla="*/ 269289 h 398925"/>
                <a:gd name="connsiteX47" fmla="*/ 129451 w 398857"/>
                <a:gd name="connsiteY47" fmla="*/ 309201 h 398925"/>
                <a:gd name="connsiteX48" fmla="*/ 89539 w 398857"/>
                <a:gd name="connsiteY48" fmla="*/ 269289 h 398925"/>
                <a:gd name="connsiteX49" fmla="*/ 114190 w 398857"/>
                <a:gd name="connsiteY49" fmla="*/ 232398 h 398925"/>
                <a:gd name="connsiteX50" fmla="*/ 87539 w 398857"/>
                <a:gd name="connsiteY50" fmla="*/ 209421 h 398925"/>
                <a:gd name="connsiteX51" fmla="*/ 35654 w 398857"/>
                <a:gd name="connsiteY51" fmla="*/ 209421 h 398925"/>
                <a:gd name="connsiteX52" fmla="*/ 35152 w 398857"/>
                <a:gd name="connsiteY52" fmla="*/ 209413 h 398925"/>
                <a:gd name="connsiteX53" fmla="*/ 29934 w 398857"/>
                <a:gd name="connsiteY53" fmla="*/ 248661 h 398925"/>
                <a:gd name="connsiteX54" fmla="*/ 44682 w 398857"/>
                <a:gd name="connsiteY54" fmla="*/ 286501 h 398925"/>
                <a:gd name="connsiteX55" fmla="*/ 64122 w 398857"/>
                <a:gd name="connsiteY55" fmla="*/ 295192 h 398925"/>
                <a:gd name="connsiteX56" fmla="*/ 79089 w 398857"/>
                <a:gd name="connsiteY56" fmla="*/ 310159 h 398925"/>
                <a:gd name="connsiteX57" fmla="*/ 94247 w 398857"/>
                <a:gd name="connsiteY57" fmla="*/ 346940 h 398925"/>
                <a:gd name="connsiteX58" fmla="*/ 137855 w 398857"/>
                <a:gd name="connsiteY58" fmla="*/ 368991 h 398925"/>
                <a:gd name="connsiteX59" fmla="*/ 171570 w 398857"/>
                <a:gd name="connsiteY59" fmla="*/ 352104 h 398925"/>
                <a:gd name="connsiteX60" fmla="*/ 181916 w 398857"/>
                <a:gd name="connsiteY60" fmla="*/ 338431 h 398925"/>
                <a:gd name="connsiteX61" fmla="*/ 184228 w 398857"/>
                <a:gd name="connsiteY61" fmla="*/ 333785 h 398925"/>
                <a:gd name="connsiteX62" fmla="*/ 184332 w 398857"/>
                <a:gd name="connsiteY62" fmla="*/ 333513 h 398925"/>
                <a:gd name="connsiteX63" fmla="*/ 184332 w 398857"/>
                <a:gd name="connsiteY63" fmla="*/ 284513 h 398925"/>
                <a:gd name="connsiteX64" fmla="*/ 184330 w 398857"/>
                <a:gd name="connsiteY64" fmla="*/ 284256 h 398925"/>
                <a:gd name="connsiteX65" fmla="*/ 184332 w 398857"/>
                <a:gd name="connsiteY65" fmla="*/ 283999 h 398925"/>
                <a:gd name="connsiteX66" fmla="*/ 184332 w 398857"/>
                <a:gd name="connsiteY66" fmla="*/ 144564 h 398925"/>
                <a:gd name="connsiteX67" fmla="*/ 166462 w 398857"/>
                <a:gd name="connsiteY67" fmla="*/ 144564 h 398925"/>
                <a:gd name="connsiteX68" fmla="*/ 129451 w 398857"/>
                <a:gd name="connsiteY68" fmla="*/ 169509 h 398925"/>
                <a:gd name="connsiteX69" fmla="*/ 89539 w 398857"/>
                <a:gd name="connsiteY69" fmla="*/ 129597 h 398925"/>
                <a:gd name="connsiteX70" fmla="*/ 129451 w 398857"/>
                <a:gd name="connsiteY70" fmla="*/ 89685 h 398925"/>
                <a:gd name="connsiteX71" fmla="*/ 166462 w 398857"/>
                <a:gd name="connsiteY71" fmla="*/ 114630 h 398925"/>
                <a:gd name="connsiteX72" fmla="*/ 184332 w 398857"/>
                <a:gd name="connsiteY72" fmla="*/ 114630 h 398925"/>
                <a:gd name="connsiteX73" fmla="*/ 184332 w 398857"/>
                <a:gd name="connsiteY73" fmla="*/ 64213 h 398925"/>
                <a:gd name="connsiteX74" fmla="*/ 184328 w 398857"/>
                <a:gd name="connsiteY74" fmla="*/ 63987 h 398925"/>
                <a:gd name="connsiteX75" fmla="*/ 184282 w 398857"/>
                <a:gd name="connsiteY75" fmla="*/ 62852 h 398925"/>
                <a:gd name="connsiteX76" fmla="*/ 183871 w 398857"/>
                <a:gd name="connsiteY76" fmla="*/ 58333 h 398925"/>
                <a:gd name="connsiteX77" fmla="*/ 180676 w 398857"/>
                <a:gd name="connsiteY77" fmla="*/ 44818 h 398925"/>
                <a:gd name="connsiteX78" fmla="*/ 173797 w 398857"/>
                <a:gd name="connsiteY78" fmla="*/ 33836 h 398925"/>
                <a:gd name="connsiteX79" fmla="*/ 162432 w 398857"/>
                <a:gd name="connsiteY79" fmla="*/ 29934 h 398925"/>
                <a:gd name="connsiteX80" fmla="*/ 120935 w 398857"/>
                <a:gd name="connsiteY80" fmla="*/ 43689 h 398925"/>
                <a:gd name="connsiteX81" fmla="*/ 214526 w 398857"/>
                <a:gd name="connsiteY81" fmla="*/ 299223 h 398925"/>
                <a:gd name="connsiteX82" fmla="*/ 214526 w 398857"/>
                <a:gd name="connsiteY82" fmla="*/ 333513 h 398925"/>
                <a:gd name="connsiteX83" fmla="*/ 214627 w 398857"/>
                <a:gd name="connsiteY83" fmla="*/ 333785 h 398925"/>
                <a:gd name="connsiteX84" fmla="*/ 216940 w 398857"/>
                <a:gd name="connsiteY84" fmla="*/ 338431 h 398925"/>
                <a:gd name="connsiteX85" fmla="*/ 227285 w 398857"/>
                <a:gd name="connsiteY85" fmla="*/ 352104 h 398925"/>
                <a:gd name="connsiteX86" fmla="*/ 261001 w 398857"/>
                <a:gd name="connsiteY86" fmla="*/ 368991 h 398925"/>
                <a:gd name="connsiteX87" fmla="*/ 304611 w 398857"/>
                <a:gd name="connsiteY87" fmla="*/ 346940 h 398925"/>
                <a:gd name="connsiteX88" fmla="*/ 319768 w 398857"/>
                <a:gd name="connsiteY88" fmla="*/ 310159 h 398925"/>
                <a:gd name="connsiteX89" fmla="*/ 334735 w 398857"/>
                <a:gd name="connsiteY89" fmla="*/ 295192 h 398925"/>
                <a:gd name="connsiteX90" fmla="*/ 354176 w 398857"/>
                <a:gd name="connsiteY90" fmla="*/ 286501 h 398925"/>
                <a:gd name="connsiteX91" fmla="*/ 368923 w 398857"/>
                <a:gd name="connsiteY91" fmla="*/ 248661 h 398925"/>
                <a:gd name="connsiteX92" fmla="*/ 361959 w 398857"/>
                <a:gd name="connsiteY92" fmla="*/ 206015 h 398925"/>
                <a:gd name="connsiteX93" fmla="*/ 356768 w 398857"/>
                <a:gd name="connsiteY93" fmla="*/ 201123 h 398925"/>
                <a:gd name="connsiteX94" fmla="*/ 347023 w 398857"/>
                <a:gd name="connsiteY94" fmla="*/ 199443 h 398925"/>
                <a:gd name="connsiteX95" fmla="*/ 333829 w 398857"/>
                <a:gd name="connsiteY95" fmla="*/ 191540 h 398925"/>
                <a:gd name="connsiteX96" fmla="*/ 334567 w 398857"/>
                <a:gd name="connsiteY96" fmla="*/ 176178 h 398925"/>
                <a:gd name="connsiteX97" fmla="*/ 341865 w 398857"/>
                <a:gd name="connsiteY97" fmla="*/ 149631 h 398925"/>
                <a:gd name="connsiteX98" fmla="*/ 337381 w 398857"/>
                <a:gd name="connsiteY98" fmla="*/ 116596 h 398925"/>
                <a:gd name="connsiteX99" fmla="*/ 324685 w 398857"/>
                <a:gd name="connsiteY99" fmla="*/ 93878 h 398925"/>
                <a:gd name="connsiteX100" fmla="*/ 314894 w 398857"/>
                <a:gd name="connsiteY100" fmla="*/ 90663 h 398925"/>
                <a:gd name="connsiteX101" fmla="*/ 301408 w 398857"/>
                <a:gd name="connsiteY101" fmla="*/ 88608 h 398925"/>
                <a:gd name="connsiteX102" fmla="*/ 295190 w 398857"/>
                <a:gd name="connsiteY102" fmla="*/ 76465 h 398925"/>
                <a:gd name="connsiteX103" fmla="*/ 277922 w 398857"/>
                <a:gd name="connsiteY103" fmla="*/ 43689 h 398925"/>
                <a:gd name="connsiteX104" fmla="*/ 236423 w 398857"/>
                <a:gd name="connsiteY104" fmla="*/ 29934 h 398925"/>
                <a:gd name="connsiteX105" fmla="*/ 225058 w 398857"/>
                <a:gd name="connsiteY105" fmla="*/ 33836 h 398925"/>
                <a:gd name="connsiteX106" fmla="*/ 218182 w 398857"/>
                <a:gd name="connsiteY106" fmla="*/ 44818 h 398925"/>
                <a:gd name="connsiteX107" fmla="*/ 214985 w 398857"/>
                <a:gd name="connsiteY107" fmla="*/ 58333 h 398925"/>
                <a:gd name="connsiteX108" fmla="*/ 214576 w 398857"/>
                <a:gd name="connsiteY108" fmla="*/ 62852 h 398925"/>
                <a:gd name="connsiteX109" fmla="*/ 214530 w 398857"/>
                <a:gd name="connsiteY109" fmla="*/ 63987 h 398925"/>
                <a:gd name="connsiteX110" fmla="*/ 214526 w 398857"/>
                <a:gd name="connsiteY110" fmla="*/ 64213 h 398925"/>
                <a:gd name="connsiteX111" fmla="*/ 214526 w 398857"/>
                <a:gd name="connsiteY111" fmla="*/ 269289 h 398925"/>
                <a:gd name="connsiteX112" fmla="*/ 227236 w 398857"/>
                <a:gd name="connsiteY112" fmla="*/ 269289 h 398925"/>
                <a:gd name="connsiteX113" fmla="*/ 254176 w 398857"/>
                <a:gd name="connsiteY113" fmla="*/ 242348 h 398925"/>
                <a:gd name="connsiteX114" fmla="*/ 254176 w 398857"/>
                <a:gd name="connsiteY114" fmla="*/ 206519 h 398925"/>
                <a:gd name="connsiteX115" fmla="*/ 229231 w 398857"/>
                <a:gd name="connsiteY115" fmla="*/ 169509 h 398925"/>
                <a:gd name="connsiteX116" fmla="*/ 269143 w 398857"/>
                <a:gd name="connsiteY116" fmla="*/ 129597 h 398925"/>
                <a:gd name="connsiteX117" fmla="*/ 309055 w 398857"/>
                <a:gd name="connsiteY117" fmla="*/ 169509 h 398925"/>
                <a:gd name="connsiteX118" fmla="*/ 284110 w 398857"/>
                <a:gd name="connsiteY118" fmla="*/ 206519 h 398925"/>
                <a:gd name="connsiteX119" fmla="*/ 284110 w 398857"/>
                <a:gd name="connsiteY119" fmla="*/ 242348 h 398925"/>
                <a:gd name="connsiteX120" fmla="*/ 227236 w 398857"/>
                <a:gd name="connsiteY120" fmla="*/ 299223 h 398925"/>
                <a:gd name="connsiteX121" fmla="*/ 214526 w 398857"/>
                <a:gd name="connsiteY121" fmla="*/ 299223 h 398925"/>
                <a:gd name="connsiteX122" fmla="*/ 129451 w 398857"/>
                <a:gd name="connsiteY122" fmla="*/ 119619 h 398925"/>
                <a:gd name="connsiteX123" fmla="*/ 119473 w 398857"/>
                <a:gd name="connsiteY123" fmla="*/ 129597 h 398925"/>
                <a:gd name="connsiteX124" fmla="*/ 129451 w 398857"/>
                <a:gd name="connsiteY124" fmla="*/ 139575 h 398925"/>
                <a:gd name="connsiteX125" fmla="*/ 139429 w 398857"/>
                <a:gd name="connsiteY125" fmla="*/ 129597 h 398925"/>
                <a:gd name="connsiteX126" fmla="*/ 129451 w 398857"/>
                <a:gd name="connsiteY126" fmla="*/ 119619 h 398925"/>
                <a:gd name="connsiteX127" fmla="*/ 119473 w 398857"/>
                <a:gd name="connsiteY127" fmla="*/ 269289 h 398925"/>
                <a:gd name="connsiteX128" fmla="*/ 129451 w 398857"/>
                <a:gd name="connsiteY128" fmla="*/ 279267 h 398925"/>
                <a:gd name="connsiteX129" fmla="*/ 139429 w 398857"/>
                <a:gd name="connsiteY129" fmla="*/ 269289 h 398925"/>
                <a:gd name="connsiteX130" fmla="*/ 129451 w 398857"/>
                <a:gd name="connsiteY130" fmla="*/ 259311 h 398925"/>
                <a:gd name="connsiteX131" fmla="*/ 119473 w 398857"/>
                <a:gd name="connsiteY131" fmla="*/ 269289 h 398925"/>
                <a:gd name="connsiteX132" fmla="*/ 259165 w 398857"/>
                <a:gd name="connsiteY132" fmla="*/ 169509 h 398925"/>
                <a:gd name="connsiteX133" fmla="*/ 269143 w 398857"/>
                <a:gd name="connsiteY133" fmla="*/ 179487 h 398925"/>
                <a:gd name="connsiteX134" fmla="*/ 279121 w 398857"/>
                <a:gd name="connsiteY134" fmla="*/ 169509 h 398925"/>
                <a:gd name="connsiteX135" fmla="*/ 269143 w 398857"/>
                <a:gd name="connsiteY135" fmla="*/ 159531 h 398925"/>
                <a:gd name="connsiteX136" fmla="*/ 259165 w 398857"/>
                <a:gd name="connsiteY136" fmla="*/ 169509 h 3989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</a:cxnLst>
              <a:rect l="l" t="t" r="r" b="b"/>
              <a:pathLst>
                <a:path w="398857" h="398925">
                  <a:moveTo>
                    <a:pt x="102548" y="20069"/>
                  </a:moveTo>
                  <a:cubicBezTo>
                    <a:pt x="119144" y="7149"/>
                    <a:pt x="140855" y="0"/>
                    <a:pt x="162432" y="0"/>
                  </a:cubicBezTo>
                  <a:cubicBezTo>
                    <a:pt x="175332" y="0"/>
                    <a:pt x="185781" y="4432"/>
                    <a:pt x="193696" y="11472"/>
                  </a:cubicBezTo>
                  <a:cubicBezTo>
                    <a:pt x="195835" y="13377"/>
                    <a:pt x="197739" y="15424"/>
                    <a:pt x="199429" y="17549"/>
                  </a:cubicBezTo>
                  <a:cubicBezTo>
                    <a:pt x="201119" y="15424"/>
                    <a:pt x="203021" y="13377"/>
                    <a:pt x="205162" y="11472"/>
                  </a:cubicBezTo>
                  <a:cubicBezTo>
                    <a:pt x="213075" y="4432"/>
                    <a:pt x="223524" y="0"/>
                    <a:pt x="236423" y="0"/>
                  </a:cubicBezTo>
                  <a:cubicBezTo>
                    <a:pt x="258002" y="0"/>
                    <a:pt x="279714" y="7149"/>
                    <a:pt x="296309" y="20069"/>
                  </a:cubicBezTo>
                  <a:cubicBezTo>
                    <a:pt x="309221" y="30120"/>
                    <a:pt x="319343" y="43976"/>
                    <a:pt x="323308" y="60736"/>
                  </a:cubicBezTo>
                  <a:cubicBezTo>
                    <a:pt x="331693" y="62123"/>
                    <a:pt x="339143" y="66397"/>
                    <a:pt x="345168" y="72050"/>
                  </a:cubicBezTo>
                  <a:cubicBezTo>
                    <a:pt x="354762" y="81053"/>
                    <a:pt x="361585" y="94060"/>
                    <a:pt x="365882" y="107447"/>
                  </a:cubicBezTo>
                  <a:cubicBezTo>
                    <a:pt x="370244" y="121036"/>
                    <a:pt x="372427" y="136312"/>
                    <a:pt x="371769" y="150975"/>
                  </a:cubicBezTo>
                  <a:cubicBezTo>
                    <a:pt x="371432" y="158482"/>
                    <a:pt x="370332" y="166133"/>
                    <a:pt x="368227" y="173458"/>
                  </a:cubicBezTo>
                  <a:cubicBezTo>
                    <a:pt x="368666" y="173648"/>
                    <a:pt x="369103" y="173846"/>
                    <a:pt x="369538" y="174049"/>
                  </a:cubicBezTo>
                  <a:cubicBezTo>
                    <a:pt x="376926" y="177533"/>
                    <a:pt x="382896" y="182987"/>
                    <a:pt x="387388" y="190225"/>
                  </a:cubicBezTo>
                  <a:cubicBezTo>
                    <a:pt x="395872" y="203889"/>
                    <a:pt x="398857" y="223578"/>
                    <a:pt x="398857" y="248661"/>
                  </a:cubicBezTo>
                  <a:cubicBezTo>
                    <a:pt x="398857" y="277487"/>
                    <a:pt x="387839" y="297062"/>
                    <a:pt x="373667" y="309219"/>
                  </a:cubicBezTo>
                  <a:cubicBezTo>
                    <a:pt x="365443" y="316273"/>
                    <a:pt x="356367" y="320646"/>
                    <a:pt x="348331" y="322981"/>
                  </a:cubicBezTo>
                  <a:cubicBezTo>
                    <a:pt x="345547" y="336802"/>
                    <a:pt x="338584" y="352378"/>
                    <a:pt x="327993" y="365629"/>
                  </a:cubicBezTo>
                  <a:cubicBezTo>
                    <a:pt x="313569" y="383675"/>
                    <a:pt x="291149" y="398925"/>
                    <a:pt x="261001" y="398925"/>
                  </a:cubicBezTo>
                  <a:cubicBezTo>
                    <a:pt x="236848" y="398925"/>
                    <a:pt x="217836" y="385569"/>
                    <a:pt x="205623" y="372763"/>
                  </a:cubicBezTo>
                  <a:cubicBezTo>
                    <a:pt x="203390" y="370420"/>
                    <a:pt x="201321" y="368035"/>
                    <a:pt x="199429" y="365663"/>
                  </a:cubicBezTo>
                  <a:cubicBezTo>
                    <a:pt x="197535" y="368035"/>
                    <a:pt x="195468" y="370420"/>
                    <a:pt x="193233" y="372763"/>
                  </a:cubicBezTo>
                  <a:cubicBezTo>
                    <a:pt x="181019" y="385569"/>
                    <a:pt x="162007" y="398925"/>
                    <a:pt x="137855" y="398925"/>
                  </a:cubicBezTo>
                  <a:cubicBezTo>
                    <a:pt x="107708" y="398925"/>
                    <a:pt x="85288" y="383675"/>
                    <a:pt x="70864" y="365629"/>
                  </a:cubicBezTo>
                  <a:cubicBezTo>
                    <a:pt x="60273" y="352378"/>
                    <a:pt x="53310" y="336802"/>
                    <a:pt x="50527" y="322981"/>
                  </a:cubicBezTo>
                  <a:cubicBezTo>
                    <a:pt x="42490" y="320646"/>
                    <a:pt x="33414" y="316273"/>
                    <a:pt x="25191" y="309219"/>
                  </a:cubicBezTo>
                  <a:cubicBezTo>
                    <a:pt x="11019" y="297062"/>
                    <a:pt x="0" y="277487"/>
                    <a:pt x="0" y="248661"/>
                  </a:cubicBezTo>
                  <a:cubicBezTo>
                    <a:pt x="0" y="223578"/>
                    <a:pt x="2985" y="203889"/>
                    <a:pt x="11468" y="190225"/>
                  </a:cubicBezTo>
                  <a:cubicBezTo>
                    <a:pt x="15961" y="182987"/>
                    <a:pt x="21932" y="177533"/>
                    <a:pt x="29319" y="174049"/>
                  </a:cubicBezTo>
                  <a:cubicBezTo>
                    <a:pt x="29754" y="173846"/>
                    <a:pt x="30191" y="173648"/>
                    <a:pt x="30630" y="173458"/>
                  </a:cubicBezTo>
                  <a:cubicBezTo>
                    <a:pt x="28525" y="166133"/>
                    <a:pt x="27426" y="158482"/>
                    <a:pt x="27089" y="150975"/>
                  </a:cubicBezTo>
                  <a:cubicBezTo>
                    <a:pt x="26430" y="136312"/>
                    <a:pt x="28613" y="121036"/>
                    <a:pt x="32974" y="107447"/>
                  </a:cubicBezTo>
                  <a:cubicBezTo>
                    <a:pt x="37271" y="94060"/>
                    <a:pt x="44094" y="81053"/>
                    <a:pt x="53689" y="72050"/>
                  </a:cubicBezTo>
                  <a:cubicBezTo>
                    <a:pt x="59713" y="66397"/>
                    <a:pt x="67165" y="62123"/>
                    <a:pt x="75549" y="60736"/>
                  </a:cubicBezTo>
                  <a:cubicBezTo>
                    <a:pt x="79515" y="43976"/>
                    <a:pt x="89635" y="30120"/>
                    <a:pt x="102548" y="20069"/>
                  </a:cubicBezTo>
                  <a:close/>
                  <a:moveTo>
                    <a:pt x="120935" y="43689"/>
                  </a:moveTo>
                  <a:cubicBezTo>
                    <a:pt x="110044" y="52168"/>
                    <a:pt x="103667" y="63462"/>
                    <a:pt x="103667" y="76465"/>
                  </a:cubicBezTo>
                  <a:cubicBezTo>
                    <a:pt x="103667" y="81277"/>
                    <a:pt x="101354" y="85796"/>
                    <a:pt x="97450" y="88608"/>
                  </a:cubicBezTo>
                  <a:cubicBezTo>
                    <a:pt x="93546" y="91421"/>
                    <a:pt x="88528" y="92186"/>
                    <a:pt x="83963" y="90663"/>
                  </a:cubicBezTo>
                  <a:cubicBezTo>
                    <a:pt x="81221" y="89748"/>
                    <a:pt x="78335" y="89971"/>
                    <a:pt x="74172" y="93878"/>
                  </a:cubicBezTo>
                  <a:cubicBezTo>
                    <a:pt x="69557" y="98209"/>
                    <a:pt x="64859" y="106055"/>
                    <a:pt x="61476" y="116596"/>
                  </a:cubicBezTo>
                  <a:cubicBezTo>
                    <a:pt x="58157" y="126935"/>
                    <a:pt x="56500" y="138661"/>
                    <a:pt x="56993" y="149631"/>
                  </a:cubicBezTo>
                  <a:cubicBezTo>
                    <a:pt x="57492" y="160738"/>
                    <a:pt x="60133" y="169938"/>
                    <a:pt x="64290" y="176178"/>
                  </a:cubicBezTo>
                  <a:cubicBezTo>
                    <a:pt x="64986" y="177224"/>
                    <a:pt x="65538" y="178336"/>
                    <a:pt x="65945" y="179487"/>
                  </a:cubicBezTo>
                  <a:lnTo>
                    <a:pt x="87539" y="179487"/>
                  </a:lnTo>
                  <a:cubicBezTo>
                    <a:pt x="117556" y="179487"/>
                    <a:pt x="142142" y="202742"/>
                    <a:pt x="144265" y="232217"/>
                  </a:cubicBezTo>
                  <a:cubicBezTo>
                    <a:pt x="158973" y="238100"/>
                    <a:pt x="169363" y="252480"/>
                    <a:pt x="169363" y="269289"/>
                  </a:cubicBezTo>
                  <a:cubicBezTo>
                    <a:pt x="169363" y="291332"/>
                    <a:pt x="151494" y="309201"/>
                    <a:pt x="129451" y="309201"/>
                  </a:cubicBezTo>
                  <a:cubicBezTo>
                    <a:pt x="107408" y="309201"/>
                    <a:pt x="89539" y="291332"/>
                    <a:pt x="89539" y="269289"/>
                  </a:cubicBezTo>
                  <a:cubicBezTo>
                    <a:pt x="89539" y="252652"/>
                    <a:pt x="99719" y="238391"/>
                    <a:pt x="114190" y="232398"/>
                  </a:cubicBezTo>
                  <a:cubicBezTo>
                    <a:pt x="112274" y="219399"/>
                    <a:pt x="101072" y="209421"/>
                    <a:pt x="87539" y="209421"/>
                  </a:cubicBezTo>
                  <a:lnTo>
                    <a:pt x="35654" y="209421"/>
                  </a:lnTo>
                  <a:cubicBezTo>
                    <a:pt x="35486" y="209421"/>
                    <a:pt x="35319" y="209419"/>
                    <a:pt x="35152" y="209413"/>
                  </a:cubicBezTo>
                  <a:cubicBezTo>
                    <a:pt x="32174" y="216358"/>
                    <a:pt x="29934" y="228359"/>
                    <a:pt x="29934" y="248661"/>
                  </a:cubicBezTo>
                  <a:cubicBezTo>
                    <a:pt x="29934" y="269034"/>
                    <a:pt x="37349" y="280209"/>
                    <a:pt x="44682" y="286501"/>
                  </a:cubicBezTo>
                  <a:cubicBezTo>
                    <a:pt x="52729" y="293404"/>
                    <a:pt x="61563" y="295192"/>
                    <a:pt x="64122" y="295192"/>
                  </a:cubicBezTo>
                  <a:cubicBezTo>
                    <a:pt x="72388" y="295192"/>
                    <a:pt x="79089" y="301893"/>
                    <a:pt x="79089" y="310159"/>
                  </a:cubicBezTo>
                  <a:cubicBezTo>
                    <a:pt x="79089" y="318523"/>
                    <a:pt x="83715" y="333763"/>
                    <a:pt x="94247" y="346940"/>
                  </a:cubicBezTo>
                  <a:cubicBezTo>
                    <a:pt x="104400" y="359642"/>
                    <a:pt x="118847" y="368991"/>
                    <a:pt x="137855" y="368991"/>
                  </a:cubicBezTo>
                  <a:cubicBezTo>
                    <a:pt x="150569" y="368991"/>
                    <a:pt x="162279" y="361847"/>
                    <a:pt x="171570" y="352104"/>
                  </a:cubicBezTo>
                  <a:cubicBezTo>
                    <a:pt x="176096" y="347359"/>
                    <a:pt x="179611" y="342430"/>
                    <a:pt x="181916" y="338431"/>
                  </a:cubicBezTo>
                  <a:cubicBezTo>
                    <a:pt x="183071" y="336427"/>
                    <a:pt x="183817" y="334839"/>
                    <a:pt x="184228" y="333785"/>
                  </a:cubicBezTo>
                  <a:lnTo>
                    <a:pt x="184332" y="333513"/>
                  </a:lnTo>
                  <a:lnTo>
                    <a:pt x="184332" y="284513"/>
                  </a:lnTo>
                  <a:cubicBezTo>
                    <a:pt x="184330" y="284428"/>
                    <a:pt x="184330" y="284342"/>
                    <a:pt x="184330" y="284256"/>
                  </a:cubicBezTo>
                  <a:cubicBezTo>
                    <a:pt x="184330" y="284170"/>
                    <a:pt x="184330" y="284084"/>
                    <a:pt x="184332" y="283999"/>
                  </a:cubicBezTo>
                  <a:lnTo>
                    <a:pt x="184332" y="144564"/>
                  </a:lnTo>
                  <a:lnTo>
                    <a:pt x="166462" y="144564"/>
                  </a:lnTo>
                  <a:cubicBezTo>
                    <a:pt x="160541" y="159191"/>
                    <a:pt x="146201" y="169509"/>
                    <a:pt x="129451" y="169509"/>
                  </a:cubicBezTo>
                  <a:cubicBezTo>
                    <a:pt x="107408" y="169509"/>
                    <a:pt x="89539" y="151640"/>
                    <a:pt x="89539" y="129597"/>
                  </a:cubicBezTo>
                  <a:cubicBezTo>
                    <a:pt x="89539" y="107554"/>
                    <a:pt x="107408" y="89685"/>
                    <a:pt x="129451" y="89685"/>
                  </a:cubicBezTo>
                  <a:cubicBezTo>
                    <a:pt x="146201" y="89685"/>
                    <a:pt x="160541" y="100003"/>
                    <a:pt x="166462" y="114630"/>
                  </a:cubicBezTo>
                  <a:lnTo>
                    <a:pt x="184332" y="114630"/>
                  </a:lnTo>
                  <a:lnTo>
                    <a:pt x="184332" y="64213"/>
                  </a:lnTo>
                  <a:lnTo>
                    <a:pt x="184328" y="63987"/>
                  </a:lnTo>
                  <a:cubicBezTo>
                    <a:pt x="184322" y="63759"/>
                    <a:pt x="184310" y="63373"/>
                    <a:pt x="184282" y="62852"/>
                  </a:cubicBezTo>
                  <a:cubicBezTo>
                    <a:pt x="184226" y="61805"/>
                    <a:pt x="184109" y="60239"/>
                    <a:pt x="183871" y="58333"/>
                  </a:cubicBezTo>
                  <a:cubicBezTo>
                    <a:pt x="183386" y="54444"/>
                    <a:pt x="182438" y="49524"/>
                    <a:pt x="180676" y="44818"/>
                  </a:cubicBezTo>
                  <a:cubicBezTo>
                    <a:pt x="178888" y="40049"/>
                    <a:pt x="176563" y="36297"/>
                    <a:pt x="173797" y="33836"/>
                  </a:cubicBezTo>
                  <a:cubicBezTo>
                    <a:pt x="171343" y="31652"/>
                    <a:pt x="167966" y="29934"/>
                    <a:pt x="162432" y="29934"/>
                  </a:cubicBezTo>
                  <a:cubicBezTo>
                    <a:pt x="147144" y="29934"/>
                    <a:pt x="131989" y="35085"/>
                    <a:pt x="120935" y="43689"/>
                  </a:cubicBezTo>
                  <a:close/>
                  <a:moveTo>
                    <a:pt x="214526" y="299223"/>
                  </a:moveTo>
                  <a:lnTo>
                    <a:pt x="214526" y="333513"/>
                  </a:lnTo>
                  <a:lnTo>
                    <a:pt x="214627" y="333785"/>
                  </a:lnTo>
                  <a:cubicBezTo>
                    <a:pt x="215040" y="334839"/>
                    <a:pt x="215787" y="336427"/>
                    <a:pt x="216940" y="338431"/>
                  </a:cubicBezTo>
                  <a:cubicBezTo>
                    <a:pt x="219245" y="342430"/>
                    <a:pt x="222759" y="347359"/>
                    <a:pt x="227285" y="352104"/>
                  </a:cubicBezTo>
                  <a:cubicBezTo>
                    <a:pt x="236579" y="361847"/>
                    <a:pt x="248289" y="368991"/>
                    <a:pt x="261001" y="368991"/>
                  </a:cubicBezTo>
                  <a:cubicBezTo>
                    <a:pt x="280009" y="368991"/>
                    <a:pt x="294457" y="359642"/>
                    <a:pt x="304611" y="346940"/>
                  </a:cubicBezTo>
                  <a:cubicBezTo>
                    <a:pt x="315142" y="333763"/>
                    <a:pt x="319768" y="318523"/>
                    <a:pt x="319768" y="310159"/>
                  </a:cubicBezTo>
                  <a:cubicBezTo>
                    <a:pt x="319768" y="301893"/>
                    <a:pt x="326469" y="295192"/>
                    <a:pt x="334735" y="295192"/>
                  </a:cubicBezTo>
                  <a:cubicBezTo>
                    <a:pt x="337295" y="295192"/>
                    <a:pt x="346127" y="293404"/>
                    <a:pt x="354176" y="286501"/>
                  </a:cubicBezTo>
                  <a:cubicBezTo>
                    <a:pt x="361508" y="280209"/>
                    <a:pt x="368923" y="269034"/>
                    <a:pt x="368923" y="248661"/>
                  </a:cubicBezTo>
                  <a:cubicBezTo>
                    <a:pt x="368923" y="224546"/>
                    <a:pt x="365762" y="212143"/>
                    <a:pt x="361959" y="206015"/>
                  </a:cubicBezTo>
                  <a:cubicBezTo>
                    <a:pt x="360306" y="203354"/>
                    <a:pt x="358598" y="201985"/>
                    <a:pt x="356768" y="201123"/>
                  </a:cubicBezTo>
                  <a:cubicBezTo>
                    <a:pt x="354742" y="200167"/>
                    <a:pt x="351717" y="199443"/>
                    <a:pt x="347023" y="199443"/>
                  </a:cubicBezTo>
                  <a:cubicBezTo>
                    <a:pt x="341506" y="199443"/>
                    <a:pt x="336435" y="196406"/>
                    <a:pt x="333829" y="191540"/>
                  </a:cubicBezTo>
                  <a:cubicBezTo>
                    <a:pt x="331224" y="186675"/>
                    <a:pt x="331508" y="180772"/>
                    <a:pt x="334567" y="176178"/>
                  </a:cubicBezTo>
                  <a:cubicBezTo>
                    <a:pt x="338724" y="169938"/>
                    <a:pt x="341366" y="160738"/>
                    <a:pt x="341865" y="149631"/>
                  </a:cubicBezTo>
                  <a:cubicBezTo>
                    <a:pt x="342358" y="138661"/>
                    <a:pt x="340699" y="126935"/>
                    <a:pt x="337381" y="116596"/>
                  </a:cubicBezTo>
                  <a:cubicBezTo>
                    <a:pt x="333998" y="106055"/>
                    <a:pt x="329301" y="98209"/>
                    <a:pt x="324685" y="93878"/>
                  </a:cubicBezTo>
                  <a:cubicBezTo>
                    <a:pt x="320522" y="89971"/>
                    <a:pt x="317636" y="89748"/>
                    <a:pt x="314894" y="90663"/>
                  </a:cubicBezTo>
                  <a:cubicBezTo>
                    <a:pt x="310330" y="92186"/>
                    <a:pt x="305311" y="91421"/>
                    <a:pt x="301408" y="88608"/>
                  </a:cubicBezTo>
                  <a:cubicBezTo>
                    <a:pt x="297503" y="85796"/>
                    <a:pt x="295190" y="81277"/>
                    <a:pt x="295190" y="76465"/>
                  </a:cubicBezTo>
                  <a:cubicBezTo>
                    <a:pt x="295190" y="63462"/>
                    <a:pt x="288812" y="52168"/>
                    <a:pt x="277922" y="43689"/>
                  </a:cubicBezTo>
                  <a:cubicBezTo>
                    <a:pt x="266868" y="35085"/>
                    <a:pt x="251714" y="29934"/>
                    <a:pt x="236423" y="29934"/>
                  </a:cubicBezTo>
                  <a:cubicBezTo>
                    <a:pt x="230892" y="29934"/>
                    <a:pt x="227515" y="31652"/>
                    <a:pt x="225058" y="33836"/>
                  </a:cubicBezTo>
                  <a:cubicBezTo>
                    <a:pt x="222294" y="36297"/>
                    <a:pt x="219968" y="40049"/>
                    <a:pt x="218182" y="44818"/>
                  </a:cubicBezTo>
                  <a:cubicBezTo>
                    <a:pt x="216419" y="49524"/>
                    <a:pt x="215472" y="54444"/>
                    <a:pt x="214985" y="58333"/>
                  </a:cubicBezTo>
                  <a:cubicBezTo>
                    <a:pt x="214747" y="60239"/>
                    <a:pt x="214631" y="61805"/>
                    <a:pt x="214576" y="62852"/>
                  </a:cubicBezTo>
                  <a:cubicBezTo>
                    <a:pt x="214548" y="63373"/>
                    <a:pt x="214536" y="63759"/>
                    <a:pt x="214530" y="63987"/>
                  </a:cubicBezTo>
                  <a:lnTo>
                    <a:pt x="214526" y="64213"/>
                  </a:lnTo>
                  <a:lnTo>
                    <a:pt x="214526" y="269289"/>
                  </a:lnTo>
                  <a:lnTo>
                    <a:pt x="227236" y="269289"/>
                  </a:lnTo>
                  <a:cubicBezTo>
                    <a:pt x="242115" y="269289"/>
                    <a:pt x="254176" y="257228"/>
                    <a:pt x="254176" y="242348"/>
                  </a:cubicBezTo>
                  <a:lnTo>
                    <a:pt x="254176" y="206519"/>
                  </a:lnTo>
                  <a:cubicBezTo>
                    <a:pt x="239548" y="200599"/>
                    <a:pt x="229231" y="186258"/>
                    <a:pt x="229231" y="169509"/>
                  </a:cubicBezTo>
                  <a:cubicBezTo>
                    <a:pt x="229231" y="147466"/>
                    <a:pt x="247100" y="129597"/>
                    <a:pt x="269143" y="129597"/>
                  </a:cubicBezTo>
                  <a:cubicBezTo>
                    <a:pt x="291187" y="129597"/>
                    <a:pt x="309055" y="147466"/>
                    <a:pt x="309055" y="169509"/>
                  </a:cubicBezTo>
                  <a:cubicBezTo>
                    <a:pt x="309055" y="186258"/>
                    <a:pt x="298736" y="200599"/>
                    <a:pt x="284110" y="206519"/>
                  </a:cubicBezTo>
                  <a:lnTo>
                    <a:pt x="284110" y="242348"/>
                  </a:lnTo>
                  <a:cubicBezTo>
                    <a:pt x="284110" y="273759"/>
                    <a:pt x="258646" y="299223"/>
                    <a:pt x="227236" y="299223"/>
                  </a:cubicBezTo>
                  <a:lnTo>
                    <a:pt x="214526" y="299223"/>
                  </a:lnTo>
                  <a:close/>
                  <a:moveTo>
                    <a:pt x="129451" y="119619"/>
                  </a:moveTo>
                  <a:cubicBezTo>
                    <a:pt x="123940" y="119619"/>
                    <a:pt x="119473" y="124086"/>
                    <a:pt x="119473" y="129597"/>
                  </a:cubicBezTo>
                  <a:cubicBezTo>
                    <a:pt x="119473" y="135108"/>
                    <a:pt x="123940" y="139575"/>
                    <a:pt x="129451" y="139575"/>
                  </a:cubicBezTo>
                  <a:cubicBezTo>
                    <a:pt x="134962" y="139575"/>
                    <a:pt x="139429" y="135108"/>
                    <a:pt x="139429" y="129597"/>
                  </a:cubicBezTo>
                  <a:cubicBezTo>
                    <a:pt x="139429" y="124086"/>
                    <a:pt x="134962" y="119619"/>
                    <a:pt x="129451" y="119619"/>
                  </a:cubicBezTo>
                  <a:close/>
                  <a:moveTo>
                    <a:pt x="119473" y="269289"/>
                  </a:moveTo>
                  <a:cubicBezTo>
                    <a:pt x="119473" y="274799"/>
                    <a:pt x="123940" y="279267"/>
                    <a:pt x="129451" y="279267"/>
                  </a:cubicBezTo>
                  <a:cubicBezTo>
                    <a:pt x="134962" y="279267"/>
                    <a:pt x="139429" y="274799"/>
                    <a:pt x="139429" y="269289"/>
                  </a:cubicBezTo>
                  <a:cubicBezTo>
                    <a:pt x="139429" y="263779"/>
                    <a:pt x="134962" y="259311"/>
                    <a:pt x="129451" y="259311"/>
                  </a:cubicBezTo>
                  <a:cubicBezTo>
                    <a:pt x="123940" y="259311"/>
                    <a:pt x="119473" y="263779"/>
                    <a:pt x="119473" y="269289"/>
                  </a:cubicBezTo>
                  <a:close/>
                  <a:moveTo>
                    <a:pt x="259165" y="169509"/>
                  </a:moveTo>
                  <a:cubicBezTo>
                    <a:pt x="259165" y="175019"/>
                    <a:pt x="263631" y="179487"/>
                    <a:pt x="269143" y="179487"/>
                  </a:cubicBezTo>
                  <a:cubicBezTo>
                    <a:pt x="274653" y="179487"/>
                    <a:pt x="279121" y="175019"/>
                    <a:pt x="279121" y="169509"/>
                  </a:cubicBezTo>
                  <a:cubicBezTo>
                    <a:pt x="279121" y="163999"/>
                    <a:pt x="274653" y="159531"/>
                    <a:pt x="269143" y="159531"/>
                  </a:cubicBezTo>
                  <a:cubicBezTo>
                    <a:pt x="263631" y="159531"/>
                    <a:pt x="259165" y="163999"/>
                    <a:pt x="259165" y="16950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56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chemeClr val="bg1"/>
                </a:solidFill>
                <a:latin typeface="+mj-lt"/>
                <a:cs typeface="Segoe UI" pitchFamily="34" charset="0"/>
              </a:endParaRPr>
            </a:p>
          </p:txBody>
        </p:sp>
      </p:grpSp>
      <p:sp>
        <p:nvSpPr>
          <p:cNvPr id="55" name="Graphic 128" descr="Icon of a bulb">
            <a:extLst>
              <a:ext uri="{FF2B5EF4-FFF2-40B4-BE49-F238E27FC236}">
                <a16:creationId xmlns:a16="http://schemas.microsoft.com/office/drawing/2014/main" id="{EB448E83-F373-6D3B-61A4-B5004CBBBC51}"/>
              </a:ext>
            </a:extLst>
          </p:cNvPr>
          <p:cNvSpPr/>
          <p:nvPr/>
        </p:nvSpPr>
        <p:spPr>
          <a:xfrm>
            <a:off x="11023551" y="5658215"/>
            <a:ext cx="222580" cy="306986"/>
          </a:xfrm>
          <a:custGeom>
            <a:avLst/>
            <a:gdLst>
              <a:gd name="connsiteX0" fmla="*/ 118354 w 236708"/>
              <a:gd name="connsiteY0" fmla="*/ 0 h 326472"/>
              <a:gd name="connsiteX1" fmla="*/ 236709 w 236708"/>
              <a:gd name="connsiteY1" fmla="*/ 118354 h 326472"/>
              <a:gd name="connsiteX2" fmla="*/ 193234 w 236708"/>
              <a:gd name="connsiteY2" fmla="*/ 212090 h 326472"/>
              <a:gd name="connsiteX3" fmla="*/ 190376 w 236708"/>
              <a:gd name="connsiteY3" fmla="*/ 216421 h 326472"/>
              <a:gd name="connsiteX4" fmla="*/ 189863 w 236708"/>
              <a:gd name="connsiteY4" fmla="*/ 218091 h 326472"/>
              <a:gd name="connsiteX5" fmla="*/ 171398 w 236708"/>
              <a:gd name="connsiteY5" fmla="*/ 298010 h 326472"/>
              <a:gd name="connsiteX6" fmla="*/ 138437 w 236708"/>
              <a:gd name="connsiteY6" fmla="*/ 326365 h 326472"/>
              <a:gd name="connsiteX7" fmla="*/ 135610 w 236708"/>
              <a:gd name="connsiteY7" fmla="*/ 326472 h 326472"/>
              <a:gd name="connsiteX8" fmla="*/ 101104 w 236708"/>
              <a:gd name="connsiteY8" fmla="*/ 326472 h 326472"/>
              <a:gd name="connsiteX9" fmla="*/ 66055 w 236708"/>
              <a:gd name="connsiteY9" fmla="*/ 300732 h 326472"/>
              <a:gd name="connsiteX10" fmla="*/ 65313 w 236708"/>
              <a:gd name="connsiteY10" fmla="*/ 298001 h 326472"/>
              <a:gd name="connsiteX11" fmla="*/ 46874 w 236708"/>
              <a:gd name="connsiteY11" fmla="*/ 218094 h 326472"/>
              <a:gd name="connsiteX12" fmla="*/ 43498 w 236708"/>
              <a:gd name="connsiteY12" fmla="*/ 212088 h 326472"/>
              <a:gd name="connsiteX13" fmla="*/ 100 w 236708"/>
              <a:gd name="connsiteY13" fmla="*/ 123223 h 326472"/>
              <a:gd name="connsiteX14" fmla="*/ 0 w 236708"/>
              <a:gd name="connsiteY14" fmla="*/ 118354 h 326472"/>
              <a:gd name="connsiteX15" fmla="*/ 63 w 236708"/>
              <a:gd name="connsiteY15" fmla="*/ 114448 h 326472"/>
              <a:gd name="connsiteX16" fmla="*/ 118354 w 236708"/>
              <a:gd name="connsiteY16" fmla="*/ 0 h 326472"/>
              <a:gd name="connsiteX17" fmla="*/ 152881 w 236708"/>
              <a:gd name="connsiteY17" fmla="*/ 269326 h 326472"/>
              <a:gd name="connsiteX18" fmla="*/ 83811 w 236708"/>
              <a:gd name="connsiteY18" fmla="*/ 269326 h 326472"/>
              <a:gd name="connsiteX19" fmla="*/ 89174 w 236708"/>
              <a:gd name="connsiteY19" fmla="*/ 292494 h 326472"/>
              <a:gd name="connsiteX20" fmla="*/ 99419 w 236708"/>
              <a:gd name="connsiteY20" fmla="*/ 301869 h 326472"/>
              <a:gd name="connsiteX21" fmla="*/ 101104 w 236708"/>
              <a:gd name="connsiteY21" fmla="*/ 301985 h 326472"/>
              <a:gd name="connsiteX22" fmla="*/ 135610 w 236708"/>
              <a:gd name="connsiteY22" fmla="*/ 301985 h 326472"/>
              <a:gd name="connsiteX23" fmla="*/ 147048 w 236708"/>
              <a:gd name="connsiteY23" fmla="*/ 294114 h 326472"/>
              <a:gd name="connsiteX24" fmla="*/ 147540 w 236708"/>
              <a:gd name="connsiteY24" fmla="*/ 292497 h 326472"/>
              <a:gd name="connsiteX25" fmla="*/ 152881 w 236708"/>
              <a:gd name="connsiteY25" fmla="*/ 269326 h 326472"/>
              <a:gd name="connsiteX26" fmla="*/ 118354 w 236708"/>
              <a:gd name="connsiteY26" fmla="*/ 24487 h 326472"/>
              <a:gd name="connsiteX27" fmla="*/ 24555 w 236708"/>
              <a:gd name="connsiteY27" fmla="*/ 114754 h 326472"/>
              <a:gd name="connsiteX28" fmla="*/ 24487 w 236708"/>
              <a:gd name="connsiteY28" fmla="*/ 118354 h 326472"/>
              <a:gd name="connsiteX29" fmla="*/ 24597 w 236708"/>
              <a:gd name="connsiteY29" fmla="*/ 122877 h 326472"/>
              <a:gd name="connsiteX30" fmla="*/ 60608 w 236708"/>
              <a:gd name="connsiteY30" fmla="*/ 194570 h 326472"/>
              <a:gd name="connsiteX31" fmla="*/ 69939 w 236708"/>
              <a:gd name="connsiteY31" fmla="*/ 209692 h 326472"/>
              <a:gd name="connsiteX32" fmla="*/ 70734 w 236708"/>
              <a:gd name="connsiteY32" fmla="*/ 212589 h 326472"/>
              <a:gd name="connsiteX33" fmla="*/ 78163 w 236708"/>
              <a:gd name="connsiteY33" fmla="*/ 244839 h 326472"/>
              <a:gd name="connsiteX34" fmla="*/ 158530 w 236708"/>
              <a:gd name="connsiteY34" fmla="*/ 244839 h 326472"/>
              <a:gd name="connsiteX35" fmla="*/ 166005 w 236708"/>
              <a:gd name="connsiteY35" fmla="*/ 212578 h 326472"/>
              <a:gd name="connsiteX36" fmla="*/ 174061 w 236708"/>
              <a:gd name="connsiteY36" fmla="*/ 196761 h 326472"/>
              <a:gd name="connsiteX37" fmla="*/ 176121 w 236708"/>
              <a:gd name="connsiteY37" fmla="*/ 194577 h 326472"/>
              <a:gd name="connsiteX38" fmla="*/ 212112 w 236708"/>
              <a:gd name="connsiteY38" fmla="*/ 122877 h 326472"/>
              <a:gd name="connsiteX39" fmla="*/ 212222 w 236708"/>
              <a:gd name="connsiteY39" fmla="*/ 118354 h 326472"/>
              <a:gd name="connsiteX40" fmla="*/ 212153 w 236708"/>
              <a:gd name="connsiteY40" fmla="*/ 114754 h 326472"/>
              <a:gd name="connsiteX41" fmla="*/ 118354 w 236708"/>
              <a:gd name="connsiteY41" fmla="*/ 24487 h 326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36708" h="326472">
                <a:moveTo>
                  <a:pt x="118354" y="0"/>
                </a:moveTo>
                <a:cubicBezTo>
                  <a:pt x="183720" y="0"/>
                  <a:pt x="236709" y="52989"/>
                  <a:pt x="236709" y="118354"/>
                </a:cubicBezTo>
                <a:cubicBezTo>
                  <a:pt x="236709" y="152571"/>
                  <a:pt x="222005" y="183975"/>
                  <a:pt x="193234" y="212090"/>
                </a:cubicBezTo>
                <a:cubicBezTo>
                  <a:pt x="191979" y="213317"/>
                  <a:pt x="191006" y="214795"/>
                  <a:pt x="190376" y="216421"/>
                </a:cubicBezTo>
                <a:lnTo>
                  <a:pt x="189863" y="218091"/>
                </a:lnTo>
                <a:lnTo>
                  <a:pt x="171398" y="298010"/>
                </a:lnTo>
                <a:cubicBezTo>
                  <a:pt x="167763" y="313746"/>
                  <a:pt x="154326" y="325145"/>
                  <a:pt x="138437" y="326365"/>
                </a:cubicBezTo>
                <a:lnTo>
                  <a:pt x="135610" y="326472"/>
                </a:lnTo>
                <a:lnTo>
                  <a:pt x="101104" y="326472"/>
                </a:lnTo>
                <a:cubicBezTo>
                  <a:pt x="84950" y="326472"/>
                  <a:pt x="70815" y="315941"/>
                  <a:pt x="66055" y="300732"/>
                </a:cubicBezTo>
                <a:lnTo>
                  <a:pt x="65313" y="298001"/>
                </a:lnTo>
                <a:lnTo>
                  <a:pt x="46874" y="218094"/>
                </a:lnTo>
                <a:cubicBezTo>
                  <a:pt x="46347" y="215810"/>
                  <a:pt x="45175" y="213726"/>
                  <a:pt x="43498" y="212088"/>
                </a:cubicBezTo>
                <a:cubicBezTo>
                  <a:pt x="16082" y="185312"/>
                  <a:pt x="1433" y="155554"/>
                  <a:pt x="100" y="123223"/>
                </a:cubicBezTo>
                <a:lnTo>
                  <a:pt x="0" y="118354"/>
                </a:lnTo>
                <a:lnTo>
                  <a:pt x="63" y="114448"/>
                </a:lnTo>
                <a:cubicBezTo>
                  <a:pt x="2125" y="50891"/>
                  <a:pt x="54296" y="0"/>
                  <a:pt x="118354" y="0"/>
                </a:cubicBezTo>
                <a:close/>
                <a:moveTo>
                  <a:pt x="152881" y="269326"/>
                </a:moveTo>
                <a:lnTo>
                  <a:pt x="83811" y="269326"/>
                </a:lnTo>
                <a:lnTo>
                  <a:pt x="89174" y="292494"/>
                </a:lnTo>
                <a:cubicBezTo>
                  <a:pt x="90326" y="297494"/>
                  <a:pt x="94450" y="301182"/>
                  <a:pt x="99419" y="301869"/>
                </a:cubicBezTo>
                <a:lnTo>
                  <a:pt x="101104" y="301985"/>
                </a:lnTo>
                <a:lnTo>
                  <a:pt x="135610" y="301985"/>
                </a:lnTo>
                <a:cubicBezTo>
                  <a:pt x="140741" y="301985"/>
                  <a:pt x="145259" y="298799"/>
                  <a:pt x="147048" y="294114"/>
                </a:cubicBezTo>
                <a:lnTo>
                  <a:pt x="147540" y="292497"/>
                </a:lnTo>
                <a:lnTo>
                  <a:pt x="152881" y="269326"/>
                </a:lnTo>
                <a:close/>
                <a:moveTo>
                  <a:pt x="118354" y="24487"/>
                </a:moveTo>
                <a:cubicBezTo>
                  <a:pt x="67718" y="24487"/>
                  <a:pt x="26447" y="64581"/>
                  <a:pt x="24555" y="114754"/>
                </a:cubicBezTo>
                <a:lnTo>
                  <a:pt x="24487" y="118354"/>
                </a:lnTo>
                <a:lnTo>
                  <a:pt x="24597" y="122877"/>
                </a:lnTo>
                <a:cubicBezTo>
                  <a:pt x="25840" y="148397"/>
                  <a:pt x="37665" y="172163"/>
                  <a:pt x="60608" y="194570"/>
                </a:cubicBezTo>
                <a:cubicBezTo>
                  <a:pt x="64919" y="198782"/>
                  <a:pt x="68117" y="203978"/>
                  <a:pt x="69939" y="209692"/>
                </a:cubicBezTo>
                <a:lnTo>
                  <a:pt x="70734" y="212589"/>
                </a:lnTo>
                <a:lnTo>
                  <a:pt x="78163" y="244839"/>
                </a:lnTo>
                <a:lnTo>
                  <a:pt x="158530" y="244839"/>
                </a:lnTo>
                <a:lnTo>
                  <a:pt x="166005" y="212578"/>
                </a:lnTo>
                <a:cubicBezTo>
                  <a:pt x="167360" y="206711"/>
                  <a:pt x="170133" y="201283"/>
                  <a:pt x="174061" y="196761"/>
                </a:cubicBezTo>
                <a:lnTo>
                  <a:pt x="176121" y="194577"/>
                </a:lnTo>
                <a:cubicBezTo>
                  <a:pt x="199051" y="172169"/>
                  <a:pt x="210870" y="148402"/>
                  <a:pt x="212112" y="122877"/>
                </a:cubicBezTo>
                <a:lnTo>
                  <a:pt x="212222" y="118354"/>
                </a:lnTo>
                <a:lnTo>
                  <a:pt x="212153" y="114754"/>
                </a:lnTo>
                <a:cubicBezTo>
                  <a:pt x="210261" y="64581"/>
                  <a:pt x="168991" y="24487"/>
                  <a:pt x="118354" y="24487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56000">
                <a:srgbClr val="CC918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93184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3">
            <a:extLst>
              <a:ext uri="{FF2B5EF4-FFF2-40B4-BE49-F238E27FC236}">
                <a16:creationId xmlns:a16="http://schemas.microsoft.com/office/drawing/2014/main" id="{821872D4-4DB4-9F0D-32DD-09902F575D2E}"/>
              </a:ext>
            </a:extLst>
          </p:cNvPr>
          <p:cNvSpPr txBox="1">
            <a:spLocks/>
          </p:cNvSpPr>
          <p:nvPr/>
        </p:nvSpPr>
        <p:spPr>
          <a:xfrm>
            <a:off x="3876676" y="457199"/>
            <a:ext cx="7726362" cy="6107113"/>
          </a:xfrm>
          <a:prstGeom prst="roundRect">
            <a:avLst>
              <a:gd name="adj" fmla="val 2300"/>
            </a:avLst>
          </a:prstGeom>
          <a:solidFill>
            <a:schemeClr val="bg1"/>
          </a:solidFill>
          <a:ln w="6350">
            <a:gradFill>
              <a:gsLst>
                <a:gs pos="0">
                  <a:schemeClr val="bg1">
                    <a:alpha val="30000"/>
                  </a:schemeClr>
                </a:gs>
                <a:gs pos="100000">
                  <a:schemeClr val="bg1">
                    <a:alpha val="59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65100" dist="25400" dir="2700000" algn="tl" rotWithShape="0">
              <a:schemeClr val="bg2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82880" rIns="182880" bIns="18288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ctr" defTabSz="932472" fontAlgn="base">
              <a:spcBef>
                <a:spcPct val="0"/>
              </a:spcBef>
              <a:spcAft>
                <a:spcPct val="0"/>
              </a:spcAft>
              <a:defRPr sz="2800">
                <a:cs typeface="Segoe UI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342900" indent="-342900" algn="l">
              <a:spcBef>
                <a:spcPts val="600"/>
              </a:spcBef>
              <a:spcAft>
                <a:spcPts val="20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200">
              <a:solidFill>
                <a:schemeClr val="tx1"/>
              </a:solidFill>
            </a:endParaRPr>
          </a:p>
        </p:txBody>
      </p:sp>
      <p:sp>
        <p:nvSpPr>
          <p:cNvPr id="73" name="Title 1">
            <a:extLst>
              <a:ext uri="{FF2B5EF4-FFF2-40B4-BE49-F238E27FC236}">
                <a16:creationId xmlns:a16="http://schemas.microsoft.com/office/drawing/2014/main" id="{2ADBB89B-0913-25B1-FCBA-0723D783BF6C}"/>
              </a:ext>
            </a:extLst>
          </p:cNvPr>
          <p:cNvSpPr txBox="1">
            <a:spLocks/>
          </p:cNvSpPr>
          <p:nvPr/>
        </p:nvSpPr>
        <p:spPr>
          <a:xfrm>
            <a:off x="588963" y="2433538"/>
            <a:ext cx="2930901" cy="215443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Sans Display" pitchFamily="2" charset="0"/>
              </a:defRPr>
            </a:lvl1pPr>
          </a:lstStyle>
          <a:p>
            <a:r>
              <a:rPr lang="en-US" sz="2800"/>
              <a:t>When prioritizing business</a:t>
            </a:r>
            <a:br>
              <a:rPr lang="en-US" sz="2800"/>
            </a:br>
            <a:r>
              <a:rPr lang="en-US" sz="2800"/>
              <a:t>use cases, consider the following factors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C29B1470-EC36-10EE-5074-8F042598A187}"/>
              </a:ext>
            </a:extLst>
          </p:cNvPr>
          <p:cNvSpPr>
            <a:spLocks/>
          </p:cNvSpPr>
          <p:nvPr/>
        </p:nvSpPr>
        <p:spPr bwMode="auto">
          <a:xfrm>
            <a:off x="3876676" y="2583180"/>
            <a:ext cx="7726361" cy="253522"/>
          </a:xfrm>
          <a:prstGeom prst="rect">
            <a:avLst/>
          </a:prstGeom>
          <a:solidFill>
            <a:schemeClr val="bg2">
              <a:lumMod val="90000"/>
              <a:alpha val="4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tx1"/>
                </a:solidFill>
                <a:latin typeface="+mj-lt"/>
                <a:cs typeface="Segoe UI" pitchFamily="34" charset="0"/>
              </a:rPr>
              <a:t>User desirability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558DBA9-DB2A-980D-0632-D5C141517DBE}"/>
              </a:ext>
            </a:extLst>
          </p:cNvPr>
          <p:cNvSpPr txBox="1"/>
          <p:nvPr/>
        </p:nvSpPr>
        <p:spPr>
          <a:xfrm>
            <a:off x="5977354" y="2929870"/>
            <a:ext cx="3525004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Key personas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Who are the key stakeholders and users who will be impacted by the use case?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E8266829-AA38-148A-4A59-23CC20EA1AD3}"/>
              </a:ext>
            </a:extLst>
          </p:cNvPr>
          <p:cNvSpPr txBox="1"/>
          <p:nvPr/>
        </p:nvSpPr>
        <p:spPr>
          <a:xfrm>
            <a:off x="4013836" y="2960077"/>
            <a:ext cx="1359346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Not fully known or defined yet</a:t>
            </a:r>
          </a:p>
        </p:txBody>
      </p:sp>
      <p:cxnSp>
        <p:nvCxnSpPr>
          <p:cNvPr id="229" name="Straight Arrow Connector 228" descr="A bi-directional arrow">
            <a:extLst>
              <a:ext uri="{FF2B5EF4-FFF2-40B4-BE49-F238E27FC236}">
                <a16:creationId xmlns:a16="http://schemas.microsoft.com/office/drawing/2014/main" id="{75CCCC02-6F1C-5B45-E007-C489D982F9E3}"/>
              </a:ext>
            </a:extLst>
          </p:cNvPr>
          <p:cNvCxnSpPr>
            <a:cxnSpLocks/>
          </p:cNvCxnSpPr>
          <p:nvPr/>
        </p:nvCxnSpPr>
        <p:spPr>
          <a:xfrm>
            <a:off x="4250531" y="3231713"/>
            <a:ext cx="7012637" cy="1084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6A99054F-6AFF-8146-143A-A86D222E7C82}"/>
              </a:ext>
            </a:extLst>
          </p:cNvPr>
          <p:cNvSpPr txBox="1"/>
          <p:nvPr/>
        </p:nvSpPr>
        <p:spPr>
          <a:xfrm>
            <a:off x="10233025" y="2877448"/>
            <a:ext cx="1232852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Clearly defined and understood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28032BEE-8200-73DF-ABAC-271694EA9F01}"/>
              </a:ext>
            </a:extLst>
          </p:cNvPr>
          <p:cNvGrpSpPr>
            <a:grpSpLocks/>
          </p:cNvGrpSpPr>
          <p:nvPr/>
        </p:nvGrpSpPr>
        <p:grpSpPr>
          <a:xfrm>
            <a:off x="4013836" y="3138868"/>
            <a:ext cx="185504" cy="186578"/>
            <a:chOff x="4605394" y="3881783"/>
            <a:chExt cx="468314" cy="465654"/>
          </a:xfrm>
        </p:grpSpPr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55211D31-4BE6-E1E4-6B22-94D885AA7416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B80A19C0-BA30-C670-3223-0B5BE67CE9D1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29AA865E-568F-1DFB-4336-3359C214E29C}"/>
              </a:ext>
            </a:extLst>
          </p:cNvPr>
          <p:cNvGrpSpPr/>
          <p:nvPr/>
        </p:nvGrpSpPr>
        <p:grpSpPr>
          <a:xfrm>
            <a:off x="11280373" y="3138868"/>
            <a:ext cx="185504" cy="186578"/>
            <a:chOff x="11280373" y="1315912"/>
            <a:chExt cx="185504" cy="186578"/>
          </a:xfrm>
        </p:grpSpPr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A4926456-E622-E1D5-C0E5-86CB3B1C64B3}"/>
                </a:ext>
              </a:extLst>
            </p:cNvPr>
            <p:cNvSpPr/>
            <p:nvPr/>
          </p:nvSpPr>
          <p:spPr bwMode="auto">
            <a:xfrm>
              <a:off x="11280373" y="1315912"/>
              <a:ext cx="185504" cy="18657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CEEC1F6A-55A8-11E9-872D-53B2C2010B6D}"/>
                </a:ext>
              </a:extLst>
            </p:cNvPr>
            <p:cNvSpPr/>
            <p:nvPr/>
          </p:nvSpPr>
          <p:spPr bwMode="auto">
            <a:xfrm>
              <a:off x="11293687" y="1328999"/>
              <a:ext cx="158877" cy="160405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217" name="TextBox 216">
            <a:extLst>
              <a:ext uri="{FF2B5EF4-FFF2-40B4-BE49-F238E27FC236}">
                <a16:creationId xmlns:a16="http://schemas.microsoft.com/office/drawing/2014/main" id="{3706F051-A373-CC30-003C-B36BF441C35D}"/>
              </a:ext>
            </a:extLst>
          </p:cNvPr>
          <p:cNvSpPr txBox="1"/>
          <p:nvPr/>
        </p:nvSpPr>
        <p:spPr>
          <a:xfrm>
            <a:off x="5528763" y="3464998"/>
            <a:ext cx="455894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Value proposition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What is the value proposition for the user? What is the potential appeal and adoption of the use case?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E60E2002-CAF3-F910-C200-F91FE18C18B2}"/>
              </a:ext>
            </a:extLst>
          </p:cNvPr>
          <p:cNvSpPr txBox="1"/>
          <p:nvPr/>
        </p:nvSpPr>
        <p:spPr>
          <a:xfrm>
            <a:off x="4013836" y="3412576"/>
            <a:ext cx="1034414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Low appeal or desire for a user</a:t>
            </a:r>
          </a:p>
        </p:txBody>
      </p:sp>
      <p:cxnSp>
        <p:nvCxnSpPr>
          <p:cNvPr id="219" name="Straight Arrow Connector 218" descr="A bi-directional arrow">
            <a:extLst>
              <a:ext uri="{FF2B5EF4-FFF2-40B4-BE49-F238E27FC236}">
                <a16:creationId xmlns:a16="http://schemas.microsoft.com/office/drawing/2014/main" id="{38DBA0C4-4502-B390-ABA0-896349EEDA53}"/>
              </a:ext>
            </a:extLst>
          </p:cNvPr>
          <p:cNvCxnSpPr>
            <a:cxnSpLocks/>
          </p:cNvCxnSpPr>
          <p:nvPr/>
        </p:nvCxnSpPr>
        <p:spPr>
          <a:xfrm>
            <a:off x="4250531" y="3767925"/>
            <a:ext cx="7012637" cy="0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Box 219">
            <a:extLst>
              <a:ext uri="{FF2B5EF4-FFF2-40B4-BE49-F238E27FC236}">
                <a16:creationId xmlns:a16="http://schemas.microsoft.com/office/drawing/2014/main" id="{2D355133-5250-CE5D-2E0A-4CFC987A3B0C}"/>
              </a:ext>
            </a:extLst>
          </p:cNvPr>
          <p:cNvSpPr txBox="1"/>
          <p:nvPr/>
        </p:nvSpPr>
        <p:spPr>
          <a:xfrm>
            <a:off x="10129838" y="3535686"/>
            <a:ext cx="1336039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Highly desired by users</a:t>
            </a: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C2232B27-BBE1-2057-6DEF-99DDE3B77B6D}"/>
              </a:ext>
            </a:extLst>
          </p:cNvPr>
          <p:cNvGrpSpPr>
            <a:grpSpLocks/>
          </p:cNvGrpSpPr>
          <p:nvPr/>
        </p:nvGrpSpPr>
        <p:grpSpPr>
          <a:xfrm>
            <a:off x="4013836" y="3675080"/>
            <a:ext cx="185504" cy="186578"/>
            <a:chOff x="4605394" y="3881783"/>
            <a:chExt cx="468314" cy="465654"/>
          </a:xfrm>
        </p:grpSpPr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6A5F70BE-D3BB-8C28-A215-36595588EBD0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278211ED-B2CB-47F2-1A7F-9488900B873B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FD58928B-EC94-F9B4-FBA5-0C08A0106789}"/>
              </a:ext>
            </a:extLst>
          </p:cNvPr>
          <p:cNvGrpSpPr>
            <a:grpSpLocks/>
          </p:cNvGrpSpPr>
          <p:nvPr/>
        </p:nvGrpSpPr>
        <p:grpSpPr>
          <a:xfrm>
            <a:off x="11280373" y="3675080"/>
            <a:ext cx="185504" cy="186578"/>
            <a:chOff x="4605394" y="3881783"/>
            <a:chExt cx="468314" cy="465654"/>
          </a:xfrm>
        </p:grpSpPr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8D445BEC-4088-2F0F-BB8F-82C4E77344DE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637599FD-5B61-DE64-EFE5-D59F8A9ACE4B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207" name="TextBox 206">
            <a:extLst>
              <a:ext uri="{FF2B5EF4-FFF2-40B4-BE49-F238E27FC236}">
                <a16:creationId xmlns:a16="http://schemas.microsoft.com/office/drawing/2014/main" id="{639DECE0-5A88-CA7C-834B-B4CC071BFC9D}"/>
              </a:ext>
            </a:extLst>
          </p:cNvPr>
          <p:cNvSpPr txBox="1"/>
          <p:nvPr/>
        </p:nvSpPr>
        <p:spPr>
          <a:xfrm>
            <a:off x="5782038" y="4001210"/>
            <a:ext cx="405239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Change resistance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What is the level of change resistance for the use case? How can change be managed?</a:t>
            </a: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A24F29D5-331B-F232-3579-F2DFF59F8702}"/>
              </a:ext>
            </a:extLst>
          </p:cNvPr>
          <p:cNvSpPr txBox="1"/>
          <p:nvPr/>
        </p:nvSpPr>
        <p:spPr>
          <a:xfrm>
            <a:off x="4013836" y="4059485"/>
            <a:ext cx="1596159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Expected high resistance by users</a:t>
            </a:r>
          </a:p>
        </p:txBody>
      </p:sp>
      <p:cxnSp>
        <p:nvCxnSpPr>
          <p:cNvPr id="209" name="Straight Arrow Connector 208" descr="A bi-directional arrow">
            <a:extLst>
              <a:ext uri="{FF2B5EF4-FFF2-40B4-BE49-F238E27FC236}">
                <a16:creationId xmlns:a16="http://schemas.microsoft.com/office/drawing/2014/main" id="{B442DD9A-146C-8E35-D7FE-C9A96149049A}"/>
              </a:ext>
            </a:extLst>
          </p:cNvPr>
          <p:cNvCxnSpPr>
            <a:cxnSpLocks/>
          </p:cNvCxnSpPr>
          <p:nvPr/>
        </p:nvCxnSpPr>
        <p:spPr>
          <a:xfrm>
            <a:off x="4250531" y="4304137"/>
            <a:ext cx="7012637" cy="0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B78F115D-1C06-6A90-34C2-2D962CAFA32C}"/>
              </a:ext>
            </a:extLst>
          </p:cNvPr>
          <p:cNvSpPr txBox="1"/>
          <p:nvPr/>
        </p:nvSpPr>
        <p:spPr>
          <a:xfrm>
            <a:off x="10233025" y="3936375"/>
            <a:ext cx="1232852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Expected very low resistance to change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29A73DD5-CEAE-10F7-07A6-3074384880F7}"/>
              </a:ext>
            </a:extLst>
          </p:cNvPr>
          <p:cNvGrpSpPr>
            <a:grpSpLocks/>
          </p:cNvGrpSpPr>
          <p:nvPr/>
        </p:nvGrpSpPr>
        <p:grpSpPr>
          <a:xfrm>
            <a:off x="4013836" y="4211292"/>
            <a:ext cx="185504" cy="186578"/>
            <a:chOff x="4605394" y="3881783"/>
            <a:chExt cx="468314" cy="465654"/>
          </a:xfrm>
        </p:grpSpPr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CAC2B1C7-1A51-28DE-74FC-EFE6F04E8549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4C000EE5-12D5-388F-29E2-19A59DBB3AE6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F6935C0-D387-C6BF-A7EF-98D6B9ADFBD7}"/>
              </a:ext>
            </a:extLst>
          </p:cNvPr>
          <p:cNvGrpSpPr>
            <a:grpSpLocks/>
          </p:cNvGrpSpPr>
          <p:nvPr/>
        </p:nvGrpSpPr>
        <p:grpSpPr>
          <a:xfrm>
            <a:off x="11280373" y="4211292"/>
            <a:ext cx="185504" cy="186578"/>
            <a:chOff x="4605394" y="3881783"/>
            <a:chExt cx="468314" cy="465654"/>
          </a:xfrm>
        </p:grpSpPr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351CB330-199D-D0F8-63CF-32444DEE01D9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5CB60500-A8BF-B04B-BD13-697FAF2A4F2D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311" name="Rectangle 310">
            <a:extLst>
              <a:ext uri="{FF2B5EF4-FFF2-40B4-BE49-F238E27FC236}">
                <a16:creationId xmlns:a16="http://schemas.microsoft.com/office/drawing/2014/main" id="{6FBF25B0-39E2-DCB8-BA51-19CD4B085C64}"/>
              </a:ext>
            </a:extLst>
          </p:cNvPr>
          <p:cNvSpPr>
            <a:spLocks/>
          </p:cNvSpPr>
          <p:nvPr/>
        </p:nvSpPr>
        <p:spPr bwMode="auto">
          <a:xfrm>
            <a:off x="3876676" y="4588404"/>
            <a:ext cx="7726362" cy="253522"/>
          </a:xfrm>
          <a:prstGeom prst="rect">
            <a:avLst/>
          </a:prstGeom>
          <a:solidFill>
            <a:schemeClr val="bg2">
              <a:lumMod val="90000"/>
              <a:alpha val="4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tx1"/>
                </a:solidFill>
                <a:latin typeface="+mj-lt"/>
                <a:cs typeface="Segoe UI" pitchFamily="34" charset="0"/>
              </a:rPr>
              <a:t>Technical feasibility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5D011E6E-11BB-62B6-EAE1-8F0057F82EB2}"/>
              </a:ext>
            </a:extLst>
          </p:cNvPr>
          <p:cNvSpPr txBox="1"/>
          <p:nvPr/>
        </p:nvSpPr>
        <p:spPr>
          <a:xfrm>
            <a:off x="5898807" y="4935094"/>
            <a:ext cx="3682098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Implementation and operation risks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What are the potential risks associated with the use case and plans for mitigation?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56D046ED-7026-3C00-09DE-B68F0F9FDFCB}"/>
              </a:ext>
            </a:extLst>
          </p:cNvPr>
          <p:cNvSpPr txBox="1"/>
          <p:nvPr/>
        </p:nvSpPr>
        <p:spPr>
          <a:xfrm>
            <a:off x="4013836" y="4965301"/>
            <a:ext cx="857607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Unknown currently</a:t>
            </a:r>
          </a:p>
        </p:txBody>
      </p:sp>
      <p:cxnSp>
        <p:nvCxnSpPr>
          <p:cNvPr id="337" name="Straight Arrow Connector 336" descr="A bi-directional arrow">
            <a:extLst>
              <a:ext uri="{FF2B5EF4-FFF2-40B4-BE49-F238E27FC236}">
                <a16:creationId xmlns:a16="http://schemas.microsoft.com/office/drawing/2014/main" id="{5B8C93D0-F6C0-22AA-E105-79A4EDC41C44}"/>
              </a:ext>
            </a:extLst>
          </p:cNvPr>
          <p:cNvCxnSpPr>
            <a:cxnSpLocks/>
          </p:cNvCxnSpPr>
          <p:nvPr/>
        </p:nvCxnSpPr>
        <p:spPr>
          <a:xfrm>
            <a:off x="4250531" y="5236937"/>
            <a:ext cx="7012637" cy="1084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extBox 337">
            <a:extLst>
              <a:ext uri="{FF2B5EF4-FFF2-40B4-BE49-F238E27FC236}">
                <a16:creationId xmlns:a16="http://schemas.microsoft.com/office/drawing/2014/main" id="{F45DA388-FFEA-A625-7344-C8BE4B7E9BE6}"/>
              </a:ext>
            </a:extLst>
          </p:cNvPr>
          <p:cNvSpPr txBox="1"/>
          <p:nvPr/>
        </p:nvSpPr>
        <p:spPr>
          <a:xfrm>
            <a:off x="9768840" y="5005782"/>
            <a:ext cx="169703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Well understood and addressable</a:t>
            </a:r>
          </a:p>
        </p:txBody>
      </p:sp>
      <p:grpSp>
        <p:nvGrpSpPr>
          <p:cNvPr id="339" name="Group 338">
            <a:extLst>
              <a:ext uri="{FF2B5EF4-FFF2-40B4-BE49-F238E27FC236}">
                <a16:creationId xmlns:a16="http://schemas.microsoft.com/office/drawing/2014/main" id="{6C01C021-6EFD-A302-B768-12336077E4FE}"/>
              </a:ext>
            </a:extLst>
          </p:cNvPr>
          <p:cNvGrpSpPr>
            <a:grpSpLocks/>
          </p:cNvGrpSpPr>
          <p:nvPr/>
        </p:nvGrpSpPr>
        <p:grpSpPr>
          <a:xfrm>
            <a:off x="4013836" y="5144092"/>
            <a:ext cx="185504" cy="186578"/>
            <a:chOff x="4605394" y="3881783"/>
            <a:chExt cx="468314" cy="465654"/>
          </a:xfrm>
        </p:grpSpPr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E1A949FC-B6BF-A3E4-A177-6302FDB8586F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D613E852-FA05-0407-4670-7470E3C67753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6F8E0114-28F5-FF02-B849-A3FA98849A6E}"/>
              </a:ext>
            </a:extLst>
          </p:cNvPr>
          <p:cNvGrpSpPr/>
          <p:nvPr/>
        </p:nvGrpSpPr>
        <p:grpSpPr>
          <a:xfrm>
            <a:off x="11280373" y="5144092"/>
            <a:ext cx="185504" cy="186578"/>
            <a:chOff x="11280373" y="1315912"/>
            <a:chExt cx="185504" cy="186578"/>
          </a:xfrm>
        </p:grpSpPr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B80DCC4E-2EC3-AE26-0DBE-CB993941F7E3}"/>
                </a:ext>
              </a:extLst>
            </p:cNvPr>
            <p:cNvSpPr/>
            <p:nvPr/>
          </p:nvSpPr>
          <p:spPr bwMode="auto">
            <a:xfrm>
              <a:off x="11280373" y="1315912"/>
              <a:ext cx="185504" cy="18657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44504FF8-F60A-7676-13B6-5760D8725C79}"/>
                </a:ext>
              </a:extLst>
            </p:cNvPr>
            <p:cNvSpPr/>
            <p:nvPr/>
          </p:nvSpPr>
          <p:spPr bwMode="auto">
            <a:xfrm>
              <a:off x="11293687" y="1328999"/>
              <a:ext cx="158877" cy="160405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325" name="TextBox 324">
            <a:extLst>
              <a:ext uri="{FF2B5EF4-FFF2-40B4-BE49-F238E27FC236}">
                <a16:creationId xmlns:a16="http://schemas.microsoft.com/office/drawing/2014/main" id="{4A007E13-8BD2-BA9F-37F3-F99B093F038A}"/>
              </a:ext>
            </a:extLst>
          </p:cNvPr>
          <p:cNvSpPr txBox="1"/>
          <p:nvPr/>
        </p:nvSpPr>
        <p:spPr>
          <a:xfrm>
            <a:off x="6016076" y="5470222"/>
            <a:ext cx="358431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Sufficient safeguards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Are the appropriate safeguards in place to manage risk and ensure compliance?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CEAB7D33-6786-6E06-854B-417EA128533E}"/>
              </a:ext>
            </a:extLst>
          </p:cNvPr>
          <p:cNvSpPr txBox="1"/>
          <p:nvPr/>
        </p:nvSpPr>
        <p:spPr>
          <a:xfrm>
            <a:off x="4013836" y="5540910"/>
            <a:ext cx="1674886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Unknown currently</a:t>
            </a:r>
          </a:p>
        </p:txBody>
      </p:sp>
      <p:cxnSp>
        <p:nvCxnSpPr>
          <p:cNvPr id="327" name="Straight Arrow Connector 326" descr="A bi-directional arrow">
            <a:extLst>
              <a:ext uri="{FF2B5EF4-FFF2-40B4-BE49-F238E27FC236}">
                <a16:creationId xmlns:a16="http://schemas.microsoft.com/office/drawing/2014/main" id="{23035B72-7248-8009-8602-49B893665C01}"/>
              </a:ext>
            </a:extLst>
          </p:cNvPr>
          <p:cNvCxnSpPr>
            <a:cxnSpLocks/>
          </p:cNvCxnSpPr>
          <p:nvPr/>
        </p:nvCxnSpPr>
        <p:spPr>
          <a:xfrm>
            <a:off x="4250531" y="5773149"/>
            <a:ext cx="7012637" cy="0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TextBox 327">
            <a:extLst>
              <a:ext uri="{FF2B5EF4-FFF2-40B4-BE49-F238E27FC236}">
                <a16:creationId xmlns:a16="http://schemas.microsoft.com/office/drawing/2014/main" id="{06E1090E-95F4-B1AF-8F28-B3F371FA9C54}"/>
              </a:ext>
            </a:extLst>
          </p:cNvPr>
          <p:cNvSpPr txBox="1"/>
          <p:nvPr/>
        </p:nvSpPr>
        <p:spPr>
          <a:xfrm>
            <a:off x="9870082" y="5417800"/>
            <a:ext cx="1595795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Mature security, RAI and compliance practices in place</a:t>
            </a:r>
          </a:p>
        </p:txBody>
      </p: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3123E2C7-712D-F408-9EE6-1227D0C7350A}"/>
              </a:ext>
            </a:extLst>
          </p:cNvPr>
          <p:cNvGrpSpPr>
            <a:grpSpLocks/>
          </p:cNvGrpSpPr>
          <p:nvPr/>
        </p:nvGrpSpPr>
        <p:grpSpPr>
          <a:xfrm>
            <a:off x="4013836" y="5680304"/>
            <a:ext cx="185504" cy="186578"/>
            <a:chOff x="4605394" y="3881783"/>
            <a:chExt cx="468314" cy="465654"/>
          </a:xfrm>
        </p:grpSpPr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87B090C9-36C1-11EC-344E-3E61BE88E1A0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F72C3523-C08D-A5AF-17B1-F823B8E5BE43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40309AF6-DFA9-C868-9C39-E43BA48C0831}"/>
              </a:ext>
            </a:extLst>
          </p:cNvPr>
          <p:cNvGrpSpPr>
            <a:grpSpLocks/>
          </p:cNvGrpSpPr>
          <p:nvPr/>
        </p:nvGrpSpPr>
        <p:grpSpPr>
          <a:xfrm>
            <a:off x="11280373" y="5680304"/>
            <a:ext cx="185504" cy="186578"/>
            <a:chOff x="4605394" y="3881783"/>
            <a:chExt cx="468314" cy="465654"/>
          </a:xfrm>
        </p:grpSpPr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A336396D-CF45-ACAF-C8D0-5664660ED095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C79DE546-129D-981A-FAFD-EA2B6617EED4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315" name="TextBox 314">
            <a:extLst>
              <a:ext uri="{FF2B5EF4-FFF2-40B4-BE49-F238E27FC236}">
                <a16:creationId xmlns:a16="http://schemas.microsoft.com/office/drawing/2014/main" id="{7BD30BEF-72F0-67E8-E448-F2909F29275B}"/>
              </a:ext>
            </a:extLst>
          </p:cNvPr>
          <p:cNvSpPr txBox="1"/>
          <p:nvPr/>
        </p:nvSpPr>
        <p:spPr>
          <a:xfrm>
            <a:off x="5782038" y="6006434"/>
            <a:ext cx="405239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TechnologyFit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What is the fit of the use case with identified technologies?</a:t>
            </a:r>
          </a:p>
        </p:txBody>
      </p:sp>
      <p:sp>
        <p:nvSpPr>
          <p:cNvPr id="316" name="TextBox 315">
            <a:extLst>
              <a:ext uri="{FF2B5EF4-FFF2-40B4-BE49-F238E27FC236}">
                <a16:creationId xmlns:a16="http://schemas.microsoft.com/office/drawing/2014/main" id="{939AE19C-2820-D45F-8EA6-14E191C511F6}"/>
              </a:ext>
            </a:extLst>
          </p:cNvPr>
          <p:cNvSpPr txBox="1"/>
          <p:nvPr/>
        </p:nvSpPr>
        <p:spPr>
          <a:xfrm>
            <a:off x="4013836" y="6064709"/>
            <a:ext cx="1596159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Type of tech and why is not clear</a:t>
            </a:r>
          </a:p>
        </p:txBody>
      </p:sp>
      <p:cxnSp>
        <p:nvCxnSpPr>
          <p:cNvPr id="317" name="Straight Arrow Connector 316" descr="A bi-directional arrow">
            <a:extLst>
              <a:ext uri="{FF2B5EF4-FFF2-40B4-BE49-F238E27FC236}">
                <a16:creationId xmlns:a16="http://schemas.microsoft.com/office/drawing/2014/main" id="{911D0872-8DAE-2571-884D-8DCC8EFD05E6}"/>
              </a:ext>
            </a:extLst>
          </p:cNvPr>
          <p:cNvCxnSpPr>
            <a:cxnSpLocks/>
          </p:cNvCxnSpPr>
          <p:nvPr/>
        </p:nvCxnSpPr>
        <p:spPr>
          <a:xfrm>
            <a:off x="4250531" y="6309361"/>
            <a:ext cx="7012637" cy="0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TextBox 317">
            <a:extLst>
              <a:ext uri="{FF2B5EF4-FFF2-40B4-BE49-F238E27FC236}">
                <a16:creationId xmlns:a16="http://schemas.microsoft.com/office/drawing/2014/main" id="{8289BFBB-D341-A177-3010-B6F727339544}"/>
              </a:ext>
            </a:extLst>
          </p:cNvPr>
          <p:cNvSpPr txBox="1"/>
          <p:nvPr/>
        </p:nvSpPr>
        <p:spPr>
          <a:xfrm>
            <a:off x="10129838" y="5941599"/>
            <a:ext cx="1336039" cy="24622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Need and benefit of tech is clear and compelling</a:t>
            </a:r>
          </a:p>
        </p:txBody>
      </p:sp>
      <p:grpSp>
        <p:nvGrpSpPr>
          <p:cNvPr id="319" name="Group 318">
            <a:extLst>
              <a:ext uri="{FF2B5EF4-FFF2-40B4-BE49-F238E27FC236}">
                <a16:creationId xmlns:a16="http://schemas.microsoft.com/office/drawing/2014/main" id="{1B457FC0-8C14-EDBD-9C31-2B2FDBD9D401}"/>
              </a:ext>
            </a:extLst>
          </p:cNvPr>
          <p:cNvGrpSpPr>
            <a:grpSpLocks/>
          </p:cNvGrpSpPr>
          <p:nvPr/>
        </p:nvGrpSpPr>
        <p:grpSpPr>
          <a:xfrm>
            <a:off x="4013836" y="6216516"/>
            <a:ext cx="185504" cy="186578"/>
            <a:chOff x="4605394" y="3881783"/>
            <a:chExt cx="468314" cy="465654"/>
          </a:xfrm>
        </p:grpSpPr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5FFF35F3-DE46-3500-2488-7DB8C6FC3F35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04BFB86C-4004-A30A-094A-20A158684D12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C3E1252D-D0A3-FED1-F155-0CA1EA88F199}"/>
              </a:ext>
            </a:extLst>
          </p:cNvPr>
          <p:cNvGrpSpPr>
            <a:grpSpLocks/>
          </p:cNvGrpSpPr>
          <p:nvPr/>
        </p:nvGrpSpPr>
        <p:grpSpPr>
          <a:xfrm>
            <a:off x="11280373" y="6216516"/>
            <a:ext cx="185504" cy="186578"/>
            <a:chOff x="4605394" y="3881783"/>
            <a:chExt cx="468314" cy="465654"/>
          </a:xfrm>
        </p:grpSpPr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0D52E642-FF4B-6F3A-765E-8D6402B7D895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AE0BD90E-0723-39CC-1C47-B6681FC7E4CB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EAEE81D5-2773-4C2F-C97B-853C3F22137D}"/>
              </a:ext>
            </a:extLst>
          </p:cNvPr>
          <p:cNvSpPr>
            <a:spLocks/>
          </p:cNvSpPr>
          <p:nvPr/>
        </p:nvSpPr>
        <p:spPr bwMode="auto">
          <a:xfrm>
            <a:off x="3876676" y="577956"/>
            <a:ext cx="7726362" cy="253522"/>
          </a:xfrm>
          <a:prstGeom prst="rect">
            <a:avLst/>
          </a:prstGeom>
          <a:solidFill>
            <a:schemeClr val="bg2">
              <a:lumMod val="90000"/>
              <a:alpha val="4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chemeClr val="tx1"/>
                </a:solidFill>
                <a:latin typeface="+mj-lt"/>
                <a:cs typeface="Segoe UI" pitchFamily="34" charset="0"/>
              </a:rPr>
              <a:t>Business impact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703DD0-471C-C1A5-8264-A9A7B3C5EDD9}"/>
              </a:ext>
            </a:extLst>
          </p:cNvPr>
          <p:cNvSpPr txBox="1"/>
          <p:nvPr/>
        </p:nvSpPr>
        <p:spPr>
          <a:xfrm>
            <a:off x="6180134" y="924646"/>
            <a:ext cx="3119444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Executive strategy alignment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Does the use case align with the overall business strategy and goals?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B91994-0459-03E0-3DA6-BA0862B52F2C}"/>
              </a:ext>
            </a:extLst>
          </p:cNvPr>
          <p:cNvSpPr txBox="1"/>
          <p:nvPr/>
        </p:nvSpPr>
        <p:spPr>
          <a:xfrm>
            <a:off x="4013836" y="954853"/>
            <a:ext cx="652423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No alignment </a:t>
            </a:r>
          </a:p>
        </p:txBody>
      </p:sp>
      <p:cxnSp>
        <p:nvCxnSpPr>
          <p:cNvPr id="9" name="Straight Arrow Connector 8" descr="A bi-directional arrow">
            <a:extLst>
              <a:ext uri="{FF2B5EF4-FFF2-40B4-BE49-F238E27FC236}">
                <a16:creationId xmlns:a16="http://schemas.microsoft.com/office/drawing/2014/main" id="{300C9144-0C86-51C9-DE48-CE12F5C334D6}"/>
              </a:ext>
            </a:extLst>
          </p:cNvPr>
          <p:cNvCxnSpPr>
            <a:cxnSpLocks/>
          </p:cNvCxnSpPr>
          <p:nvPr/>
        </p:nvCxnSpPr>
        <p:spPr>
          <a:xfrm>
            <a:off x="4250531" y="1226933"/>
            <a:ext cx="7012637" cy="1084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F68B8ED-E4D0-C589-3BDA-4D86134B6A75}"/>
              </a:ext>
            </a:extLst>
          </p:cNvPr>
          <p:cNvSpPr txBox="1"/>
          <p:nvPr/>
        </p:nvSpPr>
        <p:spPr>
          <a:xfrm>
            <a:off x="9768840" y="995334"/>
            <a:ext cx="1697037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Very aligned with board-level support</a:t>
            </a:r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E099CBC-6008-F4A2-AE0D-2EB3F91224A7}"/>
              </a:ext>
            </a:extLst>
          </p:cNvPr>
          <p:cNvGrpSpPr>
            <a:grpSpLocks/>
          </p:cNvGrpSpPr>
          <p:nvPr/>
        </p:nvGrpSpPr>
        <p:grpSpPr>
          <a:xfrm>
            <a:off x="4013836" y="1133644"/>
            <a:ext cx="185504" cy="186578"/>
            <a:chOff x="4605394" y="3881783"/>
            <a:chExt cx="468314" cy="465654"/>
          </a:xfrm>
        </p:grpSpPr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7351DBE-097E-972B-84B2-154042667F21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4B0DB0E2-B186-71B8-0BBA-812104AD0E92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9F62A667-0195-1B7C-A4B6-9EC8C2FE045E}"/>
              </a:ext>
            </a:extLst>
          </p:cNvPr>
          <p:cNvGrpSpPr/>
          <p:nvPr/>
        </p:nvGrpSpPr>
        <p:grpSpPr>
          <a:xfrm>
            <a:off x="11280373" y="1133644"/>
            <a:ext cx="185504" cy="186578"/>
            <a:chOff x="11280373" y="1315912"/>
            <a:chExt cx="185504" cy="186578"/>
          </a:xfrm>
        </p:grpSpPr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789F38FD-04C1-8C93-81F6-A7887CAC6319}"/>
                </a:ext>
              </a:extLst>
            </p:cNvPr>
            <p:cNvSpPr/>
            <p:nvPr/>
          </p:nvSpPr>
          <p:spPr bwMode="auto">
            <a:xfrm>
              <a:off x="11280373" y="1315912"/>
              <a:ext cx="185504" cy="186578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B2810BAA-0815-547D-AF74-523846581D84}"/>
                </a:ext>
              </a:extLst>
            </p:cNvPr>
            <p:cNvSpPr/>
            <p:nvPr/>
          </p:nvSpPr>
          <p:spPr bwMode="auto">
            <a:xfrm>
              <a:off x="11293687" y="1328999"/>
              <a:ext cx="158877" cy="160405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248043F-6647-BFC7-09A5-92C027792F97}"/>
              </a:ext>
            </a:extLst>
          </p:cNvPr>
          <p:cNvSpPr txBox="1"/>
          <p:nvPr/>
        </p:nvSpPr>
        <p:spPr>
          <a:xfrm>
            <a:off x="6710978" y="1459774"/>
            <a:ext cx="2194511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Business value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How does the use case generate business value?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1C09A0-DAF5-3FEE-53B1-055DC93C8046}"/>
              </a:ext>
            </a:extLst>
          </p:cNvPr>
          <p:cNvSpPr txBox="1"/>
          <p:nvPr/>
        </p:nvSpPr>
        <p:spPr>
          <a:xfrm>
            <a:off x="4013836" y="1530462"/>
            <a:ext cx="1674886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Value not understood yet</a:t>
            </a:r>
          </a:p>
        </p:txBody>
      </p:sp>
      <p:cxnSp>
        <p:nvCxnSpPr>
          <p:cNvPr id="16" name="Straight Arrow Connector 15" descr="A bi-directional arrow">
            <a:extLst>
              <a:ext uri="{FF2B5EF4-FFF2-40B4-BE49-F238E27FC236}">
                <a16:creationId xmlns:a16="http://schemas.microsoft.com/office/drawing/2014/main" id="{FB6C4218-AC77-8019-75AF-85AB45467C9C}"/>
              </a:ext>
            </a:extLst>
          </p:cNvPr>
          <p:cNvCxnSpPr>
            <a:cxnSpLocks/>
          </p:cNvCxnSpPr>
          <p:nvPr/>
        </p:nvCxnSpPr>
        <p:spPr>
          <a:xfrm>
            <a:off x="4250531" y="1763145"/>
            <a:ext cx="7012637" cy="0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C570211-3DEC-8209-8EA4-2E50C1F5ED13}"/>
              </a:ext>
            </a:extLst>
          </p:cNvPr>
          <p:cNvSpPr txBox="1"/>
          <p:nvPr/>
        </p:nvSpPr>
        <p:spPr>
          <a:xfrm>
            <a:off x="9870082" y="1530462"/>
            <a:ext cx="1595795" cy="123111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Value very clear and significant </a:t>
            </a:r>
          </a:p>
        </p:txBody>
      </p: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6D663C00-93FF-3F15-5D98-BAF048C6347E}"/>
              </a:ext>
            </a:extLst>
          </p:cNvPr>
          <p:cNvGrpSpPr>
            <a:grpSpLocks/>
          </p:cNvGrpSpPr>
          <p:nvPr/>
        </p:nvGrpSpPr>
        <p:grpSpPr>
          <a:xfrm>
            <a:off x="4013836" y="1669856"/>
            <a:ext cx="185504" cy="186578"/>
            <a:chOff x="4605394" y="3881783"/>
            <a:chExt cx="468314" cy="465654"/>
          </a:xfrm>
        </p:grpSpPr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E99EB896-6D18-2630-7B35-5F9BED58F30C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6F6EFB60-2989-51D3-D739-C1B31C060C3A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21C6B430-ACBB-05A1-9AA9-1A2BE1902E73}"/>
              </a:ext>
            </a:extLst>
          </p:cNvPr>
          <p:cNvGrpSpPr>
            <a:grpSpLocks/>
          </p:cNvGrpSpPr>
          <p:nvPr/>
        </p:nvGrpSpPr>
        <p:grpSpPr>
          <a:xfrm>
            <a:off x="11280373" y="1669856"/>
            <a:ext cx="185504" cy="186578"/>
            <a:chOff x="4605394" y="3881783"/>
            <a:chExt cx="468314" cy="465654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525CD136-5D70-89E5-08B5-931509924069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21BB5F44-E28E-3BF7-98B4-39D4F6E302D4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5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7A9D579B-A523-45AC-4128-1398EE12A9DD}"/>
              </a:ext>
            </a:extLst>
          </p:cNvPr>
          <p:cNvSpPr txBox="1"/>
          <p:nvPr/>
        </p:nvSpPr>
        <p:spPr>
          <a:xfrm>
            <a:off x="5782038" y="1995986"/>
            <a:ext cx="4052391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Change management timeframe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What is the expected time required to implement the use case and manage any changes?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08306C-556B-F133-C610-435DEB391742}"/>
              </a:ext>
            </a:extLst>
          </p:cNvPr>
          <p:cNvSpPr txBox="1"/>
          <p:nvPr/>
        </p:nvSpPr>
        <p:spPr>
          <a:xfrm>
            <a:off x="4013836" y="2054261"/>
            <a:ext cx="1596159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Long roll-out and high user impact</a:t>
            </a:r>
          </a:p>
        </p:txBody>
      </p:sp>
      <p:cxnSp>
        <p:nvCxnSpPr>
          <p:cNvPr id="23" name="Straight Arrow Connector 22" descr="A bi-directional arrow">
            <a:extLst>
              <a:ext uri="{FF2B5EF4-FFF2-40B4-BE49-F238E27FC236}">
                <a16:creationId xmlns:a16="http://schemas.microsoft.com/office/drawing/2014/main" id="{12E26FC1-9EDF-F950-1099-E2A88FB27F11}"/>
              </a:ext>
            </a:extLst>
          </p:cNvPr>
          <p:cNvCxnSpPr>
            <a:cxnSpLocks/>
          </p:cNvCxnSpPr>
          <p:nvPr/>
        </p:nvCxnSpPr>
        <p:spPr>
          <a:xfrm>
            <a:off x="4250531" y="2299357"/>
            <a:ext cx="7012637" cy="0"/>
          </a:xfrm>
          <a:prstGeom prst="straightConnector1">
            <a:avLst/>
          </a:prstGeom>
          <a:ln w="12700" cap="rnd">
            <a:solidFill>
              <a:schemeClr val="bg2">
                <a:lumMod val="75000"/>
              </a:schemeClr>
            </a:solidFill>
            <a:headEnd type="arrow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F6834E9-CEDE-7DF7-4097-50257E37B78A}"/>
              </a:ext>
            </a:extLst>
          </p:cNvPr>
          <p:cNvSpPr txBox="1"/>
          <p:nvPr/>
        </p:nvSpPr>
        <p:spPr>
          <a:xfrm>
            <a:off x="9616440" y="2054261"/>
            <a:ext cx="1849437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Short roll-out and low user impact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7E67DD5B-E218-341E-C4CF-08E335EF448E}"/>
              </a:ext>
            </a:extLst>
          </p:cNvPr>
          <p:cNvGrpSpPr>
            <a:grpSpLocks/>
          </p:cNvGrpSpPr>
          <p:nvPr/>
        </p:nvGrpSpPr>
        <p:grpSpPr>
          <a:xfrm>
            <a:off x="4013836" y="2206068"/>
            <a:ext cx="185504" cy="186578"/>
            <a:chOff x="4605394" y="3881783"/>
            <a:chExt cx="468314" cy="465654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CB957207-59A9-B5B6-DADB-195E37E631E1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F3E525C7-804A-B62B-D61E-70937C37AD1F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1</a:t>
              </a: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A2C362C9-1934-3D16-955A-96EC1D681407}"/>
              </a:ext>
            </a:extLst>
          </p:cNvPr>
          <p:cNvGrpSpPr>
            <a:grpSpLocks/>
          </p:cNvGrpSpPr>
          <p:nvPr/>
        </p:nvGrpSpPr>
        <p:grpSpPr>
          <a:xfrm>
            <a:off x="11280373" y="2206068"/>
            <a:ext cx="185504" cy="186578"/>
            <a:chOff x="4605394" y="3881783"/>
            <a:chExt cx="468314" cy="465654"/>
          </a:xfrm>
        </p:grpSpPr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1A2A972F-F35D-D980-66AD-E8D79F8F9CF6}"/>
                </a:ext>
              </a:extLst>
            </p:cNvPr>
            <p:cNvSpPr/>
            <p:nvPr/>
          </p:nvSpPr>
          <p:spPr bwMode="auto">
            <a:xfrm>
              <a:off x="4605394" y="3881783"/>
              <a:ext cx="468314" cy="465654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75000"/>
                  </a:schemeClr>
                </a:gs>
                <a:gs pos="100000">
                  <a:schemeClr val="accent2">
                    <a:lumMod val="75000"/>
                  </a:schemeClr>
                </a:gs>
                <a:gs pos="48000">
                  <a:srgbClr val="CC9180"/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  <a:headEnd type="none" w="med" len="med"/>
              <a:tailEnd type="none" w="med" len="med"/>
            </a:ln>
            <a:effectLst>
              <a:outerShdw blurRad="139700" dist="38100" dir="2700000" algn="tl" rotWithShape="0">
                <a:schemeClr val="tx1">
                  <a:alpha val="18000"/>
                </a:scheme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800" err="1">
                <a:solidFill>
                  <a:schemeClr val="tx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5CC02306-B845-0ED0-487E-373FBBA6633A}"/>
                </a:ext>
              </a:extLst>
            </p:cNvPr>
            <p:cNvSpPr/>
            <p:nvPr/>
          </p:nvSpPr>
          <p:spPr bwMode="auto">
            <a:xfrm>
              <a:off x="4639005" y="3914444"/>
              <a:ext cx="401092" cy="400333"/>
            </a:xfrm>
            <a:prstGeom prst="ellipse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0" rIns="9144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800" b="1">
                  <a:solidFill>
                    <a:schemeClr val="tx1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34083349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36E46-C885-F3C0-0342-B84896FB7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Appendix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20F5B-A388-65CC-AAA4-65A5B6FEDE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Other Envisioning Frameworks (Optional)</a:t>
            </a:r>
          </a:p>
        </p:txBody>
      </p:sp>
    </p:spTree>
    <p:extLst>
      <p:ext uri="{BB962C8B-B14F-4D97-AF65-F5344CB8AC3E}">
        <p14:creationId xmlns:p14="http://schemas.microsoft.com/office/powerpoint/2010/main" val="929762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AE7A7A4-7CB8-DFE7-F266-1D4784439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noProof="0"/>
              <a:t>We Envision with the </a:t>
            </a:r>
            <a:r>
              <a:rPr lang="en-US" noProof="0">
                <a:solidFill>
                  <a:schemeClr val="accent3"/>
                </a:solidFill>
              </a:rPr>
              <a:t>3-Horizons</a:t>
            </a:r>
            <a:r>
              <a:rPr lang="en-US" noProof="0"/>
              <a:t> Framework</a:t>
            </a:r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54EECF-F50A-7AF7-5E59-4568F9393F04}"/>
              </a:ext>
            </a:extLst>
          </p:cNvPr>
          <p:cNvSpPr>
            <a:spLocks/>
          </p:cNvSpPr>
          <p:nvPr/>
        </p:nvSpPr>
        <p:spPr bwMode="auto">
          <a:xfrm>
            <a:off x="603249" y="1206500"/>
            <a:ext cx="11026775" cy="5156200"/>
          </a:xfrm>
          <a:prstGeom prst="roundRect">
            <a:avLst>
              <a:gd name="adj" fmla="val 3100"/>
            </a:avLst>
          </a:prstGeom>
          <a:solidFill>
            <a:schemeClr val="bg1">
              <a:alpha val="70000"/>
            </a:schemeClr>
          </a:solidFill>
          <a:ln w="6350">
            <a:gradFill>
              <a:gsLst>
                <a:gs pos="0">
                  <a:schemeClr val="bg1">
                    <a:alpha val="30000"/>
                  </a:schemeClr>
                </a:gs>
                <a:gs pos="100000">
                  <a:schemeClr val="bg1">
                    <a:alpha val="59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65100" dist="25400" dir="2700000" algn="tl" rotWithShape="0">
              <a:schemeClr val="bg2">
                <a:lumMod val="50000"/>
                <a:alpha val="10000"/>
              </a:scheme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 sz="2800">
              <a:solidFill>
                <a:schemeClr val="tx1"/>
              </a:solidFill>
              <a:cs typeface="Segoe UI" pitchFamily="34" charset="0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341D3E9A-BCD5-3869-2006-FA7071CCF759}"/>
              </a:ext>
            </a:extLst>
          </p:cNvPr>
          <p:cNvSpPr/>
          <p:nvPr/>
        </p:nvSpPr>
        <p:spPr bwMode="auto">
          <a:xfrm>
            <a:off x="722121" y="1325372"/>
            <a:ext cx="7108700" cy="2825713"/>
          </a:xfrm>
          <a:prstGeom prst="roundRect">
            <a:avLst>
              <a:gd name="adj" fmla="val 3495"/>
            </a:avLst>
          </a:prstGeom>
          <a:solidFill>
            <a:schemeClr val="bg1"/>
          </a:solidFill>
          <a:ln w="19050">
            <a:noFill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6637" rIns="0" bIns="46637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5D229724-17C3-C7F3-2060-AFEA0DF123A6}"/>
              </a:ext>
            </a:extLst>
          </p:cNvPr>
          <p:cNvSpPr/>
          <p:nvPr/>
        </p:nvSpPr>
        <p:spPr>
          <a:xfrm>
            <a:off x="5434444" y="2336447"/>
            <a:ext cx="711722" cy="72297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1FAF2E18-6726-BCFC-B3AD-6486522C8E4D}"/>
              </a:ext>
            </a:extLst>
          </p:cNvPr>
          <p:cNvSpPr/>
          <p:nvPr/>
        </p:nvSpPr>
        <p:spPr>
          <a:xfrm>
            <a:off x="5017272" y="2687890"/>
            <a:ext cx="348422" cy="3545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9386EE4A-9263-B6BD-1F22-B74E400AADCA}"/>
              </a:ext>
            </a:extLst>
          </p:cNvPr>
          <p:cNvSpPr/>
          <p:nvPr/>
        </p:nvSpPr>
        <p:spPr>
          <a:xfrm>
            <a:off x="4721354" y="2917861"/>
            <a:ext cx="348422" cy="3545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0C5E3093-AC7C-97C6-091F-01AF6469DFCE}"/>
              </a:ext>
            </a:extLst>
          </p:cNvPr>
          <p:cNvSpPr/>
          <p:nvPr/>
        </p:nvSpPr>
        <p:spPr>
          <a:xfrm>
            <a:off x="4281390" y="2700283"/>
            <a:ext cx="398111" cy="405059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0CDFB748-9A41-BE1D-3D3F-F7645EAA6CC9}"/>
              </a:ext>
            </a:extLst>
          </p:cNvPr>
          <p:cNvSpPr/>
          <p:nvPr/>
        </p:nvSpPr>
        <p:spPr>
          <a:xfrm>
            <a:off x="3600413" y="2598179"/>
            <a:ext cx="628395" cy="63936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03E97948-30FF-AF8F-5847-A7D84D9B9F7B}"/>
              </a:ext>
            </a:extLst>
          </p:cNvPr>
          <p:cNvSpPr/>
          <p:nvPr/>
        </p:nvSpPr>
        <p:spPr>
          <a:xfrm>
            <a:off x="4077417" y="3156808"/>
            <a:ext cx="398111" cy="405059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E5905770-6E4F-4A4A-8B95-0D4B2DA803EB}"/>
              </a:ext>
            </a:extLst>
          </p:cNvPr>
          <p:cNvSpPr/>
          <p:nvPr/>
        </p:nvSpPr>
        <p:spPr>
          <a:xfrm>
            <a:off x="4114174" y="2462598"/>
            <a:ext cx="231819" cy="235865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44B80CFE-54BC-F062-AC6F-5F68DCC1D254}"/>
              </a:ext>
            </a:extLst>
          </p:cNvPr>
          <p:cNvSpPr/>
          <p:nvPr/>
        </p:nvSpPr>
        <p:spPr>
          <a:xfrm>
            <a:off x="3210393" y="2839504"/>
            <a:ext cx="367324" cy="373736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88884B29-F43E-2A08-83D6-1A65FC3C36C8}"/>
              </a:ext>
            </a:extLst>
          </p:cNvPr>
          <p:cNvSpPr/>
          <p:nvPr/>
        </p:nvSpPr>
        <p:spPr>
          <a:xfrm>
            <a:off x="3403517" y="3182889"/>
            <a:ext cx="398111" cy="405059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C03A2C8E-F03F-6442-1780-8020D7792E3B}"/>
              </a:ext>
            </a:extLst>
          </p:cNvPr>
          <p:cNvSpPr/>
          <p:nvPr/>
        </p:nvSpPr>
        <p:spPr>
          <a:xfrm>
            <a:off x="2616717" y="3358167"/>
            <a:ext cx="349324" cy="35542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76C660E5-92D2-C962-F286-B0E6D28ACA18}"/>
              </a:ext>
            </a:extLst>
          </p:cNvPr>
          <p:cNvSpPr/>
          <p:nvPr/>
        </p:nvSpPr>
        <p:spPr>
          <a:xfrm>
            <a:off x="1990208" y="3445870"/>
            <a:ext cx="349324" cy="35542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9" name="Oval 198">
            <a:extLst>
              <a:ext uri="{FF2B5EF4-FFF2-40B4-BE49-F238E27FC236}">
                <a16:creationId xmlns:a16="http://schemas.microsoft.com/office/drawing/2014/main" id="{DA6F5420-4129-ADA4-C022-212068C1235B}"/>
              </a:ext>
            </a:extLst>
          </p:cNvPr>
          <p:cNvSpPr/>
          <p:nvPr/>
        </p:nvSpPr>
        <p:spPr>
          <a:xfrm>
            <a:off x="2732208" y="3011997"/>
            <a:ext cx="334395" cy="340231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0" name="Oval 199">
            <a:extLst>
              <a:ext uri="{FF2B5EF4-FFF2-40B4-BE49-F238E27FC236}">
                <a16:creationId xmlns:a16="http://schemas.microsoft.com/office/drawing/2014/main" id="{666B8DD4-A9A2-11BB-D8E3-ACE5D73EB563}"/>
              </a:ext>
            </a:extLst>
          </p:cNvPr>
          <p:cNvSpPr/>
          <p:nvPr/>
        </p:nvSpPr>
        <p:spPr>
          <a:xfrm>
            <a:off x="3066604" y="3195788"/>
            <a:ext cx="234377" cy="23846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1" name="Oval 200">
            <a:extLst>
              <a:ext uri="{FF2B5EF4-FFF2-40B4-BE49-F238E27FC236}">
                <a16:creationId xmlns:a16="http://schemas.microsoft.com/office/drawing/2014/main" id="{6C2A928E-D679-5A6A-C13F-55158B040334}"/>
              </a:ext>
            </a:extLst>
          </p:cNvPr>
          <p:cNvSpPr/>
          <p:nvPr/>
        </p:nvSpPr>
        <p:spPr>
          <a:xfrm>
            <a:off x="2338071" y="3332961"/>
            <a:ext cx="234377" cy="23846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A53322C1-FC06-973F-6220-CEB986D16C35}"/>
              </a:ext>
            </a:extLst>
          </p:cNvPr>
          <p:cNvGrpSpPr/>
          <p:nvPr/>
        </p:nvGrpSpPr>
        <p:grpSpPr>
          <a:xfrm>
            <a:off x="7001641" y="3249091"/>
            <a:ext cx="526718" cy="315976"/>
            <a:chOff x="7670861" y="3413010"/>
            <a:chExt cx="609041" cy="359094"/>
          </a:xfrm>
        </p:grpSpPr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A417180C-50E7-477D-1867-59AB01FE5E2F}"/>
                </a:ext>
              </a:extLst>
            </p:cNvPr>
            <p:cNvSpPr/>
            <p:nvPr/>
          </p:nvSpPr>
          <p:spPr>
            <a:xfrm>
              <a:off x="7670861" y="3413010"/>
              <a:ext cx="359094" cy="359094"/>
            </a:xfrm>
            <a:prstGeom prst="ellips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981E3A59-C4E9-56DE-80A7-6AC5A3E50680}"/>
                </a:ext>
              </a:extLst>
            </p:cNvPr>
            <p:cNvSpPr/>
            <p:nvPr/>
          </p:nvSpPr>
          <p:spPr>
            <a:xfrm>
              <a:off x="7781700" y="3413010"/>
              <a:ext cx="359094" cy="359094"/>
            </a:xfrm>
            <a:prstGeom prst="ellipse">
              <a:avLst/>
            </a:prstGeom>
            <a:solidFill>
              <a:srgbClr val="0078D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D60D9227-B45B-05F1-37E3-919491473004}"/>
                </a:ext>
              </a:extLst>
            </p:cNvPr>
            <p:cNvSpPr/>
            <p:nvPr/>
          </p:nvSpPr>
          <p:spPr>
            <a:xfrm>
              <a:off x="7920808" y="3413010"/>
              <a:ext cx="359094" cy="35909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30857058-CCD8-E3F3-5ACC-DED9BEF21AA7}"/>
              </a:ext>
            </a:extLst>
          </p:cNvPr>
          <p:cNvSpPr txBox="1"/>
          <p:nvPr/>
        </p:nvSpPr>
        <p:spPr>
          <a:xfrm>
            <a:off x="6751879" y="3612603"/>
            <a:ext cx="102624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 sz="1200"/>
              <a:t>BUSINESS </a:t>
            </a:r>
            <a:br>
              <a:rPr lang="en-US" sz="1200"/>
            </a:br>
            <a:r>
              <a:rPr lang="en-US" sz="1200"/>
              <a:t>SCENARIOS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4496C202-8911-BCF7-F911-7342D5651BA1}"/>
              </a:ext>
            </a:extLst>
          </p:cNvPr>
          <p:cNvSpPr txBox="1"/>
          <p:nvPr/>
        </p:nvSpPr>
        <p:spPr>
          <a:xfrm>
            <a:off x="1691630" y="1512789"/>
            <a:ext cx="1051357" cy="3334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0" cap="none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rPr>
              <a:t>HORIZON 1</a:t>
            </a:r>
          </a:p>
          <a:p>
            <a:pPr algn="ctr">
              <a:spcAft>
                <a:spcPts val="200"/>
              </a:spcAft>
              <a:defRPr/>
            </a:pPr>
            <a:r>
              <a:rPr lang="en-US" sz="1000" i="1">
                <a:cs typeface="Segoe UI"/>
              </a:rPr>
              <a:t>Productivity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F965DD9D-E2DC-F54B-489E-AFBF2C31F629}"/>
              </a:ext>
            </a:extLst>
          </p:cNvPr>
          <p:cNvSpPr txBox="1"/>
          <p:nvPr/>
        </p:nvSpPr>
        <p:spPr>
          <a:xfrm>
            <a:off x="3057972" y="1512789"/>
            <a:ext cx="1690242" cy="3334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accent3"/>
                </a:solidFill>
                <a:latin typeface="+mj-lt"/>
                <a:cs typeface="Segoe UI"/>
              </a:rPr>
              <a:t>HORIZON 2</a:t>
            </a:r>
          </a:p>
          <a:p>
            <a:pPr algn="ctr">
              <a:spcAft>
                <a:spcPts val="200"/>
              </a:spcAft>
              <a:defRPr/>
            </a:pPr>
            <a:r>
              <a:rPr lang="en-US" sz="1000" i="1">
                <a:cs typeface="Segoe UI"/>
              </a:rPr>
              <a:t>Transformative Experiences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E6B82346-FA38-ECD7-7CD4-8D9487BAB027}"/>
              </a:ext>
            </a:extLst>
          </p:cNvPr>
          <p:cNvSpPr txBox="1"/>
          <p:nvPr/>
        </p:nvSpPr>
        <p:spPr>
          <a:xfrm>
            <a:off x="4753335" y="1522802"/>
            <a:ext cx="1737954" cy="3334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auto" latinLnBrk="0" hangingPunct="1"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000">
                <a:solidFill>
                  <a:schemeClr val="accent3"/>
                </a:solidFill>
                <a:latin typeface="+mj-lt"/>
                <a:cs typeface="Segoe UI"/>
              </a:rPr>
              <a:t>HORIZON 3</a:t>
            </a:r>
          </a:p>
          <a:p>
            <a:pPr algn="ctr">
              <a:spcAft>
                <a:spcPts val="200"/>
              </a:spcAft>
              <a:defRPr/>
            </a:pPr>
            <a:r>
              <a:rPr lang="en-US" sz="1000" i="1">
                <a:cs typeface="Segoe UI"/>
              </a:rPr>
              <a:t>Adaptive Enterprise</a:t>
            </a:r>
          </a:p>
        </p:txBody>
      </p: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B5ED2F8F-AE3D-045B-3EE6-AB2F6569A179}"/>
              </a:ext>
            </a:extLst>
          </p:cNvPr>
          <p:cNvCxnSpPr>
            <a:cxnSpLocks/>
          </p:cNvCxnSpPr>
          <p:nvPr/>
        </p:nvCxnSpPr>
        <p:spPr>
          <a:xfrm>
            <a:off x="1753548" y="2166123"/>
            <a:ext cx="4059379" cy="0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BDF04FA3-2854-1159-FFC0-36E9654A9E05}"/>
              </a:ext>
            </a:extLst>
          </p:cNvPr>
          <p:cNvSpPr txBox="1"/>
          <p:nvPr/>
        </p:nvSpPr>
        <p:spPr>
          <a:xfrm>
            <a:off x="3186287" y="1999222"/>
            <a:ext cx="1444626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>
            <a:defPPr>
              <a:defRPr lang="en-US"/>
            </a:defPPr>
            <a:lvl1pPr algn="ctr">
              <a:defRPr kumimoji="0" sz="1400" b="0" i="0" u="none" strike="noStrike" kern="0" cap="none" spc="0" normalizeH="0" baseline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Segoe UI Semibold" panose="020B0702040204020203" pitchFamily="34" charset="0"/>
                <a:cs typeface="Segoe UI Semibold" panose="020B07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Segoe UI Semibold" panose="020B0702040204020203" pitchFamily="34" charset="0"/>
              </a:rPr>
              <a:t>TIME TO VALUE</a:t>
            </a:r>
          </a:p>
        </p:txBody>
      </p:sp>
      <p:cxnSp>
        <p:nvCxnSpPr>
          <p:cNvPr id="212" name="Straight Arrow Connector 211">
            <a:extLst>
              <a:ext uri="{FF2B5EF4-FFF2-40B4-BE49-F238E27FC236}">
                <a16:creationId xmlns:a16="http://schemas.microsoft.com/office/drawing/2014/main" id="{AB48E9F0-FA50-C724-AAB1-0F78C6D6AE7F}"/>
              </a:ext>
            </a:extLst>
          </p:cNvPr>
          <p:cNvCxnSpPr>
            <a:cxnSpLocks/>
          </p:cNvCxnSpPr>
          <p:nvPr/>
        </p:nvCxnSpPr>
        <p:spPr>
          <a:xfrm flipV="1">
            <a:off x="1492236" y="2166123"/>
            <a:ext cx="0" cy="1613136"/>
          </a:xfrm>
          <a:prstGeom prst="straightConnector1">
            <a:avLst/>
          </a:prstGeom>
          <a:ln w="25400">
            <a:solidFill>
              <a:schemeClr val="bg2">
                <a:lumMod val="75000"/>
              </a:schemeClr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A62F9FBB-4763-23F4-142C-4BC1713CD09D}"/>
              </a:ext>
            </a:extLst>
          </p:cNvPr>
          <p:cNvSpPr txBox="1"/>
          <p:nvPr/>
        </p:nvSpPr>
        <p:spPr>
          <a:xfrm>
            <a:off x="879447" y="2834192"/>
            <a:ext cx="1225578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DISRUPTION</a:t>
            </a:r>
          </a:p>
        </p:txBody>
      </p:sp>
      <p:sp>
        <p:nvSpPr>
          <p:cNvPr id="211" name="Oval 210">
            <a:extLst>
              <a:ext uri="{FF2B5EF4-FFF2-40B4-BE49-F238E27FC236}">
                <a16:creationId xmlns:a16="http://schemas.microsoft.com/office/drawing/2014/main" id="{20E31694-F4E1-DBF3-AA60-B0111968C1C3}"/>
              </a:ext>
            </a:extLst>
          </p:cNvPr>
          <p:cNvSpPr/>
          <p:nvPr/>
        </p:nvSpPr>
        <p:spPr>
          <a:xfrm>
            <a:off x="5273890" y="2984857"/>
            <a:ext cx="348422" cy="35450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6FFAC9F0-DCF2-D853-BC10-C391FB54EF96}"/>
              </a:ext>
            </a:extLst>
          </p:cNvPr>
          <p:cNvSpPr txBox="1"/>
          <p:nvPr/>
        </p:nvSpPr>
        <p:spPr>
          <a:xfrm>
            <a:off x="6778011" y="2663949"/>
            <a:ext cx="973978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 sz="1200"/>
              <a:t>VALUE CREATION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028F3FE8-4788-26A3-D5DE-23604843B517}"/>
              </a:ext>
            </a:extLst>
          </p:cNvPr>
          <p:cNvSpPr txBox="1"/>
          <p:nvPr/>
        </p:nvSpPr>
        <p:spPr>
          <a:xfrm>
            <a:off x="3374640" y="3759347"/>
            <a:ext cx="106792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/>
              <a:t>ROADMAP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E976D6A-693B-4382-9BE3-8F85B75232C3}"/>
              </a:ext>
            </a:extLst>
          </p:cNvPr>
          <p:cNvSpPr>
            <a:spLocks/>
          </p:cNvSpPr>
          <p:nvPr/>
        </p:nvSpPr>
        <p:spPr bwMode="auto">
          <a:xfrm>
            <a:off x="722122" y="4268106"/>
            <a:ext cx="2290319" cy="1975722"/>
          </a:xfrm>
          <a:prstGeom prst="roundRect">
            <a:avLst>
              <a:gd name="adj" fmla="val 3600"/>
            </a:avLst>
          </a:prstGeom>
          <a:solidFill>
            <a:schemeClr val="accent5">
              <a:lumMod val="20000"/>
              <a:lumOff val="80000"/>
              <a:alpha val="4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IN" sz="4000">
              <a:solidFill>
                <a:schemeClr val="accent3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0B66CC9-2BEC-1564-E328-8A733F9590C9}"/>
              </a:ext>
            </a:extLst>
          </p:cNvPr>
          <p:cNvSpPr>
            <a:spLocks/>
          </p:cNvSpPr>
          <p:nvPr/>
        </p:nvSpPr>
        <p:spPr bwMode="auto">
          <a:xfrm>
            <a:off x="3131313" y="4268106"/>
            <a:ext cx="2290319" cy="1975722"/>
          </a:xfrm>
          <a:prstGeom prst="roundRect">
            <a:avLst>
              <a:gd name="adj" fmla="val 3600"/>
            </a:avLst>
          </a:prstGeom>
          <a:solidFill>
            <a:schemeClr val="accent3">
              <a:lumMod val="40000"/>
              <a:lumOff val="60000"/>
              <a:alpha val="4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IN" sz="4000">
              <a:solidFill>
                <a:schemeClr val="accent3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C6C4649-D57E-6816-751B-B4A54E68D08B}"/>
              </a:ext>
            </a:extLst>
          </p:cNvPr>
          <p:cNvSpPr>
            <a:spLocks/>
          </p:cNvSpPr>
          <p:nvPr/>
        </p:nvSpPr>
        <p:spPr bwMode="auto">
          <a:xfrm>
            <a:off x="5540504" y="4268106"/>
            <a:ext cx="2290319" cy="1975722"/>
          </a:xfrm>
          <a:prstGeom prst="roundRect">
            <a:avLst>
              <a:gd name="adj" fmla="val 3600"/>
            </a:avLst>
          </a:prstGeom>
          <a:solidFill>
            <a:schemeClr val="accent2">
              <a:lumMod val="20000"/>
              <a:lumOff val="80000"/>
              <a:alpha val="42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IN" sz="4000">
              <a:solidFill>
                <a:schemeClr val="accent3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58FA435-8C44-6C26-3359-7206F6115C14}"/>
              </a:ext>
            </a:extLst>
          </p:cNvPr>
          <p:cNvSpPr>
            <a:spLocks/>
          </p:cNvSpPr>
          <p:nvPr/>
        </p:nvSpPr>
        <p:spPr bwMode="auto">
          <a:xfrm>
            <a:off x="767842" y="4313826"/>
            <a:ext cx="2198199" cy="251824"/>
          </a:xfrm>
          <a:prstGeom prst="roundRect">
            <a:avLst/>
          </a:prstGeom>
          <a:solidFill>
            <a:schemeClr val="bg1">
              <a:alpha val="70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8900" tIns="38100" rIns="889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H1: Productivity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36B723B-081C-698B-A722-7B4D610DD959}"/>
              </a:ext>
            </a:extLst>
          </p:cNvPr>
          <p:cNvSpPr>
            <a:spLocks/>
          </p:cNvSpPr>
          <p:nvPr/>
        </p:nvSpPr>
        <p:spPr bwMode="auto">
          <a:xfrm>
            <a:off x="3177373" y="4313826"/>
            <a:ext cx="2198199" cy="251824"/>
          </a:xfrm>
          <a:prstGeom prst="roundRect">
            <a:avLst/>
          </a:prstGeom>
          <a:solidFill>
            <a:schemeClr val="bg1">
              <a:alpha val="70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8900" tIns="38100" rIns="889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H2: Transformative Experiences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738085E-E961-18A8-D8D4-BE32B01E2366}"/>
              </a:ext>
            </a:extLst>
          </p:cNvPr>
          <p:cNvSpPr>
            <a:spLocks/>
          </p:cNvSpPr>
          <p:nvPr/>
        </p:nvSpPr>
        <p:spPr bwMode="auto">
          <a:xfrm>
            <a:off x="5586564" y="4313826"/>
            <a:ext cx="2198199" cy="251824"/>
          </a:xfrm>
          <a:prstGeom prst="roundRect">
            <a:avLst/>
          </a:prstGeom>
          <a:solidFill>
            <a:schemeClr val="bg1">
              <a:alpha val="70000"/>
            </a:schemeClr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88900" tIns="38100" rIns="88900" bIns="381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H3: Adaptive Enterprise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63D9A29-7376-C0D2-5400-0F1F01061510}"/>
              </a:ext>
            </a:extLst>
          </p:cNvPr>
          <p:cNvSpPr/>
          <p:nvPr/>
        </p:nvSpPr>
        <p:spPr>
          <a:xfrm>
            <a:off x="771732" y="4606602"/>
            <a:ext cx="2198199" cy="1256754"/>
          </a:xfrm>
          <a:prstGeom prst="rect">
            <a:avLst/>
          </a:prstGeom>
        </p:spPr>
        <p:txBody>
          <a:bodyPr wrap="square" lIns="45720" tIns="0" rIns="45720" bIns="0" anchor="t">
            <a:spAutoFit/>
          </a:bodyPr>
          <a:lstStyle/>
          <a:p>
            <a:pPr marL="138113" marR="0" lvl="0" indent="-13811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Get your </a:t>
            </a:r>
            <a:r>
              <a:rPr lang="en-US" altLang="en-US" sz="1000">
                <a:latin typeface="+mj-lt"/>
                <a:cs typeface="Segoe UI"/>
              </a:rPr>
              <a:t>data estate </a:t>
            </a: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AI-ready and scale your cloud analytics</a:t>
            </a:r>
          </a:p>
          <a:p>
            <a:pPr marL="138113" marR="0" lvl="0" indent="-13811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Use generative capabilities to streamline or augment rules-based, </a:t>
            </a:r>
            <a:r>
              <a:rPr lang="en-US" altLang="en-US" sz="1000">
                <a:latin typeface="+mj-lt"/>
                <a:cs typeface="Segoe UI"/>
              </a:rPr>
              <a:t>content-driven processes </a:t>
            </a:r>
          </a:p>
          <a:p>
            <a:pPr marL="138113" marR="0" lvl="0" indent="-13811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Empower all employees with </a:t>
            </a:r>
            <a:r>
              <a:rPr kumimoji="0" lang="en-US" altLang="en-US" sz="100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Segoe UI"/>
              </a:rPr>
              <a:t>built-in AI copilots</a:t>
            </a: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 for modern work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720B205-D7E8-1127-A9FA-7BB6591F3D9C}"/>
              </a:ext>
            </a:extLst>
          </p:cNvPr>
          <p:cNvSpPr/>
          <p:nvPr/>
        </p:nvSpPr>
        <p:spPr>
          <a:xfrm>
            <a:off x="3177373" y="4606602"/>
            <a:ext cx="2198199" cy="1038746"/>
          </a:xfrm>
          <a:prstGeom prst="rect">
            <a:avLst/>
          </a:prstGeom>
        </p:spPr>
        <p:txBody>
          <a:bodyPr wrap="square" lIns="45720" tIns="0" rIns="45720" bIns="0" anchor="t">
            <a:spAutoFit/>
          </a:bodyPr>
          <a:lstStyle/>
          <a:p>
            <a:pPr marL="138113" marR="0" lvl="0" indent="-13811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000">
                <a:latin typeface="+mj-lt"/>
                <a:cs typeface="Segoe UI"/>
              </a:rPr>
              <a:t>Reimagine consumer shopping and support </a:t>
            </a: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journeys with deeply personalized AI assistants</a:t>
            </a:r>
          </a:p>
          <a:p>
            <a:pPr marL="138113" marR="0" lvl="0" indent="-13811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Build your own </a:t>
            </a:r>
            <a:r>
              <a:rPr lang="en-US" altLang="en-US" sz="1000">
                <a:latin typeface="+mj-lt"/>
                <a:cs typeface="Segoe UI"/>
              </a:rPr>
              <a:t>persona-based AI copilots</a:t>
            </a: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 for operations and frontline workers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ABAEB12-A3CF-D259-0533-B6C1740DFBE3}"/>
              </a:ext>
            </a:extLst>
          </p:cNvPr>
          <p:cNvSpPr/>
          <p:nvPr/>
        </p:nvSpPr>
        <p:spPr>
          <a:xfrm>
            <a:off x="5586564" y="4606602"/>
            <a:ext cx="2198199" cy="1564531"/>
          </a:xfrm>
          <a:prstGeom prst="rect">
            <a:avLst/>
          </a:prstGeom>
        </p:spPr>
        <p:txBody>
          <a:bodyPr wrap="square" lIns="45720" tIns="0" rIns="45720" bIns="0" anchor="t">
            <a:spAutoFit/>
          </a:bodyPr>
          <a:lstStyle/>
          <a:p>
            <a:pPr marL="138113" marR="0" lvl="0" indent="-13811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Deploy lifelong learning, adaptive agents for </a:t>
            </a:r>
            <a:r>
              <a:rPr lang="en-US" altLang="en-US" sz="1000">
                <a:latin typeface="+mj-lt"/>
                <a:cs typeface="Segoe UI"/>
              </a:rPr>
              <a:t>autonomous operations</a:t>
            </a:r>
          </a:p>
          <a:p>
            <a:pPr marL="138113" marR="0" lvl="0" indent="-13811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Expand partnerships and business integrations through </a:t>
            </a:r>
            <a:r>
              <a:rPr lang="en-US" altLang="en-US" sz="1000">
                <a:latin typeface="+mj-lt"/>
                <a:cs typeface="Segoe UI"/>
              </a:rPr>
              <a:t>new AI ecosystems </a:t>
            </a:r>
          </a:p>
          <a:p>
            <a:pPr marL="138113" marR="0" lvl="0" indent="-138113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Develop new revenue streams and growth </a:t>
            </a:r>
            <a:r>
              <a:rPr lang="en-US" altLang="en-US" sz="1000">
                <a:latin typeface="+mj-lt"/>
                <a:cs typeface="Segoe UI"/>
              </a:rPr>
              <a:t>business models </a:t>
            </a:r>
            <a:r>
              <a:rPr kumimoji="0" lang="en-US" altLang="en-US" sz="10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/>
              </a:rPr>
              <a:t>around natural language computing</a:t>
            </a: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7CCD5113-DD83-E267-9FAA-DAD501CABB10}"/>
              </a:ext>
            </a:extLst>
          </p:cNvPr>
          <p:cNvSpPr txBox="1"/>
          <p:nvPr/>
        </p:nvSpPr>
        <p:spPr>
          <a:xfrm>
            <a:off x="6862376" y="2028005"/>
            <a:ext cx="805249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+mj-lt"/>
                <a:cs typeface="Segoe UI Semibold" panose="020B0702040204020203" pitchFamily="34" charset="0"/>
              </a:defRPr>
            </a:lvl1pPr>
          </a:lstStyle>
          <a:p>
            <a:r>
              <a:rPr lang="en-US" sz="1200"/>
              <a:t>NORTH</a:t>
            </a:r>
            <a:br>
              <a:rPr lang="en-US" sz="1200"/>
            </a:br>
            <a:r>
              <a:rPr lang="en-US" sz="1200"/>
              <a:t>STAR</a:t>
            </a:r>
          </a:p>
        </p:txBody>
      </p:sp>
      <p:sp>
        <p:nvSpPr>
          <p:cNvPr id="5" name="Graphic 209" descr="Badge New with solid fill">
            <a:extLst>
              <a:ext uri="{FF2B5EF4-FFF2-40B4-BE49-F238E27FC236}">
                <a16:creationId xmlns:a16="http://schemas.microsoft.com/office/drawing/2014/main" id="{E12AF5A6-F6B6-B1DF-8544-A16D22829A9E}"/>
              </a:ext>
            </a:extLst>
          </p:cNvPr>
          <p:cNvSpPr/>
          <p:nvPr/>
        </p:nvSpPr>
        <p:spPr>
          <a:xfrm>
            <a:off x="6341697" y="2011271"/>
            <a:ext cx="444897" cy="452663"/>
          </a:xfrm>
          <a:custGeom>
            <a:avLst/>
            <a:gdLst>
              <a:gd name="connsiteX0" fmla="*/ 222449 w 444897"/>
              <a:gd name="connsiteY0" fmla="*/ 0 h 452663"/>
              <a:gd name="connsiteX1" fmla="*/ 0 w 444897"/>
              <a:gd name="connsiteY1" fmla="*/ 226332 h 452663"/>
              <a:gd name="connsiteX2" fmla="*/ 222449 w 444897"/>
              <a:gd name="connsiteY2" fmla="*/ 452663 h 452663"/>
              <a:gd name="connsiteX3" fmla="*/ 444898 w 444897"/>
              <a:gd name="connsiteY3" fmla="*/ 226332 h 452663"/>
              <a:gd name="connsiteX4" fmla="*/ 222449 w 444897"/>
              <a:gd name="connsiteY4" fmla="*/ 0 h 452663"/>
              <a:gd name="connsiteX5" fmla="*/ 311867 w 444897"/>
              <a:gd name="connsiteY5" fmla="*/ 351410 h 452663"/>
              <a:gd name="connsiteX6" fmla="*/ 222449 w 444897"/>
              <a:gd name="connsiteY6" fmla="*/ 288424 h 452663"/>
              <a:gd name="connsiteX7" fmla="*/ 133019 w 444897"/>
              <a:gd name="connsiteY7" fmla="*/ 351410 h 452663"/>
              <a:gd name="connsiteX8" fmla="*/ 163968 w 444897"/>
              <a:gd name="connsiteY8" fmla="*/ 246433 h 452663"/>
              <a:gd name="connsiteX9" fmla="*/ 84882 w 444897"/>
              <a:gd name="connsiteY9" fmla="*/ 176449 h 452663"/>
              <a:gd name="connsiteX10" fmla="*/ 188045 w 444897"/>
              <a:gd name="connsiteY10" fmla="*/ 176449 h 452663"/>
              <a:gd name="connsiteX11" fmla="*/ 222449 w 444897"/>
              <a:gd name="connsiteY11" fmla="*/ 71473 h 452663"/>
              <a:gd name="connsiteX12" fmla="*/ 256829 w 444897"/>
              <a:gd name="connsiteY12" fmla="*/ 176449 h 452663"/>
              <a:gd name="connsiteX13" fmla="*/ 360016 w 444897"/>
              <a:gd name="connsiteY13" fmla="*/ 176449 h 452663"/>
              <a:gd name="connsiteX14" fmla="*/ 280900 w 444897"/>
              <a:gd name="connsiteY14" fmla="*/ 246433 h 452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4897" h="452663">
                <a:moveTo>
                  <a:pt x="222449" y="0"/>
                </a:moveTo>
                <a:cubicBezTo>
                  <a:pt x="99594" y="0"/>
                  <a:pt x="0" y="101332"/>
                  <a:pt x="0" y="226332"/>
                </a:cubicBezTo>
                <a:cubicBezTo>
                  <a:pt x="0" y="351331"/>
                  <a:pt x="99594" y="452663"/>
                  <a:pt x="222449" y="452663"/>
                </a:cubicBezTo>
                <a:cubicBezTo>
                  <a:pt x="345304" y="452663"/>
                  <a:pt x="444898" y="351331"/>
                  <a:pt x="444898" y="226332"/>
                </a:cubicBezTo>
                <a:cubicBezTo>
                  <a:pt x="444898" y="101332"/>
                  <a:pt x="345304" y="0"/>
                  <a:pt x="222449" y="0"/>
                </a:cubicBezTo>
                <a:close/>
                <a:moveTo>
                  <a:pt x="311867" y="351410"/>
                </a:moveTo>
                <a:lnTo>
                  <a:pt x="222449" y="288424"/>
                </a:lnTo>
                <a:lnTo>
                  <a:pt x="133019" y="351410"/>
                </a:lnTo>
                <a:lnTo>
                  <a:pt x="163968" y="246433"/>
                </a:lnTo>
                <a:lnTo>
                  <a:pt x="84882" y="176449"/>
                </a:lnTo>
                <a:lnTo>
                  <a:pt x="188045" y="176449"/>
                </a:lnTo>
                <a:lnTo>
                  <a:pt x="222449" y="71473"/>
                </a:lnTo>
                <a:lnTo>
                  <a:pt x="256829" y="176449"/>
                </a:lnTo>
                <a:lnTo>
                  <a:pt x="360016" y="176449"/>
                </a:lnTo>
                <a:lnTo>
                  <a:pt x="280900" y="246433"/>
                </a:lnTo>
                <a:close/>
              </a:path>
            </a:pathLst>
          </a:custGeom>
          <a:solidFill>
            <a:srgbClr val="FF5C3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IN" sz="2400">
              <a:solidFill>
                <a:srgbClr val="FFFFFF"/>
              </a:solidFill>
              <a:latin typeface="Segoe Sans Display Semibold"/>
              <a:cs typeface="Segoe UI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9C8670-7CB9-8CFA-C96D-E56F8202A7EC}"/>
              </a:ext>
            </a:extLst>
          </p:cNvPr>
          <p:cNvSpPr txBox="1">
            <a:spLocks/>
          </p:cNvSpPr>
          <p:nvPr/>
        </p:nvSpPr>
        <p:spPr>
          <a:xfrm>
            <a:off x="8460891" y="1589374"/>
            <a:ext cx="3169133" cy="36929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329184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Program Vision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F078848-0964-A2A3-D1D1-36317A9343E0}"/>
              </a:ext>
            </a:extLst>
          </p:cNvPr>
          <p:cNvSpPr/>
          <p:nvPr/>
        </p:nvSpPr>
        <p:spPr bwMode="auto">
          <a:xfrm>
            <a:off x="8225918" y="1529887"/>
            <a:ext cx="488264" cy="48826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76200" dir="3600000" sx="90000" sy="90000" algn="tr" rotWithShape="0">
              <a:schemeClr val="bg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85B1A41-E942-9592-3483-A696B0A08D4B}"/>
              </a:ext>
            </a:extLst>
          </p:cNvPr>
          <p:cNvSpPr txBox="1">
            <a:spLocks/>
          </p:cNvSpPr>
          <p:nvPr/>
        </p:nvSpPr>
        <p:spPr>
          <a:xfrm>
            <a:off x="8810624" y="2062519"/>
            <a:ext cx="277812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Define a clear vision and strategic targets outcomes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816C38-FF00-9DF2-897C-3A8785EA51F3}"/>
              </a:ext>
            </a:extLst>
          </p:cNvPr>
          <p:cNvSpPr txBox="1">
            <a:spLocks/>
          </p:cNvSpPr>
          <p:nvPr/>
        </p:nvSpPr>
        <p:spPr>
          <a:xfrm>
            <a:off x="8470416" y="2804392"/>
            <a:ext cx="3159608" cy="36929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329184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Impact and Scale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8C04982-9ED3-536A-7035-9A9085DF38DB}"/>
              </a:ext>
            </a:extLst>
          </p:cNvPr>
          <p:cNvSpPr/>
          <p:nvPr/>
        </p:nvSpPr>
        <p:spPr bwMode="auto">
          <a:xfrm>
            <a:off x="8235443" y="2744906"/>
            <a:ext cx="488264" cy="48826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76200" dir="3600000" sx="90000" sy="90000" algn="tr" rotWithShape="0">
              <a:schemeClr val="bg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657C0A-97A1-0EDF-7B48-23461584BC3C}"/>
              </a:ext>
            </a:extLst>
          </p:cNvPr>
          <p:cNvSpPr txBox="1">
            <a:spLocks/>
          </p:cNvSpPr>
          <p:nvPr/>
        </p:nvSpPr>
        <p:spPr>
          <a:xfrm>
            <a:off x="8810624" y="3277537"/>
            <a:ext cx="2778127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Set clear value realization goals and AI adoption metrics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A44013-7AF0-FECB-7AF8-29E29268921B}"/>
              </a:ext>
            </a:extLst>
          </p:cNvPr>
          <p:cNvSpPr txBox="1">
            <a:spLocks/>
          </p:cNvSpPr>
          <p:nvPr/>
        </p:nvSpPr>
        <p:spPr>
          <a:xfrm>
            <a:off x="8470416" y="4019410"/>
            <a:ext cx="3159608" cy="36929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329184" tIns="45720" rIns="91440" bIns="4572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normalizeH="0" baseline="0" noProof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Governance</a:t>
            </a:r>
          </a:p>
        </p:txBody>
      </p:sp>
      <p:sp>
        <p:nvSpPr>
          <p:cNvPr id="128" name="Oval 127">
            <a:extLst>
              <a:ext uri="{FF2B5EF4-FFF2-40B4-BE49-F238E27FC236}">
                <a16:creationId xmlns:a16="http://schemas.microsoft.com/office/drawing/2014/main" id="{F3B1A215-B0FC-C28D-EF45-FD960A834C06}"/>
              </a:ext>
            </a:extLst>
          </p:cNvPr>
          <p:cNvSpPr/>
          <p:nvPr/>
        </p:nvSpPr>
        <p:spPr bwMode="auto">
          <a:xfrm>
            <a:off x="8235443" y="3959924"/>
            <a:ext cx="488264" cy="48826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76200" dir="3600000" sx="90000" sy="90000" algn="tr" rotWithShape="0">
              <a:schemeClr val="bg2">
                <a:lumMod val="50000"/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800" err="1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3C3871B-AF68-F172-CACA-7F9BFF2BE5A1}"/>
              </a:ext>
            </a:extLst>
          </p:cNvPr>
          <p:cNvSpPr txBox="1">
            <a:spLocks/>
          </p:cNvSpPr>
          <p:nvPr/>
        </p:nvSpPr>
        <p:spPr>
          <a:xfrm>
            <a:off x="8810624" y="4492555"/>
            <a:ext cx="2778127" cy="16209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AI Leadership Council</a:t>
            </a:r>
          </a:p>
          <a:p>
            <a:pPr marL="0" marR="0" lvl="0" indent="0" algn="l" defTabSz="914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Governed muti-year program</a:t>
            </a:r>
          </a:p>
          <a:p>
            <a:pPr marL="0" marR="0" lvl="0" indent="0" algn="l" defTabSz="914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AI Innovation Office</a:t>
            </a:r>
          </a:p>
          <a:p>
            <a:pPr marL="0" marR="0" lvl="0" indent="0" algn="l" defTabSz="914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Responsible AI practices enterprise-wide</a:t>
            </a:r>
          </a:p>
          <a:p>
            <a:pPr marL="0" marR="0" lvl="0" indent="0" algn="l" defTabSz="914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Talent upskilling program</a:t>
            </a:r>
          </a:p>
          <a:p>
            <a:pPr marL="0" marR="0" lvl="0" indent="0" algn="l" defTabSz="914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Segoe UI" panose="020B0502040204020203" pitchFamily="34" charset="0"/>
              </a:rPr>
              <a:t>AI migration/retrofitting</a:t>
            </a:r>
          </a:p>
        </p:txBody>
      </p:sp>
      <p:cxnSp>
        <p:nvCxnSpPr>
          <p:cNvPr id="131" name="Connector: Elbow 130">
            <a:extLst>
              <a:ext uri="{FF2B5EF4-FFF2-40B4-BE49-F238E27FC236}">
                <a16:creationId xmlns:a16="http://schemas.microsoft.com/office/drawing/2014/main" id="{13D29B8A-9828-89FE-532E-1A1B0F053FE3}"/>
              </a:ext>
            </a:extLst>
          </p:cNvPr>
          <p:cNvCxnSpPr>
            <a:cxnSpLocks/>
            <a:stCxn id="207" idx="3"/>
            <a:endCxn id="34" idx="2"/>
          </p:cNvCxnSpPr>
          <p:nvPr/>
        </p:nvCxnSpPr>
        <p:spPr>
          <a:xfrm flipV="1">
            <a:off x="7667625" y="1774019"/>
            <a:ext cx="558293" cy="438652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  <a:headEnd type="none" w="med" len="med"/>
            <a:tailEnd type="arrow" w="med" len="sm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134" name="Connector: Elbow 133">
            <a:extLst>
              <a:ext uri="{FF2B5EF4-FFF2-40B4-BE49-F238E27FC236}">
                <a16:creationId xmlns:a16="http://schemas.microsoft.com/office/drawing/2014/main" id="{5FEB9561-D2F5-D354-9A58-3A81AC3BF828}"/>
              </a:ext>
            </a:extLst>
          </p:cNvPr>
          <p:cNvCxnSpPr>
            <a:cxnSpLocks/>
            <a:stCxn id="177" idx="3"/>
            <a:endCxn id="43" idx="2"/>
          </p:cNvCxnSpPr>
          <p:nvPr/>
        </p:nvCxnSpPr>
        <p:spPr>
          <a:xfrm>
            <a:off x="7751989" y="2848615"/>
            <a:ext cx="483454" cy="140423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  <a:headEnd type="none" w="med" len="med"/>
            <a:tailEnd type="arrow" w="med" len="sm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76F9BBE9-7A22-608C-D571-2E15F98ADE5F}"/>
              </a:ext>
            </a:extLst>
          </p:cNvPr>
          <p:cNvCxnSpPr>
            <a:cxnSpLocks/>
            <a:stCxn id="203" idx="3"/>
            <a:endCxn id="128" idx="2"/>
          </p:cNvCxnSpPr>
          <p:nvPr/>
        </p:nvCxnSpPr>
        <p:spPr>
          <a:xfrm>
            <a:off x="7778121" y="3843436"/>
            <a:ext cx="457322" cy="360620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chemeClr val="bg1">
                <a:lumMod val="75000"/>
              </a:schemeClr>
            </a:solidFill>
            <a:headEnd type="none" w="med" len="med"/>
            <a:tailEnd type="arrow" w="med" len="sm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cxnSp>
      <p:sp>
        <p:nvSpPr>
          <p:cNvPr id="149" name="Graphic 87" descr="Icon of a lightbulb">
            <a:extLst>
              <a:ext uri="{FF2B5EF4-FFF2-40B4-BE49-F238E27FC236}">
                <a16:creationId xmlns:a16="http://schemas.microsoft.com/office/drawing/2014/main" id="{05A9B56A-400F-1C2F-21C9-2BEA58A5C29F}"/>
              </a:ext>
            </a:extLst>
          </p:cNvPr>
          <p:cNvSpPr/>
          <p:nvPr/>
        </p:nvSpPr>
        <p:spPr>
          <a:xfrm>
            <a:off x="8366635" y="1631388"/>
            <a:ext cx="206830" cy="285263"/>
          </a:xfrm>
          <a:custGeom>
            <a:avLst/>
            <a:gdLst>
              <a:gd name="connsiteX0" fmla="*/ 98602 w 219958"/>
              <a:gd name="connsiteY0" fmla="*/ 72052 h 303370"/>
              <a:gd name="connsiteX1" fmla="*/ 109979 w 219958"/>
              <a:gd name="connsiteY1" fmla="*/ 60675 h 303370"/>
              <a:gd name="connsiteX2" fmla="*/ 121357 w 219958"/>
              <a:gd name="connsiteY2" fmla="*/ 72052 h 303370"/>
              <a:gd name="connsiteX3" fmla="*/ 121357 w 219958"/>
              <a:gd name="connsiteY3" fmla="*/ 94807 h 303370"/>
              <a:gd name="connsiteX4" fmla="*/ 109979 w 219958"/>
              <a:gd name="connsiteY4" fmla="*/ 106184 h 303370"/>
              <a:gd name="connsiteX5" fmla="*/ 98602 w 219958"/>
              <a:gd name="connsiteY5" fmla="*/ 94807 h 303370"/>
              <a:gd name="connsiteX6" fmla="*/ 98602 w 219958"/>
              <a:gd name="connsiteY6" fmla="*/ 72052 h 303370"/>
              <a:gd name="connsiteX7" fmla="*/ 174910 w 219958"/>
              <a:gd name="connsiteY7" fmla="*/ 94280 h 303370"/>
              <a:gd name="connsiteX8" fmla="*/ 158821 w 219958"/>
              <a:gd name="connsiteY8" fmla="*/ 94280 h 303370"/>
              <a:gd name="connsiteX9" fmla="*/ 142731 w 219958"/>
              <a:gd name="connsiteY9" fmla="*/ 110370 h 303370"/>
              <a:gd name="connsiteX10" fmla="*/ 142731 w 219958"/>
              <a:gd name="connsiteY10" fmla="*/ 126460 h 303370"/>
              <a:gd name="connsiteX11" fmla="*/ 158821 w 219958"/>
              <a:gd name="connsiteY11" fmla="*/ 126460 h 303370"/>
              <a:gd name="connsiteX12" fmla="*/ 174910 w 219958"/>
              <a:gd name="connsiteY12" fmla="*/ 110370 h 303370"/>
              <a:gd name="connsiteX13" fmla="*/ 174910 w 219958"/>
              <a:gd name="connsiteY13" fmla="*/ 94280 h 303370"/>
              <a:gd name="connsiteX14" fmla="*/ 61138 w 219958"/>
              <a:gd name="connsiteY14" fmla="*/ 94280 h 303370"/>
              <a:gd name="connsiteX15" fmla="*/ 45049 w 219958"/>
              <a:gd name="connsiteY15" fmla="*/ 94280 h 303370"/>
              <a:gd name="connsiteX16" fmla="*/ 45049 w 219958"/>
              <a:gd name="connsiteY16" fmla="*/ 110370 h 303370"/>
              <a:gd name="connsiteX17" fmla="*/ 61139 w 219958"/>
              <a:gd name="connsiteY17" fmla="*/ 126460 h 303370"/>
              <a:gd name="connsiteX18" fmla="*/ 77228 w 219958"/>
              <a:gd name="connsiteY18" fmla="*/ 126460 h 303370"/>
              <a:gd name="connsiteX19" fmla="*/ 77228 w 219958"/>
              <a:gd name="connsiteY19" fmla="*/ 110370 h 303370"/>
              <a:gd name="connsiteX20" fmla="*/ 61138 w 219958"/>
              <a:gd name="connsiteY20" fmla="*/ 94280 h 303370"/>
              <a:gd name="connsiteX21" fmla="*/ 109979 w 219958"/>
              <a:gd name="connsiteY21" fmla="*/ 0 h 303370"/>
              <a:gd name="connsiteX22" fmla="*/ 219959 w 219958"/>
              <a:gd name="connsiteY22" fmla="*/ 109979 h 303370"/>
              <a:gd name="connsiteX23" fmla="*/ 179561 w 219958"/>
              <a:gd name="connsiteY23" fmla="*/ 197082 h 303370"/>
              <a:gd name="connsiteX24" fmla="*/ 176905 w 219958"/>
              <a:gd name="connsiteY24" fmla="*/ 201107 h 303370"/>
              <a:gd name="connsiteX25" fmla="*/ 176428 w 219958"/>
              <a:gd name="connsiteY25" fmla="*/ 202658 h 303370"/>
              <a:gd name="connsiteX26" fmla="*/ 159270 w 219958"/>
              <a:gd name="connsiteY26" fmla="*/ 276923 h 303370"/>
              <a:gd name="connsiteX27" fmla="*/ 128641 w 219958"/>
              <a:gd name="connsiteY27" fmla="*/ 303271 h 303370"/>
              <a:gd name="connsiteX28" fmla="*/ 126014 w 219958"/>
              <a:gd name="connsiteY28" fmla="*/ 303371 h 303370"/>
              <a:gd name="connsiteX29" fmla="*/ 93950 w 219958"/>
              <a:gd name="connsiteY29" fmla="*/ 303371 h 303370"/>
              <a:gd name="connsiteX30" fmla="*/ 61381 w 219958"/>
              <a:gd name="connsiteY30" fmla="*/ 279451 h 303370"/>
              <a:gd name="connsiteX31" fmla="*/ 60692 w 219958"/>
              <a:gd name="connsiteY31" fmla="*/ 276913 h 303370"/>
              <a:gd name="connsiteX32" fmla="*/ 43557 w 219958"/>
              <a:gd name="connsiteY32" fmla="*/ 202661 h 303370"/>
              <a:gd name="connsiteX33" fmla="*/ 40420 w 219958"/>
              <a:gd name="connsiteY33" fmla="*/ 197081 h 303370"/>
              <a:gd name="connsiteX34" fmla="*/ 93 w 219958"/>
              <a:gd name="connsiteY34" fmla="*/ 114504 h 303370"/>
              <a:gd name="connsiteX35" fmla="*/ 0 w 219958"/>
              <a:gd name="connsiteY35" fmla="*/ 109979 h 303370"/>
              <a:gd name="connsiteX36" fmla="*/ 59 w 219958"/>
              <a:gd name="connsiteY36" fmla="*/ 106349 h 303370"/>
              <a:gd name="connsiteX37" fmla="*/ 109979 w 219958"/>
              <a:gd name="connsiteY37" fmla="*/ 0 h 303370"/>
              <a:gd name="connsiteX38" fmla="*/ 142063 w 219958"/>
              <a:gd name="connsiteY38" fmla="*/ 250268 h 303370"/>
              <a:gd name="connsiteX39" fmla="*/ 77881 w 219958"/>
              <a:gd name="connsiteY39" fmla="*/ 250268 h 303370"/>
              <a:gd name="connsiteX40" fmla="*/ 82864 w 219958"/>
              <a:gd name="connsiteY40" fmla="*/ 271797 h 303370"/>
              <a:gd name="connsiteX41" fmla="*/ 92384 w 219958"/>
              <a:gd name="connsiteY41" fmla="*/ 280509 h 303370"/>
              <a:gd name="connsiteX42" fmla="*/ 93950 w 219958"/>
              <a:gd name="connsiteY42" fmla="*/ 280616 h 303370"/>
              <a:gd name="connsiteX43" fmla="*/ 126014 w 219958"/>
              <a:gd name="connsiteY43" fmla="*/ 280616 h 303370"/>
              <a:gd name="connsiteX44" fmla="*/ 136643 w 219958"/>
              <a:gd name="connsiteY44" fmla="*/ 273302 h 303370"/>
              <a:gd name="connsiteX45" fmla="*/ 137100 w 219958"/>
              <a:gd name="connsiteY45" fmla="*/ 271800 h 303370"/>
              <a:gd name="connsiteX46" fmla="*/ 142063 w 219958"/>
              <a:gd name="connsiteY46" fmla="*/ 250268 h 303370"/>
              <a:gd name="connsiteX47" fmla="*/ 109979 w 219958"/>
              <a:gd name="connsiteY47" fmla="*/ 22754 h 303370"/>
              <a:gd name="connsiteX48" fmla="*/ 22817 w 219958"/>
              <a:gd name="connsiteY48" fmla="*/ 106634 h 303370"/>
              <a:gd name="connsiteX49" fmla="*/ 22754 w 219958"/>
              <a:gd name="connsiteY49" fmla="*/ 109979 h 303370"/>
              <a:gd name="connsiteX50" fmla="*/ 22856 w 219958"/>
              <a:gd name="connsiteY50" fmla="*/ 114182 h 303370"/>
              <a:gd name="connsiteX51" fmla="*/ 56319 w 219958"/>
              <a:gd name="connsiteY51" fmla="*/ 180802 h 303370"/>
              <a:gd name="connsiteX52" fmla="*/ 64990 w 219958"/>
              <a:gd name="connsiteY52" fmla="*/ 194854 h 303370"/>
              <a:gd name="connsiteX53" fmla="*/ 65728 w 219958"/>
              <a:gd name="connsiteY53" fmla="*/ 197546 h 303370"/>
              <a:gd name="connsiteX54" fmla="*/ 72632 w 219958"/>
              <a:gd name="connsiteY54" fmla="*/ 227514 h 303370"/>
              <a:gd name="connsiteX55" fmla="*/ 98602 w 219958"/>
              <a:gd name="connsiteY55" fmla="*/ 227514 h 303370"/>
              <a:gd name="connsiteX56" fmla="*/ 98602 w 219958"/>
              <a:gd name="connsiteY56" fmla="*/ 132724 h 303370"/>
              <a:gd name="connsiteX57" fmla="*/ 109979 w 219958"/>
              <a:gd name="connsiteY57" fmla="*/ 121346 h 303370"/>
              <a:gd name="connsiteX58" fmla="*/ 121357 w 219958"/>
              <a:gd name="connsiteY58" fmla="*/ 132724 h 303370"/>
              <a:gd name="connsiteX59" fmla="*/ 121357 w 219958"/>
              <a:gd name="connsiteY59" fmla="*/ 227514 h 303370"/>
              <a:gd name="connsiteX60" fmla="*/ 147312 w 219958"/>
              <a:gd name="connsiteY60" fmla="*/ 227514 h 303370"/>
              <a:gd name="connsiteX61" fmla="*/ 154258 w 219958"/>
              <a:gd name="connsiteY61" fmla="*/ 197536 h 303370"/>
              <a:gd name="connsiteX62" fmla="*/ 161744 w 219958"/>
              <a:gd name="connsiteY62" fmla="*/ 182838 h 303370"/>
              <a:gd name="connsiteX63" fmla="*/ 163659 w 219958"/>
              <a:gd name="connsiteY63" fmla="*/ 180808 h 303370"/>
              <a:gd name="connsiteX64" fmla="*/ 197103 w 219958"/>
              <a:gd name="connsiteY64" fmla="*/ 114182 h 303370"/>
              <a:gd name="connsiteX65" fmla="*/ 197205 w 219958"/>
              <a:gd name="connsiteY65" fmla="*/ 109979 h 303370"/>
              <a:gd name="connsiteX66" fmla="*/ 197141 w 219958"/>
              <a:gd name="connsiteY66" fmla="*/ 106634 h 303370"/>
              <a:gd name="connsiteX67" fmla="*/ 109979 w 219958"/>
              <a:gd name="connsiteY67" fmla="*/ 22754 h 303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219958" h="303370">
                <a:moveTo>
                  <a:pt x="98602" y="72052"/>
                </a:moveTo>
                <a:cubicBezTo>
                  <a:pt x="98602" y="65768"/>
                  <a:pt x="103696" y="60675"/>
                  <a:pt x="109979" y="60675"/>
                </a:cubicBezTo>
                <a:cubicBezTo>
                  <a:pt x="116263" y="60675"/>
                  <a:pt x="121357" y="65768"/>
                  <a:pt x="121357" y="72052"/>
                </a:cubicBezTo>
                <a:lnTo>
                  <a:pt x="121357" y="94807"/>
                </a:lnTo>
                <a:cubicBezTo>
                  <a:pt x="121357" y="101090"/>
                  <a:pt x="116263" y="106184"/>
                  <a:pt x="109979" y="106184"/>
                </a:cubicBezTo>
                <a:cubicBezTo>
                  <a:pt x="103696" y="106184"/>
                  <a:pt x="98602" y="101090"/>
                  <a:pt x="98602" y="94807"/>
                </a:cubicBezTo>
                <a:lnTo>
                  <a:pt x="98602" y="72052"/>
                </a:lnTo>
                <a:close/>
                <a:moveTo>
                  <a:pt x="174910" y="94280"/>
                </a:moveTo>
                <a:cubicBezTo>
                  <a:pt x="170467" y="89837"/>
                  <a:pt x="163264" y="89837"/>
                  <a:pt x="158821" y="94280"/>
                </a:cubicBezTo>
                <a:lnTo>
                  <a:pt x="142731" y="110370"/>
                </a:lnTo>
                <a:cubicBezTo>
                  <a:pt x="138287" y="114813"/>
                  <a:pt x="138287" y="122017"/>
                  <a:pt x="142731" y="126460"/>
                </a:cubicBezTo>
                <a:cubicBezTo>
                  <a:pt x="147174" y="130903"/>
                  <a:pt x="154378" y="130903"/>
                  <a:pt x="158821" y="126460"/>
                </a:cubicBezTo>
                <a:lnTo>
                  <a:pt x="174910" y="110370"/>
                </a:lnTo>
                <a:cubicBezTo>
                  <a:pt x="179353" y="105927"/>
                  <a:pt x="179353" y="98723"/>
                  <a:pt x="174910" y="94280"/>
                </a:cubicBezTo>
                <a:close/>
                <a:moveTo>
                  <a:pt x="61138" y="94280"/>
                </a:moveTo>
                <a:cubicBezTo>
                  <a:pt x="56695" y="89837"/>
                  <a:pt x="49492" y="89837"/>
                  <a:pt x="45049" y="94280"/>
                </a:cubicBezTo>
                <a:cubicBezTo>
                  <a:pt x="40605" y="98723"/>
                  <a:pt x="40605" y="105927"/>
                  <a:pt x="45049" y="110370"/>
                </a:cubicBezTo>
                <a:lnTo>
                  <a:pt x="61139" y="126460"/>
                </a:lnTo>
                <a:cubicBezTo>
                  <a:pt x="65582" y="130903"/>
                  <a:pt x="72785" y="130903"/>
                  <a:pt x="77228" y="126460"/>
                </a:cubicBezTo>
                <a:cubicBezTo>
                  <a:pt x="81672" y="122017"/>
                  <a:pt x="81672" y="114813"/>
                  <a:pt x="77228" y="110370"/>
                </a:cubicBezTo>
                <a:lnTo>
                  <a:pt x="61138" y="94280"/>
                </a:lnTo>
                <a:close/>
                <a:moveTo>
                  <a:pt x="109979" y="0"/>
                </a:moveTo>
                <a:cubicBezTo>
                  <a:pt x="170720" y="0"/>
                  <a:pt x="219959" y="49239"/>
                  <a:pt x="219959" y="109979"/>
                </a:cubicBezTo>
                <a:cubicBezTo>
                  <a:pt x="219959" y="141775"/>
                  <a:pt x="206296" y="170957"/>
                  <a:pt x="179561" y="197082"/>
                </a:cubicBezTo>
                <a:cubicBezTo>
                  <a:pt x="178394" y="198223"/>
                  <a:pt x="177490" y="199596"/>
                  <a:pt x="176905" y="201107"/>
                </a:cubicBezTo>
                <a:lnTo>
                  <a:pt x="176428" y="202658"/>
                </a:lnTo>
                <a:lnTo>
                  <a:pt x="159270" y="276923"/>
                </a:lnTo>
                <a:cubicBezTo>
                  <a:pt x="155892" y="291545"/>
                  <a:pt x="143406" y="302137"/>
                  <a:pt x="128641" y="303271"/>
                </a:cubicBezTo>
                <a:lnTo>
                  <a:pt x="126014" y="303371"/>
                </a:lnTo>
                <a:lnTo>
                  <a:pt x="93950" y="303371"/>
                </a:lnTo>
                <a:cubicBezTo>
                  <a:pt x="78939" y="303371"/>
                  <a:pt x="65804" y="293585"/>
                  <a:pt x="61381" y="279451"/>
                </a:cubicBezTo>
                <a:lnTo>
                  <a:pt x="60692" y="276913"/>
                </a:lnTo>
                <a:lnTo>
                  <a:pt x="43557" y="202661"/>
                </a:lnTo>
                <a:cubicBezTo>
                  <a:pt x="43067" y="200539"/>
                  <a:pt x="41978" y="198602"/>
                  <a:pt x="40420" y="197081"/>
                </a:cubicBezTo>
                <a:cubicBezTo>
                  <a:pt x="14944" y="172199"/>
                  <a:pt x="1332" y="144547"/>
                  <a:pt x="93" y="114504"/>
                </a:cubicBezTo>
                <a:lnTo>
                  <a:pt x="0" y="109979"/>
                </a:lnTo>
                <a:lnTo>
                  <a:pt x="59" y="106349"/>
                </a:lnTo>
                <a:cubicBezTo>
                  <a:pt x="1974" y="47290"/>
                  <a:pt x="50454" y="0"/>
                  <a:pt x="109979" y="0"/>
                </a:cubicBezTo>
                <a:close/>
                <a:moveTo>
                  <a:pt x="142063" y="250268"/>
                </a:moveTo>
                <a:lnTo>
                  <a:pt x="77881" y="250268"/>
                </a:lnTo>
                <a:lnTo>
                  <a:pt x="82864" y="271797"/>
                </a:lnTo>
                <a:cubicBezTo>
                  <a:pt x="83935" y="276443"/>
                  <a:pt x="87767" y="279870"/>
                  <a:pt x="92384" y="280509"/>
                </a:cubicBezTo>
                <a:lnTo>
                  <a:pt x="93950" y="280616"/>
                </a:lnTo>
                <a:lnTo>
                  <a:pt x="126014" y="280616"/>
                </a:lnTo>
                <a:cubicBezTo>
                  <a:pt x="130782" y="280616"/>
                  <a:pt x="134980" y="277655"/>
                  <a:pt x="136643" y="273302"/>
                </a:cubicBezTo>
                <a:lnTo>
                  <a:pt x="137100" y="271800"/>
                </a:lnTo>
                <a:lnTo>
                  <a:pt x="142063" y="250268"/>
                </a:lnTo>
                <a:close/>
                <a:moveTo>
                  <a:pt x="109979" y="22754"/>
                </a:moveTo>
                <a:cubicBezTo>
                  <a:pt x="62927" y="22754"/>
                  <a:pt x="24576" y="60011"/>
                  <a:pt x="22817" y="106634"/>
                </a:cubicBezTo>
                <a:lnTo>
                  <a:pt x="22754" y="109979"/>
                </a:lnTo>
                <a:lnTo>
                  <a:pt x="22856" y="114182"/>
                </a:lnTo>
                <a:cubicBezTo>
                  <a:pt x="24011" y="137896"/>
                  <a:pt x="35000" y="159980"/>
                  <a:pt x="56319" y="180802"/>
                </a:cubicBezTo>
                <a:cubicBezTo>
                  <a:pt x="60326" y="184716"/>
                  <a:pt x="63297" y="189544"/>
                  <a:pt x="64990" y="194854"/>
                </a:cubicBezTo>
                <a:lnTo>
                  <a:pt x="65728" y="197546"/>
                </a:lnTo>
                <a:lnTo>
                  <a:pt x="72632" y="227514"/>
                </a:lnTo>
                <a:lnTo>
                  <a:pt x="98602" y="227514"/>
                </a:lnTo>
                <a:lnTo>
                  <a:pt x="98602" y="132724"/>
                </a:lnTo>
                <a:cubicBezTo>
                  <a:pt x="98602" y="126440"/>
                  <a:pt x="103696" y="121346"/>
                  <a:pt x="109979" y="121346"/>
                </a:cubicBezTo>
                <a:cubicBezTo>
                  <a:pt x="116263" y="121346"/>
                  <a:pt x="121357" y="126440"/>
                  <a:pt x="121357" y="132724"/>
                </a:cubicBezTo>
                <a:lnTo>
                  <a:pt x="121357" y="227514"/>
                </a:lnTo>
                <a:lnTo>
                  <a:pt x="147312" y="227514"/>
                </a:lnTo>
                <a:lnTo>
                  <a:pt x="154258" y="197536"/>
                </a:lnTo>
                <a:cubicBezTo>
                  <a:pt x="155517" y="192084"/>
                  <a:pt x="158094" y="187040"/>
                  <a:pt x="161744" y="182838"/>
                </a:cubicBezTo>
                <a:lnTo>
                  <a:pt x="163659" y="180808"/>
                </a:lnTo>
                <a:cubicBezTo>
                  <a:pt x="184966" y="159986"/>
                  <a:pt x="195949" y="137901"/>
                  <a:pt x="197103" y="114182"/>
                </a:cubicBezTo>
                <a:lnTo>
                  <a:pt x="197205" y="109979"/>
                </a:lnTo>
                <a:lnTo>
                  <a:pt x="197141" y="106634"/>
                </a:lnTo>
                <a:cubicBezTo>
                  <a:pt x="195383" y="60011"/>
                  <a:pt x="157033" y="22754"/>
                  <a:pt x="109979" y="227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56000">
                <a:srgbClr val="CC918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152" name="Graphic 13" descr="Icon of a chart made of vertical lines with a line tracing the top of each, turning into an arrow pointing up">
            <a:extLst>
              <a:ext uri="{FF2B5EF4-FFF2-40B4-BE49-F238E27FC236}">
                <a16:creationId xmlns:a16="http://schemas.microsoft.com/office/drawing/2014/main" id="{498C358E-801B-CD2F-0672-925544344A9A}"/>
              </a:ext>
            </a:extLst>
          </p:cNvPr>
          <p:cNvSpPr>
            <a:spLocks noChangeAspect="1"/>
          </p:cNvSpPr>
          <p:nvPr/>
        </p:nvSpPr>
        <p:spPr>
          <a:xfrm>
            <a:off x="8378315" y="2882451"/>
            <a:ext cx="202520" cy="213174"/>
          </a:xfrm>
          <a:custGeom>
            <a:avLst/>
            <a:gdLst>
              <a:gd name="connsiteX0" fmla="*/ 195609 w 270323"/>
              <a:gd name="connsiteY0" fmla="*/ 0 h 284545"/>
              <a:gd name="connsiteX1" fmla="*/ 260397 w 270323"/>
              <a:gd name="connsiteY1" fmla="*/ 7 h 284545"/>
              <a:gd name="connsiteX2" fmla="*/ 261824 w 270323"/>
              <a:gd name="connsiteY2" fmla="*/ 205 h 284545"/>
              <a:gd name="connsiteX3" fmla="*/ 263230 w 270323"/>
              <a:gd name="connsiteY3" fmla="*/ 598 h 284545"/>
              <a:gd name="connsiteX4" fmla="*/ 264088 w 270323"/>
              <a:gd name="connsiteY4" fmla="*/ 962 h 284545"/>
              <a:gd name="connsiteX5" fmla="*/ 267199 w 270323"/>
              <a:gd name="connsiteY5" fmla="*/ 3107 h 284545"/>
              <a:gd name="connsiteX6" fmla="*/ 267778 w 270323"/>
              <a:gd name="connsiteY6" fmla="*/ 3733 h 284545"/>
              <a:gd name="connsiteX7" fmla="*/ 268397 w 270323"/>
              <a:gd name="connsiteY7" fmla="*/ 4535 h 284545"/>
              <a:gd name="connsiteX8" fmla="*/ 269168 w 270323"/>
              <a:gd name="connsiteY8" fmla="*/ 5818 h 284545"/>
              <a:gd name="connsiteX9" fmla="*/ 269719 w 270323"/>
              <a:gd name="connsiteY9" fmla="*/ 7103 h 284545"/>
              <a:gd name="connsiteX10" fmla="*/ 269991 w 270323"/>
              <a:gd name="connsiteY10" fmla="*/ 8014 h 284545"/>
              <a:gd name="connsiteX11" fmla="*/ 270184 w 270323"/>
              <a:gd name="connsiteY11" fmla="*/ 8925 h 284545"/>
              <a:gd name="connsiteX12" fmla="*/ 270318 w 270323"/>
              <a:gd name="connsiteY12" fmla="*/ 10265 h 284545"/>
              <a:gd name="connsiteX13" fmla="*/ 270323 w 270323"/>
              <a:gd name="connsiteY13" fmla="*/ 74748 h 284545"/>
              <a:gd name="connsiteX14" fmla="*/ 259653 w 270323"/>
              <a:gd name="connsiteY14" fmla="*/ 85419 h 284545"/>
              <a:gd name="connsiteX15" fmla="*/ 249081 w 270323"/>
              <a:gd name="connsiteY15" fmla="*/ 76196 h 284545"/>
              <a:gd name="connsiteX16" fmla="*/ 248983 w 270323"/>
              <a:gd name="connsiteY16" fmla="*/ 74748 h 284545"/>
              <a:gd name="connsiteX17" fmla="*/ 248977 w 270323"/>
              <a:gd name="connsiteY17" fmla="*/ 36408 h 284545"/>
              <a:gd name="connsiteX18" fmla="*/ 157363 w 270323"/>
              <a:gd name="connsiteY18" fmla="*/ 128041 h 284545"/>
              <a:gd name="connsiteX19" fmla="*/ 143469 w 270323"/>
              <a:gd name="connsiteY19" fmla="*/ 129075 h 284545"/>
              <a:gd name="connsiteX20" fmla="*/ 142273 w 270323"/>
              <a:gd name="connsiteY20" fmla="*/ 128042 h 284545"/>
              <a:gd name="connsiteX21" fmla="*/ 99160 w 270323"/>
              <a:gd name="connsiteY21" fmla="*/ 86633 h 284545"/>
              <a:gd name="connsiteX22" fmla="*/ 18216 w 270323"/>
              <a:gd name="connsiteY22" fmla="*/ 167577 h 284545"/>
              <a:gd name="connsiteX23" fmla="*/ 3125 w 270323"/>
              <a:gd name="connsiteY23" fmla="*/ 167577 h 284545"/>
              <a:gd name="connsiteX24" fmla="*/ 2092 w 270323"/>
              <a:gd name="connsiteY24" fmla="*/ 153684 h 284545"/>
              <a:gd name="connsiteX25" fmla="*/ 3125 w 270323"/>
              <a:gd name="connsiteY25" fmla="*/ 152486 h 284545"/>
              <a:gd name="connsiteX26" fmla="*/ 91614 w 270323"/>
              <a:gd name="connsiteY26" fmla="*/ 63998 h 284545"/>
              <a:gd name="connsiteX27" fmla="*/ 105508 w 270323"/>
              <a:gd name="connsiteY27" fmla="*/ 62965 h 284545"/>
              <a:gd name="connsiteX28" fmla="*/ 106704 w 270323"/>
              <a:gd name="connsiteY28" fmla="*/ 63998 h 284545"/>
              <a:gd name="connsiteX29" fmla="*/ 149817 w 270323"/>
              <a:gd name="connsiteY29" fmla="*/ 105406 h 284545"/>
              <a:gd name="connsiteX30" fmla="*/ 233868 w 270323"/>
              <a:gd name="connsiteY30" fmla="*/ 21341 h 284545"/>
              <a:gd name="connsiteX31" fmla="*/ 195609 w 270323"/>
              <a:gd name="connsiteY31" fmla="*/ 21341 h 284545"/>
              <a:gd name="connsiteX32" fmla="*/ 185037 w 270323"/>
              <a:gd name="connsiteY32" fmla="*/ 12118 h 284545"/>
              <a:gd name="connsiteX33" fmla="*/ 184939 w 270323"/>
              <a:gd name="connsiteY33" fmla="*/ 10670 h 284545"/>
              <a:gd name="connsiteX34" fmla="*/ 194162 w 270323"/>
              <a:gd name="connsiteY34" fmla="*/ 97 h 284545"/>
              <a:gd name="connsiteX35" fmla="*/ 195609 w 270323"/>
              <a:gd name="connsiteY35" fmla="*/ 0 h 284545"/>
              <a:gd name="connsiteX36" fmla="*/ 10670 w 270323"/>
              <a:gd name="connsiteY36" fmla="*/ 213409 h 284545"/>
              <a:gd name="connsiteX37" fmla="*/ 21341 w 270323"/>
              <a:gd name="connsiteY37" fmla="*/ 224079 h 284545"/>
              <a:gd name="connsiteX38" fmla="*/ 21341 w 270323"/>
              <a:gd name="connsiteY38" fmla="*/ 273875 h 284545"/>
              <a:gd name="connsiteX39" fmla="*/ 10670 w 270323"/>
              <a:gd name="connsiteY39" fmla="*/ 284545 h 284545"/>
              <a:gd name="connsiteX40" fmla="*/ 0 w 270323"/>
              <a:gd name="connsiteY40" fmla="*/ 273875 h 284545"/>
              <a:gd name="connsiteX41" fmla="*/ 0 w 270323"/>
              <a:gd name="connsiteY41" fmla="*/ 224079 h 284545"/>
              <a:gd name="connsiteX42" fmla="*/ 10670 w 270323"/>
              <a:gd name="connsiteY42" fmla="*/ 213409 h 284545"/>
              <a:gd name="connsiteX43" fmla="*/ 92477 w 270323"/>
              <a:gd name="connsiteY43" fmla="*/ 167170 h 284545"/>
              <a:gd name="connsiteX44" fmla="*/ 81807 w 270323"/>
              <a:gd name="connsiteY44" fmla="*/ 156500 h 284545"/>
              <a:gd name="connsiteX45" fmla="*/ 71136 w 270323"/>
              <a:gd name="connsiteY45" fmla="*/ 167170 h 284545"/>
              <a:gd name="connsiteX46" fmla="*/ 71136 w 270323"/>
              <a:gd name="connsiteY46" fmla="*/ 273875 h 284545"/>
              <a:gd name="connsiteX47" fmla="*/ 81807 w 270323"/>
              <a:gd name="connsiteY47" fmla="*/ 284545 h 284545"/>
              <a:gd name="connsiteX48" fmla="*/ 92477 w 270323"/>
              <a:gd name="connsiteY48" fmla="*/ 273875 h 284545"/>
              <a:gd name="connsiteX49" fmla="*/ 92477 w 270323"/>
              <a:gd name="connsiteY49" fmla="*/ 167170 h 284545"/>
              <a:gd name="connsiteX50" fmla="*/ 152943 w 270323"/>
              <a:gd name="connsiteY50" fmla="*/ 184954 h 284545"/>
              <a:gd name="connsiteX51" fmla="*/ 163613 w 270323"/>
              <a:gd name="connsiteY51" fmla="*/ 195625 h 284545"/>
              <a:gd name="connsiteX52" fmla="*/ 163613 w 270323"/>
              <a:gd name="connsiteY52" fmla="*/ 273875 h 284545"/>
              <a:gd name="connsiteX53" fmla="*/ 152943 w 270323"/>
              <a:gd name="connsiteY53" fmla="*/ 284545 h 284545"/>
              <a:gd name="connsiteX54" fmla="*/ 142273 w 270323"/>
              <a:gd name="connsiteY54" fmla="*/ 273875 h 284545"/>
              <a:gd name="connsiteX55" fmla="*/ 142273 w 270323"/>
              <a:gd name="connsiteY55" fmla="*/ 195625 h 284545"/>
              <a:gd name="connsiteX56" fmla="*/ 152943 w 270323"/>
              <a:gd name="connsiteY56" fmla="*/ 184954 h 284545"/>
              <a:gd name="connsiteX57" fmla="*/ 234750 w 270323"/>
              <a:gd name="connsiteY57" fmla="*/ 124488 h 284545"/>
              <a:gd name="connsiteX58" fmla="*/ 224079 w 270323"/>
              <a:gd name="connsiteY58" fmla="*/ 113818 h 284545"/>
              <a:gd name="connsiteX59" fmla="*/ 213409 w 270323"/>
              <a:gd name="connsiteY59" fmla="*/ 124488 h 284545"/>
              <a:gd name="connsiteX60" fmla="*/ 213409 w 270323"/>
              <a:gd name="connsiteY60" fmla="*/ 273875 h 284545"/>
              <a:gd name="connsiteX61" fmla="*/ 224079 w 270323"/>
              <a:gd name="connsiteY61" fmla="*/ 284545 h 284545"/>
              <a:gd name="connsiteX62" fmla="*/ 234750 w 270323"/>
              <a:gd name="connsiteY62" fmla="*/ 273875 h 284545"/>
              <a:gd name="connsiteX63" fmla="*/ 234750 w 270323"/>
              <a:gd name="connsiteY63" fmla="*/ 124488 h 284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270323" h="284545">
                <a:moveTo>
                  <a:pt x="195609" y="0"/>
                </a:moveTo>
                <a:lnTo>
                  <a:pt x="260397" y="7"/>
                </a:lnTo>
                <a:lnTo>
                  <a:pt x="261824" y="205"/>
                </a:lnTo>
                <a:lnTo>
                  <a:pt x="263230" y="598"/>
                </a:lnTo>
                <a:lnTo>
                  <a:pt x="264088" y="962"/>
                </a:lnTo>
                <a:cubicBezTo>
                  <a:pt x="265214" y="1458"/>
                  <a:pt x="266270" y="2179"/>
                  <a:pt x="267199" y="3107"/>
                </a:cubicBezTo>
                <a:lnTo>
                  <a:pt x="267778" y="3733"/>
                </a:lnTo>
                <a:lnTo>
                  <a:pt x="268397" y="4535"/>
                </a:lnTo>
                <a:lnTo>
                  <a:pt x="269168" y="5818"/>
                </a:lnTo>
                <a:lnTo>
                  <a:pt x="269719" y="7103"/>
                </a:lnTo>
                <a:lnTo>
                  <a:pt x="269991" y="8014"/>
                </a:lnTo>
                <a:lnTo>
                  <a:pt x="270184" y="8925"/>
                </a:lnTo>
                <a:lnTo>
                  <a:pt x="270318" y="10265"/>
                </a:lnTo>
                <a:lnTo>
                  <a:pt x="270323" y="74748"/>
                </a:lnTo>
                <a:cubicBezTo>
                  <a:pt x="270323" y="80641"/>
                  <a:pt x="265547" y="85419"/>
                  <a:pt x="259653" y="85419"/>
                </a:cubicBezTo>
                <a:cubicBezTo>
                  <a:pt x="254252" y="85419"/>
                  <a:pt x="249788" y="81405"/>
                  <a:pt x="249081" y="76196"/>
                </a:cubicBezTo>
                <a:lnTo>
                  <a:pt x="248983" y="74748"/>
                </a:lnTo>
                <a:lnTo>
                  <a:pt x="248977" y="36408"/>
                </a:lnTo>
                <a:lnTo>
                  <a:pt x="157363" y="128041"/>
                </a:lnTo>
                <a:cubicBezTo>
                  <a:pt x="153575" y="131830"/>
                  <a:pt x="147646" y="132174"/>
                  <a:pt x="143469" y="129075"/>
                </a:cubicBezTo>
                <a:lnTo>
                  <a:pt x="142273" y="128042"/>
                </a:lnTo>
                <a:lnTo>
                  <a:pt x="99160" y="86633"/>
                </a:lnTo>
                <a:lnTo>
                  <a:pt x="18216" y="167577"/>
                </a:lnTo>
                <a:cubicBezTo>
                  <a:pt x="14049" y="171744"/>
                  <a:pt x="7292" y="171744"/>
                  <a:pt x="3125" y="167577"/>
                </a:cubicBezTo>
                <a:cubicBezTo>
                  <a:pt x="-663" y="163788"/>
                  <a:pt x="-1007" y="157861"/>
                  <a:pt x="2092" y="153684"/>
                </a:cubicBezTo>
                <a:lnTo>
                  <a:pt x="3125" y="152486"/>
                </a:lnTo>
                <a:lnTo>
                  <a:pt x="91614" y="63998"/>
                </a:lnTo>
                <a:cubicBezTo>
                  <a:pt x="95402" y="60210"/>
                  <a:pt x="101331" y="59865"/>
                  <a:pt x="105508" y="62965"/>
                </a:cubicBezTo>
                <a:lnTo>
                  <a:pt x="106704" y="63998"/>
                </a:lnTo>
                <a:lnTo>
                  <a:pt x="149817" y="105406"/>
                </a:lnTo>
                <a:lnTo>
                  <a:pt x="233868" y="21341"/>
                </a:lnTo>
                <a:lnTo>
                  <a:pt x="195609" y="21341"/>
                </a:lnTo>
                <a:cubicBezTo>
                  <a:pt x="190207" y="21341"/>
                  <a:pt x="185742" y="17327"/>
                  <a:pt x="185037" y="12118"/>
                </a:cubicBezTo>
                <a:lnTo>
                  <a:pt x="184939" y="10670"/>
                </a:lnTo>
                <a:cubicBezTo>
                  <a:pt x="184939" y="5268"/>
                  <a:pt x="188954" y="804"/>
                  <a:pt x="194162" y="97"/>
                </a:cubicBezTo>
                <a:lnTo>
                  <a:pt x="195609" y="0"/>
                </a:lnTo>
                <a:close/>
                <a:moveTo>
                  <a:pt x="10670" y="213409"/>
                </a:moveTo>
                <a:cubicBezTo>
                  <a:pt x="16564" y="213409"/>
                  <a:pt x="21341" y="218186"/>
                  <a:pt x="21341" y="224079"/>
                </a:cubicBezTo>
                <a:lnTo>
                  <a:pt x="21341" y="273875"/>
                </a:lnTo>
                <a:cubicBezTo>
                  <a:pt x="21341" y="279768"/>
                  <a:pt x="16564" y="284545"/>
                  <a:pt x="10670" y="284545"/>
                </a:cubicBezTo>
                <a:cubicBezTo>
                  <a:pt x="4777" y="284545"/>
                  <a:pt x="0" y="279768"/>
                  <a:pt x="0" y="273875"/>
                </a:cubicBezTo>
                <a:lnTo>
                  <a:pt x="0" y="224079"/>
                </a:lnTo>
                <a:cubicBezTo>
                  <a:pt x="0" y="218186"/>
                  <a:pt x="4777" y="213409"/>
                  <a:pt x="10670" y="213409"/>
                </a:cubicBezTo>
                <a:close/>
                <a:moveTo>
                  <a:pt x="92477" y="167170"/>
                </a:moveTo>
                <a:cubicBezTo>
                  <a:pt x="92477" y="161277"/>
                  <a:pt x="87700" y="156500"/>
                  <a:pt x="81807" y="156500"/>
                </a:cubicBezTo>
                <a:cubicBezTo>
                  <a:pt x="75914" y="156500"/>
                  <a:pt x="71136" y="161277"/>
                  <a:pt x="71136" y="167170"/>
                </a:cubicBezTo>
                <a:lnTo>
                  <a:pt x="71136" y="273875"/>
                </a:lnTo>
                <a:cubicBezTo>
                  <a:pt x="71136" y="279768"/>
                  <a:pt x="75914" y="284545"/>
                  <a:pt x="81807" y="284545"/>
                </a:cubicBezTo>
                <a:cubicBezTo>
                  <a:pt x="87700" y="284545"/>
                  <a:pt x="92477" y="279768"/>
                  <a:pt x="92477" y="273875"/>
                </a:cubicBezTo>
                <a:lnTo>
                  <a:pt x="92477" y="167170"/>
                </a:lnTo>
                <a:close/>
                <a:moveTo>
                  <a:pt x="152943" y="184954"/>
                </a:moveTo>
                <a:cubicBezTo>
                  <a:pt x="158836" y="184954"/>
                  <a:pt x="163613" y="189732"/>
                  <a:pt x="163613" y="195625"/>
                </a:cubicBezTo>
                <a:lnTo>
                  <a:pt x="163613" y="273875"/>
                </a:lnTo>
                <a:cubicBezTo>
                  <a:pt x="163613" y="279768"/>
                  <a:pt x="158836" y="284545"/>
                  <a:pt x="152943" y="284545"/>
                </a:cubicBezTo>
                <a:cubicBezTo>
                  <a:pt x="147050" y="284545"/>
                  <a:pt x="142273" y="279768"/>
                  <a:pt x="142273" y="273875"/>
                </a:cubicBezTo>
                <a:lnTo>
                  <a:pt x="142273" y="195625"/>
                </a:lnTo>
                <a:cubicBezTo>
                  <a:pt x="142273" y="189732"/>
                  <a:pt x="147050" y="184954"/>
                  <a:pt x="152943" y="184954"/>
                </a:cubicBezTo>
                <a:close/>
                <a:moveTo>
                  <a:pt x="234750" y="124488"/>
                </a:moveTo>
                <a:cubicBezTo>
                  <a:pt x="234750" y="118596"/>
                  <a:pt x="229972" y="113818"/>
                  <a:pt x="224079" y="113818"/>
                </a:cubicBezTo>
                <a:cubicBezTo>
                  <a:pt x="218186" y="113818"/>
                  <a:pt x="213409" y="118596"/>
                  <a:pt x="213409" y="124488"/>
                </a:cubicBezTo>
                <a:lnTo>
                  <a:pt x="213409" y="273875"/>
                </a:lnTo>
                <a:cubicBezTo>
                  <a:pt x="213409" y="279768"/>
                  <a:pt x="218186" y="284545"/>
                  <a:pt x="224079" y="284545"/>
                </a:cubicBezTo>
                <a:cubicBezTo>
                  <a:pt x="229972" y="284545"/>
                  <a:pt x="234750" y="279768"/>
                  <a:pt x="234750" y="273875"/>
                </a:cubicBezTo>
                <a:lnTo>
                  <a:pt x="234750" y="124488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56000">
                <a:srgbClr val="CC918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153" name="Graphic 78" descr="Icon of a government building">
            <a:extLst>
              <a:ext uri="{FF2B5EF4-FFF2-40B4-BE49-F238E27FC236}">
                <a16:creationId xmlns:a16="http://schemas.microsoft.com/office/drawing/2014/main" id="{D41A1C63-9BA3-7631-2EAF-3B3C4F6F60DA}"/>
              </a:ext>
            </a:extLst>
          </p:cNvPr>
          <p:cNvSpPr>
            <a:spLocks noChangeAspect="1"/>
          </p:cNvSpPr>
          <p:nvPr/>
        </p:nvSpPr>
        <p:spPr>
          <a:xfrm>
            <a:off x="8365219" y="4089700"/>
            <a:ext cx="228712" cy="228712"/>
          </a:xfrm>
          <a:custGeom>
            <a:avLst/>
            <a:gdLst>
              <a:gd name="connsiteX0" fmla="*/ 208681 w 309156"/>
              <a:gd name="connsiteY0" fmla="*/ 150714 h 309156"/>
              <a:gd name="connsiteX1" fmla="*/ 197087 w 309156"/>
              <a:gd name="connsiteY1" fmla="*/ 139121 h 309156"/>
              <a:gd name="connsiteX2" fmla="*/ 185494 w 309156"/>
              <a:gd name="connsiteY2" fmla="*/ 150714 h 309156"/>
              <a:gd name="connsiteX3" fmla="*/ 185494 w 309156"/>
              <a:gd name="connsiteY3" fmla="*/ 181630 h 309156"/>
              <a:gd name="connsiteX4" fmla="*/ 197087 w 309156"/>
              <a:gd name="connsiteY4" fmla="*/ 193223 h 309156"/>
              <a:gd name="connsiteX5" fmla="*/ 208681 w 309156"/>
              <a:gd name="connsiteY5" fmla="*/ 181630 h 309156"/>
              <a:gd name="connsiteX6" fmla="*/ 208681 w 309156"/>
              <a:gd name="connsiteY6" fmla="*/ 150714 h 309156"/>
              <a:gd name="connsiteX7" fmla="*/ 150714 w 309156"/>
              <a:gd name="connsiteY7" fmla="*/ 139121 h 309156"/>
              <a:gd name="connsiteX8" fmla="*/ 162307 w 309156"/>
              <a:gd name="connsiteY8" fmla="*/ 150714 h 309156"/>
              <a:gd name="connsiteX9" fmla="*/ 162307 w 309156"/>
              <a:gd name="connsiteY9" fmla="*/ 181630 h 309156"/>
              <a:gd name="connsiteX10" fmla="*/ 150714 w 309156"/>
              <a:gd name="connsiteY10" fmla="*/ 193223 h 309156"/>
              <a:gd name="connsiteX11" fmla="*/ 139121 w 309156"/>
              <a:gd name="connsiteY11" fmla="*/ 181630 h 309156"/>
              <a:gd name="connsiteX12" fmla="*/ 139121 w 309156"/>
              <a:gd name="connsiteY12" fmla="*/ 150714 h 309156"/>
              <a:gd name="connsiteX13" fmla="*/ 150714 w 309156"/>
              <a:gd name="connsiteY13" fmla="*/ 139121 h 309156"/>
              <a:gd name="connsiteX14" fmla="*/ 115934 w 309156"/>
              <a:gd name="connsiteY14" fmla="*/ 150714 h 309156"/>
              <a:gd name="connsiteX15" fmla="*/ 104340 w 309156"/>
              <a:gd name="connsiteY15" fmla="*/ 139121 h 309156"/>
              <a:gd name="connsiteX16" fmla="*/ 92747 w 309156"/>
              <a:gd name="connsiteY16" fmla="*/ 150714 h 309156"/>
              <a:gd name="connsiteX17" fmla="*/ 92747 w 309156"/>
              <a:gd name="connsiteY17" fmla="*/ 181630 h 309156"/>
              <a:gd name="connsiteX18" fmla="*/ 104340 w 309156"/>
              <a:gd name="connsiteY18" fmla="*/ 193223 h 309156"/>
              <a:gd name="connsiteX19" fmla="*/ 115934 w 309156"/>
              <a:gd name="connsiteY19" fmla="*/ 181630 h 309156"/>
              <a:gd name="connsiteX20" fmla="*/ 115934 w 309156"/>
              <a:gd name="connsiteY20" fmla="*/ 150714 h 309156"/>
              <a:gd name="connsiteX21" fmla="*/ 57967 w 309156"/>
              <a:gd name="connsiteY21" fmla="*/ 208681 h 309156"/>
              <a:gd name="connsiteX22" fmla="*/ 69560 w 309156"/>
              <a:gd name="connsiteY22" fmla="*/ 220274 h 309156"/>
              <a:gd name="connsiteX23" fmla="*/ 69560 w 309156"/>
              <a:gd name="connsiteY23" fmla="*/ 258919 h 309156"/>
              <a:gd name="connsiteX24" fmla="*/ 57967 w 309156"/>
              <a:gd name="connsiteY24" fmla="*/ 270512 h 309156"/>
              <a:gd name="connsiteX25" fmla="*/ 46374 w 309156"/>
              <a:gd name="connsiteY25" fmla="*/ 258919 h 309156"/>
              <a:gd name="connsiteX26" fmla="*/ 46374 w 309156"/>
              <a:gd name="connsiteY26" fmla="*/ 220274 h 309156"/>
              <a:gd name="connsiteX27" fmla="*/ 57967 w 309156"/>
              <a:gd name="connsiteY27" fmla="*/ 208681 h 309156"/>
              <a:gd name="connsiteX28" fmla="*/ 262783 w 309156"/>
              <a:gd name="connsiteY28" fmla="*/ 220274 h 309156"/>
              <a:gd name="connsiteX29" fmla="*/ 251190 w 309156"/>
              <a:gd name="connsiteY29" fmla="*/ 208681 h 309156"/>
              <a:gd name="connsiteX30" fmla="*/ 239596 w 309156"/>
              <a:gd name="connsiteY30" fmla="*/ 220274 h 309156"/>
              <a:gd name="connsiteX31" fmla="*/ 239596 w 309156"/>
              <a:gd name="connsiteY31" fmla="*/ 258919 h 309156"/>
              <a:gd name="connsiteX32" fmla="*/ 251190 w 309156"/>
              <a:gd name="connsiteY32" fmla="*/ 270512 h 309156"/>
              <a:gd name="connsiteX33" fmla="*/ 262783 w 309156"/>
              <a:gd name="connsiteY33" fmla="*/ 258919 h 309156"/>
              <a:gd name="connsiteX34" fmla="*/ 262783 w 309156"/>
              <a:gd name="connsiteY34" fmla="*/ 220274 h 309156"/>
              <a:gd name="connsiteX35" fmla="*/ 150714 w 309156"/>
              <a:gd name="connsiteY35" fmla="*/ 0 h 309156"/>
              <a:gd name="connsiteX36" fmla="*/ 208681 w 309156"/>
              <a:gd name="connsiteY36" fmla="*/ 0 h 309156"/>
              <a:gd name="connsiteX37" fmla="*/ 216410 w 309156"/>
              <a:gd name="connsiteY37" fmla="*/ 7729 h 309156"/>
              <a:gd name="connsiteX38" fmla="*/ 216410 w 309156"/>
              <a:gd name="connsiteY38" fmla="*/ 38645 h 309156"/>
              <a:gd name="connsiteX39" fmla="*/ 208681 w 309156"/>
              <a:gd name="connsiteY39" fmla="*/ 46374 h 309156"/>
              <a:gd name="connsiteX40" fmla="*/ 162307 w 309156"/>
              <a:gd name="connsiteY40" fmla="*/ 46374 h 309156"/>
              <a:gd name="connsiteX41" fmla="*/ 162307 w 309156"/>
              <a:gd name="connsiteY41" fmla="*/ 62103 h 309156"/>
              <a:gd name="connsiteX42" fmla="*/ 262783 w 309156"/>
              <a:gd name="connsiteY42" fmla="*/ 170036 h 309156"/>
              <a:gd name="connsiteX43" fmla="*/ 274377 w 309156"/>
              <a:gd name="connsiteY43" fmla="*/ 170036 h 309156"/>
              <a:gd name="connsiteX44" fmla="*/ 309157 w 309156"/>
              <a:gd name="connsiteY44" fmla="*/ 204816 h 309156"/>
              <a:gd name="connsiteX45" fmla="*/ 309157 w 309156"/>
              <a:gd name="connsiteY45" fmla="*/ 297563 h 309156"/>
              <a:gd name="connsiteX46" fmla="*/ 297563 w 309156"/>
              <a:gd name="connsiteY46" fmla="*/ 309157 h 309156"/>
              <a:gd name="connsiteX47" fmla="*/ 11593 w 309156"/>
              <a:gd name="connsiteY47" fmla="*/ 309157 h 309156"/>
              <a:gd name="connsiteX48" fmla="*/ 0 w 309156"/>
              <a:gd name="connsiteY48" fmla="*/ 297563 h 309156"/>
              <a:gd name="connsiteX49" fmla="*/ 0 w 309156"/>
              <a:gd name="connsiteY49" fmla="*/ 204816 h 309156"/>
              <a:gd name="connsiteX50" fmla="*/ 34780 w 309156"/>
              <a:gd name="connsiteY50" fmla="*/ 170036 h 309156"/>
              <a:gd name="connsiteX51" fmla="*/ 46374 w 309156"/>
              <a:gd name="connsiteY51" fmla="*/ 170036 h 309156"/>
              <a:gd name="connsiteX52" fmla="*/ 139121 w 309156"/>
              <a:gd name="connsiteY52" fmla="*/ 62927 h 309156"/>
              <a:gd name="connsiteX53" fmla="*/ 139121 w 309156"/>
              <a:gd name="connsiteY53" fmla="*/ 11593 h 309156"/>
              <a:gd name="connsiteX54" fmla="*/ 150714 w 309156"/>
              <a:gd name="connsiteY54" fmla="*/ 0 h 309156"/>
              <a:gd name="connsiteX55" fmla="*/ 154578 w 309156"/>
              <a:gd name="connsiteY55" fmla="*/ 85018 h 309156"/>
              <a:gd name="connsiteX56" fmla="*/ 69560 w 309156"/>
              <a:gd name="connsiteY56" fmla="*/ 170036 h 309156"/>
              <a:gd name="connsiteX57" fmla="*/ 69560 w 309156"/>
              <a:gd name="connsiteY57" fmla="*/ 181630 h 309156"/>
              <a:gd name="connsiteX58" fmla="*/ 57967 w 309156"/>
              <a:gd name="connsiteY58" fmla="*/ 193223 h 309156"/>
              <a:gd name="connsiteX59" fmla="*/ 34780 w 309156"/>
              <a:gd name="connsiteY59" fmla="*/ 193223 h 309156"/>
              <a:gd name="connsiteX60" fmla="*/ 23187 w 309156"/>
              <a:gd name="connsiteY60" fmla="*/ 204816 h 309156"/>
              <a:gd name="connsiteX61" fmla="*/ 23187 w 309156"/>
              <a:gd name="connsiteY61" fmla="*/ 285970 h 309156"/>
              <a:gd name="connsiteX62" fmla="*/ 115934 w 309156"/>
              <a:gd name="connsiteY62" fmla="*/ 285970 h 309156"/>
              <a:gd name="connsiteX63" fmla="*/ 115934 w 309156"/>
              <a:gd name="connsiteY63" fmla="*/ 243461 h 309156"/>
              <a:gd name="connsiteX64" fmla="*/ 127527 w 309156"/>
              <a:gd name="connsiteY64" fmla="*/ 231868 h 309156"/>
              <a:gd name="connsiteX65" fmla="*/ 181630 w 309156"/>
              <a:gd name="connsiteY65" fmla="*/ 231868 h 309156"/>
              <a:gd name="connsiteX66" fmla="*/ 193223 w 309156"/>
              <a:gd name="connsiteY66" fmla="*/ 243461 h 309156"/>
              <a:gd name="connsiteX67" fmla="*/ 193223 w 309156"/>
              <a:gd name="connsiteY67" fmla="*/ 285970 h 309156"/>
              <a:gd name="connsiteX68" fmla="*/ 285970 w 309156"/>
              <a:gd name="connsiteY68" fmla="*/ 285970 h 309156"/>
              <a:gd name="connsiteX69" fmla="*/ 285970 w 309156"/>
              <a:gd name="connsiteY69" fmla="*/ 204816 h 309156"/>
              <a:gd name="connsiteX70" fmla="*/ 274377 w 309156"/>
              <a:gd name="connsiteY70" fmla="*/ 193223 h 309156"/>
              <a:gd name="connsiteX71" fmla="*/ 251190 w 309156"/>
              <a:gd name="connsiteY71" fmla="*/ 193223 h 309156"/>
              <a:gd name="connsiteX72" fmla="*/ 239596 w 309156"/>
              <a:gd name="connsiteY72" fmla="*/ 181630 h 309156"/>
              <a:gd name="connsiteX73" fmla="*/ 239596 w 309156"/>
              <a:gd name="connsiteY73" fmla="*/ 170036 h 309156"/>
              <a:gd name="connsiteX74" fmla="*/ 154578 w 309156"/>
              <a:gd name="connsiteY74" fmla="*/ 85018 h 309156"/>
              <a:gd name="connsiteX75" fmla="*/ 170036 w 309156"/>
              <a:gd name="connsiteY75" fmla="*/ 255054 h 309156"/>
              <a:gd name="connsiteX76" fmla="*/ 139121 w 309156"/>
              <a:gd name="connsiteY76" fmla="*/ 255054 h 309156"/>
              <a:gd name="connsiteX77" fmla="*/ 139121 w 309156"/>
              <a:gd name="connsiteY77" fmla="*/ 285970 h 309156"/>
              <a:gd name="connsiteX78" fmla="*/ 170036 w 309156"/>
              <a:gd name="connsiteY78" fmla="*/ 285970 h 309156"/>
              <a:gd name="connsiteX79" fmla="*/ 170036 w 309156"/>
              <a:gd name="connsiteY79" fmla="*/ 255054 h 309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309156" h="309156">
                <a:moveTo>
                  <a:pt x="208681" y="150714"/>
                </a:moveTo>
                <a:cubicBezTo>
                  <a:pt x="208681" y="144311"/>
                  <a:pt x="203490" y="139121"/>
                  <a:pt x="197087" y="139121"/>
                </a:cubicBezTo>
                <a:cubicBezTo>
                  <a:pt x="190685" y="139121"/>
                  <a:pt x="185494" y="144311"/>
                  <a:pt x="185494" y="150714"/>
                </a:cubicBezTo>
                <a:lnTo>
                  <a:pt x="185494" y="181630"/>
                </a:lnTo>
                <a:cubicBezTo>
                  <a:pt x="185494" y="188032"/>
                  <a:pt x="190685" y="193223"/>
                  <a:pt x="197087" y="193223"/>
                </a:cubicBezTo>
                <a:cubicBezTo>
                  <a:pt x="203490" y="193223"/>
                  <a:pt x="208681" y="188032"/>
                  <a:pt x="208681" y="181630"/>
                </a:cubicBezTo>
                <a:lnTo>
                  <a:pt x="208681" y="150714"/>
                </a:lnTo>
                <a:close/>
                <a:moveTo>
                  <a:pt x="150714" y="139121"/>
                </a:moveTo>
                <a:cubicBezTo>
                  <a:pt x="157117" y="139121"/>
                  <a:pt x="162307" y="144311"/>
                  <a:pt x="162307" y="150714"/>
                </a:cubicBezTo>
                <a:lnTo>
                  <a:pt x="162307" y="181630"/>
                </a:lnTo>
                <a:cubicBezTo>
                  <a:pt x="162307" y="188032"/>
                  <a:pt x="157117" y="193223"/>
                  <a:pt x="150714" y="193223"/>
                </a:cubicBezTo>
                <a:cubicBezTo>
                  <a:pt x="144311" y="193223"/>
                  <a:pt x="139121" y="188032"/>
                  <a:pt x="139121" y="181630"/>
                </a:cubicBezTo>
                <a:lnTo>
                  <a:pt x="139121" y="150714"/>
                </a:lnTo>
                <a:cubicBezTo>
                  <a:pt x="139121" y="144311"/>
                  <a:pt x="144311" y="139121"/>
                  <a:pt x="150714" y="139121"/>
                </a:cubicBezTo>
                <a:close/>
                <a:moveTo>
                  <a:pt x="115934" y="150714"/>
                </a:moveTo>
                <a:cubicBezTo>
                  <a:pt x="115934" y="144311"/>
                  <a:pt x="110743" y="139121"/>
                  <a:pt x="104340" y="139121"/>
                </a:cubicBezTo>
                <a:cubicBezTo>
                  <a:pt x="97938" y="139121"/>
                  <a:pt x="92747" y="144311"/>
                  <a:pt x="92747" y="150714"/>
                </a:cubicBezTo>
                <a:lnTo>
                  <a:pt x="92747" y="181630"/>
                </a:lnTo>
                <a:cubicBezTo>
                  <a:pt x="92747" y="188032"/>
                  <a:pt x="97938" y="193223"/>
                  <a:pt x="104340" y="193223"/>
                </a:cubicBezTo>
                <a:cubicBezTo>
                  <a:pt x="110743" y="193223"/>
                  <a:pt x="115934" y="188032"/>
                  <a:pt x="115934" y="181630"/>
                </a:cubicBezTo>
                <a:lnTo>
                  <a:pt x="115934" y="150714"/>
                </a:lnTo>
                <a:close/>
                <a:moveTo>
                  <a:pt x="57967" y="208681"/>
                </a:moveTo>
                <a:cubicBezTo>
                  <a:pt x="64370" y="208681"/>
                  <a:pt x="69560" y="213872"/>
                  <a:pt x="69560" y="220274"/>
                </a:cubicBezTo>
                <a:lnTo>
                  <a:pt x="69560" y="258919"/>
                </a:lnTo>
                <a:cubicBezTo>
                  <a:pt x="69560" y="265321"/>
                  <a:pt x="64370" y="270512"/>
                  <a:pt x="57967" y="270512"/>
                </a:cubicBezTo>
                <a:cubicBezTo>
                  <a:pt x="51564" y="270512"/>
                  <a:pt x="46374" y="265321"/>
                  <a:pt x="46374" y="258919"/>
                </a:cubicBezTo>
                <a:lnTo>
                  <a:pt x="46374" y="220274"/>
                </a:lnTo>
                <a:cubicBezTo>
                  <a:pt x="46374" y="213872"/>
                  <a:pt x="51564" y="208681"/>
                  <a:pt x="57967" y="208681"/>
                </a:cubicBezTo>
                <a:close/>
                <a:moveTo>
                  <a:pt x="262783" y="220274"/>
                </a:moveTo>
                <a:cubicBezTo>
                  <a:pt x="262783" y="213872"/>
                  <a:pt x="257592" y="208681"/>
                  <a:pt x="251190" y="208681"/>
                </a:cubicBezTo>
                <a:cubicBezTo>
                  <a:pt x="244787" y="208681"/>
                  <a:pt x="239596" y="213872"/>
                  <a:pt x="239596" y="220274"/>
                </a:cubicBezTo>
                <a:lnTo>
                  <a:pt x="239596" y="258919"/>
                </a:lnTo>
                <a:cubicBezTo>
                  <a:pt x="239596" y="265321"/>
                  <a:pt x="244787" y="270512"/>
                  <a:pt x="251190" y="270512"/>
                </a:cubicBezTo>
                <a:cubicBezTo>
                  <a:pt x="257592" y="270512"/>
                  <a:pt x="262783" y="265321"/>
                  <a:pt x="262783" y="258919"/>
                </a:cubicBezTo>
                <a:lnTo>
                  <a:pt x="262783" y="220274"/>
                </a:lnTo>
                <a:close/>
                <a:moveTo>
                  <a:pt x="150714" y="0"/>
                </a:moveTo>
                <a:lnTo>
                  <a:pt x="208681" y="0"/>
                </a:lnTo>
                <a:cubicBezTo>
                  <a:pt x="212949" y="0"/>
                  <a:pt x="216410" y="3460"/>
                  <a:pt x="216410" y="7729"/>
                </a:cubicBezTo>
                <a:lnTo>
                  <a:pt x="216410" y="38645"/>
                </a:lnTo>
                <a:cubicBezTo>
                  <a:pt x="216410" y="42913"/>
                  <a:pt x="212949" y="46374"/>
                  <a:pt x="208681" y="46374"/>
                </a:cubicBezTo>
                <a:lnTo>
                  <a:pt x="162307" y="46374"/>
                </a:lnTo>
                <a:lnTo>
                  <a:pt x="162307" y="62103"/>
                </a:lnTo>
                <a:cubicBezTo>
                  <a:pt x="218459" y="66066"/>
                  <a:pt x="262783" y="112875"/>
                  <a:pt x="262783" y="170036"/>
                </a:cubicBezTo>
                <a:lnTo>
                  <a:pt x="274377" y="170036"/>
                </a:lnTo>
                <a:cubicBezTo>
                  <a:pt x="293584" y="170036"/>
                  <a:pt x="309157" y="185608"/>
                  <a:pt x="309157" y="204816"/>
                </a:cubicBezTo>
                <a:lnTo>
                  <a:pt x="309157" y="297563"/>
                </a:lnTo>
                <a:cubicBezTo>
                  <a:pt x="309157" y="303966"/>
                  <a:pt x="303966" y="309157"/>
                  <a:pt x="297563" y="309157"/>
                </a:cubicBezTo>
                <a:lnTo>
                  <a:pt x="11593" y="309157"/>
                </a:lnTo>
                <a:cubicBezTo>
                  <a:pt x="5191" y="309157"/>
                  <a:pt x="0" y="303966"/>
                  <a:pt x="0" y="297563"/>
                </a:cubicBezTo>
                <a:lnTo>
                  <a:pt x="0" y="204816"/>
                </a:lnTo>
                <a:cubicBezTo>
                  <a:pt x="0" y="185608"/>
                  <a:pt x="15572" y="170036"/>
                  <a:pt x="34780" y="170036"/>
                </a:cubicBezTo>
                <a:lnTo>
                  <a:pt x="46374" y="170036"/>
                </a:lnTo>
                <a:cubicBezTo>
                  <a:pt x="46374" y="115525"/>
                  <a:pt x="86683" y="70428"/>
                  <a:pt x="139121" y="62927"/>
                </a:cubicBezTo>
                <a:lnTo>
                  <a:pt x="139121" y="11593"/>
                </a:lnTo>
                <a:cubicBezTo>
                  <a:pt x="139121" y="5191"/>
                  <a:pt x="144311" y="0"/>
                  <a:pt x="150714" y="0"/>
                </a:cubicBezTo>
                <a:close/>
                <a:moveTo>
                  <a:pt x="154578" y="85018"/>
                </a:moveTo>
                <a:cubicBezTo>
                  <a:pt x="107624" y="85018"/>
                  <a:pt x="69560" y="123082"/>
                  <a:pt x="69560" y="170036"/>
                </a:cubicBezTo>
                <a:lnTo>
                  <a:pt x="69560" y="181630"/>
                </a:lnTo>
                <a:cubicBezTo>
                  <a:pt x="69560" y="188032"/>
                  <a:pt x="64370" y="193223"/>
                  <a:pt x="57967" y="193223"/>
                </a:cubicBezTo>
                <a:lnTo>
                  <a:pt x="34780" y="193223"/>
                </a:lnTo>
                <a:cubicBezTo>
                  <a:pt x="28377" y="193223"/>
                  <a:pt x="23187" y="198414"/>
                  <a:pt x="23187" y="204816"/>
                </a:cubicBezTo>
                <a:lnTo>
                  <a:pt x="23187" y="285970"/>
                </a:lnTo>
                <a:lnTo>
                  <a:pt x="115934" y="285970"/>
                </a:lnTo>
                <a:lnTo>
                  <a:pt x="115934" y="243461"/>
                </a:lnTo>
                <a:cubicBezTo>
                  <a:pt x="115934" y="237058"/>
                  <a:pt x="121124" y="231868"/>
                  <a:pt x="127527" y="231868"/>
                </a:cubicBezTo>
                <a:lnTo>
                  <a:pt x="181630" y="231868"/>
                </a:lnTo>
                <a:cubicBezTo>
                  <a:pt x="188032" y="231868"/>
                  <a:pt x="193223" y="237058"/>
                  <a:pt x="193223" y="243461"/>
                </a:cubicBezTo>
                <a:lnTo>
                  <a:pt x="193223" y="285970"/>
                </a:lnTo>
                <a:lnTo>
                  <a:pt x="285970" y="285970"/>
                </a:lnTo>
                <a:lnTo>
                  <a:pt x="285970" y="204816"/>
                </a:lnTo>
                <a:cubicBezTo>
                  <a:pt x="285970" y="198414"/>
                  <a:pt x="280779" y="193223"/>
                  <a:pt x="274377" y="193223"/>
                </a:cubicBezTo>
                <a:lnTo>
                  <a:pt x="251190" y="193223"/>
                </a:lnTo>
                <a:cubicBezTo>
                  <a:pt x="244787" y="193223"/>
                  <a:pt x="239596" y="188032"/>
                  <a:pt x="239596" y="181630"/>
                </a:cubicBezTo>
                <a:lnTo>
                  <a:pt x="239596" y="170036"/>
                </a:lnTo>
                <a:cubicBezTo>
                  <a:pt x="239596" y="123082"/>
                  <a:pt x="201533" y="85018"/>
                  <a:pt x="154578" y="85018"/>
                </a:cubicBezTo>
                <a:close/>
                <a:moveTo>
                  <a:pt x="170036" y="255054"/>
                </a:moveTo>
                <a:lnTo>
                  <a:pt x="139121" y="255054"/>
                </a:lnTo>
                <a:lnTo>
                  <a:pt x="139121" y="285970"/>
                </a:lnTo>
                <a:lnTo>
                  <a:pt x="170036" y="285970"/>
                </a:lnTo>
                <a:lnTo>
                  <a:pt x="170036" y="255054"/>
                </a:ln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75000"/>
                </a:schemeClr>
              </a:gs>
              <a:gs pos="100000">
                <a:schemeClr val="accent2">
                  <a:lumMod val="75000"/>
                </a:schemeClr>
              </a:gs>
              <a:gs pos="56000">
                <a:srgbClr val="CC918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chemeClr val="bg1"/>
              </a:solidFill>
              <a:latin typeface="+mj-lt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491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8" grpId="0" animBg="1"/>
      <p:bldP spid="29" grpId="0" animBg="1"/>
      <p:bldP spid="30" grpId="0"/>
      <p:bldP spid="31" grpId="0"/>
      <p:bldP spid="32" grpId="0"/>
    </p:bldLst>
  </p:timing>
</p:sld>
</file>

<file path=ppt/theme/theme1.xml><?xml version="1.0" encoding="utf-8"?>
<a:theme xmlns:a="http://schemas.openxmlformats.org/drawingml/2006/main" name="Azure 2023 Template">
  <a:themeElements>
    <a:clrScheme name="Custom 4">
      <a:dk1>
        <a:srgbClr val="000000"/>
      </a:dk1>
      <a:lt1>
        <a:srgbClr val="FFFFFF"/>
      </a:lt1>
      <a:dk2>
        <a:srgbClr val="0078D4"/>
      </a:dk2>
      <a:lt2>
        <a:srgbClr val="E8E6DF"/>
      </a:lt2>
      <a:accent1>
        <a:srgbClr val="0078D4"/>
      </a:accent1>
      <a:accent2>
        <a:srgbClr val="2A446F"/>
      </a:accent2>
      <a:accent3>
        <a:srgbClr val="49C5B1"/>
      </a:accent3>
      <a:accent4>
        <a:srgbClr val="8DE971"/>
      </a:accent4>
      <a:accent5>
        <a:srgbClr val="F4364F"/>
      </a:accent5>
      <a:accent6>
        <a:srgbClr val="C03BC4"/>
      </a:accent6>
      <a:hlink>
        <a:srgbClr val="091F2C"/>
      </a:hlink>
      <a:folHlink>
        <a:srgbClr val="091F2C"/>
      </a:folHlink>
    </a:clrScheme>
    <a:fontScheme name="Custom 4">
      <a:majorFont>
        <a:latin typeface="Segoe Sans Text Semibold"/>
        <a:ea typeface=""/>
        <a:cs typeface=""/>
      </a:majorFont>
      <a:minorFont>
        <a:latin typeface="Segoe Sans Tex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AzureTemplate_2023_v09" id="{84C66EF3-53A2-9A4F-A8C8-B123E5EB98BF}" vid="{4F8F454D-D741-BE40-A1B6-EA401B48B1B9}"/>
    </a:ext>
  </a:extLst>
</a:theme>
</file>

<file path=ppt/theme/theme2.xml><?xml version="1.0" encoding="utf-8"?>
<a:theme xmlns:a="http://schemas.openxmlformats.org/drawingml/2006/main" name="MSFT Cloud_Industry Slide Template-16x9">
  <a:themeElements>
    <a:clrScheme name="Custom 1">
      <a:dk1>
        <a:srgbClr val="091F2C"/>
      </a:dk1>
      <a:lt1>
        <a:srgbClr val="FFFFFF"/>
      </a:lt1>
      <a:dk2>
        <a:srgbClr val="000000"/>
      </a:dk2>
      <a:lt2>
        <a:srgbClr val="FFF8F5"/>
      </a:lt2>
      <a:accent1>
        <a:srgbClr val="702573"/>
      </a:accent1>
      <a:accent2>
        <a:srgbClr val="C03BC4"/>
      </a:accent2>
      <a:accent3>
        <a:srgbClr val="0078D4"/>
      </a:accent3>
      <a:accent4>
        <a:srgbClr val="8DC8E8"/>
      </a:accent4>
      <a:accent5>
        <a:srgbClr val="225B62"/>
      </a:accent5>
      <a:accent6>
        <a:srgbClr val="D4EC8E"/>
      </a:accent6>
      <a:hlink>
        <a:srgbClr val="C03BC4"/>
      </a:hlink>
      <a:folHlink>
        <a:srgbClr val="C03BC4"/>
      </a:folHlink>
    </a:clrScheme>
    <a:fontScheme name="FantasyxMSFT">
      <a:majorFont>
        <a:latin typeface="Segoe Sans Display Semibold"/>
        <a:ea typeface=""/>
        <a:cs typeface=""/>
      </a:majorFont>
      <a:minorFont>
        <a:latin typeface="Segoe Sans Display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tx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Cloud_Industry Slide Template-16x9_v06.potx" id="{22F967BE-1BE3-4E33-9E43-34A6A01C1D2B}" vid="{96DD2E20-957E-4F0C-81DD-10783C04073D}"/>
    </a:ext>
  </a:extLst>
</a:theme>
</file>

<file path=ppt/theme/theme3.xml><?xml version="1.0" encoding="utf-8"?>
<a:theme xmlns:a="http://schemas.openxmlformats.org/drawingml/2006/main" name="LIGHT MODE_CSA CTO Slide Master">
  <a:themeElements>
    <a:clrScheme name="2023 CSACTO_Theme Colors">
      <a:dk1>
        <a:srgbClr val="000000"/>
      </a:dk1>
      <a:lt1>
        <a:srgbClr val="FFFFFF"/>
      </a:lt1>
      <a:dk2>
        <a:srgbClr val="091F2C"/>
      </a:dk2>
      <a:lt2>
        <a:srgbClr val="F4F3F5"/>
      </a:lt2>
      <a:accent1>
        <a:srgbClr val="0078D4"/>
      </a:accent1>
      <a:accent2>
        <a:srgbClr val="8661C5"/>
      </a:accent2>
      <a:accent3>
        <a:srgbClr val="49C5B1"/>
      </a:accent3>
      <a:accent4>
        <a:srgbClr val="C03BC4"/>
      </a:accent4>
      <a:accent5>
        <a:srgbClr val="FFB900"/>
      </a:accent5>
      <a:accent6>
        <a:srgbClr val="B1B3B3"/>
      </a:accent6>
      <a:hlink>
        <a:srgbClr val="0077D3"/>
      </a:hlink>
      <a:folHlink>
        <a:srgbClr val="0077D3"/>
      </a:folHlink>
    </a:clrScheme>
    <a:fontScheme name="CSA CTO - Aptos">
      <a:majorFont>
        <a:latin typeface="Aptos SemiBold"/>
        <a:ea typeface=""/>
        <a:cs typeface=""/>
      </a:majorFont>
      <a:minorFont>
        <a:latin typeface="Apto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custClrLst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Light Brown">
      <a:srgbClr val="E1D3C7"/>
    </a:custClr>
    <a:custClr name="Brown">
      <a:srgbClr val="BF9474"/>
    </a:custClr>
    <a:custClr name="Dark Brown">
      <a:srgbClr val="5C4738"/>
    </a:custClr>
    <a:custClr name="Light Yellow">
      <a:srgbClr val="FFE399"/>
    </a:custClr>
    <a:custClr name="Yellow">
      <a:srgbClr val="FFB900"/>
    </a:custClr>
    <a:custClr name="Dark Yellow">
      <a:srgbClr val="7F5A1A"/>
    </a:custClr>
    <a:custClr name="Light Orange">
      <a:srgbClr val="FFA38B"/>
    </a:custClr>
    <a:custClr name="Orange">
      <a:srgbClr val="FF5C39"/>
    </a:custClr>
    <a:custClr name="Dark Orange">
      <a:srgbClr val="73391D"/>
    </a:custClr>
    <a:custClr name="Light Red">
      <a:srgbClr val="FFB3BB"/>
    </a:custClr>
    <a:custClr name="Red">
      <a:srgbClr val="F4364C"/>
    </a:custClr>
    <a:custClr name="Dark Red">
      <a:srgbClr val="73262F"/>
    </a:custClr>
    <a:custClr name="Light Magenta">
      <a:srgbClr val="D59ED7"/>
    </a:custClr>
    <a:custClr name="Magenta">
      <a:srgbClr val="C03BC4"/>
    </a:custClr>
    <a:custClr name="Dark Magenta">
      <a:srgbClr val="702573"/>
    </a:custClr>
    <a:custClr name="Light Purple">
      <a:srgbClr val="C5B4E3"/>
    </a:custClr>
    <a:custClr name="Purple">
      <a:srgbClr val="8661C5"/>
    </a:custClr>
    <a:custClr name="Dark Purple">
      <a:srgbClr val="463668"/>
    </a:custClr>
    <a:custClr name="Light Blue">
      <a:srgbClr val="8DC8E8"/>
    </a:custClr>
    <a:custClr name="Blue">
      <a:srgbClr val="0078D4"/>
    </a:custClr>
    <a:custClr name="Dark Blue">
      <a:srgbClr val="2A446F"/>
    </a:custClr>
    <a:custClr name="Light Teal">
      <a:srgbClr val="B9DCD2"/>
    </a:custClr>
    <a:custClr name="Teal">
      <a:srgbClr val="49C5B1"/>
    </a:custClr>
    <a:custClr name="Dark Teal">
      <a:srgbClr val="225B62"/>
    </a:custClr>
    <a:custClr name="Light Green">
      <a:srgbClr val="D4EC8E"/>
    </a:custClr>
    <a:custClr name="Green">
      <a:srgbClr val="8DE971"/>
    </a:custClr>
    <a:custClr name="Dark Green">
      <a:srgbClr val="07641D"/>
    </a:custClr>
    <a:custClr name="Blue Black">
      <a:srgbClr val="091F2C"/>
    </a:custClr>
    <a:custClr name="Pure Black">
      <a:srgbClr val="000000"/>
    </a:custClr>
    <a:custClr name="Brown Black">
      <a:srgbClr val="291817"/>
    </a:custClr>
  </a:custClrLst>
  <a:extLst>
    <a:ext uri="{05A4C25C-085E-4340-85A3-A5531E510DB2}">
      <thm15:themeFamily xmlns:thm15="http://schemas.microsoft.com/office/thememl/2012/main" name="CSA CTO Brand Template_Oct 2023" id="{FC0F2EA3-90CF-453C-A048-40FE73B0B819}" vid="{840C199F-5578-48C3-95FA-BBA13967066B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D83E8A873FAA4FA6BE29105A00E5B1" ma:contentTypeVersion="6" ma:contentTypeDescription="Create a new document." ma:contentTypeScope="" ma:versionID="07b478b38de5c802bae5bfab27d55485">
  <xsd:schema xmlns:xsd="http://www.w3.org/2001/XMLSchema" xmlns:xs="http://www.w3.org/2001/XMLSchema" xmlns:p="http://schemas.microsoft.com/office/2006/metadata/properties" xmlns:ns1="http://schemas.microsoft.com/sharepoint/v3" xmlns:ns2="e90a47ad-b2f7-412d-b7b2-20dd4a00bfa1" targetNamespace="http://schemas.microsoft.com/office/2006/metadata/properties" ma:root="true" ma:fieldsID="872aa701484656023104b76453c22fdd" ns1:_="" ns2:_="">
    <xsd:import namespace="http://schemas.microsoft.com/sharepoint/v3"/>
    <xsd:import namespace="e90a47ad-b2f7-412d-b7b2-20dd4a00bfa1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0a47ad-b2f7-412d-b7b2-20dd4a00bf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556A3D7-E328-4996-B6C4-73688DD98F21}">
  <ds:schemaRefs>
    <ds:schemaRef ds:uri="http://schemas.microsoft.com/sharepoint/v3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e90a47ad-b2f7-412d-b7b2-20dd4a00bfa1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91D04899-B511-4E9A-8228-33AF5D4E0A1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8634397-EA40-489E-B626-6817B6A62E80}">
  <ds:schemaRefs>
    <ds:schemaRef ds:uri="e90a47ad-b2f7-412d-b7b2-20dd4a00bfa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1555</Words>
  <Application>Microsoft Office PowerPoint</Application>
  <PresentationFormat>Widescreen</PresentationFormat>
  <Paragraphs>318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30" baseType="lpstr">
      <vt:lpstr>Aptos</vt:lpstr>
      <vt:lpstr>Aptos SemiBold</vt:lpstr>
      <vt:lpstr>Arial</vt:lpstr>
      <vt:lpstr>Calibri</vt:lpstr>
      <vt:lpstr>Consolas</vt:lpstr>
      <vt:lpstr>Segoe Sans Display</vt:lpstr>
      <vt:lpstr>Segoe Sans Display Semibold</vt:lpstr>
      <vt:lpstr>Segoe Sans Text</vt:lpstr>
      <vt:lpstr>Segoe Sans Text Semibold</vt:lpstr>
      <vt:lpstr>Segoe UI</vt:lpstr>
      <vt:lpstr>Segoe UI Semibold</vt:lpstr>
      <vt:lpstr>Segoe UI Variable Small</vt:lpstr>
      <vt:lpstr>Segoe UI Variable Text</vt:lpstr>
      <vt:lpstr>Segoe UI Variable Text Semibold</vt:lpstr>
      <vt:lpstr>Wingdings</vt:lpstr>
      <vt:lpstr>ZEISS Frutiger Next W1G Lt Cn</vt:lpstr>
      <vt:lpstr>Azure 2023 Template</vt:lpstr>
      <vt:lpstr>MSFT Cloud_Industry Slide Template-16x9</vt:lpstr>
      <vt:lpstr>LIGHT MODE_CSA CTO Slide Master</vt:lpstr>
      <vt:lpstr>PowerPoint Presentation</vt:lpstr>
      <vt:lpstr>BXT Use case template</vt:lpstr>
      <vt:lpstr>BXT Use case prioritization template</vt:lpstr>
      <vt:lpstr>Use case prioritization </vt:lpstr>
      <vt:lpstr>When envisioning a business use case, consider the following factors</vt:lpstr>
      <vt:lpstr>The BXT framework: Businesses viability </vt:lpstr>
      <vt:lpstr>The BXT framework: Experience</vt:lpstr>
      <vt:lpstr>The BXT framework: Technology </vt:lpstr>
      <vt:lpstr>PowerPoint Presentation</vt:lpstr>
      <vt:lpstr>Appendix</vt:lpstr>
      <vt:lpstr>We Envision with the 3-Horizons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Heseltine</dc:creator>
  <cp:lastModifiedBy>D V</cp:lastModifiedBy>
  <cp:revision>5</cp:revision>
  <dcterms:created xsi:type="dcterms:W3CDTF">2024-10-30T17:55:51Z</dcterms:created>
  <dcterms:modified xsi:type="dcterms:W3CDTF">2026-08-23T13:42:31Z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0x01010071D83E8A873FAA4FA6BE29105A00E5B1</vt:lpwstr>
  </property>
</Properties>
</file>