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679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bbv builds and runs AI where sales work actually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a sales team needs sits in ten systems, and none of it is governed for AI. So teams copy data into tools they should not, and pilots never reach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thing bbv builds is not a chatbot. Classification, residency and role-based segregation are enforced at query time, and every access is logged.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platform-enforced controls. Your data never trains a model, and every control exports its own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Autonomy is set per use case, not per product. Low confidence routes to a named owner, and every edit becomes an evaluation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from the systems of record, act inside the tools people already use. No data leaves the customer 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step is one node in a governed chain: trigger, policy check, agent, approval, write-back,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forward-deployed pod inside your sales organisation. Six weeks from kickoff to production, then hand-over.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use cases, one governed platform, along the whole customer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 agents for sales and operations: thirteen in production, five in pilot, all on one policy engine and one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Territories and quotas balanced against real potential; every reassignment carries its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482 leads ranked in forty seconds, each score explained by named source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Segments built from CRM and product usage, with consent enforced at query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systems, forty-one records, two minutes — delivered where the rep already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Anyone can ask, and the answer arrives with its sources, scoped to what that person may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 plans that refresh nightly instead of once a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 probability calculated from signals, with the gap to the rep commit made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 floors from SAP, discount authority from Salesforce. Nine minutes instead of two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Drafted from approved content only, with every source cited.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recording stays in M365; only the extracted fields cross into the CRM.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forecast the CFO can interrogate, deal by deal.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38% of requests resolved without an agent, and every escalation arrives with full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risk scored 120 days ahead, with the reason next to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screen is an API call: tenant-scoped, policy-aware, with sources and withheld fields in the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 measured against your own baseline, not a vendor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Consulting, forward-deployed delivery, and the AI Hub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25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24.svg"/><Relationship Id="rId17" Type="http://schemas.openxmlformats.org/officeDocument/2006/relationships/image" Target="../media/image29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3.svg"/><Relationship Id="rId5" Type="http://schemas.openxmlformats.org/officeDocument/2006/relationships/image" Target="../media/image3.svg"/><Relationship Id="rId15" Type="http://schemas.openxmlformats.org/officeDocument/2006/relationships/image" Target="../media/image27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.pn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3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3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3.svg"/><Relationship Id="rId5" Type="http://schemas.openxmlformats.org/officeDocument/2006/relationships/image" Target="../media/image3.svg"/><Relationship Id="rId15" Type="http://schemas.openxmlformats.org/officeDocument/2006/relationships/image" Target="../media/image38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3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1.svg"/><Relationship Id="rId18" Type="http://schemas.openxmlformats.org/officeDocument/2006/relationships/image" Target="../media/image4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40.svg"/><Relationship Id="rId17" Type="http://schemas.openxmlformats.org/officeDocument/2006/relationships/image" Target="../media/image45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23.svg"/><Relationship Id="rId5" Type="http://schemas.openxmlformats.org/officeDocument/2006/relationships/image" Target="../media/image3.svg"/><Relationship Id="rId15" Type="http://schemas.openxmlformats.org/officeDocument/2006/relationships/image" Target="../media/image4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4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41.svg"/><Relationship Id="rId18" Type="http://schemas.openxmlformats.org/officeDocument/2006/relationships/image" Target="../media/image46.svg"/><Relationship Id="rId3" Type="http://schemas.openxmlformats.org/officeDocument/2006/relationships/image" Target="../media/image1.png"/><Relationship Id="rId7" Type="http://schemas.openxmlformats.org/officeDocument/2006/relationships/image" Target="../media/image47.svg"/><Relationship Id="rId12" Type="http://schemas.openxmlformats.org/officeDocument/2006/relationships/image" Target="../media/image40.svg"/><Relationship Id="rId17" Type="http://schemas.openxmlformats.org/officeDocument/2006/relationships/image" Target="../media/image45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23.svg"/><Relationship Id="rId5" Type="http://schemas.openxmlformats.org/officeDocument/2006/relationships/image" Target="../media/image3.svg"/><Relationship Id="rId15" Type="http://schemas.openxmlformats.org/officeDocument/2006/relationships/image" Target="../media/image4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4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41.svg"/><Relationship Id="rId18" Type="http://schemas.openxmlformats.org/officeDocument/2006/relationships/image" Target="../media/image4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40.svg"/><Relationship Id="rId17" Type="http://schemas.openxmlformats.org/officeDocument/2006/relationships/image" Target="../media/image45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3.svg"/><Relationship Id="rId5" Type="http://schemas.openxmlformats.org/officeDocument/2006/relationships/image" Target="../media/image3.svg"/><Relationship Id="rId15" Type="http://schemas.openxmlformats.org/officeDocument/2006/relationships/image" Target="../media/image4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4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0" Type="http://schemas.openxmlformats.org/officeDocument/2006/relationships/image" Target="../media/image45.svg"/><Relationship Id="rId4" Type="http://schemas.openxmlformats.org/officeDocument/2006/relationships/image" Target="../media/image48.svg"/><Relationship Id="rId9" Type="http://schemas.openxmlformats.org/officeDocument/2006/relationships/image" Target="../media/image4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5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5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23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49.svg"/><Relationship Id="rId9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1.svg"/><Relationship Id="rId18" Type="http://schemas.openxmlformats.org/officeDocument/2006/relationships/image" Target="../media/image4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40.svg"/><Relationship Id="rId17" Type="http://schemas.openxmlformats.org/officeDocument/2006/relationships/image" Target="../media/image45.sv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23.svg"/><Relationship Id="rId5" Type="http://schemas.openxmlformats.org/officeDocument/2006/relationships/image" Target="../media/image3.svg"/><Relationship Id="rId15" Type="http://schemas.openxmlformats.org/officeDocument/2006/relationships/image" Target="../media/image4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4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40.svg"/><Relationship Id="rId18" Type="http://schemas.openxmlformats.org/officeDocument/2006/relationships/image" Target="../media/image45.svg"/><Relationship Id="rId3" Type="http://schemas.openxmlformats.org/officeDocument/2006/relationships/image" Target="../media/image1.png"/><Relationship Id="rId7" Type="http://schemas.openxmlformats.org/officeDocument/2006/relationships/image" Target="../media/image47.svg"/><Relationship Id="rId12" Type="http://schemas.openxmlformats.org/officeDocument/2006/relationships/image" Target="../media/image52.svg"/><Relationship Id="rId17" Type="http://schemas.openxmlformats.org/officeDocument/2006/relationships/image" Target="../media/image44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23.svg"/><Relationship Id="rId5" Type="http://schemas.openxmlformats.org/officeDocument/2006/relationships/image" Target="../media/image3.svg"/><Relationship Id="rId15" Type="http://schemas.openxmlformats.org/officeDocument/2006/relationships/image" Target="../media/image42.svg"/><Relationship Id="rId10" Type="http://schemas.openxmlformats.org/officeDocument/2006/relationships/image" Target="../media/image8.svg"/><Relationship Id="rId19" Type="http://schemas.openxmlformats.org/officeDocument/2006/relationships/image" Target="../media/image46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41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41.svg"/><Relationship Id="rId18" Type="http://schemas.openxmlformats.org/officeDocument/2006/relationships/image" Target="../media/image4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40.svg"/><Relationship Id="rId17" Type="http://schemas.openxmlformats.org/officeDocument/2006/relationships/image" Target="../media/image45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23.svg"/><Relationship Id="rId5" Type="http://schemas.openxmlformats.org/officeDocument/2006/relationships/image" Target="../media/image3.svg"/><Relationship Id="rId15" Type="http://schemas.openxmlformats.org/officeDocument/2006/relationships/image" Target="../media/image4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53.svg"/><Relationship Id="rId14" Type="http://schemas.openxmlformats.org/officeDocument/2006/relationships/image" Target="../media/image42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41.svg"/><Relationship Id="rId18" Type="http://schemas.openxmlformats.org/officeDocument/2006/relationships/image" Target="../media/image4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40.svg"/><Relationship Id="rId17" Type="http://schemas.openxmlformats.org/officeDocument/2006/relationships/image" Target="../media/image45.sv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4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3.svg"/><Relationship Id="rId5" Type="http://schemas.openxmlformats.org/officeDocument/2006/relationships/image" Target="../media/image3.svg"/><Relationship Id="rId15" Type="http://schemas.openxmlformats.org/officeDocument/2006/relationships/image" Target="../media/image4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4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46.svg"/><Relationship Id="rId3" Type="http://schemas.openxmlformats.org/officeDocument/2006/relationships/image" Target="../media/image1.png"/><Relationship Id="rId7" Type="http://schemas.openxmlformats.org/officeDocument/2006/relationships/image" Target="../media/image40.svg"/><Relationship Id="rId12" Type="http://schemas.openxmlformats.org/officeDocument/2006/relationships/image" Target="../media/image4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svg"/><Relationship Id="rId11" Type="http://schemas.openxmlformats.org/officeDocument/2006/relationships/image" Target="../media/image44.svg"/><Relationship Id="rId5" Type="http://schemas.openxmlformats.org/officeDocument/2006/relationships/image" Target="../media/image55.svg"/><Relationship Id="rId10" Type="http://schemas.openxmlformats.org/officeDocument/2006/relationships/image" Target="../media/image43.svg"/><Relationship Id="rId4" Type="http://schemas.openxmlformats.org/officeDocument/2006/relationships/image" Target="../media/image54.svg"/><Relationship Id="rId9" Type="http://schemas.openxmlformats.org/officeDocument/2006/relationships/image" Target="../media/image4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41.svg"/><Relationship Id="rId18" Type="http://schemas.openxmlformats.org/officeDocument/2006/relationships/image" Target="../media/image46.svg"/><Relationship Id="rId3" Type="http://schemas.openxmlformats.org/officeDocument/2006/relationships/image" Target="../media/image1.png"/><Relationship Id="rId7" Type="http://schemas.openxmlformats.org/officeDocument/2006/relationships/image" Target="../media/image47.svg"/><Relationship Id="rId12" Type="http://schemas.openxmlformats.org/officeDocument/2006/relationships/image" Target="../media/image40.svg"/><Relationship Id="rId17" Type="http://schemas.openxmlformats.org/officeDocument/2006/relationships/image" Target="../media/image45.sv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4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23.svg"/><Relationship Id="rId5" Type="http://schemas.openxmlformats.org/officeDocument/2006/relationships/image" Target="../media/image3.svg"/><Relationship Id="rId15" Type="http://schemas.openxmlformats.org/officeDocument/2006/relationships/image" Target="../media/image4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4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41.svg"/><Relationship Id="rId18" Type="http://schemas.openxmlformats.org/officeDocument/2006/relationships/image" Target="../media/image4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40.svg"/><Relationship Id="rId17" Type="http://schemas.openxmlformats.org/officeDocument/2006/relationships/image" Target="../media/image45.sv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23.svg"/><Relationship Id="rId5" Type="http://schemas.openxmlformats.org/officeDocument/2006/relationships/image" Target="../media/image3.svg"/><Relationship Id="rId15" Type="http://schemas.openxmlformats.org/officeDocument/2006/relationships/image" Target="../media/image4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53.svg"/><Relationship Id="rId14" Type="http://schemas.openxmlformats.org/officeDocument/2006/relationships/image" Target="../media/image42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41.svg"/><Relationship Id="rId18" Type="http://schemas.openxmlformats.org/officeDocument/2006/relationships/image" Target="../media/image46.svg"/><Relationship Id="rId3" Type="http://schemas.openxmlformats.org/officeDocument/2006/relationships/image" Target="../media/image1.png"/><Relationship Id="rId7" Type="http://schemas.openxmlformats.org/officeDocument/2006/relationships/image" Target="../media/image47.svg"/><Relationship Id="rId12" Type="http://schemas.openxmlformats.org/officeDocument/2006/relationships/image" Target="../media/image40.svg"/><Relationship Id="rId17" Type="http://schemas.openxmlformats.org/officeDocument/2006/relationships/image" Target="../media/image45.sv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4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23.svg"/><Relationship Id="rId5" Type="http://schemas.openxmlformats.org/officeDocument/2006/relationships/image" Target="../media/image3.svg"/><Relationship Id="rId15" Type="http://schemas.openxmlformats.org/officeDocument/2006/relationships/image" Target="../media/image4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4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240416" y="235975"/>
            <a:ext cx="438018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461" y="2996334"/>
            <a:ext cx="1628965" cy="162896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445772" y="3542483"/>
            <a:ext cx="9525" cy="53650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7"/>
          <p:cNvSpPr/>
          <p:nvPr/>
        </p:nvSpPr>
        <p:spPr>
          <a:xfrm>
            <a:off x="9589500" y="3613850"/>
            <a:ext cx="1091809" cy="4320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65" b="1" kern="0" spc="-5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2565" dirty="0"/>
          </a:p>
        </p:txBody>
      </p:sp>
      <p:sp>
        <p:nvSpPr>
          <p:cNvPr id="12" name="Text 8"/>
          <p:cNvSpPr/>
          <p:nvPr/>
        </p:nvSpPr>
        <p:spPr>
          <a:xfrm>
            <a:off x="3427325" y="5040526"/>
            <a:ext cx="11433186" cy="9487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89100"/>
              </a:lnSpc>
              <a:buNone/>
            </a:pPr>
            <a:r>
              <a:rPr lang="en-US" sz="6640" b="1" kern="0" spc="-199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across the sales journey</a:t>
            </a:r>
            <a:endParaRPr lang="en-US" sz="6640" dirty="0"/>
          </a:p>
        </p:txBody>
      </p:sp>
      <p:sp>
        <p:nvSpPr>
          <p:cNvPr id="13" name="Text 9"/>
          <p:cNvSpPr/>
          <p:nvPr/>
        </p:nvSpPr>
        <p:spPr>
          <a:xfrm>
            <a:off x="3427325" y="6161937"/>
            <a:ext cx="11433186" cy="35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13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data. Connected systems. Forward-deployed delivery.</a:t>
            </a:r>
            <a:endParaRPr lang="en-US" sz="2113" dirty="0"/>
          </a:p>
        </p:txBody>
      </p:sp>
      <p:sp>
        <p:nvSpPr>
          <p:cNvPr id="14" name="Shape 10"/>
          <p:cNvSpPr/>
          <p:nvPr/>
        </p:nvSpPr>
        <p:spPr>
          <a:xfrm>
            <a:off x="6568798" y="6864628"/>
            <a:ext cx="1015275" cy="42587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647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1"/>
          <p:cNvSpPr/>
          <p:nvPr/>
        </p:nvSpPr>
        <p:spPr>
          <a:xfrm>
            <a:off x="6732988" y="6971096"/>
            <a:ext cx="686896" cy="2510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Presale</a:t>
            </a:r>
            <a:endParaRPr lang="en-US" sz="1358" dirty="0"/>
          </a:p>
        </p:txBody>
      </p:sp>
      <p:sp>
        <p:nvSpPr>
          <p:cNvPr id="16" name="Shape 12"/>
          <p:cNvSpPr/>
          <p:nvPr/>
        </p:nvSpPr>
        <p:spPr>
          <a:xfrm>
            <a:off x="7699026" y="6864628"/>
            <a:ext cx="758587" cy="42587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647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3"/>
          <p:cNvSpPr/>
          <p:nvPr/>
        </p:nvSpPr>
        <p:spPr>
          <a:xfrm>
            <a:off x="7863216" y="6971096"/>
            <a:ext cx="430208" cy="2510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</a:t>
            </a:r>
            <a:endParaRPr lang="en-US" sz="1358" dirty="0"/>
          </a:p>
        </p:txBody>
      </p:sp>
      <p:sp>
        <p:nvSpPr>
          <p:cNvPr id="18" name="Shape 14"/>
          <p:cNvSpPr/>
          <p:nvPr/>
        </p:nvSpPr>
        <p:spPr>
          <a:xfrm>
            <a:off x="8572566" y="6864628"/>
            <a:ext cx="1181632" cy="42587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647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Text 15"/>
          <p:cNvSpPr/>
          <p:nvPr/>
        </p:nvSpPr>
        <p:spPr>
          <a:xfrm>
            <a:off x="8736756" y="6971096"/>
            <a:ext cx="853252" cy="2510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Post-sale</a:t>
            </a:r>
            <a:endParaRPr lang="en-US" sz="1358" dirty="0"/>
          </a:p>
        </p:txBody>
      </p:sp>
      <p:sp>
        <p:nvSpPr>
          <p:cNvPr id="20" name="Shape 16"/>
          <p:cNvSpPr/>
          <p:nvPr/>
        </p:nvSpPr>
        <p:spPr>
          <a:xfrm>
            <a:off x="9869150" y="6864628"/>
            <a:ext cx="1849722" cy="42587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647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7"/>
          <p:cNvSpPr/>
          <p:nvPr/>
        </p:nvSpPr>
        <p:spPr>
          <a:xfrm>
            <a:off x="10033340" y="6971096"/>
            <a:ext cx="1521342" cy="2510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planning</a:t>
            </a:r>
            <a:endParaRPr lang="en-US" sz="1358" dirty="0"/>
          </a:p>
        </p:txBody>
      </p:sp>
      <p:sp>
        <p:nvSpPr>
          <p:cNvPr id="22" name="Shape 18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19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692894" y="235975"/>
            <a:ext cx="985540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STARTING POINT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systems hold the customer. None of them can safely answer a question.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3774116"/>
            <a:ext cx="3261320" cy="1159371"/>
          </a:xfrm>
          <a:prstGeom prst="roundRect">
            <a:avLst>
              <a:gd name="adj" fmla="val 1314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9"/>
          <p:cNvSpPr/>
          <p:nvPr/>
        </p:nvSpPr>
        <p:spPr>
          <a:xfrm>
            <a:off x="867668" y="3956017"/>
            <a:ext cx="318727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867668" y="4235318"/>
            <a:ext cx="318727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records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67668" y="4527352"/>
            <a:ext cx="1472406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Text 12"/>
          <p:cNvSpPr/>
          <p:nvPr/>
        </p:nvSpPr>
        <p:spPr>
          <a:xfrm>
            <a:off x="962918" y="4565452"/>
            <a:ext cx="135810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policy · no lineage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4099388" y="3774116"/>
            <a:ext cx="3261486" cy="1159371"/>
          </a:xfrm>
          <a:prstGeom prst="roundRect">
            <a:avLst>
              <a:gd name="adj" fmla="val 1314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4281289" y="3956017"/>
            <a:ext cx="318745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Dynamics 365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4281289" y="4235318"/>
            <a:ext cx="318745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Orders, pricing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281289" y="4527352"/>
            <a:ext cx="1472406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Text 17"/>
          <p:cNvSpPr/>
          <p:nvPr/>
        </p:nvSpPr>
        <p:spPr>
          <a:xfrm>
            <a:off x="4376539" y="4565452"/>
            <a:ext cx="135810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policy · no lineage</a:t>
            </a:r>
            <a:endParaRPr lang="en-US" sz="975" dirty="0"/>
          </a:p>
        </p:txBody>
      </p:sp>
      <p:sp>
        <p:nvSpPr>
          <p:cNvPr id="21" name="Shape 18"/>
          <p:cNvSpPr/>
          <p:nvPr/>
        </p:nvSpPr>
        <p:spPr>
          <a:xfrm>
            <a:off x="7513175" y="3774116"/>
            <a:ext cx="3261486" cy="1159371"/>
          </a:xfrm>
          <a:prstGeom prst="roundRect">
            <a:avLst>
              <a:gd name="adj" fmla="val 1314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" name="Text 19"/>
          <p:cNvSpPr/>
          <p:nvPr/>
        </p:nvSpPr>
        <p:spPr>
          <a:xfrm>
            <a:off x="7695076" y="3956017"/>
            <a:ext cx="318745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</a:t>
            </a:r>
            <a:endParaRPr lang="en-US" sz="1425" dirty="0"/>
          </a:p>
        </p:txBody>
      </p:sp>
      <p:sp>
        <p:nvSpPr>
          <p:cNvPr id="23" name="Text 20"/>
          <p:cNvSpPr/>
          <p:nvPr/>
        </p:nvSpPr>
        <p:spPr>
          <a:xfrm>
            <a:off x="7695076" y="4235318"/>
            <a:ext cx="318745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Fulfilment, credit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695076" y="4527352"/>
            <a:ext cx="1472406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22"/>
          <p:cNvSpPr/>
          <p:nvPr/>
        </p:nvSpPr>
        <p:spPr>
          <a:xfrm>
            <a:off x="7790326" y="4565452"/>
            <a:ext cx="135810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policy · no lineage</a:t>
            </a:r>
            <a:endParaRPr lang="en-US" sz="975" dirty="0"/>
          </a:p>
        </p:txBody>
      </p:sp>
      <p:sp>
        <p:nvSpPr>
          <p:cNvPr id="26" name="Shape 23"/>
          <p:cNvSpPr/>
          <p:nvPr/>
        </p:nvSpPr>
        <p:spPr>
          <a:xfrm>
            <a:off x="10926961" y="3774116"/>
            <a:ext cx="3261486" cy="1159371"/>
          </a:xfrm>
          <a:prstGeom prst="roundRect">
            <a:avLst>
              <a:gd name="adj" fmla="val 1314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7" name="Text 24"/>
          <p:cNvSpPr/>
          <p:nvPr/>
        </p:nvSpPr>
        <p:spPr>
          <a:xfrm>
            <a:off x="11108863" y="3956017"/>
            <a:ext cx="318745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Snowflake</a:t>
            </a:r>
            <a:endParaRPr lang="en-US" sz="1425" dirty="0"/>
          </a:p>
        </p:txBody>
      </p:sp>
      <p:sp>
        <p:nvSpPr>
          <p:cNvPr id="28" name="Text 25"/>
          <p:cNvSpPr/>
          <p:nvPr/>
        </p:nvSpPr>
        <p:spPr>
          <a:xfrm>
            <a:off x="11108863" y="4235318"/>
            <a:ext cx="318745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usage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1108863" y="4527352"/>
            <a:ext cx="1472406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Text 27"/>
          <p:cNvSpPr/>
          <p:nvPr/>
        </p:nvSpPr>
        <p:spPr>
          <a:xfrm>
            <a:off x="11204113" y="4565452"/>
            <a:ext cx="135810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policy · no lineage</a:t>
            </a:r>
            <a:endParaRPr lang="en-US" sz="975" dirty="0"/>
          </a:p>
        </p:txBody>
      </p:sp>
      <p:sp>
        <p:nvSpPr>
          <p:cNvPr id="31" name="Shape 28"/>
          <p:cNvSpPr/>
          <p:nvPr/>
        </p:nvSpPr>
        <p:spPr>
          <a:xfrm>
            <a:off x="14340748" y="3774116"/>
            <a:ext cx="3261486" cy="1159371"/>
          </a:xfrm>
          <a:prstGeom prst="roundRect">
            <a:avLst>
              <a:gd name="adj" fmla="val 1314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2" name="Text 29"/>
          <p:cNvSpPr/>
          <p:nvPr/>
        </p:nvSpPr>
        <p:spPr>
          <a:xfrm>
            <a:off x="14522650" y="3956017"/>
            <a:ext cx="318745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SharePoint</a:t>
            </a:r>
            <a:endParaRPr lang="en-US" sz="1425" dirty="0"/>
          </a:p>
        </p:txBody>
      </p:sp>
      <p:sp>
        <p:nvSpPr>
          <p:cNvPr id="33" name="Text 30"/>
          <p:cNvSpPr/>
          <p:nvPr/>
        </p:nvSpPr>
        <p:spPr>
          <a:xfrm>
            <a:off x="14522650" y="4235318"/>
            <a:ext cx="318745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Contracts, decks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4522650" y="4527352"/>
            <a:ext cx="1472406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5" name="Text 32"/>
          <p:cNvSpPr/>
          <p:nvPr/>
        </p:nvSpPr>
        <p:spPr>
          <a:xfrm>
            <a:off x="14617900" y="4565452"/>
            <a:ext cx="135810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policy · no lineage</a:t>
            </a:r>
            <a:endParaRPr lang="en-US" sz="975" dirty="0"/>
          </a:p>
        </p:txBody>
      </p:sp>
      <p:sp>
        <p:nvSpPr>
          <p:cNvPr id="36" name="Shape 33"/>
          <p:cNvSpPr/>
          <p:nvPr/>
        </p:nvSpPr>
        <p:spPr>
          <a:xfrm>
            <a:off x="685767" y="5085788"/>
            <a:ext cx="3261320" cy="1159371"/>
          </a:xfrm>
          <a:prstGeom prst="roundRect">
            <a:avLst>
              <a:gd name="adj" fmla="val 1314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7" name="Text 34"/>
          <p:cNvSpPr/>
          <p:nvPr/>
        </p:nvSpPr>
        <p:spPr>
          <a:xfrm>
            <a:off x="867668" y="5267689"/>
            <a:ext cx="318727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Slack</a:t>
            </a:r>
            <a:endParaRPr lang="en-US" sz="1425" dirty="0"/>
          </a:p>
        </p:txBody>
      </p:sp>
      <p:sp>
        <p:nvSpPr>
          <p:cNvPr id="38" name="Text 35"/>
          <p:cNvSpPr/>
          <p:nvPr/>
        </p:nvSpPr>
        <p:spPr>
          <a:xfrm>
            <a:off x="867668" y="5546990"/>
            <a:ext cx="318727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threads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67668" y="5839024"/>
            <a:ext cx="1472406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Text 37"/>
          <p:cNvSpPr/>
          <p:nvPr/>
        </p:nvSpPr>
        <p:spPr>
          <a:xfrm>
            <a:off x="962918" y="5877124"/>
            <a:ext cx="135810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policy · no lineage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4099388" y="5085788"/>
            <a:ext cx="3261486" cy="1159371"/>
          </a:xfrm>
          <a:prstGeom prst="roundRect">
            <a:avLst>
              <a:gd name="adj" fmla="val 1314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2" name="Text 39"/>
          <p:cNvSpPr/>
          <p:nvPr/>
        </p:nvSpPr>
        <p:spPr>
          <a:xfrm>
            <a:off x="4281289" y="5267689"/>
            <a:ext cx="318745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Outlook</a:t>
            </a:r>
            <a:endParaRPr lang="en-US" sz="1425" dirty="0"/>
          </a:p>
        </p:txBody>
      </p:sp>
      <p:sp>
        <p:nvSpPr>
          <p:cNvPr id="43" name="Text 40"/>
          <p:cNvSpPr/>
          <p:nvPr/>
        </p:nvSpPr>
        <p:spPr>
          <a:xfrm>
            <a:off x="4281289" y="5546990"/>
            <a:ext cx="318745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email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281289" y="5839024"/>
            <a:ext cx="1472406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42"/>
          <p:cNvSpPr/>
          <p:nvPr/>
        </p:nvSpPr>
        <p:spPr>
          <a:xfrm>
            <a:off x="4376539" y="5877124"/>
            <a:ext cx="135810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policy · no lineage</a:t>
            </a:r>
            <a:endParaRPr lang="en-US" sz="975" dirty="0"/>
          </a:p>
        </p:txBody>
      </p:sp>
      <p:sp>
        <p:nvSpPr>
          <p:cNvPr id="46" name="Shape 43"/>
          <p:cNvSpPr/>
          <p:nvPr/>
        </p:nvSpPr>
        <p:spPr>
          <a:xfrm>
            <a:off x="7513175" y="5085788"/>
            <a:ext cx="3261486" cy="1159371"/>
          </a:xfrm>
          <a:prstGeom prst="roundRect">
            <a:avLst>
              <a:gd name="adj" fmla="val 1314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7" name="Text 44"/>
          <p:cNvSpPr/>
          <p:nvPr/>
        </p:nvSpPr>
        <p:spPr>
          <a:xfrm>
            <a:off x="7695076" y="5267689"/>
            <a:ext cx="318745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</a:t>
            </a:r>
            <a:endParaRPr lang="en-US" sz="1425" dirty="0"/>
          </a:p>
        </p:txBody>
      </p:sp>
      <p:sp>
        <p:nvSpPr>
          <p:cNvPr id="48" name="Text 45"/>
          <p:cNvSpPr/>
          <p:nvPr/>
        </p:nvSpPr>
        <p:spPr>
          <a:xfrm>
            <a:off x="7695076" y="5546990"/>
            <a:ext cx="318745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Tickets, SLAs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7695076" y="5839024"/>
            <a:ext cx="1472406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0" name="Text 47"/>
          <p:cNvSpPr/>
          <p:nvPr/>
        </p:nvSpPr>
        <p:spPr>
          <a:xfrm>
            <a:off x="7790326" y="5877124"/>
            <a:ext cx="135810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policy · no lineage</a:t>
            </a:r>
            <a:endParaRPr lang="en-US" sz="975" dirty="0"/>
          </a:p>
        </p:txBody>
      </p:sp>
      <p:sp>
        <p:nvSpPr>
          <p:cNvPr id="51" name="Shape 48"/>
          <p:cNvSpPr/>
          <p:nvPr/>
        </p:nvSpPr>
        <p:spPr>
          <a:xfrm>
            <a:off x="10926961" y="5085788"/>
            <a:ext cx="3261486" cy="1159371"/>
          </a:xfrm>
          <a:prstGeom prst="roundRect">
            <a:avLst>
              <a:gd name="adj" fmla="val 1314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49"/>
          <p:cNvSpPr/>
          <p:nvPr/>
        </p:nvSpPr>
        <p:spPr>
          <a:xfrm>
            <a:off x="11108863" y="5267689"/>
            <a:ext cx="318745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25" dirty="0"/>
          </a:p>
        </p:txBody>
      </p:sp>
      <p:sp>
        <p:nvSpPr>
          <p:cNvPr id="53" name="Text 50"/>
          <p:cNvSpPr/>
          <p:nvPr/>
        </p:nvSpPr>
        <p:spPr>
          <a:xfrm>
            <a:off x="11108863" y="5546990"/>
            <a:ext cx="318745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reports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11108863" y="5839024"/>
            <a:ext cx="1472406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52"/>
          <p:cNvSpPr/>
          <p:nvPr/>
        </p:nvSpPr>
        <p:spPr>
          <a:xfrm>
            <a:off x="11204113" y="5877124"/>
            <a:ext cx="135810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policy · no lineage</a:t>
            </a:r>
            <a:endParaRPr lang="en-US" sz="975" dirty="0"/>
          </a:p>
        </p:txBody>
      </p:sp>
      <p:sp>
        <p:nvSpPr>
          <p:cNvPr id="56" name="Shape 53"/>
          <p:cNvSpPr/>
          <p:nvPr/>
        </p:nvSpPr>
        <p:spPr>
          <a:xfrm>
            <a:off x="14340748" y="5085788"/>
            <a:ext cx="3261486" cy="1159371"/>
          </a:xfrm>
          <a:prstGeom prst="roundRect">
            <a:avLst>
              <a:gd name="adj" fmla="val 1314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7" name="Text 54"/>
          <p:cNvSpPr/>
          <p:nvPr/>
        </p:nvSpPr>
        <p:spPr>
          <a:xfrm>
            <a:off x="14522650" y="5267689"/>
            <a:ext cx="318745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</a:t>
            </a:r>
            <a:endParaRPr lang="en-US" sz="1425" dirty="0"/>
          </a:p>
        </p:txBody>
      </p:sp>
      <p:sp>
        <p:nvSpPr>
          <p:cNvPr id="58" name="Text 55"/>
          <p:cNvSpPr/>
          <p:nvPr/>
        </p:nvSpPr>
        <p:spPr>
          <a:xfrm>
            <a:off x="14522650" y="5546990"/>
            <a:ext cx="318745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recordings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14522650" y="5839024"/>
            <a:ext cx="1472406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57"/>
          <p:cNvSpPr/>
          <p:nvPr/>
        </p:nvSpPr>
        <p:spPr>
          <a:xfrm>
            <a:off x="14617900" y="5877124"/>
            <a:ext cx="135810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policy · no lineage</a:t>
            </a:r>
            <a:endParaRPr lang="en-US" sz="975" dirty="0"/>
          </a:p>
        </p:txBody>
      </p:sp>
      <p:sp>
        <p:nvSpPr>
          <p:cNvPr id="61" name="Shape 58"/>
          <p:cNvSpPr/>
          <p:nvPr/>
        </p:nvSpPr>
        <p:spPr>
          <a:xfrm>
            <a:off x="685767" y="6454676"/>
            <a:ext cx="5537234" cy="781844"/>
          </a:xfrm>
          <a:prstGeom prst="roundRect">
            <a:avLst>
              <a:gd name="adj" fmla="val 14619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59"/>
          <p:cNvSpPr/>
          <p:nvPr/>
        </p:nvSpPr>
        <p:spPr>
          <a:xfrm>
            <a:off x="876267" y="6625994"/>
            <a:ext cx="567185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Copy-paste into a chatbot</a:t>
            </a:r>
            <a:endParaRPr lang="en-US" sz="1500" dirty="0"/>
          </a:p>
        </p:txBody>
      </p:sp>
      <p:sp>
        <p:nvSpPr>
          <p:cNvPr id="63" name="Text 60"/>
          <p:cNvSpPr/>
          <p:nvPr/>
        </p:nvSpPr>
        <p:spPr>
          <a:xfrm>
            <a:off x="876267" y="6895869"/>
            <a:ext cx="567185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leaves the tenant</a:t>
            </a:r>
            <a:endParaRPr lang="en-US" sz="1125" dirty="0"/>
          </a:p>
        </p:txBody>
      </p:sp>
      <p:sp>
        <p:nvSpPr>
          <p:cNvPr id="64" name="Shape 61"/>
          <p:cNvSpPr/>
          <p:nvPr/>
        </p:nvSpPr>
        <p:spPr>
          <a:xfrm>
            <a:off x="6375301" y="6454676"/>
            <a:ext cx="5537399" cy="781844"/>
          </a:xfrm>
          <a:prstGeom prst="roundRect">
            <a:avLst>
              <a:gd name="adj" fmla="val 14619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62"/>
          <p:cNvSpPr/>
          <p:nvPr/>
        </p:nvSpPr>
        <p:spPr>
          <a:xfrm>
            <a:off x="6565801" y="6625994"/>
            <a:ext cx="567203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Per-team point tools</a:t>
            </a:r>
            <a:endParaRPr lang="en-US" sz="1500" dirty="0"/>
          </a:p>
        </p:txBody>
      </p:sp>
      <p:sp>
        <p:nvSpPr>
          <p:cNvPr id="66" name="Text 63"/>
          <p:cNvSpPr/>
          <p:nvPr/>
        </p:nvSpPr>
        <p:spPr>
          <a:xfrm>
            <a:off x="6565801" y="6895869"/>
            <a:ext cx="567203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shared context</a:t>
            </a:r>
            <a:endParaRPr lang="en-US" sz="1125" dirty="0"/>
          </a:p>
        </p:txBody>
      </p:sp>
      <p:sp>
        <p:nvSpPr>
          <p:cNvPr id="67" name="Shape 64"/>
          <p:cNvSpPr/>
          <p:nvPr/>
        </p:nvSpPr>
        <p:spPr>
          <a:xfrm>
            <a:off x="12065001" y="6454676"/>
            <a:ext cx="5537234" cy="781844"/>
          </a:xfrm>
          <a:prstGeom prst="roundRect">
            <a:avLst>
              <a:gd name="adj" fmla="val 14619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65"/>
          <p:cNvSpPr/>
          <p:nvPr/>
        </p:nvSpPr>
        <p:spPr>
          <a:xfrm>
            <a:off x="12255501" y="6625994"/>
            <a:ext cx="567185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Pilots that never ship</a:t>
            </a:r>
            <a:endParaRPr lang="en-US" sz="1500" dirty="0"/>
          </a:p>
        </p:txBody>
      </p:sp>
      <p:sp>
        <p:nvSpPr>
          <p:cNvPr id="69" name="Text 66"/>
          <p:cNvSpPr/>
          <p:nvPr/>
        </p:nvSpPr>
        <p:spPr>
          <a:xfrm>
            <a:off x="12255501" y="6895869"/>
            <a:ext cx="567185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path to production</a:t>
            </a:r>
            <a:endParaRPr lang="en-US" sz="1125" dirty="0"/>
          </a:p>
        </p:txBody>
      </p:sp>
      <p:sp>
        <p:nvSpPr>
          <p:cNvPr id="70" name="Shape 67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1" name="Shape 68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69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 a sales team needs is spread across ten systems — and none of it is governed for AI.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521080" y="235975"/>
            <a:ext cx="1157354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DATA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· LAYER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data layer: classification, lineage and segregation before any model runs.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0211594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9"/>
          <p:cNvSpPr/>
          <p:nvPr/>
        </p:nvSpPr>
        <p:spPr>
          <a:xfrm>
            <a:off x="905867" y="2201168"/>
            <a:ext cx="1074853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CATALOG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05867" y="2491052"/>
            <a:ext cx="3123059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DOMAIN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59279" y="2491052"/>
            <a:ext cx="223083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01577" y="2491052"/>
            <a:ext cx="178481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RESIDENCY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38401" y="2491052"/>
            <a:ext cx="267685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READ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286173" y="2491052"/>
            <a:ext cx="46728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05867" y="2628635"/>
            <a:ext cx="9771394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905867" y="2784078"/>
            <a:ext cx="3004096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360</a:t>
            </a:r>
            <a:endParaRPr lang="en-US" sz="1275" dirty="0"/>
          </a:p>
        </p:txBody>
      </p:sp>
      <p:sp>
        <p:nvSpPr>
          <p:cNvPr id="20" name="Text 17"/>
          <p:cNvSpPr/>
          <p:nvPr/>
        </p:nvSpPr>
        <p:spPr>
          <a:xfrm>
            <a:off x="3751130" y="2784078"/>
            <a:ext cx="214588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5816203" y="2784078"/>
            <a:ext cx="171660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DACH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7491016" y="2784078"/>
            <a:ext cx="2575173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Sales, Finance</a:t>
            </a:r>
            <a:endParaRPr lang="en-US" sz="1275" dirty="0"/>
          </a:p>
        </p:txBody>
      </p:sp>
      <p:sp>
        <p:nvSpPr>
          <p:cNvPr id="23" name="Shape 20"/>
          <p:cNvSpPr/>
          <p:nvPr/>
        </p:nvSpPr>
        <p:spPr>
          <a:xfrm>
            <a:off x="9946350" y="2772503"/>
            <a:ext cx="73091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Text 21"/>
          <p:cNvSpPr/>
          <p:nvPr/>
        </p:nvSpPr>
        <p:spPr>
          <a:xfrm>
            <a:off x="10041600" y="2810603"/>
            <a:ext cx="61661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</a:t>
            </a:r>
            <a:endParaRPr lang="en-US" sz="975" dirty="0"/>
          </a:p>
        </p:txBody>
      </p:sp>
      <p:sp>
        <p:nvSpPr>
          <p:cNvPr id="25" name="Shape 22"/>
          <p:cNvSpPr/>
          <p:nvPr/>
        </p:nvSpPr>
        <p:spPr>
          <a:xfrm>
            <a:off x="905867" y="3130021"/>
            <a:ext cx="9771394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Text 23"/>
          <p:cNvSpPr/>
          <p:nvPr/>
        </p:nvSpPr>
        <p:spPr>
          <a:xfrm>
            <a:off x="905867" y="3285464"/>
            <a:ext cx="3004096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notes</a:t>
            </a:r>
            <a:endParaRPr lang="en-US" sz="1275" dirty="0"/>
          </a:p>
        </p:txBody>
      </p:sp>
      <p:sp>
        <p:nvSpPr>
          <p:cNvPr id="27" name="Text 24"/>
          <p:cNvSpPr/>
          <p:nvPr/>
        </p:nvSpPr>
        <p:spPr>
          <a:xfrm>
            <a:off x="3751130" y="3285464"/>
            <a:ext cx="214588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1275" dirty="0"/>
          </a:p>
        </p:txBody>
      </p:sp>
      <p:sp>
        <p:nvSpPr>
          <p:cNvPr id="28" name="Text 25"/>
          <p:cNvSpPr/>
          <p:nvPr/>
        </p:nvSpPr>
        <p:spPr>
          <a:xfrm>
            <a:off x="5816203" y="3285464"/>
            <a:ext cx="171660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DACH</a:t>
            </a:r>
            <a:endParaRPr lang="en-US" sz="1275" dirty="0"/>
          </a:p>
        </p:txBody>
      </p:sp>
      <p:sp>
        <p:nvSpPr>
          <p:cNvPr id="29" name="Text 26"/>
          <p:cNvSpPr/>
          <p:nvPr/>
        </p:nvSpPr>
        <p:spPr>
          <a:xfrm>
            <a:off x="7491016" y="3285464"/>
            <a:ext cx="2575173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team only</a:t>
            </a:r>
            <a:endParaRPr lang="en-US" sz="1275" dirty="0"/>
          </a:p>
        </p:txBody>
      </p:sp>
      <p:sp>
        <p:nvSpPr>
          <p:cNvPr id="30" name="Shape 27"/>
          <p:cNvSpPr/>
          <p:nvPr/>
        </p:nvSpPr>
        <p:spPr>
          <a:xfrm>
            <a:off x="9946350" y="3273888"/>
            <a:ext cx="73091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1" name="Text 28"/>
          <p:cNvSpPr/>
          <p:nvPr/>
        </p:nvSpPr>
        <p:spPr>
          <a:xfrm>
            <a:off x="10041600" y="3311988"/>
            <a:ext cx="61661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905867" y="3631407"/>
            <a:ext cx="9771394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3" name="Text 30"/>
          <p:cNvSpPr/>
          <p:nvPr/>
        </p:nvSpPr>
        <p:spPr>
          <a:xfrm>
            <a:off x="905867" y="3786849"/>
            <a:ext cx="3004096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terms</a:t>
            </a:r>
            <a:endParaRPr lang="en-US" sz="1275" dirty="0"/>
          </a:p>
        </p:txBody>
      </p:sp>
      <p:sp>
        <p:nvSpPr>
          <p:cNvPr id="34" name="Text 31"/>
          <p:cNvSpPr/>
          <p:nvPr/>
        </p:nvSpPr>
        <p:spPr>
          <a:xfrm>
            <a:off x="3751130" y="3786849"/>
            <a:ext cx="214588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1275" dirty="0"/>
          </a:p>
        </p:txBody>
      </p:sp>
      <p:sp>
        <p:nvSpPr>
          <p:cNvPr id="35" name="Text 32"/>
          <p:cNvSpPr/>
          <p:nvPr/>
        </p:nvSpPr>
        <p:spPr>
          <a:xfrm>
            <a:off x="5816203" y="3786849"/>
            <a:ext cx="171660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</a:t>
            </a:r>
            <a:endParaRPr lang="en-US" sz="1275" dirty="0"/>
          </a:p>
        </p:txBody>
      </p:sp>
      <p:sp>
        <p:nvSpPr>
          <p:cNvPr id="36" name="Text 33"/>
          <p:cNvSpPr/>
          <p:nvPr/>
        </p:nvSpPr>
        <p:spPr>
          <a:xfrm>
            <a:off x="7491016" y="3786849"/>
            <a:ext cx="2575173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Legal, Deal desk</a:t>
            </a:r>
            <a:endParaRPr lang="en-US" sz="1275" dirty="0"/>
          </a:p>
        </p:txBody>
      </p:sp>
      <p:sp>
        <p:nvSpPr>
          <p:cNvPr id="37" name="Shape 34"/>
          <p:cNvSpPr/>
          <p:nvPr/>
        </p:nvSpPr>
        <p:spPr>
          <a:xfrm>
            <a:off x="9946350" y="3775274"/>
            <a:ext cx="73091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Text 35"/>
          <p:cNvSpPr/>
          <p:nvPr/>
        </p:nvSpPr>
        <p:spPr>
          <a:xfrm>
            <a:off x="10041600" y="3813374"/>
            <a:ext cx="61661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</a:t>
            </a:r>
            <a:endParaRPr lang="en-US" sz="975" dirty="0"/>
          </a:p>
        </p:txBody>
      </p:sp>
      <p:sp>
        <p:nvSpPr>
          <p:cNvPr id="39" name="Shape 36"/>
          <p:cNvSpPr/>
          <p:nvPr/>
        </p:nvSpPr>
        <p:spPr>
          <a:xfrm>
            <a:off x="905867" y="4132792"/>
            <a:ext cx="9771394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Text 37"/>
          <p:cNvSpPr/>
          <p:nvPr/>
        </p:nvSpPr>
        <p:spPr>
          <a:xfrm>
            <a:off x="905867" y="4288234"/>
            <a:ext cx="2987543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&amp; margin</a:t>
            </a:r>
            <a:endParaRPr lang="en-US" sz="1275" dirty="0"/>
          </a:p>
        </p:txBody>
      </p:sp>
      <p:sp>
        <p:nvSpPr>
          <p:cNvPr id="41" name="Text 38"/>
          <p:cNvSpPr/>
          <p:nvPr/>
        </p:nvSpPr>
        <p:spPr>
          <a:xfrm>
            <a:off x="3736082" y="4288234"/>
            <a:ext cx="2134063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1275" dirty="0"/>
          </a:p>
        </p:txBody>
      </p:sp>
      <p:sp>
        <p:nvSpPr>
          <p:cNvPr id="42" name="Text 39"/>
          <p:cNvSpPr/>
          <p:nvPr/>
        </p:nvSpPr>
        <p:spPr>
          <a:xfrm>
            <a:off x="5790406" y="4288234"/>
            <a:ext cx="1707141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</a:t>
            </a:r>
            <a:endParaRPr lang="en-US" sz="1275" dirty="0"/>
          </a:p>
        </p:txBody>
      </p:sp>
      <p:sp>
        <p:nvSpPr>
          <p:cNvPr id="43" name="Text 40"/>
          <p:cNvSpPr/>
          <p:nvPr/>
        </p:nvSpPr>
        <p:spPr>
          <a:xfrm>
            <a:off x="7456620" y="4288234"/>
            <a:ext cx="256098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desk</a:t>
            </a:r>
            <a:endParaRPr lang="en-US" sz="1275" dirty="0"/>
          </a:p>
        </p:txBody>
      </p:sp>
      <p:sp>
        <p:nvSpPr>
          <p:cNvPr id="44" name="Shape 41"/>
          <p:cNvSpPr/>
          <p:nvPr/>
        </p:nvSpPr>
        <p:spPr>
          <a:xfrm>
            <a:off x="9899055" y="4276659"/>
            <a:ext cx="778206" cy="224234"/>
          </a:xfrm>
          <a:prstGeom prst="roundRect">
            <a:avLst>
              <a:gd name="adj" fmla="val 16991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42"/>
          <p:cNvSpPr/>
          <p:nvPr/>
        </p:nvSpPr>
        <p:spPr>
          <a:xfrm>
            <a:off x="9994305" y="4314759"/>
            <a:ext cx="66390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desk</a:t>
            </a:r>
            <a:endParaRPr lang="en-US" sz="975" dirty="0"/>
          </a:p>
        </p:txBody>
      </p:sp>
      <p:sp>
        <p:nvSpPr>
          <p:cNvPr id="46" name="Shape 43"/>
          <p:cNvSpPr/>
          <p:nvPr/>
        </p:nvSpPr>
        <p:spPr>
          <a:xfrm>
            <a:off x="905867" y="4634177"/>
            <a:ext cx="9771394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7" name="Text 44"/>
          <p:cNvSpPr/>
          <p:nvPr/>
        </p:nvSpPr>
        <p:spPr>
          <a:xfrm>
            <a:off x="905867" y="4789620"/>
            <a:ext cx="302810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data (PII)</a:t>
            </a:r>
            <a:endParaRPr lang="en-US" sz="1275" dirty="0"/>
          </a:p>
        </p:txBody>
      </p:sp>
      <p:sp>
        <p:nvSpPr>
          <p:cNvPr id="48" name="Text 45"/>
          <p:cNvSpPr/>
          <p:nvPr/>
        </p:nvSpPr>
        <p:spPr>
          <a:xfrm>
            <a:off x="3772959" y="4789620"/>
            <a:ext cx="216316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Regulated</a:t>
            </a:r>
            <a:endParaRPr lang="en-US" sz="1275" dirty="0"/>
          </a:p>
        </p:txBody>
      </p:sp>
      <p:sp>
        <p:nvSpPr>
          <p:cNvPr id="49" name="Text 46"/>
          <p:cNvSpPr/>
          <p:nvPr/>
        </p:nvSpPr>
        <p:spPr>
          <a:xfrm>
            <a:off x="5853741" y="4789620"/>
            <a:ext cx="173042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only</a:t>
            </a:r>
            <a:endParaRPr lang="en-US" sz="1275" dirty="0"/>
          </a:p>
        </p:txBody>
      </p:sp>
      <p:sp>
        <p:nvSpPr>
          <p:cNvPr id="50" name="Text 47"/>
          <p:cNvSpPr/>
          <p:nvPr/>
        </p:nvSpPr>
        <p:spPr>
          <a:xfrm>
            <a:off x="7541122" y="4789620"/>
            <a:ext cx="2595546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 by default</a:t>
            </a:r>
            <a:endParaRPr lang="en-US" sz="1275" dirty="0"/>
          </a:p>
        </p:txBody>
      </p:sp>
      <p:sp>
        <p:nvSpPr>
          <p:cNvPr id="51" name="Shape 48"/>
          <p:cNvSpPr/>
          <p:nvPr/>
        </p:nvSpPr>
        <p:spPr>
          <a:xfrm>
            <a:off x="10014976" y="4778044"/>
            <a:ext cx="662120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2" name="Text 49"/>
          <p:cNvSpPr/>
          <p:nvPr/>
        </p:nvSpPr>
        <p:spPr>
          <a:xfrm>
            <a:off x="10110226" y="4816144"/>
            <a:ext cx="547820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</a:t>
            </a:r>
            <a:endParaRPr lang="en-US" sz="975" dirty="0"/>
          </a:p>
        </p:txBody>
      </p:sp>
      <p:sp>
        <p:nvSpPr>
          <p:cNvPr id="53" name="Shape 50"/>
          <p:cNvSpPr/>
          <p:nvPr/>
        </p:nvSpPr>
        <p:spPr>
          <a:xfrm>
            <a:off x="11087862" y="1981068"/>
            <a:ext cx="6514373" cy="2206956"/>
          </a:xfrm>
          <a:prstGeom prst="roundRect">
            <a:avLst>
              <a:gd name="adj" fmla="val 690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4" name="Text 51"/>
          <p:cNvSpPr/>
          <p:nvPr/>
        </p:nvSpPr>
        <p:spPr>
          <a:xfrm>
            <a:off x="11307961" y="2201168"/>
            <a:ext cx="6681589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SEGREGATION TEST · LIVE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11307961" y="2472035"/>
            <a:ext cx="6681589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 in region DACH asks:</a:t>
            </a:r>
            <a:endParaRPr lang="en-US" sz="1275" dirty="0"/>
          </a:p>
        </p:txBody>
      </p:sp>
      <p:sp>
        <p:nvSpPr>
          <p:cNvPr id="56" name="Text 53"/>
          <p:cNvSpPr/>
          <p:nvPr/>
        </p:nvSpPr>
        <p:spPr>
          <a:xfrm>
            <a:off x="11307961" y="2730169"/>
            <a:ext cx="668158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“Show margin on all open EU deals.”</a:t>
            </a:r>
            <a:endParaRPr lang="en-US" sz="1425" dirty="0"/>
          </a:p>
        </p:txBody>
      </p:sp>
      <p:sp>
        <p:nvSpPr>
          <p:cNvPr id="57" name="Text 54"/>
          <p:cNvSpPr/>
          <p:nvPr/>
        </p:nvSpPr>
        <p:spPr>
          <a:xfrm>
            <a:off x="11307961" y="3126879"/>
            <a:ext cx="1391725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DACH open deals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16379858" y="3104720"/>
            <a:ext cx="1002275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Text 56"/>
          <p:cNvSpPr/>
          <p:nvPr/>
        </p:nvSpPr>
        <p:spPr>
          <a:xfrm>
            <a:off x="16475108" y="3142820"/>
            <a:ext cx="887975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· 34</a:t>
            </a:r>
            <a:endParaRPr lang="en-US" sz="975" dirty="0"/>
          </a:p>
        </p:txBody>
      </p:sp>
      <p:sp>
        <p:nvSpPr>
          <p:cNvPr id="60" name="Text 57"/>
          <p:cNvSpPr/>
          <p:nvPr/>
        </p:nvSpPr>
        <p:spPr>
          <a:xfrm>
            <a:off x="11307961" y="3446363"/>
            <a:ext cx="929977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field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15977031" y="3424205"/>
            <a:ext cx="1405103" cy="224234"/>
          </a:xfrm>
          <a:prstGeom prst="roundRect">
            <a:avLst>
              <a:gd name="adj" fmla="val 16991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59"/>
          <p:cNvSpPr/>
          <p:nvPr/>
        </p:nvSpPr>
        <p:spPr>
          <a:xfrm>
            <a:off x="16072281" y="3462305"/>
            <a:ext cx="1290803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Withheld · deal desk</a:t>
            </a:r>
            <a:endParaRPr lang="en-US" sz="975" dirty="0"/>
          </a:p>
        </p:txBody>
      </p:sp>
      <p:sp>
        <p:nvSpPr>
          <p:cNvPr id="63" name="Text 60"/>
          <p:cNvSpPr/>
          <p:nvPr/>
        </p:nvSpPr>
        <p:spPr>
          <a:xfrm>
            <a:off x="11307961" y="3765848"/>
            <a:ext cx="1352434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EU regions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16141403" y="3743689"/>
            <a:ext cx="1240731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62"/>
          <p:cNvSpPr/>
          <p:nvPr/>
        </p:nvSpPr>
        <p:spPr>
          <a:xfrm>
            <a:off x="16236653" y="3781789"/>
            <a:ext cx="112643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 by policy</a:t>
            </a:r>
            <a:endParaRPr lang="en-US" sz="975" dirty="0"/>
          </a:p>
        </p:txBody>
      </p:sp>
      <p:sp>
        <p:nvSpPr>
          <p:cNvPr id="66" name="Shape 63"/>
          <p:cNvSpPr/>
          <p:nvPr/>
        </p:nvSpPr>
        <p:spPr>
          <a:xfrm>
            <a:off x="11087862" y="4340324"/>
            <a:ext cx="6514373" cy="4689409"/>
          </a:xfrm>
          <a:prstGeom prst="roundRect">
            <a:avLst>
              <a:gd name="adj" fmla="val 325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Text 64"/>
          <p:cNvSpPr/>
          <p:nvPr/>
        </p:nvSpPr>
        <p:spPr>
          <a:xfrm>
            <a:off x="11307961" y="4560425"/>
            <a:ext cx="6681589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11307961" y="4793258"/>
            <a:ext cx="6681589" cy="567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128,940</a:t>
            </a:r>
            <a:endParaRPr lang="en-US" sz="3450" dirty="0"/>
          </a:p>
        </p:txBody>
      </p:sp>
      <p:sp>
        <p:nvSpPr>
          <p:cNvPr id="69" name="Text 66"/>
          <p:cNvSpPr/>
          <p:nvPr/>
        </p:nvSpPr>
        <p:spPr>
          <a:xfrm>
            <a:off x="11307961" y="5379476"/>
            <a:ext cx="6256397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prompts, retrievals and writes logged this quarter — every one traceable to a source record and a policy decision.</a:t>
            </a:r>
            <a:endParaRPr lang="en-US" sz="1125" dirty="0"/>
          </a:p>
        </p:txBody>
      </p:sp>
      <p:sp>
        <p:nvSpPr>
          <p:cNvPr id="70" name="Shape 67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1" name="Shape 68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69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Classification, residency and role-based segregation, enforced at query time and logged.</a:t>
            </a:r>
            <a:endParaRPr lang="en-US" sz="20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953013" y="235975"/>
            <a:ext cx="725421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· LAYER 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and governance controls, enforced by the platform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6916467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6895300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6895300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230614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· Security and governance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5965456" y="2127085"/>
            <a:ext cx="1435695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6060706" y="2165185"/>
            <a:ext cx="1321395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controls enforced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848651" y="583025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6198950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23"/>
          <p:cNvSpPr/>
          <p:nvPr/>
        </p:nvSpPr>
        <p:spPr>
          <a:xfrm>
            <a:off x="1621234" y="2726035"/>
            <a:ext cx="3835466" cy="2605980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03135" y="2924142"/>
            <a:ext cx="190500" cy="1905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2088886" y="2907936"/>
            <a:ext cx="1445204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 isolation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1803135" y="3226098"/>
            <a:ext cx="3575814" cy="452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344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vector store and index per customer. No shared embeddings.</a:t>
            </a:r>
            <a:endParaRPr lang="en-US" sz="1125" dirty="0"/>
          </a:p>
        </p:txBody>
      </p:sp>
      <p:sp>
        <p:nvSpPr>
          <p:cNvPr id="38" name="Shape 26"/>
          <p:cNvSpPr/>
          <p:nvPr/>
        </p:nvSpPr>
        <p:spPr>
          <a:xfrm>
            <a:off x="1803135" y="4925881"/>
            <a:ext cx="73091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Text 27"/>
          <p:cNvSpPr/>
          <p:nvPr/>
        </p:nvSpPr>
        <p:spPr>
          <a:xfrm>
            <a:off x="1898385" y="4963981"/>
            <a:ext cx="61661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</a:t>
            </a:r>
            <a:endParaRPr lang="en-US" sz="975" dirty="0"/>
          </a:p>
        </p:txBody>
      </p:sp>
      <p:sp>
        <p:nvSpPr>
          <p:cNvPr id="40" name="Shape 28"/>
          <p:cNvSpPr/>
          <p:nvPr/>
        </p:nvSpPr>
        <p:spPr>
          <a:xfrm>
            <a:off x="5589984" y="2726035"/>
            <a:ext cx="3835466" cy="2605980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71885" y="2924142"/>
            <a:ext cx="190500" cy="19050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6057635" y="2907936"/>
            <a:ext cx="977602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Encryption</a:t>
            </a:r>
            <a:endParaRPr lang="en-US" sz="1350" dirty="0"/>
          </a:p>
        </p:txBody>
      </p:sp>
      <p:sp>
        <p:nvSpPr>
          <p:cNvPr id="43" name="Text 30"/>
          <p:cNvSpPr/>
          <p:nvPr/>
        </p:nvSpPr>
        <p:spPr>
          <a:xfrm>
            <a:off x="5771885" y="3226098"/>
            <a:ext cx="3575814" cy="452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344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AES-256 at rest, TLS 1.3 in transit, customer-managed keys.</a:t>
            </a:r>
            <a:endParaRPr lang="en-US" sz="1125" dirty="0"/>
          </a:p>
        </p:txBody>
      </p:sp>
      <p:sp>
        <p:nvSpPr>
          <p:cNvPr id="44" name="Shape 31"/>
          <p:cNvSpPr/>
          <p:nvPr/>
        </p:nvSpPr>
        <p:spPr>
          <a:xfrm>
            <a:off x="5771885" y="4925881"/>
            <a:ext cx="73091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2"/>
          <p:cNvSpPr/>
          <p:nvPr/>
        </p:nvSpPr>
        <p:spPr>
          <a:xfrm>
            <a:off x="5867135" y="4963981"/>
            <a:ext cx="61661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</a:t>
            </a:r>
            <a:endParaRPr lang="en-US" sz="975" dirty="0"/>
          </a:p>
        </p:txBody>
      </p:sp>
      <p:sp>
        <p:nvSpPr>
          <p:cNvPr id="46" name="Shape 33"/>
          <p:cNvSpPr/>
          <p:nvPr/>
        </p:nvSpPr>
        <p:spPr>
          <a:xfrm>
            <a:off x="9558735" y="2726035"/>
            <a:ext cx="3835466" cy="2605980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40636" y="2924142"/>
            <a:ext cx="190500" cy="19050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10026386" y="2907936"/>
            <a:ext cx="1026054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masking</a:t>
            </a:r>
            <a:endParaRPr lang="en-US" sz="1350" dirty="0"/>
          </a:p>
        </p:txBody>
      </p:sp>
      <p:sp>
        <p:nvSpPr>
          <p:cNvPr id="49" name="Text 35"/>
          <p:cNvSpPr/>
          <p:nvPr/>
        </p:nvSpPr>
        <p:spPr>
          <a:xfrm>
            <a:off x="9740636" y="3226098"/>
            <a:ext cx="3575814" cy="452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344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entity types detected and masked before the prompt is built.</a:t>
            </a:r>
            <a:endParaRPr lang="en-US" sz="1125" dirty="0"/>
          </a:p>
        </p:txBody>
      </p:sp>
      <p:sp>
        <p:nvSpPr>
          <p:cNvPr id="50" name="Shape 36"/>
          <p:cNvSpPr/>
          <p:nvPr/>
        </p:nvSpPr>
        <p:spPr>
          <a:xfrm>
            <a:off x="9740636" y="4925881"/>
            <a:ext cx="73091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1" name="Text 37"/>
          <p:cNvSpPr/>
          <p:nvPr/>
        </p:nvSpPr>
        <p:spPr>
          <a:xfrm>
            <a:off x="9835886" y="4963981"/>
            <a:ext cx="61661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</a:t>
            </a:r>
            <a:endParaRPr lang="en-US" sz="975" dirty="0"/>
          </a:p>
        </p:txBody>
      </p:sp>
      <p:sp>
        <p:nvSpPr>
          <p:cNvPr id="52" name="Shape 38"/>
          <p:cNvSpPr/>
          <p:nvPr/>
        </p:nvSpPr>
        <p:spPr>
          <a:xfrm>
            <a:off x="13527485" y="2726035"/>
            <a:ext cx="3835632" cy="2605980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709386" y="2924142"/>
            <a:ext cx="190500" cy="190500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13995136" y="2907936"/>
            <a:ext cx="1364258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residency</a:t>
            </a:r>
            <a:endParaRPr lang="en-US" sz="1350" dirty="0"/>
          </a:p>
        </p:txBody>
      </p:sp>
      <p:sp>
        <p:nvSpPr>
          <p:cNvPr id="55" name="Text 40"/>
          <p:cNvSpPr/>
          <p:nvPr/>
        </p:nvSpPr>
        <p:spPr>
          <a:xfrm>
            <a:off x="13709386" y="3226098"/>
            <a:ext cx="3575985" cy="452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344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regions only. Model endpoints pinned to the same boundary.</a:t>
            </a:r>
            <a:endParaRPr lang="en-US" sz="1125" dirty="0"/>
          </a:p>
        </p:txBody>
      </p:sp>
      <p:sp>
        <p:nvSpPr>
          <p:cNvPr id="56" name="Shape 41"/>
          <p:cNvSpPr/>
          <p:nvPr/>
        </p:nvSpPr>
        <p:spPr>
          <a:xfrm>
            <a:off x="13709386" y="4925881"/>
            <a:ext cx="73091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Text 42"/>
          <p:cNvSpPr/>
          <p:nvPr/>
        </p:nvSpPr>
        <p:spPr>
          <a:xfrm>
            <a:off x="13804636" y="4963981"/>
            <a:ext cx="61661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</a:t>
            </a:r>
            <a:endParaRPr lang="en-US" sz="975" dirty="0"/>
          </a:p>
        </p:txBody>
      </p:sp>
      <p:sp>
        <p:nvSpPr>
          <p:cNvPr id="58" name="Shape 43"/>
          <p:cNvSpPr/>
          <p:nvPr/>
        </p:nvSpPr>
        <p:spPr>
          <a:xfrm>
            <a:off x="1621234" y="5465300"/>
            <a:ext cx="3835466" cy="2606146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03135" y="5663407"/>
            <a:ext cx="190500" cy="190500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2088886" y="5647201"/>
            <a:ext cx="866643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</a:t>
            </a:r>
            <a:endParaRPr lang="en-US" sz="1350" dirty="0"/>
          </a:p>
        </p:txBody>
      </p:sp>
      <p:sp>
        <p:nvSpPr>
          <p:cNvPr id="61" name="Text 45"/>
          <p:cNvSpPr/>
          <p:nvPr/>
        </p:nvSpPr>
        <p:spPr>
          <a:xfrm>
            <a:off x="1803135" y="5965362"/>
            <a:ext cx="3575814" cy="452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344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 and outputs kept 30 days, then purged. Configurable.</a:t>
            </a:r>
            <a:endParaRPr lang="en-US" sz="1125" dirty="0"/>
          </a:p>
        </p:txBody>
      </p:sp>
      <p:sp>
        <p:nvSpPr>
          <p:cNvPr id="62" name="Shape 46"/>
          <p:cNvSpPr/>
          <p:nvPr/>
        </p:nvSpPr>
        <p:spPr>
          <a:xfrm>
            <a:off x="1803135" y="7665310"/>
            <a:ext cx="73091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47"/>
          <p:cNvSpPr/>
          <p:nvPr/>
        </p:nvSpPr>
        <p:spPr>
          <a:xfrm>
            <a:off x="1898385" y="7703410"/>
            <a:ext cx="61661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</a:t>
            </a:r>
            <a:endParaRPr lang="en-US" sz="975" dirty="0"/>
          </a:p>
        </p:txBody>
      </p:sp>
      <p:sp>
        <p:nvSpPr>
          <p:cNvPr id="64" name="Shape 48"/>
          <p:cNvSpPr/>
          <p:nvPr/>
        </p:nvSpPr>
        <p:spPr>
          <a:xfrm>
            <a:off x="5589984" y="5465300"/>
            <a:ext cx="3835466" cy="2606146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65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71885" y="5663407"/>
            <a:ext cx="190500" cy="190500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6057635" y="5647201"/>
            <a:ext cx="2186996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training on your data</a:t>
            </a:r>
            <a:endParaRPr lang="en-US" sz="1350" dirty="0"/>
          </a:p>
        </p:txBody>
      </p:sp>
      <p:sp>
        <p:nvSpPr>
          <p:cNvPr id="67" name="Text 50"/>
          <p:cNvSpPr/>
          <p:nvPr/>
        </p:nvSpPr>
        <p:spPr>
          <a:xfrm>
            <a:off x="5771885" y="5965362"/>
            <a:ext cx="3575814" cy="452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344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Contractual and technical. Zero-retention model endpoints.</a:t>
            </a:r>
            <a:endParaRPr lang="en-US" sz="1125" dirty="0"/>
          </a:p>
        </p:txBody>
      </p:sp>
      <p:sp>
        <p:nvSpPr>
          <p:cNvPr id="68" name="Shape 51"/>
          <p:cNvSpPr/>
          <p:nvPr/>
        </p:nvSpPr>
        <p:spPr>
          <a:xfrm>
            <a:off x="5771885" y="7665310"/>
            <a:ext cx="73091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Text 52"/>
          <p:cNvSpPr/>
          <p:nvPr/>
        </p:nvSpPr>
        <p:spPr>
          <a:xfrm>
            <a:off x="5867135" y="7703410"/>
            <a:ext cx="61661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</a:t>
            </a:r>
            <a:endParaRPr lang="en-US" sz="975" dirty="0"/>
          </a:p>
        </p:txBody>
      </p:sp>
      <p:sp>
        <p:nvSpPr>
          <p:cNvPr id="70" name="Shape 53"/>
          <p:cNvSpPr/>
          <p:nvPr/>
        </p:nvSpPr>
        <p:spPr>
          <a:xfrm>
            <a:off x="9558735" y="5465300"/>
            <a:ext cx="3835466" cy="2606146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1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40636" y="5663407"/>
            <a:ext cx="190500" cy="190500"/>
          </a:xfrm>
          <a:prstGeom prst="rect">
            <a:avLst/>
          </a:prstGeom>
        </p:spPr>
      </p:pic>
      <p:sp>
        <p:nvSpPr>
          <p:cNvPr id="72" name="Text 54"/>
          <p:cNvSpPr/>
          <p:nvPr/>
        </p:nvSpPr>
        <p:spPr>
          <a:xfrm>
            <a:off x="10026386" y="5647201"/>
            <a:ext cx="2319784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Prompt-injection defence</a:t>
            </a:r>
            <a:endParaRPr lang="en-US" sz="1350" dirty="0"/>
          </a:p>
        </p:txBody>
      </p:sp>
      <p:sp>
        <p:nvSpPr>
          <p:cNvPr id="73" name="Text 55"/>
          <p:cNvSpPr/>
          <p:nvPr/>
        </p:nvSpPr>
        <p:spPr>
          <a:xfrm>
            <a:off x="9740636" y="5965362"/>
            <a:ext cx="3575814" cy="452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344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Untrusted content sandboxed. Tool calls allow-listed.</a:t>
            </a:r>
            <a:endParaRPr lang="en-US" sz="1125" dirty="0"/>
          </a:p>
        </p:txBody>
      </p:sp>
      <p:sp>
        <p:nvSpPr>
          <p:cNvPr id="74" name="Shape 56"/>
          <p:cNvSpPr/>
          <p:nvPr/>
        </p:nvSpPr>
        <p:spPr>
          <a:xfrm>
            <a:off x="9740636" y="7665310"/>
            <a:ext cx="73091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5" name="Text 57"/>
          <p:cNvSpPr/>
          <p:nvPr/>
        </p:nvSpPr>
        <p:spPr>
          <a:xfrm>
            <a:off x="9835886" y="7703410"/>
            <a:ext cx="61661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</a:t>
            </a:r>
            <a:endParaRPr lang="en-US" sz="975" dirty="0"/>
          </a:p>
        </p:txBody>
      </p:sp>
      <p:sp>
        <p:nvSpPr>
          <p:cNvPr id="76" name="Shape 58"/>
          <p:cNvSpPr/>
          <p:nvPr/>
        </p:nvSpPr>
        <p:spPr>
          <a:xfrm>
            <a:off x="13527485" y="5465300"/>
            <a:ext cx="3835632" cy="2606146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7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709386" y="5663407"/>
            <a:ext cx="190500" cy="190500"/>
          </a:xfrm>
          <a:prstGeom prst="rect">
            <a:avLst/>
          </a:prstGeom>
        </p:spPr>
      </p:pic>
      <p:sp>
        <p:nvSpPr>
          <p:cNvPr id="78" name="Text 59"/>
          <p:cNvSpPr/>
          <p:nvPr/>
        </p:nvSpPr>
        <p:spPr>
          <a:xfrm>
            <a:off x="13995136" y="5647201"/>
            <a:ext cx="707066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</a:t>
            </a:r>
            <a:endParaRPr lang="en-US" sz="1350" dirty="0"/>
          </a:p>
        </p:txBody>
      </p:sp>
      <p:sp>
        <p:nvSpPr>
          <p:cNvPr id="79" name="Text 60"/>
          <p:cNvSpPr/>
          <p:nvPr/>
        </p:nvSpPr>
        <p:spPr>
          <a:xfrm>
            <a:off x="13709386" y="5965362"/>
            <a:ext cx="3575985" cy="452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344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SSO, SCIM, role and record-level access inherited from the CRM.</a:t>
            </a:r>
            <a:endParaRPr lang="en-US" sz="1125" dirty="0"/>
          </a:p>
        </p:txBody>
      </p:sp>
      <p:sp>
        <p:nvSpPr>
          <p:cNvPr id="80" name="Shape 61"/>
          <p:cNvSpPr/>
          <p:nvPr/>
        </p:nvSpPr>
        <p:spPr>
          <a:xfrm>
            <a:off x="13709386" y="7665310"/>
            <a:ext cx="73091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Text 62"/>
          <p:cNvSpPr/>
          <p:nvPr/>
        </p:nvSpPr>
        <p:spPr>
          <a:xfrm>
            <a:off x="13804636" y="7703410"/>
            <a:ext cx="61661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</a:t>
            </a:r>
            <a:endParaRPr lang="en-US" sz="975" dirty="0"/>
          </a:p>
        </p:txBody>
      </p:sp>
      <p:sp>
        <p:nvSpPr>
          <p:cNvPr id="82" name="Shape 63"/>
          <p:cNvSpPr/>
          <p:nvPr/>
        </p:nvSpPr>
        <p:spPr>
          <a:xfrm>
            <a:off x="1621234" y="8223746"/>
            <a:ext cx="15741882" cy="566870"/>
          </a:xfrm>
          <a:prstGeom prst="roundRect">
            <a:avLst>
              <a:gd name="adj" fmla="val 2016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Text 64"/>
          <p:cNvSpPr/>
          <p:nvPr/>
        </p:nvSpPr>
        <p:spPr>
          <a:xfrm>
            <a:off x="1792552" y="8438390"/>
            <a:ext cx="1414644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ASSESSED AGAINST</a:t>
            </a:r>
            <a:endParaRPr lang="en-US" sz="900" dirty="0"/>
          </a:p>
        </p:txBody>
      </p:sp>
      <p:sp>
        <p:nvSpPr>
          <p:cNvPr id="84" name="Shape 65"/>
          <p:cNvSpPr/>
          <p:nvPr/>
        </p:nvSpPr>
        <p:spPr>
          <a:xfrm>
            <a:off x="3345160" y="8395064"/>
            <a:ext cx="794081" cy="224234"/>
          </a:xfrm>
          <a:prstGeom prst="roundRect">
            <a:avLst>
              <a:gd name="adj" fmla="val 16991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66"/>
          <p:cNvSpPr/>
          <p:nvPr/>
        </p:nvSpPr>
        <p:spPr>
          <a:xfrm>
            <a:off x="3440410" y="8433164"/>
            <a:ext cx="67978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</a:t>
            </a:r>
            <a:endParaRPr lang="en-US" sz="975" dirty="0"/>
          </a:p>
        </p:txBody>
      </p:sp>
      <p:sp>
        <p:nvSpPr>
          <p:cNvPr id="86" name="Shape 67"/>
          <p:cNvSpPr/>
          <p:nvPr/>
        </p:nvSpPr>
        <p:spPr>
          <a:xfrm>
            <a:off x="4405809" y="8395064"/>
            <a:ext cx="994172" cy="224234"/>
          </a:xfrm>
          <a:prstGeom prst="roundRect">
            <a:avLst>
              <a:gd name="adj" fmla="val 16991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68"/>
          <p:cNvSpPr/>
          <p:nvPr/>
        </p:nvSpPr>
        <p:spPr>
          <a:xfrm>
            <a:off x="4501059" y="8433164"/>
            <a:ext cx="879872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Type II</a:t>
            </a:r>
            <a:endParaRPr lang="en-US" sz="975" dirty="0"/>
          </a:p>
        </p:txBody>
      </p:sp>
      <p:sp>
        <p:nvSpPr>
          <p:cNvPr id="88" name="Shape 69"/>
          <p:cNvSpPr/>
          <p:nvPr/>
        </p:nvSpPr>
        <p:spPr>
          <a:xfrm>
            <a:off x="5666548" y="8395064"/>
            <a:ext cx="533466" cy="224234"/>
          </a:xfrm>
          <a:prstGeom prst="roundRect">
            <a:avLst>
              <a:gd name="adj" fmla="val 16991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Text 70"/>
          <p:cNvSpPr/>
          <p:nvPr/>
        </p:nvSpPr>
        <p:spPr>
          <a:xfrm>
            <a:off x="5761798" y="8433164"/>
            <a:ext cx="41916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</a:t>
            </a:r>
            <a:endParaRPr lang="en-US" sz="975" dirty="0"/>
          </a:p>
        </p:txBody>
      </p:sp>
      <p:sp>
        <p:nvSpPr>
          <p:cNvPr id="90" name="Shape 71"/>
          <p:cNvSpPr/>
          <p:nvPr/>
        </p:nvSpPr>
        <p:spPr>
          <a:xfrm>
            <a:off x="6466583" y="8395064"/>
            <a:ext cx="1503164" cy="224234"/>
          </a:xfrm>
          <a:prstGeom prst="roundRect">
            <a:avLst>
              <a:gd name="adj" fmla="val 16991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2"/>
          <p:cNvSpPr/>
          <p:nvPr/>
        </p:nvSpPr>
        <p:spPr>
          <a:xfrm>
            <a:off x="6561833" y="8433164"/>
            <a:ext cx="1388864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AI Act · limited risk</a:t>
            </a:r>
            <a:endParaRPr lang="en-US" sz="975" dirty="0"/>
          </a:p>
        </p:txBody>
      </p:sp>
      <p:sp>
        <p:nvSpPr>
          <p:cNvPr id="92" name="Shape 73"/>
          <p:cNvSpPr/>
          <p:nvPr/>
        </p:nvSpPr>
        <p:spPr>
          <a:xfrm>
            <a:off x="8236314" y="8395064"/>
            <a:ext cx="1027906" cy="224234"/>
          </a:xfrm>
          <a:prstGeom prst="roundRect">
            <a:avLst>
              <a:gd name="adj" fmla="val 16991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4"/>
          <p:cNvSpPr/>
          <p:nvPr/>
        </p:nvSpPr>
        <p:spPr>
          <a:xfrm>
            <a:off x="8331564" y="8433164"/>
            <a:ext cx="91360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Swiss revDSG</a:t>
            </a:r>
            <a:endParaRPr lang="en-US" sz="975" dirty="0"/>
          </a:p>
        </p:txBody>
      </p:sp>
      <p:sp>
        <p:nvSpPr>
          <p:cNvPr id="94" name="Text 75"/>
          <p:cNvSpPr/>
          <p:nvPr/>
        </p:nvSpPr>
        <p:spPr>
          <a:xfrm>
            <a:off x="14166289" y="8422515"/>
            <a:ext cx="3328062" cy="207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exportable per control, per quarter.</a:t>
            </a:r>
            <a:endParaRPr lang="en-US" sz="1125" dirty="0"/>
          </a:p>
        </p:txBody>
      </p:sp>
      <p:sp>
        <p:nvSpPr>
          <p:cNvPr id="95" name="Shape 76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6" name="Shape 77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78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Isolation, encryption, masking, residency and retention — enforced by the platform, not by policy documents.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257654" y="235975"/>
            <a:ext cx="1479038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LOOP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· LAYER 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loop, set per use case rather than per product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8186870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9"/>
          <p:cNvSpPr/>
          <p:nvPr/>
        </p:nvSpPr>
        <p:spPr>
          <a:xfrm>
            <a:off x="905867" y="2201168"/>
            <a:ext cx="852133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AUTONOMY LADDER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05867" y="2491052"/>
            <a:ext cx="7746670" cy="870314"/>
          </a:xfrm>
          <a:prstGeom prst="roundRect">
            <a:avLst>
              <a:gd name="adj" fmla="val 1313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1068751" y="2653936"/>
            <a:ext cx="247551" cy="247551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Text 12"/>
          <p:cNvSpPr/>
          <p:nvPr/>
        </p:nvSpPr>
        <p:spPr>
          <a:xfrm>
            <a:off x="1030651" y="2653936"/>
            <a:ext cx="323751" cy="285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1411552" y="2666504"/>
            <a:ext cx="801489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1068751" y="2977555"/>
            <a:ext cx="8162991" cy="25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824"/>
              </a:lnSpc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proposes, the rep decides. Nothing leaves the platform.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05867" y="3475633"/>
            <a:ext cx="7746670" cy="870314"/>
          </a:xfrm>
          <a:prstGeom prst="roundRect">
            <a:avLst>
              <a:gd name="adj" fmla="val 1313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Shape 16"/>
          <p:cNvSpPr/>
          <p:nvPr/>
        </p:nvSpPr>
        <p:spPr>
          <a:xfrm>
            <a:off x="1068751" y="3638517"/>
            <a:ext cx="247551" cy="247551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Text 17"/>
          <p:cNvSpPr/>
          <p:nvPr/>
        </p:nvSpPr>
        <p:spPr>
          <a:xfrm>
            <a:off x="1030651" y="3638517"/>
            <a:ext cx="323751" cy="285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1411552" y="3651085"/>
            <a:ext cx="508463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</a:t>
            </a:r>
            <a:endParaRPr lang="en-US" sz="1425" dirty="0"/>
          </a:p>
        </p:txBody>
      </p:sp>
      <p:sp>
        <p:nvSpPr>
          <p:cNvPr id="22" name="Text 19"/>
          <p:cNvSpPr/>
          <p:nvPr/>
        </p:nvSpPr>
        <p:spPr>
          <a:xfrm>
            <a:off x="1068751" y="3962135"/>
            <a:ext cx="8162991" cy="25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824"/>
              </a:lnSpc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writes; a human edits and sends. Default for customer-facing text.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05867" y="4460214"/>
            <a:ext cx="7746670" cy="870314"/>
          </a:xfrm>
          <a:prstGeom prst="roundRect">
            <a:avLst>
              <a:gd name="adj" fmla="val 13133"/>
            </a:avLst>
          </a:prstGeom>
          <a:solidFill>
            <a:srgbClr val="C7E7FF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4" name="Shape 21"/>
          <p:cNvSpPr/>
          <p:nvPr/>
        </p:nvSpPr>
        <p:spPr>
          <a:xfrm>
            <a:off x="1068751" y="4623098"/>
            <a:ext cx="247551" cy="24755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22"/>
          <p:cNvSpPr/>
          <p:nvPr/>
        </p:nvSpPr>
        <p:spPr>
          <a:xfrm>
            <a:off x="1030651" y="4623098"/>
            <a:ext cx="323751" cy="285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1411552" y="4635666"/>
            <a:ext cx="1676764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with approval</a:t>
            </a:r>
            <a:endParaRPr lang="en-US" sz="1425" dirty="0"/>
          </a:p>
        </p:txBody>
      </p:sp>
      <p:sp>
        <p:nvSpPr>
          <p:cNvPr id="27" name="Shape 24"/>
          <p:cNvSpPr/>
          <p:nvPr/>
        </p:nvSpPr>
        <p:spPr>
          <a:xfrm>
            <a:off x="7475968" y="4634674"/>
            <a:ext cx="1013685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Text 25"/>
          <p:cNvSpPr/>
          <p:nvPr/>
        </p:nvSpPr>
        <p:spPr>
          <a:xfrm>
            <a:off x="7571218" y="4672774"/>
            <a:ext cx="899385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use case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1068751" y="4946717"/>
            <a:ext cx="8162991" cy="25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824"/>
              </a:lnSpc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executes once a named owner approves. Default for CRM writes.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05867" y="5444794"/>
            <a:ext cx="7746670" cy="870314"/>
          </a:xfrm>
          <a:prstGeom prst="roundRect">
            <a:avLst>
              <a:gd name="adj" fmla="val 1313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1" name="Shape 28"/>
          <p:cNvSpPr/>
          <p:nvPr/>
        </p:nvSpPr>
        <p:spPr>
          <a:xfrm>
            <a:off x="1068751" y="5607679"/>
            <a:ext cx="247551" cy="247551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2" name="Text 29"/>
          <p:cNvSpPr/>
          <p:nvPr/>
        </p:nvSpPr>
        <p:spPr>
          <a:xfrm>
            <a:off x="1030651" y="5607679"/>
            <a:ext cx="323751" cy="285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1411552" y="5620246"/>
            <a:ext cx="1749706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autonomously</a:t>
            </a:r>
            <a:endParaRPr lang="en-US" sz="1425" dirty="0"/>
          </a:p>
        </p:txBody>
      </p:sp>
      <p:sp>
        <p:nvSpPr>
          <p:cNvPr id="34" name="Text 31"/>
          <p:cNvSpPr/>
          <p:nvPr/>
        </p:nvSpPr>
        <p:spPr>
          <a:xfrm>
            <a:off x="1068751" y="5931297"/>
            <a:ext cx="8162991" cy="25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824"/>
              </a:lnSpc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for reversible, low-risk steps with a measured error rate.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063137" y="1981068"/>
            <a:ext cx="8539097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6" name="Text 33"/>
          <p:cNvSpPr/>
          <p:nvPr/>
        </p:nvSpPr>
        <p:spPr>
          <a:xfrm>
            <a:off x="9283237" y="2244494"/>
            <a:ext cx="264538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QUEUE · PRICING EXCEPTION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5164594" y="2201168"/>
            <a:ext cx="2217539" cy="224234"/>
          </a:xfrm>
          <a:prstGeom prst="roundRect">
            <a:avLst>
              <a:gd name="adj" fmla="val 16991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Text 35"/>
          <p:cNvSpPr/>
          <p:nvPr/>
        </p:nvSpPr>
        <p:spPr>
          <a:xfrm>
            <a:off x="15259844" y="2239268"/>
            <a:ext cx="2103239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0.71 · below threshold</a:t>
            </a:r>
            <a:endParaRPr lang="en-US" sz="975" dirty="0"/>
          </a:p>
        </p:txBody>
      </p:sp>
      <p:sp>
        <p:nvSpPr>
          <p:cNvPr id="39" name="Shape 36"/>
          <p:cNvSpPr/>
          <p:nvPr/>
        </p:nvSpPr>
        <p:spPr>
          <a:xfrm>
            <a:off x="9283237" y="2577703"/>
            <a:ext cx="8098896" cy="874117"/>
          </a:xfrm>
          <a:prstGeom prst="roundRect">
            <a:avLst>
              <a:gd name="adj" fmla="val 13076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Text 37"/>
          <p:cNvSpPr/>
          <p:nvPr/>
        </p:nvSpPr>
        <p:spPr>
          <a:xfrm>
            <a:off x="9454687" y="2749153"/>
            <a:ext cx="7998963" cy="569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50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Proposed: approve an 18% discount on route optimisation for Helvetia Logistik AG, 3 points below the first-year floor, in exchange for a 36-month term.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9283237" y="3585104"/>
            <a:ext cx="559561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5742544" y="3585104"/>
            <a:ext cx="1803549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desk · M. Brunner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9283237" y="3860271"/>
            <a:ext cx="514582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5611410" y="3860271"/>
            <a:ext cx="1947796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floor SAP-PB-114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9283237" y="4135438"/>
            <a:ext cx="1463212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recorded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5276877" y="4135438"/>
            <a:ext cx="2315782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with a shorter term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9283237" y="4486672"/>
            <a:ext cx="1170120" cy="391583"/>
          </a:xfrm>
          <a:prstGeom prst="roundRect">
            <a:avLst>
              <a:gd name="adj" fmla="val 19459"/>
            </a:avLst>
          </a:prstGeom>
          <a:solidFill>
            <a:srgbClr val="00658E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6122" y="4606231"/>
            <a:ext cx="152301" cy="152301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9674490" y="4592505"/>
            <a:ext cx="692183" cy="218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10548607" y="4486672"/>
            <a:ext cx="830626" cy="391583"/>
          </a:xfrm>
          <a:prstGeom prst="roundRect">
            <a:avLst>
              <a:gd name="adj" fmla="val 1945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1492" y="4606231"/>
            <a:ext cx="152301" cy="152301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10939860" y="4592505"/>
            <a:ext cx="352689" cy="218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200" dirty="0"/>
          </a:p>
        </p:txBody>
      </p:sp>
      <p:sp>
        <p:nvSpPr>
          <p:cNvPr id="53" name="Shape 48"/>
          <p:cNvSpPr/>
          <p:nvPr/>
        </p:nvSpPr>
        <p:spPr>
          <a:xfrm>
            <a:off x="11474483" y="4486672"/>
            <a:ext cx="1008063" cy="391583"/>
          </a:xfrm>
          <a:prstGeom prst="roundRect">
            <a:avLst>
              <a:gd name="adj" fmla="val 1945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7368" y="4606231"/>
            <a:ext cx="152301" cy="152301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11865736" y="4592505"/>
            <a:ext cx="530126" cy="218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200" dirty="0"/>
          </a:p>
        </p:txBody>
      </p:sp>
      <p:sp>
        <p:nvSpPr>
          <p:cNvPr id="56" name="Shape 50"/>
          <p:cNvSpPr/>
          <p:nvPr/>
        </p:nvSpPr>
        <p:spPr>
          <a:xfrm>
            <a:off x="9283237" y="7906081"/>
            <a:ext cx="8098896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Text 51"/>
          <p:cNvSpPr/>
          <p:nvPr/>
        </p:nvSpPr>
        <p:spPr>
          <a:xfrm>
            <a:off x="9283237" y="8068965"/>
            <a:ext cx="2802004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BY A HUMAN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9283237" y="8263599"/>
            <a:ext cx="28020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250" dirty="0"/>
          </a:p>
        </p:txBody>
      </p:sp>
      <p:sp>
        <p:nvSpPr>
          <p:cNvPr id="59" name="Text 53"/>
          <p:cNvSpPr/>
          <p:nvPr/>
        </p:nvSpPr>
        <p:spPr>
          <a:xfrm>
            <a:off x="9283237" y="8650883"/>
            <a:ext cx="280200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customer-facing output</a:t>
            </a:r>
            <a:endParaRPr lang="en-US" sz="1050" dirty="0"/>
          </a:p>
        </p:txBody>
      </p:sp>
      <p:sp>
        <p:nvSpPr>
          <p:cNvPr id="60" name="Text 54"/>
          <p:cNvSpPr/>
          <p:nvPr/>
        </p:nvSpPr>
        <p:spPr>
          <a:xfrm>
            <a:off x="12059048" y="8068965"/>
            <a:ext cx="2802004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UNCHANGED</a:t>
            </a:r>
            <a:endParaRPr lang="en-US" sz="900" dirty="0"/>
          </a:p>
        </p:txBody>
      </p:sp>
      <p:sp>
        <p:nvSpPr>
          <p:cNvPr id="61" name="Text 55"/>
          <p:cNvSpPr/>
          <p:nvPr/>
        </p:nvSpPr>
        <p:spPr>
          <a:xfrm>
            <a:off x="12059048" y="8263599"/>
            <a:ext cx="28020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83%</a:t>
            </a:r>
            <a:endParaRPr lang="en-US" sz="2250" dirty="0"/>
          </a:p>
        </p:txBody>
      </p:sp>
      <p:sp>
        <p:nvSpPr>
          <p:cNvPr id="62" name="Text 56"/>
          <p:cNvSpPr/>
          <p:nvPr/>
        </p:nvSpPr>
        <p:spPr>
          <a:xfrm>
            <a:off x="12059048" y="8650883"/>
            <a:ext cx="280200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edits feed the evaluation set</a:t>
            </a:r>
            <a:endParaRPr lang="en-US" sz="1050" dirty="0"/>
          </a:p>
        </p:txBody>
      </p:sp>
      <p:sp>
        <p:nvSpPr>
          <p:cNvPr id="63" name="Text 57"/>
          <p:cNvSpPr/>
          <p:nvPr/>
        </p:nvSpPr>
        <p:spPr>
          <a:xfrm>
            <a:off x="14834857" y="8068965"/>
            <a:ext cx="2802004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REVIEW TIME</a:t>
            </a:r>
            <a:endParaRPr lang="en-US" sz="900" dirty="0"/>
          </a:p>
        </p:txBody>
      </p:sp>
      <p:sp>
        <p:nvSpPr>
          <p:cNvPr id="64" name="Text 58"/>
          <p:cNvSpPr/>
          <p:nvPr/>
        </p:nvSpPr>
        <p:spPr>
          <a:xfrm>
            <a:off x="14834857" y="8263599"/>
            <a:ext cx="28020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s</a:t>
            </a:r>
            <a:endParaRPr lang="en-US" sz="2250" dirty="0"/>
          </a:p>
        </p:txBody>
      </p:sp>
      <p:sp>
        <p:nvSpPr>
          <p:cNvPr id="65" name="Text 59"/>
          <p:cNvSpPr/>
          <p:nvPr/>
        </p:nvSpPr>
        <p:spPr>
          <a:xfrm>
            <a:off x="14834857" y="8650883"/>
            <a:ext cx="280200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 sits inside Slack</a:t>
            </a:r>
            <a:endParaRPr lang="en-US" sz="1050" dirty="0"/>
          </a:p>
        </p:txBody>
      </p:sp>
      <p:sp>
        <p:nvSpPr>
          <p:cNvPr id="66" name="Shape 60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Shape 61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62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Autonomy is set per use case. Low confidence routes to a named human owner.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640804" y="235975"/>
            <a:ext cx="1037630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· LAYER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from the systems of record. Act inside the tools people already use.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3631407"/>
            <a:ext cx="5201047" cy="658151"/>
          </a:xfrm>
          <a:prstGeom prst="roundRect">
            <a:avLst>
              <a:gd name="adj" fmla="val 2315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9"/>
          <p:cNvSpPr/>
          <p:nvPr/>
        </p:nvSpPr>
        <p:spPr>
          <a:xfrm>
            <a:off x="867668" y="3775274"/>
            <a:ext cx="100819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867668" y="3997524"/>
            <a:ext cx="1008195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685767" y="4403825"/>
            <a:ext cx="5201047" cy="658151"/>
          </a:xfrm>
          <a:prstGeom prst="roundRect">
            <a:avLst>
              <a:gd name="adj" fmla="val 2315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2"/>
          <p:cNvSpPr/>
          <p:nvPr/>
        </p:nvSpPr>
        <p:spPr>
          <a:xfrm>
            <a:off x="867668" y="4547692"/>
            <a:ext cx="137971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Dynamics 365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867668" y="4769942"/>
            <a:ext cx="137971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685767" y="5176242"/>
            <a:ext cx="5201047" cy="658151"/>
          </a:xfrm>
          <a:prstGeom prst="roundRect">
            <a:avLst>
              <a:gd name="adj" fmla="val 2315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867668" y="5320110"/>
            <a:ext cx="53822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</a:t>
            </a:r>
            <a:endParaRPr lang="en-US" sz="1425" dirty="0"/>
          </a:p>
        </p:txBody>
      </p:sp>
      <p:sp>
        <p:nvSpPr>
          <p:cNvPr id="19" name="Text 16"/>
          <p:cNvSpPr/>
          <p:nvPr/>
        </p:nvSpPr>
        <p:spPr>
          <a:xfrm>
            <a:off x="867668" y="5542359"/>
            <a:ext cx="53822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</a:t>
            </a:r>
            <a:endParaRPr lang="en-US" sz="975" dirty="0"/>
          </a:p>
        </p:txBody>
      </p:sp>
      <p:sp>
        <p:nvSpPr>
          <p:cNvPr id="20" name="Shape 17"/>
          <p:cNvSpPr/>
          <p:nvPr/>
        </p:nvSpPr>
        <p:spPr>
          <a:xfrm>
            <a:off x="685767" y="5948660"/>
            <a:ext cx="5201047" cy="658151"/>
          </a:xfrm>
          <a:prstGeom prst="roundRect">
            <a:avLst>
              <a:gd name="adj" fmla="val 2315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867668" y="6092528"/>
            <a:ext cx="99165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Snowflake</a:t>
            </a:r>
            <a:endParaRPr lang="en-US" sz="1425" dirty="0"/>
          </a:p>
        </p:txBody>
      </p:sp>
      <p:sp>
        <p:nvSpPr>
          <p:cNvPr id="22" name="Text 19"/>
          <p:cNvSpPr/>
          <p:nvPr/>
        </p:nvSpPr>
        <p:spPr>
          <a:xfrm>
            <a:off x="867668" y="6314778"/>
            <a:ext cx="991658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lake</a:t>
            </a:r>
            <a:endParaRPr lang="en-US" sz="975" dirty="0"/>
          </a:p>
        </p:txBody>
      </p:sp>
      <p:sp>
        <p:nvSpPr>
          <p:cNvPr id="23" name="Shape 20"/>
          <p:cNvSpPr/>
          <p:nvPr/>
        </p:nvSpPr>
        <p:spPr>
          <a:xfrm>
            <a:off x="685767" y="6721079"/>
            <a:ext cx="5201047" cy="658151"/>
          </a:xfrm>
          <a:prstGeom prst="roundRect">
            <a:avLst>
              <a:gd name="adj" fmla="val 2315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4" name="Text 21"/>
          <p:cNvSpPr/>
          <p:nvPr/>
        </p:nvSpPr>
        <p:spPr>
          <a:xfrm>
            <a:off x="867668" y="6864946"/>
            <a:ext cx="11385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</a:t>
            </a:r>
            <a:endParaRPr lang="en-US" sz="1425" dirty="0"/>
          </a:p>
        </p:txBody>
      </p:sp>
      <p:sp>
        <p:nvSpPr>
          <p:cNvPr id="25" name="Text 22"/>
          <p:cNvSpPr/>
          <p:nvPr/>
        </p:nvSpPr>
        <p:spPr>
          <a:xfrm>
            <a:off x="867668" y="7087196"/>
            <a:ext cx="1138502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975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3382" y="1981068"/>
            <a:ext cx="5981072" cy="7048666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581801" y="4734058"/>
            <a:ext cx="3124068" cy="1542686"/>
          </a:xfrm>
          <a:prstGeom prst="roundRect">
            <a:avLst>
              <a:gd name="adj" fmla="val 9879"/>
            </a:avLst>
          </a:prstGeom>
          <a:solidFill>
            <a:srgbClr val="00334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Text 24"/>
          <p:cNvSpPr/>
          <p:nvPr/>
        </p:nvSpPr>
        <p:spPr>
          <a:xfrm>
            <a:off x="7676985" y="4962591"/>
            <a:ext cx="29337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-1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7770330" y="5313826"/>
            <a:ext cx="274701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C7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· agents · policy engine · orchestration</a:t>
            </a:r>
            <a:endParaRPr lang="en-US" sz="1125" dirty="0"/>
          </a:p>
        </p:txBody>
      </p:sp>
      <p:sp>
        <p:nvSpPr>
          <p:cNvPr id="30" name="Shape 26"/>
          <p:cNvSpPr/>
          <p:nvPr/>
        </p:nvSpPr>
        <p:spPr>
          <a:xfrm>
            <a:off x="8185382" y="5804793"/>
            <a:ext cx="475919" cy="243417"/>
          </a:xfrm>
          <a:prstGeom prst="roundRect">
            <a:avLst>
              <a:gd name="adj" fmla="val 15652"/>
            </a:avLst>
          </a:prstGeom>
          <a:solidFill>
            <a:srgbClr val="C7E7FF">
              <a:alpha val="16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1" name="Text 27"/>
          <p:cNvSpPr/>
          <p:nvPr/>
        </p:nvSpPr>
        <p:spPr>
          <a:xfrm>
            <a:off x="8242532" y="5852418"/>
            <a:ext cx="36161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C7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endParaRPr lang="en-US" sz="975" dirty="0"/>
          </a:p>
        </p:txBody>
      </p:sp>
      <p:sp>
        <p:nvSpPr>
          <p:cNvPr id="32" name="Shape 28"/>
          <p:cNvSpPr/>
          <p:nvPr/>
        </p:nvSpPr>
        <p:spPr>
          <a:xfrm>
            <a:off x="8737369" y="5804793"/>
            <a:ext cx="507835" cy="243417"/>
          </a:xfrm>
          <a:prstGeom prst="roundRect">
            <a:avLst>
              <a:gd name="adj" fmla="val 15652"/>
            </a:avLst>
          </a:prstGeom>
          <a:solidFill>
            <a:srgbClr val="C7E7FF">
              <a:alpha val="16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3" name="Text 29"/>
          <p:cNvSpPr/>
          <p:nvPr/>
        </p:nvSpPr>
        <p:spPr>
          <a:xfrm>
            <a:off x="8794519" y="5852418"/>
            <a:ext cx="393535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C7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</a:t>
            </a:r>
            <a:endParaRPr lang="en-US" sz="975" dirty="0"/>
          </a:p>
        </p:txBody>
      </p:sp>
      <p:sp>
        <p:nvSpPr>
          <p:cNvPr id="34" name="Shape 30"/>
          <p:cNvSpPr/>
          <p:nvPr/>
        </p:nvSpPr>
        <p:spPr>
          <a:xfrm>
            <a:off x="9321271" y="5804793"/>
            <a:ext cx="781017" cy="243417"/>
          </a:xfrm>
          <a:prstGeom prst="roundRect">
            <a:avLst>
              <a:gd name="adj" fmla="val 15652"/>
            </a:avLst>
          </a:prstGeom>
          <a:solidFill>
            <a:srgbClr val="C7E7FF">
              <a:alpha val="16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5" name="Text 31"/>
          <p:cNvSpPr/>
          <p:nvPr/>
        </p:nvSpPr>
        <p:spPr>
          <a:xfrm>
            <a:off x="9378421" y="5852418"/>
            <a:ext cx="666717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C7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bus</a:t>
            </a:r>
            <a:endParaRPr lang="en-US" sz="975" dirty="0"/>
          </a:p>
        </p:txBody>
      </p:sp>
      <p:sp>
        <p:nvSpPr>
          <p:cNvPr id="36" name="Shape 32"/>
          <p:cNvSpPr/>
          <p:nvPr/>
        </p:nvSpPr>
        <p:spPr>
          <a:xfrm>
            <a:off x="12401021" y="3631407"/>
            <a:ext cx="5201047" cy="658151"/>
          </a:xfrm>
          <a:prstGeom prst="roundRect">
            <a:avLst>
              <a:gd name="adj" fmla="val 2315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7" name="Text 33"/>
          <p:cNvSpPr/>
          <p:nvPr/>
        </p:nvSpPr>
        <p:spPr>
          <a:xfrm>
            <a:off x="16866395" y="3775274"/>
            <a:ext cx="55377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Slack</a:t>
            </a:r>
            <a:endParaRPr lang="en-US" sz="1425" dirty="0"/>
          </a:p>
        </p:txBody>
      </p:sp>
      <p:sp>
        <p:nvSpPr>
          <p:cNvPr id="38" name="Text 34"/>
          <p:cNvSpPr/>
          <p:nvPr/>
        </p:nvSpPr>
        <p:spPr>
          <a:xfrm>
            <a:off x="16866395" y="3997524"/>
            <a:ext cx="55377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</a:t>
            </a:r>
            <a:endParaRPr lang="en-US" sz="975" dirty="0"/>
          </a:p>
        </p:txBody>
      </p:sp>
      <p:sp>
        <p:nvSpPr>
          <p:cNvPr id="39" name="Shape 35"/>
          <p:cNvSpPr/>
          <p:nvPr/>
        </p:nvSpPr>
        <p:spPr>
          <a:xfrm>
            <a:off x="12401021" y="4403825"/>
            <a:ext cx="5201047" cy="658151"/>
          </a:xfrm>
          <a:prstGeom prst="roundRect">
            <a:avLst>
              <a:gd name="adj" fmla="val 2315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0" name="Text 36"/>
          <p:cNvSpPr/>
          <p:nvPr/>
        </p:nvSpPr>
        <p:spPr>
          <a:xfrm>
            <a:off x="16046451" y="4547692"/>
            <a:ext cx="137371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/ M365</a:t>
            </a:r>
            <a:endParaRPr lang="en-US" sz="1425" dirty="0"/>
          </a:p>
        </p:txBody>
      </p:sp>
      <p:sp>
        <p:nvSpPr>
          <p:cNvPr id="41" name="Text 37"/>
          <p:cNvSpPr/>
          <p:nvPr/>
        </p:nvSpPr>
        <p:spPr>
          <a:xfrm>
            <a:off x="16046451" y="4769942"/>
            <a:ext cx="1373717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</a:t>
            </a:r>
            <a:endParaRPr lang="en-US" sz="975" dirty="0"/>
          </a:p>
        </p:txBody>
      </p:sp>
      <p:sp>
        <p:nvSpPr>
          <p:cNvPr id="42" name="Shape 38"/>
          <p:cNvSpPr/>
          <p:nvPr/>
        </p:nvSpPr>
        <p:spPr>
          <a:xfrm>
            <a:off x="12401021" y="5176242"/>
            <a:ext cx="5201047" cy="658151"/>
          </a:xfrm>
          <a:prstGeom prst="roundRect">
            <a:avLst>
              <a:gd name="adj" fmla="val 2315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3" name="Text 39"/>
          <p:cNvSpPr/>
          <p:nvPr/>
        </p:nvSpPr>
        <p:spPr>
          <a:xfrm>
            <a:off x="16659027" y="5320110"/>
            <a:ext cx="76114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Outlook</a:t>
            </a:r>
            <a:endParaRPr lang="en-US" sz="1425" dirty="0"/>
          </a:p>
        </p:txBody>
      </p:sp>
      <p:sp>
        <p:nvSpPr>
          <p:cNvPr id="44" name="Text 40"/>
          <p:cNvSpPr/>
          <p:nvPr/>
        </p:nvSpPr>
        <p:spPr>
          <a:xfrm>
            <a:off x="16659027" y="5542359"/>
            <a:ext cx="7611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</a:t>
            </a:r>
            <a:endParaRPr lang="en-US" sz="975" dirty="0"/>
          </a:p>
        </p:txBody>
      </p:sp>
      <p:sp>
        <p:nvSpPr>
          <p:cNvPr id="45" name="Shape 41"/>
          <p:cNvSpPr/>
          <p:nvPr/>
        </p:nvSpPr>
        <p:spPr>
          <a:xfrm>
            <a:off x="12401021" y="5948660"/>
            <a:ext cx="5201047" cy="658151"/>
          </a:xfrm>
          <a:prstGeom prst="roundRect">
            <a:avLst>
              <a:gd name="adj" fmla="val 2315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6" name="Text 42"/>
          <p:cNvSpPr/>
          <p:nvPr/>
        </p:nvSpPr>
        <p:spPr>
          <a:xfrm>
            <a:off x="16388987" y="6092528"/>
            <a:ext cx="103118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SharePoint</a:t>
            </a:r>
            <a:endParaRPr lang="en-US" sz="1425" dirty="0"/>
          </a:p>
        </p:txBody>
      </p:sp>
      <p:sp>
        <p:nvSpPr>
          <p:cNvPr id="47" name="Text 43"/>
          <p:cNvSpPr/>
          <p:nvPr/>
        </p:nvSpPr>
        <p:spPr>
          <a:xfrm>
            <a:off x="16388987" y="6314778"/>
            <a:ext cx="1031181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975" dirty="0"/>
          </a:p>
        </p:txBody>
      </p:sp>
      <p:sp>
        <p:nvSpPr>
          <p:cNvPr id="48" name="Shape 44"/>
          <p:cNvSpPr/>
          <p:nvPr/>
        </p:nvSpPr>
        <p:spPr>
          <a:xfrm>
            <a:off x="12401021" y="6721079"/>
            <a:ext cx="5201047" cy="658151"/>
          </a:xfrm>
          <a:prstGeom prst="roundRect">
            <a:avLst>
              <a:gd name="adj" fmla="val 2315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9" name="Text 45"/>
          <p:cNvSpPr/>
          <p:nvPr/>
        </p:nvSpPr>
        <p:spPr>
          <a:xfrm>
            <a:off x="16577999" y="6864946"/>
            <a:ext cx="84216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25" dirty="0"/>
          </a:p>
        </p:txBody>
      </p:sp>
      <p:sp>
        <p:nvSpPr>
          <p:cNvPr id="50" name="Text 46"/>
          <p:cNvSpPr/>
          <p:nvPr/>
        </p:nvSpPr>
        <p:spPr>
          <a:xfrm>
            <a:off x="16577999" y="7087196"/>
            <a:ext cx="84216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</a:t>
            </a:r>
            <a:endParaRPr lang="en-US" sz="975" dirty="0"/>
          </a:p>
        </p:txBody>
      </p:sp>
      <p:sp>
        <p:nvSpPr>
          <p:cNvPr id="51" name="Shape 47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2" name="Shape 48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3" name="Text 49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 reads from the systems of record and acts inside the tools people already use.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726298" y="235975"/>
            <a:ext cx="952136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· LAYER 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automation: the AI step is one node in a governed chain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6916467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6895300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6895300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208422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· Workflow automation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5652917" y="2127085"/>
            <a:ext cx="1748234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5748167" y="2165185"/>
            <a:ext cx="1633934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workflows in production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48651" y="3544921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6198950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23"/>
          <p:cNvSpPr/>
          <p:nvPr/>
        </p:nvSpPr>
        <p:spPr>
          <a:xfrm>
            <a:off x="2002234" y="2983177"/>
            <a:ext cx="14979882" cy="19017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5" name="Shape 24"/>
          <p:cNvSpPr/>
          <p:nvPr/>
        </p:nvSpPr>
        <p:spPr>
          <a:xfrm>
            <a:off x="2002234" y="2983177"/>
            <a:ext cx="14979882" cy="19017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6" name="Shape 25"/>
          <p:cNvSpPr/>
          <p:nvPr/>
        </p:nvSpPr>
        <p:spPr>
          <a:xfrm>
            <a:off x="2608130" y="2764069"/>
            <a:ext cx="554467" cy="554467"/>
          </a:xfrm>
          <a:prstGeom prst="ellipse">
            <a:avLst/>
          </a:prstGeom>
          <a:solidFill>
            <a:srgbClr val="00658E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71015" y="2926953"/>
            <a:ext cx="228534" cy="228534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2546714" y="3432804"/>
            <a:ext cx="677300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</a:t>
            </a:r>
            <a:endParaRPr lang="en-US" sz="1350" dirty="0"/>
          </a:p>
        </p:txBody>
      </p:sp>
      <p:sp>
        <p:nvSpPr>
          <p:cNvPr id="39" name="Text 27"/>
          <p:cNvSpPr/>
          <p:nvPr/>
        </p:nvSpPr>
        <p:spPr>
          <a:xfrm>
            <a:off x="2085628" y="3703340"/>
            <a:ext cx="1599638" cy="2380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8125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posted in D365</a:t>
            </a:r>
            <a:endParaRPr lang="en-US" sz="1125" dirty="0"/>
          </a:p>
        </p:txBody>
      </p:sp>
      <p:sp>
        <p:nvSpPr>
          <p:cNvPr id="40" name="Shape 28"/>
          <p:cNvSpPr/>
          <p:nvPr/>
        </p:nvSpPr>
        <p:spPr>
          <a:xfrm>
            <a:off x="5250822" y="2764069"/>
            <a:ext cx="554467" cy="554467"/>
          </a:xfrm>
          <a:prstGeom prst="ellipse">
            <a:avLst/>
          </a:prstGeom>
          <a:solidFill>
            <a:srgbClr val="00658E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13706" y="2926953"/>
            <a:ext cx="228534" cy="228534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4966329" y="3432804"/>
            <a:ext cx="1123619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check</a:t>
            </a:r>
            <a:endParaRPr lang="en-US" sz="1350" dirty="0"/>
          </a:p>
        </p:txBody>
      </p:sp>
      <p:sp>
        <p:nvSpPr>
          <p:cNvPr id="43" name="Text 30"/>
          <p:cNvSpPr/>
          <p:nvPr/>
        </p:nvSpPr>
        <p:spPr>
          <a:xfrm>
            <a:off x="4638105" y="3703340"/>
            <a:ext cx="1779902" cy="2380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8125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Region, role, PII masked</a:t>
            </a:r>
            <a:endParaRPr lang="en-US" sz="1125" dirty="0"/>
          </a:p>
        </p:txBody>
      </p:sp>
      <p:sp>
        <p:nvSpPr>
          <p:cNvPr id="44" name="Shape 31"/>
          <p:cNvSpPr/>
          <p:nvPr/>
        </p:nvSpPr>
        <p:spPr>
          <a:xfrm>
            <a:off x="7893514" y="2764069"/>
            <a:ext cx="554467" cy="554467"/>
          </a:xfrm>
          <a:prstGeom prst="ellipse">
            <a:avLst/>
          </a:prstGeom>
          <a:solidFill>
            <a:srgbClr val="00658E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56398" y="2926953"/>
            <a:ext cx="228534" cy="228534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7682607" y="3432804"/>
            <a:ext cx="976445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step</a:t>
            </a:r>
            <a:endParaRPr lang="en-US" sz="1350" dirty="0"/>
          </a:p>
        </p:txBody>
      </p:sp>
      <p:sp>
        <p:nvSpPr>
          <p:cNvPr id="47" name="Text 33"/>
          <p:cNvSpPr/>
          <p:nvPr/>
        </p:nvSpPr>
        <p:spPr>
          <a:xfrm>
            <a:off x="7343726" y="3703340"/>
            <a:ext cx="1654208" cy="2380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8125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to account plan</a:t>
            </a:r>
            <a:endParaRPr lang="en-US" sz="1125" dirty="0"/>
          </a:p>
        </p:txBody>
      </p:sp>
      <p:sp>
        <p:nvSpPr>
          <p:cNvPr id="48" name="Shape 34"/>
          <p:cNvSpPr/>
          <p:nvPr/>
        </p:nvSpPr>
        <p:spPr>
          <a:xfrm>
            <a:off x="10536205" y="2764069"/>
            <a:ext cx="554467" cy="554467"/>
          </a:xfrm>
          <a:prstGeom prst="ellipse">
            <a:avLst/>
          </a:prstGeom>
          <a:solidFill>
            <a:srgbClr val="00658E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99089" y="2926953"/>
            <a:ext cx="228534" cy="228534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10069008" y="3432804"/>
            <a:ext cx="1488860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approval</a:t>
            </a:r>
            <a:endParaRPr lang="en-US" sz="1350" dirty="0"/>
          </a:p>
        </p:txBody>
      </p:sp>
      <p:sp>
        <p:nvSpPr>
          <p:cNvPr id="51" name="Text 36"/>
          <p:cNvSpPr/>
          <p:nvPr/>
        </p:nvSpPr>
        <p:spPr>
          <a:xfrm>
            <a:off x="9906199" y="3703340"/>
            <a:ext cx="1814645" cy="2380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8125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confirms in Slack</a:t>
            </a:r>
            <a:endParaRPr lang="en-US" sz="1125" dirty="0"/>
          </a:p>
        </p:txBody>
      </p:sp>
      <p:sp>
        <p:nvSpPr>
          <p:cNvPr id="52" name="Shape 37"/>
          <p:cNvSpPr/>
          <p:nvPr/>
        </p:nvSpPr>
        <p:spPr>
          <a:xfrm>
            <a:off x="13178897" y="2764069"/>
            <a:ext cx="554467" cy="554467"/>
          </a:xfrm>
          <a:prstGeom prst="ellipse">
            <a:avLst/>
          </a:prstGeom>
          <a:solidFill>
            <a:srgbClr val="00658E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341781" y="2926953"/>
            <a:ext cx="228534" cy="228534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12972786" y="3432804"/>
            <a:ext cx="966854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back</a:t>
            </a:r>
            <a:endParaRPr lang="en-US" sz="1350" dirty="0"/>
          </a:p>
        </p:txBody>
      </p:sp>
      <p:sp>
        <p:nvSpPr>
          <p:cNvPr id="55" name="Text 39"/>
          <p:cNvSpPr/>
          <p:nvPr/>
        </p:nvSpPr>
        <p:spPr>
          <a:xfrm>
            <a:off x="12689319" y="3703340"/>
            <a:ext cx="1533790" cy="2380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8125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Salesforce, Power BI</a:t>
            </a:r>
            <a:endParaRPr lang="en-US" sz="1125" dirty="0"/>
          </a:p>
        </p:txBody>
      </p:sp>
      <p:sp>
        <p:nvSpPr>
          <p:cNvPr id="56" name="Shape 40"/>
          <p:cNvSpPr/>
          <p:nvPr/>
        </p:nvSpPr>
        <p:spPr>
          <a:xfrm>
            <a:off x="15821588" y="2764069"/>
            <a:ext cx="554467" cy="554467"/>
          </a:xfrm>
          <a:prstGeom prst="ellipse">
            <a:avLst/>
          </a:prstGeom>
          <a:solidFill>
            <a:srgbClr val="00658E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984472" y="2926953"/>
            <a:ext cx="228534" cy="228534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15748762" y="3432804"/>
            <a:ext cx="700121" cy="2610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Logged</a:t>
            </a:r>
            <a:endParaRPr lang="en-US" sz="1350" dirty="0"/>
          </a:p>
        </p:txBody>
      </p:sp>
      <p:sp>
        <p:nvSpPr>
          <p:cNvPr id="59" name="Text 42"/>
          <p:cNvSpPr/>
          <p:nvPr/>
        </p:nvSpPr>
        <p:spPr>
          <a:xfrm>
            <a:off x="15563222" y="3703340"/>
            <a:ext cx="1071364" cy="2380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8125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id issued</a:t>
            </a:r>
            <a:endParaRPr lang="en-US" sz="1125" dirty="0"/>
          </a:p>
        </p:txBody>
      </p:sp>
      <p:sp>
        <p:nvSpPr>
          <p:cNvPr id="60" name="Shape 43"/>
          <p:cNvSpPr/>
          <p:nvPr/>
        </p:nvSpPr>
        <p:spPr>
          <a:xfrm>
            <a:off x="1621234" y="4131634"/>
            <a:ext cx="6261861" cy="4658982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1" name="Text 44"/>
          <p:cNvSpPr/>
          <p:nvPr/>
        </p:nvSpPr>
        <p:spPr>
          <a:xfrm>
            <a:off x="1822318" y="4332718"/>
            <a:ext cx="2620648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</a:t>
            </a:r>
            <a:endParaRPr lang="en-US" sz="900" dirty="0"/>
          </a:p>
        </p:txBody>
      </p:sp>
      <p:sp>
        <p:nvSpPr>
          <p:cNvPr id="62" name="Text 45"/>
          <p:cNvSpPr/>
          <p:nvPr/>
        </p:nvSpPr>
        <p:spPr>
          <a:xfrm>
            <a:off x="4338009" y="4332718"/>
            <a:ext cx="106888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· 30 D</a:t>
            </a:r>
            <a:endParaRPr lang="en-US" sz="900" dirty="0"/>
          </a:p>
        </p:txBody>
      </p:sp>
      <p:sp>
        <p:nvSpPr>
          <p:cNvPr id="63" name="Text 46"/>
          <p:cNvSpPr/>
          <p:nvPr/>
        </p:nvSpPr>
        <p:spPr>
          <a:xfrm>
            <a:off x="5463977" y="4332718"/>
            <a:ext cx="106888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900" dirty="0"/>
          </a:p>
        </p:txBody>
      </p:sp>
      <p:sp>
        <p:nvSpPr>
          <p:cNvPr id="64" name="Text 47"/>
          <p:cNvSpPr/>
          <p:nvPr/>
        </p:nvSpPr>
        <p:spPr>
          <a:xfrm>
            <a:off x="6589944" y="4332718"/>
            <a:ext cx="1168268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</a:t>
            </a:r>
            <a:endParaRPr lang="en-US" sz="900" dirty="0"/>
          </a:p>
        </p:txBody>
      </p:sp>
      <p:sp>
        <p:nvSpPr>
          <p:cNvPr id="65" name="Shape 48"/>
          <p:cNvSpPr/>
          <p:nvPr/>
        </p:nvSpPr>
        <p:spPr>
          <a:xfrm>
            <a:off x="1822318" y="4470301"/>
            <a:ext cx="5859694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49"/>
          <p:cNvSpPr/>
          <p:nvPr/>
        </p:nvSpPr>
        <p:spPr>
          <a:xfrm>
            <a:off x="1822318" y="4624751"/>
            <a:ext cx="2620648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Order-to-opportunity</a:t>
            </a:r>
            <a:endParaRPr lang="en-US" sz="1425" dirty="0"/>
          </a:p>
        </p:txBody>
      </p:sp>
      <p:sp>
        <p:nvSpPr>
          <p:cNvPr id="67" name="Text 50"/>
          <p:cNvSpPr/>
          <p:nvPr/>
        </p:nvSpPr>
        <p:spPr>
          <a:xfrm>
            <a:off x="4338009" y="4630043"/>
            <a:ext cx="1068884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1,204</a:t>
            </a:r>
            <a:endParaRPr lang="en-US" sz="1350" dirty="0"/>
          </a:p>
        </p:txBody>
      </p:sp>
      <p:sp>
        <p:nvSpPr>
          <p:cNvPr id="68" name="Text 51"/>
          <p:cNvSpPr/>
          <p:nvPr/>
        </p:nvSpPr>
        <p:spPr>
          <a:xfrm>
            <a:off x="5463977" y="4630043"/>
            <a:ext cx="1068884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99.2%</a:t>
            </a:r>
            <a:endParaRPr lang="en-US" sz="1350" dirty="0"/>
          </a:p>
        </p:txBody>
      </p:sp>
      <p:sp>
        <p:nvSpPr>
          <p:cNvPr id="69" name="Shape 52"/>
          <p:cNvSpPr/>
          <p:nvPr/>
        </p:nvSpPr>
        <p:spPr>
          <a:xfrm>
            <a:off x="6589944" y="4623759"/>
            <a:ext cx="956303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3"/>
          <p:cNvSpPr/>
          <p:nvPr/>
        </p:nvSpPr>
        <p:spPr>
          <a:xfrm>
            <a:off x="6685194" y="4661859"/>
            <a:ext cx="842003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</a:t>
            </a:r>
            <a:endParaRPr lang="en-US" sz="975" dirty="0"/>
          </a:p>
        </p:txBody>
      </p:sp>
      <p:sp>
        <p:nvSpPr>
          <p:cNvPr id="71" name="Shape 54"/>
          <p:cNvSpPr/>
          <p:nvPr/>
        </p:nvSpPr>
        <p:spPr>
          <a:xfrm>
            <a:off x="1822318" y="4990869"/>
            <a:ext cx="5859694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5"/>
          <p:cNvSpPr/>
          <p:nvPr/>
        </p:nvSpPr>
        <p:spPr>
          <a:xfrm>
            <a:off x="1822318" y="5145319"/>
            <a:ext cx="2620648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brief generation</a:t>
            </a:r>
            <a:endParaRPr lang="en-US" sz="1425" dirty="0"/>
          </a:p>
        </p:txBody>
      </p:sp>
      <p:sp>
        <p:nvSpPr>
          <p:cNvPr id="73" name="Text 56"/>
          <p:cNvSpPr/>
          <p:nvPr/>
        </p:nvSpPr>
        <p:spPr>
          <a:xfrm>
            <a:off x="4338009" y="5150611"/>
            <a:ext cx="1068884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3,860</a:t>
            </a:r>
            <a:endParaRPr lang="en-US" sz="1350" dirty="0"/>
          </a:p>
        </p:txBody>
      </p:sp>
      <p:sp>
        <p:nvSpPr>
          <p:cNvPr id="74" name="Text 57"/>
          <p:cNvSpPr/>
          <p:nvPr/>
        </p:nvSpPr>
        <p:spPr>
          <a:xfrm>
            <a:off x="5463977" y="5150611"/>
            <a:ext cx="1068884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99.8%</a:t>
            </a:r>
            <a:endParaRPr lang="en-US" sz="1350" dirty="0"/>
          </a:p>
        </p:txBody>
      </p:sp>
      <p:sp>
        <p:nvSpPr>
          <p:cNvPr id="75" name="Shape 58"/>
          <p:cNvSpPr/>
          <p:nvPr/>
        </p:nvSpPr>
        <p:spPr>
          <a:xfrm>
            <a:off x="6589944" y="5144327"/>
            <a:ext cx="956303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6" name="Text 59"/>
          <p:cNvSpPr/>
          <p:nvPr/>
        </p:nvSpPr>
        <p:spPr>
          <a:xfrm>
            <a:off x="6685194" y="5182427"/>
            <a:ext cx="842003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</a:t>
            </a:r>
            <a:endParaRPr lang="en-US" sz="975" dirty="0"/>
          </a:p>
        </p:txBody>
      </p:sp>
      <p:sp>
        <p:nvSpPr>
          <p:cNvPr id="77" name="Shape 60"/>
          <p:cNvSpPr/>
          <p:nvPr/>
        </p:nvSpPr>
        <p:spPr>
          <a:xfrm>
            <a:off x="1822318" y="5511436"/>
            <a:ext cx="5859694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Text 61"/>
          <p:cNvSpPr/>
          <p:nvPr/>
        </p:nvSpPr>
        <p:spPr>
          <a:xfrm>
            <a:off x="1822318" y="5665887"/>
            <a:ext cx="2620648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approval routing</a:t>
            </a:r>
            <a:endParaRPr lang="en-US" sz="1425" dirty="0"/>
          </a:p>
        </p:txBody>
      </p:sp>
      <p:sp>
        <p:nvSpPr>
          <p:cNvPr id="79" name="Text 62"/>
          <p:cNvSpPr/>
          <p:nvPr/>
        </p:nvSpPr>
        <p:spPr>
          <a:xfrm>
            <a:off x="4338009" y="5671179"/>
            <a:ext cx="1068884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412</a:t>
            </a:r>
            <a:endParaRPr lang="en-US" sz="1350" dirty="0"/>
          </a:p>
        </p:txBody>
      </p:sp>
      <p:sp>
        <p:nvSpPr>
          <p:cNvPr id="80" name="Text 63"/>
          <p:cNvSpPr/>
          <p:nvPr/>
        </p:nvSpPr>
        <p:spPr>
          <a:xfrm>
            <a:off x="5463977" y="5671179"/>
            <a:ext cx="1068884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97.6%</a:t>
            </a:r>
            <a:endParaRPr lang="en-US" sz="1350" dirty="0"/>
          </a:p>
        </p:txBody>
      </p:sp>
      <p:sp>
        <p:nvSpPr>
          <p:cNvPr id="81" name="Shape 64"/>
          <p:cNvSpPr/>
          <p:nvPr/>
        </p:nvSpPr>
        <p:spPr>
          <a:xfrm>
            <a:off x="6589944" y="5664895"/>
            <a:ext cx="956303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Text 65"/>
          <p:cNvSpPr/>
          <p:nvPr/>
        </p:nvSpPr>
        <p:spPr>
          <a:xfrm>
            <a:off x="6685194" y="5702995"/>
            <a:ext cx="842003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</a:t>
            </a:r>
            <a:endParaRPr lang="en-US" sz="975" dirty="0"/>
          </a:p>
        </p:txBody>
      </p:sp>
      <p:sp>
        <p:nvSpPr>
          <p:cNvPr id="83" name="Shape 66"/>
          <p:cNvSpPr/>
          <p:nvPr/>
        </p:nvSpPr>
        <p:spPr>
          <a:xfrm>
            <a:off x="1822318" y="6032004"/>
            <a:ext cx="5859694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67"/>
          <p:cNvSpPr/>
          <p:nvPr/>
        </p:nvSpPr>
        <p:spPr>
          <a:xfrm>
            <a:off x="1822318" y="6186455"/>
            <a:ext cx="2517874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Renewal risk alerting</a:t>
            </a:r>
            <a:endParaRPr lang="en-US" sz="1425" dirty="0"/>
          </a:p>
        </p:txBody>
      </p:sp>
      <p:sp>
        <p:nvSpPr>
          <p:cNvPr id="85" name="Text 68"/>
          <p:cNvSpPr/>
          <p:nvPr/>
        </p:nvSpPr>
        <p:spPr>
          <a:xfrm>
            <a:off x="4244578" y="6191746"/>
            <a:ext cx="1030023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298</a:t>
            </a:r>
            <a:endParaRPr lang="en-US" sz="1350" dirty="0"/>
          </a:p>
        </p:txBody>
      </p:sp>
      <p:sp>
        <p:nvSpPr>
          <p:cNvPr id="86" name="Text 69"/>
          <p:cNvSpPr/>
          <p:nvPr/>
        </p:nvSpPr>
        <p:spPr>
          <a:xfrm>
            <a:off x="5331685" y="6191746"/>
            <a:ext cx="1030023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94.1%</a:t>
            </a:r>
            <a:endParaRPr lang="en-US" sz="1350" dirty="0"/>
          </a:p>
        </p:txBody>
      </p:sp>
      <p:sp>
        <p:nvSpPr>
          <p:cNvPr id="87" name="Shape 70"/>
          <p:cNvSpPr/>
          <p:nvPr/>
        </p:nvSpPr>
        <p:spPr>
          <a:xfrm>
            <a:off x="6418792" y="6185463"/>
            <a:ext cx="1263220" cy="224234"/>
          </a:xfrm>
          <a:prstGeom prst="roundRect">
            <a:avLst>
              <a:gd name="adj" fmla="val 16991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1"/>
          <p:cNvSpPr/>
          <p:nvPr/>
        </p:nvSpPr>
        <p:spPr>
          <a:xfrm>
            <a:off x="6514042" y="6223563"/>
            <a:ext cx="1148920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required</a:t>
            </a:r>
            <a:endParaRPr lang="en-US" sz="975" dirty="0"/>
          </a:p>
        </p:txBody>
      </p:sp>
      <p:sp>
        <p:nvSpPr>
          <p:cNvPr id="89" name="Shape 72"/>
          <p:cNvSpPr/>
          <p:nvPr/>
        </p:nvSpPr>
        <p:spPr>
          <a:xfrm>
            <a:off x="8035396" y="4131634"/>
            <a:ext cx="4587710" cy="4658982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0" name="Text 73"/>
          <p:cNvSpPr/>
          <p:nvPr/>
        </p:nvSpPr>
        <p:spPr>
          <a:xfrm>
            <a:off x="8236480" y="4332718"/>
            <a:ext cx="460409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STEPS REMOVED</a:t>
            </a:r>
            <a:endParaRPr lang="en-US" sz="900" dirty="0"/>
          </a:p>
        </p:txBody>
      </p:sp>
      <p:sp>
        <p:nvSpPr>
          <p:cNvPr id="91" name="Text 74"/>
          <p:cNvSpPr/>
          <p:nvPr/>
        </p:nvSpPr>
        <p:spPr>
          <a:xfrm>
            <a:off x="8236480" y="4565551"/>
            <a:ext cx="4604097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11,400</a:t>
            </a:r>
            <a:endParaRPr lang="en-US" sz="3150" dirty="0"/>
          </a:p>
        </p:txBody>
      </p:sp>
      <p:sp>
        <p:nvSpPr>
          <p:cNvPr id="92" name="Text 75"/>
          <p:cNvSpPr/>
          <p:nvPr/>
        </p:nvSpPr>
        <p:spPr>
          <a:xfrm>
            <a:off x="8236480" y="5109435"/>
            <a:ext cx="460409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quarter, across sales operations</a:t>
            </a:r>
            <a:endParaRPr lang="en-US" sz="1050" dirty="0"/>
          </a:p>
        </p:txBody>
      </p:sp>
      <p:sp>
        <p:nvSpPr>
          <p:cNvPr id="93" name="Shape 76"/>
          <p:cNvSpPr/>
          <p:nvPr/>
        </p:nvSpPr>
        <p:spPr>
          <a:xfrm>
            <a:off x="8236480" y="5401469"/>
            <a:ext cx="4185543" cy="38034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Shape 77"/>
          <p:cNvSpPr/>
          <p:nvPr/>
        </p:nvSpPr>
        <p:spPr>
          <a:xfrm>
            <a:off x="8236480" y="5401469"/>
            <a:ext cx="4185543" cy="38034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Shape 78"/>
          <p:cNvSpPr/>
          <p:nvPr/>
        </p:nvSpPr>
        <p:spPr>
          <a:xfrm>
            <a:off x="12775407" y="4131634"/>
            <a:ext cx="4587710" cy="4658982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6" name="Text 79"/>
          <p:cNvSpPr/>
          <p:nvPr/>
        </p:nvSpPr>
        <p:spPr>
          <a:xfrm>
            <a:off x="12976490" y="4332718"/>
            <a:ext cx="460409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 RUNS</a:t>
            </a:r>
            <a:endParaRPr lang="en-US" sz="900" dirty="0"/>
          </a:p>
        </p:txBody>
      </p:sp>
      <p:sp>
        <p:nvSpPr>
          <p:cNvPr id="97" name="Text 80"/>
          <p:cNvSpPr/>
          <p:nvPr/>
        </p:nvSpPr>
        <p:spPr>
          <a:xfrm>
            <a:off x="12976490" y="4565551"/>
            <a:ext cx="4604097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0.8%</a:t>
            </a:r>
            <a:endParaRPr lang="en-US" sz="3150" dirty="0"/>
          </a:p>
        </p:txBody>
      </p:sp>
      <p:sp>
        <p:nvSpPr>
          <p:cNvPr id="98" name="Text 81"/>
          <p:cNvSpPr/>
          <p:nvPr/>
        </p:nvSpPr>
        <p:spPr>
          <a:xfrm>
            <a:off x="12976490" y="5109435"/>
            <a:ext cx="460409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failure retried and alerted, never silent</a:t>
            </a:r>
            <a:endParaRPr lang="en-US" sz="1050" dirty="0"/>
          </a:p>
        </p:txBody>
      </p:sp>
      <p:sp>
        <p:nvSpPr>
          <p:cNvPr id="99" name="Shape 82"/>
          <p:cNvSpPr/>
          <p:nvPr/>
        </p:nvSpPr>
        <p:spPr>
          <a:xfrm>
            <a:off x="12976490" y="5401469"/>
            <a:ext cx="4185543" cy="38034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Shape 83"/>
          <p:cNvSpPr/>
          <p:nvPr/>
        </p:nvSpPr>
        <p:spPr>
          <a:xfrm>
            <a:off x="12976490" y="5401469"/>
            <a:ext cx="4185543" cy="38034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Shape 84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2" name="Shape 85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Text 86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 thousand manual steps a quarter removed, with no silent failures.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692067" y="235975"/>
            <a:ext cx="98636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FDE DELIVERY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BBV DELIVERS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forward-deployed pod inside your team, not a slide deck from outside it.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4256981"/>
            <a:ext cx="3276534" cy="801853"/>
          </a:xfrm>
          <a:prstGeom prst="roundRect">
            <a:avLst>
              <a:gd name="adj" fmla="val 1900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867668" y="4438882"/>
            <a:ext cx="438051" cy="43805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1935" y="4553149"/>
            <a:ext cx="209517" cy="2095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39003" y="4552653"/>
            <a:ext cx="2369079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84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Forward-deployed engineer</a:t>
            </a:r>
            <a:endParaRPr lang="en-US" sz="1275" dirty="0"/>
          </a:p>
        </p:txBody>
      </p:sp>
      <p:sp>
        <p:nvSpPr>
          <p:cNvPr id="15" name="Shape 11"/>
          <p:cNvSpPr/>
          <p:nvPr/>
        </p:nvSpPr>
        <p:spPr>
          <a:xfrm>
            <a:off x="4095585" y="4256981"/>
            <a:ext cx="3276699" cy="801853"/>
          </a:xfrm>
          <a:prstGeom prst="roundRect">
            <a:avLst>
              <a:gd name="adj" fmla="val 1900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Shape 12"/>
          <p:cNvSpPr/>
          <p:nvPr/>
        </p:nvSpPr>
        <p:spPr>
          <a:xfrm>
            <a:off x="4277486" y="4438882"/>
            <a:ext cx="438051" cy="43805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1753" y="4553149"/>
            <a:ext cx="209517" cy="2095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8821" y="4552653"/>
            <a:ext cx="1397910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84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ML engineer</a:t>
            </a:r>
            <a:endParaRPr lang="en-US" sz="1275" dirty="0"/>
          </a:p>
        </p:txBody>
      </p:sp>
      <p:sp>
        <p:nvSpPr>
          <p:cNvPr id="19" name="Shape 14"/>
          <p:cNvSpPr/>
          <p:nvPr/>
        </p:nvSpPr>
        <p:spPr>
          <a:xfrm>
            <a:off x="7505568" y="4256981"/>
            <a:ext cx="3276699" cy="801853"/>
          </a:xfrm>
          <a:prstGeom prst="roundRect">
            <a:avLst>
              <a:gd name="adj" fmla="val 1900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Shape 15"/>
          <p:cNvSpPr/>
          <p:nvPr/>
        </p:nvSpPr>
        <p:spPr>
          <a:xfrm>
            <a:off x="7687469" y="4438882"/>
            <a:ext cx="438051" cy="43805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01736" y="4553149"/>
            <a:ext cx="209517" cy="2095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58804" y="4552653"/>
            <a:ext cx="1159338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84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</a:t>
            </a:r>
            <a:endParaRPr lang="en-US" sz="1275" dirty="0"/>
          </a:p>
        </p:txBody>
      </p:sp>
      <p:sp>
        <p:nvSpPr>
          <p:cNvPr id="23" name="Shape 17"/>
          <p:cNvSpPr/>
          <p:nvPr/>
        </p:nvSpPr>
        <p:spPr>
          <a:xfrm>
            <a:off x="10915551" y="4256981"/>
            <a:ext cx="3276699" cy="801853"/>
          </a:xfrm>
          <a:prstGeom prst="roundRect">
            <a:avLst>
              <a:gd name="adj" fmla="val 1900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4" name="Shape 18"/>
          <p:cNvSpPr/>
          <p:nvPr/>
        </p:nvSpPr>
        <p:spPr>
          <a:xfrm>
            <a:off x="11097453" y="4438882"/>
            <a:ext cx="438051" cy="43805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1719" y="4553149"/>
            <a:ext cx="209517" cy="20951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668787" y="4552653"/>
            <a:ext cx="2082949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84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domain consultant</a:t>
            </a:r>
            <a:endParaRPr lang="en-US" sz="1275" dirty="0"/>
          </a:p>
        </p:txBody>
      </p:sp>
      <p:sp>
        <p:nvSpPr>
          <p:cNvPr id="27" name="Shape 20"/>
          <p:cNvSpPr/>
          <p:nvPr/>
        </p:nvSpPr>
        <p:spPr>
          <a:xfrm>
            <a:off x="14325535" y="4256981"/>
            <a:ext cx="3276699" cy="801853"/>
          </a:xfrm>
          <a:prstGeom prst="roundRect">
            <a:avLst>
              <a:gd name="adj" fmla="val 1900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8" name="Shape 21"/>
          <p:cNvSpPr/>
          <p:nvPr/>
        </p:nvSpPr>
        <p:spPr>
          <a:xfrm>
            <a:off x="14507435" y="4438882"/>
            <a:ext cx="438051" cy="438051"/>
          </a:xfrm>
          <a:prstGeom prst="ellipse">
            <a:avLst/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21703" y="4553149"/>
            <a:ext cx="209517" cy="20951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5078770" y="4552653"/>
            <a:ext cx="1682039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84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sales ops</a:t>
            </a:r>
            <a:endParaRPr lang="en-US" sz="1275" dirty="0"/>
          </a:p>
        </p:txBody>
      </p:sp>
      <p:sp>
        <p:nvSpPr>
          <p:cNvPr id="31" name="Shape 23"/>
          <p:cNvSpPr/>
          <p:nvPr/>
        </p:nvSpPr>
        <p:spPr>
          <a:xfrm>
            <a:off x="971517" y="5544509"/>
            <a:ext cx="16344967" cy="2844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2" name="Shape 24"/>
          <p:cNvSpPr/>
          <p:nvPr/>
        </p:nvSpPr>
        <p:spPr>
          <a:xfrm>
            <a:off x="971517" y="5544509"/>
            <a:ext cx="16344967" cy="28443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3" name="Shape 25"/>
          <p:cNvSpPr/>
          <p:nvPr/>
        </p:nvSpPr>
        <p:spPr>
          <a:xfrm>
            <a:off x="685767" y="5344584"/>
            <a:ext cx="440201" cy="440201"/>
          </a:xfrm>
          <a:prstGeom prst="ellipse">
            <a:avLst/>
          </a:prstGeom>
          <a:solidFill>
            <a:srgbClr val="00658E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4" name="Text 26"/>
          <p:cNvSpPr/>
          <p:nvPr/>
        </p:nvSpPr>
        <p:spPr>
          <a:xfrm>
            <a:off x="658250" y="5355167"/>
            <a:ext cx="495234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85767" y="5956102"/>
            <a:ext cx="4285225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1–2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685767" y="6169753"/>
            <a:ext cx="4285225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</a:t>
            </a:r>
            <a:endParaRPr lang="en-US" sz="1950" dirty="0"/>
          </a:p>
        </p:txBody>
      </p:sp>
      <p:sp>
        <p:nvSpPr>
          <p:cNvPr id="37" name="Text 29"/>
          <p:cNvSpPr/>
          <p:nvPr/>
        </p:nvSpPr>
        <p:spPr>
          <a:xfrm>
            <a:off x="685767" y="6552737"/>
            <a:ext cx="428522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Use-case shortlist, data access, policy map</a:t>
            </a:r>
            <a:endParaRPr lang="en-US" sz="1275" dirty="0"/>
          </a:p>
        </p:txBody>
      </p:sp>
      <p:sp>
        <p:nvSpPr>
          <p:cNvPr id="38" name="Shape 30"/>
          <p:cNvSpPr/>
          <p:nvPr/>
        </p:nvSpPr>
        <p:spPr>
          <a:xfrm>
            <a:off x="4962426" y="5344584"/>
            <a:ext cx="440201" cy="440201"/>
          </a:xfrm>
          <a:prstGeom prst="ellipse">
            <a:avLst/>
          </a:prstGeom>
          <a:solidFill>
            <a:srgbClr val="00658E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9" name="Text 31"/>
          <p:cNvSpPr/>
          <p:nvPr/>
        </p:nvSpPr>
        <p:spPr>
          <a:xfrm>
            <a:off x="4934909" y="5355167"/>
            <a:ext cx="495234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4962426" y="5956102"/>
            <a:ext cx="428540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3–4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4962426" y="6169753"/>
            <a:ext cx="428540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950" dirty="0"/>
          </a:p>
        </p:txBody>
      </p:sp>
      <p:sp>
        <p:nvSpPr>
          <p:cNvPr id="42" name="Text 34"/>
          <p:cNvSpPr/>
          <p:nvPr/>
        </p:nvSpPr>
        <p:spPr>
          <a:xfrm>
            <a:off x="4962426" y="6552737"/>
            <a:ext cx="428540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agent in the customer tenant, evaluated</a:t>
            </a:r>
            <a:endParaRPr lang="en-US" sz="1275" dirty="0"/>
          </a:p>
        </p:txBody>
      </p:sp>
      <p:sp>
        <p:nvSpPr>
          <p:cNvPr id="43" name="Shape 35"/>
          <p:cNvSpPr/>
          <p:nvPr/>
        </p:nvSpPr>
        <p:spPr>
          <a:xfrm>
            <a:off x="9239251" y="5344584"/>
            <a:ext cx="440201" cy="440201"/>
          </a:xfrm>
          <a:prstGeom prst="ellipse">
            <a:avLst/>
          </a:prstGeom>
          <a:solidFill>
            <a:srgbClr val="00658E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4" name="Text 36"/>
          <p:cNvSpPr/>
          <p:nvPr/>
        </p:nvSpPr>
        <p:spPr>
          <a:xfrm>
            <a:off x="9211734" y="5355167"/>
            <a:ext cx="495234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9239251" y="5956102"/>
            <a:ext cx="4285225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5–6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9239251" y="6169753"/>
            <a:ext cx="4285225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</a:t>
            </a:r>
            <a:endParaRPr lang="en-US" sz="1950" dirty="0"/>
          </a:p>
        </p:txBody>
      </p:sp>
      <p:sp>
        <p:nvSpPr>
          <p:cNvPr id="47" name="Text 39"/>
          <p:cNvSpPr/>
          <p:nvPr/>
        </p:nvSpPr>
        <p:spPr>
          <a:xfrm>
            <a:off x="9239251" y="6552737"/>
            <a:ext cx="428522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sales team live, measured against a baseline</a:t>
            </a:r>
            <a:endParaRPr lang="en-US" sz="1275" dirty="0"/>
          </a:p>
        </p:txBody>
      </p:sp>
      <p:sp>
        <p:nvSpPr>
          <p:cNvPr id="48" name="Shape 40"/>
          <p:cNvSpPr/>
          <p:nvPr/>
        </p:nvSpPr>
        <p:spPr>
          <a:xfrm>
            <a:off x="13515910" y="5344584"/>
            <a:ext cx="440201" cy="440201"/>
          </a:xfrm>
          <a:prstGeom prst="ellipse">
            <a:avLst/>
          </a:prstGeom>
          <a:solidFill>
            <a:srgbClr val="00658E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9" name="Text 41"/>
          <p:cNvSpPr/>
          <p:nvPr/>
        </p:nvSpPr>
        <p:spPr>
          <a:xfrm>
            <a:off x="13488393" y="5355167"/>
            <a:ext cx="495234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Text 42"/>
          <p:cNvSpPr/>
          <p:nvPr/>
        </p:nvSpPr>
        <p:spPr>
          <a:xfrm>
            <a:off x="13515910" y="5956102"/>
            <a:ext cx="428540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7+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3515910" y="6169753"/>
            <a:ext cx="428540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1950" dirty="0"/>
          </a:p>
        </p:txBody>
      </p:sp>
      <p:sp>
        <p:nvSpPr>
          <p:cNvPr id="52" name="Text 44"/>
          <p:cNvSpPr/>
          <p:nvPr/>
        </p:nvSpPr>
        <p:spPr>
          <a:xfrm>
            <a:off x="13515910" y="6552737"/>
            <a:ext cx="428540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Hand-over, runbooks, second wave of use cases</a:t>
            </a:r>
            <a:endParaRPr lang="en-US" sz="1275" dirty="0"/>
          </a:p>
        </p:txBody>
      </p:sp>
      <p:sp>
        <p:nvSpPr>
          <p:cNvPr id="53" name="Shape 45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4" name="Shape 46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7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bbv delivers with a forward-deployed pod that sits inside your sales organisation.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614346" y="235975"/>
            <a:ext cx="1064088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USE-CASE MAP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use cases, one platform, along the customer journey.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4086159" cy="7048666"/>
          </a:xfrm>
          <a:prstGeom prst="roundRect">
            <a:avLst>
              <a:gd name="adj" fmla="val 373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9"/>
          <p:cNvSpPr/>
          <p:nvPr/>
        </p:nvSpPr>
        <p:spPr>
          <a:xfrm>
            <a:off x="924884" y="2220185"/>
            <a:ext cx="396871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4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Presale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924884" y="2702719"/>
            <a:ext cx="533301" cy="28443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924884" y="2902479"/>
            <a:ext cx="3607925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Text 12"/>
          <p:cNvSpPr/>
          <p:nvPr/>
        </p:nvSpPr>
        <p:spPr>
          <a:xfrm>
            <a:off x="1058234" y="2997729"/>
            <a:ext cx="344946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Territory &amp; quota planning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24884" y="3418913"/>
            <a:ext cx="3607925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058234" y="3514163"/>
            <a:ext cx="344946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scoring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24884" y="3935346"/>
            <a:ext cx="3607925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1058234" y="4030596"/>
            <a:ext cx="344946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personalisation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24884" y="4451780"/>
            <a:ext cx="3607925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058234" y="4547030"/>
            <a:ext cx="344946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prep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962426" y="1981068"/>
            <a:ext cx="4086324" cy="7048666"/>
          </a:xfrm>
          <a:prstGeom prst="roundRect">
            <a:avLst>
              <a:gd name="adj" fmla="val 373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" name="Text 20"/>
          <p:cNvSpPr/>
          <p:nvPr/>
        </p:nvSpPr>
        <p:spPr>
          <a:xfrm>
            <a:off x="5201543" y="2220185"/>
            <a:ext cx="39688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4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</a:t>
            </a:r>
            <a:endParaRPr lang="en-US" sz="2250" dirty="0"/>
          </a:p>
        </p:txBody>
      </p:sp>
      <p:sp>
        <p:nvSpPr>
          <p:cNvPr id="24" name="Shape 21"/>
          <p:cNvSpPr/>
          <p:nvPr/>
        </p:nvSpPr>
        <p:spPr>
          <a:xfrm>
            <a:off x="5201543" y="2702719"/>
            <a:ext cx="533301" cy="28443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Shape 22"/>
          <p:cNvSpPr/>
          <p:nvPr/>
        </p:nvSpPr>
        <p:spPr>
          <a:xfrm>
            <a:off x="5201543" y="2902479"/>
            <a:ext cx="3608090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Text 23"/>
          <p:cNvSpPr/>
          <p:nvPr/>
        </p:nvSpPr>
        <p:spPr>
          <a:xfrm>
            <a:off x="5334893" y="2997729"/>
            <a:ext cx="344963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&amp; opportunity planning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5201543" y="3418913"/>
            <a:ext cx="3608090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Text 25"/>
          <p:cNvSpPr/>
          <p:nvPr/>
        </p:nvSpPr>
        <p:spPr>
          <a:xfrm>
            <a:off x="5334893" y="3514163"/>
            <a:ext cx="344963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risk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5201543" y="3935346"/>
            <a:ext cx="3608090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Text 27"/>
          <p:cNvSpPr/>
          <p:nvPr/>
        </p:nvSpPr>
        <p:spPr>
          <a:xfrm>
            <a:off x="5334893" y="4030596"/>
            <a:ext cx="344963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&amp; pricing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5201543" y="4451780"/>
            <a:ext cx="3608090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2" name="Text 29"/>
          <p:cNvSpPr/>
          <p:nvPr/>
        </p:nvSpPr>
        <p:spPr>
          <a:xfrm>
            <a:off x="5334893" y="4547030"/>
            <a:ext cx="344963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 generation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9239251" y="1981068"/>
            <a:ext cx="4086159" cy="7048666"/>
          </a:xfrm>
          <a:prstGeom prst="roundRect">
            <a:avLst>
              <a:gd name="adj" fmla="val 373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4" name="Text 31"/>
          <p:cNvSpPr/>
          <p:nvPr/>
        </p:nvSpPr>
        <p:spPr>
          <a:xfrm>
            <a:off x="9478367" y="2220185"/>
            <a:ext cx="396871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4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Post-sale</a:t>
            </a:r>
            <a:endParaRPr lang="en-US" sz="2250" dirty="0"/>
          </a:p>
        </p:txBody>
      </p:sp>
      <p:sp>
        <p:nvSpPr>
          <p:cNvPr id="35" name="Shape 32"/>
          <p:cNvSpPr/>
          <p:nvPr/>
        </p:nvSpPr>
        <p:spPr>
          <a:xfrm>
            <a:off x="9478367" y="2702719"/>
            <a:ext cx="533301" cy="28443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6" name="Shape 33"/>
          <p:cNvSpPr/>
          <p:nvPr/>
        </p:nvSpPr>
        <p:spPr>
          <a:xfrm>
            <a:off x="9478367" y="2902479"/>
            <a:ext cx="3607925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7" name="Text 34"/>
          <p:cNvSpPr/>
          <p:nvPr/>
        </p:nvSpPr>
        <p:spPr>
          <a:xfrm>
            <a:off x="9611717" y="2997729"/>
            <a:ext cx="344946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summary to CRM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9478367" y="3418913"/>
            <a:ext cx="3607925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Text 36"/>
          <p:cNvSpPr/>
          <p:nvPr/>
        </p:nvSpPr>
        <p:spPr>
          <a:xfrm>
            <a:off x="9611717" y="3514163"/>
            <a:ext cx="344946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deflection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9478367" y="3935346"/>
            <a:ext cx="3607925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1" name="Text 38"/>
          <p:cNvSpPr/>
          <p:nvPr/>
        </p:nvSpPr>
        <p:spPr>
          <a:xfrm>
            <a:off x="9611717" y="4030596"/>
            <a:ext cx="344946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Renewal &amp; churn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13515910" y="1981068"/>
            <a:ext cx="4086324" cy="7048666"/>
          </a:xfrm>
          <a:prstGeom prst="roundRect">
            <a:avLst>
              <a:gd name="adj" fmla="val 373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3" name="Text 40"/>
          <p:cNvSpPr/>
          <p:nvPr/>
        </p:nvSpPr>
        <p:spPr>
          <a:xfrm>
            <a:off x="13755027" y="2220185"/>
            <a:ext cx="39688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4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Steering</a:t>
            </a:r>
            <a:endParaRPr lang="en-US" sz="2250" dirty="0"/>
          </a:p>
        </p:txBody>
      </p:sp>
      <p:sp>
        <p:nvSpPr>
          <p:cNvPr id="44" name="Shape 41"/>
          <p:cNvSpPr/>
          <p:nvPr/>
        </p:nvSpPr>
        <p:spPr>
          <a:xfrm>
            <a:off x="13755027" y="2702719"/>
            <a:ext cx="533301" cy="28443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Shape 42"/>
          <p:cNvSpPr/>
          <p:nvPr/>
        </p:nvSpPr>
        <p:spPr>
          <a:xfrm>
            <a:off x="13755027" y="2902479"/>
            <a:ext cx="3608090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6" name="Text 43"/>
          <p:cNvSpPr/>
          <p:nvPr/>
        </p:nvSpPr>
        <p:spPr>
          <a:xfrm>
            <a:off x="13888377" y="2997729"/>
            <a:ext cx="344963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Forecasting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13755027" y="3418913"/>
            <a:ext cx="3608090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8" name="Text 45"/>
          <p:cNvSpPr/>
          <p:nvPr/>
        </p:nvSpPr>
        <p:spPr>
          <a:xfrm>
            <a:off x="13888377" y="3514163"/>
            <a:ext cx="344963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&amp; OKR reporting</a:t>
            </a:r>
            <a:endParaRPr lang="en-US" sz="1350" dirty="0"/>
          </a:p>
        </p:txBody>
      </p:sp>
      <p:sp>
        <p:nvSpPr>
          <p:cNvPr id="49" name="Shape 46"/>
          <p:cNvSpPr/>
          <p:nvPr/>
        </p:nvSpPr>
        <p:spPr>
          <a:xfrm>
            <a:off x="13755027" y="3935346"/>
            <a:ext cx="3608090" cy="402167"/>
          </a:xfrm>
          <a:prstGeom prst="roundRect">
            <a:avLst>
              <a:gd name="adj" fmla="val 1894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0" name="Text 47"/>
          <p:cNvSpPr/>
          <p:nvPr/>
        </p:nvSpPr>
        <p:spPr>
          <a:xfrm>
            <a:off x="13888377" y="4030596"/>
            <a:ext cx="344963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 — any stage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2" name="Shape 49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3" name="Text 50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use cases, one governed platform, along the whole customer journey.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521742" y="235975"/>
            <a:ext cx="1156692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CATALOG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CATALOG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agent available to the sales and operations team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6916467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6895300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6895300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111816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· Catalog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4348024" y="2127085"/>
            <a:ext cx="3053126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4443274" y="2165185"/>
            <a:ext cx="2954220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agents · shared governance, shared memory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48651" y="3544921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6198950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23"/>
          <p:cNvSpPr/>
          <p:nvPr/>
        </p:nvSpPr>
        <p:spPr>
          <a:xfrm>
            <a:off x="1621234" y="2726035"/>
            <a:ext cx="3835466" cy="5262728"/>
          </a:xfrm>
          <a:prstGeom prst="roundRect">
            <a:avLst>
              <a:gd name="adj" fmla="val 3973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03135" y="2923811"/>
            <a:ext cx="190500" cy="1905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2088886" y="2907936"/>
            <a:ext cx="759817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Presale</a:t>
            </a:r>
            <a:endParaRPr lang="en-US" sz="1500" dirty="0"/>
          </a:p>
        </p:txBody>
      </p:sp>
      <p:sp>
        <p:nvSpPr>
          <p:cNvPr id="37" name="Shape 25"/>
          <p:cNvSpPr/>
          <p:nvPr/>
        </p:nvSpPr>
        <p:spPr>
          <a:xfrm>
            <a:off x="1803135" y="3263470"/>
            <a:ext cx="3471664" cy="9525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Shape 26"/>
          <p:cNvSpPr/>
          <p:nvPr/>
        </p:nvSpPr>
        <p:spPr>
          <a:xfrm>
            <a:off x="1803135" y="3966270"/>
            <a:ext cx="3471664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Text 27"/>
          <p:cNvSpPr/>
          <p:nvPr/>
        </p:nvSpPr>
        <p:spPr>
          <a:xfrm>
            <a:off x="1803135" y="3425197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Territory planner</a:t>
            </a:r>
            <a:endParaRPr lang="en-US" sz="1275" dirty="0"/>
          </a:p>
        </p:txBody>
      </p:sp>
      <p:sp>
        <p:nvSpPr>
          <p:cNvPr id="40" name="Shape 28"/>
          <p:cNvSpPr/>
          <p:nvPr/>
        </p:nvSpPr>
        <p:spPr>
          <a:xfrm>
            <a:off x="5198732" y="3482248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1" name="Text 29"/>
          <p:cNvSpPr/>
          <p:nvPr/>
        </p:nvSpPr>
        <p:spPr>
          <a:xfrm>
            <a:off x="1803135" y="3665472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Balances quota against real potential</a:t>
            </a:r>
            <a:endParaRPr lang="en-US" sz="1050" dirty="0"/>
          </a:p>
        </p:txBody>
      </p:sp>
      <p:sp>
        <p:nvSpPr>
          <p:cNvPr id="42" name="Shape 30"/>
          <p:cNvSpPr/>
          <p:nvPr/>
        </p:nvSpPr>
        <p:spPr>
          <a:xfrm>
            <a:off x="1803135" y="4632193"/>
            <a:ext cx="3471664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3" name="Text 31"/>
          <p:cNvSpPr/>
          <p:nvPr/>
        </p:nvSpPr>
        <p:spPr>
          <a:xfrm>
            <a:off x="1803135" y="4091120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scorer</a:t>
            </a:r>
            <a:endParaRPr lang="en-US" sz="1275" dirty="0"/>
          </a:p>
        </p:txBody>
      </p:sp>
      <p:sp>
        <p:nvSpPr>
          <p:cNvPr id="44" name="Shape 32"/>
          <p:cNvSpPr/>
          <p:nvPr/>
        </p:nvSpPr>
        <p:spPr>
          <a:xfrm>
            <a:off x="5198732" y="4148171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3"/>
          <p:cNvSpPr/>
          <p:nvPr/>
        </p:nvSpPr>
        <p:spPr>
          <a:xfrm>
            <a:off x="1803135" y="4331395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Ranks inbound with named evidence</a:t>
            </a:r>
            <a:endParaRPr lang="en-US" sz="1050" dirty="0"/>
          </a:p>
        </p:txBody>
      </p:sp>
      <p:sp>
        <p:nvSpPr>
          <p:cNvPr id="46" name="Shape 34"/>
          <p:cNvSpPr/>
          <p:nvPr/>
        </p:nvSpPr>
        <p:spPr>
          <a:xfrm>
            <a:off x="1803135" y="5298116"/>
            <a:ext cx="3471664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7" name="Text 35"/>
          <p:cNvSpPr/>
          <p:nvPr/>
        </p:nvSpPr>
        <p:spPr>
          <a:xfrm>
            <a:off x="1803135" y="4757043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builder</a:t>
            </a:r>
            <a:endParaRPr lang="en-US" sz="1275" dirty="0"/>
          </a:p>
        </p:txBody>
      </p:sp>
      <p:sp>
        <p:nvSpPr>
          <p:cNvPr id="48" name="Shape 36"/>
          <p:cNvSpPr/>
          <p:nvPr/>
        </p:nvSpPr>
        <p:spPr>
          <a:xfrm>
            <a:off x="5198732" y="4814094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9" name="Text 37"/>
          <p:cNvSpPr/>
          <p:nvPr/>
        </p:nvSpPr>
        <p:spPr>
          <a:xfrm>
            <a:off x="1803135" y="4997318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Segments from CRM and usage</a:t>
            </a:r>
            <a:endParaRPr lang="en-US" sz="1050" dirty="0"/>
          </a:p>
        </p:txBody>
      </p:sp>
      <p:sp>
        <p:nvSpPr>
          <p:cNvPr id="50" name="Shape 38"/>
          <p:cNvSpPr/>
          <p:nvPr/>
        </p:nvSpPr>
        <p:spPr>
          <a:xfrm>
            <a:off x="1803135" y="5964039"/>
            <a:ext cx="3471664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1" name="Text 39"/>
          <p:cNvSpPr/>
          <p:nvPr/>
        </p:nvSpPr>
        <p:spPr>
          <a:xfrm>
            <a:off x="1803135" y="5422967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prep agent</a:t>
            </a:r>
            <a:endParaRPr lang="en-US" sz="1275" dirty="0"/>
          </a:p>
        </p:txBody>
      </p:sp>
      <p:sp>
        <p:nvSpPr>
          <p:cNvPr id="52" name="Shape 40"/>
          <p:cNvSpPr/>
          <p:nvPr/>
        </p:nvSpPr>
        <p:spPr>
          <a:xfrm>
            <a:off x="5198732" y="5480017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3" name="Text 41"/>
          <p:cNvSpPr/>
          <p:nvPr/>
        </p:nvSpPr>
        <p:spPr>
          <a:xfrm>
            <a:off x="1803135" y="5663241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Briefs from 5 systems, 2 minutes</a:t>
            </a:r>
            <a:endParaRPr lang="en-US" sz="1050" dirty="0"/>
          </a:p>
        </p:txBody>
      </p:sp>
      <p:sp>
        <p:nvSpPr>
          <p:cNvPr id="54" name="Text 42"/>
          <p:cNvSpPr/>
          <p:nvPr/>
        </p:nvSpPr>
        <p:spPr>
          <a:xfrm>
            <a:off x="1803135" y="6088889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&amp; competitor watch</a:t>
            </a:r>
            <a:endParaRPr lang="en-US" sz="1275" dirty="0"/>
          </a:p>
        </p:txBody>
      </p:sp>
      <p:sp>
        <p:nvSpPr>
          <p:cNvPr id="55" name="Shape 43"/>
          <p:cNvSpPr/>
          <p:nvPr/>
        </p:nvSpPr>
        <p:spPr>
          <a:xfrm>
            <a:off x="5198732" y="6145941"/>
            <a:ext cx="76068" cy="76068"/>
          </a:xfrm>
          <a:prstGeom prst="ellipse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Text 44"/>
          <p:cNvSpPr/>
          <p:nvPr/>
        </p:nvSpPr>
        <p:spPr>
          <a:xfrm>
            <a:off x="1803135" y="6329164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 from public sources</a:t>
            </a:r>
            <a:endParaRPr lang="en-US" sz="1050" dirty="0"/>
          </a:p>
        </p:txBody>
      </p:sp>
      <p:sp>
        <p:nvSpPr>
          <p:cNvPr id="57" name="Shape 45"/>
          <p:cNvSpPr/>
          <p:nvPr/>
        </p:nvSpPr>
        <p:spPr>
          <a:xfrm>
            <a:off x="5589984" y="2726035"/>
            <a:ext cx="3835466" cy="5262728"/>
          </a:xfrm>
          <a:prstGeom prst="roundRect">
            <a:avLst>
              <a:gd name="adj" fmla="val 3973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71885" y="2923811"/>
            <a:ext cx="190500" cy="190500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6057635" y="2907936"/>
            <a:ext cx="472083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</a:t>
            </a:r>
            <a:endParaRPr lang="en-US" sz="1500" dirty="0"/>
          </a:p>
        </p:txBody>
      </p:sp>
      <p:sp>
        <p:nvSpPr>
          <p:cNvPr id="60" name="Shape 47"/>
          <p:cNvSpPr/>
          <p:nvPr/>
        </p:nvSpPr>
        <p:spPr>
          <a:xfrm>
            <a:off x="5771885" y="3263470"/>
            <a:ext cx="3471664" cy="9525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Shape 48"/>
          <p:cNvSpPr/>
          <p:nvPr/>
        </p:nvSpPr>
        <p:spPr>
          <a:xfrm>
            <a:off x="5771885" y="3966270"/>
            <a:ext cx="3471664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49"/>
          <p:cNvSpPr/>
          <p:nvPr/>
        </p:nvSpPr>
        <p:spPr>
          <a:xfrm>
            <a:off x="5771885" y="3425197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planner</a:t>
            </a:r>
            <a:endParaRPr lang="en-US" sz="1275" dirty="0"/>
          </a:p>
        </p:txBody>
      </p:sp>
      <p:sp>
        <p:nvSpPr>
          <p:cNvPr id="63" name="Shape 50"/>
          <p:cNvSpPr/>
          <p:nvPr/>
        </p:nvSpPr>
        <p:spPr>
          <a:xfrm>
            <a:off x="9167482" y="3482248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51"/>
          <p:cNvSpPr/>
          <p:nvPr/>
        </p:nvSpPr>
        <p:spPr>
          <a:xfrm>
            <a:off x="5771885" y="3665472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Whitespace, stakeholders, next actions</a:t>
            </a:r>
            <a:endParaRPr lang="en-US" sz="1050" dirty="0"/>
          </a:p>
        </p:txBody>
      </p:sp>
      <p:sp>
        <p:nvSpPr>
          <p:cNvPr id="65" name="Shape 52"/>
          <p:cNvSpPr/>
          <p:nvPr/>
        </p:nvSpPr>
        <p:spPr>
          <a:xfrm>
            <a:off x="5771885" y="4632193"/>
            <a:ext cx="3471664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3"/>
          <p:cNvSpPr/>
          <p:nvPr/>
        </p:nvSpPr>
        <p:spPr>
          <a:xfrm>
            <a:off x="5771885" y="4091120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risk analyst</a:t>
            </a:r>
            <a:endParaRPr lang="en-US" sz="1275" dirty="0"/>
          </a:p>
        </p:txBody>
      </p:sp>
      <p:sp>
        <p:nvSpPr>
          <p:cNvPr id="67" name="Shape 54"/>
          <p:cNvSpPr/>
          <p:nvPr/>
        </p:nvSpPr>
        <p:spPr>
          <a:xfrm>
            <a:off x="9167482" y="4148171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5"/>
          <p:cNvSpPr/>
          <p:nvPr/>
        </p:nvSpPr>
        <p:spPr>
          <a:xfrm>
            <a:off x="5771885" y="4331395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probability with drivers</a:t>
            </a:r>
            <a:endParaRPr lang="en-US" sz="1050" dirty="0"/>
          </a:p>
        </p:txBody>
      </p:sp>
      <p:sp>
        <p:nvSpPr>
          <p:cNvPr id="69" name="Shape 56"/>
          <p:cNvSpPr/>
          <p:nvPr/>
        </p:nvSpPr>
        <p:spPr>
          <a:xfrm>
            <a:off x="5771885" y="5298116"/>
            <a:ext cx="3471664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7"/>
          <p:cNvSpPr/>
          <p:nvPr/>
        </p:nvSpPr>
        <p:spPr>
          <a:xfrm>
            <a:off x="5771885" y="4757043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&amp; pricing agent</a:t>
            </a:r>
            <a:endParaRPr lang="en-US" sz="1275" dirty="0"/>
          </a:p>
        </p:txBody>
      </p:sp>
      <p:sp>
        <p:nvSpPr>
          <p:cNvPr id="71" name="Shape 58"/>
          <p:cNvSpPr/>
          <p:nvPr/>
        </p:nvSpPr>
        <p:spPr>
          <a:xfrm>
            <a:off x="9167482" y="4814094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9"/>
          <p:cNvSpPr/>
          <p:nvPr/>
        </p:nvSpPr>
        <p:spPr>
          <a:xfrm>
            <a:off x="5771885" y="4997318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floors and discount authority</a:t>
            </a:r>
            <a:endParaRPr lang="en-US" sz="1050" dirty="0"/>
          </a:p>
        </p:txBody>
      </p:sp>
      <p:sp>
        <p:nvSpPr>
          <p:cNvPr id="73" name="Shape 60"/>
          <p:cNvSpPr/>
          <p:nvPr/>
        </p:nvSpPr>
        <p:spPr>
          <a:xfrm>
            <a:off x="5771885" y="5964039"/>
            <a:ext cx="3471664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61"/>
          <p:cNvSpPr/>
          <p:nvPr/>
        </p:nvSpPr>
        <p:spPr>
          <a:xfrm>
            <a:off x="5771885" y="5422967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 &amp; RFP writer</a:t>
            </a:r>
            <a:endParaRPr lang="en-US" sz="1275" dirty="0"/>
          </a:p>
        </p:txBody>
      </p:sp>
      <p:sp>
        <p:nvSpPr>
          <p:cNvPr id="75" name="Shape 62"/>
          <p:cNvSpPr/>
          <p:nvPr/>
        </p:nvSpPr>
        <p:spPr>
          <a:xfrm>
            <a:off x="9167482" y="5480017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6" name="Text 63"/>
          <p:cNvSpPr/>
          <p:nvPr/>
        </p:nvSpPr>
        <p:spPr>
          <a:xfrm>
            <a:off x="5771885" y="5663241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content, cited</a:t>
            </a:r>
            <a:endParaRPr lang="en-US" sz="1050" dirty="0"/>
          </a:p>
        </p:txBody>
      </p:sp>
      <p:sp>
        <p:nvSpPr>
          <p:cNvPr id="77" name="Text 64"/>
          <p:cNvSpPr/>
          <p:nvPr/>
        </p:nvSpPr>
        <p:spPr>
          <a:xfrm>
            <a:off x="5771885" y="6088889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reviewer</a:t>
            </a:r>
            <a:endParaRPr lang="en-US" sz="1275" dirty="0"/>
          </a:p>
        </p:txBody>
      </p:sp>
      <p:sp>
        <p:nvSpPr>
          <p:cNvPr id="78" name="Shape 65"/>
          <p:cNvSpPr/>
          <p:nvPr/>
        </p:nvSpPr>
        <p:spPr>
          <a:xfrm>
            <a:off x="9167482" y="6145941"/>
            <a:ext cx="76068" cy="76068"/>
          </a:xfrm>
          <a:prstGeom prst="ellipse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Text 66"/>
          <p:cNvSpPr/>
          <p:nvPr/>
        </p:nvSpPr>
        <p:spPr>
          <a:xfrm>
            <a:off x="5771885" y="6329164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Redline deltas against playbook</a:t>
            </a:r>
            <a:endParaRPr lang="en-US" sz="1050" dirty="0"/>
          </a:p>
        </p:txBody>
      </p:sp>
      <p:sp>
        <p:nvSpPr>
          <p:cNvPr id="80" name="Shape 67"/>
          <p:cNvSpPr/>
          <p:nvPr/>
        </p:nvSpPr>
        <p:spPr>
          <a:xfrm>
            <a:off x="9558735" y="2726035"/>
            <a:ext cx="3835466" cy="5262728"/>
          </a:xfrm>
          <a:prstGeom prst="roundRect">
            <a:avLst>
              <a:gd name="adj" fmla="val 3973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8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40636" y="2923811"/>
            <a:ext cx="190500" cy="190500"/>
          </a:xfrm>
          <a:prstGeom prst="rect">
            <a:avLst/>
          </a:prstGeom>
        </p:spPr>
      </p:pic>
      <p:sp>
        <p:nvSpPr>
          <p:cNvPr id="82" name="Text 68"/>
          <p:cNvSpPr/>
          <p:nvPr/>
        </p:nvSpPr>
        <p:spPr>
          <a:xfrm>
            <a:off x="10026386" y="2907936"/>
            <a:ext cx="947506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Post-sale</a:t>
            </a:r>
            <a:endParaRPr lang="en-US" sz="1500" dirty="0"/>
          </a:p>
        </p:txBody>
      </p:sp>
      <p:sp>
        <p:nvSpPr>
          <p:cNvPr id="83" name="Shape 69"/>
          <p:cNvSpPr/>
          <p:nvPr/>
        </p:nvSpPr>
        <p:spPr>
          <a:xfrm>
            <a:off x="9740636" y="3263470"/>
            <a:ext cx="3471664" cy="9525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Shape 70"/>
          <p:cNvSpPr/>
          <p:nvPr/>
        </p:nvSpPr>
        <p:spPr>
          <a:xfrm>
            <a:off x="9740636" y="3966270"/>
            <a:ext cx="3471664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1"/>
          <p:cNvSpPr/>
          <p:nvPr/>
        </p:nvSpPr>
        <p:spPr>
          <a:xfrm>
            <a:off x="9740636" y="3425197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summariser</a:t>
            </a:r>
            <a:endParaRPr lang="en-US" sz="1275" dirty="0"/>
          </a:p>
        </p:txBody>
      </p:sp>
      <p:sp>
        <p:nvSpPr>
          <p:cNvPr id="86" name="Shape 72"/>
          <p:cNvSpPr/>
          <p:nvPr/>
        </p:nvSpPr>
        <p:spPr>
          <a:xfrm>
            <a:off x="13136232" y="3482248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73"/>
          <p:cNvSpPr/>
          <p:nvPr/>
        </p:nvSpPr>
        <p:spPr>
          <a:xfrm>
            <a:off x="9740636" y="3665472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back to the CRM</a:t>
            </a:r>
            <a:endParaRPr lang="en-US" sz="1050" dirty="0"/>
          </a:p>
        </p:txBody>
      </p:sp>
      <p:sp>
        <p:nvSpPr>
          <p:cNvPr id="88" name="Shape 74"/>
          <p:cNvSpPr/>
          <p:nvPr/>
        </p:nvSpPr>
        <p:spPr>
          <a:xfrm>
            <a:off x="9740636" y="4632193"/>
            <a:ext cx="3471664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Text 75"/>
          <p:cNvSpPr/>
          <p:nvPr/>
        </p:nvSpPr>
        <p:spPr>
          <a:xfrm>
            <a:off x="9740636" y="4091120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deflection agent</a:t>
            </a:r>
            <a:endParaRPr lang="en-US" sz="1275" dirty="0"/>
          </a:p>
        </p:txBody>
      </p:sp>
      <p:sp>
        <p:nvSpPr>
          <p:cNvPr id="90" name="Shape 76"/>
          <p:cNvSpPr/>
          <p:nvPr/>
        </p:nvSpPr>
        <p:spPr>
          <a:xfrm>
            <a:off x="13136232" y="4148171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7"/>
          <p:cNvSpPr/>
          <p:nvPr/>
        </p:nvSpPr>
        <p:spPr>
          <a:xfrm>
            <a:off x="9740636" y="4331395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Resolves and escalates with context</a:t>
            </a:r>
            <a:endParaRPr lang="en-US" sz="1050" dirty="0"/>
          </a:p>
        </p:txBody>
      </p:sp>
      <p:sp>
        <p:nvSpPr>
          <p:cNvPr id="92" name="Shape 78"/>
          <p:cNvSpPr/>
          <p:nvPr/>
        </p:nvSpPr>
        <p:spPr>
          <a:xfrm>
            <a:off x="9740636" y="5298116"/>
            <a:ext cx="3471664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9"/>
          <p:cNvSpPr/>
          <p:nvPr/>
        </p:nvSpPr>
        <p:spPr>
          <a:xfrm>
            <a:off x="9740636" y="4757043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Renewal &amp; churn agent</a:t>
            </a:r>
            <a:endParaRPr lang="en-US" sz="1275" dirty="0"/>
          </a:p>
        </p:txBody>
      </p:sp>
      <p:sp>
        <p:nvSpPr>
          <p:cNvPr id="94" name="Shape 80"/>
          <p:cNvSpPr/>
          <p:nvPr/>
        </p:nvSpPr>
        <p:spPr>
          <a:xfrm>
            <a:off x="13136232" y="4814094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1"/>
          <p:cNvSpPr/>
          <p:nvPr/>
        </p:nvSpPr>
        <p:spPr>
          <a:xfrm>
            <a:off x="9740636" y="4997318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scored 120 days ahead</a:t>
            </a:r>
            <a:endParaRPr lang="en-US" sz="1050" dirty="0"/>
          </a:p>
        </p:txBody>
      </p:sp>
      <p:sp>
        <p:nvSpPr>
          <p:cNvPr id="96" name="Shape 82"/>
          <p:cNvSpPr/>
          <p:nvPr/>
        </p:nvSpPr>
        <p:spPr>
          <a:xfrm>
            <a:off x="9740636" y="5964039"/>
            <a:ext cx="3471664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83"/>
          <p:cNvSpPr/>
          <p:nvPr/>
        </p:nvSpPr>
        <p:spPr>
          <a:xfrm>
            <a:off x="9740636" y="5422967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coach</a:t>
            </a:r>
            <a:endParaRPr lang="en-US" sz="1275" dirty="0"/>
          </a:p>
        </p:txBody>
      </p:sp>
      <p:sp>
        <p:nvSpPr>
          <p:cNvPr id="98" name="Shape 84"/>
          <p:cNvSpPr/>
          <p:nvPr/>
        </p:nvSpPr>
        <p:spPr>
          <a:xfrm>
            <a:off x="13136232" y="5480017"/>
            <a:ext cx="76068" cy="76068"/>
          </a:xfrm>
          <a:prstGeom prst="ellipse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9" name="Text 85"/>
          <p:cNvSpPr/>
          <p:nvPr/>
        </p:nvSpPr>
        <p:spPr>
          <a:xfrm>
            <a:off x="9740636" y="5663241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nudges per customer</a:t>
            </a:r>
            <a:endParaRPr lang="en-US" sz="1050" dirty="0"/>
          </a:p>
        </p:txBody>
      </p:sp>
      <p:sp>
        <p:nvSpPr>
          <p:cNvPr id="100" name="Text 86"/>
          <p:cNvSpPr/>
          <p:nvPr/>
        </p:nvSpPr>
        <p:spPr>
          <a:xfrm>
            <a:off x="9740636" y="6088889"/>
            <a:ext cx="3651482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Voice-of-customer agent</a:t>
            </a:r>
            <a:endParaRPr lang="en-US" sz="1275" dirty="0"/>
          </a:p>
        </p:txBody>
      </p:sp>
      <p:sp>
        <p:nvSpPr>
          <p:cNvPr id="101" name="Shape 87"/>
          <p:cNvSpPr/>
          <p:nvPr/>
        </p:nvSpPr>
        <p:spPr>
          <a:xfrm>
            <a:off x="13136232" y="6145941"/>
            <a:ext cx="76068" cy="76068"/>
          </a:xfrm>
          <a:prstGeom prst="ellipse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2" name="Text 88"/>
          <p:cNvSpPr/>
          <p:nvPr/>
        </p:nvSpPr>
        <p:spPr>
          <a:xfrm>
            <a:off x="9740636" y="6329164"/>
            <a:ext cx="381883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Themes across tickets and calls</a:t>
            </a:r>
            <a:endParaRPr lang="en-US" sz="1050" dirty="0"/>
          </a:p>
        </p:txBody>
      </p:sp>
      <p:sp>
        <p:nvSpPr>
          <p:cNvPr id="103" name="Shape 89"/>
          <p:cNvSpPr/>
          <p:nvPr/>
        </p:nvSpPr>
        <p:spPr>
          <a:xfrm>
            <a:off x="13527485" y="2726035"/>
            <a:ext cx="3835632" cy="5262728"/>
          </a:xfrm>
          <a:prstGeom prst="roundRect">
            <a:avLst>
              <a:gd name="adj" fmla="val 3973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4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709386" y="2923811"/>
            <a:ext cx="190500" cy="190500"/>
          </a:xfrm>
          <a:prstGeom prst="rect">
            <a:avLst/>
          </a:prstGeom>
        </p:spPr>
      </p:pic>
      <p:sp>
        <p:nvSpPr>
          <p:cNvPr id="105" name="Text 90"/>
          <p:cNvSpPr/>
          <p:nvPr/>
        </p:nvSpPr>
        <p:spPr>
          <a:xfrm>
            <a:off x="13995136" y="2907936"/>
            <a:ext cx="2195000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&amp; steering</a:t>
            </a:r>
            <a:endParaRPr lang="en-US" sz="1500" dirty="0"/>
          </a:p>
        </p:txBody>
      </p:sp>
      <p:sp>
        <p:nvSpPr>
          <p:cNvPr id="106" name="Shape 91"/>
          <p:cNvSpPr/>
          <p:nvPr/>
        </p:nvSpPr>
        <p:spPr>
          <a:xfrm>
            <a:off x="13709386" y="3263470"/>
            <a:ext cx="3471830" cy="9525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Shape 92"/>
          <p:cNvSpPr/>
          <p:nvPr/>
        </p:nvSpPr>
        <p:spPr>
          <a:xfrm>
            <a:off x="13709386" y="3966270"/>
            <a:ext cx="3471830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8" name="Text 93"/>
          <p:cNvSpPr/>
          <p:nvPr/>
        </p:nvSpPr>
        <p:spPr>
          <a:xfrm>
            <a:off x="13709386" y="3425197"/>
            <a:ext cx="3651664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agent</a:t>
            </a:r>
            <a:endParaRPr lang="en-US" sz="1275" dirty="0"/>
          </a:p>
        </p:txBody>
      </p:sp>
      <p:sp>
        <p:nvSpPr>
          <p:cNvPr id="109" name="Shape 94"/>
          <p:cNvSpPr/>
          <p:nvPr/>
        </p:nvSpPr>
        <p:spPr>
          <a:xfrm>
            <a:off x="17105148" y="3482248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0" name="Text 95"/>
          <p:cNvSpPr/>
          <p:nvPr/>
        </p:nvSpPr>
        <p:spPr>
          <a:xfrm>
            <a:off x="13709386" y="3665472"/>
            <a:ext cx="3819013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Model-adjusted, deal-by-deal</a:t>
            </a:r>
            <a:endParaRPr lang="en-US" sz="1050" dirty="0"/>
          </a:p>
        </p:txBody>
      </p:sp>
      <p:sp>
        <p:nvSpPr>
          <p:cNvPr id="111" name="Shape 96"/>
          <p:cNvSpPr/>
          <p:nvPr/>
        </p:nvSpPr>
        <p:spPr>
          <a:xfrm>
            <a:off x="13709386" y="4632193"/>
            <a:ext cx="3471830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7"/>
          <p:cNvSpPr/>
          <p:nvPr/>
        </p:nvSpPr>
        <p:spPr>
          <a:xfrm>
            <a:off x="13709386" y="4091120"/>
            <a:ext cx="3651664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hygiene agent</a:t>
            </a:r>
            <a:endParaRPr lang="en-US" sz="1275" dirty="0"/>
          </a:p>
        </p:txBody>
      </p:sp>
      <p:sp>
        <p:nvSpPr>
          <p:cNvPr id="113" name="Shape 98"/>
          <p:cNvSpPr/>
          <p:nvPr/>
        </p:nvSpPr>
        <p:spPr>
          <a:xfrm>
            <a:off x="17105148" y="4148171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9"/>
          <p:cNvSpPr/>
          <p:nvPr/>
        </p:nvSpPr>
        <p:spPr>
          <a:xfrm>
            <a:off x="13709386" y="4331395"/>
            <a:ext cx="3819013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Fills, dedupes, flags stale records</a:t>
            </a:r>
            <a:endParaRPr lang="en-US" sz="1050" dirty="0"/>
          </a:p>
        </p:txBody>
      </p:sp>
      <p:sp>
        <p:nvSpPr>
          <p:cNvPr id="115" name="Shape 100"/>
          <p:cNvSpPr/>
          <p:nvPr/>
        </p:nvSpPr>
        <p:spPr>
          <a:xfrm>
            <a:off x="13709386" y="5298116"/>
            <a:ext cx="3471830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6" name="Text 101"/>
          <p:cNvSpPr/>
          <p:nvPr/>
        </p:nvSpPr>
        <p:spPr>
          <a:xfrm>
            <a:off x="13709386" y="4757043"/>
            <a:ext cx="3651664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Order-to-cash agent</a:t>
            </a:r>
            <a:endParaRPr lang="en-US" sz="1275" dirty="0"/>
          </a:p>
        </p:txBody>
      </p:sp>
      <p:sp>
        <p:nvSpPr>
          <p:cNvPr id="117" name="Shape 102"/>
          <p:cNvSpPr/>
          <p:nvPr/>
        </p:nvSpPr>
        <p:spPr>
          <a:xfrm>
            <a:off x="17105148" y="4814094"/>
            <a:ext cx="76068" cy="76068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Text 103"/>
          <p:cNvSpPr/>
          <p:nvPr/>
        </p:nvSpPr>
        <p:spPr>
          <a:xfrm>
            <a:off x="13709386" y="4997318"/>
            <a:ext cx="3819013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D365 and SAP exceptions</a:t>
            </a:r>
            <a:endParaRPr lang="en-US" sz="1050" dirty="0"/>
          </a:p>
        </p:txBody>
      </p:sp>
      <p:sp>
        <p:nvSpPr>
          <p:cNvPr id="119" name="Shape 104"/>
          <p:cNvSpPr/>
          <p:nvPr/>
        </p:nvSpPr>
        <p:spPr>
          <a:xfrm>
            <a:off x="13709386" y="5964039"/>
            <a:ext cx="3471830" cy="10583"/>
          </a:xfrm>
          <a:prstGeom prst="rect">
            <a:avLst/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0" name="Text 105"/>
          <p:cNvSpPr/>
          <p:nvPr/>
        </p:nvSpPr>
        <p:spPr>
          <a:xfrm>
            <a:off x="13709386" y="5422967"/>
            <a:ext cx="3651664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Commission &amp; incentive agent</a:t>
            </a:r>
            <a:endParaRPr lang="en-US" sz="1275" dirty="0"/>
          </a:p>
        </p:txBody>
      </p:sp>
      <p:sp>
        <p:nvSpPr>
          <p:cNvPr id="121" name="Shape 106"/>
          <p:cNvSpPr/>
          <p:nvPr/>
        </p:nvSpPr>
        <p:spPr>
          <a:xfrm>
            <a:off x="17105148" y="5480017"/>
            <a:ext cx="76068" cy="76068"/>
          </a:xfrm>
          <a:prstGeom prst="ellipse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7"/>
          <p:cNvSpPr/>
          <p:nvPr/>
        </p:nvSpPr>
        <p:spPr>
          <a:xfrm>
            <a:off x="13709386" y="5663241"/>
            <a:ext cx="3819013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Explains every payout line</a:t>
            </a:r>
            <a:endParaRPr lang="en-US" sz="1050" dirty="0"/>
          </a:p>
        </p:txBody>
      </p:sp>
      <p:sp>
        <p:nvSpPr>
          <p:cNvPr id="123" name="Text 108"/>
          <p:cNvSpPr/>
          <p:nvPr/>
        </p:nvSpPr>
        <p:spPr>
          <a:xfrm>
            <a:off x="13709386" y="6088889"/>
            <a:ext cx="3651664" cy="24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58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&amp; audit agent</a:t>
            </a:r>
            <a:endParaRPr lang="en-US" sz="1275" dirty="0"/>
          </a:p>
        </p:txBody>
      </p:sp>
      <p:sp>
        <p:nvSpPr>
          <p:cNvPr id="124" name="Shape 109"/>
          <p:cNvSpPr/>
          <p:nvPr/>
        </p:nvSpPr>
        <p:spPr>
          <a:xfrm>
            <a:off x="17105148" y="6145941"/>
            <a:ext cx="76068" cy="76068"/>
          </a:xfrm>
          <a:prstGeom prst="ellipse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5" name="Text 110"/>
          <p:cNvSpPr/>
          <p:nvPr/>
        </p:nvSpPr>
        <p:spPr>
          <a:xfrm>
            <a:off x="13709386" y="6329164"/>
            <a:ext cx="3819013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per control, per quarter</a:t>
            </a:r>
            <a:endParaRPr lang="en-US" sz="1050" dirty="0"/>
          </a:p>
        </p:txBody>
      </p:sp>
      <p:sp>
        <p:nvSpPr>
          <p:cNvPr id="126" name="Shape 111"/>
          <p:cNvSpPr/>
          <p:nvPr/>
        </p:nvSpPr>
        <p:spPr>
          <a:xfrm>
            <a:off x="1621234" y="8141064"/>
            <a:ext cx="15741882" cy="649552"/>
          </a:xfrm>
          <a:prstGeom prst="roundRect">
            <a:avLst>
              <a:gd name="adj" fmla="val 17597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Shape 112"/>
          <p:cNvSpPr/>
          <p:nvPr/>
        </p:nvSpPr>
        <p:spPr>
          <a:xfrm>
            <a:off x="1792552" y="8423011"/>
            <a:ext cx="85659" cy="85659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Text 113"/>
          <p:cNvSpPr/>
          <p:nvPr/>
        </p:nvSpPr>
        <p:spPr>
          <a:xfrm>
            <a:off x="1973461" y="8312382"/>
            <a:ext cx="396511" cy="345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950" dirty="0"/>
          </a:p>
        </p:txBody>
      </p:sp>
      <p:sp>
        <p:nvSpPr>
          <p:cNvPr id="129" name="Text 114"/>
          <p:cNvSpPr/>
          <p:nvPr/>
        </p:nvSpPr>
        <p:spPr>
          <a:xfrm>
            <a:off x="2389022" y="8407632"/>
            <a:ext cx="1414099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production</a:t>
            </a:r>
            <a:endParaRPr lang="en-US" sz="1200" dirty="0"/>
          </a:p>
        </p:txBody>
      </p:sp>
      <p:sp>
        <p:nvSpPr>
          <p:cNvPr id="130" name="Shape 115"/>
          <p:cNvSpPr/>
          <p:nvPr/>
        </p:nvSpPr>
        <p:spPr>
          <a:xfrm>
            <a:off x="3922117" y="8423011"/>
            <a:ext cx="85659" cy="85659"/>
          </a:xfrm>
          <a:prstGeom prst="ellipse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6"/>
          <p:cNvSpPr/>
          <p:nvPr/>
        </p:nvSpPr>
        <p:spPr>
          <a:xfrm>
            <a:off x="4103026" y="8312382"/>
            <a:ext cx="236438" cy="345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950" dirty="0"/>
          </a:p>
        </p:txBody>
      </p:sp>
      <p:sp>
        <p:nvSpPr>
          <p:cNvPr id="132" name="Text 117"/>
          <p:cNvSpPr/>
          <p:nvPr/>
        </p:nvSpPr>
        <p:spPr>
          <a:xfrm>
            <a:off x="4358514" y="8407632"/>
            <a:ext cx="55840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pilot</a:t>
            </a:r>
            <a:endParaRPr lang="en-US" sz="1200" dirty="0"/>
          </a:p>
        </p:txBody>
      </p:sp>
      <p:sp>
        <p:nvSpPr>
          <p:cNvPr id="133" name="Shape 118"/>
          <p:cNvSpPr/>
          <p:nvPr/>
        </p:nvSpPr>
        <p:spPr>
          <a:xfrm>
            <a:off x="5088268" y="8423011"/>
            <a:ext cx="85659" cy="85659"/>
          </a:xfrm>
          <a:prstGeom prst="ellipse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Text 119"/>
          <p:cNvSpPr/>
          <p:nvPr/>
        </p:nvSpPr>
        <p:spPr>
          <a:xfrm>
            <a:off x="5269177" y="8312382"/>
            <a:ext cx="236438" cy="345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950" dirty="0"/>
          </a:p>
        </p:txBody>
      </p:sp>
      <p:sp>
        <p:nvSpPr>
          <p:cNvPr id="135" name="Text 120"/>
          <p:cNvSpPr/>
          <p:nvPr/>
        </p:nvSpPr>
        <p:spPr>
          <a:xfrm>
            <a:off x="5524666" y="8407632"/>
            <a:ext cx="822986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backlog</a:t>
            </a:r>
            <a:endParaRPr lang="en-US" sz="1200" dirty="0"/>
          </a:p>
        </p:txBody>
      </p:sp>
      <p:sp>
        <p:nvSpPr>
          <p:cNvPr id="136" name="Text 121"/>
          <p:cNvSpPr/>
          <p:nvPr/>
        </p:nvSpPr>
        <p:spPr>
          <a:xfrm>
            <a:off x="9472084" y="8381173"/>
            <a:ext cx="8491687" cy="207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agent inherits the same policy engine, audit trail and approval rules. New agents ship in weeks, not quarters.</a:t>
            </a:r>
            <a:endParaRPr lang="en-US" sz="1125" dirty="0"/>
          </a:p>
        </p:txBody>
      </p:sp>
      <p:sp>
        <p:nvSpPr>
          <p:cNvPr id="137" name="Shape 122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8" name="Shape 123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9" name="Text 124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agent inherits the same policy engine, audit trail and approval rules.</a:t>
            </a:r>
            <a:endParaRPr lang="en-US" sz="20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172657" y="235975"/>
            <a:ext cx="1572535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TERRITORY PLANNING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PRESALE · 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Territory and quota planning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2420700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2399533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2399533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196180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· Territory model FY27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1759242" y="2127085"/>
            <a:ext cx="1146142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1854492" y="2165185"/>
            <a:ext cx="1031842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 proposal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48651" y="4459056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1703183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23"/>
          <p:cNvSpPr/>
          <p:nvPr/>
        </p:nvSpPr>
        <p:spPr>
          <a:xfrm>
            <a:off x="1621234" y="2726035"/>
            <a:ext cx="3647116" cy="1508952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5" name="Text 24"/>
          <p:cNvSpPr/>
          <p:nvPr/>
        </p:nvSpPr>
        <p:spPr>
          <a:xfrm>
            <a:off x="1822318" y="2927119"/>
            <a:ext cx="356944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822318" y="3159952"/>
            <a:ext cx="3569444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87%</a:t>
            </a:r>
            <a:endParaRPr lang="en-US" sz="3150" dirty="0"/>
          </a:p>
        </p:txBody>
      </p:sp>
      <p:sp>
        <p:nvSpPr>
          <p:cNvPr id="37" name="Text 26"/>
          <p:cNvSpPr/>
          <p:nvPr/>
        </p:nvSpPr>
        <p:spPr>
          <a:xfrm>
            <a:off x="1822318" y="3703836"/>
            <a:ext cx="35694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addressable accounts owned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1822318" y="3995870"/>
            <a:ext cx="3244949" cy="38034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Shape 28"/>
          <p:cNvSpPr/>
          <p:nvPr/>
        </p:nvSpPr>
        <p:spPr>
          <a:xfrm>
            <a:off x="1822318" y="3995870"/>
            <a:ext cx="3244949" cy="38034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Shape 29"/>
          <p:cNvSpPr/>
          <p:nvPr/>
        </p:nvSpPr>
        <p:spPr>
          <a:xfrm>
            <a:off x="5420651" y="2726035"/>
            <a:ext cx="3647281" cy="1508952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1" name="Text 30"/>
          <p:cNvSpPr/>
          <p:nvPr/>
        </p:nvSpPr>
        <p:spPr>
          <a:xfrm>
            <a:off x="5621735" y="2927119"/>
            <a:ext cx="356962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 LOAD BALANCE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5621735" y="3159952"/>
            <a:ext cx="3569626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±6%</a:t>
            </a:r>
            <a:endParaRPr lang="en-US" sz="3150" dirty="0"/>
          </a:p>
        </p:txBody>
      </p:sp>
      <p:sp>
        <p:nvSpPr>
          <p:cNvPr id="43" name="Text 32"/>
          <p:cNvSpPr/>
          <p:nvPr/>
        </p:nvSpPr>
        <p:spPr>
          <a:xfrm>
            <a:off x="5621735" y="3703836"/>
            <a:ext cx="356962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spread across 42 reps, was ±23%</a:t>
            </a:r>
            <a:endParaRPr lang="en-US" sz="1050" dirty="0"/>
          </a:p>
        </p:txBody>
      </p:sp>
      <p:sp>
        <p:nvSpPr>
          <p:cNvPr id="44" name="Shape 33"/>
          <p:cNvSpPr/>
          <p:nvPr/>
        </p:nvSpPr>
        <p:spPr>
          <a:xfrm>
            <a:off x="5621735" y="3995870"/>
            <a:ext cx="3245115" cy="38034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Shape 34"/>
          <p:cNvSpPr/>
          <p:nvPr/>
        </p:nvSpPr>
        <p:spPr>
          <a:xfrm>
            <a:off x="5621735" y="3995870"/>
            <a:ext cx="3245115" cy="38034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6" name="Shape 35"/>
          <p:cNvSpPr/>
          <p:nvPr/>
        </p:nvSpPr>
        <p:spPr>
          <a:xfrm>
            <a:off x="9220234" y="2726035"/>
            <a:ext cx="3647116" cy="1508952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7" name="Text 36"/>
          <p:cNvSpPr/>
          <p:nvPr/>
        </p:nvSpPr>
        <p:spPr>
          <a:xfrm>
            <a:off x="9421317" y="2927119"/>
            <a:ext cx="356944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REASSIGNMENTS</a:t>
            </a:r>
            <a:endParaRPr lang="en-US" sz="900" dirty="0"/>
          </a:p>
        </p:txBody>
      </p:sp>
      <p:sp>
        <p:nvSpPr>
          <p:cNvPr id="48" name="Text 37"/>
          <p:cNvSpPr/>
          <p:nvPr/>
        </p:nvSpPr>
        <p:spPr>
          <a:xfrm>
            <a:off x="9421317" y="3159952"/>
            <a:ext cx="3569444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118</a:t>
            </a:r>
            <a:endParaRPr lang="en-US" sz="3150" dirty="0"/>
          </a:p>
        </p:txBody>
      </p:sp>
      <p:sp>
        <p:nvSpPr>
          <p:cNvPr id="49" name="Text 38"/>
          <p:cNvSpPr/>
          <p:nvPr/>
        </p:nvSpPr>
        <p:spPr>
          <a:xfrm>
            <a:off x="9421317" y="3703836"/>
            <a:ext cx="35694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proposed, each with a reason</a:t>
            </a:r>
            <a:endParaRPr lang="en-US" sz="1050" dirty="0"/>
          </a:p>
        </p:txBody>
      </p:sp>
      <p:sp>
        <p:nvSpPr>
          <p:cNvPr id="50" name="Shape 39"/>
          <p:cNvSpPr/>
          <p:nvPr/>
        </p:nvSpPr>
        <p:spPr>
          <a:xfrm>
            <a:off x="9421317" y="3995870"/>
            <a:ext cx="3244949" cy="38034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1" name="Shape 40"/>
          <p:cNvSpPr/>
          <p:nvPr/>
        </p:nvSpPr>
        <p:spPr>
          <a:xfrm>
            <a:off x="9421317" y="3995870"/>
            <a:ext cx="3244949" cy="38034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2" name="Shape 41"/>
          <p:cNvSpPr/>
          <p:nvPr/>
        </p:nvSpPr>
        <p:spPr>
          <a:xfrm>
            <a:off x="1621234" y="4387288"/>
            <a:ext cx="6218040" cy="4403328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3" name="Text 42"/>
          <p:cNvSpPr/>
          <p:nvPr/>
        </p:nvSpPr>
        <p:spPr>
          <a:xfrm>
            <a:off x="1822318" y="4588371"/>
            <a:ext cx="6397460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VS. PIPELINE POTENTIAL</a:t>
            </a:r>
            <a:endParaRPr lang="en-US" sz="900" dirty="0"/>
          </a:p>
        </p:txBody>
      </p:sp>
      <p:sp>
        <p:nvSpPr>
          <p:cNvPr id="54" name="Text 43"/>
          <p:cNvSpPr/>
          <p:nvPr/>
        </p:nvSpPr>
        <p:spPr>
          <a:xfrm>
            <a:off x="1822318" y="4897273"/>
            <a:ext cx="1528151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DACH · Enterprise</a:t>
            </a:r>
            <a:endParaRPr lang="en-US" sz="1275" dirty="0"/>
          </a:p>
        </p:txBody>
      </p:sp>
      <p:sp>
        <p:nvSpPr>
          <p:cNvPr id="55" name="Text 44"/>
          <p:cNvSpPr/>
          <p:nvPr/>
        </p:nvSpPr>
        <p:spPr>
          <a:xfrm>
            <a:off x="6100135" y="4897273"/>
            <a:ext cx="1691862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4.8 M potential</a:t>
            </a:r>
            <a:endParaRPr lang="en-US" sz="1275" dirty="0"/>
          </a:p>
        </p:txBody>
      </p:sp>
      <p:sp>
        <p:nvSpPr>
          <p:cNvPr id="56" name="Shape 45"/>
          <p:cNvSpPr/>
          <p:nvPr/>
        </p:nvSpPr>
        <p:spPr>
          <a:xfrm>
            <a:off x="1822318" y="5193606"/>
            <a:ext cx="5815873" cy="95250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Shape 46"/>
          <p:cNvSpPr/>
          <p:nvPr/>
        </p:nvSpPr>
        <p:spPr>
          <a:xfrm>
            <a:off x="1822318" y="5193606"/>
            <a:ext cx="5350537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Text 47"/>
          <p:cNvSpPr/>
          <p:nvPr/>
        </p:nvSpPr>
        <p:spPr>
          <a:xfrm>
            <a:off x="1822318" y="5441156"/>
            <a:ext cx="1604549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DACH · Mittelstand</a:t>
            </a:r>
            <a:endParaRPr lang="en-US" sz="1275" dirty="0"/>
          </a:p>
        </p:txBody>
      </p:sp>
      <p:sp>
        <p:nvSpPr>
          <p:cNvPr id="59" name="Text 48"/>
          <p:cNvSpPr/>
          <p:nvPr/>
        </p:nvSpPr>
        <p:spPr>
          <a:xfrm>
            <a:off x="6100135" y="5441156"/>
            <a:ext cx="1691862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3.1 M potential</a:t>
            </a:r>
            <a:endParaRPr lang="en-US" sz="1275" dirty="0"/>
          </a:p>
        </p:txBody>
      </p:sp>
      <p:sp>
        <p:nvSpPr>
          <p:cNvPr id="60" name="Shape 49"/>
          <p:cNvSpPr/>
          <p:nvPr/>
        </p:nvSpPr>
        <p:spPr>
          <a:xfrm>
            <a:off x="1822318" y="5737490"/>
            <a:ext cx="5815873" cy="95250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Shape 50"/>
          <p:cNvSpPr/>
          <p:nvPr/>
        </p:nvSpPr>
        <p:spPr>
          <a:xfrm>
            <a:off x="1822318" y="5737490"/>
            <a:ext cx="4129154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51"/>
          <p:cNvSpPr/>
          <p:nvPr/>
        </p:nvSpPr>
        <p:spPr>
          <a:xfrm>
            <a:off x="1822318" y="5985040"/>
            <a:ext cx="698302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Benelux</a:t>
            </a:r>
            <a:endParaRPr lang="en-US" sz="1275" dirty="0"/>
          </a:p>
        </p:txBody>
      </p:sp>
      <p:sp>
        <p:nvSpPr>
          <p:cNvPr id="63" name="Text 52"/>
          <p:cNvSpPr/>
          <p:nvPr/>
        </p:nvSpPr>
        <p:spPr>
          <a:xfrm>
            <a:off x="6100135" y="5985040"/>
            <a:ext cx="1691862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2.2 M potential</a:t>
            </a:r>
            <a:endParaRPr lang="en-US" sz="1275" dirty="0"/>
          </a:p>
        </p:txBody>
      </p:sp>
      <p:sp>
        <p:nvSpPr>
          <p:cNvPr id="64" name="Shape 53"/>
          <p:cNvSpPr/>
          <p:nvPr/>
        </p:nvSpPr>
        <p:spPr>
          <a:xfrm>
            <a:off x="1822318" y="6281374"/>
            <a:ext cx="5815873" cy="95250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Shape 54"/>
          <p:cNvSpPr/>
          <p:nvPr/>
        </p:nvSpPr>
        <p:spPr>
          <a:xfrm>
            <a:off x="1822318" y="6281374"/>
            <a:ext cx="3373107" cy="95250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5"/>
          <p:cNvSpPr/>
          <p:nvPr/>
        </p:nvSpPr>
        <p:spPr>
          <a:xfrm>
            <a:off x="1822318" y="6528925"/>
            <a:ext cx="677300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Nordics</a:t>
            </a:r>
            <a:endParaRPr lang="en-US" sz="1275" dirty="0"/>
          </a:p>
        </p:txBody>
      </p:sp>
      <p:sp>
        <p:nvSpPr>
          <p:cNvPr id="67" name="Text 56"/>
          <p:cNvSpPr/>
          <p:nvPr/>
        </p:nvSpPr>
        <p:spPr>
          <a:xfrm>
            <a:off x="6100135" y="6528925"/>
            <a:ext cx="1691862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1.6 M potential</a:t>
            </a:r>
            <a:endParaRPr lang="en-US" sz="1275" dirty="0"/>
          </a:p>
        </p:txBody>
      </p:sp>
      <p:sp>
        <p:nvSpPr>
          <p:cNvPr id="68" name="Shape 57"/>
          <p:cNvSpPr/>
          <p:nvPr/>
        </p:nvSpPr>
        <p:spPr>
          <a:xfrm>
            <a:off x="1822318" y="6825258"/>
            <a:ext cx="5815873" cy="95250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Shape 58"/>
          <p:cNvSpPr/>
          <p:nvPr/>
        </p:nvSpPr>
        <p:spPr>
          <a:xfrm>
            <a:off x="1822318" y="6825258"/>
            <a:ext cx="2558852" cy="95250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9"/>
          <p:cNvSpPr/>
          <p:nvPr/>
        </p:nvSpPr>
        <p:spPr>
          <a:xfrm>
            <a:off x="1822318" y="7072809"/>
            <a:ext cx="1028039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 &amp; Ireland</a:t>
            </a:r>
            <a:endParaRPr lang="en-US" sz="1275" dirty="0"/>
          </a:p>
        </p:txBody>
      </p:sp>
      <p:sp>
        <p:nvSpPr>
          <p:cNvPr id="71" name="Text 60"/>
          <p:cNvSpPr/>
          <p:nvPr/>
        </p:nvSpPr>
        <p:spPr>
          <a:xfrm>
            <a:off x="6100135" y="7072809"/>
            <a:ext cx="1691862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2.7 M potential</a:t>
            </a:r>
            <a:endParaRPr lang="en-US" sz="1275" dirty="0"/>
          </a:p>
        </p:txBody>
      </p:sp>
      <p:sp>
        <p:nvSpPr>
          <p:cNvPr id="72" name="Shape 61"/>
          <p:cNvSpPr/>
          <p:nvPr/>
        </p:nvSpPr>
        <p:spPr>
          <a:xfrm>
            <a:off x="1822318" y="7369142"/>
            <a:ext cx="5815873" cy="95250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Shape 62"/>
          <p:cNvSpPr/>
          <p:nvPr/>
        </p:nvSpPr>
        <p:spPr>
          <a:xfrm>
            <a:off x="1822318" y="7369142"/>
            <a:ext cx="3663983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Shape 63"/>
          <p:cNvSpPr/>
          <p:nvPr/>
        </p:nvSpPr>
        <p:spPr>
          <a:xfrm>
            <a:off x="7991574" y="4387288"/>
            <a:ext cx="4875775" cy="4403328"/>
          </a:xfrm>
          <a:prstGeom prst="roundRect">
            <a:avLst>
              <a:gd name="adj" fmla="val 3461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5" name="Shape 64"/>
          <p:cNvSpPr/>
          <p:nvPr/>
        </p:nvSpPr>
        <p:spPr>
          <a:xfrm>
            <a:off x="8192658" y="4588371"/>
            <a:ext cx="591509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6" name="Text 65"/>
          <p:cNvSpPr/>
          <p:nvPr/>
        </p:nvSpPr>
        <p:spPr>
          <a:xfrm>
            <a:off x="8287908" y="4626471"/>
            <a:ext cx="477209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975" dirty="0"/>
          </a:p>
        </p:txBody>
      </p:sp>
      <p:sp>
        <p:nvSpPr>
          <p:cNvPr id="77" name="Text 66"/>
          <p:cNvSpPr/>
          <p:nvPr/>
        </p:nvSpPr>
        <p:spPr>
          <a:xfrm>
            <a:off x="8192658" y="4945889"/>
            <a:ext cx="492096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model changed</a:t>
            </a:r>
            <a:endParaRPr lang="en-US" sz="1500" dirty="0"/>
          </a:p>
        </p:txBody>
      </p:sp>
      <p:sp>
        <p:nvSpPr>
          <p:cNvPr id="78" name="Text 67"/>
          <p:cNvSpPr/>
          <p:nvPr/>
        </p:nvSpPr>
        <p:spPr>
          <a:xfrm>
            <a:off x="8192658" y="5282407"/>
            <a:ext cx="4607817" cy="1009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Nordics and Benelux are carrying 2.4× the accounts per rep of DACH Enterprise while holding a third of the potential. Moving 118 accounts flattens quota load to ±6% and frees 11 reps for named-account coverage.</a:t>
            </a:r>
            <a:endParaRPr lang="en-US" sz="1275" dirty="0"/>
          </a:p>
        </p:txBody>
      </p:sp>
      <p:sp>
        <p:nvSpPr>
          <p:cNvPr id="79" name="Text 68"/>
          <p:cNvSpPr/>
          <p:nvPr/>
        </p:nvSpPr>
        <p:spPr>
          <a:xfrm>
            <a:off x="8192658" y="6424745"/>
            <a:ext cx="4920969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Sources: Salesforce accounts, SAP revenue, Snowflake usage</a:t>
            </a:r>
            <a:endParaRPr lang="en-US" sz="1125" dirty="0"/>
          </a:p>
        </p:txBody>
      </p:sp>
      <p:sp>
        <p:nvSpPr>
          <p:cNvPr id="80" name="Text 69"/>
          <p:cNvSpPr/>
          <p:nvPr/>
        </p:nvSpPr>
        <p:spPr>
          <a:xfrm>
            <a:off x="8192658" y="6670146"/>
            <a:ext cx="4920969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Constraints honoured: language, travel radius, named logos</a:t>
            </a:r>
            <a:endParaRPr lang="en-US" sz="1125" dirty="0"/>
          </a:p>
        </p:txBody>
      </p:sp>
      <p:sp>
        <p:nvSpPr>
          <p:cNvPr id="81" name="Shape 70"/>
          <p:cNvSpPr/>
          <p:nvPr/>
        </p:nvSpPr>
        <p:spPr>
          <a:xfrm>
            <a:off x="13296966" y="1981068"/>
            <a:ext cx="4305267" cy="7048666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8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17067" y="2201168"/>
            <a:ext cx="161892" cy="161892"/>
          </a:xfrm>
          <a:prstGeom prst="rect">
            <a:avLst/>
          </a:prstGeom>
        </p:spPr>
      </p:pic>
      <p:sp>
        <p:nvSpPr>
          <p:cNvPr id="83" name="Text 71"/>
          <p:cNvSpPr/>
          <p:nvPr/>
        </p:nvSpPr>
        <p:spPr>
          <a:xfrm>
            <a:off x="13764618" y="2213240"/>
            <a:ext cx="82083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900" dirty="0"/>
          </a:p>
        </p:txBody>
      </p:sp>
      <p:pic>
        <p:nvPicPr>
          <p:cNvPr id="84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29833" y="2205964"/>
            <a:ext cx="152301" cy="152301"/>
          </a:xfrm>
          <a:prstGeom prst="rect">
            <a:avLst/>
          </a:prstGeom>
        </p:spPr>
      </p:pic>
      <p:sp>
        <p:nvSpPr>
          <p:cNvPr id="85" name="Shape 72"/>
          <p:cNvSpPr/>
          <p:nvPr/>
        </p:nvSpPr>
        <p:spPr>
          <a:xfrm>
            <a:off x="13559732" y="2477327"/>
            <a:ext cx="3822402" cy="635992"/>
          </a:xfrm>
          <a:prstGeom prst="roundRect">
            <a:avLst>
              <a:gd name="adj" fmla="val 17972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6" name="Text 73"/>
          <p:cNvSpPr/>
          <p:nvPr/>
        </p:nvSpPr>
        <p:spPr>
          <a:xfrm>
            <a:off x="13693015" y="2582003"/>
            <a:ext cx="366251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8"/>
              </a:lnSpc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reps lose the most accounts under this model?</a:t>
            </a:r>
            <a:endParaRPr lang="en-US" sz="1200" dirty="0"/>
          </a:p>
        </p:txBody>
      </p:sp>
      <p:sp>
        <p:nvSpPr>
          <p:cNvPr id="87" name="Text 74"/>
          <p:cNvSpPr/>
          <p:nvPr/>
        </p:nvSpPr>
        <p:spPr>
          <a:xfrm>
            <a:off x="13517067" y="3227586"/>
            <a:ext cx="3981019" cy="1009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reps give up more than eight accounts each. Two of them are over quota today, so the reassignment lands on their weakest segment, not their best.</a:t>
            </a:r>
            <a:endParaRPr lang="en-US" sz="1275" dirty="0"/>
          </a:p>
        </p:txBody>
      </p:sp>
      <p:sp>
        <p:nvSpPr>
          <p:cNvPr id="88" name="Shape 75"/>
          <p:cNvSpPr/>
          <p:nvPr/>
        </p:nvSpPr>
        <p:spPr>
          <a:xfrm>
            <a:off x="13517067" y="4312874"/>
            <a:ext cx="3865067" cy="1197736"/>
          </a:xfrm>
          <a:prstGeom prst="roundRect">
            <a:avLst>
              <a:gd name="adj" fmla="val 954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Text 76"/>
          <p:cNvSpPr/>
          <p:nvPr/>
        </p:nvSpPr>
        <p:spPr>
          <a:xfrm>
            <a:off x="13650351" y="4446158"/>
            <a:ext cx="3958349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ACCOUNTS MOVED, TOP REPS</a:t>
            </a:r>
            <a:endParaRPr lang="en-US" sz="900" dirty="0"/>
          </a:p>
        </p:txBody>
      </p:sp>
      <p:sp>
        <p:nvSpPr>
          <p:cNvPr id="90" name="Text 77"/>
          <p:cNvSpPr/>
          <p:nvPr/>
        </p:nvSpPr>
        <p:spPr>
          <a:xfrm>
            <a:off x="13650351" y="4703300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R. Bühler</a:t>
            </a:r>
            <a:endParaRPr lang="en-US" sz="1050" dirty="0"/>
          </a:p>
        </p:txBody>
      </p:sp>
      <p:sp>
        <p:nvSpPr>
          <p:cNvPr id="91" name="Shape 78"/>
          <p:cNvSpPr/>
          <p:nvPr/>
        </p:nvSpPr>
        <p:spPr>
          <a:xfrm>
            <a:off x="15212385" y="4744641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2" name="Shape 79"/>
          <p:cNvSpPr/>
          <p:nvPr/>
        </p:nvSpPr>
        <p:spPr>
          <a:xfrm>
            <a:off x="15212385" y="4744641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80"/>
          <p:cNvSpPr/>
          <p:nvPr/>
        </p:nvSpPr>
        <p:spPr>
          <a:xfrm>
            <a:off x="16582133" y="4698008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25" dirty="0"/>
          </a:p>
        </p:txBody>
      </p:sp>
      <p:sp>
        <p:nvSpPr>
          <p:cNvPr id="94" name="Text 81"/>
          <p:cNvSpPr/>
          <p:nvPr/>
        </p:nvSpPr>
        <p:spPr>
          <a:xfrm>
            <a:off x="13650351" y="4958292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Meier</a:t>
            </a:r>
            <a:endParaRPr lang="en-US" sz="1050" dirty="0"/>
          </a:p>
        </p:txBody>
      </p:sp>
      <p:sp>
        <p:nvSpPr>
          <p:cNvPr id="95" name="Shape 82"/>
          <p:cNvSpPr/>
          <p:nvPr/>
        </p:nvSpPr>
        <p:spPr>
          <a:xfrm>
            <a:off x="15212385" y="4999633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6" name="Shape 83"/>
          <p:cNvSpPr/>
          <p:nvPr/>
        </p:nvSpPr>
        <p:spPr>
          <a:xfrm>
            <a:off x="15212385" y="4999633"/>
            <a:ext cx="1089422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84"/>
          <p:cNvSpPr/>
          <p:nvPr/>
        </p:nvSpPr>
        <p:spPr>
          <a:xfrm>
            <a:off x="16582133" y="4953000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125" dirty="0"/>
          </a:p>
        </p:txBody>
      </p:sp>
      <p:sp>
        <p:nvSpPr>
          <p:cNvPr id="98" name="Text 85"/>
          <p:cNvSpPr/>
          <p:nvPr/>
        </p:nvSpPr>
        <p:spPr>
          <a:xfrm>
            <a:off x="13650351" y="5213284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T. Lang</a:t>
            </a:r>
            <a:endParaRPr lang="en-US" sz="1050" dirty="0"/>
          </a:p>
        </p:txBody>
      </p:sp>
      <p:sp>
        <p:nvSpPr>
          <p:cNvPr id="99" name="Shape 86"/>
          <p:cNvSpPr/>
          <p:nvPr/>
        </p:nvSpPr>
        <p:spPr>
          <a:xfrm>
            <a:off x="15212385" y="5254625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Shape 87"/>
          <p:cNvSpPr/>
          <p:nvPr/>
        </p:nvSpPr>
        <p:spPr>
          <a:xfrm>
            <a:off x="15212385" y="5254625"/>
            <a:ext cx="968375" cy="76068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8"/>
          <p:cNvSpPr/>
          <p:nvPr/>
        </p:nvSpPr>
        <p:spPr>
          <a:xfrm>
            <a:off x="16582133" y="5207993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25" dirty="0"/>
          </a:p>
        </p:txBody>
      </p:sp>
      <p:sp>
        <p:nvSpPr>
          <p:cNvPr id="102" name="Shape 89"/>
          <p:cNvSpPr/>
          <p:nvPr/>
        </p:nvSpPr>
        <p:spPr>
          <a:xfrm>
            <a:off x="13517067" y="5624876"/>
            <a:ext cx="3865067" cy="2124604"/>
          </a:xfrm>
          <a:prstGeom prst="roundRect">
            <a:avLst>
              <a:gd name="adj" fmla="val 538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3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60935" y="5768744"/>
            <a:ext cx="142875" cy="142875"/>
          </a:xfrm>
          <a:prstGeom prst="rect">
            <a:avLst/>
          </a:prstGeom>
        </p:spPr>
      </p:pic>
      <p:sp>
        <p:nvSpPr>
          <p:cNvPr id="104" name="Text 90"/>
          <p:cNvSpPr/>
          <p:nvPr/>
        </p:nvSpPr>
        <p:spPr>
          <a:xfrm>
            <a:off x="13879877" y="5771390"/>
            <a:ext cx="2058938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REASSIGNMENT BATCH</a:t>
            </a:r>
            <a:endParaRPr lang="en-US" sz="900" dirty="0"/>
          </a:p>
        </p:txBody>
      </p:sp>
      <p:sp>
        <p:nvSpPr>
          <p:cNvPr id="105" name="Text 91"/>
          <p:cNvSpPr/>
          <p:nvPr/>
        </p:nvSpPr>
        <p:spPr>
          <a:xfrm>
            <a:off x="13660935" y="6098811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</a:t>
            </a:r>
            <a:endParaRPr lang="en-US" sz="1050" dirty="0"/>
          </a:p>
        </p:txBody>
      </p:sp>
      <p:sp>
        <p:nvSpPr>
          <p:cNvPr id="106" name="Shape 92"/>
          <p:cNvSpPr/>
          <p:nvPr/>
        </p:nvSpPr>
        <p:spPr>
          <a:xfrm>
            <a:off x="14841968" y="6006869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7" name="Text 93"/>
          <p:cNvSpPr/>
          <p:nvPr/>
        </p:nvSpPr>
        <p:spPr>
          <a:xfrm>
            <a:off x="14957327" y="6093652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FY27 wave 1 · 118 accounts</a:t>
            </a:r>
            <a:endParaRPr lang="en-US" sz="1125" dirty="0"/>
          </a:p>
        </p:txBody>
      </p:sp>
      <p:sp>
        <p:nvSpPr>
          <p:cNvPr id="108" name="Text 94"/>
          <p:cNvSpPr/>
          <p:nvPr/>
        </p:nvSpPr>
        <p:spPr>
          <a:xfrm>
            <a:off x="13660935" y="6517514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</a:t>
            </a:r>
            <a:endParaRPr lang="en-US" sz="1050" dirty="0"/>
          </a:p>
        </p:txBody>
      </p:sp>
      <p:sp>
        <p:nvSpPr>
          <p:cNvPr id="109" name="Shape 95"/>
          <p:cNvSpPr/>
          <p:nvPr/>
        </p:nvSpPr>
        <p:spPr>
          <a:xfrm>
            <a:off x="14841968" y="6425572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0" name="Text 96"/>
          <p:cNvSpPr/>
          <p:nvPr/>
        </p:nvSpPr>
        <p:spPr>
          <a:xfrm>
            <a:off x="14957327" y="6512355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1, 2026</a:t>
            </a:r>
            <a:endParaRPr lang="en-US" sz="1125" dirty="0"/>
          </a:p>
        </p:txBody>
      </p:sp>
      <p:sp>
        <p:nvSpPr>
          <p:cNvPr id="111" name="Text 97"/>
          <p:cNvSpPr/>
          <p:nvPr/>
        </p:nvSpPr>
        <p:spPr>
          <a:xfrm>
            <a:off x="13660935" y="6936218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1050" dirty="0"/>
          </a:p>
        </p:txBody>
      </p:sp>
      <p:sp>
        <p:nvSpPr>
          <p:cNvPr id="112" name="Shape 98"/>
          <p:cNvSpPr/>
          <p:nvPr/>
        </p:nvSpPr>
        <p:spPr>
          <a:xfrm>
            <a:off x="14841968" y="6844275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3" name="Text 99"/>
          <p:cNvSpPr/>
          <p:nvPr/>
        </p:nvSpPr>
        <p:spPr>
          <a:xfrm>
            <a:off x="14957327" y="6931059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ops · L. Weber</a:t>
            </a:r>
            <a:endParaRPr lang="en-US" sz="1125" dirty="0"/>
          </a:p>
        </p:txBody>
      </p:sp>
      <p:sp>
        <p:nvSpPr>
          <p:cNvPr id="114" name="Text 100"/>
          <p:cNvSpPr/>
          <p:nvPr/>
        </p:nvSpPr>
        <p:spPr>
          <a:xfrm>
            <a:off x="13660935" y="7354921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</a:t>
            </a:r>
            <a:endParaRPr lang="en-US" sz="1050" dirty="0"/>
          </a:p>
        </p:txBody>
      </p:sp>
      <p:sp>
        <p:nvSpPr>
          <p:cNvPr id="115" name="Shape 101"/>
          <p:cNvSpPr/>
          <p:nvPr/>
        </p:nvSpPr>
        <p:spPr>
          <a:xfrm>
            <a:off x="14841968" y="7262978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102"/>
          <p:cNvSpPr/>
          <p:nvPr/>
        </p:nvSpPr>
        <p:spPr>
          <a:xfrm>
            <a:off x="14957327" y="7349762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VPs, 2 of 3 signed</a:t>
            </a:r>
            <a:endParaRPr lang="en-US" sz="1125" dirty="0"/>
          </a:p>
        </p:txBody>
      </p:sp>
      <p:sp>
        <p:nvSpPr>
          <p:cNvPr id="117" name="Shape 103"/>
          <p:cNvSpPr/>
          <p:nvPr/>
        </p:nvSpPr>
        <p:spPr>
          <a:xfrm>
            <a:off x="13517067" y="7882765"/>
            <a:ext cx="386506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Shape 104"/>
          <p:cNvSpPr/>
          <p:nvPr/>
        </p:nvSpPr>
        <p:spPr>
          <a:xfrm>
            <a:off x="13517067" y="8037215"/>
            <a:ext cx="1651165" cy="359833"/>
          </a:xfrm>
          <a:prstGeom prst="roundRect">
            <a:avLst>
              <a:gd name="adj" fmla="val 21176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9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50351" y="8145695"/>
            <a:ext cx="142875" cy="142875"/>
          </a:xfrm>
          <a:prstGeom prst="rect">
            <a:avLst/>
          </a:prstGeom>
        </p:spPr>
      </p:pic>
      <p:sp>
        <p:nvSpPr>
          <p:cNvPr id="120" name="Text 105"/>
          <p:cNvSpPr/>
          <p:nvPr/>
        </p:nvSpPr>
        <p:spPr>
          <a:xfrm>
            <a:off x="13859868" y="8132465"/>
            <a:ext cx="1251281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&amp; queue</a:t>
            </a:r>
            <a:endParaRPr lang="en-US" sz="1125" dirty="0"/>
          </a:p>
        </p:txBody>
      </p:sp>
      <p:sp>
        <p:nvSpPr>
          <p:cNvPr id="121" name="Shape 106"/>
          <p:cNvSpPr/>
          <p:nvPr/>
        </p:nvSpPr>
        <p:spPr>
          <a:xfrm>
            <a:off x="15263482" y="8026632"/>
            <a:ext cx="756378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22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407350" y="8145695"/>
            <a:ext cx="142875" cy="142875"/>
          </a:xfrm>
          <a:prstGeom prst="rect">
            <a:avLst/>
          </a:prstGeom>
        </p:spPr>
      </p:pic>
      <p:sp>
        <p:nvSpPr>
          <p:cNvPr id="123" name="Text 107"/>
          <p:cNvSpPr/>
          <p:nvPr/>
        </p:nvSpPr>
        <p:spPr>
          <a:xfrm>
            <a:off x="15616867" y="8132465"/>
            <a:ext cx="335326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25" dirty="0"/>
          </a:p>
        </p:txBody>
      </p:sp>
      <p:sp>
        <p:nvSpPr>
          <p:cNvPr id="124" name="Shape 108"/>
          <p:cNvSpPr/>
          <p:nvPr/>
        </p:nvSpPr>
        <p:spPr>
          <a:xfrm>
            <a:off x="16115111" y="8026632"/>
            <a:ext cx="922900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25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258977" y="8145695"/>
            <a:ext cx="142875" cy="142875"/>
          </a:xfrm>
          <a:prstGeom prst="rect">
            <a:avLst/>
          </a:prstGeom>
        </p:spPr>
      </p:pic>
      <p:sp>
        <p:nvSpPr>
          <p:cNvPr id="126" name="Text 109"/>
          <p:cNvSpPr/>
          <p:nvPr/>
        </p:nvSpPr>
        <p:spPr>
          <a:xfrm>
            <a:off x="16468495" y="8132465"/>
            <a:ext cx="501848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25" dirty="0"/>
          </a:p>
        </p:txBody>
      </p:sp>
      <p:pic>
        <p:nvPicPr>
          <p:cNvPr id="127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517067" y="8548522"/>
            <a:ext cx="133284" cy="133284"/>
          </a:xfrm>
          <a:prstGeom prst="rect">
            <a:avLst/>
          </a:prstGeom>
        </p:spPr>
      </p:pic>
      <p:sp>
        <p:nvSpPr>
          <p:cNvPr id="128" name="Text 110"/>
          <p:cNvSpPr/>
          <p:nvPr/>
        </p:nvSpPr>
        <p:spPr>
          <a:xfrm>
            <a:off x="13726419" y="8521899"/>
            <a:ext cx="2744705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account moves until all VPs approve</a:t>
            </a:r>
            <a:endParaRPr lang="en-US" sz="1050" dirty="0"/>
          </a:p>
        </p:txBody>
      </p:sp>
      <p:sp>
        <p:nvSpPr>
          <p:cNvPr id="129" name="Shape 111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0" name="Shape 112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3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 load flattened to ±6%, and the batch waits for every regional VP to sign.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639812" y="235975"/>
            <a:ext cx="1038622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SCORING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PRESALE · 02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scoring and prioritisation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2420700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2399533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2399533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217771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· Inbound queue, today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1243304" y="2127085"/>
            <a:ext cx="1662080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1338554" y="2165185"/>
            <a:ext cx="1547780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482 leads ranked in 40 s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48651" y="400198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1703183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Text 23"/>
          <p:cNvSpPr/>
          <p:nvPr/>
        </p:nvSpPr>
        <p:spPr>
          <a:xfrm>
            <a:off x="1621234" y="2726035"/>
            <a:ext cx="383956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5264051" y="2726035"/>
            <a:ext cx="102820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6368356" y="2726035"/>
            <a:ext cx="5236022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RANK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11280677" y="2726035"/>
            <a:ext cx="1745159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1621234" y="3015919"/>
            <a:ext cx="11246115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Text 28"/>
          <p:cNvSpPr/>
          <p:nvPr/>
        </p:nvSpPr>
        <p:spPr>
          <a:xfrm>
            <a:off x="1621234" y="3229571"/>
            <a:ext cx="3839567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Helvetia Logistik AG</a:t>
            </a:r>
            <a:endParaRPr lang="en-US" sz="1575" dirty="0"/>
          </a:p>
        </p:txBody>
      </p:sp>
      <p:sp>
        <p:nvSpPr>
          <p:cNvPr id="40" name="Text 29"/>
          <p:cNvSpPr/>
          <p:nvPr/>
        </p:nvSpPr>
        <p:spPr>
          <a:xfrm>
            <a:off x="5264051" y="3197821"/>
            <a:ext cx="102820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1950" dirty="0"/>
          </a:p>
        </p:txBody>
      </p:sp>
      <p:sp>
        <p:nvSpPr>
          <p:cNvPr id="41" name="Text 30"/>
          <p:cNvSpPr/>
          <p:nvPr/>
        </p:nvSpPr>
        <p:spPr>
          <a:xfrm>
            <a:off x="6368356" y="3245446"/>
            <a:ext cx="523602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Renewal window open · 3 buying signals</a:t>
            </a:r>
            <a:endParaRPr lang="en-US" sz="1350" dirty="0"/>
          </a:p>
        </p:txBody>
      </p:sp>
      <p:sp>
        <p:nvSpPr>
          <p:cNvPr id="42" name="Shape 31"/>
          <p:cNvSpPr/>
          <p:nvPr/>
        </p:nvSpPr>
        <p:spPr>
          <a:xfrm>
            <a:off x="11280677" y="3239162"/>
            <a:ext cx="882055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3" name="Text 32"/>
          <p:cNvSpPr/>
          <p:nvPr/>
        </p:nvSpPr>
        <p:spPr>
          <a:xfrm>
            <a:off x="11375927" y="3277262"/>
            <a:ext cx="767755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to AE</a:t>
            </a:r>
            <a:endParaRPr lang="en-US" sz="975" dirty="0"/>
          </a:p>
        </p:txBody>
      </p:sp>
      <p:sp>
        <p:nvSpPr>
          <p:cNvPr id="44" name="Shape 33"/>
          <p:cNvSpPr/>
          <p:nvPr/>
        </p:nvSpPr>
        <p:spPr>
          <a:xfrm>
            <a:off x="1621234" y="3828356"/>
            <a:ext cx="11246115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4"/>
          <p:cNvSpPr/>
          <p:nvPr/>
        </p:nvSpPr>
        <p:spPr>
          <a:xfrm>
            <a:off x="1621234" y="4042007"/>
            <a:ext cx="3839567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Nordwind Energie</a:t>
            </a:r>
            <a:endParaRPr lang="en-US" sz="1575" dirty="0"/>
          </a:p>
        </p:txBody>
      </p:sp>
      <p:sp>
        <p:nvSpPr>
          <p:cNvPr id="46" name="Text 35"/>
          <p:cNvSpPr/>
          <p:nvPr/>
        </p:nvSpPr>
        <p:spPr>
          <a:xfrm>
            <a:off x="5264051" y="4010257"/>
            <a:ext cx="102820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1950" dirty="0"/>
          </a:p>
        </p:txBody>
      </p:sp>
      <p:sp>
        <p:nvSpPr>
          <p:cNvPr id="47" name="Text 36"/>
          <p:cNvSpPr/>
          <p:nvPr/>
        </p:nvSpPr>
        <p:spPr>
          <a:xfrm>
            <a:off x="6368356" y="4057882"/>
            <a:ext cx="523602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page visits ×7 this week</a:t>
            </a:r>
            <a:endParaRPr lang="en-US" sz="1350" dirty="0"/>
          </a:p>
        </p:txBody>
      </p:sp>
      <p:sp>
        <p:nvSpPr>
          <p:cNvPr id="48" name="Shape 37"/>
          <p:cNvSpPr/>
          <p:nvPr/>
        </p:nvSpPr>
        <p:spPr>
          <a:xfrm>
            <a:off x="11280677" y="4051598"/>
            <a:ext cx="882055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9" name="Text 38"/>
          <p:cNvSpPr/>
          <p:nvPr/>
        </p:nvSpPr>
        <p:spPr>
          <a:xfrm>
            <a:off x="11375927" y="4089698"/>
            <a:ext cx="767755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to AE</a:t>
            </a:r>
            <a:endParaRPr lang="en-US" sz="975" dirty="0"/>
          </a:p>
        </p:txBody>
      </p:sp>
      <p:sp>
        <p:nvSpPr>
          <p:cNvPr id="50" name="Shape 39"/>
          <p:cNvSpPr/>
          <p:nvPr/>
        </p:nvSpPr>
        <p:spPr>
          <a:xfrm>
            <a:off x="1621234" y="4640792"/>
            <a:ext cx="11246115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1" name="Text 40"/>
          <p:cNvSpPr/>
          <p:nvPr/>
        </p:nvSpPr>
        <p:spPr>
          <a:xfrm>
            <a:off x="1621234" y="4854443"/>
            <a:ext cx="3839567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Basler Feinmechanik</a:t>
            </a:r>
            <a:endParaRPr lang="en-US" sz="1575" dirty="0"/>
          </a:p>
        </p:txBody>
      </p:sp>
      <p:sp>
        <p:nvSpPr>
          <p:cNvPr id="52" name="Text 41"/>
          <p:cNvSpPr/>
          <p:nvPr/>
        </p:nvSpPr>
        <p:spPr>
          <a:xfrm>
            <a:off x="5264051" y="4822693"/>
            <a:ext cx="102820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</a:t>
            </a:r>
            <a:endParaRPr lang="en-US" sz="1950" dirty="0"/>
          </a:p>
        </p:txBody>
      </p:sp>
      <p:sp>
        <p:nvSpPr>
          <p:cNvPr id="53" name="Text 42"/>
          <p:cNvSpPr/>
          <p:nvPr/>
        </p:nvSpPr>
        <p:spPr>
          <a:xfrm>
            <a:off x="6368356" y="4870318"/>
            <a:ext cx="523602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RFP language detected in inbound mail</a:t>
            </a:r>
            <a:endParaRPr lang="en-US" sz="1350" dirty="0"/>
          </a:p>
        </p:txBody>
      </p:sp>
      <p:sp>
        <p:nvSpPr>
          <p:cNvPr id="54" name="Shape 43"/>
          <p:cNvSpPr/>
          <p:nvPr/>
        </p:nvSpPr>
        <p:spPr>
          <a:xfrm>
            <a:off x="11280677" y="4864034"/>
            <a:ext cx="882055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4"/>
          <p:cNvSpPr/>
          <p:nvPr/>
        </p:nvSpPr>
        <p:spPr>
          <a:xfrm>
            <a:off x="11375927" y="4902134"/>
            <a:ext cx="767755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to AE</a:t>
            </a:r>
            <a:endParaRPr lang="en-US" sz="975" dirty="0"/>
          </a:p>
        </p:txBody>
      </p:sp>
      <p:sp>
        <p:nvSpPr>
          <p:cNvPr id="56" name="Shape 45"/>
          <p:cNvSpPr/>
          <p:nvPr/>
        </p:nvSpPr>
        <p:spPr>
          <a:xfrm>
            <a:off x="1621234" y="5453228"/>
            <a:ext cx="11246115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Text 46"/>
          <p:cNvSpPr/>
          <p:nvPr/>
        </p:nvSpPr>
        <p:spPr>
          <a:xfrm>
            <a:off x="1621234" y="5666879"/>
            <a:ext cx="3839567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Alpina Retail Group</a:t>
            </a:r>
            <a:endParaRPr lang="en-US" sz="1575" dirty="0"/>
          </a:p>
        </p:txBody>
      </p:sp>
      <p:sp>
        <p:nvSpPr>
          <p:cNvPr id="58" name="Text 47"/>
          <p:cNvSpPr/>
          <p:nvPr/>
        </p:nvSpPr>
        <p:spPr>
          <a:xfrm>
            <a:off x="5264051" y="5635129"/>
            <a:ext cx="102820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25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1950" dirty="0"/>
          </a:p>
        </p:txBody>
      </p:sp>
      <p:sp>
        <p:nvSpPr>
          <p:cNvPr id="59" name="Text 48"/>
          <p:cNvSpPr/>
          <p:nvPr/>
        </p:nvSpPr>
        <p:spPr>
          <a:xfrm>
            <a:off x="6368356" y="5682754"/>
            <a:ext cx="523602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 left the company</a:t>
            </a:r>
            <a:endParaRPr lang="en-US" sz="1350" dirty="0"/>
          </a:p>
        </p:txBody>
      </p:sp>
      <p:sp>
        <p:nvSpPr>
          <p:cNvPr id="60" name="Shape 49"/>
          <p:cNvSpPr/>
          <p:nvPr/>
        </p:nvSpPr>
        <p:spPr>
          <a:xfrm>
            <a:off x="11280677" y="5676470"/>
            <a:ext cx="810617" cy="224234"/>
          </a:xfrm>
          <a:prstGeom prst="roundRect">
            <a:avLst>
              <a:gd name="adj" fmla="val 16991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Text 50"/>
          <p:cNvSpPr/>
          <p:nvPr/>
        </p:nvSpPr>
        <p:spPr>
          <a:xfrm>
            <a:off x="11375927" y="5714570"/>
            <a:ext cx="696317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Re-qualify</a:t>
            </a:r>
            <a:endParaRPr lang="en-US" sz="975" dirty="0"/>
          </a:p>
        </p:txBody>
      </p:sp>
      <p:sp>
        <p:nvSpPr>
          <p:cNvPr id="62" name="Shape 51"/>
          <p:cNvSpPr/>
          <p:nvPr/>
        </p:nvSpPr>
        <p:spPr>
          <a:xfrm>
            <a:off x="1621234" y="6265665"/>
            <a:ext cx="11246115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52"/>
          <p:cNvSpPr/>
          <p:nvPr/>
        </p:nvSpPr>
        <p:spPr>
          <a:xfrm>
            <a:off x="1621234" y="6479316"/>
            <a:ext cx="3839567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Zug Chemicals</a:t>
            </a:r>
            <a:endParaRPr lang="en-US" sz="1575" dirty="0"/>
          </a:p>
        </p:txBody>
      </p:sp>
      <p:sp>
        <p:nvSpPr>
          <p:cNvPr id="64" name="Text 53"/>
          <p:cNvSpPr/>
          <p:nvPr/>
        </p:nvSpPr>
        <p:spPr>
          <a:xfrm>
            <a:off x="5264051" y="6447565"/>
            <a:ext cx="102820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950" dirty="0"/>
          </a:p>
        </p:txBody>
      </p:sp>
      <p:sp>
        <p:nvSpPr>
          <p:cNvPr id="65" name="Text 54"/>
          <p:cNvSpPr/>
          <p:nvPr/>
        </p:nvSpPr>
        <p:spPr>
          <a:xfrm>
            <a:off x="6368356" y="6495190"/>
            <a:ext cx="523602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engagement in 90 days</a:t>
            </a:r>
            <a:endParaRPr lang="en-US" sz="1350" dirty="0"/>
          </a:p>
        </p:txBody>
      </p:sp>
      <p:sp>
        <p:nvSpPr>
          <p:cNvPr id="66" name="Shape 55"/>
          <p:cNvSpPr/>
          <p:nvPr/>
        </p:nvSpPr>
        <p:spPr>
          <a:xfrm>
            <a:off x="11280677" y="6488907"/>
            <a:ext cx="651040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Text 56"/>
          <p:cNvSpPr/>
          <p:nvPr/>
        </p:nvSpPr>
        <p:spPr>
          <a:xfrm>
            <a:off x="11375927" y="6527007"/>
            <a:ext cx="536740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Nurture</a:t>
            </a:r>
            <a:endParaRPr lang="en-US" sz="975" dirty="0"/>
          </a:p>
        </p:txBody>
      </p:sp>
      <p:sp>
        <p:nvSpPr>
          <p:cNvPr id="68" name="Shape 57"/>
          <p:cNvSpPr/>
          <p:nvPr/>
        </p:nvSpPr>
        <p:spPr>
          <a:xfrm>
            <a:off x="1621234" y="7999347"/>
            <a:ext cx="11246115" cy="791270"/>
          </a:xfrm>
          <a:prstGeom prst="roundRect">
            <a:avLst>
              <a:gd name="adj" fmla="val 14445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Text 58"/>
          <p:cNvSpPr/>
          <p:nvPr/>
        </p:nvSpPr>
        <p:spPr>
          <a:xfrm>
            <a:off x="1792552" y="8170665"/>
            <a:ext cx="3802460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FIRST TOUCH</a:t>
            </a:r>
            <a:endParaRPr lang="en-US" sz="900" dirty="0"/>
          </a:p>
        </p:txBody>
      </p:sp>
      <p:sp>
        <p:nvSpPr>
          <p:cNvPr id="70" name="Text 59"/>
          <p:cNvSpPr/>
          <p:nvPr/>
        </p:nvSpPr>
        <p:spPr>
          <a:xfrm>
            <a:off x="1792552" y="8365299"/>
            <a:ext cx="3802460" cy="292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 h → 22 min</a:t>
            </a:r>
            <a:endParaRPr lang="en-US" sz="1650" dirty="0"/>
          </a:p>
        </p:txBody>
      </p:sp>
      <p:sp>
        <p:nvSpPr>
          <p:cNvPr id="71" name="Text 60"/>
          <p:cNvSpPr/>
          <p:nvPr/>
        </p:nvSpPr>
        <p:spPr>
          <a:xfrm>
            <a:off x="5515901" y="8170665"/>
            <a:ext cx="3802460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WORKED PER REP PER DAY</a:t>
            </a:r>
            <a:endParaRPr lang="en-US" sz="900" dirty="0"/>
          </a:p>
        </p:txBody>
      </p:sp>
      <p:sp>
        <p:nvSpPr>
          <p:cNvPr id="72" name="Text 61"/>
          <p:cNvSpPr/>
          <p:nvPr/>
        </p:nvSpPr>
        <p:spPr>
          <a:xfrm>
            <a:off x="5515901" y="8365299"/>
            <a:ext cx="3802460" cy="292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→ 19</a:t>
            </a:r>
            <a:endParaRPr lang="en-US" sz="1650" dirty="0"/>
          </a:p>
        </p:txBody>
      </p:sp>
      <p:sp>
        <p:nvSpPr>
          <p:cNvPr id="73" name="Text 62"/>
          <p:cNvSpPr/>
          <p:nvPr/>
        </p:nvSpPr>
        <p:spPr>
          <a:xfrm>
            <a:off x="9239251" y="8170665"/>
            <a:ext cx="3802460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EXPLAINED BY</a:t>
            </a:r>
            <a:endParaRPr lang="en-US" sz="900" dirty="0"/>
          </a:p>
        </p:txBody>
      </p:sp>
      <p:sp>
        <p:nvSpPr>
          <p:cNvPr id="74" name="Text 63"/>
          <p:cNvSpPr/>
          <p:nvPr/>
        </p:nvSpPr>
        <p:spPr>
          <a:xfrm>
            <a:off x="9239251" y="8365299"/>
            <a:ext cx="3802460" cy="292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source records only</a:t>
            </a:r>
            <a:endParaRPr lang="en-US" sz="1650" dirty="0"/>
          </a:p>
        </p:txBody>
      </p:sp>
      <p:sp>
        <p:nvSpPr>
          <p:cNvPr id="75" name="Shape 64"/>
          <p:cNvSpPr/>
          <p:nvPr/>
        </p:nvSpPr>
        <p:spPr>
          <a:xfrm>
            <a:off x="13296966" y="1981068"/>
            <a:ext cx="4305267" cy="7048666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7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17067" y="2201168"/>
            <a:ext cx="161892" cy="161892"/>
          </a:xfrm>
          <a:prstGeom prst="rect">
            <a:avLst/>
          </a:prstGeom>
        </p:spPr>
      </p:pic>
      <p:sp>
        <p:nvSpPr>
          <p:cNvPr id="77" name="Text 65"/>
          <p:cNvSpPr/>
          <p:nvPr/>
        </p:nvSpPr>
        <p:spPr>
          <a:xfrm>
            <a:off x="13764618" y="2213240"/>
            <a:ext cx="82083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900" dirty="0"/>
          </a:p>
        </p:txBody>
      </p:sp>
      <p:pic>
        <p:nvPicPr>
          <p:cNvPr id="7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29833" y="2205964"/>
            <a:ext cx="152301" cy="152301"/>
          </a:xfrm>
          <a:prstGeom prst="rect">
            <a:avLst/>
          </a:prstGeom>
        </p:spPr>
      </p:pic>
      <p:sp>
        <p:nvSpPr>
          <p:cNvPr id="79" name="Shape 66"/>
          <p:cNvSpPr/>
          <p:nvPr/>
        </p:nvSpPr>
        <p:spPr>
          <a:xfrm>
            <a:off x="13559732" y="2477327"/>
            <a:ext cx="3822402" cy="635992"/>
          </a:xfrm>
          <a:prstGeom prst="roundRect">
            <a:avLst>
              <a:gd name="adj" fmla="val 17972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7"/>
          <p:cNvSpPr/>
          <p:nvPr/>
        </p:nvSpPr>
        <p:spPr>
          <a:xfrm>
            <a:off x="13693015" y="2582003"/>
            <a:ext cx="366251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8"/>
              </a:lnSpc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of today’s top leads already have an open support issue?</a:t>
            </a:r>
            <a:endParaRPr lang="en-US" sz="1200" dirty="0"/>
          </a:p>
        </p:txBody>
      </p:sp>
      <p:sp>
        <p:nvSpPr>
          <p:cNvPr id="81" name="Text 68"/>
          <p:cNvSpPr/>
          <p:nvPr/>
        </p:nvSpPr>
        <p:spPr>
          <a:xfrm>
            <a:off x="13517067" y="3227586"/>
            <a:ext cx="3981019" cy="766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of the top ten have open tickets. Two are minor; Basler Feinmechanik has an unanswered security questionnaire that will block the RFP.</a:t>
            </a:r>
            <a:endParaRPr lang="en-US" sz="1275" dirty="0"/>
          </a:p>
        </p:txBody>
      </p:sp>
      <p:sp>
        <p:nvSpPr>
          <p:cNvPr id="82" name="Shape 69"/>
          <p:cNvSpPr/>
          <p:nvPr/>
        </p:nvSpPr>
        <p:spPr>
          <a:xfrm>
            <a:off x="13517067" y="4070119"/>
            <a:ext cx="3865067" cy="1197736"/>
          </a:xfrm>
          <a:prstGeom prst="roundRect">
            <a:avLst>
              <a:gd name="adj" fmla="val 954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Text 70"/>
          <p:cNvSpPr/>
          <p:nvPr/>
        </p:nvSpPr>
        <p:spPr>
          <a:xfrm>
            <a:off x="13650351" y="4203402"/>
            <a:ext cx="3958349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TICKETS, TOP-10 LEADS</a:t>
            </a:r>
            <a:endParaRPr lang="en-US" sz="900" dirty="0"/>
          </a:p>
        </p:txBody>
      </p:sp>
      <p:sp>
        <p:nvSpPr>
          <p:cNvPr id="84" name="Text 71"/>
          <p:cNvSpPr/>
          <p:nvPr/>
        </p:nvSpPr>
        <p:spPr>
          <a:xfrm>
            <a:off x="13650351" y="4460545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Basler Feinmechanik</a:t>
            </a:r>
            <a:endParaRPr lang="en-US" sz="1050" dirty="0"/>
          </a:p>
        </p:txBody>
      </p:sp>
      <p:sp>
        <p:nvSpPr>
          <p:cNvPr id="85" name="Shape 72"/>
          <p:cNvSpPr/>
          <p:nvPr/>
        </p:nvSpPr>
        <p:spPr>
          <a:xfrm>
            <a:off x="15212385" y="4501886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6" name="Shape 73"/>
          <p:cNvSpPr/>
          <p:nvPr/>
        </p:nvSpPr>
        <p:spPr>
          <a:xfrm>
            <a:off x="15212385" y="4501886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B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74"/>
          <p:cNvSpPr/>
          <p:nvPr/>
        </p:nvSpPr>
        <p:spPr>
          <a:xfrm>
            <a:off x="16582133" y="4455253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25" dirty="0"/>
          </a:p>
        </p:txBody>
      </p:sp>
      <p:sp>
        <p:nvSpPr>
          <p:cNvPr id="88" name="Text 75"/>
          <p:cNvSpPr/>
          <p:nvPr/>
        </p:nvSpPr>
        <p:spPr>
          <a:xfrm>
            <a:off x="13650351" y="4715537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Nordwind Energie</a:t>
            </a:r>
            <a:endParaRPr lang="en-US" sz="1050" dirty="0"/>
          </a:p>
        </p:txBody>
      </p:sp>
      <p:sp>
        <p:nvSpPr>
          <p:cNvPr id="89" name="Shape 76"/>
          <p:cNvSpPr/>
          <p:nvPr/>
        </p:nvSpPr>
        <p:spPr>
          <a:xfrm>
            <a:off x="15212385" y="4756878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0" name="Shape 77"/>
          <p:cNvSpPr/>
          <p:nvPr/>
        </p:nvSpPr>
        <p:spPr>
          <a:xfrm>
            <a:off x="15212385" y="4756878"/>
            <a:ext cx="665758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8"/>
          <p:cNvSpPr/>
          <p:nvPr/>
        </p:nvSpPr>
        <p:spPr>
          <a:xfrm>
            <a:off x="16582133" y="4710245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25" dirty="0"/>
          </a:p>
        </p:txBody>
      </p:sp>
      <p:sp>
        <p:nvSpPr>
          <p:cNvPr id="92" name="Text 79"/>
          <p:cNvSpPr/>
          <p:nvPr/>
        </p:nvSpPr>
        <p:spPr>
          <a:xfrm>
            <a:off x="13650351" y="4970529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Helvetia Logistik</a:t>
            </a:r>
            <a:endParaRPr lang="en-US" sz="1050" dirty="0"/>
          </a:p>
        </p:txBody>
      </p:sp>
      <p:sp>
        <p:nvSpPr>
          <p:cNvPr id="93" name="Shape 80"/>
          <p:cNvSpPr/>
          <p:nvPr/>
        </p:nvSpPr>
        <p:spPr>
          <a:xfrm>
            <a:off x="15212385" y="5011870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Shape 81"/>
          <p:cNvSpPr/>
          <p:nvPr/>
        </p:nvSpPr>
        <p:spPr>
          <a:xfrm>
            <a:off x="15212385" y="5011870"/>
            <a:ext cx="332879" cy="76068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2"/>
          <p:cNvSpPr/>
          <p:nvPr/>
        </p:nvSpPr>
        <p:spPr>
          <a:xfrm>
            <a:off x="16582133" y="4965237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25" dirty="0"/>
          </a:p>
        </p:txBody>
      </p:sp>
      <p:sp>
        <p:nvSpPr>
          <p:cNvPr id="96" name="Shape 83"/>
          <p:cNvSpPr/>
          <p:nvPr/>
        </p:nvSpPr>
        <p:spPr>
          <a:xfrm>
            <a:off x="13517067" y="5382121"/>
            <a:ext cx="3865067" cy="2124604"/>
          </a:xfrm>
          <a:prstGeom prst="roundRect">
            <a:avLst>
              <a:gd name="adj" fmla="val 538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97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60935" y="5525988"/>
            <a:ext cx="142875" cy="142875"/>
          </a:xfrm>
          <a:prstGeom prst="rect">
            <a:avLst/>
          </a:prstGeom>
        </p:spPr>
      </p:pic>
      <p:sp>
        <p:nvSpPr>
          <p:cNvPr id="98" name="Text 84"/>
          <p:cNvSpPr/>
          <p:nvPr/>
        </p:nvSpPr>
        <p:spPr>
          <a:xfrm>
            <a:off x="13879877" y="5528635"/>
            <a:ext cx="952798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TASK</a:t>
            </a:r>
            <a:endParaRPr lang="en-US" sz="900" dirty="0"/>
          </a:p>
        </p:txBody>
      </p:sp>
      <p:sp>
        <p:nvSpPr>
          <p:cNvPr id="99" name="Text 85"/>
          <p:cNvSpPr/>
          <p:nvPr/>
        </p:nvSpPr>
        <p:spPr>
          <a:xfrm>
            <a:off x="13660935" y="5856057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</a:t>
            </a:r>
            <a:endParaRPr lang="en-US" sz="1050" dirty="0"/>
          </a:p>
        </p:txBody>
      </p:sp>
      <p:sp>
        <p:nvSpPr>
          <p:cNvPr id="100" name="Shape 86"/>
          <p:cNvSpPr/>
          <p:nvPr/>
        </p:nvSpPr>
        <p:spPr>
          <a:xfrm>
            <a:off x="14841968" y="5764113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1" name="Text 87"/>
          <p:cNvSpPr/>
          <p:nvPr/>
        </p:nvSpPr>
        <p:spPr>
          <a:xfrm>
            <a:off x="14957327" y="5850897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Basler Feinmechanik</a:t>
            </a:r>
            <a:endParaRPr lang="en-US" sz="1125" dirty="0"/>
          </a:p>
        </p:txBody>
      </p:sp>
      <p:sp>
        <p:nvSpPr>
          <p:cNvPr id="102" name="Text 88"/>
          <p:cNvSpPr/>
          <p:nvPr/>
        </p:nvSpPr>
        <p:spPr>
          <a:xfrm>
            <a:off x="13660935" y="6274759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</a:t>
            </a:r>
            <a:endParaRPr lang="en-US" sz="1050" dirty="0"/>
          </a:p>
        </p:txBody>
      </p:sp>
      <p:sp>
        <p:nvSpPr>
          <p:cNvPr id="103" name="Shape 89"/>
          <p:cNvSpPr/>
          <p:nvPr/>
        </p:nvSpPr>
        <p:spPr>
          <a:xfrm>
            <a:off x="14841968" y="6182817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4" name="Text 90"/>
          <p:cNvSpPr/>
          <p:nvPr/>
        </p:nvSpPr>
        <p:spPr>
          <a:xfrm>
            <a:off x="14957327" y="6269600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security questionnaire</a:t>
            </a:r>
            <a:endParaRPr lang="en-US" sz="1125" dirty="0"/>
          </a:p>
        </p:txBody>
      </p:sp>
      <p:sp>
        <p:nvSpPr>
          <p:cNvPr id="105" name="Text 91"/>
          <p:cNvSpPr/>
          <p:nvPr/>
        </p:nvSpPr>
        <p:spPr>
          <a:xfrm>
            <a:off x="13660935" y="6693462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1050" dirty="0"/>
          </a:p>
        </p:txBody>
      </p:sp>
      <p:sp>
        <p:nvSpPr>
          <p:cNvPr id="106" name="Shape 92"/>
          <p:cNvSpPr/>
          <p:nvPr/>
        </p:nvSpPr>
        <p:spPr>
          <a:xfrm>
            <a:off x="14841968" y="6601520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7" name="Text 93"/>
          <p:cNvSpPr/>
          <p:nvPr/>
        </p:nvSpPr>
        <p:spPr>
          <a:xfrm>
            <a:off x="14957327" y="6688303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Presales · S. Keller</a:t>
            </a:r>
            <a:endParaRPr lang="en-US" sz="1125" dirty="0"/>
          </a:p>
        </p:txBody>
      </p:sp>
      <p:sp>
        <p:nvSpPr>
          <p:cNvPr id="108" name="Text 94"/>
          <p:cNvSpPr/>
          <p:nvPr/>
        </p:nvSpPr>
        <p:spPr>
          <a:xfrm>
            <a:off x="13660935" y="7112166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</a:t>
            </a:r>
            <a:endParaRPr lang="en-US" sz="1050" dirty="0"/>
          </a:p>
        </p:txBody>
      </p:sp>
      <p:sp>
        <p:nvSpPr>
          <p:cNvPr id="109" name="Shape 95"/>
          <p:cNvSpPr/>
          <p:nvPr/>
        </p:nvSpPr>
        <p:spPr>
          <a:xfrm>
            <a:off x="14841968" y="7020223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0" name="Text 96"/>
          <p:cNvSpPr/>
          <p:nvPr/>
        </p:nvSpPr>
        <p:spPr>
          <a:xfrm>
            <a:off x="14957327" y="7107007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14, 2026</a:t>
            </a:r>
            <a:endParaRPr lang="en-US" sz="1125" dirty="0"/>
          </a:p>
        </p:txBody>
      </p:sp>
      <p:sp>
        <p:nvSpPr>
          <p:cNvPr id="111" name="Shape 97"/>
          <p:cNvSpPr/>
          <p:nvPr/>
        </p:nvSpPr>
        <p:spPr>
          <a:xfrm>
            <a:off x="13517067" y="7640009"/>
            <a:ext cx="386506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Shape 98"/>
          <p:cNvSpPr/>
          <p:nvPr/>
        </p:nvSpPr>
        <p:spPr>
          <a:xfrm>
            <a:off x="13517067" y="7794460"/>
            <a:ext cx="1655630" cy="359833"/>
          </a:xfrm>
          <a:prstGeom prst="roundRect">
            <a:avLst>
              <a:gd name="adj" fmla="val 21176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50351" y="7902939"/>
            <a:ext cx="142875" cy="142875"/>
          </a:xfrm>
          <a:prstGeom prst="rect">
            <a:avLst/>
          </a:prstGeom>
        </p:spPr>
      </p:pic>
      <p:sp>
        <p:nvSpPr>
          <p:cNvPr id="114" name="Text 99"/>
          <p:cNvSpPr/>
          <p:nvPr/>
        </p:nvSpPr>
        <p:spPr>
          <a:xfrm>
            <a:off x="13859868" y="7889710"/>
            <a:ext cx="1255745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&amp; create</a:t>
            </a:r>
            <a:endParaRPr lang="en-US" sz="1125" dirty="0"/>
          </a:p>
        </p:txBody>
      </p:sp>
      <p:sp>
        <p:nvSpPr>
          <p:cNvPr id="115" name="Shape 100"/>
          <p:cNvSpPr/>
          <p:nvPr/>
        </p:nvSpPr>
        <p:spPr>
          <a:xfrm>
            <a:off x="15267947" y="7783877"/>
            <a:ext cx="756378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16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411815" y="7902939"/>
            <a:ext cx="142875" cy="142875"/>
          </a:xfrm>
          <a:prstGeom prst="rect">
            <a:avLst/>
          </a:prstGeom>
        </p:spPr>
      </p:pic>
      <p:sp>
        <p:nvSpPr>
          <p:cNvPr id="117" name="Text 101"/>
          <p:cNvSpPr/>
          <p:nvPr/>
        </p:nvSpPr>
        <p:spPr>
          <a:xfrm>
            <a:off x="15621331" y="7889710"/>
            <a:ext cx="335326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25" dirty="0"/>
          </a:p>
        </p:txBody>
      </p:sp>
      <p:sp>
        <p:nvSpPr>
          <p:cNvPr id="118" name="Shape 102"/>
          <p:cNvSpPr/>
          <p:nvPr/>
        </p:nvSpPr>
        <p:spPr>
          <a:xfrm>
            <a:off x="16119575" y="7783877"/>
            <a:ext cx="922900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1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263442" y="7902939"/>
            <a:ext cx="142875" cy="142875"/>
          </a:xfrm>
          <a:prstGeom prst="rect">
            <a:avLst/>
          </a:prstGeom>
        </p:spPr>
      </p:pic>
      <p:sp>
        <p:nvSpPr>
          <p:cNvPr id="120" name="Text 103"/>
          <p:cNvSpPr/>
          <p:nvPr/>
        </p:nvSpPr>
        <p:spPr>
          <a:xfrm>
            <a:off x="16472960" y="7889710"/>
            <a:ext cx="501848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25" dirty="0"/>
          </a:p>
        </p:txBody>
      </p:sp>
      <p:pic>
        <p:nvPicPr>
          <p:cNvPr id="121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517067" y="8305767"/>
            <a:ext cx="133284" cy="133284"/>
          </a:xfrm>
          <a:prstGeom prst="rect">
            <a:avLst/>
          </a:prstGeom>
        </p:spPr>
      </p:pic>
      <p:sp>
        <p:nvSpPr>
          <p:cNvPr id="122" name="Text 104"/>
          <p:cNvSpPr/>
          <p:nvPr/>
        </p:nvSpPr>
        <p:spPr>
          <a:xfrm>
            <a:off x="13726419" y="8279143"/>
            <a:ext cx="1996728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to Salesforce · logged</a:t>
            </a:r>
            <a:endParaRPr lang="en-US" sz="1050" dirty="0"/>
          </a:p>
        </p:txBody>
      </p:sp>
      <p:sp>
        <p:nvSpPr>
          <p:cNvPr id="123" name="Shape 105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Shape 106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5" name="Text 107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first touch drops from 4.2 hours to 22 minutes.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824359" y="235975"/>
            <a:ext cx="854075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PRESALE · 03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personalisation, built from CRM and product usage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2420700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2399533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2399533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183538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· Campaign builder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0622856" y="2127085"/>
            <a:ext cx="2282527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0718106" y="2165185"/>
            <a:ext cx="2168227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· awaiting marketing approval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48651" y="3544921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1703183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23"/>
          <p:cNvSpPr/>
          <p:nvPr/>
        </p:nvSpPr>
        <p:spPr>
          <a:xfrm>
            <a:off x="1621234" y="2726035"/>
            <a:ext cx="5301919" cy="6064581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5" name="Text 24"/>
          <p:cNvSpPr/>
          <p:nvPr/>
        </p:nvSpPr>
        <p:spPr>
          <a:xfrm>
            <a:off x="1822318" y="2927119"/>
            <a:ext cx="5389728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SEGMENTS GENERATED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822318" y="3217003"/>
            <a:ext cx="2403822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· expansion</a:t>
            </a:r>
            <a:endParaRPr lang="en-US" sz="1350" dirty="0"/>
          </a:p>
        </p:txBody>
      </p:sp>
      <p:sp>
        <p:nvSpPr>
          <p:cNvPr id="37" name="Text 26"/>
          <p:cNvSpPr/>
          <p:nvPr/>
        </p:nvSpPr>
        <p:spPr>
          <a:xfrm>
            <a:off x="5476048" y="3217003"/>
            <a:ext cx="1370624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1,240 contacts</a:t>
            </a:r>
            <a:endParaRPr lang="en-US" sz="1350" dirty="0"/>
          </a:p>
        </p:txBody>
      </p:sp>
      <p:sp>
        <p:nvSpPr>
          <p:cNvPr id="38" name="Shape 27"/>
          <p:cNvSpPr/>
          <p:nvPr/>
        </p:nvSpPr>
        <p:spPr>
          <a:xfrm>
            <a:off x="1822318" y="3523919"/>
            <a:ext cx="4899753" cy="95250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Shape 28"/>
          <p:cNvSpPr/>
          <p:nvPr/>
        </p:nvSpPr>
        <p:spPr>
          <a:xfrm>
            <a:off x="1822318" y="3523919"/>
            <a:ext cx="4096081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Text 29"/>
          <p:cNvSpPr/>
          <p:nvPr/>
        </p:nvSpPr>
        <p:spPr>
          <a:xfrm>
            <a:off x="1822318" y="3695237"/>
            <a:ext cx="538972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 reply rate 38 %</a:t>
            </a:r>
            <a:endParaRPr lang="en-US" sz="1125" dirty="0"/>
          </a:p>
        </p:txBody>
      </p:sp>
      <p:sp>
        <p:nvSpPr>
          <p:cNvPr id="41" name="Text 30"/>
          <p:cNvSpPr/>
          <p:nvPr/>
        </p:nvSpPr>
        <p:spPr>
          <a:xfrm>
            <a:off x="1822318" y="4035888"/>
            <a:ext cx="2056391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· renewal risk</a:t>
            </a:r>
            <a:endParaRPr lang="en-US" sz="1350" dirty="0"/>
          </a:p>
        </p:txBody>
      </p:sp>
      <p:sp>
        <p:nvSpPr>
          <p:cNvPr id="42" name="Text 31"/>
          <p:cNvSpPr/>
          <p:nvPr/>
        </p:nvSpPr>
        <p:spPr>
          <a:xfrm>
            <a:off x="5632979" y="4035888"/>
            <a:ext cx="1165291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860 contacts</a:t>
            </a:r>
            <a:endParaRPr lang="en-US" sz="1350" dirty="0"/>
          </a:p>
        </p:txBody>
      </p:sp>
      <p:sp>
        <p:nvSpPr>
          <p:cNvPr id="43" name="Shape 32"/>
          <p:cNvSpPr/>
          <p:nvPr/>
        </p:nvSpPr>
        <p:spPr>
          <a:xfrm>
            <a:off x="1822318" y="4342805"/>
            <a:ext cx="4899753" cy="95250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33"/>
          <p:cNvSpPr/>
          <p:nvPr/>
        </p:nvSpPr>
        <p:spPr>
          <a:xfrm>
            <a:off x="1822318" y="4342805"/>
            <a:ext cx="3341522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4"/>
          <p:cNvSpPr/>
          <p:nvPr/>
        </p:nvSpPr>
        <p:spPr>
          <a:xfrm>
            <a:off x="1822318" y="4514123"/>
            <a:ext cx="538972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 reply rate 31 %</a:t>
            </a:r>
            <a:endParaRPr lang="en-US" sz="1125" dirty="0"/>
          </a:p>
        </p:txBody>
      </p:sp>
      <p:sp>
        <p:nvSpPr>
          <p:cNvPr id="46" name="Text 35"/>
          <p:cNvSpPr/>
          <p:nvPr/>
        </p:nvSpPr>
        <p:spPr>
          <a:xfrm>
            <a:off x="1822318" y="4854774"/>
            <a:ext cx="2152071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sector · new logo</a:t>
            </a:r>
            <a:endParaRPr lang="en-US" sz="1350" dirty="0"/>
          </a:p>
        </p:txBody>
      </p:sp>
      <p:sp>
        <p:nvSpPr>
          <p:cNvPr id="47" name="Text 36"/>
          <p:cNvSpPr/>
          <p:nvPr/>
        </p:nvSpPr>
        <p:spPr>
          <a:xfrm>
            <a:off x="5632979" y="4854774"/>
            <a:ext cx="1165291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540 contacts</a:t>
            </a:r>
            <a:endParaRPr lang="en-US" sz="1350" dirty="0"/>
          </a:p>
        </p:txBody>
      </p:sp>
      <p:sp>
        <p:nvSpPr>
          <p:cNvPr id="48" name="Shape 37"/>
          <p:cNvSpPr/>
          <p:nvPr/>
        </p:nvSpPr>
        <p:spPr>
          <a:xfrm>
            <a:off x="1822318" y="5161690"/>
            <a:ext cx="4899753" cy="95250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9" name="Shape 38"/>
          <p:cNvSpPr/>
          <p:nvPr/>
        </p:nvSpPr>
        <p:spPr>
          <a:xfrm>
            <a:off x="1822318" y="5161690"/>
            <a:ext cx="2048040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0" name="Text 39"/>
          <p:cNvSpPr/>
          <p:nvPr/>
        </p:nvSpPr>
        <p:spPr>
          <a:xfrm>
            <a:off x="1822318" y="5333008"/>
            <a:ext cx="538972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 reply rate 19 %</a:t>
            </a:r>
            <a:endParaRPr lang="en-US" sz="1125" dirty="0"/>
          </a:p>
        </p:txBody>
      </p:sp>
      <p:sp>
        <p:nvSpPr>
          <p:cNvPr id="51" name="Shape 40"/>
          <p:cNvSpPr/>
          <p:nvPr/>
        </p:nvSpPr>
        <p:spPr>
          <a:xfrm>
            <a:off x="1822318" y="5711858"/>
            <a:ext cx="4899753" cy="605234"/>
          </a:xfrm>
          <a:prstGeom prst="roundRect">
            <a:avLst>
              <a:gd name="adj" fmla="val 1259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2" name="Text 41"/>
          <p:cNvSpPr/>
          <p:nvPr/>
        </p:nvSpPr>
        <p:spPr>
          <a:xfrm>
            <a:off x="1955668" y="5845208"/>
            <a:ext cx="4780045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 and marketing preferences enforced at query time. 214 contacts excluded automatically.</a:t>
            </a:r>
            <a:endParaRPr lang="en-US" sz="1125" dirty="0"/>
          </a:p>
        </p:txBody>
      </p:sp>
      <p:sp>
        <p:nvSpPr>
          <p:cNvPr id="53" name="Shape 42"/>
          <p:cNvSpPr/>
          <p:nvPr/>
        </p:nvSpPr>
        <p:spPr>
          <a:xfrm>
            <a:off x="7075455" y="2726035"/>
            <a:ext cx="5791895" cy="6064581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4" name="Text 43"/>
          <p:cNvSpPr/>
          <p:nvPr/>
        </p:nvSpPr>
        <p:spPr>
          <a:xfrm>
            <a:off x="7276538" y="2927119"/>
            <a:ext cx="5928701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OUTREACH · HELVETIA LOGISTIK AG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7276538" y="3197986"/>
            <a:ext cx="5389728" cy="1405599"/>
          </a:xfrm>
          <a:prstGeom prst="roundRect">
            <a:avLst>
              <a:gd name="adj" fmla="val 8132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Text 45"/>
          <p:cNvSpPr/>
          <p:nvPr/>
        </p:nvSpPr>
        <p:spPr>
          <a:xfrm>
            <a:off x="7447988" y="3369436"/>
            <a:ext cx="5208520" cy="110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50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fleet-tracking module has been at 96% of its licensed volume since March, and two depots came online in June. The expansion tier covers both without a new contract cycle. Fifteen minutes with your account team next week?</a:t>
            </a:r>
            <a:endParaRPr lang="en-US" sz="1350" dirty="0"/>
          </a:p>
        </p:txBody>
      </p:sp>
      <p:sp>
        <p:nvSpPr>
          <p:cNvPr id="57" name="Shape 46"/>
          <p:cNvSpPr/>
          <p:nvPr/>
        </p:nvSpPr>
        <p:spPr>
          <a:xfrm>
            <a:off x="7276538" y="4755886"/>
            <a:ext cx="1598414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Text 47"/>
          <p:cNvSpPr/>
          <p:nvPr/>
        </p:nvSpPr>
        <p:spPr>
          <a:xfrm>
            <a:off x="7371788" y="4793986"/>
            <a:ext cx="1484114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Snowflake · usage 96%</a:t>
            </a:r>
            <a:endParaRPr lang="en-US" sz="975" dirty="0"/>
          </a:p>
        </p:txBody>
      </p:sp>
      <p:sp>
        <p:nvSpPr>
          <p:cNvPr id="59" name="Shape 48"/>
          <p:cNvSpPr/>
          <p:nvPr/>
        </p:nvSpPr>
        <p:spPr>
          <a:xfrm>
            <a:off x="8951020" y="4755886"/>
            <a:ext cx="1290505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9"/>
          <p:cNvSpPr/>
          <p:nvPr/>
        </p:nvSpPr>
        <p:spPr>
          <a:xfrm>
            <a:off x="9046270" y="4793986"/>
            <a:ext cx="1176205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D365 · 2 new sites</a:t>
            </a:r>
            <a:endParaRPr lang="en-US" sz="975" dirty="0"/>
          </a:p>
        </p:txBody>
      </p:sp>
      <p:sp>
        <p:nvSpPr>
          <p:cNvPr id="61" name="Shape 50"/>
          <p:cNvSpPr/>
          <p:nvPr/>
        </p:nvSpPr>
        <p:spPr>
          <a:xfrm>
            <a:off x="10317593" y="4755886"/>
            <a:ext cx="1590642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51"/>
          <p:cNvSpPr/>
          <p:nvPr/>
        </p:nvSpPr>
        <p:spPr>
          <a:xfrm>
            <a:off x="10412843" y="4793986"/>
            <a:ext cx="1476342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· tier eligible</a:t>
            </a:r>
            <a:endParaRPr lang="en-US" sz="975" dirty="0"/>
          </a:p>
        </p:txBody>
      </p:sp>
      <p:sp>
        <p:nvSpPr>
          <p:cNvPr id="63" name="Text 52"/>
          <p:cNvSpPr/>
          <p:nvPr/>
        </p:nvSpPr>
        <p:spPr>
          <a:xfrm>
            <a:off x="7276538" y="8250866"/>
            <a:ext cx="555142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claim links to the record it came from. Nothing is generated from memory.</a:t>
            </a:r>
            <a:endParaRPr lang="en-US" sz="1125" dirty="0"/>
          </a:p>
        </p:txBody>
      </p:sp>
      <p:sp>
        <p:nvSpPr>
          <p:cNvPr id="64" name="Shape 53"/>
          <p:cNvSpPr/>
          <p:nvPr/>
        </p:nvSpPr>
        <p:spPr>
          <a:xfrm>
            <a:off x="13296966" y="1981068"/>
            <a:ext cx="4305267" cy="7048666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6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17067" y="2201168"/>
            <a:ext cx="161892" cy="161892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13764618" y="2213240"/>
            <a:ext cx="82083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900" dirty="0"/>
          </a:p>
        </p:txBody>
      </p:sp>
      <p:pic>
        <p:nvPicPr>
          <p:cNvPr id="6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29833" y="2205964"/>
            <a:ext cx="152301" cy="152301"/>
          </a:xfrm>
          <a:prstGeom prst="rect">
            <a:avLst/>
          </a:prstGeom>
        </p:spPr>
      </p:pic>
      <p:sp>
        <p:nvSpPr>
          <p:cNvPr id="68" name="Shape 55"/>
          <p:cNvSpPr/>
          <p:nvPr/>
        </p:nvSpPr>
        <p:spPr>
          <a:xfrm>
            <a:off x="13559732" y="2477327"/>
            <a:ext cx="3822402" cy="635992"/>
          </a:xfrm>
          <a:prstGeom prst="roundRect">
            <a:avLst>
              <a:gd name="adj" fmla="val 17972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Text 56"/>
          <p:cNvSpPr/>
          <p:nvPr/>
        </p:nvSpPr>
        <p:spPr>
          <a:xfrm>
            <a:off x="13693015" y="2582003"/>
            <a:ext cx="366251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8"/>
              </a:lnSpc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segment should we send first, and to whom exactly?</a:t>
            </a:r>
            <a:endParaRPr lang="en-US" sz="1200" dirty="0"/>
          </a:p>
        </p:txBody>
      </p:sp>
      <p:sp>
        <p:nvSpPr>
          <p:cNvPr id="70" name="Text 57"/>
          <p:cNvSpPr/>
          <p:nvPr/>
        </p:nvSpPr>
        <p:spPr>
          <a:xfrm>
            <a:off x="13517067" y="3227586"/>
            <a:ext cx="3981019" cy="1009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expansion has the highest predicted reply rate and the cleanest consent coverage. Send it first, holding back 214 contacts without marketing consent.</a:t>
            </a:r>
            <a:endParaRPr lang="en-US" sz="1275" dirty="0"/>
          </a:p>
        </p:txBody>
      </p:sp>
      <p:sp>
        <p:nvSpPr>
          <p:cNvPr id="71" name="Shape 58"/>
          <p:cNvSpPr/>
          <p:nvPr/>
        </p:nvSpPr>
        <p:spPr>
          <a:xfrm>
            <a:off x="13517067" y="4312874"/>
            <a:ext cx="3865067" cy="1197736"/>
          </a:xfrm>
          <a:prstGeom prst="roundRect">
            <a:avLst>
              <a:gd name="adj" fmla="val 954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9"/>
          <p:cNvSpPr/>
          <p:nvPr/>
        </p:nvSpPr>
        <p:spPr>
          <a:xfrm>
            <a:off x="13650351" y="4446158"/>
            <a:ext cx="3958349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 REPLY RATE (%)</a:t>
            </a:r>
            <a:endParaRPr lang="en-US" sz="900" dirty="0"/>
          </a:p>
        </p:txBody>
      </p:sp>
      <p:sp>
        <p:nvSpPr>
          <p:cNvPr id="73" name="Text 60"/>
          <p:cNvSpPr/>
          <p:nvPr/>
        </p:nvSpPr>
        <p:spPr>
          <a:xfrm>
            <a:off x="13650351" y="4703300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</a:t>
            </a:r>
            <a:endParaRPr lang="en-US" sz="1050" dirty="0"/>
          </a:p>
        </p:txBody>
      </p:sp>
      <p:sp>
        <p:nvSpPr>
          <p:cNvPr id="74" name="Shape 61"/>
          <p:cNvSpPr/>
          <p:nvPr/>
        </p:nvSpPr>
        <p:spPr>
          <a:xfrm>
            <a:off x="15212385" y="4744641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5" name="Shape 62"/>
          <p:cNvSpPr/>
          <p:nvPr/>
        </p:nvSpPr>
        <p:spPr>
          <a:xfrm>
            <a:off x="15212385" y="4744641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6" name="Text 63"/>
          <p:cNvSpPr/>
          <p:nvPr/>
        </p:nvSpPr>
        <p:spPr>
          <a:xfrm>
            <a:off x="16582133" y="4698008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125" dirty="0"/>
          </a:p>
        </p:txBody>
      </p:sp>
      <p:sp>
        <p:nvSpPr>
          <p:cNvPr id="77" name="Text 64"/>
          <p:cNvSpPr/>
          <p:nvPr/>
        </p:nvSpPr>
        <p:spPr>
          <a:xfrm>
            <a:off x="13650351" y="4958292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</a:t>
            </a:r>
            <a:endParaRPr lang="en-US" sz="1050" dirty="0"/>
          </a:p>
        </p:txBody>
      </p:sp>
      <p:sp>
        <p:nvSpPr>
          <p:cNvPr id="78" name="Shape 65"/>
          <p:cNvSpPr/>
          <p:nvPr/>
        </p:nvSpPr>
        <p:spPr>
          <a:xfrm>
            <a:off x="15212385" y="4999633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Shape 66"/>
          <p:cNvSpPr/>
          <p:nvPr/>
        </p:nvSpPr>
        <p:spPr>
          <a:xfrm>
            <a:off x="15212385" y="4999633"/>
            <a:ext cx="1086280" cy="76068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7"/>
          <p:cNvSpPr/>
          <p:nvPr/>
        </p:nvSpPr>
        <p:spPr>
          <a:xfrm>
            <a:off x="16582133" y="4953000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125" dirty="0"/>
          </a:p>
        </p:txBody>
      </p:sp>
      <p:sp>
        <p:nvSpPr>
          <p:cNvPr id="81" name="Text 68"/>
          <p:cNvSpPr/>
          <p:nvPr/>
        </p:nvSpPr>
        <p:spPr>
          <a:xfrm>
            <a:off x="13650351" y="5213284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sector</a:t>
            </a:r>
            <a:endParaRPr lang="en-US" sz="1050" dirty="0"/>
          </a:p>
        </p:txBody>
      </p:sp>
      <p:sp>
        <p:nvSpPr>
          <p:cNvPr id="82" name="Shape 69"/>
          <p:cNvSpPr/>
          <p:nvPr/>
        </p:nvSpPr>
        <p:spPr>
          <a:xfrm>
            <a:off x="15212385" y="5254625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Shape 70"/>
          <p:cNvSpPr/>
          <p:nvPr/>
        </p:nvSpPr>
        <p:spPr>
          <a:xfrm>
            <a:off x="15212385" y="5254625"/>
            <a:ext cx="665758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71"/>
          <p:cNvSpPr/>
          <p:nvPr/>
        </p:nvSpPr>
        <p:spPr>
          <a:xfrm>
            <a:off x="16582133" y="5207993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125" dirty="0"/>
          </a:p>
        </p:txBody>
      </p:sp>
      <p:sp>
        <p:nvSpPr>
          <p:cNvPr id="85" name="Shape 72"/>
          <p:cNvSpPr/>
          <p:nvPr/>
        </p:nvSpPr>
        <p:spPr>
          <a:xfrm>
            <a:off x="13517067" y="5624876"/>
            <a:ext cx="3865067" cy="2124604"/>
          </a:xfrm>
          <a:prstGeom prst="roundRect">
            <a:avLst>
              <a:gd name="adj" fmla="val 538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86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60935" y="5768744"/>
            <a:ext cx="142875" cy="142875"/>
          </a:xfrm>
          <a:prstGeom prst="rect">
            <a:avLst/>
          </a:prstGeom>
        </p:spPr>
      </p:pic>
      <p:sp>
        <p:nvSpPr>
          <p:cNvPr id="87" name="Text 73"/>
          <p:cNvSpPr/>
          <p:nvPr/>
        </p:nvSpPr>
        <p:spPr>
          <a:xfrm>
            <a:off x="13879877" y="5771390"/>
            <a:ext cx="1560165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CAMPAIGN</a:t>
            </a:r>
            <a:endParaRPr lang="en-US" sz="900" dirty="0"/>
          </a:p>
        </p:txBody>
      </p:sp>
      <p:sp>
        <p:nvSpPr>
          <p:cNvPr id="88" name="Text 74"/>
          <p:cNvSpPr/>
          <p:nvPr/>
        </p:nvSpPr>
        <p:spPr>
          <a:xfrm>
            <a:off x="13660935" y="6098811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</a:t>
            </a:r>
            <a:endParaRPr lang="en-US" sz="1050" dirty="0"/>
          </a:p>
        </p:txBody>
      </p:sp>
      <p:sp>
        <p:nvSpPr>
          <p:cNvPr id="89" name="Shape 75"/>
          <p:cNvSpPr/>
          <p:nvPr/>
        </p:nvSpPr>
        <p:spPr>
          <a:xfrm>
            <a:off x="14841968" y="6006869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0" name="Text 76"/>
          <p:cNvSpPr/>
          <p:nvPr/>
        </p:nvSpPr>
        <p:spPr>
          <a:xfrm>
            <a:off x="14957327" y="6093652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· expansion</a:t>
            </a:r>
            <a:endParaRPr lang="en-US" sz="1125" dirty="0"/>
          </a:p>
        </p:txBody>
      </p:sp>
      <p:sp>
        <p:nvSpPr>
          <p:cNvPr id="91" name="Text 77"/>
          <p:cNvSpPr/>
          <p:nvPr/>
        </p:nvSpPr>
        <p:spPr>
          <a:xfrm>
            <a:off x="13660935" y="6517514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Contacts</a:t>
            </a:r>
            <a:endParaRPr lang="en-US" sz="1050" dirty="0"/>
          </a:p>
        </p:txBody>
      </p:sp>
      <p:sp>
        <p:nvSpPr>
          <p:cNvPr id="92" name="Shape 78"/>
          <p:cNvSpPr/>
          <p:nvPr/>
        </p:nvSpPr>
        <p:spPr>
          <a:xfrm>
            <a:off x="14841968" y="6425572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3" name="Text 79"/>
          <p:cNvSpPr/>
          <p:nvPr/>
        </p:nvSpPr>
        <p:spPr>
          <a:xfrm>
            <a:off x="14957327" y="6512355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1,240 after consent filter</a:t>
            </a:r>
            <a:endParaRPr lang="en-US" sz="1125" dirty="0"/>
          </a:p>
        </p:txBody>
      </p:sp>
      <p:sp>
        <p:nvSpPr>
          <p:cNvPr id="94" name="Text 80"/>
          <p:cNvSpPr/>
          <p:nvPr/>
        </p:nvSpPr>
        <p:spPr>
          <a:xfrm>
            <a:off x="13660935" y="6936218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window</a:t>
            </a:r>
            <a:endParaRPr lang="en-US" sz="1050" dirty="0"/>
          </a:p>
        </p:txBody>
      </p:sp>
      <p:sp>
        <p:nvSpPr>
          <p:cNvPr id="95" name="Shape 81"/>
          <p:cNvSpPr/>
          <p:nvPr/>
        </p:nvSpPr>
        <p:spPr>
          <a:xfrm>
            <a:off x="14841968" y="6844275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6" name="Text 82"/>
          <p:cNvSpPr/>
          <p:nvPr/>
        </p:nvSpPr>
        <p:spPr>
          <a:xfrm>
            <a:off x="14957327" y="6931059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18, 09:00 CET</a:t>
            </a:r>
            <a:endParaRPr lang="en-US" sz="1125" dirty="0"/>
          </a:p>
        </p:txBody>
      </p:sp>
      <p:sp>
        <p:nvSpPr>
          <p:cNvPr id="97" name="Text 83"/>
          <p:cNvSpPr/>
          <p:nvPr/>
        </p:nvSpPr>
        <p:spPr>
          <a:xfrm>
            <a:off x="13660935" y="7354921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</a:t>
            </a:r>
            <a:endParaRPr lang="en-US" sz="1050" dirty="0"/>
          </a:p>
        </p:txBody>
      </p:sp>
      <p:sp>
        <p:nvSpPr>
          <p:cNvPr id="98" name="Shape 84"/>
          <p:cNvSpPr/>
          <p:nvPr/>
        </p:nvSpPr>
        <p:spPr>
          <a:xfrm>
            <a:off x="14841968" y="7262978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9" name="Text 85"/>
          <p:cNvSpPr/>
          <p:nvPr/>
        </p:nvSpPr>
        <p:spPr>
          <a:xfrm>
            <a:off x="14957327" y="7349762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· J. Steiner</a:t>
            </a:r>
            <a:endParaRPr lang="en-US" sz="1125" dirty="0"/>
          </a:p>
        </p:txBody>
      </p:sp>
      <p:sp>
        <p:nvSpPr>
          <p:cNvPr id="100" name="Shape 86"/>
          <p:cNvSpPr/>
          <p:nvPr/>
        </p:nvSpPr>
        <p:spPr>
          <a:xfrm>
            <a:off x="13517067" y="7882765"/>
            <a:ext cx="386506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Shape 87"/>
          <p:cNvSpPr/>
          <p:nvPr/>
        </p:nvSpPr>
        <p:spPr>
          <a:xfrm>
            <a:off x="13517067" y="8037215"/>
            <a:ext cx="1546655" cy="359833"/>
          </a:xfrm>
          <a:prstGeom prst="roundRect">
            <a:avLst>
              <a:gd name="adj" fmla="val 21176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2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50351" y="8145695"/>
            <a:ext cx="142875" cy="142875"/>
          </a:xfrm>
          <a:prstGeom prst="rect">
            <a:avLst/>
          </a:prstGeom>
        </p:spPr>
      </p:pic>
      <p:sp>
        <p:nvSpPr>
          <p:cNvPr id="103" name="Text 88"/>
          <p:cNvSpPr/>
          <p:nvPr/>
        </p:nvSpPr>
        <p:spPr>
          <a:xfrm>
            <a:off x="13859868" y="8132465"/>
            <a:ext cx="1146771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for review</a:t>
            </a:r>
            <a:endParaRPr lang="en-US" sz="1125" dirty="0"/>
          </a:p>
        </p:txBody>
      </p:sp>
      <p:sp>
        <p:nvSpPr>
          <p:cNvPr id="104" name="Shape 89"/>
          <p:cNvSpPr/>
          <p:nvPr/>
        </p:nvSpPr>
        <p:spPr>
          <a:xfrm>
            <a:off x="15158972" y="8026632"/>
            <a:ext cx="756378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302839" y="8145695"/>
            <a:ext cx="142875" cy="142875"/>
          </a:xfrm>
          <a:prstGeom prst="rect">
            <a:avLst/>
          </a:prstGeom>
        </p:spPr>
      </p:pic>
      <p:sp>
        <p:nvSpPr>
          <p:cNvPr id="106" name="Text 90"/>
          <p:cNvSpPr/>
          <p:nvPr/>
        </p:nvSpPr>
        <p:spPr>
          <a:xfrm>
            <a:off x="15512357" y="8132465"/>
            <a:ext cx="335326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25" dirty="0"/>
          </a:p>
        </p:txBody>
      </p:sp>
      <p:sp>
        <p:nvSpPr>
          <p:cNvPr id="107" name="Shape 91"/>
          <p:cNvSpPr/>
          <p:nvPr/>
        </p:nvSpPr>
        <p:spPr>
          <a:xfrm>
            <a:off x="16010599" y="8026632"/>
            <a:ext cx="922900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8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154467" y="8145695"/>
            <a:ext cx="142875" cy="142875"/>
          </a:xfrm>
          <a:prstGeom prst="rect">
            <a:avLst/>
          </a:prstGeom>
        </p:spPr>
      </p:pic>
      <p:sp>
        <p:nvSpPr>
          <p:cNvPr id="109" name="Text 92"/>
          <p:cNvSpPr/>
          <p:nvPr/>
        </p:nvSpPr>
        <p:spPr>
          <a:xfrm>
            <a:off x="16363984" y="8132465"/>
            <a:ext cx="501848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25" dirty="0"/>
          </a:p>
        </p:txBody>
      </p:sp>
      <p:pic>
        <p:nvPicPr>
          <p:cNvPr id="110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517067" y="8548522"/>
            <a:ext cx="133284" cy="133284"/>
          </a:xfrm>
          <a:prstGeom prst="rect">
            <a:avLst/>
          </a:prstGeom>
        </p:spPr>
      </p:pic>
      <p:sp>
        <p:nvSpPr>
          <p:cNvPr id="111" name="Text 93"/>
          <p:cNvSpPr/>
          <p:nvPr/>
        </p:nvSpPr>
        <p:spPr>
          <a:xfrm>
            <a:off x="13726419" y="8521899"/>
            <a:ext cx="299791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approves before anything leaves</a:t>
            </a:r>
            <a:endParaRPr lang="en-US" sz="1050" dirty="0"/>
          </a:p>
        </p:txBody>
      </p:sp>
      <p:sp>
        <p:nvSpPr>
          <p:cNvPr id="112" name="Shape 94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3" name="Shape 95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6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Outreach references what the customer actually did, not a persona.</a:t>
            </a:r>
            <a:endParaRPr lang="en-US" sz="20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649899" y="235975"/>
            <a:ext cx="1028535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PREP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PRESALE · 04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prep and customer insight, delivered where the rep already works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7265790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2601020"/>
            <a:ext cx="7244623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905867" y="2143952"/>
            <a:ext cx="304767" cy="304767"/>
          </a:xfrm>
          <a:prstGeom prst="roundRect">
            <a:avLst>
              <a:gd name="adj" fmla="val 25003"/>
            </a:avLst>
          </a:prstGeom>
          <a:solidFill>
            <a:srgbClr val="2F3034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509" y="2210594"/>
            <a:ext cx="171318" cy="1713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4901" y="2190419"/>
            <a:ext cx="2063667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#deal-helvetia-logistik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7214196" y="2184136"/>
            <a:ext cx="517260" cy="224234"/>
          </a:xfrm>
          <a:prstGeom prst="roundRect">
            <a:avLst>
              <a:gd name="adj" fmla="val 16991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3"/>
          <p:cNvSpPr/>
          <p:nvPr/>
        </p:nvSpPr>
        <p:spPr>
          <a:xfrm>
            <a:off x="7309446" y="2222236"/>
            <a:ext cx="402960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Slack</a:t>
            </a:r>
            <a:endParaRPr lang="en-US" sz="975" dirty="0"/>
          </a:p>
        </p:txBody>
      </p:sp>
      <p:sp>
        <p:nvSpPr>
          <p:cNvPr id="18" name="Text 14"/>
          <p:cNvSpPr/>
          <p:nvPr/>
        </p:nvSpPr>
        <p:spPr>
          <a:xfrm>
            <a:off x="905867" y="2821120"/>
            <a:ext cx="750814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 · 08:12 — Briefing for your 09:00 with Helvetia Logistik AG</a:t>
            </a:r>
            <a:endParaRPr lang="en-US" sz="1275" dirty="0"/>
          </a:p>
        </p:txBody>
      </p:sp>
      <p:sp>
        <p:nvSpPr>
          <p:cNvPr id="19" name="Shape 15"/>
          <p:cNvSpPr/>
          <p:nvPr/>
        </p:nvSpPr>
        <p:spPr>
          <a:xfrm>
            <a:off x="905867" y="3155487"/>
            <a:ext cx="6825589" cy="765969"/>
          </a:xfrm>
          <a:prstGeom prst="roundRect">
            <a:avLst>
              <a:gd name="adj" fmla="val 14922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Text 16"/>
          <p:cNvSpPr/>
          <p:nvPr/>
        </p:nvSpPr>
        <p:spPr>
          <a:xfrm>
            <a:off x="1058168" y="3307788"/>
            <a:ext cx="717308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ITEMS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58168" y="3512013"/>
            <a:ext cx="7173086" cy="29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support escalations closed last week, both on the tracking API.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905867" y="4054740"/>
            <a:ext cx="6825589" cy="765969"/>
          </a:xfrm>
          <a:prstGeom prst="roundRect">
            <a:avLst>
              <a:gd name="adj" fmla="val 14922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Text 19"/>
          <p:cNvSpPr/>
          <p:nvPr/>
        </p:nvSpPr>
        <p:spPr>
          <a:xfrm>
            <a:off x="1058168" y="4207041"/>
            <a:ext cx="717308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58168" y="4411266"/>
            <a:ext cx="7173086" cy="29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renews 14 Nov. Current ARR CHF 410 k, 96% licence utilisation.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905867" y="4953992"/>
            <a:ext cx="6825589" cy="765969"/>
          </a:xfrm>
          <a:prstGeom prst="roundRect">
            <a:avLst>
              <a:gd name="adj" fmla="val 14922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Text 22"/>
          <p:cNvSpPr/>
          <p:nvPr/>
        </p:nvSpPr>
        <p:spPr>
          <a:xfrm>
            <a:off x="1058168" y="5106293"/>
            <a:ext cx="717308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58168" y="5310518"/>
            <a:ext cx="7173086" cy="29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CIO since April. Prefers written pre-reads. Champion: Head of Ops.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905867" y="5853245"/>
            <a:ext cx="6825589" cy="765969"/>
          </a:xfrm>
          <a:prstGeom prst="roundRect">
            <a:avLst>
              <a:gd name="adj" fmla="val 14922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9" name="Text 25"/>
          <p:cNvSpPr/>
          <p:nvPr/>
        </p:nvSpPr>
        <p:spPr>
          <a:xfrm>
            <a:off x="1058168" y="6005546"/>
            <a:ext cx="717308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58168" y="6209771"/>
            <a:ext cx="7173086" cy="29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competitor was named in a Slack deal thread on 3 Aug.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905867" y="6790531"/>
            <a:ext cx="1699948" cy="391583"/>
          </a:xfrm>
          <a:prstGeom prst="roundRect">
            <a:avLst>
              <a:gd name="adj" fmla="val 19459"/>
            </a:avLst>
          </a:prstGeom>
          <a:solidFill>
            <a:srgbClr val="00658E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2" name="Text 28"/>
          <p:cNvSpPr/>
          <p:nvPr/>
        </p:nvSpPr>
        <p:spPr>
          <a:xfrm>
            <a:off x="1068851" y="6896365"/>
            <a:ext cx="1450181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account plan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2701065" y="6790531"/>
            <a:ext cx="1847288" cy="391583"/>
          </a:xfrm>
          <a:prstGeom prst="roundRect">
            <a:avLst>
              <a:gd name="adj" fmla="val 1945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4" name="Text 30"/>
          <p:cNvSpPr/>
          <p:nvPr/>
        </p:nvSpPr>
        <p:spPr>
          <a:xfrm>
            <a:off x="2864049" y="6896365"/>
            <a:ext cx="1597521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to Outlook invite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643603" y="6790531"/>
            <a:ext cx="1463311" cy="391583"/>
          </a:xfrm>
          <a:prstGeom prst="roundRect">
            <a:avLst>
              <a:gd name="adj" fmla="val 1945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6" name="Text 32"/>
          <p:cNvSpPr/>
          <p:nvPr/>
        </p:nvSpPr>
        <p:spPr>
          <a:xfrm>
            <a:off x="4806587" y="6896365"/>
            <a:ext cx="1213545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 follow-up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8180090" y="1981068"/>
            <a:ext cx="4926377" cy="2247966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8" name="Text 34"/>
          <p:cNvSpPr/>
          <p:nvPr/>
        </p:nvSpPr>
        <p:spPr>
          <a:xfrm>
            <a:off x="8400191" y="2201168"/>
            <a:ext cx="49347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READ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8400191" y="2434001"/>
            <a:ext cx="493479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systems · 41 records</a:t>
            </a:r>
            <a:endParaRPr lang="en-US" sz="2250" dirty="0"/>
          </a:p>
        </p:txBody>
      </p:sp>
      <p:sp>
        <p:nvSpPr>
          <p:cNvPr id="40" name="Text 36"/>
          <p:cNvSpPr/>
          <p:nvPr/>
        </p:nvSpPr>
        <p:spPr>
          <a:xfrm>
            <a:off x="8400191" y="2859319"/>
            <a:ext cx="493479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Salesforce, D365, ServiceNow, Slack, SharePoint</a:t>
            </a:r>
            <a:endParaRPr lang="en-US" sz="1125" dirty="0"/>
          </a:p>
        </p:txBody>
      </p:sp>
      <p:sp>
        <p:nvSpPr>
          <p:cNvPr id="41" name="Shape 37"/>
          <p:cNvSpPr/>
          <p:nvPr/>
        </p:nvSpPr>
        <p:spPr>
          <a:xfrm>
            <a:off x="8180090" y="4381335"/>
            <a:ext cx="4926377" cy="2248132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2" name="Text 38"/>
          <p:cNvSpPr/>
          <p:nvPr/>
        </p:nvSpPr>
        <p:spPr>
          <a:xfrm>
            <a:off x="8400191" y="4601435"/>
            <a:ext cx="49347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 TIME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8400191" y="4834269"/>
            <a:ext cx="493479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min → 2 min</a:t>
            </a:r>
            <a:endParaRPr lang="en-US" sz="2250" dirty="0"/>
          </a:p>
        </p:txBody>
      </p:sp>
      <p:sp>
        <p:nvSpPr>
          <p:cNvPr id="44" name="Text 40"/>
          <p:cNvSpPr/>
          <p:nvPr/>
        </p:nvSpPr>
        <p:spPr>
          <a:xfrm>
            <a:off x="8400191" y="5259586"/>
            <a:ext cx="493479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across 42 reps over eight weeks</a:t>
            </a:r>
            <a:endParaRPr lang="en-US" sz="1125" dirty="0"/>
          </a:p>
        </p:txBody>
      </p:sp>
      <p:sp>
        <p:nvSpPr>
          <p:cNvPr id="45" name="Shape 41"/>
          <p:cNvSpPr/>
          <p:nvPr/>
        </p:nvSpPr>
        <p:spPr>
          <a:xfrm>
            <a:off x="8180090" y="6781767"/>
            <a:ext cx="4926377" cy="2247966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6" name="Text 42"/>
          <p:cNvSpPr/>
          <p:nvPr/>
        </p:nvSpPr>
        <p:spPr>
          <a:xfrm>
            <a:off x="8400191" y="7001867"/>
            <a:ext cx="49347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8400191" y="7234701"/>
            <a:ext cx="4620761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stored outside the tenant</a:t>
            </a:r>
            <a:endParaRPr lang="en-US" sz="2250" dirty="0"/>
          </a:p>
        </p:txBody>
      </p:sp>
      <p:sp>
        <p:nvSpPr>
          <p:cNvPr id="48" name="Text 44"/>
          <p:cNvSpPr/>
          <p:nvPr/>
        </p:nvSpPr>
        <p:spPr>
          <a:xfrm>
            <a:off x="8400191" y="8009269"/>
            <a:ext cx="493479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calls run against the customer’s own boundary</a:t>
            </a:r>
            <a:endParaRPr lang="en-US" sz="1125" dirty="0"/>
          </a:p>
        </p:txBody>
      </p:sp>
      <p:sp>
        <p:nvSpPr>
          <p:cNvPr id="49" name="Shape 45"/>
          <p:cNvSpPr/>
          <p:nvPr/>
        </p:nvSpPr>
        <p:spPr>
          <a:xfrm>
            <a:off x="13296966" y="1981068"/>
            <a:ext cx="4305267" cy="7048666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17067" y="2201168"/>
            <a:ext cx="161892" cy="161892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13764618" y="2213240"/>
            <a:ext cx="82083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900" dirty="0"/>
          </a:p>
        </p:txBody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29833" y="2205964"/>
            <a:ext cx="152301" cy="152301"/>
          </a:xfrm>
          <a:prstGeom prst="rect">
            <a:avLst/>
          </a:prstGeom>
        </p:spPr>
      </p:pic>
      <p:sp>
        <p:nvSpPr>
          <p:cNvPr id="53" name="Shape 47"/>
          <p:cNvSpPr/>
          <p:nvPr/>
        </p:nvSpPr>
        <p:spPr>
          <a:xfrm>
            <a:off x="14392176" y="2477327"/>
            <a:ext cx="2989957" cy="422672"/>
          </a:xfrm>
          <a:prstGeom prst="roundRect">
            <a:avLst>
              <a:gd name="adj" fmla="val 27042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4" name="Text 48"/>
          <p:cNvSpPr/>
          <p:nvPr/>
        </p:nvSpPr>
        <p:spPr>
          <a:xfrm>
            <a:off x="14525460" y="2582003"/>
            <a:ext cx="2995729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8"/>
              </a:lnSpc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I not say in this meeting?</a:t>
            </a:r>
            <a:endParaRPr lang="en-US" sz="1200" dirty="0"/>
          </a:p>
        </p:txBody>
      </p:sp>
      <p:sp>
        <p:nvSpPr>
          <p:cNvPr id="55" name="Text 49"/>
          <p:cNvSpPr/>
          <p:nvPr/>
        </p:nvSpPr>
        <p:spPr>
          <a:xfrm>
            <a:off x="13517067" y="3014266"/>
            <a:ext cx="3981019" cy="1009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committing to a Q3 delivery date: the two open escalations are on the same API the new depots depend on. Engineering has not confirmed capacity.</a:t>
            </a:r>
            <a:endParaRPr lang="en-US" sz="1275" dirty="0"/>
          </a:p>
        </p:txBody>
      </p:sp>
      <p:sp>
        <p:nvSpPr>
          <p:cNvPr id="56" name="Shape 50"/>
          <p:cNvSpPr/>
          <p:nvPr/>
        </p:nvSpPr>
        <p:spPr>
          <a:xfrm>
            <a:off x="13517067" y="4099554"/>
            <a:ext cx="3865067" cy="1197736"/>
          </a:xfrm>
          <a:prstGeom prst="roundRect">
            <a:avLst>
              <a:gd name="adj" fmla="val 954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Text 51"/>
          <p:cNvSpPr/>
          <p:nvPr/>
        </p:nvSpPr>
        <p:spPr>
          <a:xfrm>
            <a:off x="13650351" y="4232838"/>
            <a:ext cx="3958349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RISKS BY AREA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13650351" y="4489979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API</a:t>
            </a:r>
            <a:endParaRPr lang="en-US" sz="1050" dirty="0"/>
          </a:p>
        </p:txBody>
      </p:sp>
      <p:sp>
        <p:nvSpPr>
          <p:cNvPr id="59" name="Shape 53"/>
          <p:cNvSpPr/>
          <p:nvPr/>
        </p:nvSpPr>
        <p:spPr>
          <a:xfrm>
            <a:off x="15212385" y="4531321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Shape 54"/>
          <p:cNvSpPr/>
          <p:nvPr/>
        </p:nvSpPr>
        <p:spPr>
          <a:xfrm>
            <a:off x="15212385" y="4531321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B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Text 55"/>
          <p:cNvSpPr/>
          <p:nvPr/>
        </p:nvSpPr>
        <p:spPr>
          <a:xfrm>
            <a:off x="16582133" y="4484688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25" dirty="0"/>
          </a:p>
        </p:txBody>
      </p:sp>
      <p:sp>
        <p:nvSpPr>
          <p:cNvPr id="62" name="Text 56"/>
          <p:cNvSpPr/>
          <p:nvPr/>
        </p:nvSpPr>
        <p:spPr>
          <a:xfrm>
            <a:off x="13650351" y="4744972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</a:t>
            </a:r>
            <a:endParaRPr lang="en-US" sz="1050" dirty="0"/>
          </a:p>
        </p:txBody>
      </p:sp>
      <p:sp>
        <p:nvSpPr>
          <p:cNvPr id="63" name="Shape 57"/>
          <p:cNvSpPr/>
          <p:nvPr/>
        </p:nvSpPr>
        <p:spPr>
          <a:xfrm>
            <a:off x="15212385" y="4786313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Shape 58"/>
          <p:cNvSpPr/>
          <p:nvPr/>
        </p:nvSpPr>
        <p:spPr>
          <a:xfrm>
            <a:off x="15212385" y="4786313"/>
            <a:ext cx="443839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59"/>
          <p:cNvSpPr/>
          <p:nvPr/>
        </p:nvSpPr>
        <p:spPr>
          <a:xfrm>
            <a:off x="16582133" y="4739680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25" dirty="0"/>
          </a:p>
        </p:txBody>
      </p:sp>
      <p:sp>
        <p:nvSpPr>
          <p:cNvPr id="66" name="Text 60"/>
          <p:cNvSpPr/>
          <p:nvPr/>
        </p:nvSpPr>
        <p:spPr>
          <a:xfrm>
            <a:off x="13650351" y="4999964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</a:t>
            </a:r>
            <a:endParaRPr lang="en-US" sz="1050" dirty="0"/>
          </a:p>
        </p:txBody>
      </p:sp>
      <p:sp>
        <p:nvSpPr>
          <p:cNvPr id="67" name="Shape 61"/>
          <p:cNvSpPr/>
          <p:nvPr/>
        </p:nvSpPr>
        <p:spPr>
          <a:xfrm>
            <a:off x="15212385" y="5041305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62"/>
          <p:cNvSpPr/>
          <p:nvPr/>
        </p:nvSpPr>
        <p:spPr>
          <a:xfrm>
            <a:off x="16582133" y="4994672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125" dirty="0"/>
          </a:p>
        </p:txBody>
      </p:sp>
      <p:sp>
        <p:nvSpPr>
          <p:cNvPr id="69" name="Shape 63"/>
          <p:cNvSpPr/>
          <p:nvPr/>
        </p:nvSpPr>
        <p:spPr>
          <a:xfrm>
            <a:off x="13517067" y="5411556"/>
            <a:ext cx="3865067" cy="2124604"/>
          </a:xfrm>
          <a:prstGeom prst="roundRect">
            <a:avLst>
              <a:gd name="adj" fmla="val 538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60935" y="5555424"/>
            <a:ext cx="142875" cy="142875"/>
          </a:xfrm>
          <a:prstGeom prst="rect">
            <a:avLst/>
          </a:prstGeom>
        </p:spPr>
      </p:pic>
      <p:sp>
        <p:nvSpPr>
          <p:cNvPr id="71" name="Text 64"/>
          <p:cNvSpPr/>
          <p:nvPr/>
        </p:nvSpPr>
        <p:spPr>
          <a:xfrm>
            <a:off x="13879877" y="5558069"/>
            <a:ext cx="1688588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MEETING AGENDA</a:t>
            </a:r>
            <a:endParaRPr lang="en-US" sz="900" dirty="0"/>
          </a:p>
        </p:txBody>
      </p:sp>
      <p:sp>
        <p:nvSpPr>
          <p:cNvPr id="72" name="Text 65"/>
          <p:cNvSpPr/>
          <p:nvPr/>
        </p:nvSpPr>
        <p:spPr>
          <a:xfrm>
            <a:off x="13660935" y="5885491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</a:t>
            </a:r>
            <a:endParaRPr lang="en-US" sz="1050" dirty="0"/>
          </a:p>
        </p:txBody>
      </p:sp>
      <p:sp>
        <p:nvSpPr>
          <p:cNvPr id="73" name="Shape 66"/>
          <p:cNvSpPr/>
          <p:nvPr/>
        </p:nvSpPr>
        <p:spPr>
          <a:xfrm>
            <a:off x="14841968" y="5793549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4" name="Text 67"/>
          <p:cNvSpPr/>
          <p:nvPr/>
        </p:nvSpPr>
        <p:spPr>
          <a:xfrm>
            <a:off x="14957327" y="5880332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Helvetia Logistik · 09:00</a:t>
            </a:r>
            <a:endParaRPr lang="en-US" sz="1125" dirty="0"/>
          </a:p>
        </p:txBody>
      </p:sp>
      <p:sp>
        <p:nvSpPr>
          <p:cNvPr id="75" name="Text 68"/>
          <p:cNvSpPr/>
          <p:nvPr/>
        </p:nvSpPr>
        <p:spPr>
          <a:xfrm>
            <a:off x="13660935" y="6304194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cover</a:t>
            </a:r>
            <a:endParaRPr lang="en-US" sz="1050" dirty="0"/>
          </a:p>
        </p:txBody>
      </p:sp>
      <p:sp>
        <p:nvSpPr>
          <p:cNvPr id="76" name="Shape 69"/>
          <p:cNvSpPr/>
          <p:nvPr/>
        </p:nvSpPr>
        <p:spPr>
          <a:xfrm>
            <a:off x="14841968" y="6212252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7" name="Text 70"/>
          <p:cNvSpPr/>
          <p:nvPr/>
        </p:nvSpPr>
        <p:spPr>
          <a:xfrm>
            <a:off x="14957327" y="6299035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review with CIO</a:t>
            </a:r>
            <a:endParaRPr lang="en-US" sz="1125" dirty="0"/>
          </a:p>
        </p:txBody>
      </p:sp>
      <p:sp>
        <p:nvSpPr>
          <p:cNvPr id="78" name="Text 71"/>
          <p:cNvSpPr/>
          <p:nvPr/>
        </p:nvSpPr>
        <p:spPr>
          <a:xfrm>
            <a:off x="13660935" y="6722897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commit</a:t>
            </a:r>
            <a:endParaRPr lang="en-US" sz="1050" dirty="0"/>
          </a:p>
        </p:txBody>
      </p:sp>
      <p:sp>
        <p:nvSpPr>
          <p:cNvPr id="79" name="Shape 72"/>
          <p:cNvSpPr/>
          <p:nvPr/>
        </p:nvSpPr>
        <p:spPr>
          <a:xfrm>
            <a:off x="14841968" y="6630955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0" name="Text 73"/>
          <p:cNvSpPr/>
          <p:nvPr/>
        </p:nvSpPr>
        <p:spPr>
          <a:xfrm>
            <a:off x="14957327" y="6717738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delivery date</a:t>
            </a:r>
            <a:endParaRPr lang="en-US" sz="1125" dirty="0"/>
          </a:p>
        </p:txBody>
      </p:sp>
      <p:sp>
        <p:nvSpPr>
          <p:cNvPr id="81" name="Text 74"/>
          <p:cNvSpPr/>
          <p:nvPr/>
        </p:nvSpPr>
        <p:spPr>
          <a:xfrm>
            <a:off x="13660935" y="7141601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 owner</a:t>
            </a:r>
            <a:endParaRPr lang="en-US" sz="1050" dirty="0"/>
          </a:p>
        </p:txBody>
      </p:sp>
      <p:sp>
        <p:nvSpPr>
          <p:cNvPr id="82" name="Shape 75"/>
          <p:cNvSpPr/>
          <p:nvPr/>
        </p:nvSpPr>
        <p:spPr>
          <a:xfrm>
            <a:off x="14841968" y="7049658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3" name="Text 76"/>
          <p:cNvSpPr/>
          <p:nvPr/>
        </p:nvSpPr>
        <p:spPr>
          <a:xfrm>
            <a:off x="14957327" y="7136441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 · M. Frei</a:t>
            </a:r>
            <a:endParaRPr lang="en-US" sz="1125" dirty="0"/>
          </a:p>
        </p:txBody>
      </p:sp>
      <p:sp>
        <p:nvSpPr>
          <p:cNvPr id="84" name="Shape 77"/>
          <p:cNvSpPr/>
          <p:nvPr/>
        </p:nvSpPr>
        <p:spPr>
          <a:xfrm>
            <a:off x="13517067" y="7669445"/>
            <a:ext cx="386506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Shape 78"/>
          <p:cNvSpPr/>
          <p:nvPr/>
        </p:nvSpPr>
        <p:spPr>
          <a:xfrm>
            <a:off x="13517067" y="7823895"/>
            <a:ext cx="1651165" cy="359833"/>
          </a:xfrm>
          <a:prstGeom prst="roundRect">
            <a:avLst>
              <a:gd name="adj" fmla="val 21176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50351" y="7932374"/>
            <a:ext cx="142875" cy="142875"/>
          </a:xfrm>
          <a:prstGeom prst="rect">
            <a:avLst/>
          </a:prstGeom>
        </p:spPr>
      </p:pic>
      <p:sp>
        <p:nvSpPr>
          <p:cNvPr id="87" name="Text 79"/>
          <p:cNvSpPr/>
          <p:nvPr/>
        </p:nvSpPr>
        <p:spPr>
          <a:xfrm>
            <a:off x="13859868" y="7919145"/>
            <a:ext cx="1251281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&amp; attach</a:t>
            </a:r>
            <a:endParaRPr lang="en-US" sz="1125" dirty="0"/>
          </a:p>
        </p:txBody>
      </p:sp>
      <p:sp>
        <p:nvSpPr>
          <p:cNvPr id="88" name="Shape 80"/>
          <p:cNvSpPr/>
          <p:nvPr/>
        </p:nvSpPr>
        <p:spPr>
          <a:xfrm>
            <a:off x="15263482" y="7813311"/>
            <a:ext cx="756378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8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407350" y="7932374"/>
            <a:ext cx="142875" cy="142875"/>
          </a:xfrm>
          <a:prstGeom prst="rect">
            <a:avLst/>
          </a:prstGeom>
        </p:spPr>
      </p:pic>
      <p:sp>
        <p:nvSpPr>
          <p:cNvPr id="90" name="Text 81"/>
          <p:cNvSpPr/>
          <p:nvPr/>
        </p:nvSpPr>
        <p:spPr>
          <a:xfrm>
            <a:off x="15616867" y="7919145"/>
            <a:ext cx="335326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25" dirty="0"/>
          </a:p>
        </p:txBody>
      </p:sp>
      <p:sp>
        <p:nvSpPr>
          <p:cNvPr id="91" name="Shape 82"/>
          <p:cNvSpPr/>
          <p:nvPr/>
        </p:nvSpPr>
        <p:spPr>
          <a:xfrm>
            <a:off x="16115111" y="7813311"/>
            <a:ext cx="922900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9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258977" y="7932374"/>
            <a:ext cx="142875" cy="142875"/>
          </a:xfrm>
          <a:prstGeom prst="rect">
            <a:avLst/>
          </a:prstGeom>
        </p:spPr>
      </p:pic>
      <p:sp>
        <p:nvSpPr>
          <p:cNvPr id="93" name="Text 83"/>
          <p:cNvSpPr/>
          <p:nvPr/>
        </p:nvSpPr>
        <p:spPr>
          <a:xfrm>
            <a:off x="16468495" y="7919145"/>
            <a:ext cx="501848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25" dirty="0"/>
          </a:p>
        </p:txBody>
      </p:sp>
      <p:pic>
        <p:nvPicPr>
          <p:cNvPr id="9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517067" y="8335202"/>
            <a:ext cx="133284" cy="133284"/>
          </a:xfrm>
          <a:prstGeom prst="rect">
            <a:avLst/>
          </a:prstGeom>
        </p:spPr>
      </p:pic>
      <p:sp>
        <p:nvSpPr>
          <p:cNvPr id="95" name="Text 84"/>
          <p:cNvSpPr/>
          <p:nvPr/>
        </p:nvSpPr>
        <p:spPr>
          <a:xfrm>
            <a:off x="13726419" y="8308578"/>
            <a:ext cx="2793636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Attached to the Outlook invite by the rep</a:t>
            </a:r>
            <a:endParaRPr lang="en-US" sz="1050" dirty="0"/>
          </a:p>
        </p:txBody>
      </p:sp>
      <p:sp>
        <p:nvSpPr>
          <p:cNvPr id="96" name="Shape 85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Shape 86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8" name="Text 87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 time falls from 35 minutes to 2, and nothing is stored outside the tenant.</a:t>
            </a:r>
            <a:endParaRPr lang="en-US" sz="20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857597" y="235975"/>
            <a:ext cx="82083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THE JOURNEY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the data a question, get an answer with its sources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6916467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6895300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6895300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126136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· Ask AI Hub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4951605" y="2127085"/>
            <a:ext cx="2449546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5046855" y="2165185"/>
            <a:ext cx="233524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scoped to what you may see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21"/>
          <p:cNvSpPr/>
          <p:nvPr/>
        </p:nvSpPr>
        <p:spPr>
          <a:xfrm>
            <a:off x="848651" y="263078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6198950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23"/>
          <p:cNvSpPr/>
          <p:nvPr/>
        </p:nvSpPr>
        <p:spPr>
          <a:xfrm>
            <a:off x="5543848" y="2726035"/>
            <a:ext cx="4261942" cy="478234"/>
          </a:xfrm>
          <a:prstGeom prst="roundRect">
            <a:avLst>
              <a:gd name="adj" fmla="val 239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5" name="Text 24"/>
          <p:cNvSpPr/>
          <p:nvPr/>
        </p:nvSpPr>
        <p:spPr>
          <a:xfrm>
            <a:off x="5677132" y="2859319"/>
            <a:ext cx="4394911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DACH deals slipped this quarter, and why?</a:t>
            </a:r>
            <a:endParaRPr lang="en-US" sz="1350" dirty="0"/>
          </a:p>
        </p:txBody>
      </p:sp>
      <p:sp>
        <p:nvSpPr>
          <p:cNvPr id="36" name="Shape 25"/>
          <p:cNvSpPr/>
          <p:nvPr/>
        </p:nvSpPr>
        <p:spPr>
          <a:xfrm>
            <a:off x="1621234" y="3318537"/>
            <a:ext cx="8184555" cy="2820293"/>
          </a:xfrm>
          <a:prstGeom prst="roundRect">
            <a:avLst>
              <a:gd name="adj" fmla="val 5404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84119" y="3481421"/>
            <a:ext cx="152301" cy="152301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2012487" y="3488697"/>
            <a:ext cx="51904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1784119" y="3728972"/>
            <a:ext cx="8094550" cy="552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deals worth CHF 825 k moved out of Q3. Two are process delays inside your own funnel, not customer objections.</a:t>
            </a:r>
            <a:endParaRPr lang="en-US" sz="1350" dirty="0"/>
          </a:p>
        </p:txBody>
      </p:sp>
      <p:sp>
        <p:nvSpPr>
          <p:cNvPr id="40" name="Shape 28"/>
          <p:cNvSpPr/>
          <p:nvPr/>
        </p:nvSpPr>
        <p:spPr>
          <a:xfrm>
            <a:off x="1784119" y="4376539"/>
            <a:ext cx="785878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1" name="Text 29"/>
          <p:cNvSpPr/>
          <p:nvPr/>
        </p:nvSpPr>
        <p:spPr>
          <a:xfrm>
            <a:off x="1784119" y="4491799"/>
            <a:ext cx="2927879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Basler Feinmechanik</a:t>
            </a:r>
            <a:endParaRPr lang="en-US" sz="1200" dirty="0"/>
          </a:p>
        </p:txBody>
      </p:sp>
      <p:sp>
        <p:nvSpPr>
          <p:cNvPr id="42" name="Text 30"/>
          <p:cNvSpPr/>
          <p:nvPr/>
        </p:nvSpPr>
        <p:spPr>
          <a:xfrm>
            <a:off x="4560094" y="4491799"/>
            <a:ext cx="1561439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240 k</a:t>
            </a:r>
            <a:endParaRPr lang="en-US" sz="1200" dirty="0"/>
          </a:p>
        </p:txBody>
      </p:sp>
      <p:sp>
        <p:nvSpPr>
          <p:cNvPr id="43" name="Text 31"/>
          <p:cNvSpPr/>
          <p:nvPr/>
        </p:nvSpPr>
        <p:spPr>
          <a:xfrm>
            <a:off x="6093851" y="4491799"/>
            <a:ext cx="3903778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review stalled 18 days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1784119" y="4776391"/>
            <a:ext cx="785878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3"/>
          <p:cNvSpPr/>
          <p:nvPr/>
        </p:nvSpPr>
        <p:spPr>
          <a:xfrm>
            <a:off x="1784119" y="4891650"/>
            <a:ext cx="2927879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Zug Chemicals</a:t>
            </a:r>
            <a:endParaRPr lang="en-US" sz="1200" dirty="0"/>
          </a:p>
        </p:txBody>
      </p:sp>
      <p:sp>
        <p:nvSpPr>
          <p:cNvPr id="46" name="Text 34"/>
          <p:cNvSpPr/>
          <p:nvPr/>
        </p:nvSpPr>
        <p:spPr>
          <a:xfrm>
            <a:off x="4560094" y="4891650"/>
            <a:ext cx="1561439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180 k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6093851" y="4891650"/>
            <a:ext cx="3903778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 left, no re-mapping</a:t>
            </a:r>
            <a:endParaRPr lang="en-US" sz="1200" dirty="0"/>
          </a:p>
        </p:txBody>
      </p:sp>
      <p:sp>
        <p:nvSpPr>
          <p:cNvPr id="48" name="Shape 36"/>
          <p:cNvSpPr/>
          <p:nvPr/>
        </p:nvSpPr>
        <p:spPr>
          <a:xfrm>
            <a:off x="1784119" y="5176242"/>
            <a:ext cx="785878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9" name="Text 37"/>
          <p:cNvSpPr/>
          <p:nvPr/>
        </p:nvSpPr>
        <p:spPr>
          <a:xfrm>
            <a:off x="1784119" y="5291501"/>
            <a:ext cx="2927879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Alpina Retail Group</a:t>
            </a:r>
            <a:endParaRPr lang="en-US" sz="1200" dirty="0"/>
          </a:p>
        </p:txBody>
      </p:sp>
      <p:sp>
        <p:nvSpPr>
          <p:cNvPr id="50" name="Text 38"/>
          <p:cNvSpPr/>
          <p:nvPr/>
        </p:nvSpPr>
        <p:spPr>
          <a:xfrm>
            <a:off x="4560094" y="5291501"/>
            <a:ext cx="1561439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310 k</a:t>
            </a:r>
            <a:endParaRPr lang="en-US" sz="1200" dirty="0"/>
          </a:p>
        </p:txBody>
      </p:sp>
      <p:sp>
        <p:nvSpPr>
          <p:cNvPr id="51" name="Text 39"/>
          <p:cNvSpPr/>
          <p:nvPr/>
        </p:nvSpPr>
        <p:spPr>
          <a:xfrm>
            <a:off x="6093851" y="5291501"/>
            <a:ext cx="3903778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moved to next FY</a:t>
            </a:r>
            <a:endParaRPr lang="en-US" sz="1200" dirty="0"/>
          </a:p>
        </p:txBody>
      </p:sp>
      <p:sp>
        <p:nvSpPr>
          <p:cNvPr id="52" name="Shape 40"/>
          <p:cNvSpPr/>
          <p:nvPr/>
        </p:nvSpPr>
        <p:spPr>
          <a:xfrm>
            <a:off x="1784119" y="5576094"/>
            <a:ext cx="785878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3" name="Text 41"/>
          <p:cNvSpPr/>
          <p:nvPr/>
        </p:nvSpPr>
        <p:spPr>
          <a:xfrm>
            <a:off x="1784119" y="5691353"/>
            <a:ext cx="2927879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Nordwind Energie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4560094" y="5691353"/>
            <a:ext cx="1561439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95 k</a:t>
            </a:r>
            <a:endParaRPr lang="en-US" sz="1200" dirty="0"/>
          </a:p>
        </p:txBody>
      </p:sp>
      <p:sp>
        <p:nvSpPr>
          <p:cNvPr id="55" name="Text 43"/>
          <p:cNvSpPr/>
          <p:nvPr/>
        </p:nvSpPr>
        <p:spPr>
          <a:xfrm>
            <a:off x="6093851" y="5691353"/>
            <a:ext cx="3903778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Waiting on our security answers</a:t>
            </a:r>
            <a:endParaRPr lang="en-US" sz="1200" dirty="0"/>
          </a:p>
        </p:txBody>
      </p:sp>
      <p:sp>
        <p:nvSpPr>
          <p:cNvPr id="56" name="Shape 44"/>
          <p:cNvSpPr/>
          <p:nvPr/>
        </p:nvSpPr>
        <p:spPr>
          <a:xfrm>
            <a:off x="5594946" y="6253097"/>
            <a:ext cx="4210844" cy="478234"/>
          </a:xfrm>
          <a:prstGeom prst="roundRect">
            <a:avLst>
              <a:gd name="adj" fmla="val 239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Text 45"/>
          <p:cNvSpPr/>
          <p:nvPr/>
        </p:nvSpPr>
        <p:spPr>
          <a:xfrm>
            <a:off x="5728229" y="6386381"/>
            <a:ext cx="4338704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a recovery plan for the two process delays.</a:t>
            </a:r>
            <a:endParaRPr lang="en-US" sz="1350" dirty="0"/>
          </a:p>
        </p:txBody>
      </p:sp>
      <p:sp>
        <p:nvSpPr>
          <p:cNvPr id="58" name="Shape 46"/>
          <p:cNvSpPr/>
          <p:nvPr/>
        </p:nvSpPr>
        <p:spPr>
          <a:xfrm>
            <a:off x="1621234" y="8339832"/>
            <a:ext cx="8184555" cy="450784"/>
          </a:xfrm>
          <a:prstGeom prst="roundRect">
            <a:avLst>
              <a:gd name="adj" fmla="val 16904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9" name="Text 47"/>
          <p:cNvSpPr/>
          <p:nvPr/>
        </p:nvSpPr>
        <p:spPr>
          <a:xfrm>
            <a:off x="1784119" y="8464683"/>
            <a:ext cx="8330523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about accounts, pipeline, contracts or usage…</a:t>
            </a:r>
            <a:endParaRPr lang="en-US" sz="1275" dirty="0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71588" y="8479566"/>
            <a:ext cx="171318" cy="171318"/>
          </a:xfrm>
          <a:prstGeom prst="rect">
            <a:avLst/>
          </a:prstGeom>
        </p:spPr>
      </p:pic>
      <p:sp>
        <p:nvSpPr>
          <p:cNvPr id="61" name="Shape 48"/>
          <p:cNvSpPr/>
          <p:nvPr/>
        </p:nvSpPr>
        <p:spPr>
          <a:xfrm>
            <a:off x="9958090" y="2726035"/>
            <a:ext cx="7405026" cy="2520818"/>
          </a:xfrm>
          <a:prstGeom prst="roundRect">
            <a:avLst>
              <a:gd name="adj" fmla="val 604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2" name="Text 49"/>
          <p:cNvSpPr/>
          <p:nvPr/>
        </p:nvSpPr>
        <p:spPr>
          <a:xfrm>
            <a:off x="10159174" y="2927119"/>
            <a:ext cx="770314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SLIPPED VALUE BY CAUSE (CHF K)</a:t>
            </a:r>
            <a:endParaRPr lang="en-US" sz="900" dirty="0"/>
          </a:p>
        </p:txBody>
      </p:sp>
      <p:sp>
        <p:nvSpPr>
          <p:cNvPr id="63" name="Text 50"/>
          <p:cNvSpPr/>
          <p:nvPr/>
        </p:nvSpPr>
        <p:spPr>
          <a:xfrm>
            <a:off x="10817160" y="3512344"/>
            <a:ext cx="353516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240</a:t>
            </a:r>
            <a:endParaRPr lang="en-US" sz="1125" dirty="0"/>
          </a:p>
        </p:txBody>
      </p:sp>
      <p:sp>
        <p:nvSpPr>
          <p:cNvPr id="64" name="Shape 51"/>
          <p:cNvSpPr/>
          <p:nvPr/>
        </p:nvSpPr>
        <p:spPr>
          <a:xfrm>
            <a:off x="10159174" y="3776927"/>
            <a:ext cx="1593453" cy="1004259"/>
          </a:xfrm>
          <a:custGeom>
            <a:avLst/>
            <a:gdLst/>
            <a:ahLst/>
            <a:cxnLst/>
            <a:rect l="l" t="t" r="r" b="b"/>
            <a:pathLst>
              <a:path w="1593453" h="1004259">
                <a:moveTo>
                  <a:pt x="76200" y="0"/>
                </a:moveTo>
                <a:lnTo>
                  <a:pt x="1517253" y="0"/>
                </a:lnTo>
                <a:arcTo wR="76200" hR="76200" stAng="16200000" swAng="5400000"/>
                <a:lnTo>
                  <a:pt x="1593453" y="1004259"/>
                </a:lnTo>
                <a:lnTo>
                  <a:pt x="0" y="1004259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52"/>
          <p:cNvSpPr/>
          <p:nvPr/>
        </p:nvSpPr>
        <p:spPr>
          <a:xfrm>
            <a:off x="10770691" y="4876436"/>
            <a:ext cx="4466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</a:t>
            </a:r>
            <a:endParaRPr lang="en-US" sz="1125" dirty="0"/>
          </a:p>
        </p:txBody>
      </p:sp>
      <p:sp>
        <p:nvSpPr>
          <p:cNvPr id="66" name="Text 53"/>
          <p:cNvSpPr/>
          <p:nvPr/>
        </p:nvSpPr>
        <p:spPr>
          <a:xfrm>
            <a:off x="12620295" y="3763367"/>
            <a:ext cx="353516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</a:t>
            </a:r>
            <a:endParaRPr lang="en-US" sz="1125" dirty="0"/>
          </a:p>
        </p:txBody>
      </p:sp>
      <p:sp>
        <p:nvSpPr>
          <p:cNvPr id="67" name="Shape 54"/>
          <p:cNvSpPr/>
          <p:nvPr/>
        </p:nvSpPr>
        <p:spPr>
          <a:xfrm>
            <a:off x="11962144" y="4027951"/>
            <a:ext cx="1593619" cy="753236"/>
          </a:xfrm>
          <a:custGeom>
            <a:avLst/>
            <a:gdLst/>
            <a:ahLst/>
            <a:cxnLst/>
            <a:rect l="l" t="t" r="r" b="b"/>
            <a:pathLst>
              <a:path w="1593619" h="753236">
                <a:moveTo>
                  <a:pt x="76200" y="0"/>
                </a:moveTo>
                <a:lnTo>
                  <a:pt x="1517419" y="0"/>
                </a:lnTo>
                <a:arcTo wR="76200" hR="76200" stAng="16200000" swAng="5400000"/>
                <a:lnTo>
                  <a:pt x="1593619" y="753236"/>
                </a:lnTo>
                <a:lnTo>
                  <a:pt x="0" y="753236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5"/>
          <p:cNvSpPr/>
          <p:nvPr/>
        </p:nvSpPr>
        <p:spPr>
          <a:xfrm>
            <a:off x="12473120" y="4876436"/>
            <a:ext cx="64770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</a:t>
            </a:r>
            <a:endParaRPr lang="en-US" sz="1125" dirty="0"/>
          </a:p>
        </p:txBody>
      </p:sp>
      <p:sp>
        <p:nvSpPr>
          <p:cNvPr id="69" name="Text 56"/>
          <p:cNvSpPr/>
          <p:nvPr/>
        </p:nvSpPr>
        <p:spPr>
          <a:xfrm>
            <a:off x="14423430" y="3236020"/>
            <a:ext cx="353516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310</a:t>
            </a:r>
            <a:endParaRPr lang="en-US" sz="1125" dirty="0"/>
          </a:p>
        </p:txBody>
      </p:sp>
      <p:sp>
        <p:nvSpPr>
          <p:cNvPr id="70" name="Shape 57"/>
          <p:cNvSpPr/>
          <p:nvPr/>
        </p:nvSpPr>
        <p:spPr>
          <a:xfrm>
            <a:off x="13765280" y="3500603"/>
            <a:ext cx="1593619" cy="1280583"/>
          </a:xfrm>
          <a:custGeom>
            <a:avLst/>
            <a:gdLst/>
            <a:ahLst/>
            <a:cxnLst/>
            <a:rect l="l" t="t" r="r" b="b"/>
            <a:pathLst>
              <a:path w="1593619" h="1280583">
                <a:moveTo>
                  <a:pt x="76200" y="0"/>
                </a:moveTo>
                <a:lnTo>
                  <a:pt x="1517419" y="0"/>
                </a:lnTo>
                <a:arcTo wR="76200" hR="76200" stAng="16200000" swAng="5400000"/>
                <a:lnTo>
                  <a:pt x="1593619" y="1280583"/>
                </a:lnTo>
                <a:lnTo>
                  <a:pt x="0" y="1280583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1" name="Text 58"/>
          <p:cNvSpPr/>
          <p:nvPr/>
        </p:nvSpPr>
        <p:spPr>
          <a:xfrm>
            <a:off x="14317432" y="4876436"/>
            <a:ext cx="565514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1125" dirty="0"/>
          </a:p>
        </p:txBody>
      </p:sp>
      <p:sp>
        <p:nvSpPr>
          <p:cNvPr id="72" name="Text 59"/>
          <p:cNvSpPr/>
          <p:nvPr/>
        </p:nvSpPr>
        <p:spPr>
          <a:xfrm>
            <a:off x="16272702" y="4119067"/>
            <a:ext cx="26107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</a:t>
            </a:r>
            <a:endParaRPr lang="en-US" sz="1125" dirty="0"/>
          </a:p>
        </p:txBody>
      </p:sp>
      <p:sp>
        <p:nvSpPr>
          <p:cNvPr id="73" name="Shape 60"/>
          <p:cNvSpPr/>
          <p:nvPr/>
        </p:nvSpPr>
        <p:spPr>
          <a:xfrm>
            <a:off x="15568415" y="4383650"/>
            <a:ext cx="1593619" cy="397536"/>
          </a:xfrm>
          <a:custGeom>
            <a:avLst/>
            <a:gdLst/>
            <a:ahLst/>
            <a:cxnLst/>
            <a:rect l="l" t="t" r="r" b="b"/>
            <a:pathLst>
              <a:path w="1593619" h="397536">
                <a:moveTo>
                  <a:pt x="76200" y="0"/>
                </a:moveTo>
                <a:lnTo>
                  <a:pt x="1517419" y="0"/>
                </a:lnTo>
                <a:arcTo wR="76200" hR="76200" stAng="16200000" swAng="5400000"/>
                <a:lnTo>
                  <a:pt x="1593619" y="397536"/>
                </a:lnTo>
                <a:lnTo>
                  <a:pt x="0" y="397536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61"/>
          <p:cNvSpPr/>
          <p:nvPr/>
        </p:nvSpPr>
        <p:spPr>
          <a:xfrm>
            <a:off x="16079722" y="4876436"/>
            <a:ext cx="647039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125" dirty="0"/>
          </a:p>
        </p:txBody>
      </p:sp>
      <p:sp>
        <p:nvSpPr>
          <p:cNvPr id="75" name="Shape 62"/>
          <p:cNvSpPr/>
          <p:nvPr/>
        </p:nvSpPr>
        <p:spPr>
          <a:xfrm>
            <a:off x="9958090" y="5380137"/>
            <a:ext cx="7405026" cy="3410479"/>
          </a:xfrm>
          <a:prstGeom prst="roundRect">
            <a:avLst>
              <a:gd name="adj" fmla="val 4469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Text 63"/>
          <p:cNvSpPr/>
          <p:nvPr/>
        </p:nvSpPr>
        <p:spPr>
          <a:xfrm>
            <a:off x="10159174" y="5581220"/>
            <a:ext cx="770314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GROUNDED IN</a:t>
            </a:r>
            <a:endParaRPr lang="en-US" sz="900" dirty="0"/>
          </a:p>
        </p:txBody>
      </p:sp>
      <p:sp>
        <p:nvSpPr>
          <p:cNvPr id="77" name="Text 64"/>
          <p:cNvSpPr/>
          <p:nvPr/>
        </p:nvSpPr>
        <p:spPr>
          <a:xfrm>
            <a:off x="10159174" y="5833071"/>
            <a:ext cx="7703146" cy="207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Salesforce · 4 opportunities, stage history</a:t>
            </a:r>
            <a:endParaRPr lang="en-US" sz="1125" dirty="0"/>
          </a:p>
        </p:txBody>
      </p:sp>
      <p:sp>
        <p:nvSpPr>
          <p:cNvPr id="78" name="Text 65"/>
          <p:cNvSpPr/>
          <p:nvPr/>
        </p:nvSpPr>
        <p:spPr>
          <a:xfrm>
            <a:off x="10159174" y="6088063"/>
            <a:ext cx="7703146" cy="207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Outlook · 11 threads, last customer reply</a:t>
            </a:r>
            <a:endParaRPr lang="en-US" sz="1125" dirty="0"/>
          </a:p>
        </p:txBody>
      </p:sp>
      <p:sp>
        <p:nvSpPr>
          <p:cNvPr id="79" name="Text 66"/>
          <p:cNvSpPr/>
          <p:nvPr/>
        </p:nvSpPr>
        <p:spPr>
          <a:xfrm>
            <a:off x="10159174" y="6343055"/>
            <a:ext cx="7703146" cy="207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SharePoint · 2 redline documents</a:t>
            </a:r>
            <a:endParaRPr lang="en-US" sz="1125" dirty="0"/>
          </a:p>
        </p:txBody>
      </p:sp>
      <p:sp>
        <p:nvSpPr>
          <p:cNvPr id="80" name="Text 67"/>
          <p:cNvSpPr/>
          <p:nvPr/>
        </p:nvSpPr>
        <p:spPr>
          <a:xfrm>
            <a:off x="10159174" y="6598047"/>
            <a:ext cx="7703146" cy="2074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ServiceNow · 1 open security questionnaire</a:t>
            </a:r>
            <a:endParaRPr lang="en-US" sz="1125" dirty="0"/>
          </a:p>
        </p:txBody>
      </p:sp>
      <p:sp>
        <p:nvSpPr>
          <p:cNvPr id="81" name="Text 68"/>
          <p:cNvSpPr/>
          <p:nvPr/>
        </p:nvSpPr>
        <p:spPr>
          <a:xfrm>
            <a:off x="10159174" y="6919681"/>
            <a:ext cx="721294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62"/>
              </a:lnSpc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 in another region asking the same question gets a different answer — the same query, filtered by what that person may see.</a:t>
            </a:r>
            <a:endParaRPr lang="en-US" sz="1125" dirty="0"/>
          </a:p>
        </p:txBody>
      </p:sp>
      <p:sp>
        <p:nvSpPr>
          <p:cNvPr id="82" name="Shape 69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Shape 70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71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question asked by two people returns two answers, each scoped to what that person may see.</a:t>
            </a:r>
            <a:endParaRPr lang="en-US" sz="20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247733" y="235975"/>
            <a:ext cx="1489951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PLANNING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 · 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and opportunity planning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2420700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2399533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2399533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237162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· Helvetia Logistik AG · FY27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1399739" y="2127085"/>
            <a:ext cx="1505645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1494989" y="2165185"/>
            <a:ext cx="1391345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refreshed nightly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48651" y="4459056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1703183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23"/>
          <p:cNvSpPr/>
          <p:nvPr/>
        </p:nvSpPr>
        <p:spPr>
          <a:xfrm>
            <a:off x="1621234" y="2726035"/>
            <a:ext cx="4232341" cy="6064581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5" name="Text 24"/>
          <p:cNvSpPr/>
          <p:nvPr/>
        </p:nvSpPr>
        <p:spPr>
          <a:xfrm>
            <a:off x="1822318" y="2927119"/>
            <a:ext cx="4213192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WHITESPACE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822318" y="3228578"/>
            <a:ext cx="22002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 tracking</a:t>
            </a:r>
            <a:endParaRPr lang="en-US" sz="1275" dirty="0"/>
          </a:p>
        </p:txBody>
      </p:sp>
      <p:sp>
        <p:nvSpPr>
          <p:cNvPr id="37" name="Shape 26"/>
          <p:cNvSpPr/>
          <p:nvPr/>
        </p:nvSpPr>
        <p:spPr>
          <a:xfrm>
            <a:off x="3955852" y="3281495"/>
            <a:ext cx="947374" cy="95250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Shape 27"/>
          <p:cNvSpPr/>
          <p:nvPr/>
        </p:nvSpPr>
        <p:spPr>
          <a:xfrm>
            <a:off x="3955852" y="3281495"/>
            <a:ext cx="909340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Shape 28"/>
          <p:cNvSpPr/>
          <p:nvPr/>
        </p:nvSpPr>
        <p:spPr>
          <a:xfrm>
            <a:off x="5036509" y="3217003"/>
            <a:ext cx="615983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Text 29"/>
          <p:cNvSpPr/>
          <p:nvPr/>
        </p:nvSpPr>
        <p:spPr>
          <a:xfrm>
            <a:off x="5131759" y="3255103"/>
            <a:ext cx="501683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</a:t>
            </a:r>
            <a:endParaRPr lang="en-US" sz="975" dirty="0"/>
          </a:p>
        </p:txBody>
      </p:sp>
      <p:sp>
        <p:nvSpPr>
          <p:cNvPr id="41" name="Text 30"/>
          <p:cNvSpPr/>
          <p:nvPr/>
        </p:nvSpPr>
        <p:spPr>
          <a:xfrm>
            <a:off x="1822318" y="3586097"/>
            <a:ext cx="22002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 module</a:t>
            </a:r>
            <a:endParaRPr lang="en-US" sz="1275" dirty="0"/>
          </a:p>
        </p:txBody>
      </p:sp>
      <p:sp>
        <p:nvSpPr>
          <p:cNvPr id="42" name="Shape 31"/>
          <p:cNvSpPr/>
          <p:nvPr/>
        </p:nvSpPr>
        <p:spPr>
          <a:xfrm>
            <a:off x="3955852" y="3639013"/>
            <a:ext cx="947374" cy="95250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3" name="Shape 32"/>
          <p:cNvSpPr/>
          <p:nvPr/>
        </p:nvSpPr>
        <p:spPr>
          <a:xfrm>
            <a:off x="3955852" y="3639013"/>
            <a:ext cx="700980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33"/>
          <p:cNvSpPr/>
          <p:nvPr/>
        </p:nvSpPr>
        <p:spPr>
          <a:xfrm>
            <a:off x="5036509" y="3574521"/>
            <a:ext cx="615983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4"/>
          <p:cNvSpPr/>
          <p:nvPr/>
        </p:nvSpPr>
        <p:spPr>
          <a:xfrm>
            <a:off x="5131759" y="3612621"/>
            <a:ext cx="501683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</a:t>
            </a:r>
            <a:endParaRPr lang="en-US" sz="975" dirty="0"/>
          </a:p>
        </p:txBody>
      </p:sp>
      <p:sp>
        <p:nvSpPr>
          <p:cNvPr id="46" name="Text 35"/>
          <p:cNvSpPr/>
          <p:nvPr/>
        </p:nvSpPr>
        <p:spPr>
          <a:xfrm>
            <a:off x="1822318" y="3943615"/>
            <a:ext cx="22002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optimisation</a:t>
            </a:r>
            <a:endParaRPr lang="en-US" sz="1275" dirty="0"/>
          </a:p>
        </p:txBody>
      </p:sp>
      <p:sp>
        <p:nvSpPr>
          <p:cNvPr id="47" name="Shape 36"/>
          <p:cNvSpPr/>
          <p:nvPr/>
        </p:nvSpPr>
        <p:spPr>
          <a:xfrm>
            <a:off x="3955852" y="3996531"/>
            <a:ext cx="659639" cy="95250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8" name="Shape 37"/>
          <p:cNvSpPr/>
          <p:nvPr/>
        </p:nvSpPr>
        <p:spPr>
          <a:xfrm>
            <a:off x="3955852" y="3996531"/>
            <a:ext cx="79044" cy="95250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9" name="Shape 38"/>
          <p:cNvSpPr/>
          <p:nvPr/>
        </p:nvSpPr>
        <p:spPr>
          <a:xfrm>
            <a:off x="4748775" y="3932039"/>
            <a:ext cx="903718" cy="224234"/>
          </a:xfrm>
          <a:prstGeom prst="roundRect">
            <a:avLst>
              <a:gd name="adj" fmla="val 16991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0" name="Text 39"/>
          <p:cNvSpPr/>
          <p:nvPr/>
        </p:nvSpPr>
        <p:spPr>
          <a:xfrm>
            <a:off x="4844025" y="3970139"/>
            <a:ext cx="789418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Whitespace</a:t>
            </a:r>
            <a:endParaRPr lang="en-US" sz="975" dirty="0"/>
          </a:p>
        </p:txBody>
      </p:sp>
      <p:sp>
        <p:nvSpPr>
          <p:cNvPr id="51" name="Text 40"/>
          <p:cNvSpPr/>
          <p:nvPr/>
        </p:nvSpPr>
        <p:spPr>
          <a:xfrm>
            <a:off x="1822318" y="4301133"/>
            <a:ext cx="22002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</a:t>
            </a:r>
            <a:endParaRPr lang="en-US" sz="1275" dirty="0"/>
          </a:p>
        </p:txBody>
      </p:sp>
      <p:sp>
        <p:nvSpPr>
          <p:cNvPr id="52" name="Shape 41"/>
          <p:cNvSpPr/>
          <p:nvPr/>
        </p:nvSpPr>
        <p:spPr>
          <a:xfrm>
            <a:off x="3955852" y="4354050"/>
            <a:ext cx="659639" cy="95250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3" name="Shape 42"/>
          <p:cNvSpPr/>
          <p:nvPr/>
        </p:nvSpPr>
        <p:spPr>
          <a:xfrm>
            <a:off x="3955852" y="4354050"/>
            <a:ext cx="79044" cy="95250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4" name="Shape 43"/>
          <p:cNvSpPr/>
          <p:nvPr/>
        </p:nvSpPr>
        <p:spPr>
          <a:xfrm>
            <a:off x="4748775" y="4289557"/>
            <a:ext cx="903718" cy="224234"/>
          </a:xfrm>
          <a:prstGeom prst="roundRect">
            <a:avLst>
              <a:gd name="adj" fmla="val 16991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4"/>
          <p:cNvSpPr/>
          <p:nvPr/>
        </p:nvSpPr>
        <p:spPr>
          <a:xfrm>
            <a:off x="4844025" y="4327657"/>
            <a:ext cx="789418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Whitespace</a:t>
            </a:r>
            <a:endParaRPr lang="en-US" sz="975" dirty="0"/>
          </a:p>
        </p:txBody>
      </p:sp>
      <p:sp>
        <p:nvSpPr>
          <p:cNvPr id="56" name="Text 45"/>
          <p:cNvSpPr/>
          <p:nvPr/>
        </p:nvSpPr>
        <p:spPr>
          <a:xfrm>
            <a:off x="1822318" y="4658651"/>
            <a:ext cx="22002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</a:t>
            </a:r>
            <a:endParaRPr lang="en-US" sz="1275" dirty="0"/>
          </a:p>
        </p:txBody>
      </p:sp>
      <p:sp>
        <p:nvSpPr>
          <p:cNvPr id="57" name="Shape 46"/>
          <p:cNvSpPr/>
          <p:nvPr/>
        </p:nvSpPr>
        <p:spPr>
          <a:xfrm>
            <a:off x="3955852" y="4711568"/>
            <a:ext cx="700980" cy="95250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Shape 47"/>
          <p:cNvSpPr/>
          <p:nvPr/>
        </p:nvSpPr>
        <p:spPr>
          <a:xfrm>
            <a:off x="3955852" y="4711568"/>
            <a:ext cx="84005" cy="95250"/>
          </a:xfrm>
          <a:prstGeom prst="ellipse">
            <a:avLst/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Shape 48"/>
          <p:cNvSpPr/>
          <p:nvPr/>
        </p:nvSpPr>
        <p:spPr>
          <a:xfrm>
            <a:off x="4790116" y="4647076"/>
            <a:ext cx="862376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9"/>
          <p:cNvSpPr/>
          <p:nvPr/>
        </p:nvSpPr>
        <p:spPr>
          <a:xfrm>
            <a:off x="4885366" y="4685176"/>
            <a:ext cx="74807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</a:t>
            </a:r>
            <a:endParaRPr lang="en-US" sz="975" dirty="0"/>
          </a:p>
        </p:txBody>
      </p:sp>
      <p:sp>
        <p:nvSpPr>
          <p:cNvPr id="61" name="Shape 50"/>
          <p:cNvSpPr/>
          <p:nvPr/>
        </p:nvSpPr>
        <p:spPr>
          <a:xfrm>
            <a:off x="6005876" y="2726035"/>
            <a:ext cx="3115138" cy="6064581"/>
          </a:xfrm>
          <a:prstGeom prst="roundRect">
            <a:avLst>
              <a:gd name="adj" fmla="val 489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2" name="Text 51"/>
          <p:cNvSpPr/>
          <p:nvPr/>
        </p:nvSpPr>
        <p:spPr>
          <a:xfrm>
            <a:off x="6206960" y="2927119"/>
            <a:ext cx="2984269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MAP</a:t>
            </a:r>
            <a:endParaRPr lang="en-US" sz="900" dirty="0"/>
          </a:p>
        </p:txBody>
      </p:sp>
      <p:sp>
        <p:nvSpPr>
          <p:cNvPr id="63" name="Shape 52"/>
          <p:cNvSpPr/>
          <p:nvPr/>
        </p:nvSpPr>
        <p:spPr>
          <a:xfrm>
            <a:off x="6206960" y="3217003"/>
            <a:ext cx="2712972" cy="452768"/>
          </a:xfrm>
          <a:prstGeom prst="roundRect">
            <a:avLst>
              <a:gd name="adj" fmla="val 1683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53"/>
          <p:cNvSpPr/>
          <p:nvPr/>
        </p:nvSpPr>
        <p:spPr>
          <a:xfrm>
            <a:off x="6340244" y="3342845"/>
            <a:ext cx="1041929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Ops</a:t>
            </a:r>
            <a:endParaRPr lang="en-US" sz="1275" dirty="0"/>
          </a:p>
        </p:txBody>
      </p:sp>
      <p:sp>
        <p:nvSpPr>
          <p:cNvPr id="65" name="Shape 54"/>
          <p:cNvSpPr/>
          <p:nvPr/>
        </p:nvSpPr>
        <p:spPr>
          <a:xfrm>
            <a:off x="7985621" y="3331270"/>
            <a:ext cx="801026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5"/>
          <p:cNvSpPr/>
          <p:nvPr/>
        </p:nvSpPr>
        <p:spPr>
          <a:xfrm>
            <a:off x="8080871" y="3369370"/>
            <a:ext cx="68672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</a:t>
            </a:r>
            <a:endParaRPr lang="en-US" sz="975" dirty="0"/>
          </a:p>
        </p:txBody>
      </p:sp>
      <p:sp>
        <p:nvSpPr>
          <p:cNvPr id="67" name="Shape 56"/>
          <p:cNvSpPr/>
          <p:nvPr/>
        </p:nvSpPr>
        <p:spPr>
          <a:xfrm>
            <a:off x="6206960" y="3784038"/>
            <a:ext cx="2712972" cy="452768"/>
          </a:xfrm>
          <a:prstGeom prst="roundRect">
            <a:avLst>
              <a:gd name="adj" fmla="val 1683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7"/>
          <p:cNvSpPr/>
          <p:nvPr/>
        </p:nvSpPr>
        <p:spPr>
          <a:xfrm>
            <a:off x="6340244" y="3909881"/>
            <a:ext cx="850437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CIO (new)</a:t>
            </a:r>
            <a:endParaRPr lang="en-US" sz="1275" dirty="0"/>
          </a:p>
        </p:txBody>
      </p:sp>
      <p:sp>
        <p:nvSpPr>
          <p:cNvPr id="69" name="Shape 58"/>
          <p:cNvSpPr/>
          <p:nvPr/>
        </p:nvSpPr>
        <p:spPr>
          <a:xfrm>
            <a:off x="7941634" y="3898305"/>
            <a:ext cx="845013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9"/>
          <p:cNvSpPr/>
          <p:nvPr/>
        </p:nvSpPr>
        <p:spPr>
          <a:xfrm>
            <a:off x="8036884" y="3936405"/>
            <a:ext cx="730713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Unmapped</a:t>
            </a:r>
            <a:endParaRPr lang="en-US" sz="975" dirty="0"/>
          </a:p>
        </p:txBody>
      </p:sp>
      <p:sp>
        <p:nvSpPr>
          <p:cNvPr id="71" name="Shape 60"/>
          <p:cNvSpPr/>
          <p:nvPr/>
        </p:nvSpPr>
        <p:spPr>
          <a:xfrm>
            <a:off x="6206960" y="4351073"/>
            <a:ext cx="2712972" cy="452768"/>
          </a:xfrm>
          <a:prstGeom prst="roundRect">
            <a:avLst>
              <a:gd name="adj" fmla="val 1683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61"/>
          <p:cNvSpPr/>
          <p:nvPr/>
        </p:nvSpPr>
        <p:spPr>
          <a:xfrm>
            <a:off x="6340244" y="4476916"/>
            <a:ext cx="414371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</a:t>
            </a:r>
            <a:endParaRPr lang="en-US" sz="1275" dirty="0"/>
          </a:p>
        </p:txBody>
      </p:sp>
      <p:sp>
        <p:nvSpPr>
          <p:cNvPr id="73" name="Shape 62"/>
          <p:cNvSpPr/>
          <p:nvPr/>
        </p:nvSpPr>
        <p:spPr>
          <a:xfrm>
            <a:off x="8157766" y="4465340"/>
            <a:ext cx="628882" cy="224234"/>
          </a:xfrm>
          <a:prstGeom prst="roundRect">
            <a:avLst>
              <a:gd name="adj" fmla="val 16991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63"/>
          <p:cNvSpPr/>
          <p:nvPr/>
        </p:nvSpPr>
        <p:spPr>
          <a:xfrm>
            <a:off x="8253016" y="4503440"/>
            <a:ext cx="514582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</a:t>
            </a:r>
            <a:endParaRPr lang="en-US" sz="975" dirty="0"/>
          </a:p>
        </p:txBody>
      </p:sp>
      <p:sp>
        <p:nvSpPr>
          <p:cNvPr id="75" name="Shape 64"/>
          <p:cNvSpPr/>
          <p:nvPr/>
        </p:nvSpPr>
        <p:spPr>
          <a:xfrm>
            <a:off x="6206960" y="4918109"/>
            <a:ext cx="2712972" cy="452768"/>
          </a:xfrm>
          <a:prstGeom prst="roundRect">
            <a:avLst>
              <a:gd name="adj" fmla="val 1683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6" name="Text 65"/>
          <p:cNvSpPr/>
          <p:nvPr/>
        </p:nvSpPr>
        <p:spPr>
          <a:xfrm>
            <a:off x="6340244" y="5043951"/>
            <a:ext cx="1223665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Architecture</a:t>
            </a:r>
            <a:endParaRPr lang="en-US" sz="1275" dirty="0"/>
          </a:p>
        </p:txBody>
      </p:sp>
      <p:sp>
        <p:nvSpPr>
          <p:cNvPr id="77" name="Shape 66"/>
          <p:cNvSpPr/>
          <p:nvPr/>
        </p:nvSpPr>
        <p:spPr>
          <a:xfrm>
            <a:off x="7993559" y="5032375"/>
            <a:ext cx="793089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Text 67"/>
          <p:cNvSpPr/>
          <p:nvPr/>
        </p:nvSpPr>
        <p:spPr>
          <a:xfrm>
            <a:off x="8088809" y="5070475"/>
            <a:ext cx="678789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Supporter</a:t>
            </a:r>
            <a:endParaRPr lang="en-US" sz="975" dirty="0"/>
          </a:p>
        </p:txBody>
      </p:sp>
      <p:sp>
        <p:nvSpPr>
          <p:cNvPr id="79" name="Shape 68"/>
          <p:cNvSpPr/>
          <p:nvPr/>
        </p:nvSpPr>
        <p:spPr>
          <a:xfrm>
            <a:off x="9273315" y="2726035"/>
            <a:ext cx="3594034" cy="6064581"/>
          </a:xfrm>
          <a:prstGeom prst="roundRect">
            <a:avLst>
              <a:gd name="adj" fmla="val 4240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0" name="Shape 69"/>
          <p:cNvSpPr/>
          <p:nvPr/>
        </p:nvSpPr>
        <p:spPr>
          <a:xfrm>
            <a:off x="9474399" y="2927119"/>
            <a:ext cx="1719130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Text 70"/>
          <p:cNvSpPr/>
          <p:nvPr/>
        </p:nvSpPr>
        <p:spPr>
          <a:xfrm>
            <a:off x="9569649" y="2965219"/>
            <a:ext cx="1604830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 · next best actions</a:t>
            </a:r>
            <a:endParaRPr lang="en-US" sz="975" dirty="0"/>
          </a:p>
        </p:txBody>
      </p:sp>
      <p:sp>
        <p:nvSpPr>
          <p:cNvPr id="82" name="Text 71"/>
          <p:cNvSpPr/>
          <p:nvPr/>
        </p:nvSpPr>
        <p:spPr>
          <a:xfrm>
            <a:off x="9474399" y="3303654"/>
            <a:ext cx="351105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. Brief the new CIO</a:t>
            </a:r>
            <a:endParaRPr lang="en-US" sz="1425" dirty="0"/>
          </a:p>
        </p:txBody>
      </p:sp>
      <p:sp>
        <p:nvSpPr>
          <p:cNvPr id="83" name="Text 72"/>
          <p:cNvSpPr/>
          <p:nvPr/>
        </p:nvSpPr>
        <p:spPr>
          <a:xfrm>
            <a:off x="9474399" y="3573529"/>
            <a:ext cx="3287623" cy="479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824"/>
              </a:lnSpc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contact in 4 months. Architecture review is the opening.</a:t>
            </a:r>
            <a:endParaRPr lang="en-US" sz="1200" dirty="0"/>
          </a:p>
        </p:txBody>
      </p:sp>
      <p:sp>
        <p:nvSpPr>
          <p:cNvPr id="84" name="Text 73"/>
          <p:cNvSpPr/>
          <p:nvPr/>
        </p:nvSpPr>
        <p:spPr>
          <a:xfrm>
            <a:off x="9474399" y="4148667"/>
            <a:ext cx="351105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. Attach route optimisation</a:t>
            </a:r>
            <a:endParaRPr lang="en-US" sz="1425" dirty="0"/>
          </a:p>
        </p:txBody>
      </p:sp>
      <p:sp>
        <p:nvSpPr>
          <p:cNvPr id="85" name="Text 74"/>
          <p:cNvSpPr/>
          <p:nvPr/>
        </p:nvSpPr>
        <p:spPr>
          <a:xfrm>
            <a:off x="9474399" y="4418542"/>
            <a:ext cx="3287623" cy="479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824"/>
              </a:lnSpc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depots added in D365 — the business case writes itself.</a:t>
            </a:r>
            <a:endParaRPr lang="en-US" sz="1200" dirty="0"/>
          </a:p>
        </p:txBody>
      </p:sp>
      <p:sp>
        <p:nvSpPr>
          <p:cNvPr id="86" name="Text 75"/>
          <p:cNvSpPr/>
          <p:nvPr/>
        </p:nvSpPr>
        <p:spPr>
          <a:xfrm>
            <a:off x="9474399" y="4993680"/>
            <a:ext cx="351105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. Pull the renewal forward</a:t>
            </a:r>
            <a:endParaRPr lang="en-US" sz="1425" dirty="0"/>
          </a:p>
        </p:txBody>
      </p:sp>
      <p:sp>
        <p:nvSpPr>
          <p:cNvPr id="87" name="Text 76"/>
          <p:cNvSpPr/>
          <p:nvPr/>
        </p:nvSpPr>
        <p:spPr>
          <a:xfrm>
            <a:off x="9474399" y="5263555"/>
            <a:ext cx="3287623" cy="479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824"/>
              </a:lnSpc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at 96% gives leverage before the Nov cycle.</a:t>
            </a:r>
            <a:endParaRPr lang="en-US" sz="1200" dirty="0"/>
          </a:p>
        </p:txBody>
      </p:sp>
      <p:sp>
        <p:nvSpPr>
          <p:cNvPr id="88" name="Text 77"/>
          <p:cNvSpPr/>
          <p:nvPr/>
        </p:nvSpPr>
        <p:spPr>
          <a:xfrm>
            <a:off x="9474399" y="5895909"/>
            <a:ext cx="3287623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value CHF 1.9 M · confidence stated, not implied.</a:t>
            </a:r>
            <a:endParaRPr lang="en-US" sz="1125" dirty="0"/>
          </a:p>
        </p:txBody>
      </p:sp>
      <p:sp>
        <p:nvSpPr>
          <p:cNvPr id="89" name="Shape 78"/>
          <p:cNvSpPr/>
          <p:nvPr/>
        </p:nvSpPr>
        <p:spPr>
          <a:xfrm>
            <a:off x="13296966" y="1981068"/>
            <a:ext cx="4305267" cy="7048666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9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17067" y="2201168"/>
            <a:ext cx="161892" cy="161892"/>
          </a:xfrm>
          <a:prstGeom prst="rect">
            <a:avLst/>
          </a:prstGeom>
        </p:spPr>
      </p:pic>
      <p:sp>
        <p:nvSpPr>
          <p:cNvPr id="91" name="Text 79"/>
          <p:cNvSpPr/>
          <p:nvPr/>
        </p:nvSpPr>
        <p:spPr>
          <a:xfrm>
            <a:off x="13764618" y="2213240"/>
            <a:ext cx="82083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900" dirty="0"/>
          </a:p>
        </p:txBody>
      </p:sp>
      <p:pic>
        <p:nvPicPr>
          <p:cNvPr id="92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29833" y="2205964"/>
            <a:ext cx="152301" cy="152301"/>
          </a:xfrm>
          <a:prstGeom prst="rect">
            <a:avLst/>
          </a:prstGeom>
        </p:spPr>
      </p:pic>
      <p:sp>
        <p:nvSpPr>
          <p:cNvPr id="93" name="Shape 80"/>
          <p:cNvSpPr/>
          <p:nvPr/>
        </p:nvSpPr>
        <p:spPr>
          <a:xfrm>
            <a:off x="13559732" y="2477327"/>
            <a:ext cx="3822402" cy="635992"/>
          </a:xfrm>
          <a:prstGeom prst="roundRect">
            <a:avLst>
              <a:gd name="adj" fmla="val 17972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81"/>
          <p:cNvSpPr/>
          <p:nvPr/>
        </p:nvSpPr>
        <p:spPr>
          <a:xfrm>
            <a:off x="13693015" y="2582003"/>
            <a:ext cx="366251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8"/>
              </a:lnSpc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realistic upside on this account next year?</a:t>
            </a:r>
            <a:endParaRPr lang="en-US" sz="1200" dirty="0"/>
          </a:p>
        </p:txBody>
      </p:sp>
      <p:sp>
        <p:nvSpPr>
          <p:cNvPr id="95" name="Text 82"/>
          <p:cNvSpPr/>
          <p:nvPr/>
        </p:nvSpPr>
        <p:spPr>
          <a:xfrm>
            <a:off x="13517067" y="3227586"/>
            <a:ext cx="3981019" cy="1009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optimisation and predictive maintenance together are worth CHF 1.9 M over three years, with the strongest case on route optimisation given the two new depots.</a:t>
            </a:r>
            <a:endParaRPr lang="en-US" sz="1275" dirty="0"/>
          </a:p>
        </p:txBody>
      </p:sp>
      <p:sp>
        <p:nvSpPr>
          <p:cNvPr id="96" name="Shape 83"/>
          <p:cNvSpPr/>
          <p:nvPr/>
        </p:nvSpPr>
        <p:spPr>
          <a:xfrm>
            <a:off x="13517067" y="4312874"/>
            <a:ext cx="3865067" cy="1197736"/>
          </a:xfrm>
          <a:prstGeom prst="roundRect">
            <a:avLst>
              <a:gd name="adj" fmla="val 954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84"/>
          <p:cNvSpPr/>
          <p:nvPr/>
        </p:nvSpPr>
        <p:spPr>
          <a:xfrm>
            <a:off x="13650351" y="4446158"/>
            <a:ext cx="3958349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WHITESPACE VALUE (CHF K)</a:t>
            </a:r>
            <a:endParaRPr lang="en-US" sz="900" dirty="0"/>
          </a:p>
        </p:txBody>
      </p:sp>
      <p:sp>
        <p:nvSpPr>
          <p:cNvPr id="98" name="Text 85"/>
          <p:cNvSpPr/>
          <p:nvPr/>
        </p:nvSpPr>
        <p:spPr>
          <a:xfrm>
            <a:off x="13650351" y="4703300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optimisation</a:t>
            </a:r>
            <a:endParaRPr lang="en-US" sz="1050" dirty="0"/>
          </a:p>
        </p:txBody>
      </p:sp>
      <p:sp>
        <p:nvSpPr>
          <p:cNvPr id="99" name="Shape 86"/>
          <p:cNvSpPr/>
          <p:nvPr/>
        </p:nvSpPr>
        <p:spPr>
          <a:xfrm>
            <a:off x="15212385" y="4744641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Shape 87"/>
          <p:cNvSpPr/>
          <p:nvPr/>
        </p:nvSpPr>
        <p:spPr>
          <a:xfrm>
            <a:off x="15212385" y="4744641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8"/>
          <p:cNvSpPr/>
          <p:nvPr/>
        </p:nvSpPr>
        <p:spPr>
          <a:xfrm>
            <a:off x="16582133" y="4698008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</a:t>
            </a:r>
            <a:endParaRPr lang="en-US" sz="1125" dirty="0"/>
          </a:p>
        </p:txBody>
      </p:sp>
      <p:sp>
        <p:nvSpPr>
          <p:cNvPr id="102" name="Text 89"/>
          <p:cNvSpPr/>
          <p:nvPr/>
        </p:nvSpPr>
        <p:spPr>
          <a:xfrm>
            <a:off x="13650351" y="4958292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maint.</a:t>
            </a:r>
            <a:endParaRPr lang="en-US" sz="1050" dirty="0"/>
          </a:p>
        </p:txBody>
      </p:sp>
      <p:sp>
        <p:nvSpPr>
          <p:cNvPr id="103" name="Shape 90"/>
          <p:cNvSpPr/>
          <p:nvPr/>
        </p:nvSpPr>
        <p:spPr>
          <a:xfrm>
            <a:off x="15212385" y="4999633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4" name="Shape 91"/>
          <p:cNvSpPr/>
          <p:nvPr/>
        </p:nvSpPr>
        <p:spPr>
          <a:xfrm>
            <a:off x="15212385" y="4999633"/>
            <a:ext cx="769772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5" name="Text 92"/>
          <p:cNvSpPr/>
          <p:nvPr/>
        </p:nvSpPr>
        <p:spPr>
          <a:xfrm>
            <a:off x="16582133" y="4953000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125" dirty="0"/>
          </a:p>
        </p:txBody>
      </p:sp>
      <p:sp>
        <p:nvSpPr>
          <p:cNvPr id="106" name="Text 93"/>
          <p:cNvSpPr/>
          <p:nvPr/>
        </p:nvSpPr>
        <p:spPr>
          <a:xfrm>
            <a:off x="13650351" y="5213284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</a:t>
            </a:r>
            <a:endParaRPr lang="en-US" sz="1050" dirty="0"/>
          </a:p>
        </p:txBody>
      </p:sp>
      <p:sp>
        <p:nvSpPr>
          <p:cNvPr id="107" name="Shape 94"/>
          <p:cNvSpPr/>
          <p:nvPr/>
        </p:nvSpPr>
        <p:spPr>
          <a:xfrm>
            <a:off x="15212385" y="5254625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8" name="Shape 95"/>
          <p:cNvSpPr/>
          <p:nvPr/>
        </p:nvSpPr>
        <p:spPr>
          <a:xfrm>
            <a:off x="15212385" y="5254625"/>
            <a:ext cx="426475" cy="76068"/>
          </a:xfrm>
          <a:prstGeom prst="roundRect">
            <a:avLst>
              <a:gd name="adj" fmla="val 50000"/>
            </a:avLst>
          </a:prstGeom>
          <a:solidFill>
            <a:srgbClr val="B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9" name="Text 96"/>
          <p:cNvSpPr/>
          <p:nvPr/>
        </p:nvSpPr>
        <p:spPr>
          <a:xfrm>
            <a:off x="16582133" y="5207993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1125" dirty="0"/>
          </a:p>
        </p:txBody>
      </p:sp>
      <p:sp>
        <p:nvSpPr>
          <p:cNvPr id="110" name="Shape 97"/>
          <p:cNvSpPr/>
          <p:nvPr/>
        </p:nvSpPr>
        <p:spPr>
          <a:xfrm>
            <a:off x="13517067" y="5624876"/>
            <a:ext cx="3865067" cy="2124604"/>
          </a:xfrm>
          <a:prstGeom prst="roundRect">
            <a:avLst>
              <a:gd name="adj" fmla="val 538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1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60935" y="5768744"/>
            <a:ext cx="142875" cy="142875"/>
          </a:xfrm>
          <a:prstGeom prst="rect">
            <a:avLst/>
          </a:prstGeom>
        </p:spPr>
      </p:pic>
      <p:sp>
        <p:nvSpPr>
          <p:cNvPr id="112" name="Text 98"/>
          <p:cNvSpPr/>
          <p:nvPr/>
        </p:nvSpPr>
        <p:spPr>
          <a:xfrm>
            <a:off x="13879877" y="5771390"/>
            <a:ext cx="1779174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ACCOUNT PLAN</a:t>
            </a:r>
            <a:endParaRPr lang="en-US" sz="900" dirty="0"/>
          </a:p>
        </p:txBody>
      </p:sp>
      <p:sp>
        <p:nvSpPr>
          <p:cNvPr id="113" name="Text 99"/>
          <p:cNvSpPr/>
          <p:nvPr/>
        </p:nvSpPr>
        <p:spPr>
          <a:xfrm>
            <a:off x="13660935" y="6098811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</a:t>
            </a:r>
            <a:endParaRPr lang="en-US" sz="1050" dirty="0"/>
          </a:p>
        </p:txBody>
      </p:sp>
      <p:sp>
        <p:nvSpPr>
          <p:cNvPr id="114" name="Shape 100"/>
          <p:cNvSpPr/>
          <p:nvPr/>
        </p:nvSpPr>
        <p:spPr>
          <a:xfrm>
            <a:off x="14841968" y="6006869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5" name="Text 101"/>
          <p:cNvSpPr/>
          <p:nvPr/>
        </p:nvSpPr>
        <p:spPr>
          <a:xfrm>
            <a:off x="14957327" y="6093652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route optimisation</a:t>
            </a:r>
            <a:endParaRPr lang="en-US" sz="1125" dirty="0"/>
          </a:p>
        </p:txBody>
      </p:sp>
      <p:sp>
        <p:nvSpPr>
          <p:cNvPr id="116" name="Text 102"/>
          <p:cNvSpPr/>
          <p:nvPr/>
        </p:nvSpPr>
        <p:spPr>
          <a:xfrm>
            <a:off x="13660935" y="6517514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quarter</a:t>
            </a:r>
            <a:endParaRPr lang="en-US" sz="1050" dirty="0"/>
          </a:p>
        </p:txBody>
      </p:sp>
      <p:sp>
        <p:nvSpPr>
          <p:cNvPr id="117" name="Shape 103"/>
          <p:cNvSpPr/>
          <p:nvPr/>
        </p:nvSpPr>
        <p:spPr>
          <a:xfrm>
            <a:off x="14841968" y="6425572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Text 104"/>
          <p:cNvSpPr/>
          <p:nvPr/>
        </p:nvSpPr>
        <p:spPr>
          <a:xfrm>
            <a:off x="14957327" y="6512355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FY27</a:t>
            </a:r>
            <a:endParaRPr lang="en-US" sz="1125" dirty="0"/>
          </a:p>
        </p:txBody>
      </p:sp>
      <p:sp>
        <p:nvSpPr>
          <p:cNvPr id="119" name="Text 105"/>
          <p:cNvSpPr/>
          <p:nvPr/>
        </p:nvSpPr>
        <p:spPr>
          <a:xfrm>
            <a:off x="13660935" y="6936218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1050" dirty="0"/>
          </a:p>
        </p:txBody>
      </p:sp>
      <p:sp>
        <p:nvSpPr>
          <p:cNvPr id="120" name="Shape 106"/>
          <p:cNvSpPr/>
          <p:nvPr/>
        </p:nvSpPr>
        <p:spPr>
          <a:xfrm>
            <a:off x="14841968" y="6844275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1" name="Text 107"/>
          <p:cNvSpPr/>
          <p:nvPr/>
        </p:nvSpPr>
        <p:spPr>
          <a:xfrm>
            <a:off x="14957327" y="6931059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 · M. Frei</a:t>
            </a:r>
            <a:endParaRPr lang="en-US" sz="1125" dirty="0"/>
          </a:p>
        </p:txBody>
      </p:sp>
      <p:sp>
        <p:nvSpPr>
          <p:cNvPr id="122" name="Text 108"/>
          <p:cNvSpPr/>
          <p:nvPr/>
        </p:nvSpPr>
        <p:spPr>
          <a:xfrm>
            <a:off x="13660935" y="7354921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123" name="Shape 109"/>
          <p:cNvSpPr/>
          <p:nvPr/>
        </p:nvSpPr>
        <p:spPr>
          <a:xfrm>
            <a:off x="14841968" y="7262978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4" name="Text 110"/>
          <p:cNvSpPr/>
          <p:nvPr/>
        </p:nvSpPr>
        <p:spPr>
          <a:xfrm>
            <a:off x="14957327" y="7349762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· 0.68</a:t>
            </a:r>
            <a:endParaRPr lang="en-US" sz="1125" dirty="0"/>
          </a:p>
        </p:txBody>
      </p:sp>
      <p:sp>
        <p:nvSpPr>
          <p:cNvPr id="125" name="Shape 111"/>
          <p:cNvSpPr/>
          <p:nvPr/>
        </p:nvSpPr>
        <p:spPr>
          <a:xfrm>
            <a:off x="13517067" y="7882765"/>
            <a:ext cx="386506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Shape 112"/>
          <p:cNvSpPr/>
          <p:nvPr/>
        </p:nvSpPr>
        <p:spPr>
          <a:xfrm>
            <a:off x="13517067" y="8037215"/>
            <a:ext cx="1542190" cy="359833"/>
          </a:xfrm>
          <a:prstGeom prst="roundRect">
            <a:avLst>
              <a:gd name="adj" fmla="val 21176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7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50351" y="8145695"/>
            <a:ext cx="142875" cy="142875"/>
          </a:xfrm>
          <a:prstGeom prst="rect">
            <a:avLst/>
          </a:prstGeom>
        </p:spPr>
      </p:pic>
      <p:sp>
        <p:nvSpPr>
          <p:cNvPr id="128" name="Text 113"/>
          <p:cNvSpPr/>
          <p:nvPr/>
        </p:nvSpPr>
        <p:spPr>
          <a:xfrm>
            <a:off x="13859868" y="8132465"/>
            <a:ext cx="1142306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&amp; save</a:t>
            </a:r>
            <a:endParaRPr lang="en-US" sz="1125" dirty="0"/>
          </a:p>
        </p:txBody>
      </p:sp>
      <p:sp>
        <p:nvSpPr>
          <p:cNvPr id="129" name="Shape 114"/>
          <p:cNvSpPr/>
          <p:nvPr/>
        </p:nvSpPr>
        <p:spPr>
          <a:xfrm>
            <a:off x="15154508" y="8026632"/>
            <a:ext cx="756378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30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298374" y="8145695"/>
            <a:ext cx="142875" cy="142875"/>
          </a:xfrm>
          <a:prstGeom prst="rect">
            <a:avLst/>
          </a:prstGeom>
        </p:spPr>
      </p:pic>
      <p:sp>
        <p:nvSpPr>
          <p:cNvPr id="131" name="Text 115"/>
          <p:cNvSpPr/>
          <p:nvPr/>
        </p:nvSpPr>
        <p:spPr>
          <a:xfrm>
            <a:off x="15507892" y="8132465"/>
            <a:ext cx="335326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25" dirty="0"/>
          </a:p>
        </p:txBody>
      </p:sp>
      <p:sp>
        <p:nvSpPr>
          <p:cNvPr id="132" name="Shape 116"/>
          <p:cNvSpPr/>
          <p:nvPr/>
        </p:nvSpPr>
        <p:spPr>
          <a:xfrm>
            <a:off x="16006135" y="8026632"/>
            <a:ext cx="922900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33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150003" y="8145695"/>
            <a:ext cx="142875" cy="142875"/>
          </a:xfrm>
          <a:prstGeom prst="rect">
            <a:avLst/>
          </a:prstGeom>
        </p:spPr>
      </p:pic>
      <p:sp>
        <p:nvSpPr>
          <p:cNvPr id="134" name="Text 117"/>
          <p:cNvSpPr/>
          <p:nvPr/>
        </p:nvSpPr>
        <p:spPr>
          <a:xfrm>
            <a:off x="16359519" y="8132465"/>
            <a:ext cx="501848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25" dirty="0"/>
          </a:p>
        </p:txBody>
      </p:sp>
      <p:pic>
        <p:nvPicPr>
          <p:cNvPr id="135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517067" y="8548522"/>
            <a:ext cx="133284" cy="133284"/>
          </a:xfrm>
          <a:prstGeom prst="rect">
            <a:avLst/>
          </a:prstGeom>
        </p:spPr>
      </p:pic>
      <p:sp>
        <p:nvSpPr>
          <p:cNvPr id="136" name="Text 118"/>
          <p:cNvSpPr/>
          <p:nvPr/>
        </p:nvSpPr>
        <p:spPr>
          <a:xfrm>
            <a:off x="13726419" y="8521899"/>
            <a:ext cx="2305414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Updates the plan · audit id issued</a:t>
            </a:r>
            <a:endParaRPr lang="en-US" sz="1050" dirty="0"/>
          </a:p>
        </p:txBody>
      </p:sp>
      <p:sp>
        <p:nvSpPr>
          <p:cNvPr id="137" name="Shape 119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8" name="Shape 120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9" name="Text 121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Whitespace, stakeholders and next best actions, each traceable to a system of record.</a:t>
            </a:r>
            <a:endParaRPr lang="en-US" sz="20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931184" y="235975"/>
            <a:ext cx="747250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RISK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 · 06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risk and win probability, with the reason attached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2420700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2399533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2399533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342828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· OPP-40218 · CHF 640 k · closes 30 Sep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1274392" y="2127085"/>
            <a:ext cx="1630991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1369642" y="2165185"/>
            <a:ext cx="151669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Recalculated 12 min ago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48651" y="400198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1703183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23"/>
          <p:cNvSpPr/>
          <p:nvPr/>
        </p:nvSpPr>
        <p:spPr>
          <a:xfrm>
            <a:off x="1621234" y="2726035"/>
            <a:ext cx="2858162" cy="6064581"/>
          </a:xfrm>
          <a:prstGeom prst="roundRect">
            <a:avLst>
              <a:gd name="adj" fmla="val 533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07315" y="4387784"/>
            <a:ext cx="2286000" cy="22860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784218" y="6769034"/>
            <a:ext cx="2532195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 commit says 85%. The gap is the conversation.</a:t>
            </a:r>
            <a:endParaRPr lang="en-US" sz="1200" dirty="0"/>
          </a:p>
        </p:txBody>
      </p:sp>
      <p:sp>
        <p:nvSpPr>
          <p:cNvPr id="37" name="Shape 25"/>
          <p:cNvSpPr/>
          <p:nvPr/>
        </p:nvSpPr>
        <p:spPr>
          <a:xfrm>
            <a:off x="4669896" y="2726035"/>
            <a:ext cx="5148792" cy="6064581"/>
          </a:xfrm>
          <a:prstGeom prst="roundRect">
            <a:avLst>
              <a:gd name="adj" fmla="val 296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8" name="Text 26"/>
          <p:cNvSpPr/>
          <p:nvPr/>
        </p:nvSpPr>
        <p:spPr>
          <a:xfrm>
            <a:off x="4870979" y="2927119"/>
            <a:ext cx="5221288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 DRIVING THE SCORE</a:t>
            </a:r>
            <a:endParaRPr lang="en-US" sz="900" dirty="0"/>
          </a:p>
        </p:txBody>
      </p:sp>
      <p:sp>
        <p:nvSpPr>
          <p:cNvPr id="39" name="Shape 27"/>
          <p:cNvSpPr/>
          <p:nvPr/>
        </p:nvSpPr>
        <p:spPr>
          <a:xfrm>
            <a:off x="4870979" y="3217003"/>
            <a:ext cx="4746625" cy="490802"/>
          </a:xfrm>
          <a:prstGeom prst="roundRect">
            <a:avLst>
              <a:gd name="adj" fmla="val 15526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Text 28"/>
          <p:cNvSpPr/>
          <p:nvPr/>
        </p:nvSpPr>
        <p:spPr>
          <a:xfrm>
            <a:off x="5023280" y="3356570"/>
            <a:ext cx="2822558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Single-threaded on one contact</a:t>
            </a:r>
            <a:endParaRPr lang="en-US" sz="1350" dirty="0"/>
          </a:p>
        </p:txBody>
      </p:sp>
      <p:sp>
        <p:nvSpPr>
          <p:cNvPr id="41" name="Shape 29"/>
          <p:cNvSpPr/>
          <p:nvPr/>
        </p:nvSpPr>
        <p:spPr>
          <a:xfrm>
            <a:off x="8710083" y="3350286"/>
            <a:ext cx="755220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2" name="Text 30"/>
          <p:cNvSpPr/>
          <p:nvPr/>
        </p:nvSpPr>
        <p:spPr>
          <a:xfrm>
            <a:off x="8805333" y="3388386"/>
            <a:ext cx="640920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Detractor</a:t>
            </a:r>
            <a:endParaRPr lang="en-US" sz="975" dirty="0"/>
          </a:p>
        </p:txBody>
      </p:sp>
      <p:sp>
        <p:nvSpPr>
          <p:cNvPr id="43" name="Shape 31"/>
          <p:cNvSpPr/>
          <p:nvPr/>
        </p:nvSpPr>
        <p:spPr>
          <a:xfrm>
            <a:off x="4870979" y="3803055"/>
            <a:ext cx="4746625" cy="490802"/>
          </a:xfrm>
          <a:prstGeom prst="roundRect">
            <a:avLst>
              <a:gd name="adj" fmla="val 15526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Text 32"/>
          <p:cNvSpPr/>
          <p:nvPr/>
        </p:nvSpPr>
        <p:spPr>
          <a:xfrm>
            <a:off x="5023280" y="3942623"/>
            <a:ext cx="4055484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procurement contact 21 days before close</a:t>
            </a:r>
            <a:endParaRPr lang="en-US" sz="1350" dirty="0"/>
          </a:p>
        </p:txBody>
      </p:sp>
      <p:sp>
        <p:nvSpPr>
          <p:cNvPr id="45" name="Shape 33"/>
          <p:cNvSpPr/>
          <p:nvPr/>
        </p:nvSpPr>
        <p:spPr>
          <a:xfrm>
            <a:off x="8710083" y="3936339"/>
            <a:ext cx="755220" cy="224234"/>
          </a:xfrm>
          <a:prstGeom prst="roundRect">
            <a:avLst>
              <a:gd name="adj" fmla="val 16991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6" name="Text 34"/>
          <p:cNvSpPr/>
          <p:nvPr/>
        </p:nvSpPr>
        <p:spPr>
          <a:xfrm>
            <a:off x="8805333" y="3974439"/>
            <a:ext cx="640920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Detractor</a:t>
            </a:r>
            <a:endParaRPr lang="en-US" sz="975" dirty="0"/>
          </a:p>
        </p:txBody>
      </p:sp>
      <p:sp>
        <p:nvSpPr>
          <p:cNvPr id="47" name="Shape 35"/>
          <p:cNvSpPr/>
          <p:nvPr/>
        </p:nvSpPr>
        <p:spPr>
          <a:xfrm>
            <a:off x="4870979" y="4389107"/>
            <a:ext cx="4746625" cy="490802"/>
          </a:xfrm>
          <a:prstGeom prst="roundRect">
            <a:avLst>
              <a:gd name="adj" fmla="val 15526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8" name="Text 36"/>
          <p:cNvSpPr/>
          <p:nvPr/>
        </p:nvSpPr>
        <p:spPr>
          <a:xfrm>
            <a:off x="5023280" y="4528675"/>
            <a:ext cx="3080312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 named in a deal thread</a:t>
            </a:r>
            <a:endParaRPr lang="en-US" sz="1350" dirty="0"/>
          </a:p>
        </p:txBody>
      </p:sp>
      <p:sp>
        <p:nvSpPr>
          <p:cNvPr id="49" name="Shape 37"/>
          <p:cNvSpPr/>
          <p:nvPr/>
        </p:nvSpPr>
        <p:spPr>
          <a:xfrm>
            <a:off x="8893639" y="4522391"/>
            <a:ext cx="571665" cy="224234"/>
          </a:xfrm>
          <a:prstGeom prst="roundRect">
            <a:avLst>
              <a:gd name="adj" fmla="val 16991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0" name="Text 38"/>
          <p:cNvSpPr/>
          <p:nvPr/>
        </p:nvSpPr>
        <p:spPr>
          <a:xfrm>
            <a:off x="8988889" y="4560491"/>
            <a:ext cx="457365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975" dirty="0"/>
          </a:p>
        </p:txBody>
      </p:sp>
      <p:sp>
        <p:nvSpPr>
          <p:cNvPr id="51" name="Shape 39"/>
          <p:cNvSpPr/>
          <p:nvPr/>
        </p:nvSpPr>
        <p:spPr>
          <a:xfrm>
            <a:off x="4870979" y="4975159"/>
            <a:ext cx="4746625" cy="490802"/>
          </a:xfrm>
          <a:prstGeom prst="roundRect">
            <a:avLst>
              <a:gd name="adj" fmla="val 15526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2" name="Text 40"/>
          <p:cNvSpPr/>
          <p:nvPr/>
        </p:nvSpPr>
        <p:spPr>
          <a:xfrm>
            <a:off x="5023280" y="5114727"/>
            <a:ext cx="3124696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case validated by finance</a:t>
            </a:r>
            <a:endParaRPr lang="en-US" sz="1350" dirty="0"/>
          </a:p>
        </p:txBody>
      </p:sp>
      <p:sp>
        <p:nvSpPr>
          <p:cNvPr id="53" name="Shape 41"/>
          <p:cNvSpPr/>
          <p:nvPr/>
        </p:nvSpPr>
        <p:spPr>
          <a:xfrm>
            <a:off x="8800208" y="5108443"/>
            <a:ext cx="665096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4" name="Text 42"/>
          <p:cNvSpPr/>
          <p:nvPr/>
        </p:nvSpPr>
        <p:spPr>
          <a:xfrm>
            <a:off x="8895458" y="5146543"/>
            <a:ext cx="55079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</a:t>
            </a:r>
            <a:endParaRPr lang="en-US" sz="975" dirty="0"/>
          </a:p>
        </p:txBody>
      </p:sp>
      <p:sp>
        <p:nvSpPr>
          <p:cNvPr id="55" name="Shape 43"/>
          <p:cNvSpPr/>
          <p:nvPr/>
        </p:nvSpPr>
        <p:spPr>
          <a:xfrm>
            <a:off x="4870979" y="5561211"/>
            <a:ext cx="4746625" cy="490802"/>
          </a:xfrm>
          <a:prstGeom prst="roundRect">
            <a:avLst>
              <a:gd name="adj" fmla="val 15526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Text 44"/>
          <p:cNvSpPr/>
          <p:nvPr/>
        </p:nvSpPr>
        <p:spPr>
          <a:xfrm>
            <a:off x="5023280" y="5700779"/>
            <a:ext cx="2078220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win recorded</a:t>
            </a:r>
            <a:endParaRPr lang="en-US" sz="1350" dirty="0"/>
          </a:p>
        </p:txBody>
      </p:sp>
      <p:sp>
        <p:nvSpPr>
          <p:cNvPr id="57" name="Shape 45"/>
          <p:cNvSpPr/>
          <p:nvPr/>
        </p:nvSpPr>
        <p:spPr>
          <a:xfrm>
            <a:off x="8800208" y="5694495"/>
            <a:ext cx="665096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Text 46"/>
          <p:cNvSpPr/>
          <p:nvPr/>
        </p:nvSpPr>
        <p:spPr>
          <a:xfrm>
            <a:off x="8895458" y="5732595"/>
            <a:ext cx="550796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</a:t>
            </a:r>
            <a:endParaRPr lang="en-US" sz="975" dirty="0"/>
          </a:p>
        </p:txBody>
      </p:sp>
      <p:sp>
        <p:nvSpPr>
          <p:cNvPr id="59" name="Shape 47"/>
          <p:cNvSpPr/>
          <p:nvPr/>
        </p:nvSpPr>
        <p:spPr>
          <a:xfrm>
            <a:off x="10009188" y="2726035"/>
            <a:ext cx="2858162" cy="6064581"/>
          </a:xfrm>
          <a:prstGeom prst="roundRect">
            <a:avLst>
              <a:gd name="adj" fmla="val 5332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0" name="Shape 48"/>
          <p:cNvSpPr/>
          <p:nvPr/>
        </p:nvSpPr>
        <p:spPr>
          <a:xfrm>
            <a:off x="10210271" y="2927119"/>
            <a:ext cx="1560380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Text 49"/>
          <p:cNvSpPr/>
          <p:nvPr/>
        </p:nvSpPr>
        <p:spPr>
          <a:xfrm>
            <a:off x="10305521" y="2965219"/>
            <a:ext cx="1446080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 · recommended</a:t>
            </a:r>
            <a:endParaRPr lang="en-US" sz="975" dirty="0"/>
          </a:p>
        </p:txBody>
      </p:sp>
      <p:sp>
        <p:nvSpPr>
          <p:cNvPr id="62" name="Text 50"/>
          <p:cNvSpPr/>
          <p:nvPr/>
        </p:nvSpPr>
        <p:spPr>
          <a:xfrm>
            <a:off x="10210271" y="3284637"/>
            <a:ext cx="2532195" cy="578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35"/>
              </a:lnSpc>
              <a:buNone/>
            </a:pPr>
            <a:r>
              <a:rPr lang="en-US" sz="157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procurement into the room this week.</a:t>
            </a:r>
            <a:endParaRPr lang="en-US" sz="1575" dirty="0"/>
          </a:p>
        </p:txBody>
      </p:sp>
      <p:sp>
        <p:nvSpPr>
          <p:cNvPr id="63" name="Text 51"/>
          <p:cNvSpPr/>
          <p:nvPr/>
        </p:nvSpPr>
        <p:spPr>
          <a:xfrm>
            <a:off x="10210271" y="3938985"/>
            <a:ext cx="2532195" cy="149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340 closed deals of this size, procurement engaged inside three weeks of close correlates with a 24-point swing in win rate. A draft introduction is ready in Outlook.</a:t>
            </a:r>
            <a:endParaRPr lang="en-US" sz="1275" dirty="0"/>
          </a:p>
        </p:txBody>
      </p:sp>
      <p:sp>
        <p:nvSpPr>
          <p:cNvPr id="64" name="Shape 52"/>
          <p:cNvSpPr/>
          <p:nvPr/>
        </p:nvSpPr>
        <p:spPr>
          <a:xfrm>
            <a:off x="10210271" y="5566833"/>
            <a:ext cx="1080823" cy="391583"/>
          </a:xfrm>
          <a:prstGeom prst="roundRect">
            <a:avLst>
              <a:gd name="adj" fmla="val 19459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53"/>
          <p:cNvSpPr/>
          <p:nvPr/>
        </p:nvSpPr>
        <p:spPr>
          <a:xfrm>
            <a:off x="10362671" y="5662083"/>
            <a:ext cx="852223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draft</a:t>
            </a:r>
            <a:endParaRPr lang="en-US" sz="1200" dirty="0"/>
          </a:p>
        </p:txBody>
      </p:sp>
      <p:sp>
        <p:nvSpPr>
          <p:cNvPr id="66" name="Shape 54"/>
          <p:cNvSpPr/>
          <p:nvPr/>
        </p:nvSpPr>
        <p:spPr>
          <a:xfrm>
            <a:off x="11386345" y="5566833"/>
            <a:ext cx="894292" cy="391583"/>
          </a:xfrm>
          <a:prstGeom prst="roundRect">
            <a:avLst>
              <a:gd name="adj" fmla="val 19459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Text 55"/>
          <p:cNvSpPr/>
          <p:nvPr/>
        </p:nvSpPr>
        <p:spPr>
          <a:xfrm>
            <a:off x="11549328" y="5672667"/>
            <a:ext cx="644525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Dismiss</a:t>
            </a:r>
            <a:endParaRPr lang="en-US" sz="1200" dirty="0"/>
          </a:p>
        </p:txBody>
      </p:sp>
      <p:sp>
        <p:nvSpPr>
          <p:cNvPr id="68" name="Shape 56"/>
          <p:cNvSpPr/>
          <p:nvPr/>
        </p:nvSpPr>
        <p:spPr>
          <a:xfrm>
            <a:off x="13296966" y="1981068"/>
            <a:ext cx="4305267" cy="7048666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6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517067" y="2201168"/>
            <a:ext cx="161892" cy="161892"/>
          </a:xfrm>
          <a:prstGeom prst="rect">
            <a:avLst/>
          </a:prstGeom>
        </p:spPr>
      </p:pic>
      <p:sp>
        <p:nvSpPr>
          <p:cNvPr id="70" name="Text 57"/>
          <p:cNvSpPr/>
          <p:nvPr/>
        </p:nvSpPr>
        <p:spPr>
          <a:xfrm>
            <a:off x="13764618" y="2213240"/>
            <a:ext cx="82083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900" dirty="0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229833" y="2205964"/>
            <a:ext cx="152301" cy="152301"/>
          </a:xfrm>
          <a:prstGeom prst="rect">
            <a:avLst/>
          </a:prstGeom>
        </p:spPr>
      </p:pic>
      <p:sp>
        <p:nvSpPr>
          <p:cNvPr id="72" name="Shape 58"/>
          <p:cNvSpPr/>
          <p:nvPr/>
        </p:nvSpPr>
        <p:spPr>
          <a:xfrm>
            <a:off x="13559732" y="2477327"/>
            <a:ext cx="3822402" cy="635992"/>
          </a:xfrm>
          <a:prstGeom prst="roundRect">
            <a:avLst>
              <a:gd name="adj" fmla="val 17972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Text 59"/>
          <p:cNvSpPr/>
          <p:nvPr/>
        </p:nvSpPr>
        <p:spPr>
          <a:xfrm>
            <a:off x="13693015" y="2582003"/>
            <a:ext cx="366251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8"/>
              </a:lnSpc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me every deal with the same risk pattern this quarter.</a:t>
            </a:r>
            <a:endParaRPr lang="en-US" sz="1200" dirty="0"/>
          </a:p>
        </p:txBody>
      </p:sp>
      <p:sp>
        <p:nvSpPr>
          <p:cNvPr id="74" name="Text 60"/>
          <p:cNvSpPr/>
          <p:nvPr/>
        </p:nvSpPr>
        <p:spPr>
          <a:xfrm>
            <a:off x="13517067" y="3227586"/>
            <a:ext cx="3981019" cy="766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 deals are single-threaded with no procurement contact inside three weeks of close. Together they carry CHF 4.2 M.</a:t>
            </a:r>
            <a:endParaRPr lang="en-US" sz="1275" dirty="0"/>
          </a:p>
        </p:txBody>
      </p:sp>
      <p:sp>
        <p:nvSpPr>
          <p:cNvPr id="75" name="Shape 61"/>
          <p:cNvSpPr/>
          <p:nvPr/>
        </p:nvSpPr>
        <p:spPr>
          <a:xfrm>
            <a:off x="13517067" y="4070119"/>
            <a:ext cx="3865067" cy="1197736"/>
          </a:xfrm>
          <a:prstGeom prst="roundRect">
            <a:avLst>
              <a:gd name="adj" fmla="val 954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6" name="Text 62"/>
          <p:cNvSpPr/>
          <p:nvPr/>
        </p:nvSpPr>
        <p:spPr>
          <a:xfrm>
            <a:off x="13650351" y="4203402"/>
            <a:ext cx="3958349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DEALS BY RISK PATTERN</a:t>
            </a:r>
            <a:endParaRPr lang="en-US" sz="900" dirty="0"/>
          </a:p>
        </p:txBody>
      </p:sp>
      <p:sp>
        <p:nvSpPr>
          <p:cNvPr id="77" name="Text 63"/>
          <p:cNvSpPr/>
          <p:nvPr/>
        </p:nvSpPr>
        <p:spPr>
          <a:xfrm>
            <a:off x="13650351" y="4460545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Single-threaded</a:t>
            </a:r>
            <a:endParaRPr lang="en-US" sz="1050" dirty="0"/>
          </a:p>
        </p:txBody>
      </p:sp>
      <p:sp>
        <p:nvSpPr>
          <p:cNvPr id="78" name="Shape 64"/>
          <p:cNvSpPr/>
          <p:nvPr/>
        </p:nvSpPr>
        <p:spPr>
          <a:xfrm>
            <a:off x="15212385" y="4501886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Shape 65"/>
          <p:cNvSpPr/>
          <p:nvPr/>
        </p:nvSpPr>
        <p:spPr>
          <a:xfrm>
            <a:off x="15212385" y="4501886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B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6"/>
          <p:cNvSpPr/>
          <p:nvPr/>
        </p:nvSpPr>
        <p:spPr>
          <a:xfrm>
            <a:off x="16582133" y="4455253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25" dirty="0"/>
          </a:p>
        </p:txBody>
      </p:sp>
      <p:sp>
        <p:nvSpPr>
          <p:cNvPr id="81" name="Text 67"/>
          <p:cNvSpPr/>
          <p:nvPr/>
        </p:nvSpPr>
        <p:spPr>
          <a:xfrm>
            <a:off x="13650351" y="4715537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procurement</a:t>
            </a:r>
            <a:endParaRPr lang="en-US" sz="1050" dirty="0"/>
          </a:p>
        </p:txBody>
      </p:sp>
      <p:sp>
        <p:nvSpPr>
          <p:cNvPr id="82" name="Shape 68"/>
          <p:cNvSpPr/>
          <p:nvPr/>
        </p:nvSpPr>
        <p:spPr>
          <a:xfrm>
            <a:off x="15212385" y="4756878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Shape 69"/>
          <p:cNvSpPr/>
          <p:nvPr/>
        </p:nvSpPr>
        <p:spPr>
          <a:xfrm>
            <a:off x="15212385" y="4756878"/>
            <a:ext cx="968375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70"/>
          <p:cNvSpPr/>
          <p:nvPr/>
        </p:nvSpPr>
        <p:spPr>
          <a:xfrm>
            <a:off x="16582133" y="4710245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25" dirty="0"/>
          </a:p>
        </p:txBody>
      </p:sp>
      <p:sp>
        <p:nvSpPr>
          <p:cNvPr id="85" name="Text 71"/>
          <p:cNvSpPr/>
          <p:nvPr/>
        </p:nvSpPr>
        <p:spPr>
          <a:xfrm>
            <a:off x="13650351" y="4970529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Stale next step</a:t>
            </a:r>
            <a:endParaRPr lang="en-US" sz="1050" dirty="0"/>
          </a:p>
        </p:txBody>
      </p:sp>
      <p:sp>
        <p:nvSpPr>
          <p:cNvPr id="86" name="Shape 72"/>
          <p:cNvSpPr/>
          <p:nvPr/>
        </p:nvSpPr>
        <p:spPr>
          <a:xfrm>
            <a:off x="15212385" y="5011870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Shape 73"/>
          <p:cNvSpPr/>
          <p:nvPr/>
        </p:nvSpPr>
        <p:spPr>
          <a:xfrm>
            <a:off x="15212385" y="5011870"/>
            <a:ext cx="605234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4"/>
          <p:cNvSpPr/>
          <p:nvPr/>
        </p:nvSpPr>
        <p:spPr>
          <a:xfrm>
            <a:off x="16582133" y="4965237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25" dirty="0"/>
          </a:p>
        </p:txBody>
      </p:sp>
      <p:sp>
        <p:nvSpPr>
          <p:cNvPr id="89" name="Shape 75"/>
          <p:cNvSpPr/>
          <p:nvPr/>
        </p:nvSpPr>
        <p:spPr>
          <a:xfrm>
            <a:off x="13517067" y="5382121"/>
            <a:ext cx="3865067" cy="2124604"/>
          </a:xfrm>
          <a:prstGeom prst="roundRect">
            <a:avLst>
              <a:gd name="adj" fmla="val 538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90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60935" y="5525988"/>
            <a:ext cx="142875" cy="142875"/>
          </a:xfrm>
          <a:prstGeom prst="rect">
            <a:avLst/>
          </a:prstGeom>
        </p:spPr>
      </p:pic>
      <p:sp>
        <p:nvSpPr>
          <p:cNvPr id="91" name="Text 76"/>
          <p:cNvSpPr/>
          <p:nvPr/>
        </p:nvSpPr>
        <p:spPr>
          <a:xfrm>
            <a:off x="13879877" y="5528635"/>
            <a:ext cx="1492316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REVIEW LIST</a:t>
            </a:r>
            <a:endParaRPr lang="en-US" sz="900" dirty="0"/>
          </a:p>
        </p:txBody>
      </p:sp>
      <p:sp>
        <p:nvSpPr>
          <p:cNvPr id="92" name="Text 77"/>
          <p:cNvSpPr/>
          <p:nvPr/>
        </p:nvSpPr>
        <p:spPr>
          <a:xfrm>
            <a:off x="13660935" y="5856057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name</a:t>
            </a:r>
            <a:endParaRPr lang="en-US" sz="1050" dirty="0"/>
          </a:p>
        </p:txBody>
      </p:sp>
      <p:sp>
        <p:nvSpPr>
          <p:cNvPr id="93" name="Shape 78"/>
          <p:cNvSpPr/>
          <p:nvPr/>
        </p:nvSpPr>
        <p:spPr>
          <a:xfrm>
            <a:off x="14841968" y="5764113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14957327" y="5850897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single-threaded deals</a:t>
            </a:r>
            <a:endParaRPr lang="en-US" sz="1125" dirty="0"/>
          </a:p>
        </p:txBody>
      </p:sp>
      <p:sp>
        <p:nvSpPr>
          <p:cNvPr id="95" name="Text 80"/>
          <p:cNvSpPr/>
          <p:nvPr/>
        </p:nvSpPr>
        <p:spPr>
          <a:xfrm>
            <a:off x="13660935" y="6274759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with</a:t>
            </a:r>
            <a:endParaRPr lang="en-US" sz="1050" dirty="0"/>
          </a:p>
        </p:txBody>
      </p:sp>
      <p:sp>
        <p:nvSpPr>
          <p:cNvPr id="96" name="Shape 81"/>
          <p:cNvSpPr/>
          <p:nvPr/>
        </p:nvSpPr>
        <p:spPr>
          <a:xfrm>
            <a:off x="14841968" y="6182817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14957327" y="6269600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DACH sales leadership</a:t>
            </a:r>
            <a:endParaRPr lang="en-US" sz="1125" dirty="0"/>
          </a:p>
        </p:txBody>
      </p:sp>
      <p:sp>
        <p:nvSpPr>
          <p:cNvPr id="98" name="Text 83"/>
          <p:cNvSpPr/>
          <p:nvPr/>
        </p:nvSpPr>
        <p:spPr>
          <a:xfrm>
            <a:off x="13660935" y="6693462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Cadence</a:t>
            </a:r>
            <a:endParaRPr lang="en-US" sz="1050" dirty="0"/>
          </a:p>
        </p:txBody>
      </p:sp>
      <p:sp>
        <p:nvSpPr>
          <p:cNvPr id="99" name="Shape 84"/>
          <p:cNvSpPr/>
          <p:nvPr/>
        </p:nvSpPr>
        <p:spPr>
          <a:xfrm>
            <a:off x="14841968" y="6601520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14957327" y="6688303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Weekly, Monday 08:00</a:t>
            </a:r>
            <a:endParaRPr lang="en-US" sz="1125" dirty="0"/>
          </a:p>
        </p:txBody>
      </p:sp>
      <p:sp>
        <p:nvSpPr>
          <p:cNvPr id="101" name="Text 86"/>
          <p:cNvSpPr/>
          <p:nvPr/>
        </p:nvSpPr>
        <p:spPr>
          <a:xfrm>
            <a:off x="13660935" y="7112166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</a:t>
            </a:r>
            <a:endParaRPr lang="en-US" sz="1050" dirty="0"/>
          </a:p>
        </p:txBody>
      </p:sp>
      <p:sp>
        <p:nvSpPr>
          <p:cNvPr id="102" name="Shape 87"/>
          <p:cNvSpPr/>
          <p:nvPr/>
        </p:nvSpPr>
        <p:spPr>
          <a:xfrm>
            <a:off x="14841968" y="7020223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14957327" y="7107007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unchanged after 2 weeks</a:t>
            </a:r>
            <a:endParaRPr lang="en-US" sz="1125" dirty="0"/>
          </a:p>
        </p:txBody>
      </p:sp>
      <p:sp>
        <p:nvSpPr>
          <p:cNvPr id="104" name="Shape 89"/>
          <p:cNvSpPr/>
          <p:nvPr/>
        </p:nvSpPr>
        <p:spPr>
          <a:xfrm>
            <a:off x="13517067" y="7640009"/>
            <a:ext cx="386506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5" name="Shape 90"/>
          <p:cNvSpPr/>
          <p:nvPr/>
        </p:nvSpPr>
        <p:spPr>
          <a:xfrm>
            <a:off x="13517067" y="7794460"/>
            <a:ext cx="1603540" cy="359833"/>
          </a:xfrm>
          <a:prstGeom prst="roundRect">
            <a:avLst>
              <a:gd name="adj" fmla="val 21176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6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50351" y="7902939"/>
            <a:ext cx="142875" cy="142875"/>
          </a:xfrm>
          <a:prstGeom prst="rect">
            <a:avLst/>
          </a:prstGeom>
        </p:spPr>
      </p:pic>
      <p:sp>
        <p:nvSpPr>
          <p:cNvPr id="107" name="Text 91"/>
          <p:cNvSpPr/>
          <p:nvPr/>
        </p:nvSpPr>
        <p:spPr>
          <a:xfrm>
            <a:off x="13859868" y="7889710"/>
            <a:ext cx="1203656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&amp; share</a:t>
            </a:r>
            <a:endParaRPr lang="en-US" sz="1125" dirty="0"/>
          </a:p>
        </p:txBody>
      </p:sp>
      <p:sp>
        <p:nvSpPr>
          <p:cNvPr id="108" name="Shape 92"/>
          <p:cNvSpPr/>
          <p:nvPr/>
        </p:nvSpPr>
        <p:spPr>
          <a:xfrm>
            <a:off x="15215857" y="7783877"/>
            <a:ext cx="756378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359725" y="7902939"/>
            <a:ext cx="142875" cy="142875"/>
          </a:xfrm>
          <a:prstGeom prst="rect">
            <a:avLst/>
          </a:prstGeom>
        </p:spPr>
      </p:pic>
      <p:sp>
        <p:nvSpPr>
          <p:cNvPr id="110" name="Text 93"/>
          <p:cNvSpPr/>
          <p:nvPr/>
        </p:nvSpPr>
        <p:spPr>
          <a:xfrm>
            <a:off x="15569242" y="7889710"/>
            <a:ext cx="335326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25" dirty="0"/>
          </a:p>
        </p:txBody>
      </p:sp>
      <p:sp>
        <p:nvSpPr>
          <p:cNvPr id="111" name="Shape 94"/>
          <p:cNvSpPr/>
          <p:nvPr/>
        </p:nvSpPr>
        <p:spPr>
          <a:xfrm>
            <a:off x="16067486" y="7783877"/>
            <a:ext cx="922900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12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211352" y="7902939"/>
            <a:ext cx="142875" cy="142875"/>
          </a:xfrm>
          <a:prstGeom prst="rect">
            <a:avLst/>
          </a:prstGeom>
        </p:spPr>
      </p:pic>
      <p:sp>
        <p:nvSpPr>
          <p:cNvPr id="113" name="Text 95"/>
          <p:cNvSpPr/>
          <p:nvPr/>
        </p:nvSpPr>
        <p:spPr>
          <a:xfrm>
            <a:off x="16420870" y="7889710"/>
            <a:ext cx="501848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25" dirty="0"/>
          </a:p>
        </p:txBody>
      </p:sp>
      <p:pic>
        <p:nvPicPr>
          <p:cNvPr id="114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517067" y="8305767"/>
            <a:ext cx="133284" cy="133284"/>
          </a:xfrm>
          <a:prstGeom prst="rect">
            <a:avLst/>
          </a:prstGeom>
        </p:spPr>
      </p:pic>
      <p:sp>
        <p:nvSpPr>
          <p:cNvPr id="115" name="Text 96"/>
          <p:cNvSpPr/>
          <p:nvPr/>
        </p:nvSpPr>
        <p:spPr>
          <a:xfrm>
            <a:off x="13726419" y="8279143"/>
            <a:ext cx="1978720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to Slack · CRO notified</a:t>
            </a:r>
            <a:endParaRPr lang="en-US" sz="1050" dirty="0"/>
          </a:p>
        </p:txBody>
      </p:sp>
      <p:sp>
        <p:nvSpPr>
          <p:cNvPr id="116" name="Shape 97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7" name="Shape 98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Text 99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recommendation is specific, and the draft email is already written.</a:t>
            </a:r>
            <a:endParaRPr lang="en-US" sz="20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463037" y="235975"/>
            <a:ext cx="121539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&amp; PRICING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 · 07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and pricing assistance, inside the guardrails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2420700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2399533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2399533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288968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 · Quote Q-8841 · Helvetia Logistik AG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1263644" y="2127085"/>
            <a:ext cx="1641740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1358894" y="2165185"/>
            <a:ext cx="1527440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desk policy applied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48651" y="4916124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1703183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Text 23"/>
          <p:cNvSpPr/>
          <p:nvPr/>
        </p:nvSpPr>
        <p:spPr>
          <a:xfrm>
            <a:off x="1621234" y="2726035"/>
            <a:ext cx="574261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ITEM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6994095" y="2726035"/>
            <a:ext cx="1914145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(CHF)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8886528" y="2726035"/>
            <a:ext cx="1914145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10778961" y="2726035"/>
            <a:ext cx="2297228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1621234" y="3015919"/>
            <a:ext cx="11246115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Text 28"/>
          <p:cNvSpPr/>
          <p:nvPr/>
        </p:nvSpPr>
        <p:spPr>
          <a:xfrm>
            <a:off x="1621234" y="3179796"/>
            <a:ext cx="574261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 tracking · 240 vehicles</a:t>
            </a:r>
            <a:endParaRPr lang="en-US" sz="1425" dirty="0"/>
          </a:p>
        </p:txBody>
      </p:sp>
      <p:sp>
        <p:nvSpPr>
          <p:cNvPr id="40" name="Text 29"/>
          <p:cNvSpPr/>
          <p:nvPr/>
        </p:nvSpPr>
        <p:spPr>
          <a:xfrm>
            <a:off x="6994095" y="3179796"/>
            <a:ext cx="191414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186 400</a:t>
            </a:r>
            <a:endParaRPr lang="en-US" sz="1425" dirty="0"/>
          </a:p>
        </p:txBody>
      </p:sp>
      <p:sp>
        <p:nvSpPr>
          <p:cNvPr id="41" name="Text 30"/>
          <p:cNvSpPr/>
          <p:nvPr/>
        </p:nvSpPr>
        <p:spPr>
          <a:xfrm>
            <a:off x="8886528" y="3179796"/>
            <a:ext cx="191414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12%</a:t>
            </a:r>
            <a:endParaRPr lang="en-US" sz="1425" dirty="0"/>
          </a:p>
        </p:txBody>
      </p:sp>
      <p:sp>
        <p:nvSpPr>
          <p:cNvPr id="42" name="Shape 31"/>
          <p:cNvSpPr/>
          <p:nvPr/>
        </p:nvSpPr>
        <p:spPr>
          <a:xfrm>
            <a:off x="10778961" y="3178804"/>
            <a:ext cx="109802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3" name="Text 32"/>
          <p:cNvSpPr/>
          <p:nvPr/>
        </p:nvSpPr>
        <p:spPr>
          <a:xfrm>
            <a:off x="10874211" y="3216904"/>
            <a:ext cx="98372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Auto-approved</a:t>
            </a:r>
            <a:endParaRPr lang="en-US" sz="975" dirty="0"/>
          </a:p>
        </p:txBody>
      </p:sp>
      <p:sp>
        <p:nvSpPr>
          <p:cNvPr id="44" name="Shape 33"/>
          <p:cNvSpPr/>
          <p:nvPr/>
        </p:nvSpPr>
        <p:spPr>
          <a:xfrm>
            <a:off x="1621234" y="3707639"/>
            <a:ext cx="11246115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4"/>
          <p:cNvSpPr/>
          <p:nvPr/>
        </p:nvSpPr>
        <p:spPr>
          <a:xfrm>
            <a:off x="1621234" y="3871516"/>
            <a:ext cx="574261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 module · 4 sites</a:t>
            </a:r>
            <a:endParaRPr lang="en-US" sz="1425" dirty="0"/>
          </a:p>
        </p:txBody>
      </p:sp>
      <p:sp>
        <p:nvSpPr>
          <p:cNvPr id="46" name="Text 35"/>
          <p:cNvSpPr/>
          <p:nvPr/>
        </p:nvSpPr>
        <p:spPr>
          <a:xfrm>
            <a:off x="6994095" y="3871516"/>
            <a:ext cx="191414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96 000</a:t>
            </a:r>
            <a:endParaRPr lang="en-US" sz="1425" dirty="0"/>
          </a:p>
        </p:txBody>
      </p:sp>
      <p:sp>
        <p:nvSpPr>
          <p:cNvPr id="47" name="Text 36"/>
          <p:cNvSpPr/>
          <p:nvPr/>
        </p:nvSpPr>
        <p:spPr>
          <a:xfrm>
            <a:off x="8886528" y="3871516"/>
            <a:ext cx="191414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</a:t>
            </a:r>
            <a:endParaRPr lang="en-US" sz="1425" dirty="0"/>
          </a:p>
        </p:txBody>
      </p:sp>
      <p:sp>
        <p:nvSpPr>
          <p:cNvPr id="48" name="Shape 37"/>
          <p:cNvSpPr/>
          <p:nvPr/>
        </p:nvSpPr>
        <p:spPr>
          <a:xfrm>
            <a:off x="10778961" y="3870524"/>
            <a:ext cx="109802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9" name="Text 38"/>
          <p:cNvSpPr/>
          <p:nvPr/>
        </p:nvSpPr>
        <p:spPr>
          <a:xfrm>
            <a:off x="10874211" y="3908624"/>
            <a:ext cx="98372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Auto-approved</a:t>
            </a:r>
            <a:endParaRPr lang="en-US" sz="975" dirty="0"/>
          </a:p>
        </p:txBody>
      </p:sp>
      <p:sp>
        <p:nvSpPr>
          <p:cNvPr id="50" name="Shape 39"/>
          <p:cNvSpPr/>
          <p:nvPr/>
        </p:nvSpPr>
        <p:spPr>
          <a:xfrm>
            <a:off x="1621234" y="4399360"/>
            <a:ext cx="11246115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1" name="Text 40"/>
          <p:cNvSpPr/>
          <p:nvPr/>
        </p:nvSpPr>
        <p:spPr>
          <a:xfrm>
            <a:off x="1621234" y="4563236"/>
            <a:ext cx="574261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optimisation · new</a:t>
            </a:r>
            <a:endParaRPr lang="en-US" sz="1425" dirty="0"/>
          </a:p>
        </p:txBody>
      </p:sp>
      <p:sp>
        <p:nvSpPr>
          <p:cNvPr id="52" name="Text 41"/>
          <p:cNvSpPr/>
          <p:nvPr/>
        </p:nvSpPr>
        <p:spPr>
          <a:xfrm>
            <a:off x="6994095" y="4563236"/>
            <a:ext cx="191414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128 000</a:t>
            </a:r>
            <a:endParaRPr lang="en-US" sz="1425" dirty="0"/>
          </a:p>
        </p:txBody>
      </p:sp>
      <p:sp>
        <p:nvSpPr>
          <p:cNvPr id="53" name="Text 42"/>
          <p:cNvSpPr/>
          <p:nvPr/>
        </p:nvSpPr>
        <p:spPr>
          <a:xfrm>
            <a:off x="8886528" y="4563236"/>
            <a:ext cx="191414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</a:t>
            </a:r>
            <a:endParaRPr lang="en-US" sz="1425" dirty="0"/>
          </a:p>
        </p:txBody>
      </p:sp>
      <p:sp>
        <p:nvSpPr>
          <p:cNvPr id="54" name="Shape 43"/>
          <p:cNvSpPr/>
          <p:nvPr/>
        </p:nvSpPr>
        <p:spPr>
          <a:xfrm>
            <a:off x="10778961" y="4562244"/>
            <a:ext cx="1311507" cy="224234"/>
          </a:xfrm>
          <a:prstGeom prst="roundRect">
            <a:avLst>
              <a:gd name="adj" fmla="val 16991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4"/>
          <p:cNvSpPr/>
          <p:nvPr/>
        </p:nvSpPr>
        <p:spPr>
          <a:xfrm>
            <a:off x="10874211" y="4600344"/>
            <a:ext cx="1197207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desk required</a:t>
            </a:r>
            <a:endParaRPr lang="en-US" sz="975" dirty="0"/>
          </a:p>
        </p:txBody>
      </p:sp>
      <p:sp>
        <p:nvSpPr>
          <p:cNvPr id="56" name="Shape 45"/>
          <p:cNvSpPr/>
          <p:nvPr/>
        </p:nvSpPr>
        <p:spPr>
          <a:xfrm>
            <a:off x="1621234" y="5091080"/>
            <a:ext cx="11246115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Text 46"/>
          <p:cNvSpPr/>
          <p:nvPr/>
        </p:nvSpPr>
        <p:spPr>
          <a:xfrm>
            <a:off x="1621234" y="5254956"/>
            <a:ext cx="574261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&amp; training</a:t>
            </a:r>
            <a:endParaRPr lang="en-US" sz="1425" dirty="0"/>
          </a:p>
        </p:txBody>
      </p:sp>
      <p:sp>
        <p:nvSpPr>
          <p:cNvPr id="58" name="Text 47"/>
          <p:cNvSpPr/>
          <p:nvPr/>
        </p:nvSpPr>
        <p:spPr>
          <a:xfrm>
            <a:off x="6994095" y="5254956"/>
            <a:ext cx="191414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34 000</a:t>
            </a:r>
            <a:endParaRPr lang="en-US" sz="1425" dirty="0"/>
          </a:p>
        </p:txBody>
      </p:sp>
      <p:sp>
        <p:nvSpPr>
          <p:cNvPr id="59" name="Text 48"/>
          <p:cNvSpPr/>
          <p:nvPr/>
        </p:nvSpPr>
        <p:spPr>
          <a:xfrm>
            <a:off x="8886528" y="5254956"/>
            <a:ext cx="191414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425" dirty="0"/>
          </a:p>
        </p:txBody>
      </p:sp>
      <p:sp>
        <p:nvSpPr>
          <p:cNvPr id="60" name="Shape 49"/>
          <p:cNvSpPr/>
          <p:nvPr/>
        </p:nvSpPr>
        <p:spPr>
          <a:xfrm>
            <a:off x="10778961" y="5253964"/>
            <a:ext cx="1098021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Text 50"/>
          <p:cNvSpPr/>
          <p:nvPr/>
        </p:nvSpPr>
        <p:spPr>
          <a:xfrm>
            <a:off x="10874211" y="5292064"/>
            <a:ext cx="983721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Auto-approved</a:t>
            </a:r>
            <a:endParaRPr lang="en-US" sz="975" dirty="0"/>
          </a:p>
        </p:txBody>
      </p:sp>
      <p:sp>
        <p:nvSpPr>
          <p:cNvPr id="62" name="Shape 51"/>
          <p:cNvSpPr/>
          <p:nvPr/>
        </p:nvSpPr>
        <p:spPr>
          <a:xfrm>
            <a:off x="1621234" y="6311305"/>
            <a:ext cx="4410604" cy="2479311"/>
          </a:xfrm>
          <a:prstGeom prst="roundRect">
            <a:avLst>
              <a:gd name="adj" fmla="val 6147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3" name="Shape 52"/>
          <p:cNvSpPr/>
          <p:nvPr/>
        </p:nvSpPr>
        <p:spPr>
          <a:xfrm>
            <a:off x="1822318" y="6512389"/>
            <a:ext cx="591509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53"/>
          <p:cNvSpPr/>
          <p:nvPr/>
        </p:nvSpPr>
        <p:spPr>
          <a:xfrm>
            <a:off x="1917568" y="6550489"/>
            <a:ext cx="477209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975" dirty="0"/>
          </a:p>
        </p:txBody>
      </p:sp>
      <p:sp>
        <p:nvSpPr>
          <p:cNvPr id="65" name="Text 54"/>
          <p:cNvSpPr/>
          <p:nvPr/>
        </p:nvSpPr>
        <p:spPr>
          <a:xfrm>
            <a:off x="1822318" y="6850889"/>
            <a:ext cx="4128691" cy="1323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18% discount on route optimisation puts the deal 3 points under the floor for a first-year module. Holding at 12% and adding onboarding at cost keeps margin intact and, in comparable deals, closed at the same rate.</a:t>
            </a:r>
            <a:endParaRPr lang="en-US" sz="1350" dirty="0"/>
          </a:p>
        </p:txBody>
      </p:sp>
      <p:sp>
        <p:nvSpPr>
          <p:cNvPr id="66" name="Text 55"/>
          <p:cNvSpPr/>
          <p:nvPr/>
        </p:nvSpPr>
        <p:spPr>
          <a:xfrm>
            <a:off x="1822318" y="8250866"/>
            <a:ext cx="412869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book and margin floors read from SAP. Discount authority read from Salesforce role.</a:t>
            </a:r>
            <a:endParaRPr lang="en-US" sz="1125" dirty="0"/>
          </a:p>
        </p:txBody>
      </p:sp>
      <p:sp>
        <p:nvSpPr>
          <p:cNvPr id="67" name="Shape 56"/>
          <p:cNvSpPr/>
          <p:nvPr/>
        </p:nvSpPr>
        <p:spPr>
          <a:xfrm>
            <a:off x="6184139" y="6311305"/>
            <a:ext cx="3265454" cy="2479311"/>
          </a:xfrm>
          <a:prstGeom prst="roundRect">
            <a:avLst>
              <a:gd name="adj" fmla="val 6147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8" name="Text 57"/>
          <p:cNvSpPr/>
          <p:nvPr/>
        </p:nvSpPr>
        <p:spPr>
          <a:xfrm>
            <a:off x="6385223" y="6512389"/>
            <a:ext cx="314961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TURNAROUND</a:t>
            </a:r>
            <a:endParaRPr lang="en-US" sz="900" dirty="0"/>
          </a:p>
        </p:txBody>
      </p:sp>
      <p:sp>
        <p:nvSpPr>
          <p:cNvPr id="69" name="Text 58"/>
          <p:cNvSpPr/>
          <p:nvPr/>
        </p:nvSpPr>
        <p:spPr>
          <a:xfrm>
            <a:off x="6385223" y="6745221"/>
            <a:ext cx="3149617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min</a:t>
            </a:r>
            <a:endParaRPr lang="en-US" sz="3150" dirty="0"/>
          </a:p>
        </p:txBody>
      </p:sp>
      <p:sp>
        <p:nvSpPr>
          <p:cNvPr id="70" name="Text 59"/>
          <p:cNvSpPr/>
          <p:nvPr/>
        </p:nvSpPr>
        <p:spPr>
          <a:xfrm>
            <a:off x="6385223" y="7289106"/>
            <a:ext cx="314961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2 days of email</a:t>
            </a:r>
            <a:endParaRPr lang="en-US" sz="1050" dirty="0"/>
          </a:p>
        </p:txBody>
      </p:sp>
      <p:sp>
        <p:nvSpPr>
          <p:cNvPr id="71" name="Shape 60"/>
          <p:cNvSpPr/>
          <p:nvPr/>
        </p:nvSpPr>
        <p:spPr>
          <a:xfrm>
            <a:off x="6385223" y="7581140"/>
            <a:ext cx="2863288" cy="38034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Shape 61"/>
          <p:cNvSpPr/>
          <p:nvPr/>
        </p:nvSpPr>
        <p:spPr>
          <a:xfrm>
            <a:off x="6385223" y="7581140"/>
            <a:ext cx="2863288" cy="38034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Shape 62"/>
          <p:cNvSpPr/>
          <p:nvPr/>
        </p:nvSpPr>
        <p:spPr>
          <a:xfrm>
            <a:off x="9601895" y="6311305"/>
            <a:ext cx="3265454" cy="2479311"/>
          </a:xfrm>
          <a:prstGeom prst="roundRect">
            <a:avLst>
              <a:gd name="adj" fmla="val 6147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4" name="Text 63"/>
          <p:cNvSpPr/>
          <p:nvPr/>
        </p:nvSpPr>
        <p:spPr>
          <a:xfrm>
            <a:off x="9802978" y="6512389"/>
            <a:ext cx="314961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LEAKAGE</a:t>
            </a:r>
            <a:endParaRPr lang="en-US" sz="900" dirty="0"/>
          </a:p>
        </p:txBody>
      </p:sp>
      <p:sp>
        <p:nvSpPr>
          <p:cNvPr id="75" name="Text 64"/>
          <p:cNvSpPr/>
          <p:nvPr/>
        </p:nvSpPr>
        <p:spPr>
          <a:xfrm>
            <a:off x="9802978" y="6745221"/>
            <a:ext cx="3149617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−4.1 pts</a:t>
            </a:r>
            <a:endParaRPr lang="en-US" sz="3150" dirty="0"/>
          </a:p>
        </p:txBody>
      </p:sp>
      <p:sp>
        <p:nvSpPr>
          <p:cNvPr id="76" name="Text 65"/>
          <p:cNvSpPr/>
          <p:nvPr/>
        </p:nvSpPr>
        <p:spPr>
          <a:xfrm>
            <a:off x="9802978" y="7289106"/>
            <a:ext cx="314961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avoided on flagged quotes</a:t>
            </a:r>
            <a:endParaRPr lang="en-US" sz="1050" dirty="0"/>
          </a:p>
        </p:txBody>
      </p:sp>
      <p:sp>
        <p:nvSpPr>
          <p:cNvPr id="77" name="Shape 66"/>
          <p:cNvSpPr/>
          <p:nvPr/>
        </p:nvSpPr>
        <p:spPr>
          <a:xfrm>
            <a:off x="9802978" y="7581140"/>
            <a:ext cx="2863288" cy="38034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Shape 67"/>
          <p:cNvSpPr/>
          <p:nvPr/>
        </p:nvSpPr>
        <p:spPr>
          <a:xfrm>
            <a:off x="9802978" y="7581140"/>
            <a:ext cx="2863288" cy="38034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Shape 68"/>
          <p:cNvSpPr/>
          <p:nvPr/>
        </p:nvSpPr>
        <p:spPr>
          <a:xfrm>
            <a:off x="13296966" y="1981068"/>
            <a:ext cx="4305267" cy="7048666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8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17067" y="2201168"/>
            <a:ext cx="161892" cy="161892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13764618" y="2213240"/>
            <a:ext cx="82083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900" dirty="0"/>
          </a:p>
        </p:txBody>
      </p:sp>
      <p:pic>
        <p:nvPicPr>
          <p:cNvPr id="82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29833" y="2205964"/>
            <a:ext cx="152301" cy="152301"/>
          </a:xfrm>
          <a:prstGeom prst="rect">
            <a:avLst/>
          </a:prstGeom>
        </p:spPr>
      </p:pic>
      <p:sp>
        <p:nvSpPr>
          <p:cNvPr id="83" name="Shape 70"/>
          <p:cNvSpPr/>
          <p:nvPr/>
        </p:nvSpPr>
        <p:spPr>
          <a:xfrm>
            <a:off x="13559732" y="2477327"/>
            <a:ext cx="3822402" cy="635992"/>
          </a:xfrm>
          <a:prstGeom prst="roundRect">
            <a:avLst>
              <a:gd name="adj" fmla="val 17972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71"/>
          <p:cNvSpPr/>
          <p:nvPr/>
        </p:nvSpPr>
        <p:spPr>
          <a:xfrm>
            <a:off x="13693015" y="2582003"/>
            <a:ext cx="366251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8"/>
              </a:lnSpc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we approve on comparable deals last year?</a:t>
            </a:r>
            <a:endParaRPr lang="en-US" sz="1200" dirty="0"/>
          </a:p>
        </p:txBody>
      </p:sp>
      <p:sp>
        <p:nvSpPr>
          <p:cNvPr id="85" name="Text 72"/>
          <p:cNvSpPr/>
          <p:nvPr/>
        </p:nvSpPr>
        <p:spPr>
          <a:xfrm>
            <a:off x="13517067" y="3227586"/>
            <a:ext cx="3981019" cy="1009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27 comparable quotes the median approved discount on a first-year module was 11%. Nothing above 14% was approved without a term extension.</a:t>
            </a:r>
            <a:endParaRPr lang="en-US" sz="1275" dirty="0"/>
          </a:p>
        </p:txBody>
      </p:sp>
      <p:sp>
        <p:nvSpPr>
          <p:cNvPr id="86" name="Shape 73"/>
          <p:cNvSpPr/>
          <p:nvPr/>
        </p:nvSpPr>
        <p:spPr>
          <a:xfrm>
            <a:off x="13517067" y="4312874"/>
            <a:ext cx="3865067" cy="1197736"/>
          </a:xfrm>
          <a:prstGeom prst="roundRect">
            <a:avLst>
              <a:gd name="adj" fmla="val 954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74"/>
          <p:cNvSpPr/>
          <p:nvPr/>
        </p:nvSpPr>
        <p:spPr>
          <a:xfrm>
            <a:off x="13650351" y="4446158"/>
            <a:ext cx="3958349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DISCOUNT, COMPARABLE DEALS</a:t>
            </a:r>
            <a:endParaRPr lang="en-US" sz="900" dirty="0"/>
          </a:p>
        </p:txBody>
      </p:sp>
      <p:sp>
        <p:nvSpPr>
          <p:cNvPr id="88" name="Text 75"/>
          <p:cNvSpPr/>
          <p:nvPr/>
        </p:nvSpPr>
        <p:spPr>
          <a:xfrm>
            <a:off x="13650351" y="4703300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</a:t>
            </a:r>
            <a:endParaRPr lang="en-US" sz="1050" dirty="0"/>
          </a:p>
        </p:txBody>
      </p:sp>
      <p:sp>
        <p:nvSpPr>
          <p:cNvPr id="89" name="Shape 76"/>
          <p:cNvSpPr/>
          <p:nvPr/>
        </p:nvSpPr>
        <p:spPr>
          <a:xfrm>
            <a:off x="15212385" y="4744641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0" name="Shape 77"/>
          <p:cNvSpPr/>
          <p:nvPr/>
        </p:nvSpPr>
        <p:spPr>
          <a:xfrm>
            <a:off x="15212385" y="4744641"/>
            <a:ext cx="813759" cy="76068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8"/>
          <p:cNvSpPr/>
          <p:nvPr/>
        </p:nvSpPr>
        <p:spPr>
          <a:xfrm>
            <a:off x="16582133" y="4698008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25" dirty="0"/>
          </a:p>
        </p:txBody>
      </p:sp>
      <p:sp>
        <p:nvSpPr>
          <p:cNvPr id="92" name="Text 79"/>
          <p:cNvSpPr/>
          <p:nvPr/>
        </p:nvSpPr>
        <p:spPr>
          <a:xfrm>
            <a:off x="13650351" y="4958292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75th percentile</a:t>
            </a:r>
            <a:endParaRPr lang="en-US" sz="1050" dirty="0"/>
          </a:p>
        </p:txBody>
      </p:sp>
      <p:sp>
        <p:nvSpPr>
          <p:cNvPr id="93" name="Shape 80"/>
          <p:cNvSpPr/>
          <p:nvPr/>
        </p:nvSpPr>
        <p:spPr>
          <a:xfrm>
            <a:off x="15212385" y="4999633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Shape 81"/>
          <p:cNvSpPr/>
          <p:nvPr/>
        </p:nvSpPr>
        <p:spPr>
          <a:xfrm>
            <a:off x="15212385" y="4999633"/>
            <a:ext cx="1035678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2"/>
          <p:cNvSpPr/>
          <p:nvPr/>
        </p:nvSpPr>
        <p:spPr>
          <a:xfrm>
            <a:off x="16582133" y="4953000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125" dirty="0"/>
          </a:p>
        </p:txBody>
      </p:sp>
      <p:sp>
        <p:nvSpPr>
          <p:cNvPr id="96" name="Text 83"/>
          <p:cNvSpPr/>
          <p:nvPr/>
        </p:nvSpPr>
        <p:spPr>
          <a:xfrm>
            <a:off x="13650351" y="5213284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quote</a:t>
            </a:r>
            <a:endParaRPr lang="en-US" sz="1050" dirty="0"/>
          </a:p>
        </p:txBody>
      </p:sp>
      <p:sp>
        <p:nvSpPr>
          <p:cNvPr id="97" name="Shape 84"/>
          <p:cNvSpPr/>
          <p:nvPr/>
        </p:nvSpPr>
        <p:spPr>
          <a:xfrm>
            <a:off x="15212385" y="5254625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8" name="Shape 85"/>
          <p:cNvSpPr/>
          <p:nvPr/>
        </p:nvSpPr>
        <p:spPr>
          <a:xfrm>
            <a:off x="15212385" y="5254625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B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9" name="Text 86"/>
          <p:cNvSpPr/>
          <p:nvPr/>
        </p:nvSpPr>
        <p:spPr>
          <a:xfrm>
            <a:off x="16582133" y="5207993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125" dirty="0"/>
          </a:p>
        </p:txBody>
      </p:sp>
      <p:sp>
        <p:nvSpPr>
          <p:cNvPr id="100" name="Shape 87"/>
          <p:cNvSpPr/>
          <p:nvPr/>
        </p:nvSpPr>
        <p:spPr>
          <a:xfrm>
            <a:off x="13517067" y="5624876"/>
            <a:ext cx="3865067" cy="2124604"/>
          </a:xfrm>
          <a:prstGeom prst="roundRect">
            <a:avLst>
              <a:gd name="adj" fmla="val 538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60935" y="5768744"/>
            <a:ext cx="142875" cy="142875"/>
          </a:xfrm>
          <a:prstGeom prst="rect">
            <a:avLst/>
          </a:prstGeom>
        </p:spPr>
      </p:pic>
      <p:sp>
        <p:nvSpPr>
          <p:cNvPr id="102" name="Text 88"/>
          <p:cNvSpPr/>
          <p:nvPr/>
        </p:nvSpPr>
        <p:spPr>
          <a:xfrm>
            <a:off x="13879877" y="5771390"/>
            <a:ext cx="1403003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EXCEPTION</a:t>
            </a:r>
            <a:endParaRPr lang="en-US" sz="900" dirty="0"/>
          </a:p>
        </p:txBody>
      </p:sp>
      <p:sp>
        <p:nvSpPr>
          <p:cNvPr id="103" name="Text 89"/>
          <p:cNvSpPr/>
          <p:nvPr/>
        </p:nvSpPr>
        <p:spPr>
          <a:xfrm>
            <a:off x="13660935" y="6098811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Requested</a:t>
            </a:r>
            <a:endParaRPr lang="en-US" sz="1050" dirty="0"/>
          </a:p>
        </p:txBody>
      </p:sp>
      <p:sp>
        <p:nvSpPr>
          <p:cNvPr id="104" name="Shape 90"/>
          <p:cNvSpPr/>
          <p:nvPr/>
        </p:nvSpPr>
        <p:spPr>
          <a:xfrm>
            <a:off x="14841968" y="6006869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5" name="Text 91"/>
          <p:cNvSpPr/>
          <p:nvPr/>
        </p:nvSpPr>
        <p:spPr>
          <a:xfrm>
            <a:off x="14957327" y="6093652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 · route optimisation</a:t>
            </a:r>
            <a:endParaRPr lang="en-US" sz="1125" dirty="0"/>
          </a:p>
        </p:txBody>
      </p:sp>
      <p:sp>
        <p:nvSpPr>
          <p:cNvPr id="106" name="Text 92"/>
          <p:cNvSpPr/>
          <p:nvPr/>
        </p:nvSpPr>
        <p:spPr>
          <a:xfrm>
            <a:off x="13660935" y="6517514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Compensation</a:t>
            </a:r>
            <a:endParaRPr lang="en-US" sz="1050" dirty="0"/>
          </a:p>
        </p:txBody>
      </p:sp>
      <p:sp>
        <p:nvSpPr>
          <p:cNvPr id="107" name="Shape 93"/>
          <p:cNvSpPr/>
          <p:nvPr/>
        </p:nvSpPr>
        <p:spPr>
          <a:xfrm>
            <a:off x="14841968" y="6425572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8" name="Text 94"/>
          <p:cNvSpPr/>
          <p:nvPr/>
        </p:nvSpPr>
        <p:spPr>
          <a:xfrm>
            <a:off x="14957327" y="6512355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36-month term</a:t>
            </a:r>
            <a:endParaRPr lang="en-US" sz="1125" dirty="0"/>
          </a:p>
        </p:txBody>
      </p:sp>
      <p:sp>
        <p:nvSpPr>
          <p:cNvPr id="109" name="Text 95"/>
          <p:cNvSpPr/>
          <p:nvPr/>
        </p:nvSpPr>
        <p:spPr>
          <a:xfrm>
            <a:off x="13660935" y="6936218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Approver</a:t>
            </a:r>
            <a:endParaRPr lang="en-US" sz="1050" dirty="0"/>
          </a:p>
        </p:txBody>
      </p:sp>
      <p:sp>
        <p:nvSpPr>
          <p:cNvPr id="110" name="Shape 96"/>
          <p:cNvSpPr/>
          <p:nvPr/>
        </p:nvSpPr>
        <p:spPr>
          <a:xfrm>
            <a:off x="14841968" y="6844275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1" name="Text 97"/>
          <p:cNvSpPr/>
          <p:nvPr/>
        </p:nvSpPr>
        <p:spPr>
          <a:xfrm>
            <a:off x="14957327" y="6931059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desk · M. Brunner</a:t>
            </a:r>
            <a:endParaRPr lang="en-US" sz="1125" dirty="0"/>
          </a:p>
        </p:txBody>
      </p:sp>
      <p:sp>
        <p:nvSpPr>
          <p:cNvPr id="112" name="Text 98"/>
          <p:cNvSpPr/>
          <p:nvPr/>
        </p:nvSpPr>
        <p:spPr>
          <a:xfrm>
            <a:off x="13660935" y="7354921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1050" dirty="0"/>
          </a:p>
        </p:txBody>
      </p:sp>
      <p:sp>
        <p:nvSpPr>
          <p:cNvPr id="113" name="Shape 99"/>
          <p:cNvSpPr/>
          <p:nvPr/>
        </p:nvSpPr>
        <p:spPr>
          <a:xfrm>
            <a:off x="14841968" y="7262978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4" name="Text 100"/>
          <p:cNvSpPr/>
          <p:nvPr/>
        </p:nvSpPr>
        <p:spPr>
          <a:xfrm>
            <a:off x="14957327" y="7349762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SAP-PB-114 margin floor</a:t>
            </a:r>
            <a:endParaRPr lang="en-US" sz="1125" dirty="0"/>
          </a:p>
        </p:txBody>
      </p:sp>
      <p:sp>
        <p:nvSpPr>
          <p:cNvPr id="115" name="Shape 101"/>
          <p:cNvSpPr/>
          <p:nvPr/>
        </p:nvSpPr>
        <p:spPr>
          <a:xfrm>
            <a:off x="13517067" y="7882765"/>
            <a:ext cx="386506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6" name="Shape 102"/>
          <p:cNvSpPr/>
          <p:nvPr/>
        </p:nvSpPr>
        <p:spPr>
          <a:xfrm>
            <a:off x="13517067" y="8037215"/>
            <a:ext cx="1686884" cy="359833"/>
          </a:xfrm>
          <a:prstGeom prst="roundRect">
            <a:avLst>
              <a:gd name="adj" fmla="val 21176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7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50351" y="8145695"/>
            <a:ext cx="142875" cy="142875"/>
          </a:xfrm>
          <a:prstGeom prst="rect">
            <a:avLst/>
          </a:prstGeom>
        </p:spPr>
      </p:pic>
      <p:sp>
        <p:nvSpPr>
          <p:cNvPr id="118" name="Text 103"/>
          <p:cNvSpPr/>
          <p:nvPr/>
        </p:nvSpPr>
        <p:spPr>
          <a:xfrm>
            <a:off x="13859868" y="8132465"/>
            <a:ext cx="1286999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for approval</a:t>
            </a:r>
            <a:endParaRPr lang="en-US" sz="1125" dirty="0"/>
          </a:p>
        </p:txBody>
      </p:sp>
      <p:sp>
        <p:nvSpPr>
          <p:cNvPr id="119" name="Shape 104"/>
          <p:cNvSpPr/>
          <p:nvPr/>
        </p:nvSpPr>
        <p:spPr>
          <a:xfrm>
            <a:off x="15299201" y="8026632"/>
            <a:ext cx="756378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20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443069" y="8145695"/>
            <a:ext cx="142875" cy="142875"/>
          </a:xfrm>
          <a:prstGeom prst="rect">
            <a:avLst/>
          </a:prstGeom>
        </p:spPr>
      </p:pic>
      <p:sp>
        <p:nvSpPr>
          <p:cNvPr id="121" name="Text 105"/>
          <p:cNvSpPr/>
          <p:nvPr/>
        </p:nvSpPr>
        <p:spPr>
          <a:xfrm>
            <a:off x="15652585" y="8132465"/>
            <a:ext cx="335326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25" dirty="0"/>
          </a:p>
        </p:txBody>
      </p:sp>
      <p:sp>
        <p:nvSpPr>
          <p:cNvPr id="122" name="Shape 106"/>
          <p:cNvSpPr/>
          <p:nvPr/>
        </p:nvSpPr>
        <p:spPr>
          <a:xfrm>
            <a:off x="16150829" y="8026632"/>
            <a:ext cx="922900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23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294696" y="8145695"/>
            <a:ext cx="142875" cy="142875"/>
          </a:xfrm>
          <a:prstGeom prst="rect">
            <a:avLst/>
          </a:prstGeom>
        </p:spPr>
      </p:pic>
      <p:sp>
        <p:nvSpPr>
          <p:cNvPr id="124" name="Text 107"/>
          <p:cNvSpPr/>
          <p:nvPr/>
        </p:nvSpPr>
        <p:spPr>
          <a:xfrm>
            <a:off x="16504214" y="8132465"/>
            <a:ext cx="501848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25" dirty="0"/>
          </a:p>
        </p:txBody>
      </p:sp>
      <p:pic>
        <p:nvPicPr>
          <p:cNvPr id="125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517067" y="8548522"/>
            <a:ext cx="133284" cy="133284"/>
          </a:xfrm>
          <a:prstGeom prst="rect">
            <a:avLst/>
          </a:prstGeom>
        </p:spPr>
      </p:pic>
      <p:sp>
        <p:nvSpPr>
          <p:cNvPr id="126" name="Text 108"/>
          <p:cNvSpPr/>
          <p:nvPr/>
        </p:nvSpPr>
        <p:spPr>
          <a:xfrm>
            <a:off x="13726419" y="8521899"/>
            <a:ext cx="1736609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decision required</a:t>
            </a:r>
            <a:endParaRPr lang="en-US" sz="1050" dirty="0"/>
          </a:p>
        </p:txBody>
      </p:sp>
      <p:sp>
        <p:nvSpPr>
          <p:cNvPr id="127" name="Shape 109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Shape 110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Text 111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Exceptions go to a human with the comparable-deal evidence attached.</a:t>
            </a:r>
            <a:endParaRPr lang="en-US" sz="20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424177" y="235975"/>
            <a:ext cx="125425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PROPOSALS &amp; RFP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 · 08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RFP and proposal generation from approved content only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2420700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2399533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2399533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335243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· RFP-2291 · 84 questions · due in 6 days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1549890" y="2127085"/>
            <a:ext cx="1355494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1645140" y="2165185"/>
            <a:ext cx="1241194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1 in 11 minutes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48651" y="3544921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1703183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23"/>
          <p:cNvSpPr/>
          <p:nvPr/>
        </p:nvSpPr>
        <p:spPr>
          <a:xfrm>
            <a:off x="1621234" y="2726035"/>
            <a:ext cx="5301919" cy="6064581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5" name="Text 24"/>
          <p:cNvSpPr/>
          <p:nvPr/>
        </p:nvSpPr>
        <p:spPr>
          <a:xfrm>
            <a:off x="1822318" y="2927119"/>
            <a:ext cx="5389728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BUILD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822318" y="3236020"/>
            <a:ext cx="1667669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275" dirty="0"/>
          </a:p>
        </p:txBody>
      </p:sp>
      <p:sp>
        <p:nvSpPr>
          <p:cNvPr id="37" name="Text 26"/>
          <p:cNvSpPr/>
          <p:nvPr/>
        </p:nvSpPr>
        <p:spPr>
          <a:xfrm>
            <a:off x="6214567" y="3236020"/>
            <a:ext cx="58370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Drafted</a:t>
            </a:r>
            <a:endParaRPr lang="en-US" sz="1125" dirty="0"/>
          </a:p>
        </p:txBody>
      </p:sp>
      <p:sp>
        <p:nvSpPr>
          <p:cNvPr id="38" name="Shape 27"/>
          <p:cNvSpPr/>
          <p:nvPr/>
        </p:nvSpPr>
        <p:spPr>
          <a:xfrm>
            <a:off x="1822318" y="3532353"/>
            <a:ext cx="4899753" cy="57051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Shape 28"/>
          <p:cNvSpPr/>
          <p:nvPr/>
        </p:nvSpPr>
        <p:spPr>
          <a:xfrm>
            <a:off x="1822318" y="3532353"/>
            <a:ext cx="4899753" cy="5705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Text 29"/>
          <p:cNvSpPr/>
          <p:nvPr/>
        </p:nvSpPr>
        <p:spPr>
          <a:xfrm>
            <a:off x="1822318" y="3741705"/>
            <a:ext cx="2656483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of requirements</a:t>
            </a:r>
            <a:endParaRPr lang="en-US" sz="1275" dirty="0"/>
          </a:p>
        </p:txBody>
      </p:sp>
      <p:sp>
        <p:nvSpPr>
          <p:cNvPr id="41" name="Text 30"/>
          <p:cNvSpPr/>
          <p:nvPr/>
        </p:nvSpPr>
        <p:spPr>
          <a:xfrm>
            <a:off x="6214567" y="3741705"/>
            <a:ext cx="58370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Drafted</a:t>
            </a:r>
            <a:endParaRPr lang="en-US" sz="1125" dirty="0"/>
          </a:p>
        </p:txBody>
      </p:sp>
      <p:sp>
        <p:nvSpPr>
          <p:cNvPr id="42" name="Shape 31"/>
          <p:cNvSpPr/>
          <p:nvPr/>
        </p:nvSpPr>
        <p:spPr>
          <a:xfrm>
            <a:off x="1822318" y="4038038"/>
            <a:ext cx="4899753" cy="57051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3" name="Shape 32"/>
          <p:cNvSpPr/>
          <p:nvPr/>
        </p:nvSpPr>
        <p:spPr>
          <a:xfrm>
            <a:off x="1822318" y="4038038"/>
            <a:ext cx="4899753" cy="5705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Text 33"/>
          <p:cNvSpPr/>
          <p:nvPr/>
        </p:nvSpPr>
        <p:spPr>
          <a:xfrm>
            <a:off x="1822318" y="4247390"/>
            <a:ext cx="193069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&amp; architecture</a:t>
            </a:r>
            <a:endParaRPr lang="en-US" sz="1275" dirty="0"/>
          </a:p>
        </p:txBody>
      </p:sp>
      <p:sp>
        <p:nvSpPr>
          <p:cNvPr id="45" name="Text 34"/>
          <p:cNvSpPr/>
          <p:nvPr/>
        </p:nvSpPr>
        <p:spPr>
          <a:xfrm>
            <a:off x="6214567" y="4247390"/>
            <a:ext cx="58370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Drafted</a:t>
            </a:r>
            <a:endParaRPr lang="en-US" sz="1125" dirty="0"/>
          </a:p>
        </p:txBody>
      </p:sp>
      <p:sp>
        <p:nvSpPr>
          <p:cNvPr id="46" name="Shape 35"/>
          <p:cNvSpPr/>
          <p:nvPr/>
        </p:nvSpPr>
        <p:spPr>
          <a:xfrm>
            <a:off x="1822318" y="4543723"/>
            <a:ext cx="4899753" cy="57051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7" name="Shape 36"/>
          <p:cNvSpPr/>
          <p:nvPr/>
        </p:nvSpPr>
        <p:spPr>
          <a:xfrm>
            <a:off x="1822318" y="4543723"/>
            <a:ext cx="4899753" cy="5705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8" name="Text 37"/>
          <p:cNvSpPr/>
          <p:nvPr/>
        </p:nvSpPr>
        <p:spPr>
          <a:xfrm>
            <a:off x="1822318" y="4753074"/>
            <a:ext cx="2177537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data residency</a:t>
            </a:r>
            <a:endParaRPr lang="en-US" sz="1275" dirty="0"/>
          </a:p>
        </p:txBody>
      </p:sp>
      <p:sp>
        <p:nvSpPr>
          <p:cNvPr id="49" name="Text 38"/>
          <p:cNvSpPr/>
          <p:nvPr/>
        </p:nvSpPr>
        <p:spPr>
          <a:xfrm>
            <a:off x="5218411" y="4753074"/>
            <a:ext cx="1654026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approved library</a:t>
            </a:r>
            <a:endParaRPr lang="en-US" sz="1125" dirty="0"/>
          </a:p>
        </p:txBody>
      </p:sp>
      <p:sp>
        <p:nvSpPr>
          <p:cNvPr id="50" name="Shape 39"/>
          <p:cNvSpPr/>
          <p:nvPr/>
        </p:nvSpPr>
        <p:spPr>
          <a:xfrm>
            <a:off x="1822318" y="5049408"/>
            <a:ext cx="4899753" cy="57051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1" name="Shape 40"/>
          <p:cNvSpPr/>
          <p:nvPr/>
        </p:nvSpPr>
        <p:spPr>
          <a:xfrm>
            <a:off x="1822318" y="5049408"/>
            <a:ext cx="4899753" cy="5705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2" name="Text 41"/>
          <p:cNvSpPr/>
          <p:nvPr/>
        </p:nvSpPr>
        <p:spPr>
          <a:xfrm>
            <a:off x="1822318" y="5258759"/>
            <a:ext cx="1088727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Commercials</a:t>
            </a:r>
            <a:endParaRPr lang="en-US" sz="1275" dirty="0"/>
          </a:p>
        </p:txBody>
      </p:sp>
      <p:sp>
        <p:nvSpPr>
          <p:cNvPr id="53" name="Text 42"/>
          <p:cNvSpPr/>
          <p:nvPr/>
        </p:nvSpPr>
        <p:spPr>
          <a:xfrm>
            <a:off x="5439834" y="5258759"/>
            <a:ext cx="1410461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B25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Awaiting deal desk</a:t>
            </a:r>
            <a:endParaRPr lang="en-US" sz="1125" dirty="0"/>
          </a:p>
        </p:txBody>
      </p:sp>
      <p:sp>
        <p:nvSpPr>
          <p:cNvPr id="54" name="Shape 43"/>
          <p:cNvSpPr/>
          <p:nvPr/>
        </p:nvSpPr>
        <p:spPr>
          <a:xfrm>
            <a:off x="1822318" y="5555093"/>
            <a:ext cx="4899753" cy="57051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Shape 44"/>
          <p:cNvSpPr/>
          <p:nvPr/>
        </p:nvSpPr>
        <p:spPr>
          <a:xfrm>
            <a:off x="1822318" y="5555093"/>
            <a:ext cx="3037747" cy="57051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Text 45"/>
          <p:cNvSpPr/>
          <p:nvPr/>
        </p:nvSpPr>
        <p:spPr>
          <a:xfrm>
            <a:off x="1822318" y="5764444"/>
            <a:ext cx="95362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1275" dirty="0"/>
          </a:p>
        </p:txBody>
      </p:sp>
      <p:sp>
        <p:nvSpPr>
          <p:cNvPr id="57" name="Text 46"/>
          <p:cNvSpPr/>
          <p:nvPr/>
        </p:nvSpPr>
        <p:spPr>
          <a:xfrm>
            <a:off x="5239742" y="5764444"/>
            <a:ext cx="1630561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B25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consent check</a:t>
            </a:r>
            <a:endParaRPr lang="en-US" sz="1125" dirty="0"/>
          </a:p>
        </p:txBody>
      </p:sp>
      <p:sp>
        <p:nvSpPr>
          <p:cNvPr id="58" name="Shape 47"/>
          <p:cNvSpPr/>
          <p:nvPr/>
        </p:nvSpPr>
        <p:spPr>
          <a:xfrm>
            <a:off x="1822318" y="6060778"/>
            <a:ext cx="4899753" cy="57051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Shape 48"/>
          <p:cNvSpPr/>
          <p:nvPr/>
        </p:nvSpPr>
        <p:spPr>
          <a:xfrm>
            <a:off x="1822318" y="6060778"/>
            <a:ext cx="1959901" cy="57051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Shape 49"/>
          <p:cNvSpPr/>
          <p:nvPr/>
        </p:nvSpPr>
        <p:spPr>
          <a:xfrm>
            <a:off x="7075455" y="2726035"/>
            <a:ext cx="5791895" cy="6064581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1" name="Text 50"/>
          <p:cNvSpPr/>
          <p:nvPr/>
        </p:nvSpPr>
        <p:spPr>
          <a:xfrm>
            <a:off x="7276538" y="2927119"/>
            <a:ext cx="5928701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PREVIEW · Q41 DATA RESIDENCY</a:t>
            </a:r>
            <a:endParaRPr lang="en-US" sz="900" dirty="0"/>
          </a:p>
        </p:txBody>
      </p:sp>
      <p:sp>
        <p:nvSpPr>
          <p:cNvPr id="62" name="Text 51"/>
          <p:cNvSpPr/>
          <p:nvPr/>
        </p:nvSpPr>
        <p:spPr>
          <a:xfrm>
            <a:off x="7276538" y="3197986"/>
            <a:ext cx="5551420" cy="1135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600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customer data remains in EU regions. Processing runs inside the customer tenant; no prompt, retrieval or output is used for model training. Access is enforced per role and per region at query time, and every access is logged.</a:t>
            </a:r>
            <a:endParaRPr lang="en-US" sz="1350" dirty="0"/>
          </a:p>
        </p:txBody>
      </p:sp>
      <p:sp>
        <p:nvSpPr>
          <p:cNvPr id="63" name="Shape 52"/>
          <p:cNvSpPr/>
          <p:nvPr/>
        </p:nvSpPr>
        <p:spPr>
          <a:xfrm>
            <a:off x="7276538" y="4485845"/>
            <a:ext cx="5389728" cy="359833"/>
          </a:xfrm>
          <a:prstGeom prst="roundRect">
            <a:avLst>
              <a:gd name="adj" fmla="val 21176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53"/>
          <p:cNvSpPr/>
          <p:nvPr/>
        </p:nvSpPr>
        <p:spPr>
          <a:xfrm>
            <a:off x="7409888" y="4581095"/>
            <a:ext cx="528472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· SharePoint · Security whitepaper v6, §3.2</a:t>
            </a:r>
            <a:endParaRPr lang="en-US" sz="1125" dirty="0"/>
          </a:p>
        </p:txBody>
      </p:sp>
      <p:sp>
        <p:nvSpPr>
          <p:cNvPr id="65" name="Shape 54"/>
          <p:cNvSpPr/>
          <p:nvPr/>
        </p:nvSpPr>
        <p:spPr>
          <a:xfrm>
            <a:off x="7276538" y="4940929"/>
            <a:ext cx="5389728" cy="359833"/>
          </a:xfrm>
          <a:prstGeom prst="roundRect">
            <a:avLst>
              <a:gd name="adj" fmla="val 21176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5"/>
          <p:cNvSpPr/>
          <p:nvPr/>
        </p:nvSpPr>
        <p:spPr>
          <a:xfrm>
            <a:off x="7409888" y="5036179"/>
            <a:ext cx="528472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· SharePoint · DPA template, clause 9</a:t>
            </a:r>
            <a:endParaRPr lang="en-US" sz="1125" dirty="0"/>
          </a:p>
        </p:txBody>
      </p:sp>
      <p:sp>
        <p:nvSpPr>
          <p:cNvPr id="67" name="Shape 56"/>
          <p:cNvSpPr/>
          <p:nvPr/>
        </p:nvSpPr>
        <p:spPr>
          <a:xfrm>
            <a:off x="7276538" y="5396012"/>
            <a:ext cx="5389728" cy="359833"/>
          </a:xfrm>
          <a:prstGeom prst="roundRect">
            <a:avLst>
              <a:gd name="adj" fmla="val 21176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7"/>
          <p:cNvSpPr/>
          <p:nvPr/>
        </p:nvSpPr>
        <p:spPr>
          <a:xfrm>
            <a:off x="7409888" y="5491262"/>
            <a:ext cx="528472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· AI Hub · policy engine configuration</a:t>
            </a:r>
            <a:endParaRPr lang="en-US" sz="1125" dirty="0"/>
          </a:p>
        </p:txBody>
      </p:sp>
      <p:sp>
        <p:nvSpPr>
          <p:cNvPr id="69" name="Text 58"/>
          <p:cNvSpPr/>
          <p:nvPr/>
        </p:nvSpPr>
        <p:spPr>
          <a:xfrm>
            <a:off x="7276538" y="8250866"/>
            <a:ext cx="555142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Unsupported claims are refused, not invented. 6 of 84 questions were escalated to a human owner.</a:t>
            </a:r>
            <a:endParaRPr lang="en-US" sz="1125" dirty="0"/>
          </a:p>
        </p:txBody>
      </p:sp>
      <p:sp>
        <p:nvSpPr>
          <p:cNvPr id="70" name="Shape 59"/>
          <p:cNvSpPr/>
          <p:nvPr/>
        </p:nvSpPr>
        <p:spPr>
          <a:xfrm>
            <a:off x="13296966" y="1981068"/>
            <a:ext cx="4305267" cy="7048666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7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17067" y="2201168"/>
            <a:ext cx="161892" cy="161892"/>
          </a:xfrm>
          <a:prstGeom prst="rect">
            <a:avLst/>
          </a:prstGeom>
        </p:spPr>
      </p:pic>
      <p:sp>
        <p:nvSpPr>
          <p:cNvPr id="72" name="Text 60"/>
          <p:cNvSpPr/>
          <p:nvPr/>
        </p:nvSpPr>
        <p:spPr>
          <a:xfrm>
            <a:off x="13764618" y="2213240"/>
            <a:ext cx="82083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900" dirty="0"/>
          </a:p>
        </p:txBody>
      </p:sp>
      <p:pic>
        <p:nvPicPr>
          <p:cNvPr id="7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29833" y="2205964"/>
            <a:ext cx="152301" cy="152301"/>
          </a:xfrm>
          <a:prstGeom prst="rect">
            <a:avLst/>
          </a:prstGeom>
        </p:spPr>
      </p:pic>
      <p:sp>
        <p:nvSpPr>
          <p:cNvPr id="74" name="Shape 61"/>
          <p:cNvSpPr/>
          <p:nvPr/>
        </p:nvSpPr>
        <p:spPr>
          <a:xfrm>
            <a:off x="13559732" y="2477327"/>
            <a:ext cx="3822402" cy="635992"/>
          </a:xfrm>
          <a:prstGeom prst="roundRect">
            <a:avLst>
              <a:gd name="adj" fmla="val 17972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5" name="Text 62"/>
          <p:cNvSpPr/>
          <p:nvPr/>
        </p:nvSpPr>
        <p:spPr>
          <a:xfrm>
            <a:off x="13693015" y="2582003"/>
            <a:ext cx="366251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8"/>
              </a:lnSpc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answers still need a human before we submit?</a:t>
            </a:r>
            <a:endParaRPr lang="en-US" sz="1200" dirty="0"/>
          </a:p>
        </p:txBody>
      </p:sp>
      <p:sp>
        <p:nvSpPr>
          <p:cNvPr id="76" name="Text 63"/>
          <p:cNvSpPr/>
          <p:nvPr/>
        </p:nvSpPr>
        <p:spPr>
          <a:xfrm>
            <a:off x="13517067" y="3227586"/>
            <a:ext cx="3981019" cy="766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of 84 answers were escalated. Four are commercial, two need a reference customer's consent, which cannot be assumed from the CRM.</a:t>
            </a:r>
            <a:endParaRPr lang="en-US" sz="1275" dirty="0"/>
          </a:p>
        </p:txBody>
      </p:sp>
      <p:sp>
        <p:nvSpPr>
          <p:cNvPr id="77" name="Shape 64"/>
          <p:cNvSpPr/>
          <p:nvPr/>
        </p:nvSpPr>
        <p:spPr>
          <a:xfrm>
            <a:off x="13517067" y="4070119"/>
            <a:ext cx="3865067" cy="1197736"/>
          </a:xfrm>
          <a:prstGeom prst="roundRect">
            <a:avLst>
              <a:gd name="adj" fmla="val 954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Text 65"/>
          <p:cNvSpPr/>
          <p:nvPr/>
        </p:nvSpPr>
        <p:spPr>
          <a:xfrm>
            <a:off x="13650351" y="4203402"/>
            <a:ext cx="3958349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BY STATE</a:t>
            </a:r>
            <a:endParaRPr lang="en-US" sz="900" dirty="0"/>
          </a:p>
        </p:txBody>
      </p:sp>
      <p:sp>
        <p:nvSpPr>
          <p:cNvPr id="79" name="Text 66"/>
          <p:cNvSpPr/>
          <p:nvPr/>
        </p:nvSpPr>
        <p:spPr>
          <a:xfrm>
            <a:off x="13650351" y="4460545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Auto-drafted</a:t>
            </a:r>
            <a:endParaRPr lang="en-US" sz="1050" dirty="0"/>
          </a:p>
        </p:txBody>
      </p:sp>
      <p:sp>
        <p:nvSpPr>
          <p:cNvPr id="80" name="Shape 67"/>
          <p:cNvSpPr/>
          <p:nvPr/>
        </p:nvSpPr>
        <p:spPr>
          <a:xfrm>
            <a:off x="15212385" y="4501886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Shape 68"/>
          <p:cNvSpPr/>
          <p:nvPr/>
        </p:nvSpPr>
        <p:spPr>
          <a:xfrm>
            <a:off x="15212385" y="4501886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Text 69"/>
          <p:cNvSpPr/>
          <p:nvPr/>
        </p:nvSpPr>
        <p:spPr>
          <a:xfrm>
            <a:off x="16582133" y="4455253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1125" dirty="0"/>
          </a:p>
        </p:txBody>
      </p:sp>
      <p:sp>
        <p:nvSpPr>
          <p:cNvPr id="83" name="Text 70"/>
          <p:cNvSpPr/>
          <p:nvPr/>
        </p:nvSpPr>
        <p:spPr>
          <a:xfrm>
            <a:off x="13650351" y="4715537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Escalated</a:t>
            </a:r>
            <a:endParaRPr lang="en-US" sz="1050" dirty="0"/>
          </a:p>
        </p:txBody>
      </p:sp>
      <p:sp>
        <p:nvSpPr>
          <p:cNvPr id="84" name="Shape 71"/>
          <p:cNvSpPr/>
          <p:nvPr/>
        </p:nvSpPr>
        <p:spPr>
          <a:xfrm>
            <a:off x="15212385" y="4756878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Shape 72"/>
          <p:cNvSpPr/>
          <p:nvPr/>
        </p:nvSpPr>
        <p:spPr>
          <a:xfrm>
            <a:off x="15212385" y="4756878"/>
            <a:ext cx="102361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6" name="Text 73"/>
          <p:cNvSpPr/>
          <p:nvPr/>
        </p:nvSpPr>
        <p:spPr>
          <a:xfrm>
            <a:off x="16582133" y="4710245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25" dirty="0"/>
          </a:p>
        </p:txBody>
      </p:sp>
      <p:sp>
        <p:nvSpPr>
          <p:cNvPr id="87" name="Text 74"/>
          <p:cNvSpPr/>
          <p:nvPr/>
        </p:nvSpPr>
        <p:spPr>
          <a:xfrm>
            <a:off x="13650351" y="4970529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Refused</a:t>
            </a:r>
            <a:endParaRPr lang="en-US" sz="1050" dirty="0"/>
          </a:p>
        </p:txBody>
      </p:sp>
      <p:sp>
        <p:nvSpPr>
          <p:cNvPr id="88" name="Shape 75"/>
          <p:cNvSpPr/>
          <p:nvPr/>
        </p:nvSpPr>
        <p:spPr>
          <a:xfrm>
            <a:off x="15212385" y="5011870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Text 76"/>
          <p:cNvSpPr/>
          <p:nvPr/>
        </p:nvSpPr>
        <p:spPr>
          <a:xfrm>
            <a:off x="16582133" y="4965237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125" dirty="0"/>
          </a:p>
        </p:txBody>
      </p:sp>
      <p:sp>
        <p:nvSpPr>
          <p:cNvPr id="90" name="Shape 77"/>
          <p:cNvSpPr/>
          <p:nvPr/>
        </p:nvSpPr>
        <p:spPr>
          <a:xfrm>
            <a:off x="13517067" y="5382121"/>
            <a:ext cx="3865067" cy="2124604"/>
          </a:xfrm>
          <a:prstGeom prst="roundRect">
            <a:avLst>
              <a:gd name="adj" fmla="val 538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9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60935" y="5525988"/>
            <a:ext cx="142875" cy="142875"/>
          </a:xfrm>
          <a:prstGeom prst="rect">
            <a:avLst/>
          </a:prstGeom>
        </p:spPr>
      </p:pic>
      <p:sp>
        <p:nvSpPr>
          <p:cNvPr id="92" name="Text 78"/>
          <p:cNvSpPr/>
          <p:nvPr/>
        </p:nvSpPr>
        <p:spPr>
          <a:xfrm>
            <a:off x="13879877" y="5528635"/>
            <a:ext cx="1717510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OPEN ANSWERS</a:t>
            </a:r>
            <a:endParaRPr lang="en-US" sz="900" dirty="0"/>
          </a:p>
        </p:txBody>
      </p:sp>
      <p:sp>
        <p:nvSpPr>
          <p:cNvPr id="93" name="Text 79"/>
          <p:cNvSpPr/>
          <p:nvPr/>
        </p:nvSpPr>
        <p:spPr>
          <a:xfrm>
            <a:off x="13660935" y="5856057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· 4</a:t>
            </a:r>
            <a:endParaRPr lang="en-US" sz="1050" dirty="0"/>
          </a:p>
        </p:txBody>
      </p:sp>
      <p:sp>
        <p:nvSpPr>
          <p:cNvPr id="94" name="Shape 80"/>
          <p:cNvSpPr/>
          <p:nvPr/>
        </p:nvSpPr>
        <p:spPr>
          <a:xfrm>
            <a:off x="14841968" y="5764113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5" name="Text 81"/>
          <p:cNvSpPr/>
          <p:nvPr/>
        </p:nvSpPr>
        <p:spPr>
          <a:xfrm>
            <a:off x="14957327" y="5850897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desk · M. Brunner</a:t>
            </a:r>
            <a:endParaRPr lang="en-US" sz="1125" dirty="0"/>
          </a:p>
        </p:txBody>
      </p:sp>
      <p:sp>
        <p:nvSpPr>
          <p:cNvPr id="96" name="Text 82"/>
          <p:cNvSpPr/>
          <p:nvPr/>
        </p:nvSpPr>
        <p:spPr>
          <a:xfrm>
            <a:off x="13660935" y="6274759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· 2</a:t>
            </a:r>
            <a:endParaRPr lang="en-US" sz="1050" dirty="0"/>
          </a:p>
        </p:txBody>
      </p:sp>
      <p:sp>
        <p:nvSpPr>
          <p:cNvPr id="97" name="Shape 83"/>
          <p:cNvSpPr/>
          <p:nvPr/>
        </p:nvSpPr>
        <p:spPr>
          <a:xfrm>
            <a:off x="14841968" y="6182817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8" name="Text 84"/>
          <p:cNvSpPr/>
          <p:nvPr/>
        </p:nvSpPr>
        <p:spPr>
          <a:xfrm>
            <a:off x="14957327" y="6269600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· consent check</a:t>
            </a:r>
            <a:endParaRPr lang="en-US" sz="1125" dirty="0"/>
          </a:p>
        </p:txBody>
      </p:sp>
      <p:sp>
        <p:nvSpPr>
          <p:cNvPr id="99" name="Text 85"/>
          <p:cNvSpPr/>
          <p:nvPr/>
        </p:nvSpPr>
        <p:spPr>
          <a:xfrm>
            <a:off x="13660935" y="6693462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Deadline</a:t>
            </a:r>
            <a:endParaRPr lang="en-US" sz="1050" dirty="0"/>
          </a:p>
        </p:txBody>
      </p:sp>
      <p:sp>
        <p:nvSpPr>
          <p:cNvPr id="100" name="Shape 86"/>
          <p:cNvSpPr/>
          <p:nvPr/>
        </p:nvSpPr>
        <p:spPr>
          <a:xfrm>
            <a:off x="14841968" y="6601520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1" name="Text 87"/>
          <p:cNvSpPr/>
          <p:nvPr/>
        </p:nvSpPr>
        <p:spPr>
          <a:xfrm>
            <a:off x="14957327" y="6688303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15, 17:00 CET</a:t>
            </a:r>
            <a:endParaRPr lang="en-US" sz="1125" dirty="0"/>
          </a:p>
        </p:txBody>
      </p:sp>
      <p:sp>
        <p:nvSpPr>
          <p:cNvPr id="102" name="Text 88"/>
          <p:cNvSpPr/>
          <p:nvPr/>
        </p:nvSpPr>
        <p:spPr>
          <a:xfrm>
            <a:off x="13660935" y="7112166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</a:t>
            </a:r>
            <a:endParaRPr lang="en-US" sz="1050" dirty="0"/>
          </a:p>
        </p:txBody>
      </p:sp>
      <p:sp>
        <p:nvSpPr>
          <p:cNvPr id="103" name="Shape 89"/>
          <p:cNvSpPr/>
          <p:nvPr/>
        </p:nvSpPr>
        <p:spPr>
          <a:xfrm>
            <a:off x="14841968" y="7020223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4" name="Text 90"/>
          <p:cNvSpPr/>
          <p:nvPr/>
        </p:nvSpPr>
        <p:spPr>
          <a:xfrm>
            <a:off x="14957327" y="7107007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 until all six close</a:t>
            </a:r>
            <a:endParaRPr lang="en-US" sz="1125" dirty="0"/>
          </a:p>
        </p:txBody>
      </p:sp>
      <p:sp>
        <p:nvSpPr>
          <p:cNvPr id="105" name="Shape 91"/>
          <p:cNvSpPr/>
          <p:nvPr/>
        </p:nvSpPr>
        <p:spPr>
          <a:xfrm>
            <a:off x="13517067" y="7640009"/>
            <a:ext cx="386506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6" name="Shape 92"/>
          <p:cNvSpPr/>
          <p:nvPr/>
        </p:nvSpPr>
        <p:spPr>
          <a:xfrm>
            <a:off x="13517067" y="7794460"/>
            <a:ext cx="1668529" cy="359833"/>
          </a:xfrm>
          <a:prstGeom prst="roundRect">
            <a:avLst>
              <a:gd name="adj" fmla="val 21176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7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50351" y="7902939"/>
            <a:ext cx="142875" cy="142875"/>
          </a:xfrm>
          <a:prstGeom prst="rect">
            <a:avLst/>
          </a:prstGeom>
        </p:spPr>
      </p:pic>
      <p:sp>
        <p:nvSpPr>
          <p:cNvPr id="108" name="Text 93"/>
          <p:cNvSpPr/>
          <p:nvPr/>
        </p:nvSpPr>
        <p:spPr>
          <a:xfrm>
            <a:off x="13859868" y="7889710"/>
            <a:ext cx="1268643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&amp; assign</a:t>
            </a:r>
            <a:endParaRPr lang="en-US" sz="1125" dirty="0"/>
          </a:p>
        </p:txBody>
      </p:sp>
      <p:sp>
        <p:nvSpPr>
          <p:cNvPr id="109" name="Shape 94"/>
          <p:cNvSpPr/>
          <p:nvPr/>
        </p:nvSpPr>
        <p:spPr>
          <a:xfrm>
            <a:off x="15280846" y="7783877"/>
            <a:ext cx="756378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10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424713" y="7902939"/>
            <a:ext cx="142875" cy="142875"/>
          </a:xfrm>
          <a:prstGeom prst="rect">
            <a:avLst/>
          </a:prstGeom>
        </p:spPr>
      </p:pic>
      <p:sp>
        <p:nvSpPr>
          <p:cNvPr id="111" name="Text 95"/>
          <p:cNvSpPr/>
          <p:nvPr/>
        </p:nvSpPr>
        <p:spPr>
          <a:xfrm>
            <a:off x="15634229" y="7889710"/>
            <a:ext cx="335327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25" dirty="0"/>
          </a:p>
        </p:txBody>
      </p:sp>
      <p:sp>
        <p:nvSpPr>
          <p:cNvPr id="112" name="Shape 96"/>
          <p:cNvSpPr/>
          <p:nvPr/>
        </p:nvSpPr>
        <p:spPr>
          <a:xfrm>
            <a:off x="16132473" y="7783877"/>
            <a:ext cx="922900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13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276340" y="7902939"/>
            <a:ext cx="142875" cy="142875"/>
          </a:xfrm>
          <a:prstGeom prst="rect">
            <a:avLst/>
          </a:prstGeom>
        </p:spPr>
      </p:pic>
      <p:sp>
        <p:nvSpPr>
          <p:cNvPr id="114" name="Text 97"/>
          <p:cNvSpPr/>
          <p:nvPr/>
        </p:nvSpPr>
        <p:spPr>
          <a:xfrm>
            <a:off x="16485858" y="7889710"/>
            <a:ext cx="501848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25" dirty="0"/>
          </a:p>
        </p:txBody>
      </p:sp>
      <p:pic>
        <p:nvPicPr>
          <p:cNvPr id="115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517067" y="8305767"/>
            <a:ext cx="133284" cy="133284"/>
          </a:xfrm>
          <a:prstGeom prst="rect">
            <a:avLst/>
          </a:prstGeom>
        </p:spPr>
      </p:pic>
      <p:sp>
        <p:nvSpPr>
          <p:cNvPr id="116" name="Text 98"/>
          <p:cNvSpPr/>
          <p:nvPr/>
        </p:nvSpPr>
        <p:spPr>
          <a:xfrm>
            <a:off x="13726419" y="8279143"/>
            <a:ext cx="3453755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 stays blocked without human sign-off</a:t>
            </a:r>
            <a:endParaRPr lang="en-US" sz="1050" dirty="0"/>
          </a:p>
        </p:txBody>
      </p:sp>
      <p:sp>
        <p:nvSpPr>
          <p:cNvPr id="117" name="Shape 99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Shape 100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9" name="Text 101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 stays blocked until all six escalated answers are closed by their owners.</a:t>
            </a:r>
            <a:endParaRPr lang="en-US" sz="20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726959" y="235975"/>
            <a:ext cx="951475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TO CRM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 · 09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summaries write themselves back into the CRM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5543683" cy="7048666"/>
          </a:xfrm>
          <a:prstGeom prst="roundRect">
            <a:avLst>
              <a:gd name="adj" fmla="val 274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905867" y="2201168"/>
            <a:ext cx="304767" cy="304767"/>
          </a:xfrm>
          <a:prstGeom prst="roundRect">
            <a:avLst>
              <a:gd name="adj" fmla="val 25003"/>
            </a:avLst>
          </a:prstGeom>
          <a:solidFill>
            <a:srgbClr val="2F3034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509" y="2267810"/>
            <a:ext cx="171318" cy="1713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4901" y="2247635"/>
            <a:ext cx="3162168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call · 47 min · 4 participants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905867" y="2696435"/>
            <a:ext cx="5103482" cy="709745"/>
          </a:xfrm>
          <a:prstGeom prst="roundRect">
            <a:avLst>
              <a:gd name="adj" fmla="val 16104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039151" y="2829719"/>
            <a:ext cx="532060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39151" y="3024353"/>
            <a:ext cx="5320606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50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will run an architecture review before signing.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905867" y="3520447"/>
            <a:ext cx="5103482" cy="709745"/>
          </a:xfrm>
          <a:prstGeom prst="roundRect">
            <a:avLst>
              <a:gd name="adj" fmla="val 16104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5"/>
          <p:cNvSpPr/>
          <p:nvPr/>
        </p:nvSpPr>
        <p:spPr>
          <a:xfrm>
            <a:off x="1039151" y="3653731"/>
            <a:ext cx="532060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39151" y="3848365"/>
            <a:ext cx="5320606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50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questionnaire not yet returned by their IT.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905867" y="4344459"/>
            <a:ext cx="5103482" cy="709745"/>
          </a:xfrm>
          <a:prstGeom prst="roundRect">
            <a:avLst>
              <a:gd name="adj" fmla="val 16104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" name="Text 18"/>
          <p:cNvSpPr/>
          <p:nvPr/>
        </p:nvSpPr>
        <p:spPr>
          <a:xfrm>
            <a:off x="1039151" y="4477742"/>
            <a:ext cx="532060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039151" y="4672376"/>
            <a:ext cx="5320606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50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bbv to send route-optimisation business case by Friday.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905867" y="5168471"/>
            <a:ext cx="5103482" cy="709745"/>
          </a:xfrm>
          <a:prstGeom prst="roundRect">
            <a:avLst>
              <a:gd name="adj" fmla="val 16104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21"/>
          <p:cNvSpPr/>
          <p:nvPr/>
        </p:nvSpPr>
        <p:spPr>
          <a:xfrm>
            <a:off x="1039151" y="5301754"/>
            <a:ext cx="532060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39151" y="5496388"/>
            <a:ext cx="5320606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50"/>
              </a:lnSpc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competitors evaluated; price is not the deciding factor.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905867" y="8640300"/>
            <a:ext cx="561383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Recording stays in M365. Only the extracted fields cross into the CRM.</a:t>
            </a:r>
            <a:endParaRPr lang="en-US" sz="1125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5034" y="5219568"/>
            <a:ext cx="762000" cy="57150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7562784" y="1981068"/>
            <a:ext cx="5543683" cy="7048666"/>
          </a:xfrm>
          <a:prstGeom prst="roundRect">
            <a:avLst>
              <a:gd name="adj" fmla="val 274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0" name="Shape 25"/>
          <p:cNvSpPr/>
          <p:nvPr/>
        </p:nvSpPr>
        <p:spPr>
          <a:xfrm>
            <a:off x="7782884" y="2201168"/>
            <a:ext cx="304767" cy="304767"/>
          </a:xfrm>
          <a:prstGeom prst="roundRect">
            <a:avLst>
              <a:gd name="adj" fmla="val 25003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9527" y="2267810"/>
            <a:ext cx="171318" cy="17131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201919" y="2247635"/>
            <a:ext cx="2163531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· OPP-40218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11730964" y="2241352"/>
            <a:ext cx="1155402" cy="224234"/>
          </a:xfrm>
          <a:prstGeom prst="roundRect">
            <a:avLst>
              <a:gd name="adj" fmla="val 16991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Text 28"/>
          <p:cNvSpPr/>
          <p:nvPr/>
        </p:nvSpPr>
        <p:spPr>
          <a:xfrm>
            <a:off x="11826214" y="2279452"/>
            <a:ext cx="1041102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fields updated</a:t>
            </a:r>
            <a:endParaRPr lang="en-US" sz="975" dirty="0"/>
          </a:p>
        </p:txBody>
      </p:sp>
      <p:sp>
        <p:nvSpPr>
          <p:cNvPr id="35" name="Text 29"/>
          <p:cNvSpPr/>
          <p:nvPr/>
        </p:nvSpPr>
        <p:spPr>
          <a:xfrm>
            <a:off x="7782884" y="2863619"/>
            <a:ext cx="809096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</a:t>
            </a:r>
            <a:endParaRPr lang="en-US" sz="1275" dirty="0"/>
          </a:p>
        </p:txBody>
      </p:sp>
      <p:sp>
        <p:nvSpPr>
          <p:cNvPr id="36" name="Text 30"/>
          <p:cNvSpPr/>
          <p:nvPr/>
        </p:nvSpPr>
        <p:spPr>
          <a:xfrm>
            <a:off x="9603963" y="2858327"/>
            <a:ext cx="3282404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review with CIO, 19 Aug</a:t>
            </a:r>
            <a:endParaRPr lang="en-US" sz="1350" dirty="0"/>
          </a:p>
        </p:txBody>
      </p:sp>
      <p:sp>
        <p:nvSpPr>
          <p:cNvPr id="37" name="Shape 31"/>
          <p:cNvSpPr/>
          <p:nvPr/>
        </p:nvSpPr>
        <p:spPr>
          <a:xfrm>
            <a:off x="7782884" y="3231886"/>
            <a:ext cx="5103482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Text 32"/>
          <p:cNvSpPr/>
          <p:nvPr/>
        </p:nvSpPr>
        <p:spPr>
          <a:xfrm>
            <a:off x="7782884" y="3409653"/>
            <a:ext cx="891613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date</a:t>
            </a:r>
            <a:endParaRPr lang="en-US" sz="1275" dirty="0"/>
          </a:p>
        </p:txBody>
      </p:sp>
      <p:sp>
        <p:nvSpPr>
          <p:cNvPr id="39" name="Text 33"/>
          <p:cNvSpPr/>
          <p:nvPr/>
        </p:nvSpPr>
        <p:spPr>
          <a:xfrm>
            <a:off x="11397324" y="3404361"/>
            <a:ext cx="1489042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Sep → 14 Oct</a:t>
            </a:r>
            <a:endParaRPr lang="en-US" sz="1350" dirty="0"/>
          </a:p>
        </p:txBody>
      </p:sp>
      <p:sp>
        <p:nvSpPr>
          <p:cNvPr id="40" name="Shape 34"/>
          <p:cNvSpPr/>
          <p:nvPr/>
        </p:nvSpPr>
        <p:spPr>
          <a:xfrm>
            <a:off x="7782884" y="3777919"/>
            <a:ext cx="5103482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1" name="Text 35"/>
          <p:cNvSpPr/>
          <p:nvPr/>
        </p:nvSpPr>
        <p:spPr>
          <a:xfrm>
            <a:off x="7782884" y="3955686"/>
            <a:ext cx="92815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</a:t>
            </a:r>
            <a:endParaRPr lang="en-US" sz="1275" dirty="0"/>
          </a:p>
        </p:txBody>
      </p:sp>
      <p:sp>
        <p:nvSpPr>
          <p:cNvPr id="42" name="Text 36"/>
          <p:cNvSpPr/>
          <p:nvPr/>
        </p:nvSpPr>
        <p:spPr>
          <a:xfrm>
            <a:off x="10943118" y="3950395"/>
            <a:ext cx="1943249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in call · added</a:t>
            </a:r>
            <a:endParaRPr lang="en-US" sz="1350" dirty="0"/>
          </a:p>
        </p:txBody>
      </p:sp>
      <p:sp>
        <p:nvSpPr>
          <p:cNvPr id="43" name="Shape 37"/>
          <p:cNvSpPr/>
          <p:nvPr/>
        </p:nvSpPr>
        <p:spPr>
          <a:xfrm>
            <a:off x="7782884" y="4323953"/>
            <a:ext cx="5103482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Text 38"/>
          <p:cNvSpPr/>
          <p:nvPr/>
        </p:nvSpPr>
        <p:spPr>
          <a:xfrm>
            <a:off x="7782884" y="4501720"/>
            <a:ext cx="2210462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MEDDIC · economic buyer</a:t>
            </a:r>
            <a:endParaRPr lang="en-US" sz="1275" dirty="0"/>
          </a:p>
        </p:txBody>
      </p:sp>
      <p:sp>
        <p:nvSpPr>
          <p:cNvPr id="45" name="Text 39"/>
          <p:cNvSpPr/>
          <p:nvPr/>
        </p:nvSpPr>
        <p:spPr>
          <a:xfrm>
            <a:off x="11636905" y="4496429"/>
            <a:ext cx="1249462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 identified</a:t>
            </a:r>
            <a:endParaRPr lang="en-US" sz="1350" dirty="0"/>
          </a:p>
        </p:txBody>
      </p:sp>
      <p:sp>
        <p:nvSpPr>
          <p:cNvPr id="46" name="Shape 40"/>
          <p:cNvSpPr/>
          <p:nvPr/>
        </p:nvSpPr>
        <p:spPr>
          <a:xfrm>
            <a:off x="7782884" y="4869987"/>
            <a:ext cx="5103482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7" name="Text 41"/>
          <p:cNvSpPr/>
          <p:nvPr/>
        </p:nvSpPr>
        <p:spPr>
          <a:xfrm>
            <a:off x="7782884" y="5047754"/>
            <a:ext cx="671016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</a:t>
            </a:r>
            <a:endParaRPr lang="en-US" sz="1275" dirty="0"/>
          </a:p>
        </p:txBody>
      </p:sp>
      <p:sp>
        <p:nvSpPr>
          <p:cNvPr id="48" name="Text 42"/>
          <p:cNvSpPr/>
          <p:nvPr/>
        </p:nvSpPr>
        <p:spPr>
          <a:xfrm>
            <a:off x="11188684" y="5042463"/>
            <a:ext cx="1697683" cy="249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640 k → 712 k</a:t>
            </a:r>
            <a:endParaRPr lang="en-US" sz="1350" dirty="0"/>
          </a:p>
        </p:txBody>
      </p:sp>
      <p:sp>
        <p:nvSpPr>
          <p:cNvPr id="49" name="Shape 43"/>
          <p:cNvSpPr/>
          <p:nvPr/>
        </p:nvSpPr>
        <p:spPr>
          <a:xfrm>
            <a:off x="7782884" y="5587339"/>
            <a:ext cx="5103482" cy="626401"/>
          </a:xfrm>
          <a:prstGeom prst="roundRect">
            <a:avLst>
              <a:gd name="adj" fmla="val 12165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0" name="Text 44"/>
          <p:cNvSpPr/>
          <p:nvPr/>
        </p:nvSpPr>
        <p:spPr>
          <a:xfrm>
            <a:off x="7916234" y="5720689"/>
            <a:ext cx="4989887" cy="397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hygiene 94%, from 61%. Reps recover roughly 3 hours a week — and the forecast finally has something to read.</a:t>
            </a:r>
            <a:endParaRPr lang="en-US" sz="1200" dirty="0"/>
          </a:p>
        </p:txBody>
      </p:sp>
      <p:sp>
        <p:nvSpPr>
          <p:cNvPr id="51" name="Shape 45"/>
          <p:cNvSpPr/>
          <p:nvPr/>
        </p:nvSpPr>
        <p:spPr>
          <a:xfrm>
            <a:off x="13296966" y="1981068"/>
            <a:ext cx="4305267" cy="7048666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17067" y="2201168"/>
            <a:ext cx="161892" cy="161892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13764618" y="2213240"/>
            <a:ext cx="82083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900" dirty="0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229833" y="2205964"/>
            <a:ext cx="152301" cy="152301"/>
          </a:xfrm>
          <a:prstGeom prst="rect">
            <a:avLst/>
          </a:prstGeom>
        </p:spPr>
      </p:pic>
      <p:sp>
        <p:nvSpPr>
          <p:cNvPr id="55" name="Shape 47"/>
          <p:cNvSpPr/>
          <p:nvPr/>
        </p:nvSpPr>
        <p:spPr>
          <a:xfrm>
            <a:off x="13869955" y="2477327"/>
            <a:ext cx="3512179" cy="422672"/>
          </a:xfrm>
          <a:prstGeom prst="roundRect">
            <a:avLst>
              <a:gd name="adj" fmla="val 27042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Text 48"/>
          <p:cNvSpPr/>
          <p:nvPr/>
        </p:nvSpPr>
        <p:spPr>
          <a:xfrm>
            <a:off x="14003239" y="2582003"/>
            <a:ext cx="3570172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8"/>
              </a:lnSpc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anything in that call change the forecast?</a:t>
            </a:r>
            <a:endParaRPr lang="en-US" sz="1200" dirty="0"/>
          </a:p>
        </p:txBody>
      </p:sp>
      <p:sp>
        <p:nvSpPr>
          <p:cNvPr id="57" name="Text 49"/>
          <p:cNvSpPr/>
          <p:nvPr/>
        </p:nvSpPr>
        <p:spPr>
          <a:xfrm>
            <a:off x="13517067" y="3014266"/>
            <a:ext cx="3981019" cy="766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Yes. The close date moved two weeks and the amount rose by CHF 72 k, which shifts this deal out of Q3 and into Q4.</a:t>
            </a:r>
            <a:endParaRPr lang="en-US" sz="1275" dirty="0"/>
          </a:p>
        </p:txBody>
      </p:sp>
      <p:sp>
        <p:nvSpPr>
          <p:cNvPr id="58" name="Shape 50"/>
          <p:cNvSpPr/>
          <p:nvPr/>
        </p:nvSpPr>
        <p:spPr>
          <a:xfrm>
            <a:off x="13517067" y="3856798"/>
            <a:ext cx="3865067" cy="1197736"/>
          </a:xfrm>
          <a:prstGeom prst="roundRect">
            <a:avLst>
              <a:gd name="adj" fmla="val 954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Text 51"/>
          <p:cNvSpPr/>
          <p:nvPr/>
        </p:nvSpPr>
        <p:spPr>
          <a:xfrm>
            <a:off x="13650351" y="3990082"/>
            <a:ext cx="3958349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IMPACT (CHF K)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13650351" y="4247224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before</a:t>
            </a:r>
            <a:endParaRPr lang="en-US" sz="1050" dirty="0"/>
          </a:p>
        </p:txBody>
      </p:sp>
      <p:sp>
        <p:nvSpPr>
          <p:cNvPr id="61" name="Shape 53"/>
          <p:cNvSpPr/>
          <p:nvPr/>
        </p:nvSpPr>
        <p:spPr>
          <a:xfrm>
            <a:off x="15212385" y="4288565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Shape 54"/>
          <p:cNvSpPr/>
          <p:nvPr/>
        </p:nvSpPr>
        <p:spPr>
          <a:xfrm>
            <a:off x="15212385" y="4288565"/>
            <a:ext cx="1196909" cy="76068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55"/>
          <p:cNvSpPr/>
          <p:nvPr/>
        </p:nvSpPr>
        <p:spPr>
          <a:xfrm>
            <a:off x="16582133" y="4241932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640</a:t>
            </a:r>
            <a:endParaRPr lang="en-US" sz="1125" dirty="0"/>
          </a:p>
        </p:txBody>
      </p:sp>
      <p:sp>
        <p:nvSpPr>
          <p:cNvPr id="64" name="Text 56"/>
          <p:cNvSpPr/>
          <p:nvPr/>
        </p:nvSpPr>
        <p:spPr>
          <a:xfrm>
            <a:off x="13650351" y="4502216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after</a:t>
            </a:r>
            <a:endParaRPr lang="en-US" sz="1050" dirty="0"/>
          </a:p>
        </p:txBody>
      </p:sp>
      <p:sp>
        <p:nvSpPr>
          <p:cNvPr id="65" name="Shape 57"/>
          <p:cNvSpPr/>
          <p:nvPr/>
        </p:nvSpPr>
        <p:spPr>
          <a:xfrm>
            <a:off x="15212385" y="4543558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8"/>
          <p:cNvSpPr/>
          <p:nvPr/>
        </p:nvSpPr>
        <p:spPr>
          <a:xfrm>
            <a:off x="16582133" y="4496925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125" dirty="0"/>
          </a:p>
        </p:txBody>
      </p:sp>
      <p:sp>
        <p:nvSpPr>
          <p:cNvPr id="67" name="Text 59"/>
          <p:cNvSpPr/>
          <p:nvPr/>
        </p:nvSpPr>
        <p:spPr>
          <a:xfrm>
            <a:off x="13650351" y="4757208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after</a:t>
            </a:r>
            <a:endParaRPr lang="en-US" sz="1050" dirty="0"/>
          </a:p>
        </p:txBody>
      </p:sp>
      <p:sp>
        <p:nvSpPr>
          <p:cNvPr id="68" name="Shape 60"/>
          <p:cNvSpPr/>
          <p:nvPr/>
        </p:nvSpPr>
        <p:spPr>
          <a:xfrm>
            <a:off x="15212385" y="4798550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Shape 61"/>
          <p:cNvSpPr/>
          <p:nvPr/>
        </p:nvSpPr>
        <p:spPr>
          <a:xfrm>
            <a:off x="15212385" y="4798550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62"/>
          <p:cNvSpPr/>
          <p:nvPr/>
        </p:nvSpPr>
        <p:spPr>
          <a:xfrm>
            <a:off x="16582133" y="4751917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712</a:t>
            </a:r>
            <a:endParaRPr lang="en-US" sz="1125" dirty="0"/>
          </a:p>
        </p:txBody>
      </p:sp>
      <p:sp>
        <p:nvSpPr>
          <p:cNvPr id="71" name="Shape 63"/>
          <p:cNvSpPr/>
          <p:nvPr/>
        </p:nvSpPr>
        <p:spPr>
          <a:xfrm>
            <a:off x="13517067" y="5168801"/>
            <a:ext cx="3865067" cy="2124604"/>
          </a:xfrm>
          <a:prstGeom prst="roundRect">
            <a:avLst>
              <a:gd name="adj" fmla="val 538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660935" y="5312668"/>
            <a:ext cx="142875" cy="142875"/>
          </a:xfrm>
          <a:prstGeom prst="rect">
            <a:avLst/>
          </a:prstGeom>
        </p:spPr>
      </p:pic>
      <p:sp>
        <p:nvSpPr>
          <p:cNvPr id="73" name="Text 64"/>
          <p:cNvSpPr/>
          <p:nvPr/>
        </p:nvSpPr>
        <p:spPr>
          <a:xfrm>
            <a:off x="13879877" y="5315314"/>
            <a:ext cx="1760620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CRM CHANGES</a:t>
            </a:r>
            <a:endParaRPr lang="en-US" sz="900" dirty="0"/>
          </a:p>
        </p:txBody>
      </p:sp>
      <p:sp>
        <p:nvSpPr>
          <p:cNvPr id="74" name="Text 65"/>
          <p:cNvSpPr/>
          <p:nvPr/>
        </p:nvSpPr>
        <p:spPr>
          <a:xfrm>
            <a:off x="13660935" y="5642736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date</a:t>
            </a:r>
            <a:endParaRPr lang="en-US" sz="1050" dirty="0"/>
          </a:p>
        </p:txBody>
      </p:sp>
      <p:sp>
        <p:nvSpPr>
          <p:cNvPr id="75" name="Shape 66"/>
          <p:cNvSpPr/>
          <p:nvPr/>
        </p:nvSpPr>
        <p:spPr>
          <a:xfrm>
            <a:off x="14841968" y="5550793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Text 67"/>
          <p:cNvSpPr/>
          <p:nvPr/>
        </p:nvSpPr>
        <p:spPr>
          <a:xfrm>
            <a:off x="14957327" y="5637576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Sep → 14 Oct 2026</a:t>
            </a:r>
            <a:endParaRPr lang="en-US" sz="1125" dirty="0"/>
          </a:p>
        </p:txBody>
      </p:sp>
      <p:sp>
        <p:nvSpPr>
          <p:cNvPr id="77" name="Text 68"/>
          <p:cNvSpPr/>
          <p:nvPr/>
        </p:nvSpPr>
        <p:spPr>
          <a:xfrm>
            <a:off x="13660935" y="6061439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</a:t>
            </a:r>
            <a:endParaRPr lang="en-US" sz="1050" dirty="0"/>
          </a:p>
        </p:txBody>
      </p:sp>
      <p:sp>
        <p:nvSpPr>
          <p:cNvPr id="78" name="Shape 69"/>
          <p:cNvSpPr/>
          <p:nvPr/>
        </p:nvSpPr>
        <p:spPr>
          <a:xfrm>
            <a:off x="14841968" y="5969496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Text 70"/>
          <p:cNvSpPr/>
          <p:nvPr/>
        </p:nvSpPr>
        <p:spPr>
          <a:xfrm>
            <a:off x="14957327" y="6056279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640 k → 712 k</a:t>
            </a:r>
            <a:endParaRPr lang="en-US" sz="1125" dirty="0"/>
          </a:p>
        </p:txBody>
      </p:sp>
      <p:sp>
        <p:nvSpPr>
          <p:cNvPr id="80" name="Text 71"/>
          <p:cNvSpPr/>
          <p:nvPr/>
        </p:nvSpPr>
        <p:spPr>
          <a:xfrm>
            <a:off x="13660935" y="6480142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 impact</a:t>
            </a:r>
            <a:endParaRPr lang="en-US" sz="1050" dirty="0"/>
          </a:p>
        </p:txBody>
      </p:sp>
      <p:sp>
        <p:nvSpPr>
          <p:cNvPr id="81" name="Shape 72"/>
          <p:cNvSpPr/>
          <p:nvPr/>
        </p:nvSpPr>
        <p:spPr>
          <a:xfrm>
            <a:off x="14841968" y="6388200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2" name="Text 73"/>
          <p:cNvSpPr/>
          <p:nvPr/>
        </p:nvSpPr>
        <p:spPr>
          <a:xfrm>
            <a:off x="14957327" y="6474983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Moves out of Q3</a:t>
            </a:r>
            <a:endParaRPr lang="en-US" sz="1125" dirty="0"/>
          </a:p>
        </p:txBody>
      </p:sp>
      <p:sp>
        <p:nvSpPr>
          <p:cNvPr id="83" name="Text 74"/>
          <p:cNvSpPr/>
          <p:nvPr/>
        </p:nvSpPr>
        <p:spPr>
          <a:xfrm>
            <a:off x="13660935" y="6898845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 by</a:t>
            </a:r>
            <a:endParaRPr lang="en-US" sz="1050" dirty="0"/>
          </a:p>
        </p:txBody>
      </p:sp>
      <p:sp>
        <p:nvSpPr>
          <p:cNvPr id="84" name="Shape 75"/>
          <p:cNvSpPr/>
          <p:nvPr/>
        </p:nvSpPr>
        <p:spPr>
          <a:xfrm>
            <a:off x="14841968" y="6806903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5" name="Text 76"/>
          <p:cNvSpPr/>
          <p:nvPr/>
        </p:nvSpPr>
        <p:spPr>
          <a:xfrm>
            <a:off x="14957327" y="6893686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 · M. Frei</a:t>
            </a:r>
            <a:endParaRPr lang="en-US" sz="1125" dirty="0"/>
          </a:p>
        </p:txBody>
      </p:sp>
      <p:sp>
        <p:nvSpPr>
          <p:cNvPr id="86" name="Shape 77"/>
          <p:cNvSpPr/>
          <p:nvPr/>
        </p:nvSpPr>
        <p:spPr>
          <a:xfrm>
            <a:off x="13517067" y="7426689"/>
            <a:ext cx="386506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Shape 78"/>
          <p:cNvSpPr/>
          <p:nvPr/>
        </p:nvSpPr>
        <p:spPr>
          <a:xfrm>
            <a:off x="13517067" y="7581140"/>
            <a:ext cx="1539379" cy="359833"/>
          </a:xfrm>
          <a:prstGeom prst="roundRect">
            <a:avLst>
              <a:gd name="adj" fmla="val 21176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50351" y="7689619"/>
            <a:ext cx="142875" cy="142875"/>
          </a:xfrm>
          <a:prstGeom prst="rect">
            <a:avLst/>
          </a:prstGeom>
        </p:spPr>
      </p:pic>
      <p:sp>
        <p:nvSpPr>
          <p:cNvPr id="89" name="Text 79"/>
          <p:cNvSpPr/>
          <p:nvPr/>
        </p:nvSpPr>
        <p:spPr>
          <a:xfrm>
            <a:off x="13859868" y="7676390"/>
            <a:ext cx="1139494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&amp; write</a:t>
            </a:r>
            <a:endParaRPr lang="en-US" sz="1125" dirty="0"/>
          </a:p>
        </p:txBody>
      </p:sp>
      <p:sp>
        <p:nvSpPr>
          <p:cNvPr id="90" name="Shape 80"/>
          <p:cNvSpPr/>
          <p:nvPr/>
        </p:nvSpPr>
        <p:spPr>
          <a:xfrm>
            <a:off x="15151696" y="7570557"/>
            <a:ext cx="756378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9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95563" y="7689619"/>
            <a:ext cx="142875" cy="142875"/>
          </a:xfrm>
          <a:prstGeom prst="rect">
            <a:avLst/>
          </a:prstGeom>
        </p:spPr>
      </p:pic>
      <p:sp>
        <p:nvSpPr>
          <p:cNvPr id="92" name="Text 81"/>
          <p:cNvSpPr/>
          <p:nvPr/>
        </p:nvSpPr>
        <p:spPr>
          <a:xfrm>
            <a:off x="15505080" y="7676390"/>
            <a:ext cx="335326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25" dirty="0"/>
          </a:p>
        </p:txBody>
      </p:sp>
      <p:sp>
        <p:nvSpPr>
          <p:cNvPr id="93" name="Shape 82"/>
          <p:cNvSpPr/>
          <p:nvPr/>
        </p:nvSpPr>
        <p:spPr>
          <a:xfrm>
            <a:off x="16003323" y="7570557"/>
            <a:ext cx="922900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9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147191" y="7689619"/>
            <a:ext cx="142875" cy="142875"/>
          </a:xfrm>
          <a:prstGeom prst="rect">
            <a:avLst/>
          </a:prstGeom>
        </p:spPr>
      </p:pic>
      <p:sp>
        <p:nvSpPr>
          <p:cNvPr id="95" name="Text 83"/>
          <p:cNvSpPr/>
          <p:nvPr/>
        </p:nvSpPr>
        <p:spPr>
          <a:xfrm>
            <a:off x="16356707" y="7676390"/>
            <a:ext cx="501848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25" dirty="0"/>
          </a:p>
        </p:txBody>
      </p:sp>
      <p:pic>
        <p:nvPicPr>
          <p:cNvPr id="96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517067" y="8092447"/>
            <a:ext cx="133284" cy="133284"/>
          </a:xfrm>
          <a:prstGeom prst="rect">
            <a:avLst/>
          </a:prstGeom>
        </p:spPr>
      </p:pic>
      <p:sp>
        <p:nvSpPr>
          <p:cNvPr id="97" name="Text 84"/>
          <p:cNvSpPr/>
          <p:nvPr/>
        </p:nvSpPr>
        <p:spPr>
          <a:xfrm>
            <a:off x="13726419" y="8065823"/>
            <a:ext cx="2993364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rep confirms before the CRM is written</a:t>
            </a:r>
            <a:endParaRPr lang="en-US" sz="1050" dirty="0"/>
          </a:p>
        </p:txBody>
      </p:sp>
      <p:sp>
        <p:nvSpPr>
          <p:cNvPr id="98" name="Shape 85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9" name="Shape 86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Text 87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hygiene at 94% is what makes every other number on this platform trustworthy.</a:t>
            </a:r>
            <a:endParaRPr lang="en-US" sz="20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687106" y="235975"/>
            <a:ext cx="991328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STEERING · 10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Forecasting the CFO can interrogate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2420700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2399533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2399533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223447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· FY27 revenue forecast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0007865" y="2127085"/>
            <a:ext cx="2897518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0103115" y="2165185"/>
            <a:ext cx="2793944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band shown, not a single number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48651" y="400198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1703183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23"/>
          <p:cNvSpPr/>
          <p:nvPr/>
        </p:nvSpPr>
        <p:spPr>
          <a:xfrm>
            <a:off x="1621234" y="2726035"/>
            <a:ext cx="3647116" cy="1508952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5" name="Text 24"/>
          <p:cNvSpPr/>
          <p:nvPr/>
        </p:nvSpPr>
        <p:spPr>
          <a:xfrm>
            <a:off x="1822318" y="2927119"/>
            <a:ext cx="356944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ACCURACY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822318" y="3159952"/>
            <a:ext cx="3569444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93%</a:t>
            </a:r>
            <a:endParaRPr lang="en-US" sz="3150" dirty="0"/>
          </a:p>
        </p:txBody>
      </p:sp>
      <p:sp>
        <p:nvSpPr>
          <p:cNvPr id="37" name="Text 26"/>
          <p:cNvSpPr/>
          <p:nvPr/>
        </p:nvSpPr>
        <p:spPr>
          <a:xfrm>
            <a:off x="1822318" y="3703836"/>
            <a:ext cx="35694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±5% of actuals, last 3 quarters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1822318" y="3995870"/>
            <a:ext cx="3244949" cy="38034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Shape 28"/>
          <p:cNvSpPr/>
          <p:nvPr/>
        </p:nvSpPr>
        <p:spPr>
          <a:xfrm>
            <a:off x="1822318" y="3995870"/>
            <a:ext cx="3244949" cy="38034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Shape 29"/>
          <p:cNvSpPr/>
          <p:nvPr/>
        </p:nvSpPr>
        <p:spPr>
          <a:xfrm>
            <a:off x="5420651" y="2726035"/>
            <a:ext cx="3647281" cy="1508952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1" name="Text 30"/>
          <p:cNvSpPr/>
          <p:nvPr/>
        </p:nvSpPr>
        <p:spPr>
          <a:xfrm>
            <a:off x="5621735" y="2927119"/>
            <a:ext cx="356962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 COMMIT VS. MODEL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5621735" y="3159952"/>
            <a:ext cx="3569626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B25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pts</a:t>
            </a:r>
            <a:endParaRPr lang="en-US" sz="3150" dirty="0"/>
          </a:p>
        </p:txBody>
      </p:sp>
      <p:sp>
        <p:nvSpPr>
          <p:cNvPr id="43" name="Text 32"/>
          <p:cNvSpPr/>
          <p:nvPr/>
        </p:nvSpPr>
        <p:spPr>
          <a:xfrm>
            <a:off x="5621735" y="3703836"/>
            <a:ext cx="356962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optimism, now visible early</a:t>
            </a:r>
            <a:endParaRPr lang="en-US" sz="1050" dirty="0"/>
          </a:p>
        </p:txBody>
      </p:sp>
      <p:sp>
        <p:nvSpPr>
          <p:cNvPr id="44" name="Shape 33"/>
          <p:cNvSpPr/>
          <p:nvPr/>
        </p:nvSpPr>
        <p:spPr>
          <a:xfrm>
            <a:off x="5621735" y="3995870"/>
            <a:ext cx="3245115" cy="38034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Shape 34"/>
          <p:cNvSpPr/>
          <p:nvPr/>
        </p:nvSpPr>
        <p:spPr>
          <a:xfrm>
            <a:off x="5621735" y="3995870"/>
            <a:ext cx="3245115" cy="38034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6" name="Shape 35"/>
          <p:cNvSpPr/>
          <p:nvPr/>
        </p:nvSpPr>
        <p:spPr>
          <a:xfrm>
            <a:off x="9220234" y="2726035"/>
            <a:ext cx="3647116" cy="1508952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7" name="Text 36"/>
          <p:cNvSpPr/>
          <p:nvPr/>
        </p:nvSpPr>
        <p:spPr>
          <a:xfrm>
            <a:off x="9421317" y="2927119"/>
            <a:ext cx="356944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CYCLE</a:t>
            </a:r>
            <a:endParaRPr lang="en-US" sz="900" dirty="0"/>
          </a:p>
        </p:txBody>
      </p:sp>
      <p:sp>
        <p:nvSpPr>
          <p:cNvPr id="48" name="Text 37"/>
          <p:cNvSpPr/>
          <p:nvPr/>
        </p:nvSpPr>
        <p:spPr>
          <a:xfrm>
            <a:off x="9421317" y="3159952"/>
            <a:ext cx="3569444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days</a:t>
            </a:r>
            <a:endParaRPr lang="en-US" sz="3150" dirty="0"/>
          </a:p>
        </p:txBody>
      </p:sp>
      <p:sp>
        <p:nvSpPr>
          <p:cNvPr id="49" name="Text 38"/>
          <p:cNvSpPr/>
          <p:nvPr/>
        </p:nvSpPr>
        <p:spPr>
          <a:xfrm>
            <a:off x="9421317" y="3703836"/>
            <a:ext cx="35694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 from 9 days of spreadsheet roll-up</a:t>
            </a:r>
            <a:endParaRPr lang="en-US" sz="1050" dirty="0"/>
          </a:p>
        </p:txBody>
      </p:sp>
      <p:sp>
        <p:nvSpPr>
          <p:cNvPr id="50" name="Shape 39"/>
          <p:cNvSpPr/>
          <p:nvPr/>
        </p:nvSpPr>
        <p:spPr>
          <a:xfrm>
            <a:off x="9421317" y="3995870"/>
            <a:ext cx="3244949" cy="38034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1" name="Shape 40"/>
          <p:cNvSpPr/>
          <p:nvPr/>
        </p:nvSpPr>
        <p:spPr>
          <a:xfrm>
            <a:off x="9421317" y="3995870"/>
            <a:ext cx="3244949" cy="38034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2" name="Shape 41"/>
          <p:cNvSpPr/>
          <p:nvPr/>
        </p:nvSpPr>
        <p:spPr>
          <a:xfrm>
            <a:off x="1621234" y="4387288"/>
            <a:ext cx="11246115" cy="4403328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3" name="Text 42"/>
          <p:cNvSpPr/>
          <p:nvPr/>
        </p:nvSpPr>
        <p:spPr>
          <a:xfrm>
            <a:off x="1860352" y="4626405"/>
            <a:ext cx="3134701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COMMITTED VS. MODEL-ADJUSTED (CHF M)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10364557" y="4653856"/>
            <a:ext cx="114267" cy="114267"/>
          </a:xfrm>
          <a:prstGeom prst="roundRect">
            <a:avLst>
              <a:gd name="adj" fmla="val 25007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4"/>
          <p:cNvSpPr/>
          <p:nvPr/>
        </p:nvSpPr>
        <p:spPr>
          <a:xfrm>
            <a:off x="10554891" y="4626405"/>
            <a:ext cx="876069" cy="207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 commit</a:t>
            </a:r>
            <a:endParaRPr lang="en-US" sz="1125" dirty="0"/>
          </a:p>
        </p:txBody>
      </p:sp>
      <p:sp>
        <p:nvSpPr>
          <p:cNvPr id="56" name="Shape 45"/>
          <p:cNvSpPr/>
          <p:nvPr/>
        </p:nvSpPr>
        <p:spPr>
          <a:xfrm>
            <a:off x="11526078" y="4653856"/>
            <a:ext cx="114267" cy="114267"/>
          </a:xfrm>
          <a:prstGeom prst="roundRect">
            <a:avLst>
              <a:gd name="adj" fmla="val 25007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Text 46"/>
          <p:cNvSpPr/>
          <p:nvPr/>
        </p:nvSpPr>
        <p:spPr>
          <a:xfrm>
            <a:off x="11716412" y="4626405"/>
            <a:ext cx="988021" cy="207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 model</a:t>
            </a:r>
            <a:endParaRPr lang="en-US" sz="1125" dirty="0"/>
          </a:p>
        </p:txBody>
      </p:sp>
      <p:sp>
        <p:nvSpPr>
          <p:cNvPr id="58" name="Shape 47"/>
          <p:cNvSpPr/>
          <p:nvPr/>
        </p:nvSpPr>
        <p:spPr>
          <a:xfrm>
            <a:off x="1860352" y="6133538"/>
            <a:ext cx="1115053" cy="1692176"/>
          </a:xfrm>
          <a:custGeom>
            <a:avLst/>
            <a:gdLst/>
            <a:ahLst/>
            <a:cxnLst/>
            <a:rect l="l" t="t" r="r" b="b"/>
            <a:pathLst>
              <a:path w="1115053" h="1692176">
                <a:moveTo>
                  <a:pt x="76200" y="0"/>
                </a:moveTo>
                <a:lnTo>
                  <a:pt x="1038853" y="0"/>
                </a:lnTo>
                <a:arcTo wR="76200" hR="76200" stAng="16200000" swAng="5400000"/>
                <a:lnTo>
                  <a:pt x="1115053" y="1692176"/>
                </a:lnTo>
                <a:lnTo>
                  <a:pt x="0" y="1692176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Shape 48"/>
          <p:cNvSpPr/>
          <p:nvPr/>
        </p:nvSpPr>
        <p:spPr>
          <a:xfrm>
            <a:off x="3108689" y="6216055"/>
            <a:ext cx="1115053" cy="1609659"/>
          </a:xfrm>
          <a:custGeom>
            <a:avLst/>
            <a:gdLst/>
            <a:ahLst/>
            <a:cxnLst/>
            <a:rect l="l" t="t" r="r" b="b"/>
            <a:pathLst>
              <a:path w="1115053" h="1609659">
                <a:moveTo>
                  <a:pt x="76200" y="0"/>
                </a:moveTo>
                <a:lnTo>
                  <a:pt x="1038853" y="0"/>
                </a:lnTo>
                <a:arcTo wR="76200" hR="76200" stAng="16200000" swAng="5400000"/>
                <a:lnTo>
                  <a:pt x="1115053" y="1609659"/>
                </a:lnTo>
                <a:lnTo>
                  <a:pt x="0" y="1609659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9"/>
          <p:cNvSpPr/>
          <p:nvPr/>
        </p:nvSpPr>
        <p:spPr>
          <a:xfrm>
            <a:off x="2939521" y="7939981"/>
            <a:ext cx="281252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</a:t>
            </a:r>
            <a:endParaRPr lang="en-US" sz="1350" dirty="0"/>
          </a:p>
        </p:txBody>
      </p:sp>
      <p:sp>
        <p:nvSpPr>
          <p:cNvPr id="61" name="Shape 50"/>
          <p:cNvSpPr/>
          <p:nvPr/>
        </p:nvSpPr>
        <p:spPr>
          <a:xfrm>
            <a:off x="4661793" y="5947833"/>
            <a:ext cx="1115053" cy="1877880"/>
          </a:xfrm>
          <a:custGeom>
            <a:avLst/>
            <a:gdLst/>
            <a:ahLst/>
            <a:cxnLst/>
            <a:rect l="l" t="t" r="r" b="b"/>
            <a:pathLst>
              <a:path w="1115053" h="1877880">
                <a:moveTo>
                  <a:pt x="76200" y="0"/>
                </a:moveTo>
                <a:lnTo>
                  <a:pt x="1038853" y="0"/>
                </a:lnTo>
                <a:arcTo wR="76200" hR="76200" stAng="16200000" swAng="5400000"/>
                <a:lnTo>
                  <a:pt x="1115053" y="1877880"/>
                </a:lnTo>
                <a:lnTo>
                  <a:pt x="0" y="187788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Shape 51"/>
          <p:cNvSpPr/>
          <p:nvPr/>
        </p:nvSpPr>
        <p:spPr>
          <a:xfrm>
            <a:off x="5910131" y="6009680"/>
            <a:ext cx="1115219" cy="1816034"/>
          </a:xfrm>
          <a:custGeom>
            <a:avLst/>
            <a:gdLst/>
            <a:ahLst/>
            <a:cxnLst/>
            <a:rect l="l" t="t" r="r" b="b"/>
            <a:pathLst>
              <a:path w="1115219" h="1816034">
                <a:moveTo>
                  <a:pt x="76200" y="0"/>
                </a:moveTo>
                <a:lnTo>
                  <a:pt x="1039019" y="0"/>
                </a:lnTo>
                <a:arcTo wR="76200" hR="76200" stAng="16200000" swAng="5400000"/>
                <a:lnTo>
                  <a:pt x="1115219" y="1816034"/>
                </a:lnTo>
                <a:lnTo>
                  <a:pt x="0" y="1816034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52"/>
          <p:cNvSpPr/>
          <p:nvPr/>
        </p:nvSpPr>
        <p:spPr>
          <a:xfrm>
            <a:off x="5723930" y="7939981"/>
            <a:ext cx="31548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</a:t>
            </a:r>
            <a:endParaRPr lang="en-US" sz="1350" dirty="0"/>
          </a:p>
        </p:txBody>
      </p:sp>
      <p:sp>
        <p:nvSpPr>
          <p:cNvPr id="64" name="Shape 53"/>
          <p:cNvSpPr/>
          <p:nvPr/>
        </p:nvSpPr>
        <p:spPr>
          <a:xfrm>
            <a:off x="7463400" y="5679447"/>
            <a:ext cx="1115053" cy="2146267"/>
          </a:xfrm>
          <a:custGeom>
            <a:avLst/>
            <a:gdLst/>
            <a:ahLst/>
            <a:cxnLst/>
            <a:rect l="l" t="t" r="r" b="b"/>
            <a:pathLst>
              <a:path w="1115053" h="2146267">
                <a:moveTo>
                  <a:pt x="76200" y="0"/>
                </a:moveTo>
                <a:lnTo>
                  <a:pt x="1038853" y="0"/>
                </a:lnTo>
                <a:arcTo wR="76200" hR="76200" stAng="16200000" swAng="5400000"/>
                <a:lnTo>
                  <a:pt x="1115053" y="2146267"/>
                </a:lnTo>
                <a:lnTo>
                  <a:pt x="0" y="2146267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Shape 54"/>
          <p:cNvSpPr/>
          <p:nvPr/>
        </p:nvSpPr>
        <p:spPr>
          <a:xfrm>
            <a:off x="8711737" y="5844646"/>
            <a:ext cx="1115053" cy="1981068"/>
          </a:xfrm>
          <a:custGeom>
            <a:avLst/>
            <a:gdLst/>
            <a:ahLst/>
            <a:cxnLst/>
            <a:rect l="l" t="t" r="r" b="b"/>
            <a:pathLst>
              <a:path w="1115053" h="1981068">
                <a:moveTo>
                  <a:pt x="76200" y="0"/>
                </a:moveTo>
                <a:lnTo>
                  <a:pt x="1038853" y="0"/>
                </a:lnTo>
                <a:arcTo wR="76200" hR="76200" stAng="16200000" swAng="5400000"/>
                <a:lnTo>
                  <a:pt x="1115053" y="1981068"/>
                </a:lnTo>
                <a:lnTo>
                  <a:pt x="0" y="1981068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5"/>
          <p:cNvSpPr/>
          <p:nvPr/>
        </p:nvSpPr>
        <p:spPr>
          <a:xfrm>
            <a:off x="8524214" y="7939981"/>
            <a:ext cx="317798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</a:t>
            </a:r>
            <a:endParaRPr lang="en-US" sz="1350" dirty="0"/>
          </a:p>
        </p:txBody>
      </p:sp>
      <p:sp>
        <p:nvSpPr>
          <p:cNvPr id="67" name="Shape 56"/>
          <p:cNvSpPr/>
          <p:nvPr/>
        </p:nvSpPr>
        <p:spPr>
          <a:xfrm>
            <a:off x="10264842" y="5390555"/>
            <a:ext cx="1115053" cy="2435159"/>
          </a:xfrm>
          <a:custGeom>
            <a:avLst/>
            <a:gdLst/>
            <a:ahLst/>
            <a:cxnLst/>
            <a:rect l="l" t="t" r="r" b="b"/>
            <a:pathLst>
              <a:path w="1115053" h="2435159">
                <a:moveTo>
                  <a:pt x="76200" y="0"/>
                </a:moveTo>
                <a:lnTo>
                  <a:pt x="1038853" y="0"/>
                </a:lnTo>
                <a:arcTo wR="76200" hR="76200" stAng="16200000" swAng="5400000"/>
                <a:lnTo>
                  <a:pt x="1115053" y="2435159"/>
                </a:lnTo>
                <a:lnTo>
                  <a:pt x="0" y="2435159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Shape 57"/>
          <p:cNvSpPr/>
          <p:nvPr/>
        </p:nvSpPr>
        <p:spPr>
          <a:xfrm>
            <a:off x="11513179" y="5514413"/>
            <a:ext cx="1115053" cy="2311301"/>
          </a:xfrm>
          <a:custGeom>
            <a:avLst/>
            <a:gdLst/>
            <a:ahLst/>
            <a:cxnLst/>
            <a:rect l="l" t="t" r="r" b="b"/>
            <a:pathLst>
              <a:path w="1115053" h="2311301">
                <a:moveTo>
                  <a:pt x="76200" y="0"/>
                </a:moveTo>
                <a:lnTo>
                  <a:pt x="1038853" y="0"/>
                </a:lnTo>
                <a:arcTo wR="76200" hR="76200" stAng="16200000" swAng="5400000"/>
                <a:lnTo>
                  <a:pt x="1115053" y="2311301"/>
                </a:lnTo>
                <a:lnTo>
                  <a:pt x="0" y="2311301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Text 58"/>
          <p:cNvSpPr/>
          <p:nvPr/>
        </p:nvSpPr>
        <p:spPr>
          <a:xfrm>
            <a:off x="11323175" y="7939981"/>
            <a:ext cx="322759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</a:t>
            </a:r>
            <a:endParaRPr lang="en-US" sz="1350" dirty="0"/>
          </a:p>
        </p:txBody>
      </p:sp>
      <p:sp>
        <p:nvSpPr>
          <p:cNvPr id="70" name="Shape 59"/>
          <p:cNvSpPr/>
          <p:nvPr/>
        </p:nvSpPr>
        <p:spPr>
          <a:xfrm>
            <a:off x="1860352" y="8208698"/>
            <a:ext cx="1076788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1" name="Text 60"/>
          <p:cNvSpPr/>
          <p:nvPr/>
        </p:nvSpPr>
        <p:spPr>
          <a:xfrm>
            <a:off x="1860352" y="8371682"/>
            <a:ext cx="11090918" cy="217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adjustment traces to named deals. “Why is Q3 lower?” returns a list of eleven opportunities and the signal that moved each one.</a:t>
            </a:r>
            <a:endParaRPr lang="en-US" sz="1200" dirty="0"/>
          </a:p>
        </p:txBody>
      </p:sp>
      <p:sp>
        <p:nvSpPr>
          <p:cNvPr id="72" name="Shape 61"/>
          <p:cNvSpPr/>
          <p:nvPr/>
        </p:nvSpPr>
        <p:spPr>
          <a:xfrm>
            <a:off x="13296966" y="1981068"/>
            <a:ext cx="4305267" cy="7048666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7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17067" y="2201168"/>
            <a:ext cx="161892" cy="161892"/>
          </a:xfrm>
          <a:prstGeom prst="rect">
            <a:avLst/>
          </a:prstGeom>
        </p:spPr>
      </p:pic>
      <p:sp>
        <p:nvSpPr>
          <p:cNvPr id="74" name="Text 62"/>
          <p:cNvSpPr/>
          <p:nvPr/>
        </p:nvSpPr>
        <p:spPr>
          <a:xfrm>
            <a:off x="13764618" y="2213240"/>
            <a:ext cx="82083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900" dirty="0"/>
          </a:p>
        </p:txBody>
      </p:sp>
      <p:pic>
        <p:nvPicPr>
          <p:cNvPr id="7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29833" y="2205964"/>
            <a:ext cx="152301" cy="152301"/>
          </a:xfrm>
          <a:prstGeom prst="rect">
            <a:avLst/>
          </a:prstGeom>
        </p:spPr>
      </p:pic>
      <p:sp>
        <p:nvSpPr>
          <p:cNvPr id="76" name="Shape 63"/>
          <p:cNvSpPr/>
          <p:nvPr/>
        </p:nvSpPr>
        <p:spPr>
          <a:xfrm>
            <a:off x="13939739" y="2477327"/>
            <a:ext cx="3442395" cy="422672"/>
          </a:xfrm>
          <a:prstGeom prst="roundRect">
            <a:avLst>
              <a:gd name="adj" fmla="val 27042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64"/>
          <p:cNvSpPr/>
          <p:nvPr/>
        </p:nvSpPr>
        <p:spPr>
          <a:xfrm>
            <a:off x="14073022" y="2582003"/>
            <a:ext cx="349341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8"/>
              </a:lnSpc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is the Q3 model below the rep commit?</a:t>
            </a:r>
            <a:endParaRPr lang="en-US" sz="1200" dirty="0"/>
          </a:p>
        </p:txBody>
      </p:sp>
      <p:sp>
        <p:nvSpPr>
          <p:cNvPr id="78" name="Text 65"/>
          <p:cNvSpPr/>
          <p:nvPr/>
        </p:nvSpPr>
        <p:spPr>
          <a:xfrm>
            <a:off x="13517067" y="3014266"/>
            <a:ext cx="3981019" cy="766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 opportunities carry a stale next step or no economic buyer. Removing them accounts for nearly all of the eight-million gap.</a:t>
            </a:r>
            <a:endParaRPr lang="en-US" sz="1275" dirty="0"/>
          </a:p>
        </p:txBody>
      </p:sp>
      <p:sp>
        <p:nvSpPr>
          <p:cNvPr id="79" name="Shape 66"/>
          <p:cNvSpPr/>
          <p:nvPr/>
        </p:nvSpPr>
        <p:spPr>
          <a:xfrm>
            <a:off x="13517067" y="3856798"/>
            <a:ext cx="3865067" cy="1197736"/>
          </a:xfrm>
          <a:prstGeom prst="roundRect">
            <a:avLst>
              <a:gd name="adj" fmla="val 954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7"/>
          <p:cNvSpPr/>
          <p:nvPr/>
        </p:nvSpPr>
        <p:spPr>
          <a:xfrm>
            <a:off x="13650351" y="3990082"/>
            <a:ext cx="3958349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BY CAUSE (CHF K)</a:t>
            </a:r>
            <a:endParaRPr lang="en-US" sz="900" dirty="0"/>
          </a:p>
        </p:txBody>
      </p:sp>
      <p:sp>
        <p:nvSpPr>
          <p:cNvPr id="81" name="Text 68"/>
          <p:cNvSpPr/>
          <p:nvPr/>
        </p:nvSpPr>
        <p:spPr>
          <a:xfrm>
            <a:off x="13650351" y="4247224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Stale next step</a:t>
            </a:r>
            <a:endParaRPr lang="en-US" sz="1050" dirty="0"/>
          </a:p>
        </p:txBody>
      </p:sp>
      <p:sp>
        <p:nvSpPr>
          <p:cNvPr id="82" name="Shape 69"/>
          <p:cNvSpPr/>
          <p:nvPr/>
        </p:nvSpPr>
        <p:spPr>
          <a:xfrm>
            <a:off x="15212385" y="4288565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Shape 70"/>
          <p:cNvSpPr/>
          <p:nvPr/>
        </p:nvSpPr>
        <p:spPr>
          <a:xfrm>
            <a:off x="15212385" y="4288565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B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71"/>
          <p:cNvSpPr/>
          <p:nvPr/>
        </p:nvSpPr>
        <p:spPr>
          <a:xfrm>
            <a:off x="16582133" y="4241932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3,400</a:t>
            </a:r>
            <a:endParaRPr lang="en-US" sz="1125" dirty="0"/>
          </a:p>
        </p:txBody>
      </p:sp>
      <p:sp>
        <p:nvSpPr>
          <p:cNvPr id="85" name="Text 72"/>
          <p:cNvSpPr/>
          <p:nvPr/>
        </p:nvSpPr>
        <p:spPr>
          <a:xfrm>
            <a:off x="13650351" y="4502216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econ. buyer</a:t>
            </a:r>
            <a:endParaRPr lang="en-US" sz="1050" dirty="0"/>
          </a:p>
        </p:txBody>
      </p:sp>
      <p:sp>
        <p:nvSpPr>
          <p:cNvPr id="86" name="Shape 73"/>
          <p:cNvSpPr/>
          <p:nvPr/>
        </p:nvSpPr>
        <p:spPr>
          <a:xfrm>
            <a:off x="15212385" y="4543558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Shape 74"/>
          <p:cNvSpPr/>
          <p:nvPr/>
        </p:nvSpPr>
        <p:spPr>
          <a:xfrm>
            <a:off x="15212385" y="4543558"/>
            <a:ext cx="1135724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5"/>
          <p:cNvSpPr/>
          <p:nvPr/>
        </p:nvSpPr>
        <p:spPr>
          <a:xfrm>
            <a:off x="16582133" y="4496925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2,900</a:t>
            </a:r>
            <a:endParaRPr lang="en-US" sz="1125" dirty="0"/>
          </a:p>
        </p:txBody>
      </p:sp>
      <p:sp>
        <p:nvSpPr>
          <p:cNvPr id="89" name="Text 76"/>
          <p:cNvSpPr/>
          <p:nvPr/>
        </p:nvSpPr>
        <p:spPr>
          <a:xfrm>
            <a:off x="13650351" y="4757208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Slipped close date</a:t>
            </a:r>
            <a:endParaRPr lang="en-US" sz="1050" dirty="0"/>
          </a:p>
        </p:txBody>
      </p:sp>
      <p:sp>
        <p:nvSpPr>
          <p:cNvPr id="90" name="Shape 77"/>
          <p:cNvSpPr/>
          <p:nvPr/>
        </p:nvSpPr>
        <p:spPr>
          <a:xfrm>
            <a:off x="15212385" y="4798550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Shape 78"/>
          <p:cNvSpPr/>
          <p:nvPr/>
        </p:nvSpPr>
        <p:spPr>
          <a:xfrm>
            <a:off x="15212385" y="4798550"/>
            <a:ext cx="665758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2" name="Text 79"/>
          <p:cNvSpPr/>
          <p:nvPr/>
        </p:nvSpPr>
        <p:spPr>
          <a:xfrm>
            <a:off x="16582133" y="4751917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1,700</a:t>
            </a:r>
            <a:endParaRPr lang="en-US" sz="1125" dirty="0"/>
          </a:p>
        </p:txBody>
      </p:sp>
      <p:sp>
        <p:nvSpPr>
          <p:cNvPr id="93" name="Shape 80"/>
          <p:cNvSpPr/>
          <p:nvPr/>
        </p:nvSpPr>
        <p:spPr>
          <a:xfrm>
            <a:off x="13517067" y="5168801"/>
            <a:ext cx="3865067" cy="2124604"/>
          </a:xfrm>
          <a:prstGeom prst="roundRect">
            <a:avLst>
              <a:gd name="adj" fmla="val 538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94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60935" y="5312668"/>
            <a:ext cx="142875" cy="142875"/>
          </a:xfrm>
          <a:prstGeom prst="rect">
            <a:avLst/>
          </a:prstGeom>
        </p:spPr>
      </p:pic>
      <p:sp>
        <p:nvSpPr>
          <p:cNvPr id="95" name="Text 81"/>
          <p:cNvSpPr/>
          <p:nvPr/>
        </p:nvSpPr>
        <p:spPr>
          <a:xfrm>
            <a:off x="13879877" y="5315314"/>
            <a:ext cx="1563076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AS BOARD NOTE</a:t>
            </a:r>
            <a:endParaRPr lang="en-US" sz="900" dirty="0"/>
          </a:p>
        </p:txBody>
      </p:sp>
      <p:sp>
        <p:nvSpPr>
          <p:cNvPr id="96" name="Text 82"/>
          <p:cNvSpPr/>
          <p:nvPr/>
        </p:nvSpPr>
        <p:spPr>
          <a:xfrm>
            <a:off x="13660935" y="5642736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1050" dirty="0"/>
          </a:p>
        </p:txBody>
      </p:sp>
      <p:sp>
        <p:nvSpPr>
          <p:cNvPr id="97" name="Shape 83"/>
          <p:cNvSpPr/>
          <p:nvPr/>
        </p:nvSpPr>
        <p:spPr>
          <a:xfrm>
            <a:off x="14841968" y="5550793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8" name="Text 84"/>
          <p:cNvSpPr/>
          <p:nvPr/>
        </p:nvSpPr>
        <p:spPr>
          <a:xfrm>
            <a:off x="14957327" y="5637576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forecast commentary</a:t>
            </a:r>
            <a:endParaRPr lang="en-US" sz="1125" dirty="0"/>
          </a:p>
        </p:txBody>
      </p:sp>
      <p:sp>
        <p:nvSpPr>
          <p:cNvPr id="99" name="Text 85"/>
          <p:cNvSpPr/>
          <p:nvPr/>
        </p:nvSpPr>
        <p:spPr>
          <a:xfrm>
            <a:off x="13660935" y="6061439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050" dirty="0"/>
          </a:p>
        </p:txBody>
      </p:sp>
      <p:sp>
        <p:nvSpPr>
          <p:cNvPr id="100" name="Shape 86"/>
          <p:cNvSpPr/>
          <p:nvPr/>
        </p:nvSpPr>
        <p:spPr>
          <a:xfrm>
            <a:off x="14841968" y="5969496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1" name="Text 87"/>
          <p:cNvSpPr/>
          <p:nvPr/>
        </p:nvSpPr>
        <p:spPr>
          <a:xfrm>
            <a:off x="14957327" y="6056279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· CFO · CRO</a:t>
            </a:r>
            <a:endParaRPr lang="en-US" sz="1125" dirty="0"/>
          </a:p>
        </p:txBody>
      </p:sp>
      <p:sp>
        <p:nvSpPr>
          <p:cNvPr id="102" name="Text 88"/>
          <p:cNvSpPr/>
          <p:nvPr/>
        </p:nvSpPr>
        <p:spPr>
          <a:xfrm>
            <a:off x="13660935" y="6480142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050" dirty="0"/>
          </a:p>
        </p:txBody>
      </p:sp>
      <p:sp>
        <p:nvSpPr>
          <p:cNvPr id="103" name="Shape 89"/>
          <p:cNvSpPr/>
          <p:nvPr/>
        </p:nvSpPr>
        <p:spPr>
          <a:xfrm>
            <a:off x="14841968" y="6388200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4" name="Text 90"/>
          <p:cNvSpPr/>
          <p:nvPr/>
        </p:nvSpPr>
        <p:spPr>
          <a:xfrm>
            <a:off x="14957327" y="6474983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named opportunities</a:t>
            </a:r>
            <a:endParaRPr lang="en-US" sz="1125" dirty="0"/>
          </a:p>
        </p:txBody>
      </p:sp>
      <p:sp>
        <p:nvSpPr>
          <p:cNvPr id="105" name="Text 91"/>
          <p:cNvSpPr/>
          <p:nvPr/>
        </p:nvSpPr>
        <p:spPr>
          <a:xfrm>
            <a:off x="13660935" y="6898845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</a:t>
            </a:r>
            <a:endParaRPr lang="en-US" sz="1050" dirty="0"/>
          </a:p>
        </p:txBody>
      </p:sp>
      <p:sp>
        <p:nvSpPr>
          <p:cNvPr id="106" name="Shape 92"/>
          <p:cNvSpPr/>
          <p:nvPr/>
        </p:nvSpPr>
        <p:spPr>
          <a:xfrm>
            <a:off x="14841968" y="6806903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7" name="Text 93"/>
          <p:cNvSpPr/>
          <p:nvPr/>
        </p:nvSpPr>
        <p:spPr>
          <a:xfrm>
            <a:off x="14957327" y="6893686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Nightly until close</a:t>
            </a:r>
            <a:endParaRPr lang="en-US" sz="1125" dirty="0"/>
          </a:p>
        </p:txBody>
      </p:sp>
      <p:sp>
        <p:nvSpPr>
          <p:cNvPr id="108" name="Shape 94"/>
          <p:cNvSpPr/>
          <p:nvPr/>
        </p:nvSpPr>
        <p:spPr>
          <a:xfrm>
            <a:off x="13517067" y="7426689"/>
            <a:ext cx="386506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9" name="Shape 95"/>
          <p:cNvSpPr/>
          <p:nvPr/>
        </p:nvSpPr>
        <p:spPr>
          <a:xfrm>
            <a:off x="13517067" y="7581140"/>
            <a:ext cx="1720453" cy="359833"/>
          </a:xfrm>
          <a:prstGeom prst="roundRect">
            <a:avLst>
              <a:gd name="adj" fmla="val 21176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0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50351" y="7689619"/>
            <a:ext cx="142875" cy="142875"/>
          </a:xfrm>
          <a:prstGeom prst="rect">
            <a:avLst/>
          </a:prstGeom>
        </p:spPr>
      </p:pic>
      <p:sp>
        <p:nvSpPr>
          <p:cNvPr id="111" name="Text 96"/>
          <p:cNvSpPr/>
          <p:nvPr/>
        </p:nvSpPr>
        <p:spPr>
          <a:xfrm>
            <a:off x="13859868" y="7676390"/>
            <a:ext cx="1320568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&amp; publish</a:t>
            </a:r>
            <a:endParaRPr lang="en-US" sz="1125" dirty="0"/>
          </a:p>
        </p:txBody>
      </p:sp>
      <p:sp>
        <p:nvSpPr>
          <p:cNvPr id="112" name="Shape 97"/>
          <p:cNvSpPr/>
          <p:nvPr/>
        </p:nvSpPr>
        <p:spPr>
          <a:xfrm>
            <a:off x="15332770" y="7570557"/>
            <a:ext cx="756378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13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476638" y="7689619"/>
            <a:ext cx="142875" cy="142875"/>
          </a:xfrm>
          <a:prstGeom prst="rect">
            <a:avLst/>
          </a:prstGeom>
        </p:spPr>
      </p:pic>
      <p:sp>
        <p:nvSpPr>
          <p:cNvPr id="114" name="Text 98"/>
          <p:cNvSpPr/>
          <p:nvPr/>
        </p:nvSpPr>
        <p:spPr>
          <a:xfrm>
            <a:off x="15686154" y="7676390"/>
            <a:ext cx="335326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25" dirty="0"/>
          </a:p>
        </p:txBody>
      </p:sp>
      <p:sp>
        <p:nvSpPr>
          <p:cNvPr id="115" name="Shape 99"/>
          <p:cNvSpPr/>
          <p:nvPr/>
        </p:nvSpPr>
        <p:spPr>
          <a:xfrm>
            <a:off x="16184398" y="7570557"/>
            <a:ext cx="922900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16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328265" y="7689619"/>
            <a:ext cx="142875" cy="142875"/>
          </a:xfrm>
          <a:prstGeom prst="rect">
            <a:avLst/>
          </a:prstGeom>
        </p:spPr>
      </p:pic>
      <p:sp>
        <p:nvSpPr>
          <p:cNvPr id="117" name="Text 100"/>
          <p:cNvSpPr/>
          <p:nvPr/>
        </p:nvSpPr>
        <p:spPr>
          <a:xfrm>
            <a:off x="16537782" y="7676390"/>
            <a:ext cx="501848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25" dirty="0"/>
          </a:p>
        </p:txBody>
      </p:sp>
      <p:pic>
        <p:nvPicPr>
          <p:cNvPr id="118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517067" y="8092447"/>
            <a:ext cx="133284" cy="133284"/>
          </a:xfrm>
          <a:prstGeom prst="rect">
            <a:avLst/>
          </a:prstGeom>
        </p:spPr>
      </p:pic>
      <p:sp>
        <p:nvSpPr>
          <p:cNvPr id="119" name="Text 101"/>
          <p:cNvSpPr/>
          <p:nvPr/>
        </p:nvSpPr>
        <p:spPr>
          <a:xfrm>
            <a:off x="13726419" y="8065823"/>
            <a:ext cx="1986541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 signs off before release</a:t>
            </a:r>
            <a:endParaRPr lang="en-US" sz="1050" dirty="0"/>
          </a:p>
        </p:txBody>
      </p:sp>
      <p:sp>
        <p:nvSpPr>
          <p:cNvPr id="120" name="Shape 102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1" name="Shape 103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4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“Why is Q3 lower?” returns eleven named deals and the signal that moved each one.</a:t>
            </a:r>
            <a:endParaRPr lang="en-US" sz="20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147521" y="235975"/>
            <a:ext cx="1600184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DEFLECTION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POST-SALE · 11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deflection that hands off cleanly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2420700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2399533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2399533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226685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 · Service desk · last 30 days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1050323" y="2127085"/>
            <a:ext cx="1855060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1145573" y="2165185"/>
            <a:ext cx="1740760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 + product docs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48651" y="4916124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1703183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23"/>
          <p:cNvSpPr/>
          <p:nvPr/>
        </p:nvSpPr>
        <p:spPr>
          <a:xfrm>
            <a:off x="1621234" y="2726035"/>
            <a:ext cx="3647116" cy="1508952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5" name="Text 24"/>
          <p:cNvSpPr/>
          <p:nvPr/>
        </p:nvSpPr>
        <p:spPr>
          <a:xfrm>
            <a:off x="1822318" y="2927119"/>
            <a:ext cx="356944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TICKETS RESOLVED WITHOUT AN AGENT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822318" y="3159952"/>
            <a:ext cx="3569444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</a:t>
            </a:r>
            <a:endParaRPr lang="en-US" sz="3150" dirty="0"/>
          </a:p>
        </p:txBody>
      </p:sp>
      <p:sp>
        <p:nvSpPr>
          <p:cNvPr id="37" name="Text 26"/>
          <p:cNvSpPr/>
          <p:nvPr/>
        </p:nvSpPr>
        <p:spPr>
          <a:xfrm>
            <a:off x="1822318" y="3703836"/>
            <a:ext cx="35694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4,120 inbound requests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1822318" y="3995870"/>
            <a:ext cx="3244949" cy="38034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Shape 28"/>
          <p:cNvSpPr/>
          <p:nvPr/>
        </p:nvSpPr>
        <p:spPr>
          <a:xfrm>
            <a:off x="1822318" y="3995870"/>
            <a:ext cx="3244949" cy="38034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Shape 29"/>
          <p:cNvSpPr/>
          <p:nvPr/>
        </p:nvSpPr>
        <p:spPr>
          <a:xfrm>
            <a:off x="5420651" y="2726035"/>
            <a:ext cx="3647281" cy="1508952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1" name="Text 30"/>
          <p:cNvSpPr/>
          <p:nvPr/>
        </p:nvSpPr>
        <p:spPr>
          <a:xfrm>
            <a:off x="5621735" y="2927119"/>
            <a:ext cx="356962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RESPONSE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5621735" y="3159952"/>
            <a:ext cx="3569626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s</a:t>
            </a:r>
            <a:endParaRPr lang="en-US" sz="3150" dirty="0"/>
          </a:p>
        </p:txBody>
      </p:sp>
      <p:sp>
        <p:nvSpPr>
          <p:cNvPr id="43" name="Text 32"/>
          <p:cNvSpPr/>
          <p:nvPr/>
        </p:nvSpPr>
        <p:spPr>
          <a:xfrm>
            <a:off x="5621735" y="3703836"/>
            <a:ext cx="356962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24/7, in four languages</a:t>
            </a:r>
            <a:endParaRPr lang="en-US" sz="1050" dirty="0"/>
          </a:p>
        </p:txBody>
      </p:sp>
      <p:sp>
        <p:nvSpPr>
          <p:cNvPr id="44" name="Shape 33"/>
          <p:cNvSpPr/>
          <p:nvPr/>
        </p:nvSpPr>
        <p:spPr>
          <a:xfrm>
            <a:off x="5621735" y="3995870"/>
            <a:ext cx="3245115" cy="38034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Shape 34"/>
          <p:cNvSpPr/>
          <p:nvPr/>
        </p:nvSpPr>
        <p:spPr>
          <a:xfrm>
            <a:off x="5621735" y="3995870"/>
            <a:ext cx="3245115" cy="38034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6" name="Shape 35"/>
          <p:cNvSpPr/>
          <p:nvPr/>
        </p:nvSpPr>
        <p:spPr>
          <a:xfrm>
            <a:off x="9220234" y="2726035"/>
            <a:ext cx="3647116" cy="1508952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7" name="Text 36"/>
          <p:cNvSpPr/>
          <p:nvPr/>
        </p:nvSpPr>
        <p:spPr>
          <a:xfrm>
            <a:off x="9421317" y="2927119"/>
            <a:ext cx="356944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ESCALATED WITH FULL CONTEXT</a:t>
            </a:r>
            <a:endParaRPr lang="en-US" sz="900" dirty="0"/>
          </a:p>
        </p:txBody>
      </p:sp>
      <p:sp>
        <p:nvSpPr>
          <p:cNvPr id="48" name="Text 37"/>
          <p:cNvSpPr/>
          <p:nvPr/>
        </p:nvSpPr>
        <p:spPr>
          <a:xfrm>
            <a:off x="9421317" y="3159952"/>
            <a:ext cx="3569444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3150" dirty="0"/>
          </a:p>
        </p:txBody>
      </p:sp>
      <p:sp>
        <p:nvSpPr>
          <p:cNvPr id="49" name="Text 38"/>
          <p:cNvSpPr/>
          <p:nvPr/>
        </p:nvSpPr>
        <p:spPr>
          <a:xfrm>
            <a:off x="9421317" y="3703836"/>
            <a:ext cx="35694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opens the ticket already briefed</a:t>
            </a:r>
            <a:endParaRPr lang="en-US" sz="1050" dirty="0"/>
          </a:p>
        </p:txBody>
      </p:sp>
      <p:sp>
        <p:nvSpPr>
          <p:cNvPr id="50" name="Shape 39"/>
          <p:cNvSpPr/>
          <p:nvPr/>
        </p:nvSpPr>
        <p:spPr>
          <a:xfrm>
            <a:off x="9421317" y="3995870"/>
            <a:ext cx="3244949" cy="38034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1" name="Shape 40"/>
          <p:cNvSpPr/>
          <p:nvPr/>
        </p:nvSpPr>
        <p:spPr>
          <a:xfrm>
            <a:off x="9421317" y="3995870"/>
            <a:ext cx="3244949" cy="38034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2" name="Shape 41"/>
          <p:cNvSpPr/>
          <p:nvPr/>
        </p:nvSpPr>
        <p:spPr>
          <a:xfrm>
            <a:off x="1621234" y="4387288"/>
            <a:ext cx="6520161" cy="4403328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3" name="Text 42"/>
          <p:cNvSpPr/>
          <p:nvPr/>
        </p:nvSpPr>
        <p:spPr>
          <a:xfrm>
            <a:off x="1822318" y="4588371"/>
            <a:ext cx="67297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· INC-77401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3401053" y="4878256"/>
            <a:ext cx="4539258" cy="695854"/>
          </a:xfrm>
          <a:prstGeom prst="roundRect">
            <a:avLst>
              <a:gd name="adj" fmla="val 16426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4"/>
          <p:cNvSpPr/>
          <p:nvPr/>
        </p:nvSpPr>
        <p:spPr>
          <a:xfrm>
            <a:off x="3534337" y="5011539"/>
            <a:ext cx="4699959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</a:t>
            </a:r>
            <a:endParaRPr lang="en-US" sz="900" dirty="0"/>
          </a:p>
        </p:txBody>
      </p:sp>
      <p:sp>
        <p:nvSpPr>
          <p:cNvPr id="56" name="Text 45"/>
          <p:cNvSpPr/>
          <p:nvPr/>
        </p:nvSpPr>
        <p:spPr>
          <a:xfrm>
            <a:off x="3534337" y="5206174"/>
            <a:ext cx="4699959" cy="272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63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API returns 429 since this morning on depot 4.</a:t>
            </a:r>
            <a:endParaRPr lang="en-US" sz="1275" dirty="0"/>
          </a:p>
        </p:txBody>
      </p:sp>
      <p:sp>
        <p:nvSpPr>
          <p:cNvPr id="57" name="Shape 46"/>
          <p:cNvSpPr/>
          <p:nvPr/>
        </p:nvSpPr>
        <p:spPr>
          <a:xfrm>
            <a:off x="1822318" y="5688377"/>
            <a:ext cx="5304400" cy="1186326"/>
          </a:xfrm>
          <a:prstGeom prst="roundRect">
            <a:avLst>
              <a:gd name="adj" fmla="val 9635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8" name="Text 47"/>
          <p:cNvSpPr/>
          <p:nvPr/>
        </p:nvSpPr>
        <p:spPr>
          <a:xfrm>
            <a:off x="1966185" y="5832244"/>
            <a:ext cx="5518332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900" dirty="0"/>
          </a:p>
        </p:txBody>
      </p:sp>
      <p:sp>
        <p:nvSpPr>
          <p:cNvPr id="59" name="Text 48"/>
          <p:cNvSpPr/>
          <p:nvPr/>
        </p:nvSpPr>
        <p:spPr>
          <a:xfrm>
            <a:off x="1966185" y="6026878"/>
            <a:ext cx="5167166" cy="742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63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Depot 4 crossed its rate tier when the two new sites came online on 6 Aug. Raising the tier resolves it; the change is free within your current contract. Applied — shall I confirm?</a:t>
            </a:r>
            <a:endParaRPr lang="en-US" sz="1275" dirty="0"/>
          </a:p>
        </p:txBody>
      </p:sp>
      <p:sp>
        <p:nvSpPr>
          <p:cNvPr id="60" name="Shape 49"/>
          <p:cNvSpPr/>
          <p:nvPr/>
        </p:nvSpPr>
        <p:spPr>
          <a:xfrm>
            <a:off x="6700077" y="6988969"/>
            <a:ext cx="1240234" cy="695854"/>
          </a:xfrm>
          <a:prstGeom prst="roundRect">
            <a:avLst>
              <a:gd name="adj" fmla="val 16426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Text 50"/>
          <p:cNvSpPr/>
          <p:nvPr/>
        </p:nvSpPr>
        <p:spPr>
          <a:xfrm>
            <a:off x="6833361" y="7122253"/>
            <a:ext cx="104986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</a:t>
            </a:r>
            <a:endParaRPr lang="en-US" sz="900" dirty="0"/>
          </a:p>
        </p:txBody>
      </p:sp>
      <p:sp>
        <p:nvSpPr>
          <p:cNvPr id="62" name="Text 51"/>
          <p:cNvSpPr/>
          <p:nvPr/>
        </p:nvSpPr>
        <p:spPr>
          <a:xfrm>
            <a:off x="6833361" y="7316887"/>
            <a:ext cx="1049867" cy="272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63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apply it.</a:t>
            </a:r>
            <a:endParaRPr lang="en-US" sz="1275" dirty="0"/>
          </a:p>
        </p:txBody>
      </p:sp>
      <p:sp>
        <p:nvSpPr>
          <p:cNvPr id="63" name="Shape 52"/>
          <p:cNvSpPr/>
          <p:nvPr/>
        </p:nvSpPr>
        <p:spPr>
          <a:xfrm>
            <a:off x="1822318" y="7799090"/>
            <a:ext cx="5304400" cy="951673"/>
          </a:xfrm>
          <a:prstGeom prst="roundRect">
            <a:avLst>
              <a:gd name="adj" fmla="val 12010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4" name="Text 53"/>
          <p:cNvSpPr/>
          <p:nvPr/>
        </p:nvSpPr>
        <p:spPr>
          <a:xfrm>
            <a:off x="1966185" y="7942958"/>
            <a:ext cx="5518332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900" dirty="0"/>
          </a:p>
        </p:txBody>
      </p:sp>
      <p:sp>
        <p:nvSpPr>
          <p:cNvPr id="65" name="Text 54"/>
          <p:cNvSpPr/>
          <p:nvPr/>
        </p:nvSpPr>
        <p:spPr>
          <a:xfrm>
            <a:off x="1966185" y="8137592"/>
            <a:ext cx="5167166" cy="507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63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Applied. Ticket closed and logged against your contract. Your account team has been notified about the capacity trend.</a:t>
            </a:r>
            <a:endParaRPr lang="en-US" sz="1275" dirty="0"/>
          </a:p>
        </p:txBody>
      </p:sp>
      <p:sp>
        <p:nvSpPr>
          <p:cNvPr id="66" name="Shape 55"/>
          <p:cNvSpPr/>
          <p:nvPr/>
        </p:nvSpPr>
        <p:spPr>
          <a:xfrm>
            <a:off x="8293696" y="4387288"/>
            <a:ext cx="4573654" cy="4403328"/>
          </a:xfrm>
          <a:prstGeom prst="roundRect">
            <a:avLst>
              <a:gd name="adj" fmla="val 3461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Shape 56"/>
          <p:cNvSpPr/>
          <p:nvPr/>
        </p:nvSpPr>
        <p:spPr>
          <a:xfrm>
            <a:off x="8494779" y="4588371"/>
            <a:ext cx="1150607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7"/>
          <p:cNvSpPr/>
          <p:nvPr/>
        </p:nvSpPr>
        <p:spPr>
          <a:xfrm>
            <a:off x="8590029" y="4626471"/>
            <a:ext cx="1036307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Handed to sales</a:t>
            </a:r>
            <a:endParaRPr lang="en-US" sz="975" dirty="0"/>
          </a:p>
        </p:txBody>
      </p:sp>
      <p:sp>
        <p:nvSpPr>
          <p:cNvPr id="69" name="Text 58"/>
          <p:cNvSpPr/>
          <p:nvPr/>
        </p:nvSpPr>
        <p:spPr>
          <a:xfrm>
            <a:off x="8494779" y="4945889"/>
            <a:ext cx="4588636" cy="29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5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events are expansion signals.</a:t>
            </a:r>
            <a:endParaRPr lang="en-US" sz="1500" dirty="0"/>
          </a:p>
        </p:txBody>
      </p:sp>
      <p:sp>
        <p:nvSpPr>
          <p:cNvPr id="70" name="Text 59"/>
          <p:cNvSpPr/>
          <p:nvPr/>
        </p:nvSpPr>
        <p:spPr>
          <a:xfrm>
            <a:off x="8494779" y="5317299"/>
            <a:ext cx="4296632" cy="766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rate-tier events in eight weeks moved Helvetia Logistik into the expansion segment automatically. The account team saw it the same day, not at renewal.</a:t>
            </a:r>
            <a:endParaRPr lang="en-US" sz="1275" dirty="0"/>
          </a:p>
        </p:txBody>
      </p:sp>
      <p:sp>
        <p:nvSpPr>
          <p:cNvPr id="71" name="Text 60"/>
          <p:cNvSpPr/>
          <p:nvPr/>
        </p:nvSpPr>
        <p:spPr>
          <a:xfrm>
            <a:off x="8494779" y="6236064"/>
            <a:ext cx="4588636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ServiceNow · 3 incidents</a:t>
            </a:r>
            <a:endParaRPr lang="en-US" sz="1125" dirty="0"/>
          </a:p>
        </p:txBody>
      </p:sp>
      <p:sp>
        <p:nvSpPr>
          <p:cNvPr id="72" name="Text 61"/>
          <p:cNvSpPr/>
          <p:nvPr/>
        </p:nvSpPr>
        <p:spPr>
          <a:xfrm>
            <a:off x="8494779" y="6500647"/>
            <a:ext cx="4588636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Snowflake · usage curve</a:t>
            </a:r>
            <a:endParaRPr lang="en-US" sz="1125" dirty="0"/>
          </a:p>
        </p:txBody>
      </p:sp>
      <p:sp>
        <p:nvSpPr>
          <p:cNvPr id="73" name="Text 62"/>
          <p:cNvSpPr/>
          <p:nvPr/>
        </p:nvSpPr>
        <p:spPr>
          <a:xfrm>
            <a:off x="8494779" y="6765231"/>
            <a:ext cx="4588636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Salesforce · opportunity created</a:t>
            </a:r>
            <a:endParaRPr lang="en-US" sz="1125" dirty="0"/>
          </a:p>
        </p:txBody>
      </p:sp>
      <p:sp>
        <p:nvSpPr>
          <p:cNvPr id="74" name="Shape 63"/>
          <p:cNvSpPr/>
          <p:nvPr/>
        </p:nvSpPr>
        <p:spPr>
          <a:xfrm>
            <a:off x="13296966" y="1981068"/>
            <a:ext cx="4469474" cy="7048666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7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17067" y="2201168"/>
            <a:ext cx="161892" cy="161892"/>
          </a:xfrm>
          <a:prstGeom prst="rect">
            <a:avLst/>
          </a:prstGeom>
        </p:spPr>
      </p:pic>
      <p:sp>
        <p:nvSpPr>
          <p:cNvPr id="76" name="Text 64"/>
          <p:cNvSpPr/>
          <p:nvPr/>
        </p:nvSpPr>
        <p:spPr>
          <a:xfrm>
            <a:off x="13764618" y="2213240"/>
            <a:ext cx="82083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900" dirty="0"/>
          </a:p>
        </p:txBody>
      </p:sp>
      <p:pic>
        <p:nvPicPr>
          <p:cNvPr id="7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394039" y="2205964"/>
            <a:ext cx="152301" cy="152301"/>
          </a:xfrm>
          <a:prstGeom prst="rect">
            <a:avLst/>
          </a:prstGeom>
        </p:spPr>
      </p:pic>
      <p:sp>
        <p:nvSpPr>
          <p:cNvPr id="78" name="Shape 65"/>
          <p:cNvSpPr/>
          <p:nvPr/>
        </p:nvSpPr>
        <p:spPr>
          <a:xfrm>
            <a:off x="13572960" y="2477327"/>
            <a:ext cx="3973380" cy="635992"/>
          </a:xfrm>
          <a:prstGeom prst="roundRect">
            <a:avLst>
              <a:gd name="adj" fmla="val 17972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Text 66"/>
          <p:cNvSpPr/>
          <p:nvPr/>
        </p:nvSpPr>
        <p:spPr>
          <a:xfrm>
            <a:off x="13706244" y="2582003"/>
            <a:ext cx="3818017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8"/>
              </a:lnSpc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deflected tickets should sales actually follow up on?</a:t>
            </a:r>
            <a:endParaRPr lang="en-US" sz="1200" dirty="0"/>
          </a:p>
        </p:txBody>
      </p:sp>
      <p:sp>
        <p:nvSpPr>
          <p:cNvPr id="80" name="Text 67"/>
          <p:cNvSpPr/>
          <p:nvPr/>
        </p:nvSpPr>
        <p:spPr>
          <a:xfrm>
            <a:off x="13517067" y="3227586"/>
            <a:ext cx="4150152" cy="766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Nine of 1,560 deflected tickets are capacity events at accounts inside a renewal window. Those are the only ones worth a sales touch.</a:t>
            </a:r>
            <a:endParaRPr lang="en-US" sz="1275" dirty="0"/>
          </a:p>
        </p:txBody>
      </p:sp>
      <p:sp>
        <p:nvSpPr>
          <p:cNvPr id="81" name="Shape 68"/>
          <p:cNvSpPr/>
          <p:nvPr/>
        </p:nvSpPr>
        <p:spPr>
          <a:xfrm>
            <a:off x="13517067" y="4070119"/>
            <a:ext cx="4029274" cy="1197736"/>
          </a:xfrm>
          <a:prstGeom prst="roundRect">
            <a:avLst>
              <a:gd name="adj" fmla="val 954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Text 69"/>
          <p:cNvSpPr/>
          <p:nvPr/>
        </p:nvSpPr>
        <p:spPr>
          <a:xfrm>
            <a:off x="13650351" y="4203402"/>
            <a:ext cx="4138976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DEFLECTED TICKETS BY THEME</a:t>
            </a:r>
            <a:endParaRPr lang="en-US" sz="900" dirty="0"/>
          </a:p>
        </p:txBody>
      </p:sp>
      <p:sp>
        <p:nvSpPr>
          <p:cNvPr id="83" name="Text 70"/>
          <p:cNvSpPr/>
          <p:nvPr/>
        </p:nvSpPr>
        <p:spPr>
          <a:xfrm>
            <a:off x="13650351" y="4460545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limits</a:t>
            </a:r>
            <a:endParaRPr lang="en-US" sz="1050" dirty="0"/>
          </a:p>
        </p:txBody>
      </p:sp>
      <p:sp>
        <p:nvSpPr>
          <p:cNvPr id="84" name="Shape 71"/>
          <p:cNvSpPr/>
          <p:nvPr/>
        </p:nvSpPr>
        <p:spPr>
          <a:xfrm>
            <a:off x="15212385" y="4501886"/>
            <a:ext cx="1495888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Shape 72"/>
          <p:cNvSpPr/>
          <p:nvPr/>
        </p:nvSpPr>
        <p:spPr>
          <a:xfrm>
            <a:off x="15212385" y="4501886"/>
            <a:ext cx="1495888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6" name="Text 73"/>
          <p:cNvSpPr/>
          <p:nvPr/>
        </p:nvSpPr>
        <p:spPr>
          <a:xfrm>
            <a:off x="16746339" y="4455253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125" dirty="0"/>
          </a:p>
        </p:txBody>
      </p:sp>
      <p:sp>
        <p:nvSpPr>
          <p:cNvPr id="87" name="Text 74"/>
          <p:cNvSpPr/>
          <p:nvPr/>
        </p:nvSpPr>
        <p:spPr>
          <a:xfrm>
            <a:off x="13650351" y="4715537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</a:t>
            </a:r>
            <a:endParaRPr lang="en-US" sz="1050" dirty="0"/>
          </a:p>
        </p:txBody>
      </p:sp>
      <p:sp>
        <p:nvSpPr>
          <p:cNvPr id="88" name="Shape 75"/>
          <p:cNvSpPr/>
          <p:nvPr/>
        </p:nvSpPr>
        <p:spPr>
          <a:xfrm>
            <a:off x="15212385" y="4756878"/>
            <a:ext cx="1495888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Shape 76"/>
          <p:cNvSpPr/>
          <p:nvPr/>
        </p:nvSpPr>
        <p:spPr>
          <a:xfrm>
            <a:off x="15212385" y="4756878"/>
            <a:ext cx="997149" cy="76068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0" name="Text 77"/>
          <p:cNvSpPr/>
          <p:nvPr/>
        </p:nvSpPr>
        <p:spPr>
          <a:xfrm>
            <a:off x="16746339" y="4710245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125" dirty="0"/>
          </a:p>
        </p:txBody>
      </p:sp>
      <p:sp>
        <p:nvSpPr>
          <p:cNvPr id="91" name="Text 78"/>
          <p:cNvSpPr/>
          <p:nvPr/>
        </p:nvSpPr>
        <p:spPr>
          <a:xfrm>
            <a:off x="13650351" y="4970529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</a:t>
            </a:r>
            <a:endParaRPr lang="en-US" sz="1050" dirty="0"/>
          </a:p>
        </p:txBody>
      </p:sp>
      <p:sp>
        <p:nvSpPr>
          <p:cNvPr id="92" name="Shape 79"/>
          <p:cNvSpPr/>
          <p:nvPr/>
        </p:nvSpPr>
        <p:spPr>
          <a:xfrm>
            <a:off x="15212385" y="5011870"/>
            <a:ext cx="1495888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Shape 80"/>
          <p:cNvSpPr/>
          <p:nvPr/>
        </p:nvSpPr>
        <p:spPr>
          <a:xfrm>
            <a:off x="15212385" y="5011870"/>
            <a:ext cx="605400" cy="76068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81"/>
          <p:cNvSpPr/>
          <p:nvPr/>
        </p:nvSpPr>
        <p:spPr>
          <a:xfrm>
            <a:off x="16746339" y="4965237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125" dirty="0"/>
          </a:p>
        </p:txBody>
      </p:sp>
      <p:sp>
        <p:nvSpPr>
          <p:cNvPr id="95" name="Shape 82"/>
          <p:cNvSpPr/>
          <p:nvPr/>
        </p:nvSpPr>
        <p:spPr>
          <a:xfrm>
            <a:off x="13517067" y="5382121"/>
            <a:ext cx="4029274" cy="2124604"/>
          </a:xfrm>
          <a:prstGeom prst="roundRect">
            <a:avLst>
              <a:gd name="adj" fmla="val 538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96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60935" y="5525988"/>
            <a:ext cx="142875" cy="142875"/>
          </a:xfrm>
          <a:prstGeom prst="rect">
            <a:avLst/>
          </a:prstGeom>
        </p:spPr>
      </p:pic>
      <p:sp>
        <p:nvSpPr>
          <p:cNvPr id="97" name="Text 83"/>
          <p:cNvSpPr/>
          <p:nvPr/>
        </p:nvSpPr>
        <p:spPr>
          <a:xfrm>
            <a:off x="13879877" y="5528635"/>
            <a:ext cx="179190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FOLLOW-UP LIST</a:t>
            </a:r>
            <a:endParaRPr lang="en-US" sz="900" dirty="0"/>
          </a:p>
        </p:txBody>
      </p:sp>
      <p:sp>
        <p:nvSpPr>
          <p:cNvPr id="98" name="Text 84"/>
          <p:cNvSpPr/>
          <p:nvPr/>
        </p:nvSpPr>
        <p:spPr>
          <a:xfrm>
            <a:off x="13660935" y="5856057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</a:t>
            </a:r>
            <a:endParaRPr lang="en-US" sz="1050" dirty="0"/>
          </a:p>
        </p:txBody>
      </p:sp>
      <p:sp>
        <p:nvSpPr>
          <p:cNvPr id="99" name="Shape 85"/>
          <p:cNvSpPr/>
          <p:nvPr/>
        </p:nvSpPr>
        <p:spPr>
          <a:xfrm>
            <a:off x="14841968" y="5764113"/>
            <a:ext cx="2560505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Text 86"/>
          <p:cNvSpPr/>
          <p:nvPr/>
        </p:nvSpPr>
        <p:spPr>
          <a:xfrm>
            <a:off x="14957327" y="5850897"/>
            <a:ext cx="2406604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events · renewal window</a:t>
            </a:r>
            <a:endParaRPr lang="en-US" sz="1125" dirty="0"/>
          </a:p>
        </p:txBody>
      </p:sp>
      <p:sp>
        <p:nvSpPr>
          <p:cNvPr id="101" name="Text 87"/>
          <p:cNvSpPr/>
          <p:nvPr/>
        </p:nvSpPr>
        <p:spPr>
          <a:xfrm>
            <a:off x="13660935" y="6274759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Accounts</a:t>
            </a:r>
            <a:endParaRPr lang="en-US" sz="1050" dirty="0"/>
          </a:p>
        </p:txBody>
      </p:sp>
      <p:sp>
        <p:nvSpPr>
          <p:cNvPr id="102" name="Shape 88"/>
          <p:cNvSpPr/>
          <p:nvPr/>
        </p:nvSpPr>
        <p:spPr>
          <a:xfrm>
            <a:off x="14841968" y="6182817"/>
            <a:ext cx="2560505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3" name="Text 89"/>
          <p:cNvSpPr/>
          <p:nvPr/>
        </p:nvSpPr>
        <p:spPr>
          <a:xfrm>
            <a:off x="14957327" y="6269600"/>
            <a:ext cx="2406604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 incl. Helvetia Logistik</a:t>
            </a:r>
            <a:endParaRPr lang="en-US" sz="1125" dirty="0"/>
          </a:p>
        </p:txBody>
      </p:sp>
      <p:sp>
        <p:nvSpPr>
          <p:cNvPr id="104" name="Text 90"/>
          <p:cNvSpPr/>
          <p:nvPr/>
        </p:nvSpPr>
        <p:spPr>
          <a:xfrm>
            <a:off x="13660935" y="6693462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1050" dirty="0"/>
          </a:p>
        </p:txBody>
      </p:sp>
      <p:sp>
        <p:nvSpPr>
          <p:cNvPr id="105" name="Shape 91"/>
          <p:cNvSpPr/>
          <p:nvPr/>
        </p:nvSpPr>
        <p:spPr>
          <a:xfrm>
            <a:off x="14841968" y="6601520"/>
            <a:ext cx="2560505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6" name="Text 92"/>
          <p:cNvSpPr/>
          <p:nvPr/>
        </p:nvSpPr>
        <p:spPr>
          <a:xfrm>
            <a:off x="14957327" y="6688303"/>
            <a:ext cx="2406604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CSM team lead</a:t>
            </a:r>
            <a:endParaRPr lang="en-US" sz="1125" dirty="0"/>
          </a:p>
        </p:txBody>
      </p:sp>
      <p:sp>
        <p:nvSpPr>
          <p:cNvPr id="107" name="Text 93"/>
          <p:cNvSpPr/>
          <p:nvPr/>
        </p:nvSpPr>
        <p:spPr>
          <a:xfrm>
            <a:off x="13660935" y="7112166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Handover</a:t>
            </a:r>
            <a:endParaRPr lang="en-US" sz="1050" dirty="0"/>
          </a:p>
        </p:txBody>
      </p:sp>
      <p:sp>
        <p:nvSpPr>
          <p:cNvPr id="108" name="Shape 94"/>
          <p:cNvSpPr/>
          <p:nvPr/>
        </p:nvSpPr>
        <p:spPr>
          <a:xfrm>
            <a:off x="14841968" y="7020223"/>
            <a:ext cx="2560505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9" name="Text 95"/>
          <p:cNvSpPr/>
          <p:nvPr/>
        </p:nvSpPr>
        <p:spPr>
          <a:xfrm>
            <a:off x="14957327" y="7107007"/>
            <a:ext cx="2406604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Slack digest, daily 08:00</a:t>
            </a:r>
            <a:endParaRPr lang="en-US" sz="1125" dirty="0"/>
          </a:p>
        </p:txBody>
      </p:sp>
      <p:sp>
        <p:nvSpPr>
          <p:cNvPr id="110" name="Shape 96"/>
          <p:cNvSpPr/>
          <p:nvPr/>
        </p:nvSpPr>
        <p:spPr>
          <a:xfrm>
            <a:off x="13517067" y="7640009"/>
            <a:ext cx="4029274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1" name="Shape 97"/>
          <p:cNvSpPr/>
          <p:nvPr/>
        </p:nvSpPr>
        <p:spPr>
          <a:xfrm>
            <a:off x="13517067" y="7794460"/>
            <a:ext cx="1904669" cy="359833"/>
          </a:xfrm>
          <a:prstGeom prst="roundRect">
            <a:avLst>
              <a:gd name="adj" fmla="val 21176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2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50351" y="7902939"/>
            <a:ext cx="142875" cy="142875"/>
          </a:xfrm>
          <a:prstGeom prst="rect">
            <a:avLst/>
          </a:prstGeom>
        </p:spPr>
      </p:pic>
      <p:sp>
        <p:nvSpPr>
          <p:cNvPr id="113" name="Text 98"/>
          <p:cNvSpPr/>
          <p:nvPr/>
        </p:nvSpPr>
        <p:spPr>
          <a:xfrm>
            <a:off x="13859868" y="7889710"/>
            <a:ext cx="1504785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&amp; hand over</a:t>
            </a:r>
            <a:endParaRPr lang="en-US" sz="1125" dirty="0"/>
          </a:p>
        </p:txBody>
      </p:sp>
      <p:sp>
        <p:nvSpPr>
          <p:cNvPr id="114" name="Shape 99"/>
          <p:cNvSpPr/>
          <p:nvPr/>
        </p:nvSpPr>
        <p:spPr>
          <a:xfrm>
            <a:off x="15516987" y="7783877"/>
            <a:ext cx="756378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1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660853" y="7902939"/>
            <a:ext cx="142875" cy="142875"/>
          </a:xfrm>
          <a:prstGeom prst="rect">
            <a:avLst/>
          </a:prstGeom>
        </p:spPr>
      </p:pic>
      <p:sp>
        <p:nvSpPr>
          <p:cNvPr id="116" name="Text 100"/>
          <p:cNvSpPr/>
          <p:nvPr/>
        </p:nvSpPr>
        <p:spPr>
          <a:xfrm>
            <a:off x="15870371" y="7889710"/>
            <a:ext cx="335326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25" dirty="0"/>
          </a:p>
        </p:txBody>
      </p:sp>
      <p:sp>
        <p:nvSpPr>
          <p:cNvPr id="117" name="Shape 101"/>
          <p:cNvSpPr/>
          <p:nvPr/>
        </p:nvSpPr>
        <p:spPr>
          <a:xfrm>
            <a:off x="16368614" y="7783877"/>
            <a:ext cx="922900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18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512482" y="7902939"/>
            <a:ext cx="142875" cy="142875"/>
          </a:xfrm>
          <a:prstGeom prst="rect">
            <a:avLst/>
          </a:prstGeom>
        </p:spPr>
      </p:pic>
      <p:sp>
        <p:nvSpPr>
          <p:cNvPr id="119" name="Text 102"/>
          <p:cNvSpPr/>
          <p:nvPr/>
        </p:nvSpPr>
        <p:spPr>
          <a:xfrm>
            <a:off x="16721998" y="7889710"/>
            <a:ext cx="501848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25" dirty="0"/>
          </a:p>
        </p:txBody>
      </p:sp>
      <p:pic>
        <p:nvPicPr>
          <p:cNvPr id="120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517067" y="8305767"/>
            <a:ext cx="133284" cy="133284"/>
          </a:xfrm>
          <a:prstGeom prst="rect">
            <a:avLst/>
          </a:prstGeom>
        </p:spPr>
      </p:pic>
      <p:sp>
        <p:nvSpPr>
          <p:cNvPr id="121" name="Text 103"/>
          <p:cNvSpPr/>
          <p:nvPr/>
        </p:nvSpPr>
        <p:spPr>
          <a:xfrm>
            <a:off x="13726419" y="8279143"/>
            <a:ext cx="2881858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sees it only after the CSM approves</a:t>
            </a:r>
            <a:endParaRPr lang="en-US" sz="1050" dirty="0"/>
          </a:p>
        </p:txBody>
      </p:sp>
      <p:sp>
        <p:nvSpPr>
          <p:cNvPr id="122" name="Shape 104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Shape 105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Text 106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signals become expansion signals the same day, not at renewal.</a:t>
            </a:r>
            <a:endParaRPr lang="en-US" sz="20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361339" y="235975"/>
            <a:ext cx="1364986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RENEWAL &amp; CHURN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POST-SALE · 12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Renewal and churn prediction, 120 days ahead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12420700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696350" y="1991651"/>
            <a:ext cx="12399533" cy="5058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696350" y="2486918"/>
            <a:ext cx="12399533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886850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1058168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1229486" y="2186947"/>
            <a:ext cx="104676" cy="104676"/>
          </a:xfrm>
          <a:prstGeom prst="ellipse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1543513" y="2159827"/>
            <a:ext cx="5081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08729" y="2153543"/>
            <a:ext cx="9525" cy="17131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2251439" y="2159827"/>
            <a:ext cx="298099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· Renewal book · next two quarters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1782062" y="2127085"/>
            <a:ext cx="1123322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1877312" y="2165185"/>
            <a:ext cx="1009022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Refreshed daily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696350" y="2497501"/>
            <a:ext cx="696350" cy="6521649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1382117" y="2497501"/>
            <a:ext cx="10583" cy="6521649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901" y="2726035"/>
            <a:ext cx="190500" cy="190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901" y="3183103"/>
            <a:ext cx="190500" cy="1905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901" y="3640171"/>
            <a:ext cx="190500" cy="1905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48651" y="400198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901" y="4097239"/>
            <a:ext cx="190500" cy="190500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901" y="4554306"/>
            <a:ext cx="190500" cy="19050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01" y="5011374"/>
            <a:ext cx="190500" cy="1905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901" y="5468442"/>
            <a:ext cx="190500" cy="1905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3901" y="5925509"/>
            <a:ext cx="190500" cy="1905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392701" y="2497501"/>
            <a:ext cx="11703183" cy="6521649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Text 23"/>
          <p:cNvSpPr/>
          <p:nvPr/>
        </p:nvSpPr>
        <p:spPr>
          <a:xfrm>
            <a:off x="1621234" y="2726035"/>
            <a:ext cx="3207461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4689409" y="2726035"/>
            <a:ext cx="224538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RISK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6882971" y="2726035"/>
            <a:ext cx="1603822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8493291" y="2726035"/>
            <a:ext cx="4811465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1621234" y="3015919"/>
            <a:ext cx="11246115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Text 28"/>
          <p:cNvSpPr/>
          <p:nvPr/>
        </p:nvSpPr>
        <p:spPr>
          <a:xfrm>
            <a:off x="1621234" y="3197821"/>
            <a:ext cx="320746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Alpina Retail Group</a:t>
            </a:r>
            <a:endParaRPr lang="en-US" sz="1575" dirty="0"/>
          </a:p>
        </p:txBody>
      </p:sp>
      <p:sp>
        <p:nvSpPr>
          <p:cNvPr id="40" name="Shape 29"/>
          <p:cNvSpPr/>
          <p:nvPr/>
        </p:nvSpPr>
        <p:spPr>
          <a:xfrm>
            <a:off x="4689409" y="3281495"/>
            <a:ext cx="1469926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1" name="Shape 30"/>
          <p:cNvSpPr/>
          <p:nvPr/>
        </p:nvSpPr>
        <p:spPr>
          <a:xfrm>
            <a:off x="4689409" y="3281495"/>
            <a:ext cx="1205177" cy="76068"/>
          </a:xfrm>
          <a:prstGeom prst="roundRect">
            <a:avLst>
              <a:gd name="adj" fmla="val 50000"/>
            </a:avLst>
          </a:prstGeom>
          <a:solidFill>
            <a:srgbClr val="B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2" name="Text 31"/>
          <p:cNvSpPr/>
          <p:nvPr/>
        </p:nvSpPr>
        <p:spPr>
          <a:xfrm>
            <a:off x="6273602" y="3213695"/>
            <a:ext cx="533268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82 %</a:t>
            </a:r>
            <a:endParaRPr lang="en-US" sz="1350" dirty="0"/>
          </a:p>
        </p:txBody>
      </p:sp>
      <p:sp>
        <p:nvSpPr>
          <p:cNvPr id="43" name="Text 32"/>
          <p:cNvSpPr/>
          <p:nvPr/>
        </p:nvSpPr>
        <p:spPr>
          <a:xfrm>
            <a:off x="6882971" y="3208404"/>
            <a:ext cx="160382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380 k</a:t>
            </a:r>
            <a:endParaRPr lang="en-US" sz="1425" dirty="0"/>
          </a:p>
        </p:txBody>
      </p:sp>
      <p:sp>
        <p:nvSpPr>
          <p:cNvPr id="44" name="Text 33"/>
          <p:cNvSpPr/>
          <p:nvPr/>
        </p:nvSpPr>
        <p:spPr>
          <a:xfrm>
            <a:off x="8493291" y="3218987"/>
            <a:ext cx="481146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 left · usage −34% · 2 open escalations</a:t>
            </a:r>
            <a:endParaRPr lang="en-US" sz="1275" dirty="0"/>
          </a:p>
        </p:txBody>
      </p:sp>
      <p:sp>
        <p:nvSpPr>
          <p:cNvPr id="45" name="Shape 34"/>
          <p:cNvSpPr/>
          <p:nvPr/>
        </p:nvSpPr>
        <p:spPr>
          <a:xfrm>
            <a:off x="1621234" y="3764856"/>
            <a:ext cx="11246115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6" name="Text 35"/>
          <p:cNvSpPr/>
          <p:nvPr/>
        </p:nvSpPr>
        <p:spPr>
          <a:xfrm>
            <a:off x="1621234" y="3946757"/>
            <a:ext cx="320746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Zug Chemicals</a:t>
            </a:r>
            <a:endParaRPr lang="en-US" sz="1575" dirty="0"/>
          </a:p>
        </p:txBody>
      </p:sp>
      <p:sp>
        <p:nvSpPr>
          <p:cNvPr id="47" name="Shape 36"/>
          <p:cNvSpPr/>
          <p:nvPr/>
        </p:nvSpPr>
        <p:spPr>
          <a:xfrm>
            <a:off x="4689409" y="4030431"/>
            <a:ext cx="1469926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8" name="Shape 37"/>
          <p:cNvSpPr/>
          <p:nvPr/>
        </p:nvSpPr>
        <p:spPr>
          <a:xfrm>
            <a:off x="4689409" y="4030431"/>
            <a:ext cx="837737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9" name="Text 38"/>
          <p:cNvSpPr/>
          <p:nvPr/>
        </p:nvSpPr>
        <p:spPr>
          <a:xfrm>
            <a:off x="6273602" y="3962632"/>
            <a:ext cx="533268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57 %</a:t>
            </a:r>
            <a:endParaRPr lang="en-US" sz="1350" dirty="0"/>
          </a:p>
        </p:txBody>
      </p:sp>
      <p:sp>
        <p:nvSpPr>
          <p:cNvPr id="50" name="Text 39"/>
          <p:cNvSpPr/>
          <p:nvPr/>
        </p:nvSpPr>
        <p:spPr>
          <a:xfrm>
            <a:off x="6882971" y="3957340"/>
            <a:ext cx="160382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210 k</a:t>
            </a:r>
            <a:endParaRPr lang="en-US" sz="1425" dirty="0"/>
          </a:p>
        </p:txBody>
      </p:sp>
      <p:sp>
        <p:nvSpPr>
          <p:cNvPr id="51" name="Text 40"/>
          <p:cNvSpPr/>
          <p:nvPr/>
        </p:nvSpPr>
        <p:spPr>
          <a:xfrm>
            <a:off x="8493291" y="3967924"/>
            <a:ext cx="481146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 usage · no exec contact in 6 months</a:t>
            </a:r>
            <a:endParaRPr lang="en-US" sz="1275" dirty="0"/>
          </a:p>
        </p:txBody>
      </p:sp>
      <p:sp>
        <p:nvSpPr>
          <p:cNvPr id="52" name="Shape 41"/>
          <p:cNvSpPr/>
          <p:nvPr/>
        </p:nvSpPr>
        <p:spPr>
          <a:xfrm>
            <a:off x="1621234" y="4513792"/>
            <a:ext cx="11246115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3" name="Text 42"/>
          <p:cNvSpPr/>
          <p:nvPr/>
        </p:nvSpPr>
        <p:spPr>
          <a:xfrm>
            <a:off x="1621234" y="4695693"/>
            <a:ext cx="320746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Nordwind Energie</a:t>
            </a:r>
            <a:endParaRPr lang="en-US" sz="1575" dirty="0"/>
          </a:p>
        </p:txBody>
      </p:sp>
      <p:sp>
        <p:nvSpPr>
          <p:cNvPr id="54" name="Shape 43"/>
          <p:cNvSpPr/>
          <p:nvPr/>
        </p:nvSpPr>
        <p:spPr>
          <a:xfrm>
            <a:off x="4689409" y="4779367"/>
            <a:ext cx="1469926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Shape 44"/>
          <p:cNvSpPr/>
          <p:nvPr/>
        </p:nvSpPr>
        <p:spPr>
          <a:xfrm>
            <a:off x="4689409" y="4779367"/>
            <a:ext cx="308570" cy="76068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Text 45"/>
          <p:cNvSpPr/>
          <p:nvPr/>
        </p:nvSpPr>
        <p:spPr>
          <a:xfrm>
            <a:off x="6273602" y="4711568"/>
            <a:ext cx="533268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21 %</a:t>
            </a:r>
            <a:endParaRPr lang="en-US" sz="1350" dirty="0"/>
          </a:p>
        </p:txBody>
      </p:sp>
      <p:sp>
        <p:nvSpPr>
          <p:cNvPr id="57" name="Text 46"/>
          <p:cNvSpPr/>
          <p:nvPr/>
        </p:nvSpPr>
        <p:spPr>
          <a:xfrm>
            <a:off x="6882971" y="4706276"/>
            <a:ext cx="160382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640 k</a:t>
            </a:r>
            <a:endParaRPr lang="en-US" sz="1425" dirty="0"/>
          </a:p>
        </p:txBody>
      </p:sp>
      <p:sp>
        <p:nvSpPr>
          <p:cNvPr id="58" name="Text 47"/>
          <p:cNvSpPr/>
          <p:nvPr/>
        </p:nvSpPr>
        <p:spPr>
          <a:xfrm>
            <a:off x="8493291" y="4716859"/>
            <a:ext cx="481146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+18% · expansion conversation open</a:t>
            </a:r>
            <a:endParaRPr lang="en-US" sz="1275" dirty="0"/>
          </a:p>
        </p:txBody>
      </p:sp>
      <p:sp>
        <p:nvSpPr>
          <p:cNvPr id="59" name="Shape 48"/>
          <p:cNvSpPr/>
          <p:nvPr/>
        </p:nvSpPr>
        <p:spPr>
          <a:xfrm>
            <a:off x="1621234" y="5262728"/>
            <a:ext cx="11246115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9"/>
          <p:cNvSpPr/>
          <p:nvPr/>
        </p:nvSpPr>
        <p:spPr>
          <a:xfrm>
            <a:off x="1621234" y="5444629"/>
            <a:ext cx="320746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Helvetia Logistik AG</a:t>
            </a:r>
            <a:endParaRPr lang="en-US" sz="1575" dirty="0"/>
          </a:p>
        </p:txBody>
      </p:sp>
      <p:sp>
        <p:nvSpPr>
          <p:cNvPr id="61" name="Shape 50"/>
          <p:cNvSpPr/>
          <p:nvPr/>
        </p:nvSpPr>
        <p:spPr>
          <a:xfrm>
            <a:off x="4689409" y="5528304"/>
            <a:ext cx="1469926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Shape 51"/>
          <p:cNvSpPr/>
          <p:nvPr/>
        </p:nvSpPr>
        <p:spPr>
          <a:xfrm>
            <a:off x="4689409" y="5528304"/>
            <a:ext cx="205714" cy="76068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52"/>
          <p:cNvSpPr/>
          <p:nvPr/>
        </p:nvSpPr>
        <p:spPr>
          <a:xfrm>
            <a:off x="6273602" y="5460504"/>
            <a:ext cx="533268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14 %</a:t>
            </a:r>
            <a:endParaRPr lang="en-US" sz="1350" dirty="0"/>
          </a:p>
        </p:txBody>
      </p:sp>
      <p:sp>
        <p:nvSpPr>
          <p:cNvPr id="64" name="Text 53"/>
          <p:cNvSpPr/>
          <p:nvPr/>
        </p:nvSpPr>
        <p:spPr>
          <a:xfrm>
            <a:off x="6882971" y="5455212"/>
            <a:ext cx="160382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410 k</a:t>
            </a:r>
            <a:endParaRPr lang="en-US" sz="1425" dirty="0"/>
          </a:p>
        </p:txBody>
      </p:sp>
      <p:sp>
        <p:nvSpPr>
          <p:cNvPr id="65" name="Text 54"/>
          <p:cNvSpPr/>
          <p:nvPr/>
        </p:nvSpPr>
        <p:spPr>
          <a:xfrm>
            <a:off x="8493291" y="5465796"/>
            <a:ext cx="481146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96% · renewal pulled forward</a:t>
            </a:r>
            <a:endParaRPr lang="en-US" sz="1275" dirty="0"/>
          </a:p>
        </p:txBody>
      </p:sp>
      <p:sp>
        <p:nvSpPr>
          <p:cNvPr id="66" name="Shape 55"/>
          <p:cNvSpPr/>
          <p:nvPr/>
        </p:nvSpPr>
        <p:spPr>
          <a:xfrm>
            <a:off x="1621234" y="7978180"/>
            <a:ext cx="11246115" cy="812436"/>
          </a:xfrm>
          <a:prstGeom prst="roundRect">
            <a:avLst>
              <a:gd name="adj" fmla="val 14069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Text 56"/>
          <p:cNvSpPr/>
          <p:nvPr/>
        </p:nvSpPr>
        <p:spPr>
          <a:xfrm>
            <a:off x="1792552" y="8149498"/>
            <a:ext cx="3802460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AT RISK, IDENTIFIED EARLY</a:t>
            </a:r>
            <a:endParaRPr lang="en-US" sz="900" dirty="0"/>
          </a:p>
        </p:txBody>
      </p:sp>
      <p:sp>
        <p:nvSpPr>
          <p:cNvPr id="68" name="Text 57"/>
          <p:cNvSpPr/>
          <p:nvPr/>
        </p:nvSpPr>
        <p:spPr>
          <a:xfrm>
            <a:off x="1792552" y="8344132"/>
            <a:ext cx="3802460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1.2 M</a:t>
            </a:r>
            <a:endParaRPr lang="en-US" sz="1800" dirty="0"/>
          </a:p>
        </p:txBody>
      </p:sp>
      <p:sp>
        <p:nvSpPr>
          <p:cNvPr id="69" name="Text 58"/>
          <p:cNvSpPr/>
          <p:nvPr/>
        </p:nvSpPr>
        <p:spPr>
          <a:xfrm>
            <a:off x="5515901" y="8149498"/>
            <a:ext cx="3802460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SAVES ATTRIBUTED TO EARLY ACTION</a:t>
            </a:r>
            <a:endParaRPr lang="en-US" sz="900" dirty="0"/>
          </a:p>
        </p:txBody>
      </p:sp>
      <p:sp>
        <p:nvSpPr>
          <p:cNvPr id="70" name="Text 59"/>
          <p:cNvSpPr/>
          <p:nvPr/>
        </p:nvSpPr>
        <p:spPr>
          <a:xfrm>
            <a:off x="5515901" y="8344132"/>
            <a:ext cx="3802460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of 11 accounts</a:t>
            </a:r>
            <a:endParaRPr lang="en-US" sz="1800" dirty="0"/>
          </a:p>
        </p:txBody>
      </p:sp>
      <p:sp>
        <p:nvSpPr>
          <p:cNvPr id="71" name="Text 60"/>
          <p:cNvSpPr/>
          <p:nvPr/>
        </p:nvSpPr>
        <p:spPr>
          <a:xfrm>
            <a:off x="9239251" y="8149498"/>
            <a:ext cx="3802460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TIME GAINED</a:t>
            </a:r>
            <a:endParaRPr lang="en-US" sz="900" dirty="0"/>
          </a:p>
        </p:txBody>
      </p:sp>
      <p:sp>
        <p:nvSpPr>
          <p:cNvPr id="72" name="Text 61"/>
          <p:cNvSpPr/>
          <p:nvPr/>
        </p:nvSpPr>
        <p:spPr>
          <a:xfrm>
            <a:off x="9239251" y="8344132"/>
            <a:ext cx="3802460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 days before renewal</a:t>
            </a:r>
            <a:endParaRPr lang="en-US" sz="1800" dirty="0"/>
          </a:p>
        </p:txBody>
      </p:sp>
      <p:sp>
        <p:nvSpPr>
          <p:cNvPr id="73" name="Shape 62"/>
          <p:cNvSpPr/>
          <p:nvPr/>
        </p:nvSpPr>
        <p:spPr>
          <a:xfrm>
            <a:off x="13296966" y="1981068"/>
            <a:ext cx="4305267" cy="7048666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  <a:effectLst>
            <a:outerShdw blurRad="1905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pic>
        <p:nvPicPr>
          <p:cNvPr id="7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17067" y="2201168"/>
            <a:ext cx="161892" cy="161892"/>
          </a:xfrm>
          <a:prstGeom prst="rect">
            <a:avLst/>
          </a:prstGeom>
        </p:spPr>
      </p:pic>
      <p:sp>
        <p:nvSpPr>
          <p:cNvPr id="75" name="Text 63"/>
          <p:cNvSpPr/>
          <p:nvPr/>
        </p:nvSpPr>
        <p:spPr>
          <a:xfrm>
            <a:off x="13764618" y="2213240"/>
            <a:ext cx="82083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900" dirty="0"/>
          </a:p>
        </p:txBody>
      </p:sp>
      <p:pic>
        <p:nvPicPr>
          <p:cNvPr id="76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29833" y="2205964"/>
            <a:ext cx="152301" cy="152301"/>
          </a:xfrm>
          <a:prstGeom prst="rect">
            <a:avLst/>
          </a:prstGeom>
        </p:spPr>
      </p:pic>
      <p:sp>
        <p:nvSpPr>
          <p:cNvPr id="77" name="Shape 64"/>
          <p:cNvSpPr/>
          <p:nvPr/>
        </p:nvSpPr>
        <p:spPr>
          <a:xfrm>
            <a:off x="13559732" y="2477327"/>
            <a:ext cx="3822402" cy="635992"/>
          </a:xfrm>
          <a:prstGeom prst="roundRect">
            <a:avLst>
              <a:gd name="adj" fmla="val 17972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Text 65"/>
          <p:cNvSpPr/>
          <p:nvPr/>
        </p:nvSpPr>
        <p:spPr>
          <a:xfrm>
            <a:off x="13693015" y="2582003"/>
            <a:ext cx="366251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8"/>
              </a:lnSpc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a save plan for the two accounts most at risk.</a:t>
            </a:r>
            <a:endParaRPr lang="en-US" sz="1200" dirty="0"/>
          </a:p>
        </p:txBody>
      </p:sp>
      <p:sp>
        <p:nvSpPr>
          <p:cNvPr id="79" name="Text 66"/>
          <p:cNvSpPr/>
          <p:nvPr/>
        </p:nvSpPr>
        <p:spPr>
          <a:xfrm>
            <a:off x="13517067" y="3227586"/>
            <a:ext cx="3981019" cy="1009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Alpina Retail Group needs a new champion and an escalation review this week. Zug Chemicals needs an executive sponsor before its usage flattens further.</a:t>
            </a:r>
            <a:endParaRPr lang="en-US" sz="1275" dirty="0"/>
          </a:p>
        </p:txBody>
      </p:sp>
      <p:sp>
        <p:nvSpPr>
          <p:cNvPr id="80" name="Shape 67"/>
          <p:cNvSpPr/>
          <p:nvPr/>
        </p:nvSpPr>
        <p:spPr>
          <a:xfrm>
            <a:off x="13517067" y="4312874"/>
            <a:ext cx="3865067" cy="1197736"/>
          </a:xfrm>
          <a:prstGeom prst="roundRect">
            <a:avLst>
              <a:gd name="adj" fmla="val 9543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Text 68"/>
          <p:cNvSpPr/>
          <p:nvPr/>
        </p:nvSpPr>
        <p:spPr>
          <a:xfrm>
            <a:off x="13650351" y="4446158"/>
            <a:ext cx="3958349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AT RISK (CHF K)</a:t>
            </a:r>
            <a:endParaRPr lang="en-US" sz="900" dirty="0"/>
          </a:p>
        </p:txBody>
      </p:sp>
      <p:sp>
        <p:nvSpPr>
          <p:cNvPr id="82" name="Text 69"/>
          <p:cNvSpPr/>
          <p:nvPr/>
        </p:nvSpPr>
        <p:spPr>
          <a:xfrm>
            <a:off x="13650351" y="4703300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Alpina Retail</a:t>
            </a:r>
            <a:endParaRPr lang="en-US" sz="1050" dirty="0"/>
          </a:p>
        </p:txBody>
      </p:sp>
      <p:sp>
        <p:nvSpPr>
          <p:cNvPr id="83" name="Shape 70"/>
          <p:cNvSpPr/>
          <p:nvPr/>
        </p:nvSpPr>
        <p:spPr>
          <a:xfrm>
            <a:off x="15212385" y="4744641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Shape 71"/>
          <p:cNvSpPr/>
          <p:nvPr/>
        </p:nvSpPr>
        <p:spPr>
          <a:xfrm>
            <a:off x="15212385" y="4744641"/>
            <a:ext cx="829469" cy="76068"/>
          </a:xfrm>
          <a:prstGeom prst="roundRect">
            <a:avLst>
              <a:gd name="adj" fmla="val 50000"/>
            </a:avLst>
          </a:prstGeom>
          <a:solidFill>
            <a:srgbClr val="B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2"/>
          <p:cNvSpPr/>
          <p:nvPr/>
        </p:nvSpPr>
        <p:spPr>
          <a:xfrm>
            <a:off x="16582133" y="4698008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380</a:t>
            </a:r>
            <a:endParaRPr lang="en-US" sz="1125" dirty="0"/>
          </a:p>
        </p:txBody>
      </p:sp>
      <p:sp>
        <p:nvSpPr>
          <p:cNvPr id="86" name="Text 73"/>
          <p:cNvSpPr/>
          <p:nvPr/>
        </p:nvSpPr>
        <p:spPr>
          <a:xfrm>
            <a:off x="13650351" y="4958292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Zug Chemicals</a:t>
            </a:r>
            <a:endParaRPr lang="en-US" sz="1050" dirty="0"/>
          </a:p>
        </p:txBody>
      </p:sp>
      <p:sp>
        <p:nvSpPr>
          <p:cNvPr id="87" name="Shape 74"/>
          <p:cNvSpPr/>
          <p:nvPr/>
        </p:nvSpPr>
        <p:spPr>
          <a:xfrm>
            <a:off x="15212385" y="4999633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Shape 75"/>
          <p:cNvSpPr/>
          <p:nvPr/>
        </p:nvSpPr>
        <p:spPr>
          <a:xfrm>
            <a:off x="15212385" y="4999633"/>
            <a:ext cx="458391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Text 76"/>
          <p:cNvSpPr/>
          <p:nvPr/>
        </p:nvSpPr>
        <p:spPr>
          <a:xfrm>
            <a:off x="16582133" y="4953000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210</a:t>
            </a:r>
            <a:endParaRPr lang="en-US" sz="1125" dirty="0"/>
          </a:p>
        </p:txBody>
      </p:sp>
      <p:sp>
        <p:nvSpPr>
          <p:cNvPr id="90" name="Text 77"/>
          <p:cNvSpPr/>
          <p:nvPr/>
        </p:nvSpPr>
        <p:spPr>
          <a:xfrm>
            <a:off x="13650351" y="5213284"/>
            <a:ext cx="15925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</a:t>
            </a:r>
            <a:endParaRPr lang="en-US" sz="1050" dirty="0"/>
          </a:p>
        </p:txBody>
      </p:sp>
      <p:sp>
        <p:nvSpPr>
          <p:cNvPr id="91" name="Shape 78"/>
          <p:cNvSpPr/>
          <p:nvPr/>
        </p:nvSpPr>
        <p:spPr>
          <a:xfrm>
            <a:off x="15212385" y="5254625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2" name="Shape 79"/>
          <p:cNvSpPr/>
          <p:nvPr/>
        </p:nvSpPr>
        <p:spPr>
          <a:xfrm>
            <a:off x="15212385" y="5254625"/>
            <a:ext cx="1331681" cy="76068"/>
          </a:xfrm>
          <a:prstGeom prst="roundRect">
            <a:avLst>
              <a:gd name="adj" fmla="val 50000"/>
            </a:avLst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80"/>
          <p:cNvSpPr/>
          <p:nvPr/>
        </p:nvSpPr>
        <p:spPr>
          <a:xfrm>
            <a:off x="16582133" y="5207993"/>
            <a:ext cx="666717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610</a:t>
            </a:r>
            <a:endParaRPr lang="en-US" sz="1125" dirty="0"/>
          </a:p>
        </p:txBody>
      </p:sp>
      <p:sp>
        <p:nvSpPr>
          <p:cNvPr id="94" name="Shape 81"/>
          <p:cNvSpPr/>
          <p:nvPr/>
        </p:nvSpPr>
        <p:spPr>
          <a:xfrm>
            <a:off x="13517067" y="5624876"/>
            <a:ext cx="3865067" cy="2124604"/>
          </a:xfrm>
          <a:prstGeom prst="roundRect">
            <a:avLst>
              <a:gd name="adj" fmla="val 538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95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60935" y="5768744"/>
            <a:ext cx="142875" cy="142875"/>
          </a:xfrm>
          <a:prstGeom prst="rect">
            <a:avLst/>
          </a:prstGeom>
        </p:spPr>
      </p:pic>
      <p:sp>
        <p:nvSpPr>
          <p:cNvPr id="96" name="Text 82"/>
          <p:cNvSpPr/>
          <p:nvPr/>
        </p:nvSpPr>
        <p:spPr>
          <a:xfrm>
            <a:off x="13879877" y="5771390"/>
            <a:ext cx="1382812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SAVE PLAN</a:t>
            </a:r>
            <a:endParaRPr lang="en-US" sz="900" dirty="0"/>
          </a:p>
        </p:txBody>
      </p:sp>
      <p:sp>
        <p:nvSpPr>
          <p:cNvPr id="97" name="Text 83"/>
          <p:cNvSpPr/>
          <p:nvPr/>
        </p:nvSpPr>
        <p:spPr>
          <a:xfrm>
            <a:off x="13660935" y="6098811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Accounts</a:t>
            </a:r>
            <a:endParaRPr lang="en-US" sz="1050" dirty="0"/>
          </a:p>
        </p:txBody>
      </p:sp>
      <p:sp>
        <p:nvSpPr>
          <p:cNvPr id="98" name="Shape 84"/>
          <p:cNvSpPr/>
          <p:nvPr/>
        </p:nvSpPr>
        <p:spPr>
          <a:xfrm>
            <a:off x="14841968" y="6006869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9" name="Text 85"/>
          <p:cNvSpPr/>
          <p:nvPr/>
        </p:nvSpPr>
        <p:spPr>
          <a:xfrm>
            <a:off x="14957327" y="6093652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Alpina, Zug Chemicals</a:t>
            </a:r>
            <a:endParaRPr lang="en-US" sz="1125" dirty="0"/>
          </a:p>
        </p:txBody>
      </p:sp>
      <p:sp>
        <p:nvSpPr>
          <p:cNvPr id="100" name="Text 86"/>
          <p:cNvSpPr/>
          <p:nvPr/>
        </p:nvSpPr>
        <p:spPr>
          <a:xfrm>
            <a:off x="13660935" y="6517514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action</a:t>
            </a:r>
            <a:endParaRPr lang="en-US" sz="1050" dirty="0"/>
          </a:p>
        </p:txBody>
      </p:sp>
      <p:sp>
        <p:nvSpPr>
          <p:cNvPr id="101" name="Shape 87"/>
          <p:cNvSpPr/>
          <p:nvPr/>
        </p:nvSpPr>
        <p:spPr>
          <a:xfrm>
            <a:off x="14841968" y="6425572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2" name="Text 88"/>
          <p:cNvSpPr/>
          <p:nvPr/>
        </p:nvSpPr>
        <p:spPr>
          <a:xfrm>
            <a:off x="14957327" y="6512355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escalation call</a:t>
            </a:r>
            <a:endParaRPr lang="en-US" sz="1125" dirty="0"/>
          </a:p>
        </p:txBody>
      </p:sp>
      <p:sp>
        <p:nvSpPr>
          <p:cNvPr id="103" name="Text 89"/>
          <p:cNvSpPr/>
          <p:nvPr/>
        </p:nvSpPr>
        <p:spPr>
          <a:xfrm>
            <a:off x="13660935" y="6936218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1050" dirty="0"/>
          </a:p>
        </p:txBody>
      </p:sp>
      <p:sp>
        <p:nvSpPr>
          <p:cNvPr id="104" name="Shape 90"/>
          <p:cNvSpPr/>
          <p:nvPr/>
        </p:nvSpPr>
        <p:spPr>
          <a:xfrm>
            <a:off x="14841968" y="6844275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5" name="Text 91"/>
          <p:cNvSpPr/>
          <p:nvPr/>
        </p:nvSpPr>
        <p:spPr>
          <a:xfrm>
            <a:off x="14957327" y="6931059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CSM · A. Roth</a:t>
            </a:r>
            <a:endParaRPr lang="en-US" sz="1125" dirty="0"/>
          </a:p>
        </p:txBody>
      </p:sp>
      <p:sp>
        <p:nvSpPr>
          <p:cNvPr id="106" name="Text 92"/>
          <p:cNvSpPr/>
          <p:nvPr/>
        </p:nvSpPr>
        <p:spPr>
          <a:xfrm>
            <a:off x="13660935" y="7354921"/>
            <a:ext cx="1142967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50" dirty="0"/>
          </a:p>
        </p:txBody>
      </p:sp>
      <p:sp>
        <p:nvSpPr>
          <p:cNvPr id="107" name="Shape 93"/>
          <p:cNvSpPr/>
          <p:nvPr/>
        </p:nvSpPr>
        <p:spPr>
          <a:xfrm>
            <a:off x="14841968" y="7262978"/>
            <a:ext cx="2396298" cy="342635"/>
          </a:xfrm>
          <a:prstGeom prst="roundRect">
            <a:avLst>
              <a:gd name="adj" fmla="val 22239"/>
            </a:avLst>
          </a:prstGeom>
          <a:solidFill>
            <a:srgbClr val="F4F3F8"/>
          </a:solidFill>
          <a:ln w="10583">
            <a:solidFill>
              <a:srgbClr val="E9E7E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8" name="Text 94"/>
          <p:cNvSpPr/>
          <p:nvPr/>
        </p:nvSpPr>
        <p:spPr>
          <a:xfrm>
            <a:off x="14957327" y="7349762"/>
            <a:ext cx="2241782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Friday until renewal</a:t>
            </a:r>
            <a:endParaRPr lang="en-US" sz="1125" dirty="0"/>
          </a:p>
        </p:txBody>
      </p:sp>
      <p:sp>
        <p:nvSpPr>
          <p:cNvPr id="109" name="Shape 95"/>
          <p:cNvSpPr/>
          <p:nvPr/>
        </p:nvSpPr>
        <p:spPr>
          <a:xfrm>
            <a:off x="13517067" y="7882765"/>
            <a:ext cx="3865067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0" name="Shape 96"/>
          <p:cNvSpPr/>
          <p:nvPr/>
        </p:nvSpPr>
        <p:spPr>
          <a:xfrm>
            <a:off x="13517067" y="8037215"/>
            <a:ext cx="1668529" cy="359833"/>
          </a:xfrm>
          <a:prstGeom prst="roundRect">
            <a:avLst>
              <a:gd name="adj" fmla="val 21176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50351" y="8145695"/>
            <a:ext cx="142875" cy="142875"/>
          </a:xfrm>
          <a:prstGeom prst="rect">
            <a:avLst/>
          </a:prstGeom>
        </p:spPr>
      </p:pic>
      <p:sp>
        <p:nvSpPr>
          <p:cNvPr id="112" name="Text 97"/>
          <p:cNvSpPr/>
          <p:nvPr/>
        </p:nvSpPr>
        <p:spPr>
          <a:xfrm>
            <a:off x="13859868" y="8132465"/>
            <a:ext cx="1268643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&amp; assign</a:t>
            </a:r>
            <a:endParaRPr lang="en-US" sz="1125" dirty="0"/>
          </a:p>
        </p:txBody>
      </p:sp>
      <p:sp>
        <p:nvSpPr>
          <p:cNvPr id="113" name="Shape 98"/>
          <p:cNvSpPr/>
          <p:nvPr/>
        </p:nvSpPr>
        <p:spPr>
          <a:xfrm>
            <a:off x="15280846" y="8026632"/>
            <a:ext cx="756378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1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424713" y="8145695"/>
            <a:ext cx="142875" cy="142875"/>
          </a:xfrm>
          <a:prstGeom prst="rect">
            <a:avLst/>
          </a:prstGeom>
        </p:spPr>
      </p:pic>
      <p:sp>
        <p:nvSpPr>
          <p:cNvPr id="115" name="Text 99"/>
          <p:cNvSpPr/>
          <p:nvPr/>
        </p:nvSpPr>
        <p:spPr>
          <a:xfrm>
            <a:off x="15634229" y="8132465"/>
            <a:ext cx="335327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25" dirty="0"/>
          </a:p>
        </p:txBody>
      </p:sp>
      <p:sp>
        <p:nvSpPr>
          <p:cNvPr id="116" name="Shape 100"/>
          <p:cNvSpPr/>
          <p:nvPr/>
        </p:nvSpPr>
        <p:spPr>
          <a:xfrm>
            <a:off x="16132473" y="8026632"/>
            <a:ext cx="922900" cy="381000"/>
          </a:xfrm>
          <a:prstGeom prst="roundRect">
            <a:avLst>
              <a:gd name="adj" fmla="val 20000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17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276340" y="8145695"/>
            <a:ext cx="142875" cy="142875"/>
          </a:xfrm>
          <a:prstGeom prst="rect">
            <a:avLst/>
          </a:prstGeom>
        </p:spPr>
      </p:pic>
      <p:sp>
        <p:nvSpPr>
          <p:cNvPr id="118" name="Text 101"/>
          <p:cNvSpPr/>
          <p:nvPr/>
        </p:nvSpPr>
        <p:spPr>
          <a:xfrm>
            <a:off x="16485858" y="8132465"/>
            <a:ext cx="501848" cy="207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25" dirty="0"/>
          </a:p>
        </p:txBody>
      </p:sp>
      <p:pic>
        <p:nvPicPr>
          <p:cNvPr id="119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517067" y="8548522"/>
            <a:ext cx="133284" cy="133284"/>
          </a:xfrm>
          <a:prstGeom prst="rect">
            <a:avLst/>
          </a:prstGeom>
        </p:spPr>
      </p:pic>
      <p:sp>
        <p:nvSpPr>
          <p:cNvPr id="120" name="Text 102"/>
          <p:cNvSpPr/>
          <p:nvPr/>
        </p:nvSpPr>
        <p:spPr>
          <a:xfrm>
            <a:off x="13726419" y="8521899"/>
            <a:ext cx="1919238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00"/>
              </a:lnSpc>
              <a:buNone/>
            </a:pPr>
            <a:r>
              <a:rPr lang="en-US" sz="10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human owners notified</a:t>
            </a:r>
            <a:endParaRPr lang="en-US" sz="1050" dirty="0"/>
          </a:p>
        </p:txBody>
      </p:sp>
      <p:sp>
        <p:nvSpPr>
          <p:cNvPr id="121" name="Shape 103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Shape 104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Text 105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1.2 M of at-risk revenue, visible while there is still time to act.</a:t>
            </a:r>
            <a:endParaRPr lang="en-US" sz="20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911836" y="235975"/>
            <a:ext cx="76659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PROOF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· FOR THE CTO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on screen is also an API call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7810170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9"/>
          <p:cNvSpPr/>
          <p:nvPr/>
        </p:nvSpPr>
        <p:spPr>
          <a:xfrm>
            <a:off x="905867" y="2201168"/>
            <a:ext cx="810696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05867" y="2472035"/>
            <a:ext cx="7369969" cy="5455047"/>
          </a:xfrm>
          <a:prstGeom prst="roundRect">
            <a:avLst>
              <a:gd name="adj" fmla="val 2095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1"/>
          <p:cNvSpPr/>
          <p:nvPr/>
        </p:nvSpPr>
        <p:spPr>
          <a:xfrm>
            <a:off x="1077185" y="2643353"/>
            <a:ext cx="7238154" cy="1640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/v1/accounts/HLA-4471/insights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&lt;tenant-scoped token&gt;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X-Policy-Context: role=account_exec; region=DACH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"scope": ["renewal", "whitespace"],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"as_of": "2026-08-11" }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905867" y="8079383"/>
            <a:ext cx="1707869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Tenant-scoped token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97848" y="8079383"/>
            <a:ext cx="2725787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shared keys, no shared context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05867" y="8354550"/>
            <a:ext cx="2194636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context on every call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70790" y="8354550"/>
            <a:ext cx="2205550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rules the UI obeys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05867" y="8629716"/>
            <a:ext cx="1980357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Deployable in your cloud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796525" y="8629716"/>
            <a:ext cx="2727243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regions, customer subscription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686437" y="1981068"/>
            <a:ext cx="8915797" cy="704866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" name="Text 19"/>
          <p:cNvSpPr/>
          <p:nvPr/>
        </p:nvSpPr>
        <p:spPr>
          <a:xfrm>
            <a:off x="8906537" y="2244494"/>
            <a:ext cx="2075309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· 200 OK · 840 MS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5153019" y="2201168"/>
            <a:ext cx="2229115" cy="224234"/>
          </a:xfrm>
          <a:prstGeom prst="roundRect">
            <a:avLst>
              <a:gd name="adj" fmla="val 16991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Text 21"/>
          <p:cNvSpPr/>
          <p:nvPr/>
        </p:nvSpPr>
        <p:spPr>
          <a:xfrm>
            <a:off x="15248269" y="2239268"/>
            <a:ext cx="2114815" cy="18613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and policy returned inline</a:t>
            </a:r>
            <a:endParaRPr lang="en-US" sz="975" dirty="0"/>
          </a:p>
        </p:txBody>
      </p:sp>
      <p:sp>
        <p:nvSpPr>
          <p:cNvPr id="25" name="Shape 22"/>
          <p:cNvSpPr/>
          <p:nvPr/>
        </p:nvSpPr>
        <p:spPr>
          <a:xfrm>
            <a:off x="8906537" y="2558686"/>
            <a:ext cx="8475597" cy="6250947"/>
          </a:xfrm>
          <a:prstGeom prst="roundRect">
            <a:avLst>
              <a:gd name="adj" fmla="val 1829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Text 23"/>
          <p:cNvSpPr/>
          <p:nvPr/>
        </p:nvSpPr>
        <p:spPr>
          <a:xfrm>
            <a:off x="9077855" y="2730004"/>
            <a:ext cx="8376950" cy="5112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"account": "Helvetia Logistik AG",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"renewal": {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"date": "2026-11-14",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"churn_risk": 0.14,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"drivers": ["utilisation_96pct", "two_new_sites"]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"whitespace": [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"product": "route_optimisation",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"fit": 0.87, "value_chf": 128000 }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"sources": [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"salesforce:Account/0018Y...",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"d365:SalesOrder/SO-99120",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"snowflake:usage.fct_daily"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"policy": { "fields_withheld": ["margin_pct"],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"audit_id": "aud_7f3c91" }</a:t>
            </a:r>
            <a:endParaRPr lang="en-US" sz="1275" dirty="0"/>
          </a:p>
          <a:p>
            <a:pPr marL="0" indent="0" algn="l">
              <a:lnSpc>
                <a:spcPct val="140250"/>
              </a:lnSpc>
              <a:buNone/>
            </a:pPr>
            <a:r>
              <a:rPr lang="en-US" sz="1275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Shape 25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9" name="Text 26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audit id is what makes the answer defensible.</a:t>
            </a:r>
            <a:endParaRPr lang="en-US" sz="20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864708" y="235975"/>
            <a:ext cx="813726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767" y="914301"/>
            <a:ext cx="18608114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767" y="1127952"/>
            <a:ext cx="18608114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45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board sees at the end of the quarter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85767" y="1981068"/>
            <a:ext cx="5524500" cy="3277857"/>
          </a:xfrm>
          <a:prstGeom prst="roundRect">
            <a:avLst>
              <a:gd name="adj" fmla="val 464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9"/>
          <p:cNvSpPr/>
          <p:nvPr/>
        </p:nvSpPr>
        <p:spPr>
          <a:xfrm>
            <a:off x="943901" y="2239202"/>
            <a:ext cx="5509055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SHORTEN THE SALES CYCLE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43901" y="2491052"/>
            <a:ext cx="5509055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98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−22%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943901" y="3159786"/>
            <a:ext cx="550905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days from qualified to closed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943901" y="4719506"/>
            <a:ext cx="5008232" cy="57051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943901" y="4719506"/>
            <a:ext cx="3906408" cy="57051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943901" y="4852624"/>
            <a:ext cx="5509055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78 % to FY27 target</a:t>
            </a:r>
            <a:endParaRPr lang="en-US" sz="975" dirty="0"/>
          </a:p>
        </p:txBody>
      </p:sp>
      <p:sp>
        <p:nvSpPr>
          <p:cNvPr id="18" name="Shape 15"/>
          <p:cNvSpPr/>
          <p:nvPr/>
        </p:nvSpPr>
        <p:spPr>
          <a:xfrm>
            <a:off x="6381585" y="1981068"/>
            <a:ext cx="5524666" cy="3277857"/>
          </a:xfrm>
          <a:prstGeom prst="roundRect">
            <a:avLst>
              <a:gd name="adj" fmla="val 464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6639719" y="2239202"/>
            <a:ext cx="550923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WIN RATE ON CONTESTED DEALS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639719" y="2491052"/>
            <a:ext cx="5509237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98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 pts</a:t>
            </a:r>
            <a:endParaRPr lang="en-US" sz="3900" dirty="0"/>
          </a:p>
        </p:txBody>
      </p:sp>
      <p:sp>
        <p:nvSpPr>
          <p:cNvPr id="21" name="Text 18"/>
          <p:cNvSpPr/>
          <p:nvPr/>
        </p:nvSpPr>
        <p:spPr>
          <a:xfrm>
            <a:off x="6639719" y="3159786"/>
            <a:ext cx="550923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 risk action was taken</a:t>
            </a:r>
            <a:endParaRPr lang="en-US" sz="1275" dirty="0"/>
          </a:p>
        </p:txBody>
      </p:sp>
      <p:sp>
        <p:nvSpPr>
          <p:cNvPr id="22" name="Shape 19"/>
          <p:cNvSpPr/>
          <p:nvPr/>
        </p:nvSpPr>
        <p:spPr>
          <a:xfrm>
            <a:off x="6639719" y="4719506"/>
            <a:ext cx="5008397" cy="57051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0"/>
          <p:cNvSpPr/>
          <p:nvPr/>
        </p:nvSpPr>
        <p:spPr>
          <a:xfrm>
            <a:off x="6639719" y="4719506"/>
            <a:ext cx="3205262" cy="57051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Text 21"/>
          <p:cNvSpPr/>
          <p:nvPr/>
        </p:nvSpPr>
        <p:spPr>
          <a:xfrm>
            <a:off x="6639719" y="4852624"/>
            <a:ext cx="5509237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64 % to FY27 target</a:t>
            </a:r>
            <a:endParaRPr lang="en-US" sz="975" dirty="0"/>
          </a:p>
        </p:txBody>
      </p:sp>
      <p:sp>
        <p:nvSpPr>
          <p:cNvPr id="25" name="Shape 22"/>
          <p:cNvSpPr/>
          <p:nvPr/>
        </p:nvSpPr>
        <p:spPr>
          <a:xfrm>
            <a:off x="12077569" y="1981068"/>
            <a:ext cx="5524666" cy="3277857"/>
          </a:xfrm>
          <a:prstGeom prst="roundRect">
            <a:avLst>
              <a:gd name="adj" fmla="val 464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6" name="Text 23"/>
          <p:cNvSpPr/>
          <p:nvPr/>
        </p:nvSpPr>
        <p:spPr>
          <a:xfrm>
            <a:off x="12335703" y="2239202"/>
            <a:ext cx="550923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 EXPANSION REVENUE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2335703" y="2491052"/>
            <a:ext cx="5509237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98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+CHF 3.4 M</a:t>
            </a:r>
            <a:endParaRPr lang="en-US" sz="3900" dirty="0"/>
          </a:p>
        </p:txBody>
      </p:sp>
      <p:sp>
        <p:nvSpPr>
          <p:cNvPr id="28" name="Text 25"/>
          <p:cNvSpPr/>
          <p:nvPr/>
        </p:nvSpPr>
        <p:spPr>
          <a:xfrm>
            <a:off x="12335703" y="3159786"/>
            <a:ext cx="550923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usage-triggered opportunities</a:t>
            </a:r>
            <a:endParaRPr lang="en-US" sz="1275" dirty="0"/>
          </a:p>
        </p:txBody>
      </p:sp>
      <p:sp>
        <p:nvSpPr>
          <p:cNvPr id="29" name="Shape 26"/>
          <p:cNvSpPr/>
          <p:nvPr/>
        </p:nvSpPr>
        <p:spPr>
          <a:xfrm>
            <a:off x="12335703" y="4719506"/>
            <a:ext cx="5008397" cy="57051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7"/>
          <p:cNvSpPr/>
          <p:nvPr/>
        </p:nvSpPr>
        <p:spPr>
          <a:xfrm>
            <a:off x="12335703" y="4719506"/>
            <a:ext cx="3555835" cy="57051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1" name="Text 28"/>
          <p:cNvSpPr/>
          <p:nvPr/>
        </p:nvSpPr>
        <p:spPr>
          <a:xfrm>
            <a:off x="12335703" y="4852624"/>
            <a:ext cx="5509237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71 % to FY27 target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685767" y="5430242"/>
            <a:ext cx="5524500" cy="3277857"/>
          </a:xfrm>
          <a:prstGeom prst="roundRect">
            <a:avLst>
              <a:gd name="adj" fmla="val 464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3" name="Text 30"/>
          <p:cNvSpPr/>
          <p:nvPr/>
        </p:nvSpPr>
        <p:spPr>
          <a:xfrm>
            <a:off x="943901" y="5688377"/>
            <a:ext cx="5509055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REPS THEIR WEEK BACK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43901" y="5940227"/>
            <a:ext cx="5509055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98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 h</a:t>
            </a:r>
            <a:endParaRPr lang="en-US" sz="3900" dirty="0"/>
          </a:p>
        </p:txBody>
      </p:sp>
      <p:sp>
        <p:nvSpPr>
          <p:cNvPr id="35" name="Text 32"/>
          <p:cNvSpPr/>
          <p:nvPr/>
        </p:nvSpPr>
        <p:spPr>
          <a:xfrm>
            <a:off x="943901" y="6608961"/>
            <a:ext cx="550905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rep per week, measured, not estimated</a:t>
            </a:r>
            <a:endParaRPr lang="en-US" sz="1275" dirty="0"/>
          </a:p>
        </p:txBody>
      </p:sp>
      <p:sp>
        <p:nvSpPr>
          <p:cNvPr id="36" name="Shape 33"/>
          <p:cNvSpPr/>
          <p:nvPr/>
        </p:nvSpPr>
        <p:spPr>
          <a:xfrm>
            <a:off x="943901" y="8168680"/>
            <a:ext cx="5008232" cy="57051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7" name="Shape 34"/>
          <p:cNvSpPr/>
          <p:nvPr/>
        </p:nvSpPr>
        <p:spPr>
          <a:xfrm>
            <a:off x="943901" y="8168680"/>
            <a:ext cx="4407132" cy="57051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Text 35"/>
          <p:cNvSpPr/>
          <p:nvPr/>
        </p:nvSpPr>
        <p:spPr>
          <a:xfrm>
            <a:off x="943901" y="8301799"/>
            <a:ext cx="5509055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88 % to FY27 target</a:t>
            </a:r>
            <a:endParaRPr lang="en-US" sz="975" dirty="0"/>
          </a:p>
        </p:txBody>
      </p:sp>
      <p:sp>
        <p:nvSpPr>
          <p:cNvPr id="39" name="Shape 36"/>
          <p:cNvSpPr/>
          <p:nvPr/>
        </p:nvSpPr>
        <p:spPr>
          <a:xfrm>
            <a:off x="6381585" y="5430242"/>
            <a:ext cx="5524666" cy="3277857"/>
          </a:xfrm>
          <a:prstGeom prst="roundRect">
            <a:avLst>
              <a:gd name="adj" fmla="val 464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0" name="Text 37"/>
          <p:cNvSpPr/>
          <p:nvPr/>
        </p:nvSpPr>
        <p:spPr>
          <a:xfrm>
            <a:off x="6639719" y="5688377"/>
            <a:ext cx="550923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THE RENEWAL BOOK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639719" y="5940227"/>
            <a:ext cx="5509237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98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1.2 M</a:t>
            </a:r>
            <a:endParaRPr lang="en-US" sz="3900" dirty="0"/>
          </a:p>
        </p:txBody>
      </p:sp>
      <p:sp>
        <p:nvSpPr>
          <p:cNvPr id="42" name="Text 39"/>
          <p:cNvSpPr/>
          <p:nvPr/>
        </p:nvSpPr>
        <p:spPr>
          <a:xfrm>
            <a:off x="6639719" y="6608961"/>
            <a:ext cx="550923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at-risk ARR identified 120 days early</a:t>
            </a:r>
            <a:endParaRPr lang="en-US" sz="1275" dirty="0"/>
          </a:p>
        </p:txBody>
      </p:sp>
      <p:sp>
        <p:nvSpPr>
          <p:cNvPr id="43" name="Shape 40"/>
          <p:cNvSpPr/>
          <p:nvPr/>
        </p:nvSpPr>
        <p:spPr>
          <a:xfrm>
            <a:off x="6639719" y="8168680"/>
            <a:ext cx="5008397" cy="57051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41"/>
          <p:cNvSpPr/>
          <p:nvPr/>
        </p:nvSpPr>
        <p:spPr>
          <a:xfrm>
            <a:off x="6639719" y="8168680"/>
            <a:ext cx="3305473" cy="57051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42"/>
          <p:cNvSpPr/>
          <p:nvPr/>
        </p:nvSpPr>
        <p:spPr>
          <a:xfrm>
            <a:off x="6639719" y="8301799"/>
            <a:ext cx="5509237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66 % to FY27 target</a:t>
            </a:r>
            <a:endParaRPr lang="en-US" sz="975" dirty="0"/>
          </a:p>
        </p:txBody>
      </p:sp>
      <p:sp>
        <p:nvSpPr>
          <p:cNvPr id="46" name="Shape 43"/>
          <p:cNvSpPr/>
          <p:nvPr/>
        </p:nvSpPr>
        <p:spPr>
          <a:xfrm>
            <a:off x="12077569" y="5430242"/>
            <a:ext cx="5524666" cy="3277857"/>
          </a:xfrm>
          <a:prstGeom prst="roundRect">
            <a:avLst>
              <a:gd name="adj" fmla="val 464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7" name="Text 44"/>
          <p:cNvSpPr/>
          <p:nvPr/>
        </p:nvSpPr>
        <p:spPr>
          <a:xfrm>
            <a:off x="12335703" y="5688377"/>
            <a:ext cx="550923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SHIP, NOT PILOT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2335703" y="5940227"/>
            <a:ext cx="5509237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98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weeks</a:t>
            </a:r>
            <a:endParaRPr lang="en-US" sz="3900" dirty="0"/>
          </a:p>
        </p:txBody>
      </p:sp>
      <p:sp>
        <p:nvSpPr>
          <p:cNvPr id="49" name="Text 46"/>
          <p:cNvSpPr/>
          <p:nvPr/>
        </p:nvSpPr>
        <p:spPr>
          <a:xfrm>
            <a:off x="12335703" y="6608961"/>
            <a:ext cx="550923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first use case in production</a:t>
            </a:r>
            <a:endParaRPr lang="en-US" sz="1275" dirty="0"/>
          </a:p>
        </p:txBody>
      </p:sp>
      <p:sp>
        <p:nvSpPr>
          <p:cNvPr id="50" name="Shape 47"/>
          <p:cNvSpPr/>
          <p:nvPr/>
        </p:nvSpPr>
        <p:spPr>
          <a:xfrm>
            <a:off x="12335703" y="8168680"/>
            <a:ext cx="5008397" cy="57051"/>
          </a:xfrm>
          <a:prstGeom prst="roundRect">
            <a:avLst>
              <a:gd name="adj" fmla="val 50000"/>
            </a:avLst>
          </a:prstGeom>
          <a:solidFill>
            <a:srgbClr val="E9E7ED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1" name="Shape 48"/>
          <p:cNvSpPr/>
          <p:nvPr/>
        </p:nvSpPr>
        <p:spPr>
          <a:xfrm>
            <a:off x="12335703" y="8168680"/>
            <a:ext cx="4607719" cy="57051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2" name="Text 49"/>
          <p:cNvSpPr/>
          <p:nvPr/>
        </p:nvSpPr>
        <p:spPr>
          <a:xfrm>
            <a:off x="12335703" y="8301799"/>
            <a:ext cx="5509237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92 % to FY27 target</a:t>
            </a:r>
            <a:endParaRPr lang="en-US" sz="975" dirty="0"/>
          </a:p>
        </p:txBody>
      </p:sp>
      <p:sp>
        <p:nvSpPr>
          <p:cNvPr id="53" name="Text 50"/>
          <p:cNvSpPr/>
          <p:nvPr/>
        </p:nvSpPr>
        <p:spPr>
          <a:xfrm>
            <a:off x="685767" y="8860400"/>
            <a:ext cx="18608114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Figures illustrative — modelled on a 42-rep sales organisation. Every metric is instrumented in the platform and reported against the customer’s own baseline.</a:t>
            </a:r>
            <a:endParaRPr lang="en-US" sz="1125" dirty="0"/>
          </a:p>
        </p:txBody>
      </p:sp>
      <p:sp>
        <p:nvSpPr>
          <p:cNvPr id="54" name="Shape 51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Shape 52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Text 53"/>
          <p:cNvSpPr/>
          <p:nvPr/>
        </p:nvSpPr>
        <p:spPr>
          <a:xfrm>
            <a:off x="300881" y="9624550"/>
            <a:ext cx="17686239" cy="37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202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Shorter cycles, higher win rates, protected renewals — and reps who get their week back.</a:t>
            </a:r>
            <a:endParaRPr lang="en-US" sz="20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1" cy="620117"/>
          </a:xfrm>
          <a:prstGeom prst="rect">
            <a:avLst/>
          </a:prstGeom>
          <a:solidFill>
            <a:srgbClr val="FAF8FE">
              <a:alpha val="8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609534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7" y="85659"/>
            <a:ext cx="438051" cy="4380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4152" y="190500"/>
            <a:ext cx="9525" cy="22853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475879" y="214809"/>
            <a:ext cx="569813" cy="218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179727" y="235975"/>
            <a:ext cx="498707" cy="175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BDC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307" y="2917091"/>
            <a:ext cx="1243203" cy="124320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313513" y="3318708"/>
            <a:ext cx="9525" cy="43980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7"/>
          <p:cNvSpPr/>
          <p:nvPr/>
        </p:nvSpPr>
        <p:spPr>
          <a:xfrm>
            <a:off x="9456880" y="3363369"/>
            <a:ext cx="970914" cy="38874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9" b="1" kern="0" spc="-45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2259" dirty="0"/>
          </a:p>
        </p:txBody>
      </p:sp>
      <p:sp>
        <p:nvSpPr>
          <p:cNvPr id="12" name="Text 8"/>
          <p:cNvSpPr/>
          <p:nvPr/>
        </p:nvSpPr>
        <p:spPr>
          <a:xfrm>
            <a:off x="3234005" y="4536343"/>
            <a:ext cx="11819992" cy="149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2627"/>
              </a:lnSpc>
              <a:buNone/>
            </a:pPr>
            <a:r>
              <a:rPr lang="en-US" sz="5120" b="1" kern="0" spc="-15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AI, deployed inside your sales organisation.</a:t>
            </a:r>
            <a:endParaRPr lang="en-US" sz="5120" dirty="0"/>
          </a:p>
        </p:txBody>
      </p:sp>
      <p:sp>
        <p:nvSpPr>
          <p:cNvPr id="13" name="Shape 9"/>
          <p:cNvSpPr/>
          <p:nvPr/>
        </p:nvSpPr>
        <p:spPr>
          <a:xfrm>
            <a:off x="3910196" y="6413766"/>
            <a:ext cx="3387264" cy="956144"/>
          </a:xfrm>
          <a:prstGeom prst="roundRect">
            <a:avLst>
              <a:gd name="adj" fmla="val 16003"/>
            </a:avLst>
          </a:prstGeom>
          <a:solidFill>
            <a:srgbClr val="FFFFFF"/>
          </a:solidFill>
          <a:ln w="10626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4025916" y="6634747"/>
            <a:ext cx="3155823" cy="293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7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Consulting</a:t>
            </a:r>
            <a:endParaRPr lang="en-US" sz="1657" dirty="0"/>
          </a:p>
        </p:txBody>
      </p:sp>
      <p:sp>
        <p:nvSpPr>
          <p:cNvPr id="15" name="Text 11"/>
          <p:cNvSpPr/>
          <p:nvPr/>
        </p:nvSpPr>
        <p:spPr>
          <a:xfrm>
            <a:off x="4025916" y="6947042"/>
            <a:ext cx="3155823" cy="239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AI pays back first</a:t>
            </a:r>
            <a:endParaRPr lang="en-US" sz="1280" dirty="0"/>
          </a:p>
        </p:txBody>
      </p:sp>
      <p:sp>
        <p:nvSpPr>
          <p:cNvPr id="16" name="Shape 12"/>
          <p:cNvSpPr/>
          <p:nvPr/>
        </p:nvSpPr>
        <p:spPr>
          <a:xfrm>
            <a:off x="7450369" y="6413766"/>
            <a:ext cx="3387263" cy="956144"/>
          </a:xfrm>
          <a:prstGeom prst="roundRect">
            <a:avLst>
              <a:gd name="adj" fmla="val 16003"/>
            </a:avLst>
          </a:prstGeom>
          <a:solidFill>
            <a:srgbClr val="FFFFFF"/>
          </a:solidFill>
          <a:ln w="10626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3"/>
          <p:cNvSpPr/>
          <p:nvPr/>
        </p:nvSpPr>
        <p:spPr>
          <a:xfrm>
            <a:off x="7566089" y="6634747"/>
            <a:ext cx="3155823" cy="293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7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FDE delivery</a:t>
            </a:r>
            <a:endParaRPr lang="en-US" sz="1657" dirty="0"/>
          </a:p>
        </p:txBody>
      </p:sp>
      <p:sp>
        <p:nvSpPr>
          <p:cNvPr id="18" name="Text 14"/>
          <p:cNvSpPr/>
          <p:nvPr/>
        </p:nvSpPr>
        <p:spPr>
          <a:xfrm>
            <a:off x="7566089" y="6947042"/>
            <a:ext cx="3155823" cy="239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Engineers inside your team</a:t>
            </a:r>
            <a:endParaRPr lang="en-US" sz="1280" dirty="0"/>
          </a:p>
        </p:txBody>
      </p:sp>
      <p:sp>
        <p:nvSpPr>
          <p:cNvPr id="19" name="Shape 15"/>
          <p:cNvSpPr/>
          <p:nvPr/>
        </p:nvSpPr>
        <p:spPr>
          <a:xfrm>
            <a:off x="10990543" y="6413766"/>
            <a:ext cx="3387262" cy="956144"/>
          </a:xfrm>
          <a:prstGeom prst="roundRect">
            <a:avLst>
              <a:gd name="adj" fmla="val 16003"/>
            </a:avLst>
          </a:prstGeom>
          <a:solidFill>
            <a:srgbClr val="FFFFFF"/>
          </a:solidFill>
          <a:ln w="10626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6"/>
          <p:cNvSpPr/>
          <p:nvPr/>
        </p:nvSpPr>
        <p:spPr>
          <a:xfrm>
            <a:off x="11106262" y="6634747"/>
            <a:ext cx="3155822" cy="293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7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 platform</a:t>
            </a:r>
            <a:endParaRPr lang="en-US" sz="1657" dirty="0"/>
          </a:p>
        </p:txBody>
      </p:sp>
      <p:sp>
        <p:nvSpPr>
          <p:cNvPr id="21" name="Text 17"/>
          <p:cNvSpPr/>
          <p:nvPr/>
        </p:nvSpPr>
        <p:spPr>
          <a:xfrm>
            <a:off x="11106262" y="6947042"/>
            <a:ext cx="3155822" cy="239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Governed, integrated, audited</a:t>
            </a:r>
            <a:endParaRPr lang="en-US" sz="1280" dirty="0"/>
          </a:p>
        </p:txBody>
      </p:sp>
      <p:sp>
        <p:nvSpPr>
          <p:cNvPr id="22" name="Shape 18"/>
          <p:cNvSpPr/>
          <p:nvPr/>
        </p:nvSpPr>
        <p:spPr>
          <a:xfrm>
            <a:off x="0" y="9285883"/>
            <a:ext cx="18288001" cy="1001117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19"/>
          <p:cNvSpPr/>
          <p:nvPr/>
        </p:nvSpPr>
        <p:spPr>
          <a:xfrm>
            <a:off x="0" y="9285883"/>
            <a:ext cx="18288001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5464</Words>
  <Application>Microsoft Office PowerPoint</Application>
  <PresentationFormat>Custom</PresentationFormat>
  <Paragraphs>1176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Courier New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Dao Trong Vo</cp:lastModifiedBy>
  <cp:revision>1</cp:revision>
  <dcterms:created xsi:type="dcterms:W3CDTF">2026-08-11T07:38:28Z</dcterms:created>
  <dcterms:modified xsi:type="dcterms:W3CDTF">2026-08-11T09:28:47Z</dcterms:modified>
</cp:coreProperties>
</file>